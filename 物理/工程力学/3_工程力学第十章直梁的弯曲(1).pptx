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77"/>
  </p:notesMasterIdLst>
  <p:sldIdLst>
    <p:sldId id="802" r:id="rId4"/>
    <p:sldId id="896" r:id="rId5"/>
    <p:sldId id="897" r:id="rId6"/>
    <p:sldId id="899" r:id="rId7"/>
    <p:sldId id="900" r:id="rId8"/>
    <p:sldId id="901" r:id="rId9"/>
    <p:sldId id="902" r:id="rId10"/>
    <p:sldId id="904" r:id="rId11"/>
    <p:sldId id="905" r:id="rId12"/>
    <p:sldId id="906" r:id="rId13"/>
    <p:sldId id="898" r:id="rId14"/>
    <p:sldId id="907" r:id="rId15"/>
    <p:sldId id="903" r:id="rId16"/>
    <p:sldId id="909" r:id="rId17"/>
    <p:sldId id="908" r:id="rId18"/>
    <p:sldId id="936" r:id="rId19"/>
    <p:sldId id="910" r:id="rId20"/>
    <p:sldId id="911" r:id="rId21"/>
    <p:sldId id="912" r:id="rId22"/>
    <p:sldId id="913" r:id="rId23"/>
    <p:sldId id="914" r:id="rId24"/>
    <p:sldId id="916" r:id="rId25"/>
    <p:sldId id="918" r:id="rId26"/>
    <p:sldId id="920" r:id="rId27"/>
    <p:sldId id="922" r:id="rId28"/>
    <p:sldId id="935" r:id="rId29"/>
    <p:sldId id="921" r:id="rId30"/>
    <p:sldId id="923" r:id="rId31"/>
    <p:sldId id="924" r:id="rId32"/>
    <p:sldId id="925" r:id="rId33"/>
    <p:sldId id="926" r:id="rId34"/>
    <p:sldId id="927" r:id="rId35"/>
    <p:sldId id="928" r:id="rId36"/>
    <p:sldId id="929" r:id="rId37"/>
    <p:sldId id="930" r:id="rId38"/>
    <p:sldId id="931" r:id="rId39"/>
    <p:sldId id="932" r:id="rId40"/>
    <p:sldId id="933" r:id="rId41"/>
    <p:sldId id="934" r:id="rId42"/>
    <p:sldId id="937" r:id="rId43"/>
    <p:sldId id="938" r:id="rId44"/>
    <p:sldId id="957" r:id="rId45"/>
    <p:sldId id="939" r:id="rId46"/>
    <p:sldId id="940" r:id="rId47"/>
    <p:sldId id="941" r:id="rId48"/>
    <p:sldId id="942" r:id="rId49"/>
    <p:sldId id="943" r:id="rId50"/>
    <p:sldId id="945" r:id="rId51"/>
    <p:sldId id="944" r:id="rId52"/>
    <p:sldId id="967" r:id="rId53"/>
    <p:sldId id="968" r:id="rId54"/>
    <p:sldId id="969" r:id="rId55"/>
    <p:sldId id="970" r:id="rId56"/>
    <p:sldId id="971" r:id="rId57"/>
    <p:sldId id="972" r:id="rId58"/>
    <p:sldId id="973" r:id="rId59"/>
    <p:sldId id="974" r:id="rId60"/>
    <p:sldId id="975" r:id="rId61"/>
    <p:sldId id="978" r:id="rId62"/>
    <p:sldId id="977" r:id="rId63"/>
    <p:sldId id="979" r:id="rId64"/>
    <p:sldId id="980" r:id="rId65"/>
    <p:sldId id="976" r:id="rId66"/>
    <p:sldId id="981" r:id="rId67"/>
    <p:sldId id="959" r:id="rId68"/>
    <p:sldId id="946" r:id="rId69"/>
    <p:sldId id="960" r:id="rId70"/>
    <p:sldId id="961" r:id="rId71"/>
    <p:sldId id="962" r:id="rId72"/>
    <p:sldId id="963" r:id="rId73"/>
    <p:sldId id="964" r:id="rId74"/>
    <p:sldId id="965" r:id="rId75"/>
    <p:sldId id="895" r:id="rId76"/>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EEEEEE"/>
    <a:srgbClr val="B9CDE5"/>
    <a:srgbClr val="4F81BD"/>
    <a:srgbClr val="008000"/>
    <a:srgbClr val="993300"/>
    <a:srgbClr val="996633"/>
    <a:srgbClr val="E9EDF4"/>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73" autoAdjust="0"/>
    <p:restoredTop sz="87237" autoAdjust="0"/>
  </p:normalViewPr>
  <p:slideViewPr>
    <p:cSldViewPr>
      <p:cViewPr varScale="1">
        <p:scale>
          <a:sx n="100" d="100"/>
          <a:sy n="100" d="100"/>
        </p:scale>
        <p:origin x="396" y="9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image" Target="../media/image82.wmf"/><Relationship Id="rId3" Type="http://schemas.openxmlformats.org/officeDocument/2006/relationships/image" Target="../media/image72.wmf"/><Relationship Id="rId7" Type="http://schemas.openxmlformats.org/officeDocument/2006/relationships/image" Target="../media/image76.wmf"/><Relationship Id="rId12" Type="http://schemas.openxmlformats.org/officeDocument/2006/relationships/image" Target="../media/image81.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0.wmf"/><Relationship Id="rId5" Type="http://schemas.openxmlformats.org/officeDocument/2006/relationships/image" Target="../media/image74.wmf"/><Relationship Id="rId10" Type="http://schemas.openxmlformats.org/officeDocument/2006/relationships/image" Target="../media/image79.wmf"/><Relationship Id="rId4" Type="http://schemas.openxmlformats.org/officeDocument/2006/relationships/image" Target="../media/image73.wmf"/><Relationship Id="rId9" Type="http://schemas.openxmlformats.org/officeDocument/2006/relationships/image" Target="../media/image78.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image" Target="../media/image72.wmf"/><Relationship Id="rId7" Type="http://schemas.openxmlformats.org/officeDocument/2006/relationships/image" Target="../media/image83.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7.wmf"/><Relationship Id="rId5" Type="http://schemas.openxmlformats.org/officeDocument/2006/relationships/image" Target="../media/image74.wmf"/><Relationship Id="rId10" Type="http://schemas.openxmlformats.org/officeDocument/2006/relationships/image" Target="../media/image86.wmf"/><Relationship Id="rId4" Type="http://schemas.openxmlformats.org/officeDocument/2006/relationships/image" Target="../media/image73.wmf"/><Relationship Id="rId9" Type="http://schemas.openxmlformats.org/officeDocument/2006/relationships/image" Target="../media/image8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image" Target="../media/image93.wmf"/><Relationship Id="rId7" Type="http://schemas.openxmlformats.org/officeDocument/2006/relationships/image" Target="../media/image97.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8.wmf"/><Relationship Id="rId2" Type="http://schemas.openxmlformats.org/officeDocument/2006/relationships/image" Target="../media/image103.wmf"/><Relationship Id="rId1" Type="http://schemas.openxmlformats.org/officeDocument/2006/relationships/image" Target="../media/image102.wmf"/><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4" Type="http://schemas.openxmlformats.org/officeDocument/2006/relationships/image" Target="../media/image11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25.wmf"/><Relationship Id="rId2" Type="http://schemas.openxmlformats.org/officeDocument/2006/relationships/image" Target="../media/image124.emf"/><Relationship Id="rId1" Type="http://schemas.openxmlformats.org/officeDocument/2006/relationships/image" Target="../media/image123.wmf"/><Relationship Id="rId6" Type="http://schemas.openxmlformats.org/officeDocument/2006/relationships/image" Target="../media/image128.wmf"/><Relationship Id="rId5" Type="http://schemas.openxmlformats.org/officeDocument/2006/relationships/image" Target="../media/image127.wmf"/><Relationship Id="rId4" Type="http://schemas.openxmlformats.org/officeDocument/2006/relationships/image" Target="../media/image126.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dirty="0"/>
          </a:p>
        </p:txBody>
      </p:sp>
    </p:spTree>
    <p:extLst>
      <p:ext uri="{BB962C8B-B14F-4D97-AF65-F5344CB8AC3E}">
        <p14:creationId xmlns:p14="http://schemas.microsoft.com/office/powerpoint/2010/main" val="2550900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dirty="0"/>
          </a:p>
        </p:txBody>
      </p:sp>
    </p:spTree>
    <p:extLst>
      <p:ext uri="{BB962C8B-B14F-4D97-AF65-F5344CB8AC3E}">
        <p14:creationId xmlns:p14="http://schemas.microsoft.com/office/powerpoint/2010/main" val="3773706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dirty="0"/>
          </a:p>
        </p:txBody>
      </p:sp>
    </p:spTree>
    <p:extLst>
      <p:ext uri="{BB962C8B-B14F-4D97-AF65-F5344CB8AC3E}">
        <p14:creationId xmlns:p14="http://schemas.microsoft.com/office/powerpoint/2010/main" val="965968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dirty="0"/>
          </a:p>
        </p:txBody>
      </p:sp>
    </p:spTree>
    <p:extLst>
      <p:ext uri="{BB962C8B-B14F-4D97-AF65-F5344CB8AC3E}">
        <p14:creationId xmlns:p14="http://schemas.microsoft.com/office/powerpoint/2010/main" val="258513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dirty="0"/>
          </a:p>
        </p:txBody>
      </p:sp>
    </p:spTree>
    <p:extLst>
      <p:ext uri="{BB962C8B-B14F-4D97-AF65-F5344CB8AC3E}">
        <p14:creationId xmlns:p14="http://schemas.microsoft.com/office/powerpoint/2010/main" val="3266178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dirty="0"/>
          </a:p>
        </p:txBody>
      </p:sp>
    </p:spTree>
    <p:extLst>
      <p:ext uri="{BB962C8B-B14F-4D97-AF65-F5344CB8AC3E}">
        <p14:creationId xmlns:p14="http://schemas.microsoft.com/office/powerpoint/2010/main" val="739486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dirty="0"/>
          </a:p>
        </p:txBody>
      </p:sp>
    </p:spTree>
    <p:extLst>
      <p:ext uri="{BB962C8B-B14F-4D97-AF65-F5344CB8AC3E}">
        <p14:creationId xmlns:p14="http://schemas.microsoft.com/office/powerpoint/2010/main" val="2633489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dirty="0"/>
          </a:p>
        </p:txBody>
      </p:sp>
    </p:spTree>
    <p:extLst>
      <p:ext uri="{BB962C8B-B14F-4D97-AF65-F5344CB8AC3E}">
        <p14:creationId xmlns:p14="http://schemas.microsoft.com/office/powerpoint/2010/main" val="2579019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dirty="0"/>
          </a:p>
        </p:txBody>
      </p:sp>
    </p:spTree>
    <p:extLst>
      <p:ext uri="{BB962C8B-B14F-4D97-AF65-F5344CB8AC3E}">
        <p14:creationId xmlns:p14="http://schemas.microsoft.com/office/powerpoint/2010/main" val="2732170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dirty="0"/>
          </a:p>
        </p:txBody>
      </p:sp>
    </p:spTree>
    <p:extLst>
      <p:ext uri="{BB962C8B-B14F-4D97-AF65-F5344CB8AC3E}">
        <p14:creationId xmlns:p14="http://schemas.microsoft.com/office/powerpoint/2010/main" val="3330894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dirty="0"/>
          </a:p>
        </p:txBody>
      </p:sp>
    </p:spTree>
    <p:extLst>
      <p:ext uri="{BB962C8B-B14F-4D97-AF65-F5344CB8AC3E}">
        <p14:creationId xmlns:p14="http://schemas.microsoft.com/office/powerpoint/2010/main" val="4156375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dirty="0"/>
          </a:p>
        </p:txBody>
      </p:sp>
    </p:spTree>
    <p:extLst>
      <p:ext uri="{BB962C8B-B14F-4D97-AF65-F5344CB8AC3E}">
        <p14:creationId xmlns:p14="http://schemas.microsoft.com/office/powerpoint/2010/main" val="2668634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dirty="0"/>
          </a:p>
        </p:txBody>
      </p:sp>
    </p:spTree>
    <p:extLst>
      <p:ext uri="{BB962C8B-B14F-4D97-AF65-F5344CB8AC3E}">
        <p14:creationId xmlns:p14="http://schemas.microsoft.com/office/powerpoint/2010/main" val="1735343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dirty="0"/>
          </a:p>
        </p:txBody>
      </p:sp>
    </p:spTree>
    <p:extLst>
      <p:ext uri="{BB962C8B-B14F-4D97-AF65-F5344CB8AC3E}">
        <p14:creationId xmlns:p14="http://schemas.microsoft.com/office/powerpoint/2010/main" val="427435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dirty="0"/>
          </a:p>
        </p:txBody>
      </p:sp>
    </p:spTree>
    <p:extLst>
      <p:ext uri="{BB962C8B-B14F-4D97-AF65-F5344CB8AC3E}">
        <p14:creationId xmlns:p14="http://schemas.microsoft.com/office/powerpoint/2010/main" val="17871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dirty="0"/>
          </a:p>
        </p:txBody>
      </p:sp>
    </p:spTree>
    <p:extLst>
      <p:ext uri="{BB962C8B-B14F-4D97-AF65-F5344CB8AC3E}">
        <p14:creationId xmlns:p14="http://schemas.microsoft.com/office/powerpoint/2010/main" val="1772019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dirty="0"/>
          </a:p>
        </p:txBody>
      </p:sp>
    </p:spTree>
    <p:extLst>
      <p:ext uri="{BB962C8B-B14F-4D97-AF65-F5344CB8AC3E}">
        <p14:creationId xmlns:p14="http://schemas.microsoft.com/office/powerpoint/2010/main" val="3849572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dirty="0"/>
          </a:p>
        </p:txBody>
      </p:sp>
    </p:spTree>
    <p:extLst>
      <p:ext uri="{BB962C8B-B14F-4D97-AF65-F5344CB8AC3E}">
        <p14:creationId xmlns:p14="http://schemas.microsoft.com/office/powerpoint/2010/main" val="1290914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dirty="0"/>
          </a:p>
        </p:txBody>
      </p:sp>
    </p:spTree>
    <p:extLst>
      <p:ext uri="{BB962C8B-B14F-4D97-AF65-F5344CB8AC3E}">
        <p14:creationId xmlns:p14="http://schemas.microsoft.com/office/powerpoint/2010/main" val="1543144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dirty="0"/>
          </a:p>
        </p:txBody>
      </p:sp>
    </p:spTree>
    <p:extLst>
      <p:ext uri="{BB962C8B-B14F-4D97-AF65-F5344CB8AC3E}">
        <p14:creationId xmlns:p14="http://schemas.microsoft.com/office/powerpoint/2010/main" val="319341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dirty="0"/>
          </a:p>
        </p:txBody>
      </p:sp>
    </p:spTree>
    <p:extLst>
      <p:ext uri="{BB962C8B-B14F-4D97-AF65-F5344CB8AC3E}">
        <p14:creationId xmlns:p14="http://schemas.microsoft.com/office/powerpoint/2010/main" val="2706516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dirty="0"/>
          </a:p>
        </p:txBody>
      </p:sp>
    </p:spTree>
    <p:extLst>
      <p:ext uri="{BB962C8B-B14F-4D97-AF65-F5344CB8AC3E}">
        <p14:creationId xmlns:p14="http://schemas.microsoft.com/office/powerpoint/2010/main" val="385299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dirty="0"/>
          </a:p>
        </p:txBody>
      </p:sp>
    </p:spTree>
    <p:extLst>
      <p:ext uri="{BB962C8B-B14F-4D97-AF65-F5344CB8AC3E}">
        <p14:creationId xmlns:p14="http://schemas.microsoft.com/office/powerpoint/2010/main" val="260986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dirty="0"/>
          </a:p>
        </p:txBody>
      </p:sp>
    </p:spTree>
    <p:extLst>
      <p:ext uri="{BB962C8B-B14F-4D97-AF65-F5344CB8AC3E}">
        <p14:creationId xmlns:p14="http://schemas.microsoft.com/office/powerpoint/2010/main" val="233917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dirty="0"/>
          </a:p>
        </p:txBody>
      </p:sp>
    </p:spTree>
    <p:extLst>
      <p:ext uri="{BB962C8B-B14F-4D97-AF65-F5344CB8AC3E}">
        <p14:creationId xmlns:p14="http://schemas.microsoft.com/office/powerpoint/2010/main" val="3318760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dirty="0"/>
          </a:p>
        </p:txBody>
      </p:sp>
    </p:spTree>
    <p:extLst>
      <p:ext uri="{BB962C8B-B14F-4D97-AF65-F5344CB8AC3E}">
        <p14:creationId xmlns:p14="http://schemas.microsoft.com/office/powerpoint/2010/main" val="31241856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dirty="0"/>
          </a:p>
        </p:txBody>
      </p:sp>
    </p:spTree>
    <p:extLst>
      <p:ext uri="{BB962C8B-B14F-4D97-AF65-F5344CB8AC3E}">
        <p14:creationId xmlns:p14="http://schemas.microsoft.com/office/powerpoint/2010/main" val="23301127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dirty="0"/>
          </a:p>
        </p:txBody>
      </p:sp>
    </p:spTree>
    <p:extLst>
      <p:ext uri="{BB962C8B-B14F-4D97-AF65-F5344CB8AC3E}">
        <p14:creationId xmlns:p14="http://schemas.microsoft.com/office/powerpoint/2010/main" val="762898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dirty="0"/>
          </a:p>
        </p:txBody>
      </p:sp>
    </p:spTree>
    <p:extLst>
      <p:ext uri="{BB962C8B-B14F-4D97-AF65-F5344CB8AC3E}">
        <p14:creationId xmlns:p14="http://schemas.microsoft.com/office/powerpoint/2010/main" val="42201706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30</a:t>
            </a:fld>
            <a:endParaRPr lang="en-US" altLang="zh-CN" dirty="0"/>
          </a:p>
        </p:txBody>
      </p:sp>
    </p:spTree>
    <p:extLst>
      <p:ext uri="{BB962C8B-B14F-4D97-AF65-F5344CB8AC3E}">
        <p14:creationId xmlns:p14="http://schemas.microsoft.com/office/powerpoint/2010/main" val="24326563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31</a:t>
            </a:fld>
            <a:endParaRPr lang="en-US" altLang="zh-CN" dirty="0"/>
          </a:p>
        </p:txBody>
      </p:sp>
    </p:spTree>
    <p:extLst>
      <p:ext uri="{BB962C8B-B14F-4D97-AF65-F5344CB8AC3E}">
        <p14:creationId xmlns:p14="http://schemas.microsoft.com/office/powerpoint/2010/main" val="1454205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32</a:t>
            </a:fld>
            <a:endParaRPr lang="en-US" altLang="zh-CN" dirty="0"/>
          </a:p>
        </p:txBody>
      </p:sp>
    </p:spTree>
    <p:extLst>
      <p:ext uri="{BB962C8B-B14F-4D97-AF65-F5344CB8AC3E}">
        <p14:creationId xmlns:p14="http://schemas.microsoft.com/office/powerpoint/2010/main" val="640991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33</a:t>
            </a:fld>
            <a:endParaRPr lang="en-US" altLang="zh-CN" dirty="0"/>
          </a:p>
        </p:txBody>
      </p:sp>
    </p:spTree>
    <p:extLst>
      <p:ext uri="{BB962C8B-B14F-4D97-AF65-F5344CB8AC3E}">
        <p14:creationId xmlns:p14="http://schemas.microsoft.com/office/powerpoint/2010/main" val="1660226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34</a:t>
            </a:fld>
            <a:endParaRPr lang="en-US" altLang="zh-CN" dirty="0"/>
          </a:p>
        </p:txBody>
      </p:sp>
    </p:spTree>
    <p:extLst>
      <p:ext uri="{BB962C8B-B14F-4D97-AF65-F5344CB8AC3E}">
        <p14:creationId xmlns:p14="http://schemas.microsoft.com/office/powerpoint/2010/main" val="29483810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35</a:t>
            </a:fld>
            <a:endParaRPr lang="en-US" altLang="zh-CN" dirty="0"/>
          </a:p>
        </p:txBody>
      </p:sp>
    </p:spTree>
    <p:extLst>
      <p:ext uri="{BB962C8B-B14F-4D97-AF65-F5344CB8AC3E}">
        <p14:creationId xmlns:p14="http://schemas.microsoft.com/office/powerpoint/2010/main" val="2679516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36</a:t>
            </a:fld>
            <a:endParaRPr lang="en-US" altLang="zh-CN" dirty="0"/>
          </a:p>
        </p:txBody>
      </p:sp>
    </p:spTree>
    <p:extLst>
      <p:ext uri="{BB962C8B-B14F-4D97-AF65-F5344CB8AC3E}">
        <p14:creationId xmlns:p14="http://schemas.microsoft.com/office/powerpoint/2010/main" val="3615927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37</a:t>
            </a:fld>
            <a:endParaRPr lang="en-US" altLang="zh-CN" dirty="0"/>
          </a:p>
        </p:txBody>
      </p:sp>
    </p:spTree>
    <p:extLst>
      <p:ext uri="{BB962C8B-B14F-4D97-AF65-F5344CB8AC3E}">
        <p14:creationId xmlns:p14="http://schemas.microsoft.com/office/powerpoint/2010/main" val="457756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38</a:t>
            </a:fld>
            <a:endParaRPr lang="en-US" altLang="zh-CN" dirty="0"/>
          </a:p>
        </p:txBody>
      </p:sp>
    </p:spTree>
    <p:extLst>
      <p:ext uri="{BB962C8B-B14F-4D97-AF65-F5344CB8AC3E}">
        <p14:creationId xmlns:p14="http://schemas.microsoft.com/office/powerpoint/2010/main" val="8427931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39</a:t>
            </a:fld>
            <a:endParaRPr lang="en-US" altLang="zh-CN" dirty="0"/>
          </a:p>
        </p:txBody>
      </p:sp>
    </p:spTree>
    <p:extLst>
      <p:ext uri="{BB962C8B-B14F-4D97-AF65-F5344CB8AC3E}">
        <p14:creationId xmlns:p14="http://schemas.microsoft.com/office/powerpoint/2010/main" val="2571921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40</a:t>
            </a:fld>
            <a:endParaRPr lang="en-US" altLang="zh-CN" dirty="0"/>
          </a:p>
        </p:txBody>
      </p:sp>
    </p:spTree>
    <p:extLst>
      <p:ext uri="{BB962C8B-B14F-4D97-AF65-F5344CB8AC3E}">
        <p14:creationId xmlns:p14="http://schemas.microsoft.com/office/powerpoint/2010/main" val="4899915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41</a:t>
            </a:fld>
            <a:endParaRPr lang="en-US" altLang="zh-CN" dirty="0"/>
          </a:p>
        </p:txBody>
      </p:sp>
    </p:spTree>
    <p:extLst>
      <p:ext uri="{BB962C8B-B14F-4D97-AF65-F5344CB8AC3E}">
        <p14:creationId xmlns:p14="http://schemas.microsoft.com/office/powerpoint/2010/main" val="213650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42</a:t>
            </a:fld>
            <a:endParaRPr lang="en-US" altLang="zh-CN" dirty="0"/>
          </a:p>
        </p:txBody>
      </p:sp>
    </p:spTree>
    <p:extLst>
      <p:ext uri="{BB962C8B-B14F-4D97-AF65-F5344CB8AC3E}">
        <p14:creationId xmlns:p14="http://schemas.microsoft.com/office/powerpoint/2010/main" val="13872629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43</a:t>
            </a:fld>
            <a:endParaRPr lang="en-US" altLang="zh-CN" dirty="0"/>
          </a:p>
        </p:txBody>
      </p:sp>
    </p:spTree>
    <p:extLst>
      <p:ext uri="{BB962C8B-B14F-4D97-AF65-F5344CB8AC3E}">
        <p14:creationId xmlns:p14="http://schemas.microsoft.com/office/powerpoint/2010/main" val="33148662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44</a:t>
            </a:fld>
            <a:endParaRPr lang="en-US" altLang="zh-CN" dirty="0"/>
          </a:p>
        </p:txBody>
      </p:sp>
    </p:spTree>
    <p:extLst>
      <p:ext uri="{BB962C8B-B14F-4D97-AF65-F5344CB8AC3E}">
        <p14:creationId xmlns:p14="http://schemas.microsoft.com/office/powerpoint/2010/main" val="36313423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45</a:t>
            </a:fld>
            <a:endParaRPr lang="en-US" altLang="zh-CN" dirty="0"/>
          </a:p>
        </p:txBody>
      </p:sp>
    </p:spTree>
    <p:extLst>
      <p:ext uri="{BB962C8B-B14F-4D97-AF65-F5344CB8AC3E}">
        <p14:creationId xmlns:p14="http://schemas.microsoft.com/office/powerpoint/2010/main" val="22621365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46</a:t>
            </a:fld>
            <a:endParaRPr lang="en-US" altLang="zh-CN" dirty="0"/>
          </a:p>
        </p:txBody>
      </p:sp>
    </p:spTree>
    <p:extLst>
      <p:ext uri="{BB962C8B-B14F-4D97-AF65-F5344CB8AC3E}">
        <p14:creationId xmlns:p14="http://schemas.microsoft.com/office/powerpoint/2010/main" val="28706547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47</a:t>
            </a:fld>
            <a:endParaRPr lang="en-US" altLang="zh-CN" dirty="0"/>
          </a:p>
        </p:txBody>
      </p:sp>
    </p:spTree>
    <p:extLst>
      <p:ext uri="{BB962C8B-B14F-4D97-AF65-F5344CB8AC3E}">
        <p14:creationId xmlns:p14="http://schemas.microsoft.com/office/powerpoint/2010/main" val="38509464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48</a:t>
            </a:fld>
            <a:endParaRPr lang="en-US" altLang="zh-CN" dirty="0"/>
          </a:p>
        </p:txBody>
      </p:sp>
    </p:spTree>
    <p:extLst>
      <p:ext uri="{BB962C8B-B14F-4D97-AF65-F5344CB8AC3E}">
        <p14:creationId xmlns:p14="http://schemas.microsoft.com/office/powerpoint/2010/main" val="14450135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49</a:t>
            </a:fld>
            <a:endParaRPr lang="en-US" altLang="zh-CN" dirty="0"/>
          </a:p>
        </p:txBody>
      </p:sp>
    </p:spTree>
    <p:extLst>
      <p:ext uri="{BB962C8B-B14F-4D97-AF65-F5344CB8AC3E}">
        <p14:creationId xmlns:p14="http://schemas.microsoft.com/office/powerpoint/2010/main" val="7149390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50</a:t>
            </a:fld>
            <a:endParaRPr lang="en-US" altLang="zh-CN" dirty="0"/>
          </a:p>
        </p:txBody>
      </p:sp>
    </p:spTree>
    <p:extLst>
      <p:ext uri="{BB962C8B-B14F-4D97-AF65-F5344CB8AC3E}">
        <p14:creationId xmlns:p14="http://schemas.microsoft.com/office/powerpoint/2010/main" val="1554527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51</a:t>
            </a:fld>
            <a:endParaRPr lang="en-US" altLang="zh-CN" dirty="0"/>
          </a:p>
        </p:txBody>
      </p:sp>
    </p:spTree>
    <p:extLst>
      <p:ext uri="{BB962C8B-B14F-4D97-AF65-F5344CB8AC3E}">
        <p14:creationId xmlns:p14="http://schemas.microsoft.com/office/powerpoint/2010/main" val="42156370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52</a:t>
            </a:fld>
            <a:endParaRPr lang="en-US" altLang="zh-CN" dirty="0"/>
          </a:p>
        </p:txBody>
      </p:sp>
    </p:spTree>
    <p:extLst>
      <p:ext uri="{BB962C8B-B14F-4D97-AF65-F5344CB8AC3E}">
        <p14:creationId xmlns:p14="http://schemas.microsoft.com/office/powerpoint/2010/main" val="26110863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53</a:t>
            </a:fld>
            <a:endParaRPr lang="en-US" altLang="zh-CN" dirty="0"/>
          </a:p>
        </p:txBody>
      </p:sp>
    </p:spTree>
    <p:extLst>
      <p:ext uri="{BB962C8B-B14F-4D97-AF65-F5344CB8AC3E}">
        <p14:creationId xmlns:p14="http://schemas.microsoft.com/office/powerpoint/2010/main" val="15801895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54</a:t>
            </a:fld>
            <a:endParaRPr lang="en-US" altLang="zh-CN" dirty="0"/>
          </a:p>
        </p:txBody>
      </p:sp>
    </p:spTree>
    <p:extLst>
      <p:ext uri="{BB962C8B-B14F-4D97-AF65-F5344CB8AC3E}">
        <p14:creationId xmlns:p14="http://schemas.microsoft.com/office/powerpoint/2010/main" val="221095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55</a:t>
            </a:fld>
            <a:endParaRPr lang="en-US" altLang="zh-CN" dirty="0"/>
          </a:p>
        </p:txBody>
      </p:sp>
    </p:spTree>
    <p:extLst>
      <p:ext uri="{BB962C8B-B14F-4D97-AF65-F5344CB8AC3E}">
        <p14:creationId xmlns:p14="http://schemas.microsoft.com/office/powerpoint/2010/main" val="36861649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56</a:t>
            </a:fld>
            <a:endParaRPr lang="en-US" altLang="zh-CN" dirty="0"/>
          </a:p>
        </p:txBody>
      </p:sp>
    </p:spTree>
    <p:extLst>
      <p:ext uri="{BB962C8B-B14F-4D97-AF65-F5344CB8AC3E}">
        <p14:creationId xmlns:p14="http://schemas.microsoft.com/office/powerpoint/2010/main" val="21374462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57</a:t>
            </a:fld>
            <a:endParaRPr lang="en-US" altLang="zh-CN" dirty="0"/>
          </a:p>
        </p:txBody>
      </p:sp>
    </p:spTree>
    <p:extLst>
      <p:ext uri="{BB962C8B-B14F-4D97-AF65-F5344CB8AC3E}">
        <p14:creationId xmlns:p14="http://schemas.microsoft.com/office/powerpoint/2010/main" val="42190314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58</a:t>
            </a:fld>
            <a:endParaRPr lang="en-US" altLang="zh-CN" dirty="0"/>
          </a:p>
        </p:txBody>
      </p:sp>
    </p:spTree>
    <p:extLst>
      <p:ext uri="{BB962C8B-B14F-4D97-AF65-F5344CB8AC3E}">
        <p14:creationId xmlns:p14="http://schemas.microsoft.com/office/powerpoint/2010/main" val="18022797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59</a:t>
            </a:fld>
            <a:endParaRPr lang="en-US" altLang="zh-CN" dirty="0"/>
          </a:p>
        </p:txBody>
      </p:sp>
    </p:spTree>
    <p:extLst>
      <p:ext uri="{BB962C8B-B14F-4D97-AF65-F5344CB8AC3E}">
        <p14:creationId xmlns:p14="http://schemas.microsoft.com/office/powerpoint/2010/main" val="19387603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60</a:t>
            </a:fld>
            <a:endParaRPr lang="en-US" altLang="zh-CN" dirty="0"/>
          </a:p>
        </p:txBody>
      </p:sp>
    </p:spTree>
    <p:extLst>
      <p:ext uri="{BB962C8B-B14F-4D97-AF65-F5344CB8AC3E}">
        <p14:creationId xmlns:p14="http://schemas.microsoft.com/office/powerpoint/2010/main" val="36545989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61</a:t>
            </a:fld>
            <a:endParaRPr lang="en-US" altLang="zh-CN" dirty="0"/>
          </a:p>
        </p:txBody>
      </p:sp>
    </p:spTree>
    <p:extLst>
      <p:ext uri="{BB962C8B-B14F-4D97-AF65-F5344CB8AC3E}">
        <p14:creationId xmlns:p14="http://schemas.microsoft.com/office/powerpoint/2010/main" val="30644402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62</a:t>
            </a:fld>
            <a:endParaRPr lang="en-US" altLang="zh-CN" dirty="0"/>
          </a:p>
        </p:txBody>
      </p:sp>
    </p:spTree>
    <p:extLst>
      <p:ext uri="{BB962C8B-B14F-4D97-AF65-F5344CB8AC3E}">
        <p14:creationId xmlns:p14="http://schemas.microsoft.com/office/powerpoint/2010/main" val="30417353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63</a:t>
            </a:fld>
            <a:endParaRPr lang="en-US" altLang="zh-CN" dirty="0"/>
          </a:p>
        </p:txBody>
      </p:sp>
    </p:spTree>
    <p:extLst>
      <p:ext uri="{BB962C8B-B14F-4D97-AF65-F5344CB8AC3E}">
        <p14:creationId xmlns:p14="http://schemas.microsoft.com/office/powerpoint/2010/main" val="1514554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64</a:t>
            </a:fld>
            <a:endParaRPr lang="en-US" altLang="zh-CN" dirty="0"/>
          </a:p>
        </p:txBody>
      </p:sp>
    </p:spTree>
    <p:extLst>
      <p:ext uri="{BB962C8B-B14F-4D97-AF65-F5344CB8AC3E}">
        <p14:creationId xmlns:p14="http://schemas.microsoft.com/office/powerpoint/2010/main" val="4016783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65</a:t>
            </a:fld>
            <a:endParaRPr lang="en-US" altLang="zh-CN" dirty="0"/>
          </a:p>
        </p:txBody>
      </p:sp>
    </p:spTree>
    <p:extLst>
      <p:ext uri="{BB962C8B-B14F-4D97-AF65-F5344CB8AC3E}">
        <p14:creationId xmlns:p14="http://schemas.microsoft.com/office/powerpoint/2010/main" val="32010519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66</a:t>
            </a:fld>
            <a:endParaRPr lang="en-US" altLang="zh-CN" dirty="0"/>
          </a:p>
        </p:txBody>
      </p:sp>
    </p:spTree>
    <p:extLst>
      <p:ext uri="{BB962C8B-B14F-4D97-AF65-F5344CB8AC3E}">
        <p14:creationId xmlns:p14="http://schemas.microsoft.com/office/powerpoint/2010/main" val="30438567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67</a:t>
            </a:fld>
            <a:endParaRPr lang="en-US" altLang="zh-CN" dirty="0"/>
          </a:p>
        </p:txBody>
      </p:sp>
    </p:spTree>
    <p:extLst>
      <p:ext uri="{BB962C8B-B14F-4D97-AF65-F5344CB8AC3E}">
        <p14:creationId xmlns:p14="http://schemas.microsoft.com/office/powerpoint/2010/main" val="11523382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68</a:t>
            </a:fld>
            <a:endParaRPr lang="en-US" altLang="zh-CN" dirty="0"/>
          </a:p>
        </p:txBody>
      </p:sp>
    </p:spTree>
    <p:extLst>
      <p:ext uri="{BB962C8B-B14F-4D97-AF65-F5344CB8AC3E}">
        <p14:creationId xmlns:p14="http://schemas.microsoft.com/office/powerpoint/2010/main" val="19450634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69</a:t>
            </a:fld>
            <a:endParaRPr lang="en-US" altLang="zh-CN" dirty="0"/>
          </a:p>
        </p:txBody>
      </p:sp>
    </p:spTree>
    <p:extLst>
      <p:ext uri="{BB962C8B-B14F-4D97-AF65-F5344CB8AC3E}">
        <p14:creationId xmlns:p14="http://schemas.microsoft.com/office/powerpoint/2010/main" val="9127459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70</a:t>
            </a:fld>
            <a:endParaRPr lang="en-US" altLang="zh-CN" dirty="0"/>
          </a:p>
        </p:txBody>
      </p:sp>
    </p:spTree>
    <p:extLst>
      <p:ext uri="{BB962C8B-B14F-4D97-AF65-F5344CB8AC3E}">
        <p14:creationId xmlns:p14="http://schemas.microsoft.com/office/powerpoint/2010/main" val="9111985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71</a:t>
            </a:fld>
            <a:endParaRPr lang="en-US" altLang="zh-CN" dirty="0"/>
          </a:p>
        </p:txBody>
      </p:sp>
    </p:spTree>
    <p:extLst>
      <p:ext uri="{BB962C8B-B14F-4D97-AF65-F5344CB8AC3E}">
        <p14:creationId xmlns:p14="http://schemas.microsoft.com/office/powerpoint/2010/main" val="413539969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72</a:t>
            </a:fld>
            <a:endParaRPr lang="en-US" altLang="zh-CN" dirty="0"/>
          </a:p>
        </p:txBody>
      </p:sp>
    </p:spTree>
    <p:extLst>
      <p:ext uri="{BB962C8B-B14F-4D97-AF65-F5344CB8AC3E}">
        <p14:creationId xmlns:p14="http://schemas.microsoft.com/office/powerpoint/2010/main" val="25879240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73</a:t>
            </a:fld>
            <a:endParaRPr lang="en-US" altLang="zh-CN"/>
          </a:p>
        </p:txBody>
      </p:sp>
    </p:spTree>
    <p:extLst>
      <p:ext uri="{BB962C8B-B14F-4D97-AF65-F5344CB8AC3E}">
        <p14:creationId xmlns:p14="http://schemas.microsoft.com/office/powerpoint/2010/main" val="240985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2025/12/16</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emf"/><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1.xml"/><Relationship Id="rId7"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6.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2.wmf"/><Relationship Id="rId3" Type="http://schemas.openxmlformats.org/officeDocument/2006/relationships/notesSlide" Target="../notesSlides/notesSlide12.xml"/><Relationship Id="rId7" Type="http://schemas.openxmlformats.org/officeDocument/2006/relationships/image" Target="../media/image19.wmf"/><Relationship Id="rId12"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20.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7.wmf"/><Relationship Id="rId3" Type="http://schemas.openxmlformats.org/officeDocument/2006/relationships/notesSlide" Target="../notesSlides/notesSlide14.xml"/><Relationship Id="rId7" Type="http://schemas.openxmlformats.org/officeDocument/2006/relationships/image" Target="../media/image24.wmf"/><Relationship Id="rId12"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1.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25.wmf"/></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5.bin"/><Relationship Id="rId5" Type="http://schemas.openxmlformats.org/officeDocument/2006/relationships/audio" Target="../media/audio2.wav"/><Relationship Id="rId4" Type="http://schemas.openxmlformats.org/officeDocument/2006/relationships/audio" Target="../media/audio3.wav"/></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6.bin"/><Relationship Id="rId5" Type="http://schemas.openxmlformats.org/officeDocument/2006/relationships/audio" Target="../media/audio2.wav"/><Relationship Id="rId4" Type="http://schemas.openxmlformats.org/officeDocument/2006/relationships/audio" Target="../media/audio3.wav"/></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8.bin"/><Relationship Id="rId5" Type="http://schemas.openxmlformats.org/officeDocument/2006/relationships/image" Target="../media/image31.wmf"/><Relationship Id="rId4"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21.xml"/><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9.bin"/><Relationship Id="rId5" Type="http://schemas.openxmlformats.org/officeDocument/2006/relationships/audio" Target="../media/audio2.wav"/><Relationship Id="rId4" Type="http://schemas.openxmlformats.org/officeDocument/2006/relationships/audio" Target="../media/audio3.wav"/><Relationship Id="rId9" Type="http://schemas.openxmlformats.org/officeDocument/2006/relationships/image" Target="../media/image34.wmf"/></Relationships>
</file>

<file path=ppt/slides/_rels/slide22.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notesSlide" Target="../notesSlides/notesSlide22.xml"/><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5.wmf"/><Relationship Id="rId5" Type="http://schemas.openxmlformats.org/officeDocument/2006/relationships/oleObject" Target="../embeddings/oleObject21.bin"/><Relationship Id="rId4" Type="http://schemas.openxmlformats.org/officeDocument/2006/relationships/audio" Target="../media/audio2.wav"/></Relationships>
</file>

<file path=ppt/slides/_rels/slide2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27.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4.bin"/><Relationship Id="rId5" Type="http://schemas.openxmlformats.org/officeDocument/2006/relationships/image" Target="../media/image37.wmf"/><Relationship Id="rId4" Type="http://schemas.openxmlformats.org/officeDocument/2006/relationships/oleObject" Target="../embeddings/oleObject23.bin"/><Relationship Id="rId9" Type="http://schemas.openxmlformats.org/officeDocument/2006/relationships/image" Target="../media/image39.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27.bin"/><Relationship Id="rId5" Type="http://schemas.openxmlformats.org/officeDocument/2006/relationships/image" Target="../media/image41.wmf"/><Relationship Id="rId4" Type="http://schemas.openxmlformats.org/officeDocument/2006/relationships/oleObject" Target="../embeddings/oleObject26.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43.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8.bin"/><Relationship Id="rId5" Type="http://schemas.openxmlformats.org/officeDocument/2006/relationships/audio" Target="../media/audio3.wav"/><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notesSlide" Target="../notesSlides/notesSlide41.xml"/><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4.wmf"/><Relationship Id="rId5" Type="http://schemas.openxmlformats.org/officeDocument/2006/relationships/oleObject" Target="../embeddings/oleObject29.bin"/><Relationship Id="rId10" Type="http://schemas.openxmlformats.org/officeDocument/2006/relationships/image" Target="../media/image46.wmf"/><Relationship Id="rId4" Type="http://schemas.openxmlformats.org/officeDocument/2006/relationships/audio" Target="../media/audio3.wav"/><Relationship Id="rId9" Type="http://schemas.openxmlformats.org/officeDocument/2006/relationships/oleObject" Target="../embeddings/oleObject31.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42.xml"/><Relationship Id="rId7"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3.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9.wmf"/></Relationships>
</file>

<file path=ppt/slides/_rels/slide4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44.xml"/><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1.wmf"/><Relationship Id="rId5" Type="http://schemas.openxmlformats.org/officeDocument/2006/relationships/oleObject" Target="../embeddings/oleObject36.bin"/><Relationship Id="rId4" Type="http://schemas.openxmlformats.org/officeDocument/2006/relationships/audio" Target="../media/audio3.wav"/></Relationships>
</file>

<file path=ppt/slides/_rels/slide4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audio" Target="../media/audio5.wav"/></Relationships>
</file>

<file path=ppt/slides/_rels/slide4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5.wav"/></Relationships>
</file>

<file path=ppt/slides/_rels/slide4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5.wav"/></Relationships>
</file>

<file path=ppt/slides/_rels/slide4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7" Type="http://schemas.openxmlformats.org/officeDocument/2006/relationships/image" Target="../media/image53.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8.bin"/><Relationship Id="rId5" Type="http://schemas.openxmlformats.org/officeDocument/2006/relationships/audio" Target="../media/audio2.wav"/><Relationship Id="rId4" Type="http://schemas.openxmlformats.org/officeDocument/2006/relationships/audio" Target="../media/audio3.wav"/></Relationships>
</file>

<file path=ppt/slides/_rels/slide5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0.bin"/><Relationship Id="rId5" Type="http://schemas.openxmlformats.org/officeDocument/2006/relationships/image" Target="../media/image57.wmf"/><Relationship Id="rId4" Type="http://schemas.openxmlformats.org/officeDocument/2006/relationships/oleObject" Target="../embeddings/oleObject39.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61.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oleObject" Target="../embeddings/oleObject41.bin"/></Relationships>
</file>

<file path=ppt/slides/_rels/slide56.x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oleObject" Target="../embeddings/oleObject46.bin"/><Relationship Id="rId18" Type="http://schemas.openxmlformats.org/officeDocument/2006/relationships/image" Target="../media/image68.wmf"/><Relationship Id="rId3" Type="http://schemas.openxmlformats.org/officeDocument/2006/relationships/notesSlide" Target="../notesSlides/notesSlide56.xml"/><Relationship Id="rId7" Type="http://schemas.openxmlformats.org/officeDocument/2006/relationships/image" Target="../media/image63.wmf"/><Relationship Id="rId12" Type="http://schemas.openxmlformats.org/officeDocument/2006/relationships/image" Target="../media/image65.wmf"/><Relationship Id="rId17" Type="http://schemas.openxmlformats.org/officeDocument/2006/relationships/oleObject" Target="../embeddings/oleObject48.bin"/><Relationship Id="rId2" Type="http://schemas.openxmlformats.org/officeDocument/2006/relationships/slideLayout" Target="../slideLayouts/slideLayout7.xml"/><Relationship Id="rId16" Type="http://schemas.openxmlformats.org/officeDocument/2006/relationships/image" Target="../media/image67.wmf"/><Relationship Id="rId1" Type="http://schemas.openxmlformats.org/officeDocument/2006/relationships/vmlDrawing" Target="../drawings/vmlDrawing18.vml"/><Relationship Id="rId6" Type="http://schemas.openxmlformats.org/officeDocument/2006/relationships/oleObject" Target="../embeddings/oleObject43.bin"/><Relationship Id="rId11" Type="http://schemas.openxmlformats.org/officeDocument/2006/relationships/oleObject" Target="../embeddings/oleObject45.bin"/><Relationship Id="rId5" Type="http://schemas.openxmlformats.org/officeDocument/2006/relationships/image" Target="../media/image62.wmf"/><Relationship Id="rId15" Type="http://schemas.openxmlformats.org/officeDocument/2006/relationships/oleObject" Target="../embeddings/oleObject47.bin"/><Relationship Id="rId10" Type="http://schemas.openxmlformats.org/officeDocument/2006/relationships/image" Target="../media/image64.wmf"/><Relationship Id="rId4" Type="http://schemas.openxmlformats.org/officeDocument/2006/relationships/oleObject" Target="../embeddings/oleObject42.bin"/><Relationship Id="rId9" Type="http://schemas.openxmlformats.org/officeDocument/2006/relationships/oleObject" Target="../embeddings/oleObject44.bin"/><Relationship Id="rId14" Type="http://schemas.openxmlformats.org/officeDocument/2006/relationships/image" Target="../media/image66.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74.wmf"/><Relationship Id="rId18" Type="http://schemas.openxmlformats.org/officeDocument/2006/relationships/oleObject" Target="../embeddings/oleObject56.bin"/><Relationship Id="rId26" Type="http://schemas.openxmlformats.org/officeDocument/2006/relationships/oleObject" Target="../embeddings/oleObject60.bin"/><Relationship Id="rId3" Type="http://schemas.openxmlformats.org/officeDocument/2006/relationships/notesSlide" Target="../notesSlides/notesSlide57.xml"/><Relationship Id="rId21" Type="http://schemas.openxmlformats.org/officeDocument/2006/relationships/image" Target="../media/image78.wmf"/><Relationship Id="rId7" Type="http://schemas.openxmlformats.org/officeDocument/2006/relationships/image" Target="../media/image71.wmf"/><Relationship Id="rId12" Type="http://schemas.openxmlformats.org/officeDocument/2006/relationships/oleObject" Target="../embeddings/oleObject53.bin"/><Relationship Id="rId17" Type="http://schemas.openxmlformats.org/officeDocument/2006/relationships/image" Target="../media/image76.wmf"/><Relationship Id="rId25" Type="http://schemas.openxmlformats.org/officeDocument/2006/relationships/image" Target="../media/image80.wmf"/><Relationship Id="rId2" Type="http://schemas.openxmlformats.org/officeDocument/2006/relationships/slideLayout" Target="../slideLayouts/slideLayout7.xml"/><Relationship Id="rId16" Type="http://schemas.openxmlformats.org/officeDocument/2006/relationships/oleObject" Target="../embeddings/oleObject55.bin"/><Relationship Id="rId20" Type="http://schemas.openxmlformats.org/officeDocument/2006/relationships/oleObject" Target="../embeddings/oleObject57.bin"/><Relationship Id="rId29" Type="http://schemas.openxmlformats.org/officeDocument/2006/relationships/image" Target="../media/image82.wmf"/><Relationship Id="rId1" Type="http://schemas.openxmlformats.org/officeDocument/2006/relationships/vmlDrawing" Target="../drawings/vmlDrawing19.vml"/><Relationship Id="rId6" Type="http://schemas.openxmlformats.org/officeDocument/2006/relationships/oleObject" Target="../embeddings/oleObject50.bin"/><Relationship Id="rId11" Type="http://schemas.openxmlformats.org/officeDocument/2006/relationships/image" Target="../media/image73.wmf"/><Relationship Id="rId24" Type="http://schemas.openxmlformats.org/officeDocument/2006/relationships/oleObject" Target="../embeddings/oleObject59.bin"/><Relationship Id="rId5" Type="http://schemas.openxmlformats.org/officeDocument/2006/relationships/image" Target="../media/image70.wmf"/><Relationship Id="rId15" Type="http://schemas.openxmlformats.org/officeDocument/2006/relationships/image" Target="../media/image75.wmf"/><Relationship Id="rId23" Type="http://schemas.openxmlformats.org/officeDocument/2006/relationships/image" Target="../media/image79.wmf"/><Relationship Id="rId28" Type="http://schemas.openxmlformats.org/officeDocument/2006/relationships/oleObject" Target="../embeddings/oleObject61.bin"/><Relationship Id="rId10" Type="http://schemas.openxmlformats.org/officeDocument/2006/relationships/oleObject" Target="../embeddings/oleObject52.bin"/><Relationship Id="rId19" Type="http://schemas.openxmlformats.org/officeDocument/2006/relationships/image" Target="../media/image77.wmf"/><Relationship Id="rId4" Type="http://schemas.openxmlformats.org/officeDocument/2006/relationships/oleObject" Target="../embeddings/oleObject49.bin"/><Relationship Id="rId9" Type="http://schemas.openxmlformats.org/officeDocument/2006/relationships/image" Target="../media/image72.wmf"/><Relationship Id="rId14" Type="http://schemas.openxmlformats.org/officeDocument/2006/relationships/oleObject" Target="../embeddings/oleObject54.bin"/><Relationship Id="rId22" Type="http://schemas.openxmlformats.org/officeDocument/2006/relationships/oleObject" Target="../embeddings/oleObject58.bin"/><Relationship Id="rId27" Type="http://schemas.openxmlformats.org/officeDocument/2006/relationships/image" Target="../media/image81.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74.wmf"/><Relationship Id="rId18" Type="http://schemas.openxmlformats.org/officeDocument/2006/relationships/oleObject" Target="../embeddings/oleObject69.bin"/><Relationship Id="rId3" Type="http://schemas.openxmlformats.org/officeDocument/2006/relationships/notesSlide" Target="../notesSlides/notesSlide58.xml"/><Relationship Id="rId21" Type="http://schemas.openxmlformats.org/officeDocument/2006/relationships/image" Target="../media/image85.wmf"/><Relationship Id="rId7" Type="http://schemas.openxmlformats.org/officeDocument/2006/relationships/image" Target="../media/image71.wmf"/><Relationship Id="rId12" Type="http://schemas.openxmlformats.org/officeDocument/2006/relationships/oleObject" Target="../embeddings/oleObject66.bin"/><Relationship Id="rId17" Type="http://schemas.openxmlformats.org/officeDocument/2006/relationships/image" Target="../media/image83.wmf"/><Relationship Id="rId25" Type="http://schemas.openxmlformats.org/officeDocument/2006/relationships/image" Target="../media/image87.wmf"/><Relationship Id="rId2" Type="http://schemas.openxmlformats.org/officeDocument/2006/relationships/slideLayout" Target="../slideLayouts/slideLayout7.xml"/><Relationship Id="rId16" Type="http://schemas.openxmlformats.org/officeDocument/2006/relationships/oleObject" Target="../embeddings/oleObject68.bin"/><Relationship Id="rId20" Type="http://schemas.openxmlformats.org/officeDocument/2006/relationships/oleObject" Target="../embeddings/oleObject70.bin"/><Relationship Id="rId1" Type="http://schemas.openxmlformats.org/officeDocument/2006/relationships/vmlDrawing" Target="../drawings/vmlDrawing20.vml"/><Relationship Id="rId6" Type="http://schemas.openxmlformats.org/officeDocument/2006/relationships/oleObject" Target="../embeddings/oleObject63.bin"/><Relationship Id="rId11" Type="http://schemas.openxmlformats.org/officeDocument/2006/relationships/image" Target="../media/image73.wmf"/><Relationship Id="rId24" Type="http://schemas.openxmlformats.org/officeDocument/2006/relationships/oleObject" Target="../embeddings/oleObject72.bin"/><Relationship Id="rId5" Type="http://schemas.openxmlformats.org/officeDocument/2006/relationships/image" Target="../media/image70.wmf"/><Relationship Id="rId15" Type="http://schemas.openxmlformats.org/officeDocument/2006/relationships/image" Target="../media/image75.wmf"/><Relationship Id="rId23" Type="http://schemas.openxmlformats.org/officeDocument/2006/relationships/image" Target="../media/image86.wmf"/><Relationship Id="rId10" Type="http://schemas.openxmlformats.org/officeDocument/2006/relationships/oleObject" Target="../embeddings/oleObject65.bin"/><Relationship Id="rId19" Type="http://schemas.openxmlformats.org/officeDocument/2006/relationships/image" Target="../media/image84.wmf"/><Relationship Id="rId4" Type="http://schemas.openxmlformats.org/officeDocument/2006/relationships/oleObject" Target="../embeddings/oleObject62.bin"/><Relationship Id="rId9" Type="http://schemas.openxmlformats.org/officeDocument/2006/relationships/image" Target="../media/image72.wmf"/><Relationship Id="rId14" Type="http://schemas.openxmlformats.org/officeDocument/2006/relationships/oleObject" Target="../embeddings/oleObject67.bin"/><Relationship Id="rId22" Type="http://schemas.openxmlformats.org/officeDocument/2006/relationships/oleObject" Target="../embeddings/oleObject71.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notesSlide" Target="../notesSlides/notesSlide59.xml"/><Relationship Id="rId7" Type="http://schemas.openxmlformats.org/officeDocument/2006/relationships/image" Target="../media/image89.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74.bin"/><Relationship Id="rId5" Type="http://schemas.openxmlformats.org/officeDocument/2006/relationships/image" Target="../media/image88.wmf"/><Relationship Id="rId4" Type="http://schemas.openxmlformats.org/officeDocument/2006/relationships/oleObject" Target="../embeddings/oleObject73.bin"/><Relationship Id="rId9" Type="http://schemas.openxmlformats.org/officeDocument/2006/relationships/image" Target="../media/image90.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95.wmf"/><Relationship Id="rId18" Type="http://schemas.openxmlformats.org/officeDocument/2006/relationships/oleObject" Target="../embeddings/oleObject83.bin"/><Relationship Id="rId3" Type="http://schemas.openxmlformats.org/officeDocument/2006/relationships/notesSlide" Target="../notesSlides/notesSlide60.xml"/><Relationship Id="rId7" Type="http://schemas.openxmlformats.org/officeDocument/2006/relationships/image" Target="../media/image92.wmf"/><Relationship Id="rId12" Type="http://schemas.openxmlformats.org/officeDocument/2006/relationships/oleObject" Target="../embeddings/oleObject80.bin"/><Relationship Id="rId17" Type="http://schemas.openxmlformats.org/officeDocument/2006/relationships/image" Target="../media/image97.wmf"/><Relationship Id="rId2" Type="http://schemas.openxmlformats.org/officeDocument/2006/relationships/slideLayout" Target="../slideLayouts/slideLayout7.xml"/><Relationship Id="rId16" Type="http://schemas.openxmlformats.org/officeDocument/2006/relationships/oleObject" Target="../embeddings/oleObject82.bin"/><Relationship Id="rId1" Type="http://schemas.openxmlformats.org/officeDocument/2006/relationships/vmlDrawing" Target="../drawings/vmlDrawing22.vml"/><Relationship Id="rId6" Type="http://schemas.openxmlformats.org/officeDocument/2006/relationships/oleObject" Target="../embeddings/oleObject77.bin"/><Relationship Id="rId11" Type="http://schemas.openxmlformats.org/officeDocument/2006/relationships/image" Target="../media/image94.wmf"/><Relationship Id="rId5" Type="http://schemas.openxmlformats.org/officeDocument/2006/relationships/image" Target="../media/image91.wmf"/><Relationship Id="rId15" Type="http://schemas.openxmlformats.org/officeDocument/2006/relationships/image" Target="../media/image96.wmf"/><Relationship Id="rId10" Type="http://schemas.openxmlformats.org/officeDocument/2006/relationships/oleObject" Target="../embeddings/oleObject79.bin"/><Relationship Id="rId19" Type="http://schemas.openxmlformats.org/officeDocument/2006/relationships/image" Target="../media/image98.wmf"/><Relationship Id="rId4" Type="http://schemas.openxmlformats.org/officeDocument/2006/relationships/oleObject" Target="../embeddings/oleObject76.bin"/><Relationship Id="rId9" Type="http://schemas.openxmlformats.org/officeDocument/2006/relationships/image" Target="../media/image93.wmf"/><Relationship Id="rId14" Type="http://schemas.openxmlformats.org/officeDocument/2006/relationships/oleObject" Target="../embeddings/oleObject81.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notesSlide" Target="../notesSlides/notesSlide61.xml"/><Relationship Id="rId7" Type="http://schemas.openxmlformats.org/officeDocument/2006/relationships/image" Target="../media/image100.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85.bin"/><Relationship Id="rId5" Type="http://schemas.openxmlformats.org/officeDocument/2006/relationships/image" Target="../media/image99.wmf"/><Relationship Id="rId4" Type="http://schemas.openxmlformats.org/officeDocument/2006/relationships/oleObject" Target="../embeddings/oleObject84.bin"/><Relationship Id="rId9" Type="http://schemas.openxmlformats.org/officeDocument/2006/relationships/image" Target="../media/image101.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106.wmf"/><Relationship Id="rId18" Type="http://schemas.openxmlformats.org/officeDocument/2006/relationships/oleObject" Target="../embeddings/oleObject94.bin"/><Relationship Id="rId3" Type="http://schemas.openxmlformats.org/officeDocument/2006/relationships/notesSlide" Target="../notesSlides/notesSlide62.xml"/><Relationship Id="rId7" Type="http://schemas.openxmlformats.org/officeDocument/2006/relationships/image" Target="../media/image103.wmf"/><Relationship Id="rId12" Type="http://schemas.openxmlformats.org/officeDocument/2006/relationships/oleObject" Target="../embeddings/oleObject91.bin"/><Relationship Id="rId17" Type="http://schemas.openxmlformats.org/officeDocument/2006/relationships/image" Target="../media/image108.wmf"/><Relationship Id="rId2" Type="http://schemas.openxmlformats.org/officeDocument/2006/relationships/slideLayout" Target="../slideLayouts/slideLayout7.xml"/><Relationship Id="rId16" Type="http://schemas.openxmlformats.org/officeDocument/2006/relationships/oleObject" Target="../embeddings/oleObject93.bin"/><Relationship Id="rId1" Type="http://schemas.openxmlformats.org/officeDocument/2006/relationships/vmlDrawing" Target="../drawings/vmlDrawing24.vml"/><Relationship Id="rId6" Type="http://schemas.openxmlformats.org/officeDocument/2006/relationships/oleObject" Target="../embeddings/oleObject88.bin"/><Relationship Id="rId11" Type="http://schemas.openxmlformats.org/officeDocument/2006/relationships/image" Target="../media/image105.wmf"/><Relationship Id="rId5" Type="http://schemas.openxmlformats.org/officeDocument/2006/relationships/image" Target="../media/image102.wmf"/><Relationship Id="rId15" Type="http://schemas.openxmlformats.org/officeDocument/2006/relationships/image" Target="../media/image107.wmf"/><Relationship Id="rId10" Type="http://schemas.openxmlformats.org/officeDocument/2006/relationships/oleObject" Target="../embeddings/oleObject90.bin"/><Relationship Id="rId19" Type="http://schemas.openxmlformats.org/officeDocument/2006/relationships/image" Target="../media/image109.wmf"/><Relationship Id="rId4" Type="http://schemas.openxmlformats.org/officeDocument/2006/relationships/oleObject" Target="../embeddings/oleObject87.bin"/><Relationship Id="rId9" Type="http://schemas.openxmlformats.org/officeDocument/2006/relationships/image" Target="../media/image104.wmf"/><Relationship Id="rId14" Type="http://schemas.openxmlformats.org/officeDocument/2006/relationships/oleObject" Target="../embeddings/oleObject92.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notesSlide" Target="../notesSlides/notesSlide63.xml"/><Relationship Id="rId7" Type="http://schemas.openxmlformats.org/officeDocument/2006/relationships/image" Target="../media/image111.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96.bin"/><Relationship Id="rId11" Type="http://schemas.openxmlformats.org/officeDocument/2006/relationships/image" Target="../media/image113.wmf"/><Relationship Id="rId5" Type="http://schemas.openxmlformats.org/officeDocument/2006/relationships/image" Target="../media/image110.wmf"/><Relationship Id="rId10" Type="http://schemas.openxmlformats.org/officeDocument/2006/relationships/oleObject" Target="../embeddings/oleObject98.bin"/><Relationship Id="rId4" Type="http://schemas.openxmlformats.org/officeDocument/2006/relationships/oleObject" Target="../embeddings/oleObject95.bin"/><Relationship Id="rId9" Type="http://schemas.openxmlformats.org/officeDocument/2006/relationships/image" Target="../media/image112.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notesSlide" Target="../notesSlides/notesSlide64.xml"/><Relationship Id="rId7" Type="http://schemas.openxmlformats.org/officeDocument/2006/relationships/image" Target="../media/image115.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00.bin"/><Relationship Id="rId5" Type="http://schemas.openxmlformats.org/officeDocument/2006/relationships/image" Target="../media/image114.wmf"/><Relationship Id="rId4" Type="http://schemas.openxmlformats.org/officeDocument/2006/relationships/oleObject" Target="../embeddings/oleObject99.bin"/><Relationship Id="rId9" Type="http://schemas.openxmlformats.org/officeDocument/2006/relationships/image" Target="../media/image116.wmf"/></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image" Target="../media/image117.wmf"/><Relationship Id="rId4" Type="http://schemas.openxmlformats.org/officeDocument/2006/relationships/oleObject" Target="../embeddings/oleObject102.bin"/></Relationships>
</file>

<file path=ppt/slides/_rels/slide6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22.jpeg"/><Relationship Id="rId5" Type="http://schemas.openxmlformats.org/officeDocument/2006/relationships/image" Target="../media/image121.wmf"/><Relationship Id="rId4" Type="http://schemas.openxmlformats.org/officeDocument/2006/relationships/oleObject" Target="../embeddings/oleObject103.bin"/></Relationships>
</file>

<file path=ppt/slides/_rels/slide70.xml.rels><?xml version="1.0" encoding="UTF-8" standalone="yes"?>
<Relationships xmlns="http://schemas.openxmlformats.org/package/2006/relationships"><Relationship Id="rId8" Type="http://schemas.openxmlformats.org/officeDocument/2006/relationships/image" Target="../media/image124.emf"/><Relationship Id="rId13" Type="http://schemas.openxmlformats.org/officeDocument/2006/relationships/oleObject" Target="../embeddings/oleObject108.bin"/><Relationship Id="rId3" Type="http://schemas.openxmlformats.org/officeDocument/2006/relationships/notesSlide" Target="../notesSlides/notesSlide70.xml"/><Relationship Id="rId7" Type="http://schemas.openxmlformats.org/officeDocument/2006/relationships/oleObject" Target="../embeddings/oleObject105.bin"/><Relationship Id="rId12" Type="http://schemas.openxmlformats.org/officeDocument/2006/relationships/image" Target="../media/image126.wmf"/><Relationship Id="rId2" Type="http://schemas.openxmlformats.org/officeDocument/2006/relationships/slideLayout" Target="../slideLayouts/slideLayout7.xml"/><Relationship Id="rId16" Type="http://schemas.openxmlformats.org/officeDocument/2006/relationships/image" Target="../media/image128.wmf"/><Relationship Id="rId1" Type="http://schemas.openxmlformats.org/officeDocument/2006/relationships/vmlDrawing" Target="../drawings/vmlDrawing29.vml"/><Relationship Id="rId6" Type="http://schemas.openxmlformats.org/officeDocument/2006/relationships/image" Target="../media/image123.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09.bin"/><Relationship Id="rId10" Type="http://schemas.openxmlformats.org/officeDocument/2006/relationships/image" Target="../media/image125.wmf"/><Relationship Id="rId4" Type="http://schemas.openxmlformats.org/officeDocument/2006/relationships/image" Target="../media/image129.wmf"/><Relationship Id="rId9" Type="http://schemas.openxmlformats.org/officeDocument/2006/relationships/oleObject" Target="../embeddings/oleObject106.bin"/><Relationship Id="rId14" Type="http://schemas.openxmlformats.org/officeDocument/2006/relationships/image" Target="../media/image127.wmf"/></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7" Type="http://schemas.openxmlformats.org/officeDocument/2006/relationships/image" Target="../media/image132.jpeg"/><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31.jpeg"/><Relationship Id="rId5" Type="http://schemas.openxmlformats.org/officeDocument/2006/relationships/image" Target="../media/image130.png"/><Relationship Id="rId4" Type="http://schemas.openxmlformats.org/officeDocument/2006/relationships/oleObject" Target="../embeddings/oleObject110.bin"/></Relationships>
</file>

<file path=ppt/slides/_rels/slide72.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image" Target="../media/image135.jpeg"/><Relationship Id="rId4" Type="http://schemas.openxmlformats.org/officeDocument/2006/relationships/image" Target="../media/image134.jpe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§10-1  </a:t>
            </a:r>
            <a:r>
              <a:rPr lang="zh-CN" altLang="en-US" sz="3000" i="0" dirty="0">
                <a:solidFill>
                  <a:schemeClr val="accent6">
                    <a:lumMod val="75000"/>
                  </a:schemeClr>
                </a:solidFill>
                <a:latin typeface="+mn-lt"/>
                <a:ea typeface="微软雅黑" panose="020B0503020204020204" pitchFamily="34" charset="-122"/>
              </a:rPr>
              <a:t>弯曲内力图（剪力图和弯矩图）</a:t>
            </a:r>
          </a:p>
        </p:txBody>
      </p:sp>
      <p:sp>
        <p:nvSpPr>
          <p:cNvPr id="14" name="Text Box 1032"/>
          <p:cNvSpPr txBox="1">
            <a:spLocks noChangeArrowheads="1"/>
          </p:cNvSpPr>
          <p:nvPr/>
        </p:nvSpPr>
        <p:spPr bwMode="auto">
          <a:xfrm>
            <a:off x="695400" y="1970218"/>
            <a:ext cx="8480145"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latin typeface="+mj-lt"/>
                <a:ea typeface="微软雅黑" panose="020B0503020204020204" pitchFamily="34" charset="-122"/>
                <a:sym typeface="Symbol" panose="05050102010706020507" pitchFamily="18" charset="2"/>
              </a:rPr>
              <a:t>工程实际中，存在大量的受弯曲的杆件。</a:t>
            </a:r>
            <a:endParaRPr lang="zh-CN" altLang="en-US" sz="2800" i="0" dirty="0">
              <a:latin typeface="+mj-lt"/>
              <a:ea typeface="微软雅黑" panose="020B0503020204020204" pitchFamily="34" charset="-122"/>
            </a:endParaRPr>
          </a:p>
        </p:txBody>
      </p:sp>
      <p:sp>
        <p:nvSpPr>
          <p:cNvPr id="9" name="Rectangle 61"/>
          <p:cNvSpPr>
            <a:spLocks noChangeArrowheads="1"/>
          </p:cNvSpPr>
          <p:nvPr/>
        </p:nvSpPr>
        <p:spPr bwMode="auto">
          <a:xfrm>
            <a:off x="695400" y="2616549"/>
            <a:ext cx="10945216" cy="3641671"/>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54959" y="1416220"/>
            <a:ext cx="2877711"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平面弯曲的概念</a:t>
            </a:r>
          </a:p>
        </p:txBody>
      </p:sp>
      <p:pic>
        <p:nvPicPr>
          <p:cNvPr id="4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441" y="3055432"/>
            <a:ext cx="4731254" cy="267782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 name="组合 2"/>
          <p:cNvGrpSpPr>
            <a:grpSpLocks/>
          </p:cNvGrpSpPr>
          <p:nvPr/>
        </p:nvGrpSpPr>
        <p:grpSpPr bwMode="auto">
          <a:xfrm>
            <a:off x="6600056" y="2639759"/>
            <a:ext cx="4176464" cy="2088232"/>
            <a:chOff x="432403" y="4004928"/>
            <a:chExt cx="4139597" cy="2349397"/>
          </a:xfrm>
        </p:grpSpPr>
        <p:pic>
          <p:nvPicPr>
            <p:cNvPr id="48" name="Picture 7"/>
            <p:cNvPicPr>
              <a:picLocks noChangeAspect="1" noChangeArrowheads="1"/>
            </p:cNvPicPr>
            <p:nvPr/>
          </p:nvPicPr>
          <p:blipFill>
            <a:blip r:embed="rId4">
              <a:extLst>
                <a:ext uri="{28A0092B-C50C-407E-A947-70E740481C1C}">
                  <a14:useLocalDpi xmlns:a14="http://schemas.microsoft.com/office/drawing/2010/main" val="0"/>
                </a:ext>
              </a:extLst>
            </a:blip>
            <a:srcRect t="16711" b="16711"/>
            <a:stretch>
              <a:fillRect/>
            </a:stretch>
          </p:blipFill>
          <p:spPr bwMode="auto">
            <a:xfrm>
              <a:off x="432403" y="4345485"/>
              <a:ext cx="4139597" cy="200884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AutoShape 8"/>
            <p:cNvSpPr>
              <a:spLocks noChangeArrowheads="1"/>
            </p:cNvSpPr>
            <p:nvPr/>
          </p:nvSpPr>
          <p:spPr bwMode="auto">
            <a:xfrm>
              <a:off x="1446668" y="4004928"/>
              <a:ext cx="1585681" cy="396858"/>
            </a:xfrm>
            <a:prstGeom prst="wedgeEllipseCallout">
              <a:avLst>
                <a:gd name="adj1" fmla="val -62060"/>
                <a:gd name="adj2" fmla="val 120199"/>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defRPr/>
              </a:pPr>
              <a:r>
                <a:rPr lang="zh-CN" altLang="en-US" sz="1600" dirty="0">
                  <a:solidFill>
                    <a:srgbClr val="FFFF99"/>
                  </a:solidFill>
                  <a:effectLst>
                    <a:outerShdw blurRad="38100" dist="38100" dir="2700000" algn="tl">
                      <a:srgbClr val="000000"/>
                    </a:outerShdw>
                  </a:effectLst>
                  <a:latin typeface="Times New Roman" pitchFamily="18" charset="0"/>
                  <a:ea typeface="黑体" pitchFamily="49" charset="-122"/>
                </a:rPr>
                <a:t>吊车横梁</a:t>
              </a:r>
            </a:p>
          </p:txBody>
        </p:sp>
        <p:sp>
          <p:nvSpPr>
            <p:cNvPr id="50" name="AutoShape 9"/>
            <p:cNvSpPr>
              <a:spLocks noChangeArrowheads="1"/>
            </p:cNvSpPr>
            <p:nvPr/>
          </p:nvSpPr>
          <p:spPr bwMode="auto">
            <a:xfrm>
              <a:off x="1159372" y="5603471"/>
              <a:ext cx="1260291" cy="457180"/>
            </a:xfrm>
            <a:prstGeom prst="wedgeEllipseCallout">
              <a:avLst>
                <a:gd name="adj1" fmla="val 79268"/>
                <a:gd name="adj2" fmla="val -146585"/>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defRPr/>
              </a:pPr>
              <a:r>
                <a:rPr lang="zh-CN" altLang="en-US" sz="1600" dirty="0">
                  <a:solidFill>
                    <a:srgbClr val="FFFF99"/>
                  </a:solidFill>
                  <a:effectLst>
                    <a:outerShdw blurRad="38100" dist="38100" dir="2700000" algn="tl">
                      <a:srgbClr val="000000"/>
                    </a:outerShdw>
                  </a:effectLst>
                  <a:latin typeface="Times New Roman" pitchFamily="18" charset="0"/>
                  <a:ea typeface="黑体" pitchFamily="49" charset="-122"/>
                </a:rPr>
                <a:t>电葫芦</a:t>
              </a:r>
            </a:p>
            <a:p>
              <a:pPr algn="ctr" eaLnBrk="0" hangingPunct="0">
                <a:defRPr/>
              </a:pPr>
              <a:endParaRPr lang="en-US" altLang="zh-CN" sz="1600" dirty="0">
                <a:solidFill>
                  <a:srgbClr val="FFFF99"/>
                </a:solidFill>
                <a:effectLst>
                  <a:outerShdw blurRad="38100" dist="38100" dir="2700000" algn="tl">
                    <a:srgbClr val="000000"/>
                  </a:outerShdw>
                </a:effectLst>
                <a:latin typeface="Times New Roman" pitchFamily="18" charset="0"/>
                <a:ea typeface="黑体" pitchFamily="49" charset="-122"/>
              </a:endParaRPr>
            </a:p>
          </p:txBody>
        </p:sp>
      </p:grpSp>
      <p:pic>
        <p:nvPicPr>
          <p:cNvPr id="2" name="图片 1"/>
          <p:cNvPicPr>
            <a:picLocks noChangeAspect="1"/>
          </p:cNvPicPr>
          <p:nvPr/>
        </p:nvPicPr>
        <p:blipFill rotWithShape="1">
          <a:blip r:embed="rId5"/>
          <a:srcRect t="7599"/>
          <a:stretch/>
        </p:blipFill>
        <p:spPr>
          <a:xfrm>
            <a:off x="6603649" y="4821023"/>
            <a:ext cx="4172871" cy="1344164"/>
          </a:xfrm>
          <a:prstGeom prst="rect">
            <a:avLst/>
          </a:prstGeom>
        </p:spPr>
      </p:pic>
      <p:sp>
        <p:nvSpPr>
          <p:cNvPr id="52" name="Text Box 1032"/>
          <p:cNvSpPr txBox="1">
            <a:spLocks noChangeArrowheads="1"/>
          </p:cNvSpPr>
          <p:nvPr/>
        </p:nvSpPr>
        <p:spPr bwMode="auto">
          <a:xfrm>
            <a:off x="2495600" y="5796555"/>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spcBef>
                <a:spcPct val="50000"/>
              </a:spcBef>
            </a:pPr>
            <a:r>
              <a:rPr lang="zh-CN" altLang="en-US" i="0" dirty="0">
                <a:latin typeface="+mj-lt"/>
                <a:ea typeface="微软雅黑" panose="020B0503020204020204" pitchFamily="34" charset="-122"/>
              </a:rPr>
              <a:t>桥式吊车</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9755559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52"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95400" y="1196752"/>
            <a:ext cx="10945216" cy="4032448"/>
          </a:xfrm>
          <a:prstGeom prst="rect">
            <a:avLst/>
          </a:prstGeom>
          <a:solidFill>
            <a:srgbClr val="B9CDE5"/>
          </a:solidFill>
          <a:ln>
            <a:noFill/>
          </a:ln>
          <a:effectLst/>
        </p:spPr>
        <p:txBody>
          <a:bodyPr wrap="none" anchor="ctr"/>
          <a:lstStyle/>
          <a:p>
            <a:endParaRPr lang="zh-CN" altLang="en-US" dirty="0"/>
          </a:p>
        </p:txBody>
      </p:sp>
      <p:sp>
        <p:nvSpPr>
          <p:cNvPr id="52" name="Text Box 1032"/>
          <p:cNvSpPr txBox="1">
            <a:spLocks noChangeArrowheads="1"/>
          </p:cNvSpPr>
          <p:nvPr/>
        </p:nvSpPr>
        <p:spPr bwMode="auto">
          <a:xfrm>
            <a:off x="2495600" y="4304750"/>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spcBef>
                <a:spcPct val="50000"/>
              </a:spcBef>
            </a:pPr>
            <a:r>
              <a:rPr lang="zh-CN" altLang="en-US" i="0" dirty="0">
                <a:latin typeface="+mj-lt"/>
                <a:ea typeface="微软雅黑" panose="020B0503020204020204" pitchFamily="34" charset="-122"/>
              </a:rPr>
              <a:t>高铁轮轴</a:t>
            </a:r>
            <a:endParaRPr lang="zh-CN" altLang="en-US" sz="2800" i="0" dirty="0">
              <a:latin typeface="+mj-lt"/>
              <a:ea typeface="微软雅黑" panose="020B0503020204020204" pitchFamily="34" charset="-122"/>
            </a:endParaRPr>
          </a:p>
        </p:txBody>
      </p:sp>
      <p:pic>
        <p:nvPicPr>
          <p:cNvPr id="15" name="Picture 2" descr="http://p.cdn.sohu.com/49dc1158/649ecf10ab3c1548f6f8ec6f0a2da6cc.jpeg"/>
          <p:cNvPicPr>
            <a:picLocks noChangeAspect="1" noChangeArrowheads="1"/>
          </p:cNvPicPr>
          <p:nvPr/>
        </p:nvPicPr>
        <p:blipFill rotWithShape="1">
          <a:blip r:embed="rId3">
            <a:extLst>
              <a:ext uri="{28A0092B-C50C-407E-A947-70E740481C1C}">
                <a14:useLocalDpi xmlns:a14="http://schemas.microsoft.com/office/drawing/2010/main" val="0"/>
              </a:ext>
            </a:extLst>
          </a:blip>
          <a:srcRect t="8849" b="6265"/>
          <a:stretch/>
        </p:blipFill>
        <p:spPr bwMode="auto">
          <a:xfrm>
            <a:off x="6839983" y="1418604"/>
            <a:ext cx="3941255" cy="220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728" y="1418603"/>
            <a:ext cx="4601741" cy="25922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5"/>
          <a:stretch>
            <a:fillRect/>
          </a:stretch>
        </p:blipFill>
        <p:spPr>
          <a:xfrm>
            <a:off x="6839983" y="3776553"/>
            <a:ext cx="3941255" cy="1274956"/>
          </a:xfrm>
          <a:prstGeom prst="rect">
            <a:avLst/>
          </a:prstGeom>
        </p:spPr>
      </p:pic>
      <p:sp>
        <p:nvSpPr>
          <p:cNvPr id="17" name="Text Box 1032"/>
          <p:cNvSpPr txBox="1">
            <a:spLocks noChangeArrowheads="1"/>
          </p:cNvSpPr>
          <p:nvPr/>
        </p:nvSpPr>
        <p:spPr bwMode="auto">
          <a:xfrm>
            <a:off x="695400" y="5229200"/>
            <a:ext cx="1116124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lang="zh-CN" altLang="en-US" sz="2800" i="0" dirty="0">
                <a:latin typeface="+mj-lt"/>
                <a:ea typeface="微软雅黑" panose="020B0503020204020204" pitchFamily="34" charset="-122"/>
                <a:sym typeface="Symbol" panose="05050102010706020507" pitchFamily="18" charset="2"/>
              </a:rPr>
              <a:t>在杆的轴线平面内受到外力作用，杆的轴线由原来的直线变曲线，这种变形称为</a:t>
            </a:r>
            <a:r>
              <a:rPr lang="zh-CN" altLang="en-US" sz="2800" i="0" dirty="0">
                <a:solidFill>
                  <a:srgbClr val="FF0000"/>
                </a:solidFill>
                <a:latin typeface="+mj-lt"/>
                <a:ea typeface="微软雅黑" panose="020B0503020204020204" pitchFamily="34" charset="-122"/>
                <a:sym typeface="Symbol" panose="05050102010706020507" pitchFamily="18" charset="2"/>
              </a:rPr>
              <a:t>弯曲变形</a:t>
            </a:r>
            <a:r>
              <a:rPr lang="zh-CN" altLang="en-US" sz="2800" i="0" dirty="0">
                <a:latin typeface="+mj-lt"/>
                <a:ea typeface="微软雅黑" panose="020B0503020204020204" pitchFamily="34" charset="-122"/>
                <a:sym typeface="Symbol" panose="05050102010706020507" pitchFamily="18" charset="2"/>
              </a:rPr>
              <a:t>。凡以弯曲变形为主的杆件，通常称为</a:t>
            </a:r>
            <a:r>
              <a:rPr lang="zh-CN" altLang="en-US" sz="2800" i="0" dirty="0">
                <a:solidFill>
                  <a:srgbClr val="FF0000"/>
                </a:solidFill>
                <a:latin typeface="+mj-lt"/>
                <a:ea typeface="微软雅黑" panose="020B0503020204020204" pitchFamily="34" charset="-122"/>
                <a:sym typeface="Symbol" panose="05050102010706020507" pitchFamily="18" charset="2"/>
              </a:rPr>
              <a:t>梁</a:t>
            </a:r>
            <a:r>
              <a:rPr lang="zh-CN" altLang="en-US" sz="2800" i="0" dirty="0">
                <a:latin typeface="+mj-lt"/>
                <a:ea typeface="微软雅黑" panose="020B0503020204020204" pitchFamily="34" charset="-122"/>
                <a:sym typeface="Symbol" panose="05050102010706020507" pitchFamily="18" charset="2"/>
              </a:rPr>
              <a:t>。</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8926550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2" grpId="0" autoUpdateAnimBg="0"/>
      <p:bldP spid="1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374109" y="1036271"/>
            <a:ext cx="5495010" cy="5079761"/>
          </a:xfrm>
          <a:prstGeom prst="rect">
            <a:avLst/>
          </a:prstGeom>
          <a:solidFill>
            <a:srgbClr val="B9CDE5"/>
          </a:solidFill>
          <a:ln>
            <a:noFill/>
          </a:ln>
          <a:effectLst/>
        </p:spPr>
        <p:txBody>
          <a:bodyPr wrap="none" anchor="ctr"/>
          <a:lstStyle/>
          <a:p>
            <a:endParaRPr lang="zh-CN" altLang="en-US" dirty="0"/>
          </a:p>
        </p:txBody>
      </p:sp>
      <p:sp>
        <p:nvSpPr>
          <p:cNvPr id="17" name="Text Box 1032"/>
          <p:cNvSpPr txBox="1">
            <a:spLocks noChangeArrowheads="1"/>
          </p:cNvSpPr>
          <p:nvPr/>
        </p:nvSpPr>
        <p:spPr bwMode="auto">
          <a:xfrm>
            <a:off x="367513" y="1036271"/>
            <a:ext cx="5770701"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lang="zh-CN" altLang="en-US" sz="2800" i="0" dirty="0">
                <a:latin typeface="+mj-lt"/>
                <a:ea typeface="微软雅黑" panose="020B0503020204020204" pitchFamily="34" charset="-122"/>
              </a:rPr>
              <a:t>工程中使用的直梁，其横截面大多至少有一根对称轴（</a:t>
            </a:r>
            <a:r>
              <a:rPr lang="en-US" altLang="zh-CN" sz="2800" b="0" dirty="0">
                <a:latin typeface="+mj-lt"/>
                <a:ea typeface="微软雅黑" panose="020B0503020204020204" pitchFamily="34" charset="-122"/>
              </a:rPr>
              <a:t>y </a:t>
            </a:r>
            <a:r>
              <a:rPr lang="zh-CN" altLang="en-US" sz="2800" i="0" dirty="0">
                <a:latin typeface="+mj-lt"/>
                <a:ea typeface="微软雅黑" panose="020B0503020204020204" pitchFamily="34" charset="-122"/>
              </a:rPr>
              <a:t>轴）。通过平面对称轴与梁轴线确定的平面，称为梁的</a:t>
            </a:r>
            <a:r>
              <a:rPr lang="zh-CN" altLang="en-US" sz="2800" i="0" dirty="0">
                <a:solidFill>
                  <a:srgbClr val="FF0000"/>
                </a:solidFill>
                <a:latin typeface="+mj-lt"/>
                <a:ea typeface="微软雅黑" panose="020B0503020204020204" pitchFamily="34" charset="-122"/>
              </a:rPr>
              <a:t>纵向对称面</a:t>
            </a:r>
            <a:r>
              <a:rPr lang="zh-CN" altLang="en-US" sz="2800" i="0" dirty="0">
                <a:latin typeface="+mj-lt"/>
                <a:ea typeface="微软雅黑" panose="020B0503020204020204" pitchFamily="34" charset="-122"/>
              </a:rPr>
              <a:t>。如果作用于梁上的所有外力（包括约束力）都作用于梁的纵向对称面内，则变形后的轴线将是在纵向对称面内的一条平面曲线。这种弯曲变形称为</a:t>
            </a:r>
            <a:r>
              <a:rPr lang="zh-CN" altLang="en-US" sz="2800" i="0" dirty="0">
                <a:solidFill>
                  <a:srgbClr val="FF0000"/>
                </a:solidFill>
                <a:latin typeface="+mj-lt"/>
                <a:ea typeface="微软雅黑" panose="020B0503020204020204" pitchFamily="34" charset="-122"/>
              </a:rPr>
              <a:t>平面弯曲</a:t>
            </a:r>
            <a:r>
              <a:rPr lang="zh-CN" altLang="en-US" sz="2800" i="0" dirty="0">
                <a:latin typeface="+mj-lt"/>
                <a:ea typeface="微软雅黑" panose="020B0503020204020204" pitchFamily="34" charset="-122"/>
              </a:rPr>
              <a:t>。本章只讨论梁的平面弯曲。</a:t>
            </a:r>
          </a:p>
        </p:txBody>
      </p:sp>
      <p:sp>
        <p:nvSpPr>
          <p:cNvPr id="53" name="Rectangle 4" descr="5%"/>
          <p:cNvSpPr>
            <a:spLocks noChangeAspect="1" noChangeArrowheads="1"/>
          </p:cNvSpPr>
          <p:nvPr/>
        </p:nvSpPr>
        <p:spPr bwMode="auto">
          <a:xfrm>
            <a:off x="7790160" y="4137064"/>
            <a:ext cx="3111500" cy="825500"/>
          </a:xfrm>
          <a:prstGeom prst="rect">
            <a:avLst/>
          </a:prstGeom>
          <a:pattFill prst="pct5">
            <a:fgClr>
              <a:srgbClr val="000000"/>
            </a:fgClr>
            <a:bgClr>
              <a:srgbClr val="EAEAEA"/>
            </a:bgClr>
          </a:pattFill>
          <a:ln w="12700">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4" name="Group 5"/>
          <p:cNvGrpSpPr>
            <a:grpSpLocks/>
          </p:cNvGrpSpPr>
          <p:nvPr/>
        </p:nvGrpSpPr>
        <p:grpSpPr bwMode="auto">
          <a:xfrm>
            <a:off x="7409160" y="3866419"/>
            <a:ext cx="4705349" cy="1147763"/>
            <a:chOff x="2863" y="2778"/>
            <a:chExt cx="2964" cy="723"/>
          </a:xfrm>
        </p:grpSpPr>
        <p:sp>
          <p:nvSpPr>
            <p:cNvPr id="55" name="Rectangle 6"/>
            <p:cNvSpPr>
              <a:spLocks noChangeAspect="1" noChangeArrowheads="1"/>
            </p:cNvSpPr>
            <p:nvPr/>
          </p:nvSpPr>
          <p:spPr bwMode="auto">
            <a:xfrm>
              <a:off x="2921" y="2982"/>
              <a:ext cx="1960" cy="51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6" name="Rectangle 7"/>
            <p:cNvSpPr>
              <a:spLocks noChangeAspect="1" noChangeArrowheads="1"/>
            </p:cNvSpPr>
            <p:nvPr/>
          </p:nvSpPr>
          <p:spPr bwMode="auto">
            <a:xfrm>
              <a:off x="3194" y="2779"/>
              <a:ext cx="1961" cy="520"/>
            </a:xfrm>
            <a:prstGeom prst="rect">
              <a:avLst/>
            </a:prstGeom>
            <a:noFill/>
            <a:ln w="2857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7" name="Line 8"/>
            <p:cNvSpPr>
              <a:spLocks noChangeAspect="1" noChangeShapeType="1"/>
            </p:cNvSpPr>
            <p:nvPr/>
          </p:nvSpPr>
          <p:spPr bwMode="auto">
            <a:xfrm rot="21516606" flipH="1">
              <a:off x="2925" y="2778"/>
              <a:ext cx="284" cy="1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Line 9"/>
            <p:cNvSpPr>
              <a:spLocks noChangeAspect="1" noChangeShapeType="1"/>
            </p:cNvSpPr>
            <p:nvPr/>
          </p:nvSpPr>
          <p:spPr bwMode="auto">
            <a:xfrm flipH="1">
              <a:off x="4867" y="2793"/>
              <a:ext cx="274" cy="1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9" name="Line 10"/>
            <p:cNvSpPr>
              <a:spLocks noChangeAspect="1" noChangeShapeType="1"/>
            </p:cNvSpPr>
            <p:nvPr/>
          </p:nvSpPr>
          <p:spPr bwMode="auto">
            <a:xfrm flipH="1">
              <a:off x="4881" y="3299"/>
              <a:ext cx="274" cy="1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0" name="Line 11"/>
            <p:cNvSpPr>
              <a:spLocks noChangeAspect="1" noChangeShapeType="1"/>
            </p:cNvSpPr>
            <p:nvPr/>
          </p:nvSpPr>
          <p:spPr bwMode="auto">
            <a:xfrm>
              <a:off x="2863" y="3141"/>
              <a:ext cx="2494" cy="0"/>
            </a:xfrm>
            <a:prstGeom prst="line">
              <a:avLst/>
            </a:prstGeom>
            <a:noFill/>
            <a:ln w="381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1" name="Line 12"/>
            <p:cNvSpPr>
              <a:spLocks noChangeAspect="1" noChangeShapeType="1"/>
            </p:cNvSpPr>
            <p:nvPr/>
          </p:nvSpPr>
          <p:spPr bwMode="auto">
            <a:xfrm flipH="1">
              <a:off x="5155" y="2793"/>
              <a:ext cx="0" cy="5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2" name="Line 13"/>
            <p:cNvSpPr>
              <a:spLocks noChangeAspect="1" noChangeShapeType="1"/>
            </p:cNvSpPr>
            <p:nvPr/>
          </p:nvSpPr>
          <p:spPr bwMode="auto">
            <a:xfrm>
              <a:off x="3172" y="2787"/>
              <a:ext cx="19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3" name="Line 14"/>
            <p:cNvSpPr>
              <a:spLocks noChangeAspect="1" noChangeShapeType="1"/>
            </p:cNvSpPr>
            <p:nvPr/>
          </p:nvSpPr>
          <p:spPr bwMode="auto">
            <a:xfrm rot="21363911" flipH="1">
              <a:off x="2906" y="3309"/>
              <a:ext cx="274" cy="187"/>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4" name="Text Box 15"/>
            <p:cNvSpPr txBox="1">
              <a:spLocks noChangeAspect="1" noChangeArrowheads="1"/>
            </p:cNvSpPr>
            <p:nvPr/>
          </p:nvSpPr>
          <p:spPr bwMode="auto">
            <a:xfrm>
              <a:off x="5294" y="2799"/>
              <a:ext cx="53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轴线</a:t>
              </a:r>
            </a:p>
          </p:txBody>
        </p:sp>
        <p:sp>
          <p:nvSpPr>
            <p:cNvPr id="65" name="Line 16"/>
            <p:cNvSpPr>
              <a:spLocks noChangeAspect="1" noChangeShapeType="1"/>
            </p:cNvSpPr>
            <p:nvPr/>
          </p:nvSpPr>
          <p:spPr bwMode="auto">
            <a:xfrm flipH="1">
              <a:off x="5192" y="3055"/>
              <a:ext cx="130" cy="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grpSp>
        <p:nvGrpSpPr>
          <p:cNvPr id="66" name="Group 17"/>
          <p:cNvGrpSpPr>
            <a:grpSpLocks/>
          </p:cNvGrpSpPr>
          <p:nvPr/>
        </p:nvGrpSpPr>
        <p:grpSpPr bwMode="auto">
          <a:xfrm>
            <a:off x="6374109" y="1277185"/>
            <a:ext cx="2546350" cy="1516063"/>
            <a:chOff x="293" y="1925"/>
            <a:chExt cx="1604" cy="955"/>
          </a:xfrm>
        </p:grpSpPr>
        <p:sp>
          <p:nvSpPr>
            <p:cNvPr id="67" name="Rectangle 18" descr="宽上对角线"/>
            <p:cNvSpPr>
              <a:spLocks noChangeAspect="1" noChangeArrowheads="1"/>
            </p:cNvSpPr>
            <p:nvPr/>
          </p:nvSpPr>
          <p:spPr bwMode="auto">
            <a:xfrm>
              <a:off x="423" y="2059"/>
              <a:ext cx="345" cy="619"/>
            </a:xfrm>
            <a:prstGeom prst="rect">
              <a:avLst/>
            </a:prstGeom>
            <a:pattFill prst="wdUpDiag">
              <a:fgClr>
                <a:srgbClr val="000000"/>
              </a:fgClr>
              <a:bgClr>
                <a:srgbClr val="FFFF99"/>
              </a:bgClr>
            </a:pattFill>
            <a:ln w="28575" algn="ctr">
              <a:solidFill>
                <a:srgbClr val="000000"/>
              </a:solidFill>
              <a:miter lim="800000"/>
              <a:headEnd/>
              <a:tailEnd type="none" w="sm" len="sm"/>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8" name="AutoShape 19" descr="宽上对角线"/>
            <p:cNvSpPr>
              <a:spLocks noChangeAspect="1" noChangeArrowheads="1"/>
            </p:cNvSpPr>
            <p:nvPr/>
          </p:nvSpPr>
          <p:spPr bwMode="auto">
            <a:xfrm>
              <a:off x="1118" y="2040"/>
              <a:ext cx="664" cy="648"/>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1 h 21600"/>
                <a:gd name="T10" fmla="*/ 1 w 21600"/>
                <a:gd name="T11" fmla="*/ 1 h 21600"/>
                <a:gd name="T12" fmla="*/ 1 w 21600"/>
                <a:gd name="T13" fmla="*/ 0 h 21600"/>
                <a:gd name="T14" fmla="*/ 1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5 w 21600"/>
                <a:gd name="T25" fmla="*/ 3167 h 21600"/>
                <a:gd name="T26" fmla="*/ 18445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395" y="10800"/>
                  </a:moveTo>
                  <a:cubicBezTo>
                    <a:pt x="4395" y="14337"/>
                    <a:pt x="7263" y="17205"/>
                    <a:pt x="10800" y="17205"/>
                  </a:cubicBezTo>
                  <a:cubicBezTo>
                    <a:pt x="14337" y="17205"/>
                    <a:pt x="17205" y="14337"/>
                    <a:pt x="17205" y="10800"/>
                  </a:cubicBezTo>
                  <a:cubicBezTo>
                    <a:pt x="17205" y="7263"/>
                    <a:pt x="14337" y="4395"/>
                    <a:pt x="10800" y="4395"/>
                  </a:cubicBezTo>
                  <a:cubicBezTo>
                    <a:pt x="7263" y="4395"/>
                    <a:pt x="4395" y="7263"/>
                    <a:pt x="4395" y="10800"/>
                  </a:cubicBezTo>
                  <a:close/>
                </a:path>
              </a:pathLst>
            </a:custGeom>
            <a:pattFill prst="wdUpDiag">
              <a:fgClr>
                <a:srgbClr val="000000"/>
              </a:fgClr>
              <a:bgClr>
                <a:srgbClr val="FFFF99"/>
              </a:bgClr>
            </a:pattFill>
            <a:ln w="28575">
              <a:solidFill>
                <a:srgbClr val="000000"/>
              </a:solidFill>
              <a:round/>
              <a:headEn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1" name="Line 22"/>
            <p:cNvSpPr>
              <a:spLocks noChangeAspect="1" noChangeShapeType="1"/>
            </p:cNvSpPr>
            <p:nvPr/>
          </p:nvSpPr>
          <p:spPr bwMode="auto">
            <a:xfrm>
              <a:off x="293" y="2376"/>
              <a:ext cx="648"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Line 23"/>
            <p:cNvSpPr>
              <a:spLocks noChangeAspect="1" noChangeShapeType="1"/>
            </p:cNvSpPr>
            <p:nvPr/>
          </p:nvSpPr>
          <p:spPr bwMode="auto">
            <a:xfrm>
              <a:off x="596" y="1929"/>
              <a:ext cx="0" cy="951"/>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3" name="Line 24"/>
            <p:cNvSpPr>
              <a:spLocks noChangeAspect="1" noChangeShapeType="1"/>
            </p:cNvSpPr>
            <p:nvPr/>
          </p:nvSpPr>
          <p:spPr bwMode="auto">
            <a:xfrm>
              <a:off x="1451" y="1925"/>
              <a:ext cx="0" cy="893"/>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4" name="Line 25"/>
            <p:cNvSpPr>
              <a:spLocks noChangeAspect="1" noChangeShapeType="1"/>
            </p:cNvSpPr>
            <p:nvPr/>
          </p:nvSpPr>
          <p:spPr bwMode="auto">
            <a:xfrm>
              <a:off x="1003" y="2372"/>
              <a:ext cx="894"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9" name="Text Box 30"/>
          <p:cNvSpPr txBox="1">
            <a:spLocks noChangeAspect="1" noChangeArrowheads="1"/>
          </p:cNvSpPr>
          <p:nvPr/>
        </p:nvSpPr>
        <p:spPr bwMode="auto">
          <a:xfrm>
            <a:off x="7806035" y="5395952"/>
            <a:ext cx="685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A</a:t>
            </a:r>
          </a:p>
        </p:txBody>
      </p:sp>
      <p:sp>
        <p:nvSpPr>
          <p:cNvPr id="80" name="Text Box 31"/>
          <p:cNvSpPr txBox="1">
            <a:spLocks noChangeAspect="1" noChangeArrowheads="1"/>
          </p:cNvSpPr>
          <p:nvPr/>
        </p:nvSpPr>
        <p:spPr bwMode="auto">
          <a:xfrm>
            <a:off x="10949285" y="5432464"/>
            <a:ext cx="685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B</a:t>
            </a:r>
          </a:p>
        </p:txBody>
      </p:sp>
      <p:grpSp>
        <p:nvGrpSpPr>
          <p:cNvPr id="81" name="Group 32"/>
          <p:cNvGrpSpPr>
            <a:grpSpLocks/>
          </p:cNvGrpSpPr>
          <p:nvPr/>
        </p:nvGrpSpPr>
        <p:grpSpPr bwMode="auto">
          <a:xfrm>
            <a:off x="7536160" y="2528927"/>
            <a:ext cx="3629025" cy="3554412"/>
            <a:chOff x="3089" y="1867"/>
            <a:chExt cx="2003" cy="2239"/>
          </a:xfrm>
        </p:grpSpPr>
        <p:sp>
          <p:nvSpPr>
            <p:cNvPr id="82" name="Line 33"/>
            <p:cNvSpPr>
              <a:spLocks noChangeAspect="1" noChangeShapeType="1"/>
            </p:cNvSpPr>
            <p:nvPr/>
          </p:nvSpPr>
          <p:spPr bwMode="auto">
            <a:xfrm>
              <a:off x="4718" y="2880"/>
              <a:ext cx="0" cy="679"/>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34"/>
            <p:cNvSpPr>
              <a:spLocks noChangeAspect="1" noChangeShapeType="1"/>
            </p:cNvSpPr>
            <p:nvPr/>
          </p:nvSpPr>
          <p:spPr bwMode="auto">
            <a:xfrm flipH="1">
              <a:off x="4516" y="3573"/>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4" name="Rectangle 35"/>
            <p:cNvSpPr>
              <a:spLocks noChangeAspect="1" noChangeArrowheads="1"/>
            </p:cNvSpPr>
            <p:nvPr/>
          </p:nvSpPr>
          <p:spPr bwMode="auto">
            <a:xfrm>
              <a:off x="3095" y="1867"/>
              <a:ext cx="1963" cy="22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5" name="Line 36"/>
            <p:cNvSpPr>
              <a:spLocks noChangeAspect="1" noChangeShapeType="1"/>
            </p:cNvSpPr>
            <p:nvPr/>
          </p:nvSpPr>
          <p:spPr bwMode="auto">
            <a:xfrm>
              <a:off x="3521" y="2392"/>
              <a:ext cx="0" cy="49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6" name="Line 37"/>
            <p:cNvSpPr>
              <a:spLocks noChangeAspect="1" noChangeShapeType="1"/>
            </p:cNvSpPr>
            <p:nvPr/>
          </p:nvSpPr>
          <p:spPr bwMode="auto">
            <a:xfrm flipV="1">
              <a:off x="3103" y="3386"/>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7" name="Line 38"/>
            <p:cNvSpPr>
              <a:spLocks noChangeAspect="1" noChangeShapeType="1"/>
            </p:cNvSpPr>
            <p:nvPr/>
          </p:nvSpPr>
          <p:spPr bwMode="auto">
            <a:xfrm flipV="1">
              <a:off x="5063" y="3400"/>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8" name="Line 39"/>
            <p:cNvSpPr>
              <a:spLocks noChangeAspect="1" noChangeShapeType="1"/>
            </p:cNvSpPr>
            <p:nvPr/>
          </p:nvSpPr>
          <p:spPr bwMode="auto">
            <a:xfrm flipH="1">
              <a:off x="3865" y="2664"/>
              <a:ext cx="2"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9" name="Line 40"/>
            <p:cNvSpPr>
              <a:spLocks noChangeAspect="1" noChangeShapeType="1"/>
            </p:cNvSpPr>
            <p:nvPr/>
          </p:nvSpPr>
          <p:spPr bwMode="auto">
            <a:xfrm flipH="1">
              <a:off x="4038"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Line 41"/>
            <p:cNvSpPr>
              <a:spLocks noChangeAspect="1" noChangeShapeType="1"/>
            </p:cNvSpPr>
            <p:nvPr/>
          </p:nvSpPr>
          <p:spPr bwMode="auto">
            <a:xfrm flipH="1">
              <a:off x="4211"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1" name="Line 42"/>
            <p:cNvSpPr>
              <a:spLocks noChangeAspect="1" noChangeShapeType="1"/>
            </p:cNvSpPr>
            <p:nvPr/>
          </p:nvSpPr>
          <p:spPr bwMode="auto">
            <a:xfrm flipH="1">
              <a:off x="4385" y="2664"/>
              <a:ext cx="3"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2" name="Line 43"/>
            <p:cNvSpPr>
              <a:spLocks noChangeAspect="1" noChangeShapeType="1"/>
            </p:cNvSpPr>
            <p:nvPr/>
          </p:nvSpPr>
          <p:spPr bwMode="auto">
            <a:xfrm>
              <a:off x="3867" y="2664"/>
              <a:ext cx="53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3" name="Line 44"/>
            <p:cNvSpPr>
              <a:spLocks noChangeAspect="1" noChangeShapeType="1"/>
            </p:cNvSpPr>
            <p:nvPr/>
          </p:nvSpPr>
          <p:spPr bwMode="auto">
            <a:xfrm>
              <a:off x="4718" y="2621"/>
              <a:ext cx="0" cy="27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4" name="Line 45"/>
            <p:cNvSpPr>
              <a:spLocks noChangeAspect="1" noChangeShapeType="1"/>
            </p:cNvSpPr>
            <p:nvPr/>
          </p:nvSpPr>
          <p:spPr bwMode="auto">
            <a:xfrm>
              <a:off x="4718" y="2621"/>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5" name="Text Box 46"/>
            <p:cNvSpPr txBox="1">
              <a:spLocks noChangeAspect="1" noChangeArrowheads="1"/>
            </p:cNvSpPr>
            <p:nvPr/>
          </p:nvSpPr>
          <p:spPr bwMode="auto">
            <a:xfrm>
              <a:off x="3486" y="2292"/>
              <a:ext cx="38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sp>
          <p:nvSpPr>
            <p:cNvPr id="96" name="Text Box 47"/>
            <p:cNvSpPr txBox="1">
              <a:spLocks noChangeAspect="1" noChangeArrowheads="1"/>
            </p:cNvSpPr>
            <p:nvPr/>
          </p:nvSpPr>
          <p:spPr bwMode="auto">
            <a:xfrm>
              <a:off x="4025" y="2333"/>
              <a:ext cx="31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q</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7" name="Text Box 48"/>
            <p:cNvSpPr txBox="1">
              <a:spLocks noChangeAspect="1" noChangeArrowheads="1"/>
            </p:cNvSpPr>
            <p:nvPr/>
          </p:nvSpPr>
          <p:spPr bwMode="auto">
            <a:xfrm>
              <a:off x="4674" y="2347"/>
              <a:ext cx="41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8" name="Rectangle 49"/>
            <p:cNvSpPr>
              <a:spLocks noChangeAspect="1" noChangeArrowheads="1"/>
            </p:cNvSpPr>
            <p:nvPr/>
          </p:nvSpPr>
          <p:spPr bwMode="auto">
            <a:xfrm>
              <a:off x="3089" y="1929"/>
              <a:ext cx="1960" cy="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99" name="Text Box 50"/>
            <p:cNvSpPr txBox="1">
              <a:spLocks noChangeAspect="1" noChangeArrowheads="1"/>
            </p:cNvSpPr>
            <p:nvPr/>
          </p:nvSpPr>
          <p:spPr bwMode="auto">
            <a:xfrm>
              <a:off x="3396" y="2016"/>
              <a:ext cx="11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纵向对称面</a:t>
              </a:r>
            </a:p>
          </p:txBody>
        </p:sp>
      </p:grpSp>
      <p:sp>
        <p:nvSpPr>
          <p:cNvPr id="100" name="Line 51"/>
          <p:cNvSpPr>
            <a:spLocks noChangeAspect="1" noChangeShapeType="1"/>
          </p:cNvSpPr>
          <p:nvPr/>
        </p:nvSpPr>
        <p:spPr bwMode="auto">
          <a:xfrm>
            <a:off x="7772697" y="4138652"/>
            <a:ext cx="0" cy="823912"/>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101" name="Line 52"/>
          <p:cNvSpPr>
            <a:spLocks noChangeAspect="1" noChangeShapeType="1"/>
          </p:cNvSpPr>
          <p:nvPr/>
        </p:nvSpPr>
        <p:spPr bwMode="auto">
          <a:xfrm>
            <a:off x="10906422" y="4092614"/>
            <a:ext cx="0" cy="822325"/>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102" name="Arc 54"/>
          <p:cNvSpPr>
            <a:spLocks/>
          </p:cNvSpPr>
          <p:nvPr/>
        </p:nvSpPr>
        <p:spPr bwMode="auto">
          <a:xfrm flipV="1">
            <a:off x="7804447" y="4235489"/>
            <a:ext cx="3140075" cy="550863"/>
          </a:xfrm>
          <a:custGeom>
            <a:avLst/>
            <a:gdLst>
              <a:gd name="T0" fmla="*/ 0 w 35675"/>
              <a:gd name="T1" fmla="*/ 156747959 h 21600"/>
              <a:gd name="T2" fmla="*/ 2147483647 w 35675"/>
              <a:gd name="T3" fmla="*/ 155719070 h 21600"/>
              <a:gd name="T4" fmla="*/ 2147483647 w 35675"/>
              <a:gd name="T5" fmla="*/ 358280452 h 21600"/>
              <a:gd name="T6" fmla="*/ 0 60000 65536"/>
              <a:gd name="T7" fmla="*/ 0 60000 65536"/>
              <a:gd name="T8" fmla="*/ 0 60000 65536"/>
              <a:gd name="T9" fmla="*/ 0 w 35675"/>
              <a:gd name="T10" fmla="*/ 0 h 21600"/>
              <a:gd name="T11" fmla="*/ 35675 w 35675"/>
              <a:gd name="T12" fmla="*/ 21600 h 21600"/>
            </a:gdLst>
            <a:ahLst/>
            <a:cxnLst>
              <a:cxn ang="T6">
                <a:pos x="T0" y="T1"/>
              </a:cxn>
              <a:cxn ang="T7">
                <a:pos x="T2" y="T3"/>
              </a:cxn>
              <a:cxn ang="T8">
                <a:pos x="T4" y="T5"/>
              </a:cxn>
            </a:cxnLst>
            <a:rect l="T9" t="T10" r="T11" b="T12"/>
            <a:pathLst>
              <a:path w="35675" h="21600" fill="none" extrusionOk="0">
                <a:moveTo>
                  <a:pt x="0" y="9450"/>
                </a:moveTo>
                <a:cubicBezTo>
                  <a:pt x="4022" y="3538"/>
                  <a:pt x="10708" y="-1"/>
                  <a:pt x="17859" y="0"/>
                </a:cubicBezTo>
                <a:cubicBezTo>
                  <a:pt x="24982" y="0"/>
                  <a:pt x="31647" y="3512"/>
                  <a:pt x="35675" y="9387"/>
                </a:cubicBezTo>
              </a:path>
              <a:path w="35675" h="21600" stroke="0" extrusionOk="0">
                <a:moveTo>
                  <a:pt x="0" y="9450"/>
                </a:moveTo>
                <a:cubicBezTo>
                  <a:pt x="4022" y="3538"/>
                  <a:pt x="10708" y="-1"/>
                  <a:pt x="17859" y="0"/>
                </a:cubicBezTo>
                <a:cubicBezTo>
                  <a:pt x="24982" y="0"/>
                  <a:pt x="31647" y="3512"/>
                  <a:pt x="35675" y="9387"/>
                </a:cubicBezTo>
                <a:lnTo>
                  <a:pt x="17859" y="21600"/>
                </a:lnTo>
                <a:close/>
              </a:path>
            </a:pathLst>
          </a:custGeom>
          <a:noFill/>
          <a:ln w="38100">
            <a:solidFill>
              <a:srgbClr val="3333CC"/>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03" name="Line 55"/>
          <p:cNvSpPr>
            <a:spLocks noChangeShapeType="1"/>
          </p:cNvSpPr>
          <p:nvPr/>
        </p:nvSpPr>
        <p:spPr bwMode="auto">
          <a:xfrm flipV="1">
            <a:off x="10890547" y="4960977"/>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04" name="Line 56"/>
          <p:cNvSpPr>
            <a:spLocks noChangeShapeType="1"/>
          </p:cNvSpPr>
          <p:nvPr/>
        </p:nvSpPr>
        <p:spPr bwMode="auto">
          <a:xfrm flipV="1">
            <a:off x="7774285" y="4922877"/>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05" name="Text Box 62"/>
          <p:cNvSpPr txBox="1">
            <a:spLocks noChangeAspect="1" noChangeArrowheads="1"/>
          </p:cNvSpPr>
          <p:nvPr/>
        </p:nvSpPr>
        <p:spPr bwMode="auto">
          <a:xfrm>
            <a:off x="6772572" y="980321"/>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
        <p:nvSpPr>
          <p:cNvPr id="106" name="Text Box 63"/>
          <p:cNvSpPr txBox="1">
            <a:spLocks noChangeAspect="1" noChangeArrowheads="1"/>
          </p:cNvSpPr>
          <p:nvPr/>
        </p:nvSpPr>
        <p:spPr bwMode="auto">
          <a:xfrm>
            <a:off x="8283079" y="980321"/>
            <a:ext cx="5318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grpSp>
        <p:nvGrpSpPr>
          <p:cNvPr id="109" name="Group 17"/>
          <p:cNvGrpSpPr>
            <a:grpSpLocks/>
          </p:cNvGrpSpPr>
          <p:nvPr/>
        </p:nvGrpSpPr>
        <p:grpSpPr bwMode="auto">
          <a:xfrm>
            <a:off x="9208468" y="1228765"/>
            <a:ext cx="2660650" cy="1511300"/>
            <a:chOff x="361" y="2952"/>
            <a:chExt cx="1676" cy="952"/>
          </a:xfrm>
        </p:grpSpPr>
        <p:sp>
          <p:nvSpPr>
            <p:cNvPr id="112" name="Freeform 20" descr="宽上对角线"/>
            <p:cNvSpPr>
              <a:spLocks noChangeAspect="1"/>
            </p:cNvSpPr>
            <p:nvPr/>
          </p:nvSpPr>
          <p:spPr bwMode="auto">
            <a:xfrm>
              <a:off x="404" y="3069"/>
              <a:ext cx="609" cy="691"/>
            </a:xfrm>
            <a:custGeom>
              <a:avLst/>
              <a:gdLst>
                <a:gd name="T0" fmla="*/ 0 w 507"/>
                <a:gd name="T1" fmla="*/ 0 h 576"/>
                <a:gd name="T2" fmla="*/ 732 w 507"/>
                <a:gd name="T3" fmla="*/ 2 h 576"/>
                <a:gd name="T4" fmla="*/ 727 w 507"/>
                <a:gd name="T5" fmla="*/ 190 h 576"/>
                <a:gd name="T6" fmla="*/ 467 w 507"/>
                <a:gd name="T7" fmla="*/ 190 h 576"/>
                <a:gd name="T8" fmla="*/ 468 w 507"/>
                <a:gd name="T9" fmla="*/ 643 h 576"/>
                <a:gd name="T10" fmla="*/ 710 w 507"/>
                <a:gd name="T11" fmla="*/ 639 h 576"/>
                <a:gd name="T12" fmla="*/ 710 w 507"/>
                <a:gd name="T13" fmla="*/ 829 h 576"/>
                <a:gd name="T14" fmla="*/ 17 w 507"/>
                <a:gd name="T15" fmla="*/ 829 h 576"/>
                <a:gd name="T16" fmla="*/ 22 w 507"/>
                <a:gd name="T17" fmla="*/ 643 h 576"/>
                <a:gd name="T18" fmla="*/ 256 w 507"/>
                <a:gd name="T19" fmla="*/ 643 h 576"/>
                <a:gd name="T20" fmla="*/ 256 w 507"/>
                <a:gd name="T21" fmla="*/ 190 h 576"/>
                <a:gd name="T22" fmla="*/ 0 w 507"/>
                <a:gd name="T23" fmla="*/ 190 h 576"/>
                <a:gd name="T24" fmla="*/ 0 w 507"/>
                <a:gd name="T25" fmla="*/ 0 h 5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576"/>
                <a:gd name="T41" fmla="*/ 507 w 507"/>
                <a:gd name="T42" fmla="*/ 576 h 5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576">
                  <a:moveTo>
                    <a:pt x="0" y="0"/>
                  </a:moveTo>
                  <a:lnTo>
                    <a:pt x="507" y="2"/>
                  </a:lnTo>
                  <a:lnTo>
                    <a:pt x="504" y="132"/>
                  </a:lnTo>
                  <a:lnTo>
                    <a:pt x="324" y="132"/>
                  </a:lnTo>
                  <a:lnTo>
                    <a:pt x="325" y="447"/>
                  </a:lnTo>
                  <a:lnTo>
                    <a:pt x="492" y="444"/>
                  </a:lnTo>
                  <a:lnTo>
                    <a:pt x="492" y="576"/>
                  </a:lnTo>
                  <a:lnTo>
                    <a:pt x="12" y="576"/>
                  </a:lnTo>
                  <a:lnTo>
                    <a:pt x="15" y="447"/>
                  </a:lnTo>
                  <a:lnTo>
                    <a:pt x="177" y="447"/>
                  </a:lnTo>
                  <a:lnTo>
                    <a:pt x="177" y="132"/>
                  </a:lnTo>
                  <a:lnTo>
                    <a:pt x="0" y="132"/>
                  </a:lnTo>
                  <a:lnTo>
                    <a:pt x="0" y="0"/>
                  </a:lnTo>
                  <a:close/>
                </a:path>
              </a:pathLst>
            </a:custGeom>
            <a:pattFill prst="wdUpDiag">
              <a:fgClr>
                <a:srgbClr val="000000"/>
              </a:fgClr>
              <a:bgClr>
                <a:srgbClr val="FFFF99"/>
              </a:bgClr>
            </a:pattFill>
            <a:ln w="28575" cap="flat" cmpd="sng">
              <a:solidFill>
                <a:srgbClr val="000000"/>
              </a:solidFill>
              <a:prstDash val="solid"/>
              <a:round/>
              <a:headEnd type="none" w="med" len="me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3" name="Freeform 21" descr="宽上对角线"/>
            <p:cNvSpPr>
              <a:spLocks noChangeAspect="1"/>
            </p:cNvSpPr>
            <p:nvPr/>
          </p:nvSpPr>
          <p:spPr bwMode="auto">
            <a:xfrm>
              <a:off x="1359" y="3097"/>
              <a:ext cx="606" cy="677"/>
            </a:xfrm>
            <a:custGeom>
              <a:avLst/>
              <a:gdLst>
                <a:gd name="T0" fmla="*/ 0 w 840"/>
                <a:gd name="T1" fmla="*/ 0 h 940"/>
                <a:gd name="T2" fmla="*/ 437 w 840"/>
                <a:gd name="T3" fmla="*/ 0 h 940"/>
                <a:gd name="T4" fmla="*/ 437 w 840"/>
                <a:gd name="T5" fmla="*/ 104 h 940"/>
                <a:gd name="T6" fmla="*/ 281 w 840"/>
                <a:gd name="T7" fmla="*/ 104 h 940"/>
                <a:gd name="T8" fmla="*/ 281 w 840"/>
                <a:gd name="T9" fmla="*/ 488 h 940"/>
                <a:gd name="T10" fmla="*/ 281 w 840"/>
                <a:gd name="T11" fmla="*/ 488 h 940"/>
                <a:gd name="T12" fmla="*/ 281 w 840"/>
                <a:gd name="T13" fmla="*/ 488 h 940"/>
                <a:gd name="T14" fmla="*/ 156 w 840"/>
                <a:gd name="T15" fmla="*/ 488 h 940"/>
                <a:gd name="T16" fmla="*/ 146 w 840"/>
                <a:gd name="T17" fmla="*/ 488 h 940"/>
                <a:gd name="T18" fmla="*/ 156 w 840"/>
                <a:gd name="T19" fmla="*/ 488 h 940"/>
                <a:gd name="T20" fmla="*/ 156 w 840"/>
                <a:gd name="T21" fmla="*/ 104 h 940"/>
                <a:gd name="T22" fmla="*/ 0 w 840"/>
                <a:gd name="T23" fmla="*/ 104 h 940"/>
                <a:gd name="T24" fmla="*/ 0 w 840"/>
                <a:gd name="T25" fmla="*/ 0 h 9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0"/>
                <a:gd name="T40" fmla="*/ 0 h 940"/>
                <a:gd name="T41" fmla="*/ 840 w 840"/>
                <a:gd name="T42" fmla="*/ 940 h 9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0" h="940">
                  <a:moveTo>
                    <a:pt x="0" y="0"/>
                  </a:moveTo>
                  <a:lnTo>
                    <a:pt x="840" y="0"/>
                  </a:lnTo>
                  <a:lnTo>
                    <a:pt x="840" y="200"/>
                  </a:lnTo>
                  <a:lnTo>
                    <a:pt x="540" y="200"/>
                  </a:lnTo>
                  <a:lnTo>
                    <a:pt x="540" y="940"/>
                  </a:lnTo>
                  <a:lnTo>
                    <a:pt x="300" y="940"/>
                  </a:lnTo>
                  <a:lnTo>
                    <a:pt x="280" y="940"/>
                  </a:lnTo>
                  <a:lnTo>
                    <a:pt x="300" y="940"/>
                  </a:lnTo>
                  <a:lnTo>
                    <a:pt x="300" y="200"/>
                  </a:lnTo>
                  <a:lnTo>
                    <a:pt x="0" y="200"/>
                  </a:lnTo>
                  <a:lnTo>
                    <a:pt x="0" y="0"/>
                  </a:lnTo>
                  <a:close/>
                </a:path>
              </a:pathLst>
            </a:custGeom>
            <a:pattFill prst="wdUpDiag">
              <a:fgClr>
                <a:srgbClr val="000000"/>
              </a:fgClr>
              <a:bgClr>
                <a:srgbClr val="FFFF99"/>
              </a:bgClr>
            </a:pattFill>
            <a:ln w="28575" cap="flat" cmpd="sng">
              <a:solidFill>
                <a:srgbClr val="000000"/>
              </a:solidFill>
              <a:prstDash val="solid"/>
              <a:round/>
              <a:headEnd type="none" w="med" len="me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8" name="Line 26"/>
            <p:cNvSpPr>
              <a:spLocks noChangeAspect="1" noChangeShapeType="1"/>
            </p:cNvSpPr>
            <p:nvPr/>
          </p:nvSpPr>
          <p:spPr bwMode="auto">
            <a:xfrm>
              <a:off x="361" y="3429"/>
              <a:ext cx="677"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9" name="Line 27"/>
            <p:cNvSpPr>
              <a:spLocks noChangeAspect="1" noChangeShapeType="1"/>
            </p:cNvSpPr>
            <p:nvPr/>
          </p:nvSpPr>
          <p:spPr bwMode="auto">
            <a:xfrm>
              <a:off x="707" y="2952"/>
              <a:ext cx="0" cy="952"/>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0" name="Line 28"/>
            <p:cNvSpPr>
              <a:spLocks noChangeAspect="1" noChangeShapeType="1"/>
            </p:cNvSpPr>
            <p:nvPr/>
          </p:nvSpPr>
          <p:spPr bwMode="auto">
            <a:xfrm>
              <a:off x="1663" y="2968"/>
              <a:ext cx="0" cy="893"/>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1" name="Line 29"/>
            <p:cNvSpPr>
              <a:spLocks noChangeAspect="1" noChangeShapeType="1"/>
            </p:cNvSpPr>
            <p:nvPr/>
          </p:nvSpPr>
          <p:spPr bwMode="auto">
            <a:xfrm>
              <a:off x="1316" y="3328"/>
              <a:ext cx="721"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4" name="Text Box 64"/>
          <p:cNvSpPr txBox="1">
            <a:spLocks noChangeAspect="1" noChangeArrowheads="1"/>
          </p:cNvSpPr>
          <p:nvPr/>
        </p:nvSpPr>
        <p:spPr bwMode="auto">
          <a:xfrm>
            <a:off x="9741097" y="985482"/>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
        <p:nvSpPr>
          <p:cNvPr id="125" name="Text Box 65"/>
          <p:cNvSpPr txBox="1">
            <a:spLocks noChangeAspect="1" noChangeArrowheads="1"/>
          </p:cNvSpPr>
          <p:nvPr/>
        </p:nvSpPr>
        <p:spPr bwMode="auto">
          <a:xfrm>
            <a:off x="11282814" y="1003843"/>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Tree>
    <p:extLst>
      <p:ext uri="{BB962C8B-B14F-4D97-AF65-F5344CB8AC3E}">
        <p14:creationId xmlns:p14="http://schemas.microsoft.com/office/powerpoint/2010/main" val="18401809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par>
                                <p:cTn id="7" presetID="23" presetClass="entr" presetSubtype="272" fill="hold" nodeType="withEffect">
                                  <p:stCondLst>
                                    <p:cond delay="0"/>
                                  </p:stCondLst>
                                  <p:childTnLst>
                                    <p:set>
                                      <p:cBhvr>
                                        <p:cTn id="8" dur="1" fill="hold">
                                          <p:stCondLst>
                                            <p:cond delay="0"/>
                                          </p:stCondLst>
                                        </p:cTn>
                                        <p:tgtEl>
                                          <p:spTgt spid="54"/>
                                        </p:tgtEl>
                                        <p:attrNameLst>
                                          <p:attrName>style.visibility</p:attrName>
                                        </p:attrNameLst>
                                      </p:cBhvr>
                                      <p:to>
                                        <p:strVal val="visible"/>
                                      </p:to>
                                    </p:set>
                                    <p:anim calcmode="lin" valueType="num">
                                      <p:cBhvr>
                                        <p:cTn id="9" dur="3000" fill="hold"/>
                                        <p:tgtEl>
                                          <p:spTgt spid="54"/>
                                        </p:tgtEl>
                                        <p:attrNameLst>
                                          <p:attrName>ppt_w</p:attrName>
                                        </p:attrNameLst>
                                      </p:cBhvr>
                                      <p:tavLst>
                                        <p:tav tm="0">
                                          <p:val>
                                            <p:strVal val="2/3*#ppt_w"/>
                                          </p:val>
                                        </p:tav>
                                        <p:tav tm="100000">
                                          <p:val>
                                            <p:strVal val="#ppt_w"/>
                                          </p:val>
                                        </p:tav>
                                      </p:tavLst>
                                    </p:anim>
                                    <p:anim calcmode="lin" valueType="num">
                                      <p:cBhvr>
                                        <p:cTn id="10" dur="3000" fill="hold"/>
                                        <p:tgtEl>
                                          <p:spTgt spid="5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
                                            </p:cond>
                                          </p:stCondLst>
                                          <p:endCondLst>
                                            <p:cond evt="onStopAudio" delay="0">
                                              <p:tgtEl>
                                                <p:sldTgt/>
                                              </p:tgtEl>
                                            </p:cond>
                                          </p:endCondLst>
                                        </p:cTn>
                                        <p:tgtEl>
                                          <p:sndTgt r:embed="rId3"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barn(outHorizontal)">
                                      <p:cBhvr>
                                        <p:cTn id="15" dur="3000"/>
                                        <p:tgtEl>
                                          <p:spTgt spid="100"/>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par>
                          <p:cTn id="16" fill="hold">
                            <p:stCondLst>
                              <p:cond delay="3000"/>
                            </p:stCondLst>
                            <p:childTnLst>
                              <p:par>
                                <p:cTn id="17" presetID="16" presetClass="entr" presetSubtype="42" fill="hold" grpId="0" nodeType="afterEffect">
                                  <p:stCondLst>
                                    <p:cond delay="1000"/>
                                  </p:stCondLst>
                                  <p:childTnLst>
                                    <p:set>
                                      <p:cBhvr>
                                        <p:cTn id="18" dur="1" fill="hold">
                                          <p:stCondLst>
                                            <p:cond delay="0"/>
                                          </p:stCondLst>
                                        </p:cTn>
                                        <p:tgtEl>
                                          <p:spTgt spid="101"/>
                                        </p:tgtEl>
                                        <p:attrNameLst>
                                          <p:attrName>style.visibility</p:attrName>
                                        </p:attrNameLst>
                                      </p:cBhvr>
                                      <p:to>
                                        <p:strVal val="visible"/>
                                      </p:to>
                                    </p:set>
                                    <p:animEffect transition="in" filter="barn(outHorizontal)">
                                      <p:cBhvr>
                                        <p:cTn id="19" dur="3000"/>
                                        <p:tgtEl>
                                          <p:spTgt spid="101"/>
                                        </p:tgtEl>
                                      </p:cBhvr>
                                    </p:animEffect>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par>
                          <p:cTn id="20" fill="hold">
                            <p:stCondLst>
                              <p:cond delay="7000"/>
                            </p:stCondLst>
                            <p:childTnLst>
                              <p:par>
                                <p:cTn id="21" presetID="22" presetClass="entr" presetSubtype="8" fill="hold" grpId="0" nodeType="afterEffect">
                                  <p:stCondLst>
                                    <p:cond delay="150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3000"/>
                                        <p:tgtEl>
                                          <p:spTgt spid="53"/>
                                        </p:tgtEl>
                                      </p:cBhvr>
                                    </p:animEffect>
                                  </p:childTnLst>
                                  <p:subTnLst>
                                    <p:audio>
                                      <p:cMediaNode>
                                        <p:cTn display="0" masterRel="sameClick">
                                          <p:stCondLst>
                                            <p:cond evt="begin" delay="0">
                                              <p:tn val="21"/>
                                            </p:cond>
                                          </p:stCondLst>
                                          <p:endCondLst>
                                            <p:cond evt="onStopAudio" delay="0">
                                              <p:tgtEl>
                                                <p:sldTgt/>
                                              </p:tgtEl>
                                            </p:cond>
                                          </p:endCondLst>
                                        </p:cTn>
                                        <p:tgtEl>
                                          <p:sndTgt r:embed="rId5"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slide(fromBottom)">
                                      <p:cBhvr>
                                        <p:cTn id="28" dur="5000"/>
                                        <p:tgtEl>
                                          <p:spTgt spid="104"/>
                                        </p:tgtEl>
                                      </p:cBhvr>
                                    </p:animEffect>
                                  </p:childTnLst>
                                </p:cTn>
                              </p:par>
                              <p:par>
                                <p:cTn id="29" presetID="17" presetClass="entr" presetSubtype="8"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 calcmode="lin" valueType="num">
                                      <p:cBhvr>
                                        <p:cTn id="31" dur="3000" fill="hold"/>
                                        <p:tgtEl>
                                          <p:spTgt spid="106"/>
                                        </p:tgtEl>
                                        <p:attrNameLst>
                                          <p:attrName>ppt_x</p:attrName>
                                        </p:attrNameLst>
                                      </p:cBhvr>
                                      <p:tavLst>
                                        <p:tav tm="0">
                                          <p:val>
                                            <p:strVal val="#ppt_x-#ppt_w/2"/>
                                          </p:val>
                                        </p:tav>
                                        <p:tav tm="100000">
                                          <p:val>
                                            <p:strVal val="#ppt_x"/>
                                          </p:val>
                                        </p:tav>
                                      </p:tavLst>
                                    </p:anim>
                                    <p:anim calcmode="lin" valueType="num">
                                      <p:cBhvr>
                                        <p:cTn id="32" dur="3000" fill="hold"/>
                                        <p:tgtEl>
                                          <p:spTgt spid="106"/>
                                        </p:tgtEl>
                                        <p:attrNameLst>
                                          <p:attrName>ppt_y</p:attrName>
                                        </p:attrNameLst>
                                      </p:cBhvr>
                                      <p:tavLst>
                                        <p:tav tm="0">
                                          <p:val>
                                            <p:strVal val="#ppt_y"/>
                                          </p:val>
                                        </p:tav>
                                        <p:tav tm="100000">
                                          <p:val>
                                            <p:strVal val="#ppt_y"/>
                                          </p:val>
                                        </p:tav>
                                      </p:tavLst>
                                    </p:anim>
                                    <p:anim calcmode="lin" valueType="num">
                                      <p:cBhvr>
                                        <p:cTn id="33" dur="3000" fill="hold"/>
                                        <p:tgtEl>
                                          <p:spTgt spid="106"/>
                                        </p:tgtEl>
                                        <p:attrNameLst>
                                          <p:attrName>ppt_w</p:attrName>
                                        </p:attrNameLst>
                                      </p:cBhvr>
                                      <p:tavLst>
                                        <p:tav tm="0">
                                          <p:val>
                                            <p:fltVal val="0"/>
                                          </p:val>
                                        </p:tav>
                                        <p:tav tm="100000">
                                          <p:val>
                                            <p:strVal val="#ppt_w"/>
                                          </p:val>
                                        </p:tav>
                                      </p:tavLst>
                                    </p:anim>
                                    <p:anim calcmode="lin" valueType="num">
                                      <p:cBhvr>
                                        <p:cTn id="34" dur="3000" fill="hold"/>
                                        <p:tgtEl>
                                          <p:spTgt spid="106"/>
                                        </p:tgtEl>
                                        <p:attrNameLst>
                                          <p:attrName>ppt_h</p:attrName>
                                        </p:attrNameLst>
                                      </p:cBhvr>
                                      <p:tavLst>
                                        <p:tav tm="0">
                                          <p:val>
                                            <p:strVal val="#ppt_h"/>
                                          </p:val>
                                        </p:tav>
                                        <p:tav tm="100000">
                                          <p:val>
                                            <p:strVal val="#ppt_h"/>
                                          </p:val>
                                        </p:tav>
                                      </p:tavLst>
                                    </p:anim>
                                  </p:childTnLst>
                                </p:cTn>
                              </p:par>
                              <p:par>
                                <p:cTn id="35" presetID="5" presetClass="entr" presetSubtype="1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checkerboard(across)">
                                      <p:cBhvr>
                                        <p:cTn id="37" dur="3000"/>
                                        <p:tgtEl>
                                          <p:spTgt spid="66"/>
                                        </p:tgtEl>
                                      </p:cBhvr>
                                    </p:animEffect>
                                  </p:childTnLst>
                                  <p:subTnLst>
                                    <p:audio>
                                      <p:cMediaNode>
                                        <p:cTn display="0" masterRel="sameClick">
                                          <p:stCondLst>
                                            <p:cond evt="begin" delay="0">
                                              <p:tn val="35"/>
                                            </p:cond>
                                          </p:stCondLst>
                                          <p:endCondLst>
                                            <p:cond evt="onStopAudio" delay="0">
                                              <p:tgtEl>
                                                <p:sldTgt/>
                                              </p:tgtEl>
                                            </p:cond>
                                          </p:endCondLst>
                                        </p:cTn>
                                        <p:tgtEl>
                                          <p:sndTgt r:embed="rId3" name="CASHREG.WAV"/>
                                        </p:tgtEl>
                                      </p:cMediaNode>
                                    </p:audio>
                                  </p:subTnLst>
                                </p:cTn>
                              </p:par>
                            </p:childTnLst>
                          </p:cTn>
                        </p:par>
                        <p:par>
                          <p:cTn id="38" fill="hold">
                            <p:stCondLst>
                              <p:cond delay="5000"/>
                            </p:stCondLst>
                            <p:childTnLst>
                              <p:par>
                                <p:cTn id="39" presetID="17" presetClass="entr" presetSubtype="8" fill="hold" grpId="0" nodeType="afterEffect">
                                  <p:stCondLst>
                                    <p:cond delay="0"/>
                                  </p:stCondLst>
                                  <p:childTnLst>
                                    <p:set>
                                      <p:cBhvr>
                                        <p:cTn id="40" dur="1" fill="hold">
                                          <p:stCondLst>
                                            <p:cond delay="0"/>
                                          </p:stCondLst>
                                        </p:cTn>
                                        <p:tgtEl>
                                          <p:spTgt spid="105"/>
                                        </p:tgtEl>
                                        <p:attrNameLst>
                                          <p:attrName>style.visibility</p:attrName>
                                        </p:attrNameLst>
                                      </p:cBhvr>
                                      <p:to>
                                        <p:strVal val="visible"/>
                                      </p:to>
                                    </p:set>
                                    <p:anim calcmode="lin" valueType="num">
                                      <p:cBhvr>
                                        <p:cTn id="41" dur="3000" fill="hold"/>
                                        <p:tgtEl>
                                          <p:spTgt spid="105"/>
                                        </p:tgtEl>
                                        <p:attrNameLst>
                                          <p:attrName>ppt_x</p:attrName>
                                        </p:attrNameLst>
                                      </p:cBhvr>
                                      <p:tavLst>
                                        <p:tav tm="0">
                                          <p:val>
                                            <p:strVal val="#ppt_x-#ppt_w/2"/>
                                          </p:val>
                                        </p:tav>
                                        <p:tav tm="100000">
                                          <p:val>
                                            <p:strVal val="#ppt_x"/>
                                          </p:val>
                                        </p:tav>
                                      </p:tavLst>
                                    </p:anim>
                                    <p:anim calcmode="lin" valueType="num">
                                      <p:cBhvr>
                                        <p:cTn id="42" dur="3000" fill="hold"/>
                                        <p:tgtEl>
                                          <p:spTgt spid="105"/>
                                        </p:tgtEl>
                                        <p:attrNameLst>
                                          <p:attrName>ppt_y</p:attrName>
                                        </p:attrNameLst>
                                      </p:cBhvr>
                                      <p:tavLst>
                                        <p:tav tm="0">
                                          <p:val>
                                            <p:strVal val="#ppt_y"/>
                                          </p:val>
                                        </p:tav>
                                        <p:tav tm="100000">
                                          <p:val>
                                            <p:strVal val="#ppt_y"/>
                                          </p:val>
                                        </p:tav>
                                      </p:tavLst>
                                    </p:anim>
                                    <p:anim calcmode="lin" valueType="num">
                                      <p:cBhvr>
                                        <p:cTn id="43" dur="3000" fill="hold"/>
                                        <p:tgtEl>
                                          <p:spTgt spid="105"/>
                                        </p:tgtEl>
                                        <p:attrNameLst>
                                          <p:attrName>ppt_w</p:attrName>
                                        </p:attrNameLst>
                                      </p:cBhvr>
                                      <p:tavLst>
                                        <p:tav tm="0">
                                          <p:val>
                                            <p:fltVal val="0"/>
                                          </p:val>
                                        </p:tav>
                                        <p:tav tm="100000">
                                          <p:val>
                                            <p:strVal val="#ppt_w"/>
                                          </p:val>
                                        </p:tav>
                                      </p:tavLst>
                                    </p:anim>
                                    <p:anim calcmode="lin" valueType="num">
                                      <p:cBhvr>
                                        <p:cTn id="44" dur="3000" fill="hold"/>
                                        <p:tgtEl>
                                          <p:spTgt spid="105"/>
                                        </p:tgtEl>
                                        <p:attrNameLst>
                                          <p:attrName>ppt_h</p:attrName>
                                        </p:attrNameLst>
                                      </p:cBhvr>
                                      <p:tavLst>
                                        <p:tav tm="0">
                                          <p:val>
                                            <p:strVal val="#ppt_h"/>
                                          </p:val>
                                        </p:tav>
                                        <p:tav tm="100000">
                                          <p:val>
                                            <p:strVal val="#ppt_h"/>
                                          </p:val>
                                        </p:tav>
                                      </p:tavLst>
                                    </p:anim>
                                  </p:childTnLst>
                                </p:cTn>
                              </p:par>
                            </p:childTnLst>
                          </p:cTn>
                        </p:par>
                        <p:par>
                          <p:cTn id="45" fill="hold">
                            <p:stCondLst>
                              <p:cond delay="8000"/>
                            </p:stCondLst>
                            <p:childTnLst>
                              <p:par>
                                <p:cTn id="46" presetID="12" presetClass="entr" presetSubtype="1"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slide(fromTop)">
                                      <p:cBhvr>
                                        <p:cTn id="48" dur="5000"/>
                                        <p:tgtEl>
                                          <p:spTgt spid="81"/>
                                        </p:tgtEl>
                                      </p:cBhvr>
                                    </p:animEffect>
                                  </p:childTnLst>
                                  <p:subTnLst>
                                    <p:audio>
                                      <p:cMediaNode>
                                        <p:cTn display="0" masterRel="sameClick">
                                          <p:stCondLst>
                                            <p:cond evt="begin" delay="0">
                                              <p:tn val="46"/>
                                            </p:cond>
                                          </p:stCondLst>
                                          <p:endCondLst>
                                            <p:cond evt="onStopAudio" delay="0">
                                              <p:tgtEl>
                                                <p:sldTgt/>
                                              </p:tgtEl>
                                            </p:cond>
                                          </p:endCondLst>
                                        </p:cTn>
                                        <p:tgtEl>
                                          <p:sndTgt r:embed="rId3" name="CASHREG.WAV"/>
                                        </p:tgtEl>
                                      </p:cMediaNode>
                                    </p:audio>
                                  </p:subTnLst>
                                </p:cTn>
                              </p:par>
                              <p:par>
                                <p:cTn id="49" presetID="12" presetClass="entr" presetSubtype="4" fill="hold" grpId="0" nodeType="withEffect">
                                  <p:stCondLst>
                                    <p:cond delay="0"/>
                                  </p:stCondLst>
                                  <p:childTnLst>
                                    <p:set>
                                      <p:cBhvr>
                                        <p:cTn id="50" dur="1" fill="hold">
                                          <p:stCondLst>
                                            <p:cond delay="0"/>
                                          </p:stCondLst>
                                        </p:cTn>
                                        <p:tgtEl>
                                          <p:spTgt spid="103"/>
                                        </p:tgtEl>
                                        <p:attrNameLst>
                                          <p:attrName>style.visibility</p:attrName>
                                        </p:attrNameLst>
                                      </p:cBhvr>
                                      <p:to>
                                        <p:strVal val="visible"/>
                                      </p:to>
                                    </p:set>
                                    <p:animEffect transition="in" filter="slide(fromBottom)">
                                      <p:cBhvr>
                                        <p:cTn id="51" dur="5000"/>
                                        <p:tgtEl>
                                          <p:spTgt spid="103"/>
                                        </p:tgtEl>
                                      </p:cBhvr>
                                    </p:animEffect>
                                  </p:childTnLst>
                                </p:cTn>
                              </p:par>
                            </p:childTnLst>
                          </p:cTn>
                        </p:par>
                        <p:par>
                          <p:cTn id="52" fill="hold">
                            <p:stCondLst>
                              <p:cond delay="13000"/>
                            </p:stCondLst>
                            <p:childTnLst>
                              <p:par>
                                <p:cTn id="53" presetID="20" presetClass="entr" presetSubtype="0" fill="hold" grpId="0" nodeType="after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wedge">
                                      <p:cBhvr>
                                        <p:cTn id="55" dur="2000"/>
                                        <p:tgtEl>
                                          <p:spTgt spid="79"/>
                                        </p:tgtEl>
                                      </p:cBhvr>
                                    </p:animEffect>
                                  </p:childTnLst>
                                </p:cTn>
                              </p:par>
                              <p:par>
                                <p:cTn id="56" presetID="20" presetClass="entr" presetSubtype="0" fill="hold" grpId="0" nodeType="with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wedge">
                                      <p:cBhvr>
                                        <p:cTn id="58" dur="2000"/>
                                        <p:tgtEl>
                                          <p:spTgt spid="80"/>
                                        </p:tgtEl>
                                      </p:cBhvr>
                                    </p:animEffect>
                                  </p:childTnLst>
                                </p:cTn>
                              </p:par>
                            </p:childTnLst>
                          </p:cTn>
                        </p:par>
                        <p:par>
                          <p:cTn id="59" fill="hold">
                            <p:stCondLst>
                              <p:cond delay="15000"/>
                            </p:stCondLst>
                            <p:childTnLst>
                              <p:par>
                                <p:cTn id="60" presetID="17" presetClass="entr" presetSubtype="1" fill="hold" grpId="0" nodeType="afterEffect">
                                  <p:stCondLst>
                                    <p:cond delay="0"/>
                                  </p:stCondLst>
                                  <p:childTnLst>
                                    <p:set>
                                      <p:cBhvr>
                                        <p:cTn id="61" dur="1" fill="hold">
                                          <p:stCondLst>
                                            <p:cond delay="0"/>
                                          </p:stCondLst>
                                        </p:cTn>
                                        <p:tgtEl>
                                          <p:spTgt spid="102"/>
                                        </p:tgtEl>
                                        <p:attrNameLst>
                                          <p:attrName>style.visibility</p:attrName>
                                        </p:attrNameLst>
                                      </p:cBhvr>
                                      <p:to>
                                        <p:strVal val="visible"/>
                                      </p:to>
                                    </p:set>
                                    <p:anim calcmode="lin" valueType="num">
                                      <p:cBhvr>
                                        <p:cTn id="62" dur="5000" fill="hold"/>
                                        <p:tgtEl>
                                          <p:spTgt spid="102"/>
                                        </p:tgtEl>
                                        <p:attrNameLst>
                                          <p:attrName>ppt_x</p:attrName>
                                        </p:attrNameLst>
                                      </p:cBhvr>
                                      <p:tavLst>
                                        <p:tav tm="0">
                                          <p:val>
                                            <p:strVal val="#ppt_x"/>
                                          </p:val>
                                        </p:tav>
                                        <p:tav tm="100000">
                                          <p:val>
                                            <p:strVal val="#ppt_x"/>
                                          </p:val>
                                        </p:tav>
                                      </p:tavLst>
                                    </p:anim>
                                    <p:anim calcmode="lin" valueType="num">
                                      <p:cBhvr>
                                        <p:cTn id="63" dur="5000" fill="hold"/>
                                        <p:tgtEl>
                                          <p:spTgt spid="102"/>
                                        </p:tgtEl>
                                        <p:attrNameLst>
                                          <p:attrName>ppt_y</p:attrName>
                                        </p:attrNameLst>
                                      </p:cBhvr>
                                      <p:tavLst>
                                        <p:tav tm="0">
                                          <p:val>
                                            <p:strVal val="#ppt_y-#ppt_h/2"/>
                                          </p:val>
                                        </p:tav>
                                        <p:tav tm="100000">
                                          <p:val>
                                            <p:strVal val="#ppt_y"/>
                                          </p:val>
                                        </p:tav>
                                      </p:tavLst>
                                    </p:anim>
                                    <p:anim calcmode="lin" valueType="num">
                                      <p:cBhvr>
                                        <p:cTn id="64" dur="5000" fill="hold"/>
                                        <p:tgtEl>
                                          <p:spTgt spid="102"/>
                                        </p:tgtEl>
                                        <p:attrNameLst>
                                          <p:attrName>ppt_w</p:attrName>
                                        </p:attrNameLst>
                                      </p:cBhvr>
                                      <p:tavLst>
                                        <p:tav tm="0">
                                          <p:val>
                                            <p:strVal val="#ppt_w"/>
                                          </p:val>
                                        </p:tav>
                                        <p:tav tm="100000">
                                          <p:val>
                                            <p:strVal val="#ppt_w"/>
                                          </p:val>
                                        </p:tav>
                                      </p:tavLst>
                                    </p:anim>
                                    <p:anim calcmode="lin" valueType="num">
                                      <p:cBhvr>
                                        <p:cTn id="65" dur="5000" fill="hold"/>
                                        <p:tgtEl>
                                          <p:spTgt spid="102"/>
                                        </p:tgtEl>
                                        <p:attrNameLst>
                                          <p:attrName>ppt_h</p:attrName>
                                        </p:attrNameLst>
                                      </p:cBhvr>
                                      <p:tavLst>
                                        <p:tav tm="0">
                                          <p:val>
                                            <p:fltVal val="0"/>
                                          </p:val>
                                        </p:tav>
                                        <p:tav tm="100000">
                                          <p:val>
                                            <p:strVal val="#ppt_h"/>
                                          </p:val>
                                        </p:tav>
                                      </p:tavLst>
                                    </p:anim>
                                  </p:childTnLst>
                                </p:cTn>
                              </p:par>
                              <p:par>
                                <p:cTn id="66" presetID="5" presetClass="entr" presetSubtype="10" fill="hold" nodeType="withEffect">
                                  <p:stCondLst>
                                    <p:cond delay="0"/>
                                  </p:stCondLst>
                                  <p:childTnLst>
                                    <p:set>
                                      <p:cBhvr>
                                        <p:cTn id="67" dur="1" fill="hold">
                                          <p:stCondLst>
                                            <p:cond delay="0"/>
                                          </p:stCondLst>
                                        </p:cTn>
                                        <p:tgtEl>
                                          <p:spTgt spid="109"/>
                                        </p:tgtEl>
                                        <p:attrNameLst>
                                          <p:attrName>style.visibility</p:attrName>
                                        </p:attrNameLst>
                                      </p:cBhvr>
                                      <p:to>
                                        <p:strVal val="visible"/>
                                      </p:to>
                                    </p:set>
                                    <p:animEffect transition="in" filter="checkerboard(across)">
                                      <p:cBhvr>
                                        <p:cTn id="68" dur="3000"/>
                                        <p:tgtEl>
                                          <p:spTgt spid="109"/>
                                        </p:tgtEl>
                                      </p:cBhvr>
                                    </p:animEffect>
                                  </p:childTnLst>
                                  <p:subTnLst>
                                    <p:audio>
                                      <p:cMediaNode>
                                        <p:cTn display="0" masterRel="sameClick">
                                          <p:stCondLst>
                                            <p:cond evt="begin" delay="0">
                                              <p:tn val="66"/>
                                            </p:cond>
                                          </p:stCondLst>
                                          <p:endCondLst>
                                            <p:cond evt="onStopAudio" delay="0">
                                              <p:tgtEl>
                                                <p:sldTgt/>
                                              </p:tgtEl>
                                            </p:cond>
                                          </p:endCondLst>
                                        </p:cTn>
                                        <p:tgtEl>
                                          <p:sndTgt r:embed="rId3" name="CASHREG.WAV"/>
                                        </p:tgtEl>
                                      </p:cMediaNode>
                                    </p:audio>
                                  </p:subTnLst>
                                </p:cTn>
                              </p:par>
                              <p:par>
                                <p:cTn id="69" presetID="17" presetClass="entr" presetSubtype="8" fill="hold" grpId="0" nodeType="withEffect">
                                  <p:stCondLst>
                                    <p:cond delay="0"/>
                                  </p:stCondLst>
                                  <p:childTnLst>
                                    <p:set>
                                      <p:cBhvr>
                                        <p:cTn id="70" dur="1" fill="hold">
                                          <p:stCondLst>
                                            <p:cond delay="0"/>
                                          </p:stCondLst>
                                        </p:cTn>
                                        <p:tgtEl>
                                          <p:spTgt spid="124"/>
                                        </p:tgtEl>
                                        <p:attrNameLst>
                                          <p:attrName>style.visibility</p:attrName>
                                        </p:attrNameLst>
                                      </p:cBhvr>
                                      <p:to>
                                        <p:strVal val="visible"/>
                                      </p:to>
                                    </p:set>
                                    <p:anim calcmode="lin" valueType="num">
                                      <p:cBhvr>
                                        <p:cTn id="71" dur="3000" fill="hold"/>
                                        <p:tgtEl>
                                          <p:spTgt spid="124"/>
                                        </p:tgtEl>
                                        <p:attrNameLst>
                                          <p:attrName>ppt_x</p:attrName>
                                        </p:attrNameLst>
                                      </p:cBhvr>
                                      <p:tavLst>
                                        <p:tav tm="0">
                                          <p:val>
                                            <p:strVal val="#ppt_x-#ppt_w/2"/>
                                          </p:val>
                                        </p:tav>
                                        <p:tav tm="100000">
                                          <p:val>
                                            <p:strVal val="#ppt_x"/>
                                          </p:val>
                                        </p:tav>
                                      </p:tavLst>
                                    </p:anim>
                                    <p:anim calcmode="lin" valueType="num">
                                      <p:cBhvr>
                                        <p:cTn id="72" dur="3000" fill="hold"/>
                                        <p:tgtEl>
                                          <p:spTgt spid="124"/>
                                        </p:tgtEl>
                                        <p:attrNameLst>
                                          <p:attrName>ppt_y</p:attrName>
                                        </p:attrNameLst>
                                      </p:cBhvr>
                                      <p:tavLst>
                                        <p:tav tm="0">
                                          <p:val>
                                            <p:strVal val="#ppt_y"/>
                                          </p:val>
                                        </p:tav>
                                        <p:tav tm="100000">
                                          <p:val>
                                            <p:strVal val="#ppt_y"/>
                                          </p:val>
                                        </p:tav>
                                      </p:tavLst>
                                    </p:anim>
                                    <p:anim calcmode="lin" valueType="num">
                                      <p:cBhvr>
                                        <p:cTn id="73" dur="3000" fill="hold"/>
                                        <p:tgtEl>
                                          <p:spTgt spid="124"/>
                                        </p:tgtEl>
                                        <p:attrNameLst>
                                          <p:attrName>ppt_w</p:attrName>
                                        </p:attrNameLst>
                                      </p:cBhvr>
                                      <p:tavLst>
                                        <p:tav tm="0">
                                          <p:val>
                                            <p:fltVal val="0"/>
                                          </p:val>
                                        </p:tav>
                                        <p:tav tm="100000">
                                          <p:val>
                                            <p:strVal val="#ppt_w"/>
                                          </p:val>
                                        </p:tav>
                                      </p:tavLst>
                                    </p:anim>
                                    <p:anim calcmode="lin" valueType="num">
                                      <p:cBhvr>
                                        <p:cTn id="74" dur="3000" fill="hold"/>
                                        <p:tgtEl>
                                          <p:spTgt spid="124"/>
                                        </p:tgtEl>
                                        <p:attrNameLst>
                                          <p:attrName>ppt_h</p:attrName>
                                        </p:attrNameLst>
                                      </p:cBhvr>
                                      <p:tavLst>
                                        <p:tav tm="0">
                                          <p:val>
                                            <p:strVal val="#ppt_h"/>
                                          </p:val>
                                        </p:tav>
                                        <p:tav tm="100000">
                                          <p:val>
                                            <p:strVal val="#ppt_h"/>
                                          </p:val>
                                        </p:tav>
                                      </p:tavLst>
                                    </p:anim>
                                  </p:childTnLst>
                                </p:cTn>
                              </p:par>
                              <p:par>
                                <p:cTn id="75" presetID="17" presetClass="entr" presetSubtype="8" fill="hold" grpId="0" nodeType="withEffect">
                                  <p:stCondLst>
                                    <p:cond delay="0"/>
                                  </p:stCondLst>
                                  <p:childTnLst>
                                    <p:set>
                                      <p:cBhvr>
                                        <p:cTn id="76" dur="1" fill="hold">
                                          <p:stCondLst>
                                            <p:cond delay="0"/>
                                          </p:stCondLst>
                                        </p:cTn>
                                        <p:tgtEl>
                                          <p:spTgt spid="125"/>
                                        </p:tgtEl>
                                        <p:attrNameLst>
                                          <p:attrName>style.visibility</p:attrName>
                                        </p:attrNameLst>
                                      </p:cBhvr>
                                      <p:to>
                                        <p:strVal val="visible"/>
                                      </p:to>
                                    </p:set>
                                    <p:anim calcmode="lin" valueType="num">
                                      <p:cBhvr>
                                        <p:cTn id="77" dur="3000" fill="hold"/>
                                        <p:tgtEl>
                                          <p:spTgt spid="125"/>
                                        </p:tgtEl>
                                        <p:attrNameLst>
                                          <p:attrName>ppt_x</p:attrName>
                                        </p:attrNameLst>
                                      </p:cBhvr>
                                      <p:tavLst>
                                        <p:tav tm="0">
                                          <p:val>
                                            <p:strVal val="#ppt_x-#ppt_w/2"/>
                                          </p:val>
                                        </p:tav>
                                        <p:tav tm="100000">
                                          <p:val>
                                            <p:strVal val="#ppt_x"/>
                                          </p:val>
                                        </p:tav>
                                      </p:tavLst>
                                    </p:anim>
                                    <p:anim calcmode="lin" valueType="num">
                                      <p:cBhvr>
                                        <p:cTn id="78" dur="3000" fill="hold"/>
                                        <p:tgtEl>
                                          <p:spTgt spid="125"/>
                                        </p:tgtEl>
                                        <p:attrNameLst>
                                          <p:attrName>ppt_y</p:attrName>
                                        </p:attrNameLst>
                                      </p:cBhvr>
                                      <p:tavLst>
                                        <p:tav tm="0">
                                          <p:val>
                                            <p:strVal val="#ppt_y"/>
                                          </p:val>
                                        </p:tav>
                                        <p:tav tm="100000">
                                          <p:val>
                                            <p:strVal val="#ppt_y"/>
                                          </p:val>
                                        </p:tav>
                                      </p:tavLst>
                                    </p:anim>
                                    <p:anim calcmode="lin" valueType="num">
                                      <p:cBhvr>
                                        <p:cTn id="79" dur="3000" fill="hold"/>
                                        <p:tgtEl>
                                          <p:spTgt spid="125"/>
                                        </p:tgtEl>
                                        <p:attrNameLst>
                                          <p:attrName>ppt_w</p:attrName>
                                        </p:attrNameLst>
                                      </p:cBhvr>
                                      <p:tavLst>
                                        <p:tav tm="0">
                                          <p:val>
                                            <p:fltVal val="0"/>
                                          </p:val>
                                        </p:tav>
                                        <p:tav tm="100000">
                                          <p:val>
                                            <p:strVal val="#ppt_w"/>
                                          </p:val>
                                        </p:tav>
                                      </p:tavLst>
                                    </p:anim>
                                    <p:anim calcmode="lin" valueType="num">
                                      <p:cBhvr>
                                        <p:cTn id="80" dur="3000" fill="hold"/>
                                        <p:tgtEl>
                                          <p:spTgt spid="1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53" grpId="0" animBg="1"/>
      <p:bldP spid="79" grpId="0" autoUpdateAnimBg="0"/>
      <p:bldP spid="80" grpId="0" autoUpdateAnimBg="0"/>
      <p:bldP spid="100" grpId="0" animBg="1"/>
      <p:bldP spid="101" grpId="0" animBg="1"/>
      <p:bldP spid="102" grpId="0" animBg="1"/>
      <p:bldP spid="103" grpId="0" animBg="1"/>
      <p:bldP spid="104" grpId="0" animBg="1"/>
      <p:bldP spid="105" grpId="0"/>
      <p:bldP spid="106" grpId="0"/>
      <p:bldP spid="124" grpId="0"/>
      <p:bldP spid="1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1373317"/>
            <a:ext cx="8480145"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solidFill>
                  <a:srgbClr val="FF00FF"/>
                </a:solidFill>
                <a:latin typeface="+mj-lt"/>
                <a:ea typeface="微软雅黑" panose="020B0503020204020204" pitchFamily="34" charset="-122"/>
              </a:rPr>
              <a:t>梁本身的简化</a:t>
            </a:r>
          </a:p>
        </p:txBody>
      </p:sp>
      <p:sp>
        <p:nvSpPr>
          <p:cNvPr id="9" name="Rectangle 61"/>
          <p:cNvSpPr>
            <a:spLocks noChangeArrowheads="1"/>
          </p:cNvSpPr>
          <p:nvPr/>
        </p:nvSpPr>
        <p:spPr bwMode="auto">
          <a:xfrm>
            <a:off x="695400" y="2708920"/>
            <a:ext cx="10945216" cy="3404739"/>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315236" y="881059"/>
            <a:ext cx="3647152"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梁的计算简图及分类</a:t>
            </a:r>
          </a:p>
        </p:txBody>
      </p:sp>
      <p:sp>
        <p:nvSpPr>
          <p:cNvPr id="15" name="Text Box 1032"/>
          <p:cNvSpPr txBox="1">
            <a:spLocks noChangeArrowheads="1"/>
          </p:cNvSpPr>
          <p:nvPr/>
        </p:nvSpPr>
        <p:spPr bwMode="auto">
          <a:xfrm>
            <a:off x="695400" y="1981452"/>
            <a:ext cx="9577064" cy="115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j-lt"/>
                <a:ea typeface="微软雅黑" panose="020B0503020204020204" pitchFamily="34" charset="-122"/>
              </a:rPr>
              <a:t>不论梁的截面形状如何，通常取梁的轴线来代替实际的梁 。</a:t>
            </a:r>
          </a:p>
          <a:p>
            <a:pPr lvl="0">
              <a:lnSpc>
                <a:spcPct val="130000"/>
              </a:lnSpc>
            </a:pPr>
            <a:endParaRPr lang="zh-CN" altLang="en-US" sz="2800" i="0" dirty="0">
              <a:solidFill>
                <a:srgbClr val="FF00FF"/>
              </a:solidFill>
              <a:latin typeface="+mj-lt"/>
              <a:ea typeface="微软雅黑" panose="020B0503020204020204" pitchFamily="34" charset="-122"/>
            </a:endParaRPr>
          </a:p>
        </p:txBody>
      </p:sp>
      <p:grpSp>
        <p:nvGrpSpPr>
          <p:cNvPr id="16" name="Group 2"/>
          <p:cNvGrpSpPr>
            <a:grpSpLocks/>
          </p:cNvGrpSpPr>
          <p:nvPr/>
        </p:nvGrpSpPr>
        <p:grpSpPr bwMode="auto">
          <a:xfrm>
            <a:off x="1163713" y="3314754"/>
            <a:ext cx="4941888" cy="2082800"/>
            <a:chOff x="130" y="113"/>
            <a:chExt cx="3113" cy="1312"/>
          </a:xfrm>
        </p:grpSpPr>
        <p:sp>
          <p:nvSpPr>
            <p:cNvPr id="17" name="Text Box 3"/>
            <p:cNvSpPr txBox="1">
              <a:spLocks noChangeArrowheads="1"/>
            </p:cNvSpPr>
            <p:nvPr/>
          </p:nvSpPr>
          <p:spPr bwMode="auto">
            <a:xfrm>
              <a:off x="188" y="479"/>
              <a:ext cx="3055"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sz="3200" b="1"/>
                <a:t>1.</a:t>
              </a:r>
              <a:r>
                <a:rPr lang="zh-CN" altLang="en-US" sz="3200" b="1"/>
                <a:t>弯曲变形和平面弯曲</a:t>
              </a:r>
            </a:p>
          </p:txBody>
        </p:sp>
        <p:sp>
          <p:nvSpPr>
            <p:cNvPr id="18" name="Rectangle 4" descr="大纸屑"/>
            <p:cNvSpPr>
              <a:spLocks noChangeArrowheads="1"/>
            </p:cNvSpPr>
            <p:nvPr/>
          </p:nvSpPr>
          <p:spPr bwMode="auto">
            <a:xfrm>
              <a:off x="336" y="587"/>
              <a:ext cx="2583" cy="121"/>
            </a:xfrm>
            <a:prstGeom prst="rect">
              <a:avLst/>
            </a:prstGeom>
            <a:pattFill prst="lgConfetti">
              <a:fgClr>
                <a:srgbClr val="FFFF00"/>
              </a:fgClr>
              <a:bgClr>
                <a:schemeClr val="tx1"/>
              </a:bgClr>
            </a:patt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9" name="Text Box 5"/>
            <p:cNvSpPr txBox="1">
              <a:spLocks noChangeAspect="1" noChangeArrowheads="1"/>
            </p:cNvSpPr>
            <p:nvPr/>
          </p:nvSpPr>
          <p:spPr bwMode="auto">
            <a:xfrm>
              <a:off x="368" y="940"/>
              <a:ext cx="447"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ea typeface="宋体" panose="02010600030101010101" pitchFamily="2" charset="-122"/>
                </a:rPr>
                <a:t>A</a:t>
              </a:r>
            </a:p>
          </p:txBody>
        </p:sp>
        <p:sp>
          <p:nvSpPr>
            <p:cNvPr id="20" name="Text Box 6"/>
            <p:cNvSpPr txBox="1">
              <a:spLocks noChangeAspect="1" noChangeArrowheads="1"/>
            </p:cNvSpPr>
            <p:nvPr/>
          </p:nvSpPr>
          <p:spPr bwMode="auto">
            <a:xfrm>
              <a:off x="2675" y="952"/>
              <a:ext cx="38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ea typeface="宋体" panose="02010600030101010101" pitchFamily="2" charset="-122"/>
                </a:rPr>
                <a:t>B</a:t>
              </a:r>
              <a:r>
                <a:rPr lang="en-US" altLang="zh-CN" sz="3200" i="1" dirty="0">
                  <a:ea typeface="宋体" panose="02010600030101010101" pitchFamily="2" charset="-122"/>
                </a:rPr>
                <a:t>   </a:t>
              </a:r>
            </a:p>
          </p:txBody>
        </p:sp>
        <p:pic>
          <p:nvPicPr>
            <p:cNvPr id="21" name="Picture 7" descr="墙 "/>
            <p:cNvPicPr>
              <a:picLocks noChangeAspect="1" noChangeArrowheads="1"/>
            </p:cNvPicPr>
            <p:nvPr/>
          </p:nvPicPr>
          <p:blipFill>
            <a:blip r:embed="rId3">
              <a:extLst>
                <a:ext uri="{28A0092B-C50C-407E-A947-70E740481C1C}">
                  <a14:useLocalDpi xmlns:a14="http://schemas.microsoft.com/office/drawing/2010/main" val="0"/>
                </a:ext>
              </a:extLst>
            </a:blip>
            <a:srcRect t="766" r="2632"/>
            <a:stretch>
              <a:fillRect/>
            </a:stretch>
          </p:blipFill>
          <p:spPr bwMode="auto">
            <a:xfrm>
              <a:off x="2907" y="118"/>
              <a:ext cx="280"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8" descr="墙 "/>
            <p:cNvPicPr>
              <a:picLocks noChangeAspect="1" noChangeArrowheads="1"/>
            </p:cNvPicPr>
            <p:nvPr/>
          </p:nvPicPr>
          <p:blipFill>
            <a:blip r:embed="rId3">
              <a:extLst>
                <a:ext uri="{28A0092B-C50C-407E-A947-70E740481C1C}">
                  <a14:useLocalDpi xmlns:a14="http://schemas.microsoft.com/office/drawing/2010/main" val="0"/>
                </a:ext>
              </a:extLst>
            </a:blip>
            <a:srcRect t="766" r="2632"/>
            <a:stretch>
              <a:fillRect/>
            </a:stretch>
          </p:blipFill>
          <p:spPr bwMode="auto">
            <a:xfrm>
              <a:off x="130" y="113"/>
              <a:ext cx="280"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9"/>
            <p:cNvSpPr>
              <a:spLocks noChangeArrowheads="1"/>
            </p:cNvSpPr>
            <p:nvPr/>
          </p:nvSpPr>
          <p:spPr bwMode="auto">
            <a:xfrm>
              <a:off x="145" y="710"/>
              <a:ext cx="3037" cy="296"/>
            </a:xfrm>
            <a:prstGeom prst="rect">
              <a:avLst/>
            </a:prstGeom>
            <a:gradFill rotWithShape="1">
              <a:gsLst>
                <a:gs pos="0">
                  <a:srgbClr val="595959"/>
                </a:gs>
                <a:gs pos="50000">
                  <a:srgbClr val="C0C0C0"/>
                </a:gs>
                <a:gs pos="100000">
                  <a:srgbClr val="595959"/>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 name="Text Box 11"/>
          <p:cNvSpPr txBox="1">
            <a:spLocks noChangeAspect="1" noChangeArrowheads="1"/>
          </p:cNvSpPr>
          <p:nvPr/>
        </p:nvSpPr>
        <p:spPr bwMode="auto">
          <a:xfrm>
            <a:off x="8599439" y="3483029"/>
            <a:ext cx="539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ea typeface="宋体" panose="02010600030101010101" pitchFamily="2" charset="-122"/>
              </a:rPr>
              <a:t>q</a:t>
            </a:r>
            <a:endParaRPr lang="en-US" altLang="zh-CN" sz="3200" b="0" i="0">
              <a:solidFill>
                <a:srgbClr val="FF0000"/>
              </a:solidFill>
              <a:ea typeface="宋体" panose="02010600030101010101" pitchFamily="2" charset="-122"/>
            </a:endParaRPr>
          </a:p>
        </p:txBody>
      </p:sp>
      <p:grpSp>
        <p:nvGrpSpPr>
          <p:cNvPr id="25" name="Group 12"/>
          <p:cNvGrpSpPr>
            <a:grpSpLocks/>
          </p:cNvGrpSpPr>
          <p:nvPr/>
        </p:nvGrpSpPr>
        <p:grpSpPr bwMode="auto">
          <a:xfrm>
            <a:off x="6718252" y="4076754"/>
            <a:ext cx="4441825" cy="365125"/>
            <a:chOff x="2926" y="1514"/>
            <a:chExt cx="2403" cy="230"/>
          </a:xfrm>
        </p:grpSpPr>
        <p:sp>
          <p:nvSpPr>
            <p:cNvPr id="26" name="Line 13"/>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7" name="Line 14"/>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8" name="Line 15"/>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9" name="Line 16"/>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0" name="Line 17"/>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1" name="Line 18"/>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2" name="Line 19"/>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3" name="Line 20"/>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4" name="Line 21"/>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5" name="Line 22"/>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6" name="Line 23"/>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7" name="Line 24"/>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8" name="Line 25"/>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9" name="Line 26"/>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40" name="Line 27"/>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41" name="Line 28"/>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pSp>
      <p:grpSp>
        <p:nvGrpSpPr>
          <p:cNvPr id="42" name="Group 29"/>
          <p:cNvGrpSpPr>
            <a:grpSpLocks/>
          </p:cNvGrpSpPr>
          <p:nvPr/>
        </p:nvGrpSpPr>
        <p:grpSpPr bwMode="auto">
          <a:xfrm>
            <a:off x="6292802" y="4176767"/>
            <a:ext cx="5526087" cy="828675"/>
            <a:chOff x="0" y="3125"/>
            <a:chExt cx="3481" cy="522"/>
          </a:xfrm>
        </p:grpSpPr>
        <p:sp>
          <p:nvSpPr>
            <p:cNvPr id="43" name="Line 30"/>
            <p:cNvSpPr>
              <a:spLocks noChangeAspect="1" noChangeShapeType="1"/>
            </p:cNvSpPr>
            <p:nvPr/>
          </p:nvSpPr>
          <p:spPr bwMode="auto">
            <a:xfrm flipH="1" flipV="1">
              <a:off x="302" y="3313"/>
              <a:ext cx="2769" cy="17"/>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44" name="Group 31"/>
            <p:cNvGrpSpPr>
              <a:grpSpLocks/>
            </p:cNvGrpSpPr>
            <p:nvPr/>
          </p:nvGrpSpPr>
          <p:grpSpPr bwMode="auto">
            <a:xfrm>
              <a:off x="116" y="3298"/>
              <a:ext cx="313" cy="330"/>
              <a:chOff x="1686" y="3521"/>
              <a:chExt cx="313" cy="330"/>
            </a:xfrm>
          </p:grpSpPr>
          <p:sp>
            <p:nvSpPr>
              <p:cNvPr id="60" name="AutoShape 32"/>
              <p:cNvSpPr>
                <a:spLocks noChangeAspect="1" noChangeArrowheads="1"/>
              </p:cNvSpPr>
              <p:nvPr/>
            </p:nvSpPr>
            <p:spPr bwMode="auto">
              <a:xfrm>
                <a:off x="1766" y="3558"/>
                <a:ext cx="159" cy="200"/>
              </a:xfrm>
              <a:prstGeom prst="triangle">
                <a:avLst>
                  <a:gd name="adj" fmla="val 50000"/>
                </a:avLst>
              </a:prstGeom>
              <a:solidFill>
                <a:srgbClr val="CCCCFF"/>
              </a:soli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1"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2"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3" name="Oval 35"/>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45" name="Group 36"/>
            <p:cNvGrpSpPr>
              <a:grpSpLocks/>
            </p:cNvGrpSpPr>
            <p:nvPr/>
          </p:nvGrpSpPr>
          <p:grpSpPr bwMode="auto">
            <a:xfrm>
              <a:off x="2909" y="3289"/>
              <a:ext cx="311" cy="358"/>
              <a:chOff x="3499" y="3511"/>
              <a:chExt cx="311" cy="358"/>
            </a:xfrm>
          </p:grpSpPr>
          <p:sp>
            <p:nvSpPr>
              <p:cNvPr id="55"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6"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7"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Oval 40"/>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9" name="Oval 41"/>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51" name="Text Box 42"/>
            <p:cNvSpPr txBox="1">
              <a:spLocks noChangeAspect="1" noChangeArrowheads="1"/>
            </p:cNvSpPr>
            <p:nvPr/>
          </p:nvSpPr>
          <p:spPr bwMode="auto">
            <a:xfrm>
              <a:off x="0" y="3125"/>
              <a:ext cx="447"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4" name="Text Box 43"/>
            <p:cNvSpPr txBox="1">
              <a:spLocks noChangeAspect="1" noChangeArrowheads="1"/>
            </p:cNvSpPr>
            <p:nvPr/>
          </p:nvSpPr>
          <p:spPr bwMode="auto">
            <a:xfrm>
              <a:off x="3092" y="3146"/>
              <a:ext cx="38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32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pSp>
    </p:spTree>
    <p:extLst>
      <p:ext uri="{BB962C8B-B14F-4D97-AF65-F5344CB8AC3E}">
        <p14:creationId xmlns:p14="http://schemas.microsoft.com/office/powerpoint/2010/main" val="1425724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8" presetClass="entr" presetSubtype="32"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amond(out)">
                                      <p:cBhvr>
                                        <p:cTn id="15" dur="5000"/>
                                        <p:tgtEl>
                                          <p:spTgt spid="16"/>
                                        </p:tgtEl>
                                      </p:cBhvr>
                                    </p:animEffect>
                                  </p:childTnLst>
                                </p:cTn>
                              </p:par>
                            </p:childTnLst>
                          </p:cTn>
                        </p:par>
                        <p:par>
                          <p:cTn id="16" fill="hold">
                            <p:stCondLst>
                              <p:cond delay="5000"/>
                            </p:stCondLst>
                            <p:childTnLst>
                              <p:par>
                                <p:cTn id="17" presetID="1"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par>
                          <p:cTn id="23" fill="hold">
                            <p:stCondLst>
                              <p:cond delay="5000"/>
                            </p:stCondLst>
                            <p:childTnLst>
                              <p:par>
                                <p:cTn id="24" presetID="0" presetClass="path" presetSubtype="0" accel="50000" decel="50000" fill="hold" grpId="1" nodeType="afterEffect">
                                  <p:stCondLst>
                                    <p:cond delay="0"/>
                                  </p:stCondLst>
                                  <p:childTnLst>
                                    <p:animMotion origin="layout" path="M 0 0 L 0 -0.28056 " pathEditMode="relative" ptsTypes="AA">
                                      <p:cBhvr>
                                        <p:cTn id="25" dur="5000" spd="-100000" fill="hold"/>
                                        <p:tgtEl>
                                          <p:spTgt spid="24"/>
                                        </p:tgtEl>
                                        <p:attrNameLst>
                                          <p:attrName>ppt_x</p:attrName>
                                          <p:attrName>ppt_y</p:attrName>
                                        </p:attrNameLst>
                                      </p:cBhvr>
                                    </p:animMotion>
                                  </p:childTnLst>
                                </p:cTn>
                              </p:par>
                              <p:par>
                                <p:cTn id="26" presetID="0" presetClass="path" presetSubtype="0" accel="50000" decel="50000" fill="hold" nodeType="withEffect">
                                  <p:stCondLst>
                                    <p:cond delay="0"/>
                                  </p:stCondLst>
                                  <p:childTnLst>
                                    <p:animMotion origin="layout" path="M 0 0 L 0 -0.28056 " pathEditMode="relative" ptsTypes="AA">
                                      <p:cBhvr>
                                        <p:cTn id="27" dur="5000" spd="-100000" fill="hold"/>
                                        <p:tgtEl>
                                          <p:spTgt spid="25"/>
                                        </p:tgtEl>
                                        <p:attrNameLst>
                                          <p:attrName>ppt_x</p:attrName>
                                          <p:attrName>ppt_y</p:attrName>
                                        </p:attrNameLst>
                                      </p:cBhvr>
                                    </p:animMotion>
                                  </p:childTnLst>
                                </p:cTn>
                              </p:par>
                              <p:par>
                                <p:cTn id="28" presetID="0" presetClass="path" presetSubtype="0" accel="50000" decel="50000" fill="hold" nodeType="withEffect">
                                  <p:stCondLst>
                                    <p:cond delay="0"/>
                                  </p:stCondLst>
                                  <p:childTnLst>
                                    <p:animMotion origin="layout" path="M 0 0 L 0 -0.28056 " pathEditMode="relative" ptsTypes="AA">
                                      <p:cBhvr>
                                        <p:cTn id="29" dur="5000" spd="-100000" fill="hold"/>
                                        <p:tgtEl>
                                          <p:spTgt spid="4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24" grpId="0"/>
      <p:bldP spid="2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1019552"/>
            <a:ext cx="8480145"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载荷的简化</a:t>
            </a:r>
          </a:p>
        </p:txBody>
      </p:sp>
      <p:sp>
        <p:nvSpPr>
          <p:cNvPr id="9" name="Rectangle 61"/>
          <p:cNvSpPr>
            <a:spLocks noChangeArrowheads="1"/>
          </p:cNvSpPr>
          <p:nvPr/>
        </p:nvSpPr>
        <p:spPr bwMode="auto">
          <a:xfrm>
            <a:off x="7325284" y="1834587"/>
            <a:ext cx="4531356" cy="3404739"/>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786073"/>
            <a:ext cx="6629884"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作用在梁上的外力，包括载荷和约束力，一律可简化为三种形式，即</a:t>
            </a:r>
            <a:r>
              <a:rPr kumimoji="1" lang="zh-CN" altLang="en-US" sz="2800" i="0" dirty="0">
                <a:solidFill>
                  <a:srgbClr val="FF0000"/>
                </a:solidFill>
                <a:latin typeface="+mj-lt"/>
                <a:ea typeface="微软雅黑" panose="020B0503020204020204" pitchFamily="34" charset="-122"/>
              </a:rPr>
              <a:t>集中力</a:t>
            </a:r>
            <a:r>
              <a:rPr kumimoji="1" lang="en-US" altLang="zh-CN" sz="2800" b="0" dirty="0">
                <a:solidFill>
                  <a:srgbClr val="FF0000"/>
                </a:solidFill>
                <a:latin typeface="+mj-lt"/>
                <a:ea typeface="微软雅黑" panose="020B0503020204020204" pitchFamily="34" charset="-122"/>
              </a:rPr>
              <a:t>F</a:t>
            </a:r>
            <a:r>
              <a:rPr kumimoji="1" lang="zh-CN" altLang="en-US" sz="2800" i="0" dirty="0">
                <a:latin typeface="+mj-lt"/>
                <a:ea typeface="微软雅黑" panose="020B0503020204020204" pitchFamily="34" charset="-122"/>
              </a:rPr>
              <a:t>、</a:t>
            </a:r>
            <a:r>
              <a:rPr kumimoji="1" lang="zh-CN" altLang="en-US" sz="2800" i="0" dirty="0">
                <a:solidFill>
                  <a:srgbClr val="FF0000"/>
                </a:solidFill>
                <a:latin typeface="+mj-lt"/>
                <a:ea typeface="微软雅黑" panose="020B0503020204020204" pitchFamily="34" charset="-122"/>
              </a:rPr>
              <a:t>集中力偶</a:t>
            </a:r>
            <a:r>
              <a:rPr kumimoji="1" lang="en-US" altLang="zh-CN" sz="2800" b="0" dirty="0">
                <a:solidFill>
                  <a:srgbClr val="FF0000"/>
                </a:solidFill>
                <a:latin typeface="+mj-lt"/>
                <a:ea typeface="微软雅黑" panose="020B0503020204020204" pitchFamily="34" charset="-122"/>
              </a:rPr>
              <a:t>M </a:t>
            </a:r>
            <a:r>
              <a:rPr kumimoji="1" lang="zh-CN" altLang="en-US" sz="2800" i="0" dirty="0">
                <a:latin typeface="+mj-lt"/>
                <a:ea typeface="微软雅黑" panose="020B0503020204020204" pitchFamily="34" charset="-122"/>
              </a:rPr>
              <a:t>和</a:t>
            </a:r>
            <a:r>
              <a:rPr kumimoji="1" lang="zh-CN" altLang="en-US" sz="2800" i="0" dirty="0">
                <a:solidFill>
                  <a:srgbClr val="FF0000"/>
                </a:solidFill>
                <a:latin typeface="+mj-lt"/>
                <a:ea typeface="微软雅黑" panose="020B0503020204020204" pitchFamily="34" charset="-122"/>
              </a:rPr>
              <a:t>分布载荷</a:t>
            </a:r>
            <a:r>
              <a:rPr kumimoji="1" lang="zh-CN" altLang="en-US" sz="2800" i="0" dirty="0">
                <a:latin typeface="+mj-lt"/>
                <a:ea typeface="微软雅黑" panose="020B0503020204020204" pitchFamily="34" charset="-122"/>
              </a:rPr>
              <a:t>。分布载荷若分布均匀，则称为均布载荷，通常用载荷集度</a:t>
            </a:r>
            <a:r>
              <a:rPr kumimoji="1" lang="en-US" altLang="zh-CN" sz="2800" b="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表示。其单位为</a:t>
            </a:r>
            <a:r>
              <a:rPr kumimoji="1" lang="en-US" altLang="zh-CN" sz="2800" i="0" dirty="0">
                <a:latin typeface="+mj-lt"/>
                <a:ea typeface="微软雅黑" panose="020B0503020204020204" pitchFamily="34" charset="-122"/>
              </a:rPr>
              <a:t>N/m</a:t>
            </a:r>
            <a:r>
              <a:rPr kumimoji="1" lang="zh-CN" altLang="en-US" sz="2800" i="0" dirty="0">
                <a:latin typeface="+mj-lt"/>
                <a:ea typeface="微软雅黑" panose="020B0503020204020204" pitchFamily="34" charset="-122"/>
              </a:rPr>
              <a:t>。 </a:t>
            </a:r>
            <a:endParaRPr lang="zh-CN" altLang="en-US" sz="2800" i="0" dirty="0">
              <a:latin typeface="+mj-lt"/>
              <a:ea typeface="微软雅黑" panose="020B0503020204020204" pitchFamily="34" charset="-122"/>
            </a:endParaRPr>
          </a:p>
          <a:p>
            <a:pPr lvl="0">
              <a:lnSpc>
                <a:spcPct val="130000"/>
              </a:lnSpc>
            </a:pPr>
            <a:endParaRPr lang="zh-CN" altLang="en-US" sz="2800" i="0" dirty="0">
              <a:latin typeface="+mj-lt"/>
              <a:ea typeface="微软雅黑" panose="020B0503020204020204" pitchFamily="34" charset="-122"/>
            </a:endParaRPr>
          </a:p>
        </p:txBody>
      </p:sp>
      <p:sp>
        <p:nvSpPr>
          <p:cNvPr id="49" name="Rectangle 4" descr="5%"/>
          <p:cNvSpPr>
            <a:spLocks noChangeAspect="1" noChangeArrowheads="1"/>
          </p:cNvSpPr>
          <p:nvPr/>
        </p:nvSpPr>
        <p:spPr bwMode="auto">
          <a:xfrm>
            <a:off x="7773144" y="3338247"/>
            <a:ext cx="3111500" cy="825500"/>
          </a:xfrm>
          <a:prstGeom prst="rect">
            <a:avLst/>
          </a:prstGeom>
          <a:pattFill prst="pct5">
            <a:fgClr>
              <a:srgbClr val="000000"/>
            </a:fgClr>
            <a:bgClr>
              <a:srgbClr val="EAEAEA"/>
            </a:bgClr>
          </a:pattFill>
          <a:ln w="12700">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0" name="Group 5"/>
          <p:cNvGrpSpPr>
            <a:grpSpLocks/>
          </p:cNvGrpSpPr>
          <p:nvPr/>
        </p:nvGrpSpPr>
        <p:grpSpPr bwMode="auto">
          <a:xfrm>
            <a:off x="7392144" y="3067602"/>
            <a:ext cx="4705349" cy="1147763"/>
            <a:chOff x="2863" y="2778"/>
            <a:chExt cx="2964" cy="723"/>
          </a:xfrm>
        </p:grpSpPr>
        <p:sp>
          <p:nvSpPr>
            <p:cNvPr id="52" name="Rectangle 6"/>
            <p:cNvSpPr>
              <a:spLocks noChangeAspect="1" noChangeArrowheads="1"/>
            </p:cNvSpPr>
            <p:nvPr/>
          </p:nvSpPr>
          <p:spPr bwMode="auto">
            <a:xfrm>
              <a:off x="2921" y="2982"/>
              <a:ext cx="1960" cy="51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4" name="Rectangle 7"/>
            <p:cNvSpPr>
              <a:spLocks noChangeAspect="1" noChangeArrowheads="1"/>
            </p:cNvSpPr>
            <p:nvPr/>
          </p:nvSpPr>
          <p:spPr bwMode="auto">
            <a:xfrm>
              <a:off x="3194" y="2779"/>
              <a:ext cx="1961" cy="520"/>
            </a:xfrm>
            <a:prstGeom prst="rect">
              <a:avLst/>
            </a:prstGeom>
            <a:noFill/>
            <a:ln w="2857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5" name="Line 8"/>
            <p:cNvSpPr>
              <a:spLocks noChangeAspect="1" noChangeShapeType="1"/>
            </p:cNvSpPr>
            <p:nvPr/>
          </p:nvSpPr>
          <p:spPr bwMode="auto">
            <a:xfrm rot="21516606" flipH="1">
              <a:off x="2925" y="2778"/>
              <a:ext cx="284" cy="1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6" name="Line 9"/>
            <p:cNvSpPr>
              <a:spLocks noChangeAspect="1" noChangeShapeType="1"/>
            </p:cNvSpPr>
            <p:nvPr/>
          </p:nvSpPr>
          <p:spPr bwMode="auto">
            <a:xfrm flipH="1">
              <a:off x="4867" y="2793"/>
              <a:ext cx="274" cy="1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7" name="Line 10"/>
            <p:cNvSpPr>
              <a:spLocks noChangeAspect="1" noChangeShapeType="1"/>
            </p:cNvSpPr>
            <p:nvPr/>
          </p:nvSpPr>
          <p:spPr bwMode="auto">
            <a:xfrm flipH="1">
              <a:off x="4881" y="3299"/>
              <a:ext cx="274" cy="1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8" name="Line 11"/>
            <p:cNvSpPr>
              <a:spLocks noChangeAspect="1" noChangeShapeType="1"/>
            </p:cNvSpPr>
            <p:nvPr/>
          </p:nvSpPr>
          <p:spPr bwMode="auto">
            <a:xfrm>
              <a:off x="2863" y="3141"/>
              <a:ext cx="2494" cy="0"/>
            </a:xfrm>
            <a:prstGeom prst="line">
              <a:avLst/>
            </a:prstGeom>
            <a:noFill/>
            <a:ln w="381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9" name="Line 12"/>
            <p:cNvSpPr>
              <a:spLocks noChangeAspect="1" noChangeShapeType="1"/>
            </p:cNvSpPr>
            <p:nvPr/>
          </p:nvSpPr>
          <p:spPr bwMode="auto">
            <a:xfrm flipH="1">
              <a:off x="5155" y="2793"/>
              <a:ext cx="0" cy="5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0" name="Line 13"/>
            <p:cNvSpPr>
              <a:spLocks noChangeAspect="1" noChangeShapeType="1"/>
            </p:cNvSpPr>
            <p:nvPr/>
          </p:nvSpPr>
          <p:spPr bwMode="auto">
            <a:xfrm>
              <a:off x="3172" y="2787"/>
              <a:ext cx="19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1" name="Line 14"/>
            <p:cNvSpPr>
              <a:spLocks noChangeAspect="1" noChangeShapeType="1"/>
            </p:cNvSpPr>
            <p:nvPr/>
          </p:nvSpPr>
          <p:spPr bwMode="auto">
            <a:xfrm rot="21363911" flipH="1">
              <a:off x="2906" y="3309"/>
              <a:ext cx="274" cy="187"/>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Text Box 15"/>
            <p:cNvSpPr txBox="1">
              <a:spLocks noChangeAspect="1" noChangeArrowheads="1"/>
            </p:cNvSpPr>
            <p:nvPr/>
          </p:nvSpPr>
          <p:spPr bwMode="auto">
            <a:xfrm>
              <a:off x="5294" y="2799"/>
              <a:ext cx="53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轴线</a:t>
              </a:r>
            </a:p>
          </p:txBody>
        </p:sp>
        <p:sp>
          <p:nvSpPr>
            <p:cNvPr id="73" name="Line 16"/>
            <p:cNvSpPr>
              <a:spLocks noChangeAspect="1" noChangeShapeType="1"/>
            </p:cNvSpPr>
            <p:nvPr/>
          </p:nvSpPr>
          <p:spPr bwMode="auto">
            <a:xfrm flipH="1">
              <a:off x="5192" y="3055"/>
              <a:ext cx="130" cy="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4" name="Text Box 30"/>
          <p:cNvSpPr txBox="1">
            <a:spLocks noChangeAspect="1" noChangeArrowheads="1"/>
          </p:cNvSpPr>
          <p:nvPr/>
        </p:nvSpPr>
        <p:spPr bwMode="auto">
          <a:xfrm>
            <a:off x="7789019" y="4597135"/>
            <a:ext cx="685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A</a:t>
            </a:r>
          </a:p>
        </p:txBody>
      </p:sp>
      <p:sp>
        <p:nvSpPr>
          <p:cNvPr id="75" name="Text Box 31"/>
          <p:cNvSpPr txBox="1">
            <a:spLocks noChangeAspect="1" noChangeArrowheads="1"/>
          </p:cNvSpPr>
          <p:nvPr/>
        </p:nvSpPr>
        <p:spPr bwMode="auto">
          <a:xfrm>
            <a:off x="10932269" y="4633647"/>
            <a:ext cx="685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B</a:t>
            </a:r>
          </a:p>
        </p:txBody>
      </p:sp>
      <p:grpSp>
        <p:nvGrpSpPr>
          <p:cNvPr id="76" name="Group 32"/>
          <p:cNvGrpSpPr>
            <a:grpSpLocks/>
          </p:cNvGrpSpPr>
          <p:nvPr/>
        </p:nvGrpSpPr>
        <p:grpSpPr bwMode="auto">
          <a:xfrm>
            <a:off x="7519144" y="1730110"/>
            <a:ext cx="3629025" cy="3554412"/>
            <a:chOff x="3089" y="1867"/>
            <a:chExt cx="2003" cy="2239"/>
          </a:xfrm>
        </p:grpSpPr>
        <p:sp>
          <p:nvSpPr>
            <p:cNvPr id="77" name="Line 33"/>
            <p:cNvSpPr>
              <a:spLocks noChangeAspect="1" noChangeShapeType="1"/>
            </p:cNvSpPr>
            <p:nvPr/>
          </p:nvSpPr>
          <p:spPr bwMode="auto">
            <a:xfrm>
              <a:off x="4718" y="2880"/>
              <a:ext cx="0" cy="679"/>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Line 34"/>
            <p:cNvSpPr>
              <a:spLocks noChangeAspect="1" noChangeShapeType="1"/>
            </p:cNvSpPr>
            <p:nvPr/>
          </p:nvSpPr>
          <p:spPr bwMode="auto">
            <a:xfrm flipH="1">
              <a:off x="4516" y="3573"/>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9" name="Rectangle 35"/>
            <p:cNvSpPr>
              <a:spLocks noChangeAspect="1" noChangeArrowheads="1"/>
            </p:cNvSpPr>
            <p:nvPr/>
          </p:nvSpPr>
          <p:spPr bwMode="auto">
            <a:xfrm>
              <a:off x="3095" y="1867"/>
              <a:ext cx="1963" cy="22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0" name="Line 36"/>
            <p:cNvSpPr>
              <a:spLocks noChangeAspect="1" noChangeShapeType="1"/>
            </p:cNvSpPr>
            <p:nvPr/>
          </p:nvSpPr>
          <p:spPr bwMode="auto">
            <a:xfrm>
              <a:off x="3521" y="2392"/>
              <a:ext cx="0" cy="49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37"/>
            <p:cNvSpPr>
              <a:spLocks noChangeAspect="1" noChangeShapeType="1"/>
            </p:cNvSpPr>
            <p:nvPr/>
          </p:nvSpPr>
          <p:spPr bwMode="auto">
            <a:xfrm flipV="1">
              <a:off x="3103" y="3386"/>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2" name="Line 38"/>
            <p:cNvSpPr>
              <a:spLocks noChangeAspect="1" noChangeShapeType="1"/>
            </p:cNvSpPr>
            <p:nvPr/>
          </p:nvSpPr>
          <p:spPr bwMode="auto">
            <a:xfrm flipV="1">
              <a:off x="5063" y="3400"/>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39"/>
            <p:cNvSpPr>
              <a:spLocks noChangeAspect="1" noChangeShapeType="1"/>
            </p:cNvSpPr>
            <p:nvPr/>
          </p:nvSpPr>
          <p:spPr bwMode="auto">
            <a:xfrm flipH="1">
              <a:off x="3865" y="2664"/>
              <a:ext cx="2"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4" name="Line 40"/>
            <p:cNvSpPr>
              <a:spLocks noChangeAspect="1" noChangeShapeType="1"/>
            </p:cNvSpPr>
            <p:nvPr/>
          </p:nvSpPr>
          <p:spPr bwMode="auto">
            <a:xfrm flipH="1">
              <a:off x="4038"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5" name="Line 41"/>
            <p:cNvSpPr>
              <a:spLocks noChangeAspect="1" noChangeShapeType="1"/>
            </p:cNvSpPr>
            <p:nvPr/>
          </p:nvSpPr>
          <p:spPr bwMode="auto">
            <a:xfrm flipH="1">
              <a:off x="4211"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6" name="Line 42"/>
            <p:cNvSpPr>
              <a:spLocks noChangeAspect="1" noChangeShapeType="1"/>
            </p:cNvSpPr>
            <p:nvPr/>
          </p:nvSpPr>
          <p:spPr bwMode="auto">
            <a:xfrm flipH="1">
              <a:off x="4385" y="2664"/>
              <a:ext cx="3"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7" name="Line 43"/>
            <p:cNvSpPr>
              <a:spLocks noChangeAspect="1" noChangeShapeType="1"/>
            </p:cNvSpPr>
            <p:nvPr/>
          </p:nvSpPr>
          <p:spPr bwMode="auto">
            <a:xfrm>
              <a:off x="3867" y="2664"/>
              <a:ext cx="53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8" name="Line 44"/>
            <p:cNvSpPr>
              <a:spLocks noChangeAspect="1" noChangeShapeType="1"/>
            </p:cNvSpPr>
            <p:nvPr/>
          </p:nvSpPr>
          <p:spPr bwMode="auto">
            <a:xfrm>
              <a:off x="4718" y="2621"/>
              <a:ext cx="0" cy="27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9" name="Line 45"/>
            <p:cNvSpPr>
              <a:spLocks noChangeAspect="1" noChangeShapeType="1"/>
            </p:cNvSpPr>
            <p:nvPr/>
          </p:nvSpPr>
          <p:spPr bwMode="auto">
            <a:xfrm>
              <a:off x="4718" y="2621"/>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Text Box 46"/>
            <p:cNvSpPr txBox="1">
              <a:spLocks noChangeAspect="1" noChangeArrowheads="1"/>
            </p:cNvSpPr>
            <p:nvPr/>
          </p:nvSpPr>
          <p:spPr bwMode="auto">
            <a:xfrm>
              <a:off x="3486" y="2292"/>
              <a:ext cx="38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sp>
          <p:nvSpPr>
            <p:cNvPr id="91" name="Text Box 47"/>
            <p:cNvSpPr txBox="1">
              <a:spLocks noChangeAspect="1" noChangeArrowheads="1"/>
            </p:cNvSpPr>
            <p:nvPr/>
          </p:nvSpPr>
          <p:spPr bwMode="auto">
            <a:xfrm>
              <a:off x="4025" y="2333"/>
              <a:ext cx="31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q</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2" name="Text Box 48"/>
            <p:cNvSpPr txBox="1">
              <a:spLocks noChangeAspect="1" noChangeArrowheads="1"/>
            </p:cNvSpPr>
            <p:nvPr/>
          </p:nvSpPr>
          <p:spPr bwMode="auto">
            <a:xfrm>
              <a:off x="4674" y="2347"/>
              <a:ext cx="41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3" name="Rectangle 49"/>
            <p:cNvSpPr>
              <a:spLocks noChangeAspect="1" noChangeArrowheads="1"/>
            </p:cNvSpPr>
            <p:nvPr/>
          </p:nvSpPr>
          <p:spPr bwMode="auto">
            <a:xfrm>
              <a:off x="3089" y="1929"/>
              <a:ext cx="1960" cy="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94" name="Text Box 50"/>
            <p:cNvSpPr txBox="1">
              <a:spLocks noChangeAspect="1" noChangeArrowheads="1"/>
            </p:cNvSpPr>
            <p:nvPr/>
          </p:nvSpPr>
          <p:spPr bwMode="auto">
            <a:xfrm>
              <a:off x="3396" y="2016"/>
              <a:ext cx="11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纵向对称面</a:t>
              </a:r>
            </a:p>
          </p:txBody>
        </p:sp>
      </p:grpSp>
      <p:sp>
        <p:nvSpPr>
          <p:cNvPr id="95" name="Line 51"/>
          <p:cNvSpPr>
            <a:spLocks noChangeAspect="1" noChangeShapeType="1"/>
          </p:cNvSpPr>
          <p:nvPr/>
        </p:nvSpPr>
        <p:spPr bwMode="auto">
          <a:xfrm>
            <a:off x="7755681" y="3339835"/>
            <a:ext cx="0" cy="823912"/>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96" name="Line 52"/>
          <p:cNvSpPr>
            <a:spLocks noChangeAspect="1" noChangeShapeType="1"/>
          </p:cNvSpPr>
          <p:nvPr/>
        </p:nvSpPr>
        <p:spPr bwMode="auto">
          <a:xfrm>
            <a:off x="10889406" y="3293797"/>
            <a:ext cx="0" cy="822325"/>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97" name="Arc 54"/>
          <p:cNvSpPr>
            <a:spLocks/>
          </p:cNvSpPr>
          <p:nvPr/>
        </p:nvSpPr>
        <p:spPr bwMode="auto">
          <a:xfrm flipV="1">
            <a:off x="7787431" y="3436672"/>
            <a:ext cx="3140075" cy="550863"/>
          </a:xfrm>
          <a:custGeom>
            <a:avLst/>
            <a:gdLst>
              <a:gd name="T0" fmla="*/ 0 w 35675"/>
              <a:gd name="T1" fmla="*/ 156747959 h 21600"/>
              <a:gd name="T2" fmla="*/ 2147483647 w 35675"/>
              <a:gd name="T3" fmla="*/ 155719070 h 21600"/>
              <a:gd name="T4" fmla="*/ 2147483647 w 35675"/>
              <a:gd name="T5" fmla="*/ 358280452 h 21600"/>
              <a:gd name="T6" fmla="*/ 0 60000 65536"/>
              <a:gd name="T7" fmla="*/ 0 60000 65536"/>
              <a:gd name="T8" fmla="*/ 0 60000 65536"/>
              <a:gd name="T9" fmla="*/ 0 w 35675"/>
              <a:gd name="T10" fmla="*/ 0 h 21600"/>
              <a:gd name="T11" fmla="*/ 35675 w 35675"/>
              <a:gd name="T12" fmla="*/ 21600 h 21600"/>
            </a:gdLst>
            <a:ahLst/>
            <a:cxnLst>
              <a:cxn ang="T6">
                <a:pos x="T0" y="T1"/>
              </a:cxn>
              <a:cxn ang="T7">
                <a:pos x="T2" y="T3"/>
              </a:cxn>
              <a:cxn ang="T8">
                <a:pos x="T4" y="T5"/>
              </a:cxn>
            </a:cxnLst>
            <a:rect l="T9" t="T10" r="T11" b="T12"/>
            <a:pathLst>
              <a:path w="35675" h="21600" fill="none" extrusionOk="0">
                <a:moveTo>
                  <a:pt x="0" y="9450"/>
                </a:moveTo>
                <a:cubicBezTo>
                  <a:pt x="4022" y="3538"/>
                  <a:pt x="10708" y="-1"/>
                  <a:pt x="17859" y="0"/>
                </a:cubicBezTo>
                <a:cubicBezTo>
                  <a:pt x="24982" y="0"/>
                  <a:pt x="31647" y="3512"/>
                  <a:pt x="35675" y="9387"/>
                </a:cubicBezTo>
              </a:path>
              <a:path w="35675" h="21600" stroke="0" extrusionOk="0">
                <a:moveTo>
                  <a:pt x="0" y="9450"/>
                </a:moveTo>
                <a:cubicBezTo>
                  <a:pt x="4022" y="3538"/>
                  <a:pt x="10708" y="-1"/>
                  <a:pt x="17859" y="0"/>
                </a:cubicBezTo>
                <a:cubicBezTo>
                  <a:pt x="24982" y="0"/>
                  <a:pt x="31647" y="3512"/>
                  <a:pt x="35675" y="9387"/>
                </a:cubicBezTo>
                <a:lnTo>
                  <a:pt x="17859" y="21600"/>
                </a:lnTo>
                <a:close/>
              </a:path>
            </a:pathLst>
          </a:custGeom>
          <a:noFill/>
          <a:ln w="38100">
            <a:solidFill>
              <a:srgbClr val="3333CC"/>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8" name="Line 55"/>
          <p:cNvSpPr>
            <a:spLocks noChangeShapeType="1"/>
          </p:cNvSpPr>
          <p:nvPr/>
        </p:nvSpPr>
        <p:spPr bwMode="auto">
          <a:xfrm flipV="1">
            <a:off x="10873531" y="4162160"/>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99" name="Line 56"/>
          <p:cNvSpPr>
            <a:spLocks noChangeShapeType="1"/>
          </p:cNvSpPr>
          <p:nvPr/>
        </p:nvSpPr>
        <p:spPr bwMode="auto">
          <a:xfrm flipV="1">
            <a:off x="7757269" y="4124060"/>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Tree>
    <p:extLst>
      <p:ext uri="{BB962C8B-B14F-4D97-AF65-F5344CB8AC3E}">
        <p14:creationId xmlns:p14="http://schemas.microsoft.com/office/powerpoint/2010/main" val="22090473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23" presetClass="entr" presetSubtype="272"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p:cTn id="15" dur="3000" fill="hold"/>
                                        <p:tgtEl>
                                          <p:spTgt spid="50"/>
                                        </p:tgtEl>
                                        <p:attrNameLst>
                                          <p:attrName>ppt_w</p:attrName>
                                        </p:attrNameLst>
                                      </p:cBhvr>
                                      <p:tavLst>
                                        <p:tav tm="0">
                                          <p:val>
                                            <p:strVal val="2/3*#ppt_w"/>
                                          </p:val>
                                        </p:tav>
                                        <p:tav tm="100000">
                                          <p:val>
                                            <p:strVal val="#ppt_w"/>
                                          </p:val>
                                        </p:tav>
                                      </p:tavLst>
                                    </p:anim>
                                    <p:anim calcmode="lin" valueType="num">
                                      <p:cBhvr>
                                        <p:cTn id="16" dur="3000" fill="hold"/>
                                        <p:tgtEl>
                                          <p:spTgt spid="5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ASHREG.WAV"/>
                                        </p:tgtEl>
                                      </p:cMediaNode>
                                    </p:audio>
                                  </p:sub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95"/>
                                        </p:tgtEl>
                                        <p:attrNameLst>
                                          <p:attrName>style.visibility</p:attrName>
                                        </p:attrNameLst>
                                      </p:cBhvr>
                                      <p:to>
                                        <p:strVal val="visible"/>
                                      </p:to>
                                    </p:set>
                                    <p:animEffect transition="in" filter="barn(outHorizontal)">
                                      <p:cBhvr>
                                        <p:cTn id="21" dur="3000"/>
                                        <p:tgtEl>
                                          <p:spTgt spid="95"/>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par>
                          <p:cTn id="22" fill="hold">
                            <p:stCondLst>
                              <p:cond delay="3000"/>
                            </p:stCondLst>
                            <p:childTnLst>
                              <p:par>
                                <p:cTn id="23" presetID="16" presetClass="entr" presetSubtype="42" fill="hold" grpId="0" nodeType="afterEffect">
                                  <p:stCondLst>
                                    <p:cond delay="1000"/>
                                  </p:stCondLst>
                                  <p:childTnLst>
                                    <p:set>
                                      <p:cBhvr>
                                        <p:cTn id="24" dur="1" fill="hold">
                                          <p:stCondLst>
                                            <p:cond delay="0"/>
                                          </p:stCondLst>
                                        </p:cTn>
                                        <p:tgtEl>
                                          <p:spTgt spid="96"/>
                                        </p:tgtEl>
                                        <p:attrNameLst>
                                          <p:attrName>style.visibility</p:attrName>
                                        </p:attrNameLst>
                                      </p:cBhvr>
                                      <p:to>
                                        <p:strVal val="visible"/>
                                      </p:to>
                                    </p:set>
                                    <p:animEffect transition="in" filter="barn(outHorizontal)">
                                      <p:cBhvr>
                                        <p:cTn id="25" dur="3000"/>
                                        <p:tgtEl>
                                          <p:spTgt spid="96"/>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par>
                          <p:cTn id="26" fill="hold">
                            <p:stCondLst>
                              <p:cond delay="7000"/>
                            </p:stCondLst>
                            <p:childTnLst>
                              <p:par>
                                <p:cTn id="27" presetID="22" presetClass="entr" presetSubtype="8" fill="hold" grpId="0" nodeType="afterEffect">
                                  <p:stCondLst>
                                    <p:cond delay="1500"/>
                                  </p:stCondLst>
                                  <p:childTnLst>
                                    <p:set>
                                      <p:cBhvr>
                                        <p:cTn id="28" dur="1" fill="hold">
                                          <p:stCondLst>
                                            <p:cond delay="0"/>
                                          </p:stCondLst>
                                        </p:cTn>
                                        <p:tgtEl>
                                          <p:spTgt spid="49"/>
                                        </p:tgtEl>
                                        <p:attrNameLst>
                                          <p:attrName>style.visibility</p:attrName>
                                        </p:attrNameLst>
                                      </p:cBhvr>
                                      <p:to>
                                        <p:strVal val="visible"/>
                                      </p:to>
                                    </p:set>
                                    <p:animEffect transition="in" filter="wipe(left)">
                                      <p:cBhvr>
                                        <p:cTn id="29" dur="3000"/>
                                        <p:tgtEl>
                                          <p:spTgt spid="49"/>
                                        </p:tgtEl>
                                      </p:cBhvr>
                                    </p:animEffect>
                                  </p:childTnLst>
                                  <p:subTnLst>
                                    <p:audio>
                                      <p:cMediaNode>
                                        <p:cTn display="0" masterRel="sameClick">
                                          <p:stCondLst>
                                            <p:cond evt="begin" delay="0">
                                              <p:tn val="27"/>
                                            </p:cond>
                                          </p:stCondLst>
                                          <p:endCondLst>
                                            <p:cond evt="onStopAudio" delay="0">
                                              <p:tgtEl>
                                                <p:sldTgt/>
                                              </p:tgtEl>
                                            </p:cond>
                                          </p:endCondLst>
                                        </p:cTn>
                                        <p:tgtEl>
                                          <p:sndTgt r:embed="rId5" name="CAMERA.WAV"/>
                                        </p:tgtEl>
                                      </p:cMediaNode>
                                    </p:audio>
                                  </p:subTnLst>
                                </p:cTn>
                              </p:par>
                            </p:childTnLst>
                          </p:cTn>
                        </p:par>
                        <p:par>
                          <p:cTn id="30" fill="hold">
                            <p:stCondLst>
                              <p:cond delay="11500"/>
                            </p:stCondLst>
                            <p:childTnLst>
                              <p:par>
                                <p:cTn id="31" presetID="12" presetClass="entr" presetSubtype="1" fill="hold" nodeType="afterEffect">
                                  <p:stCondLst>
                                    <p:cond delay="2000"/>
                                  </p:stCondLst>
                                  <p:childTnLst>
                                    <p:set>
                                      <p:cBhvr>
                                        <p:cTn id="32" dur="1" fill="hold">
                                          <p:stCondLst>
                                            <p:cond delay="0"/>
                                          </p:stCondLst>
                                        </p:cTn>
                                        <p:tgtEl>
                                          <p:spTgt spid="76"/>
                                        </p:tgtEl>
                                        <p:attrNameLst>
                                          <p:attrName>style.visibility</p:attrName>
                                        </p:attrNameLst>
                                      </p:cBhvr>
                                      <p:to>
                                        <p:strVal val="visible"/>
                                      </p:to>
                                    </p:set>
                                    <p:animEffect transition="in" filter="slide(fromTop)">
                                      <p:cBhvr>
                                        <p:cTn id="33" dur="5000"/>
                                        <p:tgtEl>
                                          <p:spTgt spid="76"/>
                                        </p:tgtEl>
                                      </p:cBhvr>
                                    </p:animEffect>
                                  </p:childTnLst>
                                  <p:subTnLst>
                                    <p:audio>
                                      <p:cMediaNode>
                                        <p:cTn display="0" masterRel="sameClick">
                                          <p:stCondLst>
                                            <p:cond evt="begin" delay="0">
                                              <p:tn val="31"/>
                                            </p:cond>
                                          </p:stCondLst>
                                          <p:endCondLst>
                                            <p:cond evt="onStopAudio" delay="0">
                                              <p:tgtEl>
                                                <p:sldTgt/>
                                              </p:tgtEl>
                                            </p:cond>
                                          </p:endCondLst>
                                        </p:cTn>
                                        <p:tgtEl>
                                          <p:sndTgt r:embed="rId3" name="CASHREG.WAV"/>
                                        </p:tgtEl>
                                      </p:cMediaNode>
                                    </p:audio>
                                  </p:sub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99"/>
                                        </p:tgtEl>
                                        <p:attrNameLst>
                                          <p:attrName>style.visibility</p:attrName>
                                        </p:attrNameLst>
                                      </p:cBhvr>
                                      <p:to>
                                        <p:strVal val="visible"/>
                                      </p:to>
                                    </p:set>
                                    <p:animEffect transition="in" filter="slide(fromBottom)">
                                      <p:cBhvr>
                                        <p:cTn id="38" dur="5000"/>
                                        <p:tgtEl>
                                          <p:spTgt spid="99"/>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slide(fromBottom)">
                                      <p:cBhvr>
                                        <p:cTn id="41" dur="5000"/>
                                        <p:tgtEl>
                                          <p:spTgt spid="98"/>
                                        </p:tgtEl>
                                      </p:cBhvr>
                                    </p:animEffect>
                                  </p:childTnLst>
                                </p:cTn>
                              </p:par>
                            </p:childTnLst>
                          </p:cTn>
                        </p:par>
                        <p:par>
                          <p:cTn id="42" fill="hold">
                            <p:stCondLst>
                              <p:cond delay="5000"/>
                            </p:stCondLst>
                            <p:childTnLst>
                              <p:par>
                                <p:cTn id="43" presetID="20" presetClass="entr" presetSubtype="0" fill="hold" grpId="0" nodeType="after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wedge">
                                      <p:cBhvr>
                                        <p:cTn id="45" dur="2000"/>
                                        <p:tgtEl>
                                          <p:spTgt spid="74"/>
                                        </p:tgtEl>
                                      </p:cBhvr>
                                    </p:animEffect>
                                  </p:childTnLst>
                                </p:cTn>
                              </p:par>
                              <p:par>
                                <p:cTn id="46" presetID="20" presetClass="entr" presetSubtype="0" fill="hold" grpId="0" nodeType="with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wedge">
                                      <p:cBhvr>
                                        <p:cTn id="48" dur="2000"/>
                                        <p:tgtEl>
                                          <p:spTgt spid="75"/>
                                        </p:tgtEl>
                                      </p:cBhvr>
                                    </p:animEffect>
                                  </p:childTnLst>
                                </p:cTn>
                              </p:par>
                            </p:childTnLst>
                          </p:cTn>
                        </p:par>
                        <p:par>
                          <p:cTn id="49" fill="hold">
                            <p:stCondLst>
                              <p:cond delay="7000"/>
                            </p:stCondLst>
                            <p:childTnLst>
                              <p:par>
                                <p:cTn id="50" presetID="17" presetClass="entr" presetSubtype="1" fill="hold" grpId="0" nodeType="afterEffect">
                                  <p:stCondLst>
                                    <p:cond delay="0"/>
                                  </p:stCondLst>
                                  <p:childTnLst>
                                    <p:set>
                                      <p:cBhvr>
                                        <p:cTn id="51" dur="1" fill="hold">
                                          <p:stCondLst>
                                            <p:cond delay="0"/>
                                          </p:stCondLst>
                                        </p:cTn>
                                        <p:tgtEl>
                                          <p:spTgt spid="97"/>
                                        </p:tgtEl>
                                        <p:attrNameLst>
                                          <p:attrName>style.visibility</p:attrName>
                                        </p:attrNameLst>
                                      </p:cBhvr>
                                      <p:to>
                                        <p:strVal val="visible"/>
                                      </p:to>
                                    </p:set>
                                    <p:anim calcmode="lin" valueType="num">
                                      <p:cBhvr>
                                        <p:cTn id="52" dur="5000" fill="hold"/>
                                        <p:tgtEl>
                                          <p:spTgt spid="97"/>
                                        </p:tgtEl>
                                        <p:attrNameLst>
                                          <p:attrName>ppt_x</p:attrName>
                                        </p:attrNameLst>
                                      </p:cBhvr>
                                      <p:tavLst>
                                        <p:tav tm="0">
                                          <p:val>
                                            <p:strVal val="#ppt_x"/>
                                          </p:val>
                                        </p:tav>
                                        <p:tav tm="100000">
                                          <p:val>
                                            <p:strVal val="#ppt_x"/>
                                          </p:val>
                                        </p:tav>
                                      </p:tavLst>
                                    </p:anim>
                                    <p:anim calcmode="lin" valueType="num">
                                      <p:cBhvr>
                                        <p:cTn id="53" dur="5000" fill="hold"/>
                                        <p:tgtEl>
                                          <p:spTgt spid="97"/>
                                        </p:tgtEl>
                                        <p:attrNameLst>
                                          <p:attrName>ppt_y</p:attrName>
                                        </p:attrNameLst>
                                      </p:cBhvr>
                                      <p:tavLst>
                                        <p:tav tm="0">
                                          <p:val>
                                            <p:strVal val="#ppt_y-#ppt_h/2"/>
                                          </p:val>
                                        </p:tav>
                                        <p:tav tm="100000">
                                          <p:val>
                                            <p:strVal val="#ppt_y"/>
                                          </p:val>
                                        </p:tav>
                                      </p:tavLst>
                                    </p:anim>
                                    <p:anim calcmode="lin" valueType="num">
                                      <p:cBhvr>
                                        <p:cTn id="54" dur="5000" fill="hold"/>
                                        <p:tgtEl>
                                          <p:spTgt spid="97"/>
                                        </p:tgtEl>
                                        <p:attrNameLst>
                                          <p:attrName>ppt_w</p:attrName>
                                        </p:attrNameLst>
                                      </p:cBhvr>
                                      <p:tavLst>
                                        <p:tav tm="0">
                                          <p:val>
                                            <p:strVal val="#ppt_w"/>
                                          </p:val>
                                        </p:tav>
                                        <p:tav tm="100000">
                                          <p:val>
                                            <p:strVal val="#ppt_w"/>
                                          </p:val>
                                        </p:tav>
                                      </p:tavLst>
                                    </p:anim>
                                    <p:anim calcmode="lin" valueType="num">
                                      <p:cBhvr>
                                        <p:cTn id="55" dur="5000" fill="hold"/>
                                        <p:tgtEl>
                                          <p:spTgt spid="9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49" grpId="0" animBg="1"/>
      <p:bldP spid="74" grpId="0" autoUpdateAnimBg="0"/>
      <p:bldP spid="75" grpId="0" autoUpdateAnimBg="0"/>
      <p:bldP spid="95" grpId="0" animBg="1"/>
      <p:bldP spid="96" grpId="0" animBg="1"/>
      <p:bldP spid="97" grpId="0" animBg="1"/>
      <p:bldP spid="98" grpId="0" animBg="1"/>
      <p:bldP spid="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887519"/>
            <a:ext cx="8480145"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支座的简化</a:t>
            </a:r>
          </a:p>
          <a:p>
            <a:pPr>
              <a:lnSpc>
                <a:spcPct val="130000"/>
              </a:lnSpc>
            </a:pPr>
            <a:endParaRPr lang="zh-CN" altLang="en-US" sz="2800" i="0" dirty="0">
              <a:solidFill>
                <a:srgbClr val="FF00FF"/>
              </a:solidFill>
              <a:latin typeface="+mj-lt"/>
              <a:ea typeface="微软雅黑" panose="020B0503020204020204" pitchFamily="34" charset="-122"/>
            </a:endParaRPr>
          </a:p>
        </p:txBody>
      </p:sp>
      <p:sp>
        <p:nvSpPr>
          <p:cNvPr id="9" name="Rectangle 61"/>
          <p:cNvSpPr>
            <a:spLocks noChangeArrowheads="1"/>
          </p:cNvSpPr>
          <p:nvPr/>
        </p:nvSpPr>
        <p:spPr bwMode="auto">
          <a:xfrm>
            <a:off x="6240017" y="1052736"/>
            <a:ext cx="5507210" cy="5184576"/>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484784"/>
            <a:ext cx="5616624"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按支座对梁的约束作用不同，可按照静力学分析，用活动铰支座、固定铰支座及固定端支座进行简化。</a:t>
            </a:r>
            <a:endParaRPr lang="zh-CN" altLang="en-US" sz="2800" i="0" dirty="0">
              <a:latin typeface="+mj-lt"/>
              <a:ea typeface="微软雅黑" panose="020B0503020204020204" pitchFamily="34" charset="-122"/>
            </a:endParaRPr>
          </a:p>
        </p:txBody>
      </p:sp>
      <p:sp>
        <p:nvSpPr>
          <p:cNvPr id="45" name="Rectangle 38"/>
          <p:cNvSpPr>
            <a:spLocks noChangeArrowheads="1"/>
          </p:cNvSpPr>
          <p:nvPr/>
        </p:nvSpPr>
        <p:spPr bwMode="auto">
          <a:xfrm>
            <a:off x="6384652" y="1188848"/>
            <a:ext cx="2251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a) </a:t>
            </a:r>
            <a:r>
              <a:rPr lang="zh-CN" altLang="en-US" sz="2000" i="0" dirty="0">
                <a:solidFill>
                  <a:schemeClr val="tx1"/>
                </a:solidFill>
                <a:latin typeface="Times New Roman" pitchFamily="18" charset="0"/>
                <a:ea typeface="宋体" pitchFamily="2" charset="-122"/>
              </a:rPr>
              <a:t>滑动铰支座</a:t>
            </a:r>
          </a:p>
        </p:txBody>
      </p:sp>
      <p:pic>
        <p:nvPicPr>
          <p:cNvPr id="46" name="Picture 107"/>
          <p:cNvPicPr>
            <a:picLocks noChangeAspect="1" noChangeArrowheads="1"/>
          </p:cNvPicPr>
          <p:nvPr/>
        </p:nvPicPr>
        <p:blipFill rotWithShape="1">
          <a:blip r:embed="rId3">
            <a:extLst>
              <a:ext uri="{28A0092B-C50C-407E-A947-70E740481C1C}">
                <a14:useLocalDpi xmlns:a14="http://schemas.microsoft.com/office/drawing/2010/main" val="0"/>
              </a:ext>
            </a:extLst>
          </a:blip>
          <a:srcRect b="15896"/>
          <a:stretch/>
        </p:blipFill>
        <p:spPr>
          <a:xfrm>
            <a:off x="6672064" y="1648896"/>
            <a:ext cx="4283075" cy="9880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 name="Rectangle 109"/>
          <p:cNvSpPr>
            <a:spLocks noChangeArrowheads="1"/>
          </p:cNvSpPr>
          <p:nvPr/>
        </p:nvSpPr>
        <p:spPr bwMode="auto">
          <a:xfrm>
            <a:off x="6355972" y="2779290"/>
            <a:ext cx="2251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b) </a:t>
            </a:r>
            <a:r>
              <a:rPr lang="zh-CN" altLang="en-US" sz="2000" i="0" dirty="0">
                <a:solidFill>
                  <a:schemeClr val="tx1"/>
                </a:solidFill>
                <a:latin typeface="Times New Roman" pitchFamily="18" charset="0"/>
                <a:ea typeface="宋体" pitchFamily="2" charset="-122"/>
              </a:rPr>
              <a:t>固定铰支座</a:t>
            </a:r>
          </a:p>
        </p:txBody>
      </p:sp>
      <p:pic>
        <p:nvPicPr>
          <p:cNvPr id="48" name="Picture 113"/>
          <p:cNvPicPr>
            <a:picLocks noChangeAspect="1" noChangeArrowheads="1"/>
          </p:cNvPicPr>
          <p:nvPr/>
        </p:nvPicPr>
        <p:blipFill rotWithShape="1">
          <a:blip r:embed="rId4">
            <a:extLst>
              <a:ext uri="{28A0092B-C50C-407E-A947-70E740481C1C}">
                <a14:useLocalDpi xmlns:a14="http://schemas.microsoft.com/office/drawing/2010/main" val="0"/>
              </a:ext>
            </a:extLst>
          </a:blip>
          <a:srcRect b="20323"/>
          <a:stretch/>
        </p:blipFill>
        <p:spPr>
          <a:xfrm>
            <a:off x="6528048" y="3273276"/>
            <a:ext cx="4814887" cy="958776"/>
          </a:xfrm>
          <a:prstGeom prst="rect">
            <a:avLst/>
          </a:prstGeom>
          <a:noFill/>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cmpd="sng" algn="ctr">
                <a:solidFill>
                  <a:schemeClr val="tx1"/>
                </a:solidFill>
                <a:prstDash val="solid"/>
                <a:miter lim="800000"/>
                <a:headEnd/>
                <a:tailEnd/>
              </a14:hiddenLine>
            </a:ext>
          </a:extLst>
        </p:spPr>
      </p:pic>
      <p:sp>
        <p:nvSpPr>
          <p:cNvPr id="51" name="Rectangle 38"/>
          <p:cNvSpPr>
            <a:spLocks noChangeArrowheads="1"/>
          </p:cNvSpPr>
          <p:nvPr/>
        </p:nvSpPr>
        <p:spPr bwMode="auto">
          <a:xfrm>
            <a:off x="6438532" y="4402322"/>
            <a:ext cx="14874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c)</a:t>
            </a:r>
            <a:r>
              <a:rPr lang="zh-CN" altLang="en-US" sz="2000" i="0" dirty="0">
                <a:solidFill>
                  <a:schemeClr val="tx1"/>
                </a:solidFill>
                <a:latin typeface="Times New Roman" pitchFamily="18" charset="0"/>
                <a:ea typeface="宋体" pitchFamily="2" charset="-122"/>
              </a:rPr>
              <a:t>固定端</a:t>
            </a:r>
          </a:p>
        </p:txBody>
      </p:sp>
      <p:pic>
        <p:nvPicPr>
          <p:cNvPr id="53" name="Picture 99"/>
          <p:cNvPicPr>
            <a:picLocks noChangeAspect="1" noChangeArrowheads="1"/>
          </p:cNvPicPr>
          <p:nvPr/>
        </p:nvPicPr>
        <p:blipFill rotWithShape="1">
          <a:blip r:embed="rId5">
            <a:extLst>
              <a:ext uri="{28A0092B-C50C-407E-A947-70E740481C1C}">
                <a14:useLocalDpi xmlns:a14="http://schemas.microsoft.com/office/drawing/2010/main" val="0"/>
              </a:ext>
            </a:extLst>
          </a:blip>
          <a:srcRect b="16257"/>
          <a:stretch/>
        </p:blipFill>
        <p:spPr>
          <a:xfrm>
            <a:off x="6444075" y="4774481"/>
            <a:ext cx="5219700" cy="1340059"/>
          </a:xfrm>
          <a:prstGeom prst="rect">
            <a:avLst/>
          </a:prstGeom>
          <a:noFill/>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cmpd="sng" algn="ctr">
                <a:solidFill>
                  <a:schemeClr val="tx1"/>
                </a:solidFill>
                <a:prstDash val="solid"/>
                <a:miter lim="800000"/>
                <a:headEnd/>
                <a:tailEnd/>
              </a14:hiddenLine>
            </a:ext>
          </a:extLst>
        </p:spPr>
      </p:pic>
    </p:spTree>
    <p:extLst>
      <p:ext uri="{BB962C8B-B14F-4D97-AF65-F5344CB8AC3E}">
        <p14:creationId xmlns:p14="http://schemas.microsoft.com/office/powerpoint/2010/main" val="38796357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45" grpId="0"/>
      <p:bldP spid="47" grpId="0"/>
      <p:bldP spid="5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887519"/>
            <a:ext cx="8480145"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静定梁的基本形式</a:t>
            </a:r>
          </a:p>
        </p:txBody>
      </p:sp>
      <p:sp>
        <p:nvSpPr>
          <p:cNvPr id="9" name="Rectangle 61"/>
          <p:cNvSpPr>
            <a:spLocks noChangeArrowheads="1"/>
          </p:cNvSpPr>
          <p:nvPr/>
        </p:nvSpPr>
        <p:spPr bwMode="auto">
          <a:xfrm>
            <a:off x="839416" y="4509120"/>
            <a:ext cx="10331747" cy="1752307"/>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528301"/>
            <a:ext cx="8784976"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根据支承情况，可将梁简化为三种形式： </a:t>
            </a:r>
          </a:p>
          <a:p>
            <a:pPr>
              <a:lnSpc>
                <a:spcPct val="130000"/>
              </a:lnSpc>
            </a:pPr>
            <a:r>
              <a:rPr lang="en-US" altLang="zh-CN" sz="2800" i="0" dirty="0">
                <a:latin typeface="+mn-lt"/>
                <a:ea typeface="微软雅黑" panose="020B0503020204020204" pitchFamily="34" charset="-122"/>
              </a:rPr>
              <a:t>1) </a:t>
            </a:r>
            <a:r>
              <a:rPr lang="zh-CN" altLang="en-US" sz="2800" i="0" dirty="0">
                <a:solidFill>
                  <a:srgbClr val="FF0000"/>
                </a:solidFill>
                <a:latin typeface="+mn-lt"/>
                <a:ea typeface="微软雅黑" panose="020B0503020204020204" pitchFamily="34" charset="-122"/>
              </a:rPr>
              <a:t>简支梁</a:t>
            </a:r>
            <a:r>
              <a:rPr lang="zh-CN" altLang="en-US" sz="2800" i="0" dirty="0">
                <a:latin typeface="+mn-lt"/>
                <a:ea typeface="微软雅黑" panose="020B0503020204020204" pitchFamily="34" charset="-122"/>
              </a:rPr>
              <a:t>  一端为固定铰支座，一端活动铰支座的梁</a:t>
            </a:r>
          </a:p>
          <a:p>
            <a:pPr>
              <a:lnSpc>
                <a:spcPct val="130000"/>
              </a:lnSpc>
            </a:pPr>
            <a:r>
              <a:rPr lang="en-US" altLang="zh-CN" sz="2800" i="0" dirty="0">
                <a:latin typeface="+mn-lt"/>
                <a:ea typeface="微软雅黑" panose="020B0503020204020204" pitchFamily="34" charset="-122"/>
              </a:rPr>
              <a:t>2) </a:t>
            </a:r>
            <a:r>
              <a:rPr lang="zh-CN" altLang="en-US" sz="2800" i="0" dirty="0">
                <a:solidFill>
                  <a:srgbClr val="FF0000"/>
                </a:solidFill>
                <a:latin typeface="+mn-lt"/>
                <a:ea typeface="微软雅黑" panose="020B0503020204020204" pitchFamily="34" charset="-122"/>
              </a:rPr>
              <a:t>外伸梁</a:t>
            </a:r>
            <a:r>
              <a:rPr lang="zh-CN" altLang="en-US" sz="2800" i="0" dirty="0">
                <a:latin typeface="+mn-lt"/>
                <a:ea typeface="微软雅黑" panose="020B0503020204020204" pitchFamily="34" charset="-122"/>
              </a:rPr>
              <a:t>  具有一端或两端外伸部分的简支梁</a:t>
            </a:r>
          </a:p>
          <a:p>
            <a:pPr>
              <a:lnSpc>
                <a:spcPct val="130000"/>
              </a:lnSpc>
            </a:pPr>
            <a:r>
              <a:rPr lang="en-US" altLang="zh-CN" sz="2800" i="0" dirty="0">
                <a:latin typeface="+mn-lt"/>
                <a:ea typeface="微软雅黑" panose="020B0503020204020204" pitchFamily="34" charset="-122"/>
              </a:rPr>
              <a:t>3) </a:t>
            </a:r>
            <a:r>
              <a:rPr lang="zh-CN" altLang="en-US" sz="2800" i="0" dirty="0">
                <a:solidFill>
                  <a:srgbClr val="FF0000"/>
                </a:solidFill>
                <a:latin typeface="+mn-lt"/>
                <a:ea typeface="微软雅黑" panose="020B0503020204020204" pitchFamily="34" charset="-122"/>
              </a:rPr>
              <a:t>悬臂梁</a:t>
            </a:r>
            <a:r>
              <a:rPr lang="zh-CN" altLang="en-US" sz="2800" i="0" dirty="0">
                <a:latin typeface="+mn-lt"/>
                <a:ea typeface="微软雅黑" panose="020B0503020204020204" pitchFamily="34" charset="-122"/>
              </a:rPr>
              <a:t>  一端为固定端支座</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另一端自由的梁</a:t>
            </a:r>
          </a:p>
        </p:txBody>
      </p:sp>
      <p:grpSp>
        <p:nvGrpSpPr>
          <p:cNvPr id="12" name="Group 7"/>
          <p:cNvGrpSpPr>
            <a:grpSpLocks/>
          </p:cNvGrpSpPr>
          <p:nvPr/>
        </p:nvGrpSpPr>
        <p:grpSpPr bwMode="auto">
          <a:xfrm rot="10800000" flipH="1" flipV="1">
            <a:off x="8101241" y="5205886"/>
            <a:ext cx="149225" cy="381000"/>
            <a:chOff x="253" y="271"/>
            <a:chExt cx="94" cy="240"/>
          </a:xfrm>
        </p:grpSpPr>
        <p:sp>
          <p:nvSpPr>
            <p:cNvPr id="13" name="Line 8"/>
            <p:cNvSpPr>
              <a:spLocks noChangeAspect="1" noChangeShapeType="1"/>
            </p:cNvSpPr>
            <p:nvPr/>
          </p:nvSpPr>
          <p:spPr bwMode="auto">
            <a:xfrm rot="5400000" flipH="1">
              <a:off x="227" y="389"/>
              <a:ext cx="238" cy="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9"/>
            <p:cNvSpPr>
              <a:spLocks noChangeAspect="1" noChangeShapeType="1"/>
            </p:cNvSpPr>
            <p:nvPr/>
          </p:nvSpPr>
          <p:spPr bwMode="auto">
            <a:xfrm rot="5400000">
              <a:off x="250" y="277"/>
              <a:ext cx="33" cy="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10"/>
            <p:cNvSpPr>
              <a:spLocks noChangeAspect="1" noChangeShapeType="1"/>
            </p:cNvSpPr>
            <p:nvPr/>
          </p:nvSpPr>
          <p:spPr bwMode="auto">
            <a:xfrm rot="5400000">
              <a:off x="251" y="282"/>
              <a:ext cx="86"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11"/>
            <p:cNvSpPr>
              <a:spLocks noChangeAspect="1" noChangeShapeType="1"/>
            </p:cNvSpPr>
            <p:nvPr/>
          </p:nvSpPr>
          <p:spPr bwMode="auto">
            <a:xfrm rot="5400000">
              <a:off x="252" y="350"/>
              <a:ext cx="86"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12"/>
            <p:cNvSpPr>
              <a:spLocks noChangeAspect="1" noChangeShapeType="1"/>
            </p:cNvSpPr>
            <p:nvPr/>
          </p:nvSpPr>
          <p:spPr bwMode="auto">
            <a:xfrm rot="5400000">
              <a:off x="250" y="417"/>
              <a:ext cx="87"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13"/>
            <p:cNvSpPr>
              <a:spLocks noChangeAspect="1" noChangeShapeType="1"/>
            </p:cNvSpPr>
            <p:nvPr/>
          </p:nvSpPr>
          <p:spPr bwMode="auto">
            <a:xfrm rot="5400000">
              <a:off x="296" y="473"/>
              <a:ext cx="41" cy="3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 name="Line 14"/>
          <p:cNvSpPr>
            <a:spLocks noChangeShapeType="1"/>
          </p:cNvSpPr>
          <p:nvPr/>
        </p:nvSpPr>
        <p:spPr bwMode="auto">
          <a:xfrm>
            <a:off x="8231416" y="5385274"/>
            <a:ext cx="159067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cxnSp>
        <p:nvCxnSpPr>
          <p:cNvPr id="22" name="直接连接符 70"/>
          <p:cNvCxnSpPr>
            <a:cxnSpLocks noChangeShapeType="1"/>
          </p:cNvCxnSpPr>
          <p:nvPr/>
        </p:nvCxnSpPr>
        <p:spPr bwMode="auto">
          <a:xfrm>
            <a:off x="2525350" y="5243032"/>
            <a:ext cx="1700625"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 name="组合 71"/>
          <p:cNvGrpSpPr>
            <a:grpSpLocks/>
          </p:cNvGrpSpPr>
          <p:nvPr/>
        </p:nvGrpSpPr>
        <p:grpSpPr bwMode="auto">
          <a:xfrm>
            <a:off x="2435792" y="5220173"/>
            <a:ext cx="4654862" cy="459427"/>
            <a:chOff x="4470699" y="5026678"/>
            <a:chExt cx="5026509" cy="495823"/>
          </a:xfrm>
        </p:grpSpPr>
        <p:grpSp>
          <p:nvGrpSpPr>
            <p:cNvPr id="24" name="组合 72"/>
            <p:cNvGrpSpPr>
              <a:grpSpLocks/>
            </p:cNvGrpSpPr>
            <p:nvPr/>
          </p:nvGrpSpPr>
          <p:grpSpPr bwMode="auto">
            <a:xfrm>
              <a:off x="6199814" y="5451033"/>
              <a:ext cx="473132" cy="71468"/>
              <a:chOff x="2321750" y="5453423"/>
              <a:chExt cx="473132" cy="71468"/>
            </a:xfrm>
          </p:grpSpPr>
          <p:cxnSp>
            <p:nvCxnSpPr>
              <p:cNvPr id="28" name="直接连接符 76"/>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77"/>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78"/>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79"/>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80"/>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81"/>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82"/>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83"/>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 name="等腰三角形 73"/>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 name="椭圆 74"/>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 name="椭圆 75"/>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8" name="椭圆 74"/>
            <p:cNvSpPr>
              <a:spLocks noChangeArrowheads="1"/>
            </p:cNvSpPr>
            <p:nvPr/>
          </p:nvSpPr>
          <p:spPr bwMode="auto">
            <a:xfrm>
              <a:off x="6402338"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9" name="椭圆 74"/>
            <p:cNvSpPr>
              <a:spLocks noChangeArrowheads="1"/>
            </p:cNvSpPr>
            <p:nvPr/>
          </p:nvSpPr>
          <p:spPr bwMode="auto">
            <a:xfrm>
              <a:off x="4470699"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0" name="椭圆 74"/>
            <p:cNvSpPr>
              <a:spLocks noChangeArrowheads="1"/>
            </p:cNvSpPr>
            <p:nvPr/>
          </p:nvSpPr>
          <p:spPr bwMode="auto">
            <a:xfrm>
              <a:off x="7516220"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1" name="椭圆 74"/>
            <p:cNvSpPr>
              <a:spLocks noChangeArrowheads="1"/>
            </p:cNvSpPr>
            <p:nvPr/>
          </p:nvSpPr>
          <p:spPr bwMode="auto">
            <a:xfrm>
              <a:off x="9429701"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36" name="组合 85"/>
          <p:cNvGrpSpPr>
            <a:grpSpLocks/>
          </p:cNvGrpSpPr>
          <p:nvPr/>
        </p:nvGrpSpPr>
        <p:grpSpPr bwMode="auto">
          <a:xfrm>
            <a:off x="2272791" y="5287681"/>
            <a:ext cx="354013" cy="315913"/>
            <a:chOff x="2312606" y="5094185"/>
            <a:chExt cx="473132" cy="424341"/>
          </a:xfrm>
        </p:grpSpPr>
        <p:sp>
          <p:nvSpPr>
            <p:cNvPr id="37" name="等腰三角形 86"/>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38" name="组合 87"/>
            <p:cNvGrpSpPr>
              <a:grpSpLocks/>
            </p:cNvGrpSpPr>
            <p:nvPr/>
          </p:nvGrpSpPr>
          <p:grpSpPr bwMode="auto">
            <a:xfrm>
              <a:off x="2312606" y="5447058"/>
              <a:ext cx="473132" cy="71468"/>
              <a:chOff x="2321750" y="5453423"/>
              <a:chExt cx="473132" cy="71468"/>
            </a:xfrm>
          </p:grpSpPr>
          <p:cxnSp>
            <p:nvCxnSpPr>
              <p:cNvPr id="39" name="直接连接符 88"/>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89"/>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90"/>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91"/>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92"/>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93"/>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94"/>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95"/>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52" name="直接连接符 97"/>
          <p:cNvCxnSpPr>
            <a:cxnSpLocks noChangeShapeType="1"/>
          </p:cNvCxnSpPr>
          <p:nvPr/>
        </p:nvCxnSpPr>
        <p:spPr bwMode="auto">
          <a:xfrm>
            <a:off x="5015880" y="5205885"/>
            <a:ext cx="252095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4" name="组合 98"/>
          <p:cNvGrpSpPr>
            <a:grpSpLocks/>
          </p:cNvGrpSpPr>
          <p:nvPr/>
        </p:nvGrpSpPr>
        <p:grpSpPr bwMode="auto">
          <a:xfrm>
            <a:off x="6840588" y="5305186"/>
            <a:ext cx="438150" cy="396875"/>
            <a:chOff x="6199814" y="5094185"/>
            <a:chExt cx="473132" cy="428316"/>
          </a:xfrm>
        </p:grpSpPr>
        <p:grpSp>
          <p:nvGrpSpPr>
            <p:cNvPr id="55" name="组合 99"/>
            <p:cNvGrpSpPr>
              <a:grpSpLocks/>
            </p:cNvGrpSpPr>
            <p:nvPr/>
          </p:nvGrpSpPr>
          <p:grpSpPr bwMode="auto">
            <a:xfrm>
              <a:off x="6199814" y="5451033"/>
              <a:ext cx="473132" cy="71468"/>
              <a:chOff x="2321750" y="5453423"/>
              <a:chExt cx="473132" cy="71468"/>
            </a:xfrm>
          </p:grpSpPr>
          <p:cxnSp>
            <p:nvCxnSpPr>
              <p:cNvPr id="59" name="直接连接符 103"/>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104"/>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105"/>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106"/>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107"/>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108"/>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109"/>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110"/>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等腰三角形 100"/>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 name="椭圆 101"/>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8" name="椭圆 102"/>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67" name="组合 111"/>
          <p:cNvGrpSpPr>
            <a:grpSpLocks/>
          </p:cNvGrpSpPr>
          <p:nvPr/>
        </p:nvGrpSpPr>
        <p:grpSpPr bwMode="auto">
          <a:xfrm>
            <a:off x="5102275" y="5305186"/>
            <a:ext cx="352425" cy="315912"/>
            <a:chOff x="2312606" y="5094185"/>
            <a:chExt cx="473132" cy="424341"/>
          </a:xfrm>
        </p:grpSpPr>
        <p:sp>
          <p:nvSpPr>
            <p:cNvPr id="68" name="等腰三角形 112"/>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69" name="组合 113"/>
            <p:cNvGrpSpPr>
              <a:grpSpLocks/>
            </p:cNvGrpSpPr>
            <p:nvPr/>
          </p:nvGrpSpPr>
          <p:grpSpPr bwMode="auto">
            <a:xfrm>
              <a:off x="2312606" y="5447058"/>
              <a:ext cx="473132" cy="71468"/>
              <a:chOff x="2321750" y="5453423"/>
              <a:chExt cx="473132" cy="71468"/>
            </a:xfrm>
          </p:grpSpPr>
          <p:cxnSp>
            <p:nvCxnSpPr>
              <p:cNvPr id="70" name="直接连接符 114"/>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115"/>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116"/>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117"/>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118"/>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119"/>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120"/>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121"/>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82" name="Text Box 1032"/>
          <p:cNvSpPr txBox="1">
            <a:spLocks noChangeArrowheads="1"/>
          </p:cNvSpPr>
          <p:nvPr/>
        </p:nvSpPr>
        <p:spPr bwMode="auto">
          <a:xfrm>
            <a:off x="726548" y="3788080"/>
            <a:ext cx="878497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00"/>
                </a:solidFill>
                <a:latin typeface="+mn-lt"/>
                <a:ea typeface="微软雅黑" panose="020B0503020204020204" pitchFamily="34" charset="-122"/>
              </a:rPr>
              <a:t>静定梁 </a:t>
            </a:r>
            <a:r>
              <a:rPr lang="en-US" altLang="zh-CN" sz="2800" i="0" dirty="0">
                <a:solidFill>
                  <a:srgbClr val="FF0000"/>
                </a:solidFill>
                <a:latin typeface="+mn-lt"/>
                <a:ea typeface="微软雅黑" panose="020B0503020204020204" pitchFamily="34" charset="-122"/>
              </a:rPr>
              <a:t>— </a:t>
            </a:r>
            <a:r>
              <a:rPr kumimoji="1" lang="zh-CN" altLang="en-US" sz="2800" i="0" dirty="0">
                <a:latin typeface="+mj-lt"/>
                <a:ea typeface="微软雅黑" panose="020B0503020204020204" pitchFamily="34" charset="-122"/>
              </a:rPr>
              <a:t>仅用静力平衡方程即可求支座反力的梁。</a:t>
            </a:r>
          </a:p>
        </p:txBody>
      </p:sp>
    </p:spTree>
    <p:extLst>
      <p:ext uri="{BB962C8B-B14F-4D97-AF65-F5344CB8AC3E}">
        <p14:creationId xmlns:p14="http://schemas.microsoft.com/office/powerpoint/2010/main" val="33515741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21" grpId="0" animBg="1"/>
      <p:bldP spid="8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744072" y="1384771"/>
            <a:ext cx="5328592" cy="4826268"/>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272953" y="1142372"/>
            <a:ext cx="6255095"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latin typeface="+mj-lt"/>
                <a:ea typeface="微软雅黑" panose="020B0503020204020204" pitchFamily="34" charset="-122"/>
              </a:rPr>
              <a:t>在</a:t>
            </a:r>
            <a:r>
              <a:rPr kumimoji="1" lang="zh-CN" altLang="en-US" sz="2800" i="0" dirty="0">
                <a:latin typeface="+mj-lt"/>
                <a:ea typeface="微软雅黑" panose="020B0503020204020204" pitchFamily="34" charset="-122"/>
              </a:rPr>
              <a:t>列出平衡方程，可得</a:t>
            </a:r>
          </a:p>
          <a:p>
            <a:pPr lvl="0">
              <a:lnSpc>
                <a:spcPct val="130000"/>
              </a:lnSpc>
            </a:pP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F</a:t>
            </a:r>
            <a:r>
              <a:rPr kumimoji="1" lang="en-US" altLang="zh-CN" sz="2800" b="0" baseline="-25000" dirty="0" err="1">
                <a:latin typeface="+mj-lt"/>
                <a:ea typeface="微软雅黑" panose="020B0503020204020204" pitchFamily="34" charset="-122"/>
              </a:rPr>
              <a:t>y</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a:t>
            </a:r>
            <a:r>
              <a:rPr kumimoji="1" lang="en-US" altLang="zh-CN" sz="2800" b="0" dirty="0">
                <a:latin typeface="+mj-lt"/>
                <a:ea typeface="微软雅黑" panose="020B0503020204020204" pitchFamily="34" charset="-122"/>
              </a:rPr>
              <a:t>           F-F</a:t>
            </a:r>
            <a:r>
              <a:rPr kumimoji="1" lang="en-US" altLang="zh-CN" sz="2800" b="0" i="0" baseline="-25000" dirty="0">
                <a:latin typeface="+mj-lt"/>
                <a:ea typeface="微软雅黑" panose="020B0503020204020204" pitchFamily="34" charset="-122"/>
              </a:rPr>
              <a:t>Q</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      </a:t>
            </a: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en-US" altLang="zh-CN" sz="2800" b="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F    </a:t>
            </a:r>
            <a:r>
              <a:rPr kumimoji="1" lang="en-US" altLang="zh-CN" sz="2800" b="0" i="0" dirty="0">
                <a:latin typeface="+mj-lt"/>
                <a:ea typeface="微软雅黑" panose="020B0503020204020204" pitchFamily="34" charset="-122"/>
              </a:rPr>
              <a:t>(a)</a:t>
            </a:r>
            <a:r>
              <a:rPr kumimoji="1" lang="en-US" altLang="zh-CN" sz="2800" b="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M</a:t>
            </a:r>
            <a:r>
              <a:rPr kumimoji="1" lang="en-US" altLang="zh-CN" sz="2800" b="0" baseline="-25000" dirty="0">
                <a:latin typeface="+mj-lt"/>
                <a:ea typeface="微软雅黑" panose="020B0503020204020204" pitchFamily="34" charset="-122"/>
              </a:rPr>
              <a:t>O</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F</a:t>
            </a:r>
            <a:r>
              <a:rPr kumimoji="1" lang="en-US" altLang="zh-CN" sz="2800" b="0" i="0" dirty="0">
                <a:latin typeface="+mj-lt"/>
                <a:ea typeface="微软雅黑" panose="020B0503020204020204" pitchFamily="34" charset="-122"/>
              </a:rPr>
              <a:t>)</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  </a:t>
            </a:r>
            <a:r>
              <a:rPr kumimoji="1" lang="en-US" altLang="zh-CN" sz="2800" b="0" dirty="0">
                <a:latin typeface="+mj-lt"/>
                <a:ea typeface="微软雅黑" panose="020B0503020204020204" pitchFamily="34" charset="-122"/>
              </a:rPr>
              <a:t> M-</a:t>
            </a:r>
            <a:r>
              <a:rPr kumimoji="1" lang="en-US" altLang="zh-CN" sz="2800" b="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Fx</a:t>
            </a:r>
            <a:r>
              <a:rPr kumimoji="1" lang="en-US" altLang="zh-CN" sz="2800" b="0" i="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a:t>
            </a:r>
            <a:r>
              <a:rPr kumimoji="1" lang="en-US" altLang="zh-CN" sz="2800" b="0" dirty="0">
                <a:latin typeface="+mj-lt"/>
                <a:ea typeface="微软雅黑" panose="020B0503020204020204" pitchFamily="34" charset="-122"/>
              </a:rPr>
              <a:t>    M</a:t>
            </a:r>
            <a:r>
              <a:rPr kumimoji="1" lang="en-US" altLang="zh-CN" sz="2800" b="0" i="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Fx</a:t>
            </a:r>
            <a:r>
              <a:rPr kumimoji="1" lang="en-US" altLang="zh-CN" sz="2800" b="0" dirty="0">
                <a:latin typeface="+mj-lt"/>
                <a:ea typeface="微软雅黑" panose="020B0503020204020204" pitchFamily="34" charset="-122"/>
              </a:rPr>
              <a:t>    </a:t>
            </a:r>
            <a:r>
              <a:rPr kumimoji="1" lang="en-US" altLang="zh-CN" sz="2800" b="0" i="0" dirty="0">
                <a:ea typeface="微软雅黑" panose="020B0503020204020204" pitchFamily="34" charset="-122"/>
              </a:rPr>
              <a:t>(b)</a:t>
            </a:r>
            <a:r>
              <a:rPr kumimoji="1" lang="en-US" altLang="zh-CN" sz="2800" b="0" dirty="0">
                <a:ea typeface="微软雅黑" panose="020B0503020204020204" pitchFamily="34" charset="-122"/>
              </a:rPr>
              <a:t> </a:t>
            </a:r>
            <a:endParaRPr lang="zh-CN" altLang="en-US" sz="2800" i="0" dirty="0">
              <a:latin typeface="+mj-lt"/>
              <a:ea typeface="微软雅黑" panose="020B0503020204020204" pitchFamily="34" charset="-122"/>
            </a:endParaRPr>
          </a:p>
        </p:txBody>
      </p:sp>
      <p:grpSp>
        <p:nvGrpSpPr>
          <p:cNvPr id="128" name="Group 120"/>
          <p:cNvGrpSpPr>
            <a:grpSpLocks/>
          </p:cNvGrpSpPr>
          <p:nvPr/>
        </p:nvGrpSpPr>
        <p:grpSpPr bwMode="auto">
          <a:xfrm>
            <a:off x="7117217" y="1235813"/>
            <a:ext cx="4430713" cy="2454275"/>
            <a:chOff x="2841" y="2178"/>
            <a:chExt cx="2791" cy="1546"/>
          </a:xfrm>
        </p:grpSpPr>
        <p:sp>
          <p:nvSpPr>
            <p:cNvPr id="129" name="Text Box 15"/>
            <p:cNvSpPr txBox="1">
              <a:spLocks noChangeAspect="1" noChangeArrowheads="1"/>
            </p:cNvSpPr>
            <p:nvPr/>
          </p:nvSpPr>
          <p:spPr bwMode="auto">
            <a:xfrm>
              <a:off x="3066" y="3364"/>
              <a:ext cx="34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FF"/>
                  </a:solidFill>
                  <a:ea typeface="宋体" panose="02010600030101010101" pitchFamily="2" charset="-122"/>
                </a:rPr>
                <a:t>F</a:t>
              </a:r>
              <a:endParaRPr lang="en-US" altLang="zh-CN" sz="2800" b="0" i="1" baseline="-25000" dirty="0">
                <a:solidFill>
                  <a:srgbClr val="FF00FF"/>
                </a:solidFill>
                <a:ea typeface="宋体" panose="02010600030101010101" pitchFamily="2" charset="-122"/>
              </a:endParaRPr>
            </a:p>
          </p:txBody>
        </p:sp>
        <p:sp>
          <p:nvSpPr>
            <p:cNvPr id="130" name="Rectangle 74"/>
            <p:cNvSpPr>
              <a:spLocks noChangeArrowheads="1"/>
            </p:cNvSpPr>
            <p:nvPr/>
          </p:nvSpPr>
          <p:spPr bwMode="auto">
            <a:xfrm>
              <a:off x="3092" y="2804"/>
              <a:ext cx="1982"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31" name="Line 80"/>
            <p:cNvSpPr>
              <a:spLocks noChangeShapeType="1"/>
            </p:cNvSpPr>
            <p:nvPr/>
          </p:nvSpPr>
          <p:spPr bwMode="auto">
            <a:xfrm>
              <a:off x="3080" y="2958"/>
              <a:ext cx="2411" cy="0"/>
            </a:xfrm>
            <a:prstGeom prst="line">
              <a:avLst/>
            </a:prstGeom>
            <a:noFill/>
            <a:ln w="9525">
              <a:solidFill>
                <a:schemeClr val="tx1"/>
              </a:solidFill>
              <a:prstDash val="lgDashDot"/>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2" name="Line 81"/>
            <p:cNvSpPr>
              <a:spLocks noChangeShapeType="1"/>
            </p:cNvSpPr>
            <p:nvPr/>
          </p:nvSpPr>
          <p:spPr bwMode="auto">
            <a:xfrm flipV="1">
              <a:off x="3096" y="2264"/>
              <a:ext cx="0" cy="82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 name="Text Box 85"/>
            <p:cNvSpPr txBox="1">
              <a:spLocks noChangeAspect="1" noChangeArrowheads="1"/>
            </p:cNvSpPr>
            <p:nvPr/>
          </p:nvSpPr>
          <p:spPr bwMode="auto">
            <a:xfrm>
              <a:off x="3889" y="2339"/>
              <a:ext cx="31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l</a:t>
              </a:r>
              <a:endParaRPr lang="en-US" altLang="zh-CN" b="0" i="1" dirty="0">
                <a:ea typeface="宋体" panose="02010600030101010101" pitchFamily="2" charset="-122"/>
              </a:endParaRPr>
            </a:p>
          </p:txBody>
        </p:sp>
        <p:sp>
          <p:nvSpPr>
            <p:cNvPr id="134" name="Text Box 90"/>
            <p:cNvSpPr txBox="1">
              <a:spLocks noChangeAspect="1" noChangeArrowheads="1"/>
            </p:cNvSpPr>
            <p:nvPr/>
          </p:nvSpPr>
          <p:spPr bwMode="auto">
            <a:xfrm>
              <a:off x="5381" y="2903"/>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sp>
          <p:nvSpPr>
            <p:cNvPr id="135" name="Text Box 96"/>
            <p:cNvSpPr txBox="1">
              <a:spLocks noChangeAspect="1" noChangeArrowheads="1"/>
            </p:cNvSpPr>
            <p:nvPr/>
          </p:nvSpPr>
          <p:spPr bwMode="auto">
            <a:xfrm>
              <a:off x="2841" y="2644"/>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A</a:t>
              </a:r>
              <a:endParaRPr lang="en-US" altLang="zh-CN" b="0" dirty="0">
                <a:ea typeface="宋体" panose="02010600030101010101" pitchFamily="2" charset="-122"/>
              </a:endParaRPr>
            </a:p>
          </p:txBody>
        </p:sp>
        <p:sp>
          <p:nvSpPr>
            <p:cNvPr id="136" name="Text Box 97"/>
            <p:cNvSpPr txBox="1">
              <a:spLocks noChangeAspect="1" noChangeArrowheads="1"/>
            </p:cNvSpPr>
            <p:nvPr/>
          </p:nvSpPr>
          <p:spPr bwMode="auto">
            <a:xfrm>
              <a:off x="4901" y="2562"/>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B</a:t>
              </a:r>
              <a:endParaRPr lang="en-US" altLang="zh-CN" b="0" dirty="0">
                <a:ea typeface="宋体" panose="02010600030101010101" pitchFamily="2" charset="-122"/>
              </a:endParaRPr>
            </a:p>
          </p:txBody>
        </p:sp>
        <p:sp>
          <p:nvSpPr>
            <p:cNvPr id="137" name="Text Box 98"/>
            <p:cNvSpPr txBox="1">
              <a:spLocks noChangeAspect="1" noChangeArrowheads="1"/>
            </p:cNvSpPr>
            <p:nvPr/>
          </p:nvSpPr>
          <p:spPr bwMode="auto">
            <a:xfrm>
              <a:off x="3079" y="2178"/>
              <a:ext cx="24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y</a:t>
              </a:r>
              <a:endParaRPr lang="en-US" altLang="zh-CN" b="0" dirty="0">
                <a:ea typeface="宋体" panose="02010600030101010101" pitchFamily="2" charset="-122"/>
              </a:endParaRPr>
            </a:p>
          </p:txBody>
        </p:sp>
        <p:sp>
          <p:nvSpPr>
            <p:cNvPr id="138" name="Line 104"/>
            <p:cNvSpPr>
              <a:spLocks noChangeShapeType="1"/>
            </p:cNvSpPr>
            <p:nvPr/>
          </p:nvSpPr>
          <p:spPr bwMode="auto">
            <a:xfrm>
              <a:off x="3094" y="2575"/>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9" name="Line 106"/>
            <p:cNvSpPr>
              <a:spLocks noChangeShapeType="1"/>
            </p:cNvSpPr>
            <p:nvPr/>
          </p:nvSpPr>
          <p:spPr bwMode="auto">
            <a:xfrm flipV="1">
              <a:off x="5076" y="2414"/>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0" name="Line 42"/>
            <p:cNvSpPr>
              <a:spLocks noChangeAspect="1" noChangeShapeType="1"/>
            </p:cNvSpPr>
            <p:nvPr/>
          </p:nvSpPr>
          <p:spPr bwMode="auto">
            <a:xfrm flipV="1">
              <a:off x="3084" y="2945"/>
              <a:ext cx="2" cy="607"/>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141" name="Text Box 5"/>
          <p:cNvSpPr txBox="1">
            <a:spLocks noChangeAspect="1" noChangeArrowheads="1"/>
          </p:cNvSpPr>
          <p:nvPr/>
        </p:nvSpPr>
        <p:spPr bwMode="auto">
          <a:xfrm>
            <a:off x="10592255" y="3199551"/>
            <a:ext cx="622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1" baseline="-25000" dirty="0">
                <a:solidFill>
                  <a:srgbClr val="FF0000"/>
                </a:solidFill>
                <a:ea typeface="宋体" panose="02010600030101010101" pitchFamily="2" charset="-122"/>
              </a:rPr>
              <a:t>B</a:t>
            </a:r>
          </a:p>
        </p:txBody>
      </p:sp>
      <p:grpSp>
        <p:nvGrpSpPr>
          <p:cNvPr id="142" name="Group 7"/>
          <p:cNvGrpSpPr>
            <a:grpSpLocks noChangeAspect="1"/>
          </p:cNvGrpSpPr>
          <p:nvPr/>
        </p:nvGrpSpPr>
        <p:grpSpPr bwMode="auto">
          <a:xfrm>
            <a:off x="8644392" y="1724763"/>
            <a:ext cx="550863" cy="1373188"/>
            <a:chOff x="2133" y="2780"/>
            <a:chExt cx="289" cy="721"/>
          </a:xfrm>
        </p:grpSpPr>
        <p:sp>
          <p:nvSpPr>
            <p:cNvPr id="143" name="Line 8"/>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Text Box 9"/>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45" name="Text Box 10"/>
            <p:cNvSpPr txBox="1">
              <a:spLocks noChangeAspect="1" noChangeArrowheads="1"/>
            </p:cNvSpPr>
            <p:nvPr/>
          </p:nvSpPr>
          <p:spPr bwMode="auto">
            <a:xfrm>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sp>
        <p:nvSpPr>
          <p:cNvPr id="146" name="Line 11"/>
          <p:cNvSpPr>
            <a:spLocks noChangeAspect="1" noChangeShapeType="1"/>
          </p:cNvSpPr>
          <p:nvPr/>
        </p:nvSpPr>
        <p:spPr bwMode="auto">
          <a:xfrm>
            <a:off x="8817430" y="3578964"/>
            <a:ext cx="0" cy="849312"/>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47" name="Text Box 12"/>
          <p:cNvSpPr txBox="1">
            <a:spLocks noChangeAspect="1" noChangeArrowheads="1"/>
          </p:cNvSpPr>
          <p:nvPr/>
        </p:nvSpPr>
        <p:spPr bwMode="auto">
          <a:xfrm>
            <a:off x="8793617" y="3220189"/>
            <a:ext cx="733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0" baseline="-25000" dirty="0">
                <a:solidFill>
                  <a:srgbClr val="FF0000"/>
                </a:solidFill>
                <a:ea typeface="宋体" panose="02010600030101010101" pitchFamily="2" charset="-122"/>
              </a:rPr>
              <a:t>Q</a:t>
            </a:r>
          </a:p>
        </p:txBody>
      </p:sp>
      <p:sp>
        <p:nvSpPr>
          <p:cNvPr id="148" name="Arc 13"/>
          <p:cNvSpPr>
            <a:spLocks noChangeAspect="1"/>
          </p:cNvSpPr>
          <p:nvPr/>
        </p:nvSpPr>
        <p:spPr bwMode="auto">
          <a:xfrm rot="18969784" flipV="1">
            <a:off x="8690430" y="3718664"/>
            <a:ext cx="439737" cy="541337"/>
          </a:xfrm>
          <a:custGeom>
            <a:avLst/>
            <a:gdLst>
              <a:gd name="T0" fmla="*/ 0 w 21600"/>
              <a:gd name="T1" fmla="*/ 0 h 32407"/>
              <a:gd name="T2" fmla="*/ 157799525 w 21600"/>
              <a:gd name="T3" fmla="*/ 151051612 h 32407"/>
              <a:gd name="T4" fmla="*/ 0 w 21600"/>
              <a:gd name="T5" fmla="*/ 100679236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 name="Text Box 14"/>
          <p:cNvSpPr txBox="1">
            <a:spLocks noChangeAspect="1" noChangeArrowheads="1"/>
          </p:cNvSpPr>
          <p:nvPr/>
        </p:nvSpPr>
        <p:spPr bwMode="auto">
          <a:xfrm>
            <a:off x="9022217" y="3777401"/>
            <a:ext cx="5492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p>
        </p:txBody>
      </p:sp>
      <p:grpSp>
        <p:nvGrpSpPr>
          <p:cNvPr id="150" name="Group 75"/>
          <p:cNvGrpSpPr>
            <a:grpSpLocks/>
          </p:cNvGrpSpPr>
          <p:nvPr/>
        </p:nvGrpSpPr>
        <p:grpSpPr bwMode="auto">
          <a:xfrm>
            <a:off x="10681155" y="2048613"/>
            <a:ext cx="230187" cy="823913"/>
            <a:chOff x="5086" y="2690"/>
            <a:chExt cx="145" cy="519"/>
          </a:xfrm>
        </p:grpSpPr>
        <p:sp>
          <p:nvSpPr>
            <p:cNvPr id="151" name="Rectangle 45" descr="宽上对角线"/>
            <p:cNvSpPr>
              <a:spLocks noChangeAspect="1" noChangeArrowheads="1"/>
            </p:cNvSpPr>
            <p:nvPr/>
          </p:nvSpPr>
          <p:spPr bwMode="auto">
            <a:xfrm rot="-5400000">
              <a:off x="4900" y="2876"/>
              <a:ext cx="517" cy="145"/>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52" name="Line 46"/>
            <p:cNvSpPr>
              <a:spLocks noChangeAspect="1" noChangeShapeType="1"/>
            </p:cNvSpPr>
            <p:nvPr/>
          </p:nvSpPr>
          <p:spPr bwMode="auto">
            <a:xfrm rot="-5400000">
              <a:off x="4826" y="2950"/>
              <a:ext cx="5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 name="Line 49"/>
          <p:cNvSpPr>
            <a:spLocks noChangeAspect="1" noChangeShapeType="1"/>
          </p:cNvSpPr>
          <p:nvPr/>
        </p:nvSpPr>
        <p:spPr bwMode="auto">
          <a:xfrm>
            <a:off x="10677980" y="2461363"/>
            <a:ext cx="3175" cy="963613"/>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54" name="Arc 118"/>
          <p:cNvSpPr>
            <a:spLocks noChangeAspect="1"/>
          </p:cNvSpPr>
          <p:nvPr/>
        </p:nvSpPr>
        <p:spPr bwMode="auto">
          <a:xfrm rot="18969784" flipV="1">
            <a:off x="10554155" y="2150213"/>
            <a:ext cx="439737" cy="541338"/>
          </a:xfrm>
          <a:custGeom>
            <a:avLst/>
            <a:gdLst>
              <a:gd name="T0" fmla="*/ 0 w 21600"/>
              <a:gd name="T1" fmla="*/ 0 h 32407"/>
              <a:gd name="T2" fmla="*/ 157799525 w 21600"/>
              <a:gd name="T3" fmla="*/ 151052559 h 32407"/>
              <a:gd name="T4" fmla="*/ 0 w 21600"/>
              <a:gd name="T5" fmla="*/ 10067989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5" name="Text Box 119"/>
          <p:cNvSpPr txBox="1">
            <a:spLocks noChangeAspect="1" noChangeArrowheads="1"/>
          </p:cNvSpPr>
          <p:nvPr/>
        </p:nvSpPr>
        <p:spPr bwMode="auto">
          <a:xfrm>
            <a:off x="10849430" y="1815251"/>
            <a:ext cx="7286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r>
              <a:rPr lang="en-US" altLang="zh-CN" sz="2800" b="0" i="1" baseline="-25000" dirty="0">
                <a:solidFill>
                  <a:srgbClr val="FF0000"/>
                </a:solidFill>
                <a:ea typeface="宋体" panose="02010600030101010101" pitchFamily="2" charset="-122"/>
              </a:rPr>
              <a:t>B</a:t>
            </a:r>
          </a:p>
        </p:txBody>
      </p:sp>
      <p:sp>
        <p:nvSpPr>
          <p:cNvPr id="156" name="Text Box 128"/>
          <p:cNvSpPr txBox="1">
            <a:spLocks noChangeAspect="1" noChangeArrowheads="1"/>
          </p:cNvSpPr>
          <p:nvPr/>
        </p:nvSpPr>
        <p:spPr bwMode="auto">
          <a:xfrm>
            <a:off x="7915730" y="2783626"/>
            <a:ext cx="3984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grpSp>
        <p:nvGrpSpPr>
          <p:cNvPr id="157" name="Group 135"/>
          <p:cNvGrpSpPr>
            <a:grpSpLocks/>
          </p:cNvGrpSpPr>
          <p:nvPr/>
        </p:nvGrpSpPr>
        <p:grpSpPr bwMode="auto">
          <a:xfrm>
            <a:off x="7512505" y="2921738"/>
            <a:ext cx="1201737" cy="303213"/>
            <a:chOff x="3387" y="2368"/>
            <a:chExt cx="1986" cy="191"/>
          </a:xfrm>
        </p:grpSpPr>
        <p:sp>
          <p:nvSpPr>
            <p:cNvPr id="158" name="Line 132"/>
            <p:cNvSpPr>
              <a:spLocks noChangeShapeType="1"/>
            </p:cNvSpPr>
            <p:nvPr/>
          </p:nvSpPr>
          <p:spPr bwMode="auto">
            <a:xfrm>
              <a:off x="3387" y="2529"/>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59" name="Line 133"/>
            <p:cNvSpPr>
              <a:spLocks noChangeShapeType="1"/>
            </p:cNvSpPr>
            <p:nvPr/>
          </p:nvSpPr>
          <p:spPr bwMode="auto">
            <a:xfrm flipV="1">
              <a:off x="5369" y="2368"/>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0" name="Group 144"/>
          <p:cNvGrpSpPr>
            <a:grpSpLocks/>
          </p:cNvGrpSpPr>
          <p:nvPr/>
        </p:nvGrpSpPr>
        <p:grpSpPr bwMode="auto">
          <a:xfrm>
            <a:off x="7153730" y="3285276"/>
            <a:ext cx="1690687" cy="1938338"/>
            <a:chOff x="3134" y="2457"/>
            <a:chExt cx="1065" cy="1221"/>
          </a:xfrm>
        </p:grpSpPr>
        <p:sp>
          <p:nvSpPr>
            <p:cNvPr id="161" name="Text Box 123"/>
            <p:cNvSpPr txBox="1">
              <a:spLocks noChangeAspect="1" noChangeArrowheads="1"/>
            </p:cNvSpPr>
            <p:nvPr/>
          </p:nvSpPr>
          <p:spPr bwMode="auto">
            <a:xfrm>
              <a:off x="3359" y="3318"/>
              <a:ext cx="34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FF"/>
                  </a:solidFill>
                  <a:ea typeface="宋体" panose="02010600030101010101" pitchFamily="2" charset="-122"/>
                </a:rPr>
                <a:t>F</a:t>
              </a:r>
              <a:endParaRPr lang="en-US" altLang="zh-CN" sz="2800" b="0" i="1" baseline="-25000" dirty="0">
                <a:solidFill>
                  <a:srgbClr val="FF00FF"/>
                </a:solidFill>
                <a:ea typeface="宋体" panose="02010600030101010101" pitchFamily="2" charset="-122"/>
              </a:endParaRPr>
            </a:p>
          </p:txBody>
        </p:sp>
        <p:sp>
          <p:nvSpPr>
            <p:cNvPr id="162" name="Rectangle 124"/>
            <p:cNvSpPr>
              <a:spLocks noChangeArrowheads="1"/>
            </p:cNvSpPr>
            <p:nvPr/>
          </p:nvSpPr>
          <p:spPr bwMode="auto">
            <a:xfrm>
              <a:off x="3385" y="2758"/>
              <a:ext cx="734"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63" name="Line 125"/>
            <p:cNvSpPr>
              <a:spLocks noChangeShapeType="1"/>
            </p:cNvSpPr>
            <p:nvPr/>
          </p:nvSpPr>
          <p:spPr bwMode="auto">
            <a:xfrm>
              <a:off x="3373" y="2912"/>
              <a:ext cx="596" cy="0"/>
            </a:xfrm>
            <a:prstGeom prst="line">
              <a:avLst/>
            </a:prstGeom>
            <a:noFill/>
            <a:ln w="9525">
              <a:solidFill>
                <a:schemeClr val="tx1"/>
              </a:solidFill>
              <a:prstDash val="lgDashDot"/>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64" name="Text Box 127"/>
            <p:cNvSpPr txBox="1">
              <a:spLocks noChangeAspect="1" noChangeArrowheads="1"/>
            </p:cNvSpPr>
            <p:nvPr/>
          </p:nvSpPr>
          <p:spPr bwMode="auto">
            <a:xfrm>
              <a:off x="3885" y="2747"/>
              <a:ext cx="31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O</a:t>
              </a:r>
              <a:endParaRPr lang="en-US" altLang="zh-CN" b="0" i="1" dirty="0">
                <a:ea typeface="宋体" panose="02010600030101010101" pitchFamily="2" charset="-122"/>
              </a:endParaRPr>
            </a:p>
          </p:txBody>
        </p:sp>
        <p:sp>
          <p:nvSpPr>
            <p:cNvPr id="165" name="Text Box 129"/>
            <p:cNvSpPr txBox="1">
              <a:spLocks noChangeAspect="1" noChangeArrowheads="1"/>
            </p:cNvSpPr>
            <p:nvPr/>
          </p:nvSpPr>
          <p:spPr bwMode="auto">
            <a:xfrm>
              <a:off x="3134" y="2598"/>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A</a:t>
              </a:r>
              <a:endParaRPr lang="en-US" altLang="zh-CN" b="0" dirty="0">
                <a:ea typeface="宋体" panose="02010600030101010101" pitchFamily="2" charset="-122"/>
              </a:endParaRPr>
            </a:p>
          </p:txBody>
        </p:sp>
        <p:sp>
          <p:nvSpPr>
            <p:cNvPr id="166" name="Line 134"/>
            <p:cNvSpPr>
              <a:spLocks noChangeAspect="1" noChangeShapeType="1"/>
            </p:cNvSpPr>
            <p:nvPr/>
          </p:nvSpPr>
          <p:spPr bwMode="auto">
            <a:xfrm flipV="1">
              <a:off x="3377" y="2899"/>
              <a:ext cx="2" cy="607"/>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7" name="Text Box 136"/>
            <p:cNvSpPr txBox="1">
              <a:spLocks noChangeAspect="1" noChangeArrowheads="1"/>
            </p:cNvSpPr>
            <p:nvPr/>
          </p:nvSpPr>
          <p:spPr bwMode="auto">
            <a:xfrm>
              <a:off x="3619" y="3104"/>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grpSp>
          <p:nvGrpSpPr>
            <p:cNvPr id="168" name="Group 137"/>
            <p:cNvGrpSpPr>
              <a:grpSpLocks/>
            </p:cNvGrpSpPr>
            <p:nvPr/>
          </p:nvGrpSpPr>
          <p:grpSpPr bwMode="auto">
            <a:xfrm>
              <a:off x="3365" y="3191"/>
              <a:ext cx="748" cy="191"/>
              <a:chOff x="3387" y="2368"/>
              <a:chExt cx="1986" cy="191"/>
            </a:xfrm>
          </p:grpSpPr>
          <p:sp>
            <p:nvSpPr>
              <p:cNvPr id="173" name="Line 138"/>
              <p:cNvSpPr>
                <a:spLocks noChangeShapeType="1"/>
              </p:cNvSpPr>
              <p:nvPr/>
            </p:nvSpPr>
            <p:spPr bwMode="auto">
              <a:xfrm>
                <a:off x="3387" y="2529"/>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74" name="Line 139"/>
              <p:cNvSpPr>
                <a:spLocks noChangeShapeType="1"/>
              </p:cNvSpPr>
              <p:nvPr/>
            </p:nvSpPr>
            <p:spPr bwMode="auto">
              <a:xfrm flipV="1">
                <a:off x="5369" y="2368"/>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9" name="Group 140"/>
            <p:cNvGrpSpPr>
              <a:grpSpLocks noChangeAspect="1"/>
            </p:cNvGrpSpPr>
            <p:nvPr/>
          </p:nvGrpSpPr>
          <p:grpSpPr bwMode="auto">
            <a:xfrm flipH="1">
              <a:off x="3816" y="2457"/>
              <a:ext cx="347" cy="865"/>
              <a:chOff x="2133" y="2780"/>
              <a:chExt cx="289" cy="721"/>
            </a:xfrm>
          </p:grpSpPr>
          <p:sp>
            <p:nvSpPr>
              <p:cNvPr id="170" name="Line 141"/>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Text Box 142"/>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72" name="Text Box 143"/>
              <p:cNvSpPr txBox="1">
                <a:spLocks noChangeAspect="1" noChangeArrowheads="1"/>
              </p:cNvSpPr>
              <p:nvPr/>
            </p:nvSpPr>
            <p:spPr bwMode="auto">
              <a:xfrm flipH="1">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grpSp>
      <p:grpSp>
        <p:nvGrpSpPr>
          <p:cNvPr id="175" name="Group 166"/>
          <p:cNvGrpSpPr>
            <a:grpSpLocks/>
          </p:cNvGrpSpPr>
          <p:nvPr/>
        </p:nvGrpSpPr>
        <p:grpSpPr bwMode="auto">
          <a:xfrm>
            <a:off x="8650742" y="4633861"/>
            <a:ext cx="2986088" cy="1641475"/>
            <a:chOff x="3807" y="3067"/>
            <a:chExt cx="1881" cy="1034"/>
          </a:xfrm>
        </p:grpSpPr>
        <p:sp>
          <p:nvSpPr>
            <p:cNvPr id="176" name="Rectangle 147"/>
            <p:cNvSpPr>
              <a:spLocks noChangeArrowheads="1"/>
            </p:cNvSpPr>
            <p:nvPr/>
          </p:nvSpPr>
          <p:spPr bwMode="auto">
            <a:xfrm>
              <a:off x="3845" y="3373"/>
              <a:ext cx="1266"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77" name="Line 148"/>
            <p:cNvSpPr>
              <a:spLocks noChangeShapeType="1"/>
            </p:cNvSpPr>
            <p:nvPr/>
          </p:nvSpPr>
          <p:spPr bwMode="auto">
            <a:xfrm>
              <a:off x="3989" y="3527"/>
              <a:ext cx="1224" cy="0"/>
            </a:xfrm>
            <a:prstGeom prst="line">
              <a:avLst/>
            </a:prstGeom>
            <a:noFill/>
            <a:ln w="9525">
              <a:solidFill>
                <a:schemeClr val="tx1"/>
              </a:solidFill>
              <a:prstDash val="lgDashDot"/>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78" name="Text Box 150"/>
            <p:cNvSpPr txBox="1">
              <a:spLocks noChangeAspect="1" noChangeArrowheads="1"/>
            </p:cNvSpPr>
            <p:nvPr/>
          </p:nvSpPr>
          <p:spPr bwMode="auto">
            <a:xfrm>
              <a:off x="4187" y="3676"/>
              <a:ext cx="54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l</a:t>
              </a:r>
              <a:r>
                <a:rPr lang="en-US" altLang="zh-CN" b="0" dirty="0">
                  <a:latin typeface="宋体" panose="02010600030101010101" pitchFamily="2" charset="-122"/>
                  <a:ea typeface="宋体" panose="02010600030101010101" pitchFamily="2" charset="-122"/>
                </a:rPr>
                <a:t>-</a:t>
              </a:r>
              <a:r>
                <a:rPr lang="en-US" altLang="zh-CN" b="0" i="1" dirty="0"/>
                <a:t>x</a:t>
              </a:r>
              <a:endParaRPr lang="en-US" altLang="zh-CN" b="0" i="1" dirty="0">
                <a:ea typeface="宋体" panose="02010600030101010101" pitchFamily="2" charset="-122"/>
              </a:endParaRPr>
            </a:p>
          </p:txBody>
        </p:sp>
        <p:sp>
          <p:nvSpPr>
            <p:cNvPr id="179" name="Text Box 151"/>
            <p:cNvSpPr txBox="1">
              <a:spLocks noChangeAspect="1" noChangeArrowheads="1"/>
            </p:cNvSpPr>
            <p:nvPr/>
          </p:nvSpPr>
          <p:spPr bwMode="auto">
            <a:xfrm>
              <a:off x="5418" y="3472"/>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endParaRPr lang="zh-CN" altLang="zh-CN"/>
            </a:p>
          </p:txBody>
        </p:sp>
        <p:sp>
          <p:nvSpPr>
            <p:cNvPr id="180" name="Text Box 153"/>
            <p:cNvSpPr txBox="1">
              <a:spLocks noChangeAspect="1" noChangeArrowheads="1"/>
            </p:cNvSpPr>
            <p:nvPr/>
          </p:nvSpPr>
          <p:spPr bwMode="auto">
            <a:xfrm>
              <a:off x="4938" y="3131"/>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B</a:t>
              </a:r>
              <a:endParaRPr lang="en-US" altLang="zh-CN" b="0" dirty="0">
                <a:ea typeface="宋体" panose="02010600030101010101" pitchFamily="2" charset="-122"/>
              </a:endParaRPr>
            </a:p>
          </p:txBody>
        </p:sp>
        <p:sp>
          <p:nvSpPr>
            <p:cNvPr id="181" name="Line 155"/>
            <p:cNvSpPr>
              <a:spLocks noChangeShapeType="1"/>
            </p:cNvSpPr>
            <p:nvPr/>
          </p:nvSpPr>
          <p:spPr bwMode="auto">
            <a:xfrm>
              <a:off x="3855" y="3923"/>
              <a:ext cx="1253"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82" name="Line 156"/>
            <p:cNvSpPr>
              <a:spLocks noChangeShapeType="1"/>
            </p:cNvSpPr>
            <p:nvPr/>
          </p:nvSpPr>
          <p:spPr bwMode="auto">
            <a:xfrm flipV="1">
              <a:off x="3857" y="3795"/>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83" name="Text Box 158"/>
            <p:cNvSpPr txBox="1">
              <a:spLocks noChangeAspect="1" noChangeArrowheads="1"/>
            </p:cNvSpPr>
            <p:nvPr/>
          </p:nvSpPr>
          <p:spPr bwMode="auto">
            <a:xfrm>
              <a:off x="5122" y="3741"/>
              <a:ext cx="39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1" baseline="-25000" dirty="0">
                  <a:solidFill>
                    <a:srgbClr val="FF0000"/>
                  </a:solidFill>
                  <a:ea typeface="宋体" panose="02010600030101010101" pitchFamily="2" charset="-122"/>
                </a:rPr>
                <a:t>B</a:t>
              </a:r>
            </a:p>
          </p:txBody>
        </p:sp>
        <p:sp>
          <p:nvSpPr>
            <p:cNvPr id="184" name="Line 159"/>
            <p:cNvSpPr>
              <a:spLocks noChangeAspect="1" noChangeShapeType="1"/>
            </p:cNvSpPr>
            <p:nvPr/>
          </p:nvSpPr>
          <p:spPr bwMode="auto">
            <a:xfrm>
              <a:off x="5121" y="3519"/>
              <a:ext cx="0" cy="50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5" name="Arc 160"/>
            <p:cNvSpPr>
              <a:spLocks noChangeAspect="1"/>
            </p:cNvSpPr>
            <p:nvPr/>
          </p:nvSpPr>
          <p:spPr bwMode="auto">
            <a:xfrm rot="18969784" flipV="1">
              <a:off x="5043" y="3323"/>
              <a:ext cx="277" cy="341"/>
            </a:xfrm>
            <a:custGeom>
              <a:avLst/>
              <a:gdLst>
                <a:gd name="T0" fmla="*/ 0 w 21600"/>
                <a:gd name="T1" fmla="*/ 0 h 32407"/>
                <a:gd name="T2" fmla="*/ 0 w 21600"/>
                <a:gd name="T3" fmla="*/ 0 h 32407"/>
                <a:gd name="T4" fmla="*/ 0 w 21600"/>
                <a:gd name="T5" fmla="*/ 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6" name="Text Box 161"/>
            <p:cNvSpPr txBox="1">
              <a:spLocks noChangeAspect="1" noChangeArrowheads="1"/>
            </p:cNvSpPr>
            <p:nvPr/>
          </p:nvSpPr>
          <p:spPr bwMode="auto">
            <a:xfrm>
              <a:off x="5229" y="3112"/>
              <a:ext cx="45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r>
                <a:rPr lang="en-US" altLang="zh-CN" sz="2800" b="0" i="1" baseline="-25000" dirty="0">
                  <a:solidFill>
                    <a:srgbClr val="FF0000"/>
                  </a:solidFill>
                  <a:ea typeface="宋体" panose="02010600030101010101" pitchFamily="2" charset="-122"/>
                </a:rPr>
                <a:t>B</a:t>
              </a:r>
            </a:p>
          </p:txBody>
        </p:sp>
        <p:grpSp>
          <p:nvGrpSpPr>
            <p:cNvPr id="187" name="Group 162"/>
            <p:cNvGrpSpPr>
              <a:grpSpLocks noChangeAspect="1"/>
            </p:cNvGrpSpPr>
            <p:nvPr/>
          </p:nvGrpSpPr>
          <p:grpSpPr bwMode="auto">
            <a:xfrm>
              <a:off x="3808" y="3067"/>
              <a:ext cx="347" cy="865"/>
              <a:chOff x="2133" y="2780"/>
              <a:chExt cx="289" cy="721"/>
            </a:xfrm>
          </p:grpSpPr>
          <p:sp>
            <p:nvSpPr>
              <p:cNvPr id="189" name="Line 163"/>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Text Box 164"/>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91" name="Text Box 165"/>
              <p:cNvSpPr txBox="1">
                <a:spLocks noChangeAspect="1" noChangeArrowheads="1"/>
              </p:cNvSpPr>
              <p:nvPr/>
            </p:nvSpPr>
            <p:spPr bwMode="auto">
              <a:xfrm>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sp>
          <p:nvSpPr>
            <p:cNvPr id="188" name="Text Box 130"/>
            <p:cNvSpPr txBox="1">
              <a:spLocks noChangeAspect="1" noChangeArrowheads="1"/>
            </p:cNvSpPr>
            <p:nvPr/>
          </p:nvSpPr>
          <p:spPr bwMode="auto">
            <a:xfrm>
              <a:off x="3807" y="3370"/>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O</a:t>
              </a:r>
              <a:endParaRPr lang="en-US" altLang="zh-CN" b="0" dirty="0">
                <a:ea typeface="宋体" panose="02010600030101010101" pitchFamily="2" charset="-122"/>
              </a:endParaRPr>
            </a:p>
          </p:txBody>
        </p:sp>
      </p:grpSp>
      <p:sp>
        <p:nvSpPr>
          <p:cNvPr id="192" name="Line 167"/>
          <p:cNvSpPr>
            <a:spLocks noChangeAspect="1" noChangeShapeType="1"/>
          </p:cNvSpPr>
          <p:nvPr/>
        </p:nvSpPr>
        <p:spPr bwMode="auto">
          <a:xfrm flipV="1">
            <a:off x="8644392" y="4897385"/>
            <a:ext cx="0" cy="849313"/>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93" name="Text Box 168"/>
          <p:cNvSpPr txBox="1">
            <a:spLocks noChangeAspect="1" noChangeArrowheads="1"/>
          </p:cNvSpPr>
          <p:nvPr/>
        </p:nvSpPr>
        <p:spPr bwMode="auto">
          <a:xfrm>
            <a:off x="8242755" y="5587948"/>
            <a:ext cx="6127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0" baseline="-25000" dirty="0">
                <a:solidFill>
                  <a:srgbClr val="FF0000"/>
                </a:solidFill>
                <a:ea typeface="宋体" panose="02010600030101010101" pitchFamily="2" charset="-122"/>
              </a:rPr>
              <a:t>Q</a:t>
            </a:r>
          </a:p>
        </p:txBody>
      </p:sp>
      <p:sp>
        <p:nvSpPr>
          <p:cNvPr id="194" name="Arc 169"/>
          <p:cNvSpPr>
            <a:spLocks noChangeAspect="1"/>
          </p:cNvSpPr>
          <p:nvPr/>
        </p:nvSpPr>
        <p:spPr bwMode="auto">
          <a:xfrm rot="2630216" flipH="1" flipV="1">
            <a:off x="8355467" y="4983110"/>
            <a:ext cx="439738" cy="541338"/>
          </a:xfrm>
          <a:custGeom>
            <a:avLst/>
            <a:gdLst>
              <a:gd name="T0" fmla="*/ 0 w 21600"/>
              <a:gd name="T1" fmla="*/ 0 h 32407"/>
              <a:gd name="T2" fmla="*/ 157800698 w 21600"/>
              <a:gd name="T3" fmla="*/ 151052559 h 32407"/>
              <a:gd name="T4" fmla="*/ 0 w 21600"/>
              <a:gd name="T5" fmla="*/ 10067989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170"/>
          <p:cNvSpPr txBox="1">
            <a:spLocks noChangeAspect="1" noChangeArrowheads="1"/>
          </p:cNvSpPr>
          <p:nvPr/>
        </p:nvSpPr>
        <p:spPr bwMode="auto">
          <a:xfrm>
            <a:off x="7974467" y="5002160"/>
            <a:ext cx="5492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p>
        </p:txBody>
      </p:sp>
      <p:sp>
        <p:nvSpPr>
          <p:cNvPr id="196" name="Text Box 1032"/>
          <p:cNvSpPr txBox="1">
            <a:spLocks noChangeArrowheads="1"/>
          </p:cNvSpPr>
          <p:nvPr/>
        </p:nvSpPr>
        <p:spPr bwMode="auto">
          <a:xfrm>
            <a:off x="272953" y="2950015"/>
            <a:ext cx="6255095"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为剪力，它是与横截面平行内力的合力。</a:t>
            </a:r>
            <a:r>
              <a:rPr kumimoji="1" lang="en-US" altLang="zh-CN" sz="2800" b="0" dirty="0">
                <a:latin typeface="+mj-lt"/>
                <a:ea typeface="微软雅黑" panose="020B0503020204020204" pitchFamily="34" charset="-122"/>
              </a:rPr>
              <a:t>M </a:t>
            </a:r>
            <a:r>
              <a:rPr kumimoji="1" lang="zh-CN" altLang="en-US" sz="2800" i="0" dirty="0">
                <a:latin typeface="+mj-lt"/>
                <a:ea typeface="微软雅黑" panose="020B0503020204020204" pitchFamily="34" charset="-122"/>
              </a:rPr>
              <a:t>称为横截面上的弯矩，它是横截面上垂直内力对其形心的合力矩。</a:t>
            </a:r>
            <a:endParaRPr kumimoji="1" lang="en-US" altLang="zh-CN" sz="2800" i="0" dirty="0">
              <a:latin typeface="+mj-lt"/>
              <a:ea typeface="微软雅黑" panose="020B0503020204020204" pitchFamily="34" charset="-122"/>
            </a:endParaRPr>
          </a:p>
          <a:p>
            <a:pPr lvl="0">
              <a:lnSpc>
                <a:spcPct val="130000"/>
              </a:lnSpc>
            </a:pPr>
            <a:r>
              <a:rPr kumimoji="1" lang="en-US" altLang="zh-CN" sz="2800" i="0" dirty="0">
                <a:latin typeface="+mj-lt"/>
                <a:ea typeface="微软雅黑" panose="020B0503020204020204" pitchFamily="34" charset="-122"/>
              </a:rPr>
              <a:t>  </a:t>
            </a:r>
            <a:r>
              <a:rPr kumimoji="1" lang="zh-CN" altLang="en-US" sz="2800" i="0" dirty="0">
                <a:latin typeface="+mj-lt"/>
                <a:ea typeface="微软雅黑" panose="020B0503020204020204" pitchFamily="34" charset="-122"/>
              </a:rPr>
              <a:t>         式</a:t>
            </a:r>
            <a:r>
              <a:rPr kumimoji="1" lang="en-US" altLang="zh-CN" sz="2800" b="0" i="0" dirty="0">
                <a:ea typeface="微软雅黑" panose="020B0503020204020204" pitchFamily="34" charset="-122"/>
              </a:rPr>
              <a:t>(a)</a:t>
            </a:r>
            <a:r>
              <a:rPr kumimoji="1" lang="zh-CN" altLang="en-US" sz="2800" i="0" dirty="0">
                <a:latin typeface="+mj-lt"/>
                <a:ea typeface="微软雅黑" panose="020B0503020204020204" pitchFamily="34" charset="-122"/>
              </a:rPr>
              <a:t>称为剪力方程，</a:t>
            </a:r>
          </a:p>
          <a:p>
            <a:pPr eaLnBrk="1" hangingPunct="1">
              <a:lnSpc>
                <a:spcPct val="130000"/>
              </a:lnSpc>
            </a:pPr>
            <a:r>
              <a:rPr kumimoji="1" lang="zh-CN" altLang="en-US" sz="2800" i="0" dirty="0">
                <a:latin typeface="+mj-lt"/>
                <a:ea typeface="微软雅黑" panose="020B0503020204020204" pitchFamily="34" charset="-122"/>
              </a:rPr>
              <a:t>           式</a:t>
            </a:r>
            <a:r>
              <a:rPr kumimoji="1" lang="en-US" altLang="zh-CN" sz="2800" b="0" i="0" dirty="0">
                <a:ea typeface="微软雅黑" panose="020B0503020204020204" pitchFamily="34" charset="-122"/>
              </a:rPr>
              <a:t>(b)</a:t>
            </a:r>
            <a:r>
              <a:rPr kumimoji="1" lang="zh-CN" altLang="en-US" sz="2800" i="0" dirty="0">
                <a:latin typeface="+mj-lt"/>
                <a:ea typeface="微软雅黑" panose="020B0503020204020204" pitchFamily="34" charset="-122"/>
              </a:rPr>
              <a:t>即称为弯矩方程。</a:t>
            </a:r>
          </a:p>
        </p:txBody>
      </p:sp>
    </p:spTree>
    <p:extLst>
      <p:ext uri="{BB962C8B-B14F-4D97-AF65-F5344CB8AC3E}">
        <p14:creationId xmlns:p14="http://schemas.microsoft.com/office/powerpoint/2010/main" val="39056682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150"/>
                                        </p:tgtEl>
                                        <p:attrNameLst>
                                          <p:attrName>style.visibility</p:attrName>
                                        </p:attrNameLst>
                                      </p:cBhvr>
                                      <p:to>
                                        <p:strVal val="visible"/>
                                      </p:to>
                                    </p:set>
                                    <p:animEffect transition="in" filter="fade">
                                      <p:cBhvr>
                                        <p:cTn id="13" dur="2000"/>
                                        <p:tgtEl>
                                          <p:spTgt spid="150"/>
                                        </p:tgtEl>
                                      </p:cBhvr>
                                    </p:animEffect>
                                  </p:childTnLst>
                                </p:cTn>
                              </p:par>
                              <p:par>
                                <p:cTn id="14" presetID="10" presetClass="entr" presetSubtype="0" fill="hold" nodeType="with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fade">
                                      <p:cBhvr>
                                        <p:cTn id="16" dur="2000"/>
                                        <p:tgtEl>
                                          <p:spTgt spid="128"/>
                                        </p:tgtEl>
                                      </p:cBhvr>
                                    </p:animEffect>
                                  </p:childTnLst>
                                </p:cTn>
                              </p:par>
                              <p:par>
                                <p:cTn id="17" presetID="19" presetClass="entr" presetSubtype="10" fill="hold" grpId="0" nodeType="withEffect">
                                  <p:stCondLst>
                                    <p:cond delay="0"/>
                                  </p:stCondLst>
                                  <p:childTnLst>
                                    <p:set>
                                      <p:cBhvr>
                                        <p:cTn id="18" dur="1" fill="hold">
                                          <p:stCondLst>
                                            <p:cond delay="0"/>
                                          </p:stCondLst>
                                        </p:cTn>
                                        <p:tgtEl>
                                          <p:spTgt spid="141"/>
                                        </p:tgtEl>
                                        <p:attrNameLst>
                                          <p:attrName>style.visibility</p:attrName>
                                        </p:attrNameLst>
                                      </p:cBhvr>
                                      <p:to>
                                        <p:strVal val="visible"/>
                                      </p:to>
                                    </p:set>
                                    <p:anim calcmode="lin" valueType="num">
                                      <p:cBhvr>
                                        <p:cTn id="19" dur="5000" fill="hold"/>
                                        <p:tgtEl>
                                          <p:spTgt spid="141"/>
                                        </p:tgtEl>
                                        <p:attrNameLst>
                                          <p:attrName>ppt_w</p:attrName>
                                        </p:attrNameLst>
                                      </p:cBhvr>
                                      <p:tavLst>
                                        <p:tav tm="0" fmla="#ppt_w*sin(2.5*pi*$)">
                                          <p:val>
                                            <p:fltVal val="0"/>
                                          </p:val>
                                        </p:tav>
                                        <p:tav tm="100000">
                                          <p:val>
                                            <p:fltVal val="1"/>
                                          </p:val>
                                        </p:tav>
                                      </p:tavLst>
                                    </p:anim>
                                    <p:anim calcmode="lin" valueType="num">
                                      <p:cBhvr>
                                        <p:cTn id="20" dur="5000" fill="hold"/>
                                        <p:tgtEl>
                                          <p:spTgt spid="141"/>
                                        </p:tgtEl>
                                        <p:attrNameLst>
                                          <p:attrName>ppt_h</p:attrName>
                                        </p:attrNameLst>
                                      </p:cBhvr>
                                      <p:tavLst>
                                        <p:tav tm="0">
                                          <p:val>
                                            <p:strVal val="#ppt_h"/>
                                          </p:val>
                                        </p:tav>
                                        <p:tav tm="100000">
                                          <p:val>
                                            <p:strVal val="#ppt_h"/>
                                          </p:val>
                                        </p:tav>
                                      </p:tavLst>
                                    </p:anim>
                                  </p:childTnLst>
                                </p:cTn>
                              </p:par>
                              <p:par>
                                <p:cTn id="21" presetID="12" presetClass="entr" presetSubtype="1" fill="hold" grpId="0" nodeType="withEffect">
                                  <p:stCondLst>
                                    <p:cond delay="0"/>
                                  </p:stCondLst>
                                  <p:childTnLst>
                                    <p:set>
                                      <p:cBhvr>
                                        <p:cTn id="22" dur="1" fill="hold">
                                          <p:stCondLst>
                                            <p:cond delay="0"/>
                                          </p:stCondLst>
                                        </p:cTn>
                                        <p:tgtEl>
                                          <p:spTgt spid="153"/>
                                        </p:tgtEl>
                                        <p:attrNameLst>
                                          <p:attrName>style.visibility</p:attrName>
                                        </p:attrNameLst>
                                      </p:cBhvr>
                                      <p:to>
                                        <p:strVal val="visible"/>
                                      </p:to>
                                    </p:set>
                                    <p:animEffect transition="in" filter="slide(fromTop)">
                                      <p:cBhvr>
                                        <p:cTn id="23" dur="5000"/>
                                        <p:tgtEl>
                                          <p:spTgt spid="15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54"/>
                                        </p:tgtEl>
                                        <p:attrNameLst>
                                          <p:attrName>style.visibility</p:attrName>
                                        </p:attrNameLst>
                                      </p:cBhvr>
                                      <p:to>
                                        <p:strVal val="visible"/>
                                      </p:to>
                                    </p:set>
                                    <p:animEffect transition="in" filter="wipe(down)">
                                      <p:cBhvr>
                                        <p:cTn id="26" dur="5000"/>
                                        <p:tgtEl>
                                          <p:spTgt spid="154"/>
                                        </p:tgtEl>
                                      </p:cBhvr>
                                    </p:animEffect>
                                  </p:childTnLst>
                                </p:cTn>
                              </p:par>
                              <p:par>
                                <p:cTn id="27" presetID="19" presetClass="entr" presetSubtype="10" fill="hold" grpId="0" nodeType="withEffect">
                                  <p:stCondLst>
                                    <p:cond delay="0"/>
                                  </p:stCondLst>
                                  <p:childTnLst>
                                    <p:set>
                                      <p:cBhvr>
                                        <p:cTn id="28" dur="1" fill="hold">
                                          <p:stCondLst>
                                            <p:cond delay="0"/>
                                          </p:stCondLst>
                                        </p:cTn>
                                        <p:tgtEl>
                                          <p:spTgt spid="155"/>
                                        </p:tgtEl>
                                        <p:attrNameLst>
                                          <p:attrName>style.visibility</p:attrName>
                                        </p:attrNameLst>
                                      </p:cBhvr>
                                      <p:to>
                                        <p:strVal val="visible"/>
                                      </p:to>
                                    </p:set>
                                    <p:anim calcmode="lin" valueType="num">
                                      <p:cBhvr>
                                        <p:cTn id="29" dur="5000" fill="hold"/>
                                        <p:tgtEl>
                                          <p:spTgt spid="155"/>
                                        </p:tgtEl>
                                        <p:attrNameLst>
                                          <p:attrName>ppt_w</p:attrName>
                                        </p:attrNameLst>
                                      </p:cBhvr>
                                      <p:tavLst>
                                        <p:tav tm="0" fmla="#ppt_w*sin(2.5*pi*$)">
                                          <p:val>
                                            <p:fltVal val="0"/>
                                          </p:val>
                                        </p:tav>
                                        <p:tav tm="100000">
                                          <p:val>
                                            <p:fltVal val="1"/>
                                          </p:val>
                                        </p:tav>
                                      </p:tavLst>
                                    </p:anim>
                                    <p:anim calcmode="lin" valueType="num">
                                      <p:cBhvr>
                                        <p:cTn id="30" dur="5000" fill="hold"/>
                                        <p:tgtEl>
                                          <p:spTgt spid="155"/>
                                        </p:tgtEl>
                                        <p:attrNameLst>
                                          <p:attrName>ppt_h</p:attrName>
                                        </p:attrNameLst>
                                      </p:cBhvr>
                                      <p:tavLst>
                                        <p:tav tm="0">
                                          <p:val>
                                            <p:strVal val="#ppt_h"/>
                                          </p:val>
                                        </p:tav>
                                        <p:tav tm="100000">
                                          <p:val>
                                            <p:strVal val="#ppt_h"/>
                                          </p:val>
                                        </p:tav>
                                      </p:tavLst>
                                    </p:anim>
                                  </p:childTnLst>
                                </p:cTn>
                              </p:par>
                              <p:par>
                                <p:cTn id="31" presetID="9" presetClass="emph" presetSubtype="0" nodeType="withEffect">
                                  <p:stCondLst>
                                    <p:cond delay="0"/>
                                  </p:stCondLst>
                                  <p:childTnLst>
                                    <p:set>
                                      <p:cBhvr rctx="PPT">
                                        <p:cTn id="32" dur="indefinite"/>
                                        <p:tgtEl>
                                          <p:spTgt spid="150"/>
                                        </p:tgtEl>
                                        <p:attrNameLst>
                                          <p:attrName>style.opacity</p:attrName>
                                        </p:attrNameLst>
                                      </p:cBhvr>
                                      <p:to>
                                        <p:strVal val="0.5"/>
                                      </p:to>
                                    </p:set>
                                    <p:animEffect filter="image" prLst="opacity: 0.5">
                                      <p:cBhvr rctx="IE">
                                        <p:cTn id="33" dur="indefinite"/>
                                        <p:tgtEl>
                                          <p:spTgt spid="150"/>
                                        </p:tgtEl>
                                      </p:cBhvr>
                                    </p:animEffect>
                                  </p:childTnLst>
                                </p:cTn>
                              </p:par>
                              <p:par>
                                <p:cTn id="34" presetID="16" presetClass="entr" presetSubtype="37" fill="hold" nodeType="withEffect">
                                  <p:stCondLst>
                                    <p:cond delay="0"/>
                                  </p:stCondLst>
                                  <p:childTnLst>
                                    <p:set>
                                      <p:cBhvr>
                                        <p:cTn id="35" dur="1" fill="hold">
                                          <p:stCondLst>
                                            <p:cond delay="0"/>
                                          </p:stCondLst>
                                        </p:cTn>
                                        <p:tgtEl>
                                          <p:spTgt spid="157"/>
                                        </p:tgtEl>
                                        <p:attrNameLst>
                                          <p:attrName>style.visibility</p:attrName>
                                        </p:attrNameLst>
                                      </p:cBhvr>
                                      <p:to>
                                        <p:strVal val="visible"/>
                                      </p:to>
                                    </p:set>
                                    <p:animEffect transition="in" filter="barn(outVertical)">
                                      <p:cBhvr>
                                        <p:cTn id="36" dur="3000"/>
                                        <p:tgtEl>
                                          <p:spTgt spid="157"/>
                                        </p:tgtEl>
                                      </p:cBhvr>
                                    </p:animEffect>
                                  </p:childTnLst>
                                </p:cTn>
                              </p:par>
                              <p:par>
                                <p:cTn id="37" presetID="20" presetClass="entr" presetSubtype="0" fill="hold" grpId="0" nodeType="withEffect">
                                  <p:stCondLst>
                                    <p:cond delay="0"/>
                                  </p:stCondLst>
                                  <p:childTnLst>
                                    <p:set>
                                      <p:cBhvr>
                                        <p:cTn id="38" dur="1" fill="hold">
                                          <p:stCondLst>
                                            <p:cond delay="0"/>
                                          </p:stCondLst>
                                        </p:cTn>
                                        <p:tgtEl>
                                          <p:spTgt spid="156"/>
                                        </p:tgtEl>
                                        <p:attrNameLst>
                                          <p:attrName>style.visibility</p:attrName>
                                        </p:attrNameLst>
                                      </p:cBhvr>
                                      <p:to>
                                        <p:strVal val="visible"/>
                                      </p:to>
                                    </p:set>
                                    <p:animEffect transition="in" filter="wedge">
                                      <p:cBhvr>
                                        <p:cTn id="39" dur="2000"/>
                                        <p:tgtEl>
                                          <p:spTgt spid="156"/>
                                        </p:tgtEl>
                                      </p:cBhvr>
                                    </p:animEffect>
                                  </p:childTnLst>
                                </p:cTn>
                              </p:par>
                              <p:par>
                                <p:cTn id="40" presetID="16" presetClass="entr" presetSubtype="42" fill="hold" nodeType="withEffect">
                                  <p:stCondLst>
                                    <p:cond delay="3000"/>
                                  </p:stCondLst>
                                  <p:childTnLst>
                                    <p:set>
                                      <p:cBhvr>
                                        <p:cTn id="41" dur="1" fill="hold">
                                          <p:stCondLst>
                                            <p:cond delay="0"/>
                                          </p:stCondLst>
                                        </p:cTn>
                                        <p:tgtEl>
                                          <p:spTgt spid="142"/>
                                        </p:tgtEl>
                                        <p:attrNameLst>
                                          <p:attrName>style.visibility</p:attrName>
                                        </p:attrNameLst>
                                      </p:cBhvr>
                                      <p:to>
                                        <p:strVal val="visible"/>
                                      </p:to>
                                    </p:set>
                                    <p:animEffect transition="in" filter="barn(outHorizontal)">
                                      <p:cBhvr>
                                        <p:cTn id="42" dur="5000"/>
                                        <p:tgtEl>
                                          <p:spTgt spid="142"/>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8000"/>
                            </p:stCondLst>
                            <p:childTnLst>
                              <p:par>
                                <p:cTn id="44" presetID="6" presetClass="emph" presetSubtype="0" repeatCount="2000" accel="50000" decel="50000" autoRev="1" fill="hold" nodeType="afterEffect">
                                  <p:stCondLst>
                                    <p:cond delay="0"/>
                                  </p:stCondLst>
                                  <p:childTnLst>
                                    <p:animScale>
                                      <p:cBhvr>
                                        <p:cTn id="45" dur="3000" fill="hold"/>
                                        <p:tgtEl>
                                          <p:spTgt spid="142"/>
                                        </p:tgtEl>
                                      </p:cBhvr>
                                      <p:by x="150000" y="150000"/>
                                    </p:animScale>
                                  </p:childTnLst>
                                </p:cTn>
                              </p:par>
                              <p:par>
                                <p:cTn id="46" presetID="1" presetClass="entr" presetSubtype="0" fill="hold" nodeType="withEffect">
                                  <p:stCondLst>
                                    <p:cond delay="0"/>
                                  </p:stCondLst>
                                  <p:childTnLst>
                                    <p:set>
                                      <p:cBhvr>
                                        <p:cTn id="47" dur="1" fill="hold">
                                          <p:stCondLst>
                                            <p:cond delay="0"/>
                                          </p:stCondLst>
                                        </p:cTn>
                                        <p:tgtEl>
                                          <p:spTgt spid="160"/>
                                        </p:tgtEl>
                                        <p:attrNameLst>
                                          <p:attrName>style.visibility</p:attrName>
                                        </p:attrNameLst>
                                      </p:cBhvr>
                                      <p:to>
                                        <p:strVal val="visible"/>
                                      </p:to>
                                    </p:set>
                                  </p:childTnLst>
                                </p:cTn>
                              </p:par>
                              <p:par>
                                <p:cTn id="48" presetID="0" presetClass="path" presetSubtype="0" accel="50000" decel="50000" fill="hold" nodeType="withEffect">
                                  <p:stCondLst>
                                    <p:cond delay="0"/>
                                  </p:stCondLst>
                                  <p:childTnLst>
                                    <p:animMotion origin="layout" path="M 1.94444E-6 -2.96296E-6 L -0.00295 -0.24444 " pathEditMode="relative" ptsTypes="AA">
                                      <p:cBhvr>
                                        <p:cTn id="49" dur="5000" spd="-100000" fill="hold"/>
                                        <p:tgtEl>
                                          <p:spTgt spid="160"/>
                                        </p:tgtEl>
                                        <p:attrNameLst>
                                          <p:attrName>ppt_x</p:attrName>
                                          <p:attrName>ppt_y</p:attrName>
                                        </p:attrNameLst>
                                      </p:cBhvr>
                                    </p:animMotion>
                                  </p:childTnLst>
                                </p:cTn>
                              </p:par>
                              <p:par>
                                <p:cTn id="50" presetID="1" presetClass="entr" presetSubtype="0" fill="hold" nodeType="withEffect">
                                  <p:stCondLst>
                                    <p:cond delay="5000"/>
                                  </p:stCondLst>
                                  <p:childTnLst>
                                    <p:set>
                                      <p:cBhvr>
                                        <p:cTn id="51" dur="1" fill="hold">
                                          <p:stCondLst>
                                            <p:cond delay="0"/>
                                          </p:stCondLst>
                                        </p:cTn>
                                        <p:tgtEl>
                                          <p:spTgt spid="175"/>
                                        </p:tgtEl>
                                        <p:attrNameLst>
                                          <p:attrName>style.visibility</p:attrName>
                                        </p:attrNameLst>
                                      </p:cBhvr>
                                      <p:to>
                                        <p:strVal val="visible"/>
                                      </p:to>
                                    </p:set>
                                  </p:childTnLst>
                                </p:cTn>
                              </p:par>
                              <p:par>
                                <p:cTn id="52" presetID="0" presetClass="path" presetSubtype="0" accel="50000" decel="50000" fill="hold" nodeType="withEffect">
                                  <p:stCondLst>
                                    <p:cond delay="5000"/>
                                  </p:stCondLst>
                                  <p:childTnLst>
                                    <p:animMotion origin="layout" path="M 1.94444E-6 -7.40741E-6 L -0.00452 -0.44052 " pathEditMode="relative" ptsTypes="AA">
                                      <p:cBhvr>
                                        <p:cTn id="53" dur="5000" spd="-100000" fill="hold"/>
                                        <p:tgtEl>
                                          <p:spTgt spid="175"/>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grpId="0" nodeType="clickEffect">
                                  <p:stCondLst>
                                    <p:cond delay="0"/>
                                  </p:stCondLst>
                                  <p:childTnLst>
                                    <p:set>
                                      <p:cBhvr>
                                        <p:cTn id="57" dur="1" fill="hold">
                                          <p:stCondLst>
                                            <p:cond delay="0"/>
                                          </p:stCondLst>
                                        </p:cTn>
                                        <p:tgtEl>
                                          <p:spTgt spid="146"/>
                                        </p:tgtEl>
                                        <p:attrNameLst>
                                          <p:attrName>style.visibility</p:attrName>
                                        </p:attrNameLst>
                                      </p:cBhvr>
                                      <p:to>
                                        <p:strVal val="visible"/>
                                      </p:to>
                                    </p:set>
                                    <p:animEffect transition="in" filter="slide(fromTop)">
                                      <p:cBhvr>
                                        <p:cTn id="58" dur="5000"/>
                                        <p:tgtEl>
                                          <p:spTgt spid="146"/>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par>
                          <p:cTn id="59" fill="hold">
                            <p:stCondLst>
                              <p:cond delay="5000"/>
                            </p:stCondLst>
                            <p:childTnLst>
                              <p:par>
                                <p:cTn id="60" presetID="6" presetClass="emph" presetSubtype="0" repeatCount="2000" accel="50000" decel="50000" autoRev="1" fill="hold" grpId="1" nodeType="afterEffect">
                                  <p:stCondLst>
                                    <p:cond delay="0"/>
                                  </p:stCondLst>
                                  <p:childTnLst>
                                    <p:animScale>
                                      <p:cBhvr>
                                        <p:cTn id="61" dur="3000" fill="hold"/>
                                        <p:tgtEl>
                                          <p:spTgt spid="146"/>
                                        </p:tgtEl>
                                      </p:cBhvr>
                                      <p:by x="150000" y="150000"/>
                                    </p:animScale>
                                  </p:childTnLst>
                                </p:cTn>
                              </p:par>
                              <p:par>
                                <p:cTn id="62" presetID="19" presetClass="entr" presetSubtype="10" fill="hold" grpId="0" nodeType="withEffect">
                                  <p:stCondLst>
                                    <p:cond delay="0"/>
                                  </p:stCondLst>
                                  <p:childTnLst>
                                    <p:set>
                                      <p:cBhvr>
                                        <p:cTn id="63" dur="1" fill="hold">
                                          <p:stCondLst>
                                            <p:cond delay="0"/>
                                          </p:stCondLst>
                                        </p:cTn>
                                        <p:tgtEl>
                                          <p:spTgt spid="147"/>
                                        </p:tgtEl>
                                        <p:attrNameLst>
                                          <p:attrName>style.visibility</p:attrName>
                                        </p:attrNameLst>
                                      </p:cBhvr>
                                      <p:to>
                                        <p:strVal val="visible"/>
                                      </p:to>
                                    </p:set>
                                    <p:anim calcmode="lin" valueType="num">
                                      <p:cBhvr>
                                        <p:cTn id="64" dur="5000" fill="hold"/>
                                        <p:tgtEl>
                                          <p:spTgt spid="147"/>
                                        </p:tgtEl>
                                        <p:attrNameLst>
                                          <p:attrName>ppt_w</p:attrName>
                                        </p:attrNameLst>
                                      </p:cBhvr>
                                      <p:tavLst>
                                        <p:tav tm="0" fmla="#ppt_w*sin(2.5*pi*$)">
                                          <p:val>
                                            <p:fltVal val="0"/>
                                          </p:val>
                                        </p:tav>
                                        <p:tav tm="100000">
                                          <p:val>
                                            <p:fltVal val="1"/>
                                          </p:val>
                                        </p:tav>
                                      </p:tavLst>
                                    </p:anim>
                                    <p:anim calcmode="lin" valueType="num">
                                      <p:cBhvr>
                                        <p:cTn id="65" dur="5000" fill="hold"/>
                                        <p:tgtEl>
                                          <p:spTgt spid="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148"/>
                                        </p:tgtEl>
                                        <p:attrNameLst>
                                          <p:attrName>style.visibility</p:attrName>
                                        </p:attrNameLst>
                                      </p:cBhvr>
                                      <p:to>
                                        <p:strVal val="visible"/>
                                      </p:to>
                                    </p:set>
                                    <p:animEffect transition="in" filter="wipe(down)">
                                      <p:cBhvr>
                                        <p:cTn id="70" dur="5000"/>
                                        <p:tgtEl>
                                          <p:spTgt spid="148"/>
                                        </p:tgtEl>
                                      </p:cBhvr>
                                    </p:animEffect>
                                  </p:childTnLst>
                                </p:cTn>
                              </p:par>
                            </p:childTnLst>
                          </p:cTn>
                        </p:par>
                        <p:par>
                          <p:cTn id="71" fill="hold">
                            <p:stCondLst>
                              <p:cond delay="5000"/>
                            </p:stCondLst>
                            <p:childTnLst>
                              <p:par>
                                <p:cTn id="72" presetID="8" presetClass="emph" presetSubtype="0" repeatCount="2000" fill="hold" grpId="1" nodeType="afterEffect">
                                  <p:stCondLst>
                                    <p:cond delay="0"/>
                                  </p:stCondLst>
                                  <p:childTnLst>
                                    <p:animRot by="-21600000">
                                      <p:cBhvr>
                                        <p:cTn id="73" dur="3000" fill="hold"/>
                                        <p:tgtEl>
                                          <p:spTgt spid="148"/>
                                        </p:tgtEl>
                                        <p:attrNameLst>
                                          <p:attrName>r</p:attrName>
                                        </p:attrNameLst>
                                      </p:cBhvr>
                                    </p:animRot>
                                  </p:childTnLst>
                                </p:cTn>
                              </p:par>
                              <p:par>
                                <p:cTn id="74" presetID="19" presetClass="entr" presetSubtype="10" fill="hold" grpId="0" nodeType="withEffect">
                                  <p:stCondLst>
                                    <p:cond delay="0"/>
                                  </p:stCondLst>
                                  <p:childTnLst>
                                    <p:set>
                                      <p:cBhvr>
                                        <p:cTn id="75" dur="1" fill="hold">
                                          <p:stCondLst>
                                            <p:cond delay="0"/>
                                          </p:stCondLst>
                                        </p:cTn>
                                        <p:tgtEl>
                                          <p:spTgt spid="149"/>
                                        </p:tgtEl>
                                        <p:attrNameLst>
                                          <p:attrName>style.visibility</p:attrName>
                                        </p:attrNameLst>
                                      </p:cBhvr>
                                      <p:to>
                                        <p:strVal val="visible"/>
                                      </p:to>
                                    </p:set>
                                    <p:anim calcmode="lin" valueType="num">
                                      <p:cBhvr>
                                        <p:cTn id="76" dur="5000" fill="hold"/>
                                        <p:tgtEl>
                                          <p:spTgt spid="149"/>
                                        </p:tgtEl>
                                        <p:attrNameLst>
                                          <p:attrName>ppt_w</p:attrName>
                                        </p:attrNameLst>
                                      </p:cBhvr>
                                      <p:tavLst>
                                        <p:tav tm="0" fmla="#ppt_w*sin(2.5*pi*$)">
                                          <p:val>
                                            <p:fltVal val="0"/>
                                          </p:val>
                                        </p:tav>
                                        <p:tav tm="100000">
                                          <p:val>
                                            <p:fltVal val="1"/>
                                          </p:val>
                                        </p:tav>
                                      </p:tavLst>
                                    </p:anim>
                                    <p:anim calcmode="lin" valueType="num">
                                      <p:cBhvr>
                                        <p:cTn id="77" dur="5000" fill="hold"/>
                                        <p:tgtEl>
                                          <p:spTgt spid="14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192"/>
                                        </p:tgtEl>
                                        <p:attrNameLst>
                                          <p:attrName>style.visibility</p:attrName>
                                        </p:attrNameLst>
                                      </p:cBhvr>
                                      <p:to>
                                        <p:strVal val="visible"/>
                                      </p:to>
                                    </p:set>
                                    <p:animEffect transition="in" filter="slide(fromBottom)">
                                      <p:cBhvr>
                                        <p:cTn id="82" dur="5000"/>
                                        <p:tgtEl>
                                          <p:spTgt spid="192"/>
                                        </p:tgtEl>
                                      </p:cBhvr>
                                    </p:animEffect>
                                  </p:childTnLst>
                                  <p:subTnLst>
                                    <p:audio>
                                      <p:cMediaNode>
                                        <p:cTn display="0" masterRel="sameClick">
                                          <p:stCondLst>
                                            <p:cond evt="begin" delay="0">
                                              <p:tn val="80"/>
                                            </p:cond>
                                          </p:stCondLst>
                                          <p:endCondLst>
                                            <p:cond evt="onStopAudio" delay="0">
                                              <p:tgtEl>
                                                <p:sldTgt/>
                                              </p:tgtEl>
                                            </p:cond>
                                          </p:endCondLst>
                                        </p:cTn>
                                        <p:tgtEl>
                                          <p:sndTgt r:embed="rId4" name="CHIMES.WAV"/>
                                        </p:tgtEl>
                                      </p:cMediaNode>
                                    </p:audio>
                                  </p:subTnLst>
                                </p:cTn>
                              </p:par>
                            </p:childTnLst>
                          </p:cTn>
                        </p:par>
                        <p:par>
                          <p:cTn id="83" fill="hold">
                            <p:stCondLst>
                              <p:cond delay="5000"/>
                            </p:stCondLst>
                            <p:childTnLst>
                              <p:par>
                                <p:cTn id="84" presetID="6" presetClass="emph" presetSubtype="0" repeatCount="2000" accel="50000" decel="50000" autoRev="1" fill="hold" grpId="1" nodeType="afterEffect">
                                  <p:stCondLst>
                                    <p:cond delay="0"/>
                                  </p:stCondLst>
                                  <p:childTnLst>
                                    <p:animScale>
                                      <p:cBhvr>
                                        <p:cTn id="85" dur="3000" fill="hold"/>
                                        <p:tgtEl>
                                          <p:spTgt spid="192"/>
                                        </p:tgtEl>
                                      </p:cBhvr>
                                      <p:by x="150000" y="150000"/>
                                    </p:animScale>
                                  </p:childTnLst>
                                </p:cTn>
                              </p:par>
                              <p:par>
                                <p:cTn id="86" presetID="19" presetClass="entr" presetSubtype="10" fill="hold" grpId="0" nodeType="withEffect">
                                  <p:stCondLst>
                                    <p:cond delay="0"/>
                                  </p:stCondLst>
                                  <p:childTnLst>
                                    <p:set>
                                      <p:cBhvr>
                                        <p:cTn id="87" dur="1" fill="hold">
                                          <p:stCondLst>
                                            <p:cond delay="0"/>
                                          </p:stCondLst>
                                        </p:cTn>
                                        <p:tgtEl>
                                          <p:spTgt spid="193"/>
                                        </p:tgtEl>
                                        <p:attrNameLst>
                                          <p:attrName>style.visibility</p:attrName>
                                        </p:attrNameLst>
                                      </p:cBhvr>
                                      <p:to>
                                        <p:strVal val="visible"/>
                                      </p:to>
                                    </p:set>
                                    <p:anim calcmode="lin" valueType="num">
                                      <p:cBhvr>
                                        <p:cTn id="88" dur="5000" fill="hold"/>
                                        <p:tgtEl>
                                          <p:spTgt spid="193"/>
                                        </p:tgtEl>
                                        <p:attrNameLst>
                                          <p:attrName>ppt_w</p:attrName>
                                        </p:attrNameLst>
                                      </p:cBhvr>
                                      <p:tavLst>
                                        <p:tav tm="0" fmla="#ppt_w*sin(2.5*pi*$)">
                                          <p:val>
                                            <p:fltVal val="0"/>
                                          </p:val>
                                        </p:tav>
                                        <p:tav tm="100000">
                                          <p:val>
                                            <p:fltVal val="1"/>
                                          </p:val>
                                        </p:tav>
                                      </p:tavLst>
                                    </p:anim>
                                    <p:anim calcmode="lin" valueType="num">
                                      <p:cBhvr>
                                        <p:cTn id="89" dur="5000" fill="hold"/>
                                        <p:tgtEl>
                                          <p:spTgt spid="19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194"/>
                                        </p:tgtEl>
                                        <p:attrNameLst>
                                          <p:attrName>style.visibility</p:attrName>
                                        </p:attrNameLst>
                                      </p:cBhvr>
                                      <p:to>
                                        <p:strVal val="visible"/>
                                      </p:to>
                                    </p:set>
                                    <p:animEffect transition="in" filter="wipe(down)">
                                      <p:cBhvr>
                                        <p:cTn id="94" dur="5000"/>
                                        <p:tgtEl>
                                          <p:spTgt spid="194"/>
                                        </p:tgtEl>
                                      </p:cBhvr>
                                    </p:animEffect>
                                  </p:childTnLst>
                                </p:cTn>
                              </p:par>
                            </p:childTnLst>
                          </p:cTn>
                        </p:par>
                        <p:par>
                          <p:cTn id="95" fill="hold">
                            <p:stCondLst>
                              <p:cond delay="5000"/>
                            </p:stCondLst>
                            <p:childTnLst>
                              <p:par>
                                <p:cTn id="96" presetID="8" presetClass="emph" presetSubtype="0" repeatCount="2000" fill="hold" grpId="1" nodeType="afterEffect">
                                  <p:stCondLst>
                                    <p:cond delay="0"/>
                                  </p:stCondLst>
                                  <p:childTnLst>
                                    <p:animRot by="21600000">
                                      <p:cBhvr>
                                        <p:cTn id="97" dur="3000" fill="hold"/>
                                        <p:tgtEl>
                                          <p:spTgt spid="194"/>
                                        </p:tgtEl>
                                        <p:attrNameLst>
                                          <p:attrName>r</p:attrName>
                                        </p:attrNameLst>
                                      </p:cBhvr>
                                    </p:animRot>
                                  </p:childTnLst>
                                </p:cTn>
                              </p:par>
                              <p:par>
                                <p:cTn id="98" presetID="19" presetClass="entr" presetSubtype="10" fill="hold" grpId="0" nodeType="withEffect">
                                  <p:stCondLst>
                                    <p:cond delay="0"/>
                                  </p:stCondLst>
                                  <p:childTnLst>
                                    <p:set>
                                      <p:cBhvr>
                                        <p:cTn id="99" dur="1" fill="hold">
                                          <p:stCondLst>
                                            <p:cond delay="0"/>
                                          </p:stCondLst>
                                        </p:cTn>
                                        <p:tgtEl>
                                          <p:spTgt spid="195"/>
                                        </p:tgtEl>
                                        <p:attrNameLst>
                                          <p:attrName>style.visibility</p:attrName>
                                        </p:attrNameLst>
                                      </p:cBhvr>
                                      <p:to>
                                        <p:strVal val="visible"/>
                                      </p:to>
                                    </p:set>
                                    <p:anim calcmode="lin" valueType="num">
                                      <p:cBhvr>
                                        <p:cTn id="100" dur="5000" fill="hold"/>
                                        <p:tgtEl>
                                          <p:spTgt spid="195"/>
                                        </p:tgtEl>
                                        <p:attrNameLst>
                                          <p:attrName>ppt_w</p:attrName>
                                        </p:attrNameLst>
                                      </p:cBhvr>
                                      <p:tavLst>
                                        <p:tav tm="0" fmla="#ppt_w*sin(2.5*pi*$)">
                                          <p:val>
                                            <p:fltVal val="0"/>
                                          </p:val>
                                        </p:tav>
                                        <p:tav tm="100000">
                                          <p:val>
                                            <p:fltVal val="1"/>
                                          </p:val>
                                        </p:tav>
                                      </p:tavLst>
                                    </p:anim>
                                    <p:anim calcmode="lin" valueType="num">
                                      <p:cBhvr>
                                        <p:cTn id="101" dur="5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4" name="CHIMES.WAV"/>
                                        </p:tgtEl>
                                      </p:cMediaNode>
                                    </p:audio>
                                  </p:sub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141" grpId="0"/>
      <p:bldP spid="146" grpId="0" animBg="1"/>
      <p:bldP spid="146" grpId="1" animBg="1"/>
      <p:bldP spid="147" grpId="0" autoUpdateAnimBg="0"/>
      <p:bldP spid="148" grpId="0" animBg="1"/>
      <p:bldP spid="148" grpId="1" animBg="1"/>
      <p:bldP spid="149" grpId="0" autoUpdateAnimBg="0"/>
      <p:bldP spid="153" grpId="0" animBg="1"/>
      <p:bldP spid="154" grpId="0" animBg="1"/>
      <p:bldP spid="155" grpId="0"/>
      <p:bldP spid="156" grpId="0"/>
      <p:bldP spid="192" grpId="0" animBg="1"/>
      <p:bldP spid="192" grpId="1" animBg="1"/>
      <p:bldP spid="193" grpId="0" autoUpdateAnimBg="0"/>
      <p:bldP spid="194" grpId="0" animBg="1"/>
      <p:bldP spid="194" grpId="1" animBg="1"/>
      <p:bldP spid="195" grpId="0" autoUpdateAnimBg="0"/>
      <p:bldP spid="19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983432" y="1700808"/>
            <a:ext cx="9433048" cy="1979322"/>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272953" y="932195"/>
            <a:ext cx="1115163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latin typeface="+mj-lt"/>
                <a:ea typeface="微软雅黑" panose="020B0503020204020204" pitchFamily="34" charset="-122"/>
              </a:rPr>
              <a:t> </a:t>
            </a:r>
            <a:r>
              <a:rPr kumimoji="1" lang="zh-CN" altLang="en-US" sz="2800" i="0" dirty="0">
                <a:latin typeface="+mj-lt"/>
                <a:ea typeface="微软雅黑" panose="020B0503020204020204" pitchFamily="34" charset="-122"/>
              </a:rPr>
              <a:t>为使取左段或取右段得到的同一截面上的内力符号一致，特规定如下</a:t>
            </a:r>
            <a:endParaRPr lang="zh-CN" altLang="en-US" sz="2800" i="0" dirty="0">
              <a:latin typeface="+mj-lt"/>
              <a:ea typeface="微软雅黑" panose="020B0503020204020204" pitchFamily="34" charset="-122"/>
            </a:endParaRPr>
          </a:p>
        </p:txBody>
      </p:sp>
      <p:sp>
        <p:nvSpPr>
          <p:cNvPr id="74" name="Freeform 33"/>
          <p:cNvSpPr>
            <a:spLocks noChangeAspect="1"/>
          </p:cNvSpPr>
          <p:nvPr/>
        </p:nvSpPr>
        <p:spPr bwMode="auto">
          <a:xfrm>
            <a:off x="5636048" y="2355602"/>
            <a:ext cx="1155700" cy="758825"/>
          </a:xfrm>
          <a:custGeom>
            <a:avLst/>
            <a:gdLst>
              <a:gd name="T0" fmla="*/ 0 w 728"/>
              <a:gd name="T1" fmla="*/ 945059543 h 478"/>
              <a:gd name="T2" fmla="*/ 327620302 w 728"/>
              <a:gd name="T3" fmla="*/ 0 h 478"/>
              <a:gd name="T4" fmla="*/ 652721242 w 728"/>
              <a:gd name="T5" fmla="*/ 108367534 h 478"/>
              <a:gd name="T6" fmla="*/ 907256343 w 728"/>
              <a:gd name="T7" fmla="*/ 146169075 h 478"/>
              <a:gd name="T8" fmla="*/ 1169352505 w 728"/>
              <a:gd name="T9" fmla="*/ 126007830 h 478"/>
              <a:gd name="T10" fmla="*/ 1343244021 w 728"/>
              <a:gd name="T11" fmla="*/ 78124055 h 478"/>
              <a:gd name="T12" fmla="*/ 1502013018 w 728"/>
              <a:gd name="T13" fmla="*/ 0 h 478"/>
              <a:gd name="T14" fmla="*/ 1524695211 w 728"/>
              <a:gd name="T15" fmla="*/ 42843451 h 478"/>
              <a:gd name="T16" fmla="*/ 1834673928 w 728"/>
              <a:gd name="T17" fmla="*/ 982861083 h 478"/>
              <a:gd name="T18" fmla="*/ 1718746780 w 728"/>
              <a:gd name="T19" fmla="*/ 1058465752 h 478"/>
              <a:gd name="T20" fmla="*/ 1592738613 w 728"/>
              <a:gd name="T21" fmla="*/ 1113909175 h 478"/>
              <a:gd name="T22" fmla="*/ 1381045559 w 728"/>
              <a:gd name="T23" fmla="*/ 1174392909 h 478"/>
              <a:gd name="T24" fmla="*/ 1123989707 w 728"/>
              <a:gd name="T25" fmla="*/ 1199594466 h 478"/>
              <a:gd name="T26" fmla="*/ 834172630 w 728"/>
              <a:gd name="T27" fmla="*/ 1199594466 h 478"/>
              <a:gd name="T28" fmla="*/ 509071590 w 728"/>
              <a:gd name="T29" fmla="*/ 1161792925 h 478"/>
              <a:gd name="T30" fmla="*/ 216733464 w 728"/>
              <a:gd name="T31" fmla="*/ 1053425440 h 478"/>
              <a:gd name="T32" fmla="*/ 0 w 728"/>
              <a:gd name="T33" fmla="*/ 945059543 h 4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8"/>
              <a:gd name="T52" fmla="*/ 0 h 478"/>
              <a:gd name="T53" fmla="*/ 728 w 728"/>
              <a:gd name="T54" fmla="*/ 478 h 47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8" h="478">
                <a:moveTo>
                  <a:pt x="0" y="375"/>
                </a:moveTo>
                <a:lnTo>
                  <a:pt x="130" y="0"/>
                </a:lnTo>
                <a:lnTo>
                  <a:pt x="259" y="43"/>
                </a:lnTo>
                <a:cubicBezTo>
                  <a:pt x="346" y="58"/>
                  <a:pt x="324" y="58"/>
                  <a:pt x="360" y="58"/>
                </a:cubicBezTo>
                <a:cubicBezTo>
                  <a:pt x="394" y="59"/>
                  <a:pt x="435" y="54"/>
                  <a:pt x="464" y="50"/>
                </a:cubicBezTo>
                <a:cubicBezTo>
                  <a:pt x="493" y="46"/>
                  <a:pt x="511" y="39"/>
                  <a:pt x="533" y="31"/>
                </a:cubicBezTo>
                <a:cubicBezTo>
                  <a:pt x="555" y="23"/>
                  <a:pt x="580" y="10"/>
                  <a:pt x="596" y="0"/>
                </a:cubicBezTo>
                <a:cubicBezTo>
                  <a:pt x="602" y="22"/>
                  <a:pt x="602" y="2"/>
                  <a:pt x="605" y="17"/>
                </a:cubicBezTo>
                <a:cubicBezTo>
                  <a:pt x="605" y="17"/>
                  <a:pt x="715" y="323"/>
                  <a:pt x="728" y="390"/>
                </a:cubicBezTo>
                <a:cubicBezTo>
                  <a:pt x="692" y="418"/>
                  <a:pt x="698" y="408"/>
                  <a:pt x="682" y="420"/>
                </a:cubicBezTo>
                <a:cubicBezTo>
                  <a:pt x="666" y="427"/>
                  <a:pt x="658" y="432"/>
                  <a:pt x="632" y="442"/>
                </a:cubicBezTo>
                <a:cubicBezTo>
                  <a:pt x="596" y="456"/>
                  <a:pt x="580" y="460"/>
                  <a:pt x="548" y="466"/>
                </a:cubicBezTo>
                <a:cubicBezTo>
                  <a:pt x="526" y="472"/>
                  <a:pt x="482" y="474"/>
                  <a:pt x="446" y="476"/>
                </a:cubicBezTo>
                <a:cubicBezTo>
                  <a:pt x="410" y="478"/>
                  <a:pt x="372" y="478"/>
                  <a:pt x="331" y="476"/>
                </a:cubicBezTo>
                <a:cubicBezTo>
                  <a:pt x="290" y="473"/>
                  <a:pt x="242" y="471"/>
                  <a:pt x="202" y="461"/>
                </a:cubicBezTo>
                <a:cubicBezTo>
                  <a:pt x="161" y="452"/>
                  <a:pt x="124" y="434"/>
                  <a:pt x="86" y="418"/>
                </a:cubicBezTo>
                <a:cubicBezTo>
                  <a:pt x="14" y="384"/>
                  <a:pt x="0" y="375"/>
                  <a:pt x="0" y="375"/>
                </a:cubicBezTo>
                <a:close/>
              </a:path>
            </a:pathLst>
          </a:custGeom>
          <a:gradFill rotWithShape="0">
            <a:gsLst>
              <a:gs pos="0">
                <a:srgbClr val="C0C0C0"/>
              </a:gs>
              <a:gs pos="50000">
                <a:srgbClr val="EAEAEA"/>
              </a:gs>
              <a:gs pos="100000">
                <a:srgbClr val="C0C0C0"/>
              </a:gs>
            </a:gsLst>
            <a:lin ang="0" scaled="1"/>
          </a:gradFill>
          <a:ln w="38100" cap="flat" cmpd="sng">
            <a:solidFill>
              <a:srgbClr val="000000"/>
            </a:solidFill>
            <a:prstDash val="solid"/>
            <a:round/>
            <a:headEnd type="none" w="med" len="med"/>
            <a:tailEnd type="none" w="med" len="med"/>
          </a:ln>
        </p:spPr>
        <p:txBody>
          <a:bodyPr/>
          <a:lstStyle/>
          <a:p>
            <a:endParaRPr lang="zh-CN" altLang="en-US"/>
          </a:p>
        </p:txBody>
      </p:sp>
      <p:sp>
        <p:nvSpPr>
          <p:cNvPr id="75" name="Text Box 2"/>
          <p:cNvSpPr txBox="1">
            <a:spLocks noChangeAspect="1" noChangeArrowheads="1"/>
          </p:cNvSpPr>
          <p:nvPr/>
        </p:nvSpPr>
        <p:spPr bwMode="auto">
          <a:xfrm>
            <a:off x="9400011" y="2414340"/>
            <a:ext cx="641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76" name="Text Box 3"/>
          <p:cNvSpPr txBox="1">
            <a:spLocks noChangeAspect="1" noChangeArrowheads="1"/>
          </p:cNvSpPr>
          <p:nvPr/>
        </p:nvSpPr>
        <p:spPr bwMode="auto">
          <a:xfrm>
            <a:off x="7482311" y="2417515"/>
            <a:ext cx="6397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77" name="AutoShape 6"/>
          <p:cNvSpPr>
            <a:spLocks noChangeAspect="1" noChangeArrowheads="1"/>
          </p:cNvSpPr>
          <p:nvPr/>
        </p:nvSpPr>
        <p:spPr bwMode="auto">
          <a:xfrm rot="16200000">
            <a:off x="1604592" y="2381796"/>
            <a:ext cx="1281112" cy="387350"/>
          </a:xfrm>
          <a:prstGeom prst="parallelogram">
            <a:avLst>
              <a:gd name="adj" fmla="val 82684"/>
            </a:avLst>
          </a:prstGeom>
          <a:gradFill rotWithShape="0">
            <a:gsLst>
              <a:gs pos="0">
                <a:srgbClr val="C0C0C0"/>
              </a:gs>
              <a:gs pos="50000">
                <a:srgbClr val="EAEAEA"/>
              </a:gs>
              <a:gs pos="100000">
                <a:srgbClr val="C0C0C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78" name="AutoShape 7"/>
          <p:cNvSpPr>
            <a:spLocks noChangeAspect="1" noChangeArrowheads="1"/>
          </p:cNvSpPr>
          <p:nvPr/>
        </p:nvSpPr>
        <p:spPr bwMode="auto">
          <a:xfrm rot="5400000" flipV="1">
            <a:off x="3384974" y="2479427"/>
            <a:ext cx="1281112" cy="388937"/>
          </a:xfrm>
          <a:prstGeom prst="parallelogram">
            <a:avLst>
              <a:gd name="adj" fmla="val 82347"/>
            </a:avLst>
          </a:prstGeom>
          <a:gradFill rotWithShape="0">
            <a:gsLst>
              <a:gs pos="0">
                <a:srgbClr val="C0C0C0"/>
              </a:gs>
              <a:gs pos="50000">
                <a:srgbClr val="EAEAEA"/>
              </a:gs>
              <a:gs pos="100000">
                <a:srgbClr val="C0C0C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79" name="Line 8"/>
          <p:cNvSpPr>
            <a:spLocks noChangeAspect="1" noChangeShapeType="1"/>
          </p:cNvSpPr>
          <p:nvPr/>
        </p:nvSpPr>
        <p:spPr bwMode="auto">
          <a:xfrm>
            <a:off x="2599161" y="2285752"/>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0" name="Text Box 9"/>
          <p:cNvSpPr txBox="1">
            <a:spLocks noChangeAspect="1" noChangeArrowheads="1"/>
          </p:cNvSpPr>
          <p:nvPr/>
        </p:nvSpPr>
        <p:spPr bwMode="auto">
          <a:xfrm>
            <a:off x="2635673" y="2361952"/>
            <a:ext cx="67627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1" name="Line 10"/>
          <p:cNvSpPr>
            <a:spLocks noChangeAspect="1" noChangeShapeType="1"/>
          </p:cNvSpPr>
          <p:nvPr/>
        </p:nvSpPr>
        <p:spPr bwMode="auto">
          <a:xfrm flipV="1">
            <a:off x="1913361" y="2023815"/>
            <a:ext cx="0" cy="8651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2" name="Text Box 11"/>
          <p:cNvSpPr txBox="1">
            <a:spLocks noChangeAspect="1" noChangeArrowheads="1"/>
          </p:cNvSpPr>
          <p:nvPr/>
        </p:nvSpPr>
        <p:spPr bwMode="auto">
          <a:xfrm>
            <a:off x="1325986" y="2209552"/>
            <a:ext cx="7223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3" name="Line 12"/>
          <p:cNvSpPr>
            <a:spLocks noChangeAspect="1" noChangeShapeType="1"/>
          </p:cNvSpPr>
          <p:nvPr/>
        </p:nvSpPr>
        <p:spPr bwMode="auto">
          <a:xfrm flipV="1">
            <a:off x="4334298" y="2158752"/>
            <a:ext cx="0" cy="8128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4" name="Text Box 13"/>
          <p:cNvSpPr txBox="1">
            <a:spLocks noChangeAspect="1" noChangeArrowheads="1"/>
          </p:cNvSpPr>
          <p:nvPr/>
        </p:nvSpPr>
        <p:spPr bwMode="auto">
          <a:xfrm>
            <a:off x="4334298" y="2347665"/>
            <a:ext cx="73183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5" name="Line 14"/>
          <p:cNvSpPr>
            <a:spLocks noChangeAspect="1" noChangeShapeType="1"/>
          </p:cNvSpPr>
          <p:nvPr/>
        </p:nvSpPr>
        <p:spPr bwMode="auto">
          <a:xfrm>
            <a:off x="3716761" y="2384177"/>
            <a:ext cx="0" cy="8382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6" name="Text Box 15"/>
          <p:cNvSpPr txBox="1">
            <a:spLocks noChangeAspect="1" noChangeArrowheads="1"/>
          </p:cNvSpPr>
          <p:nvPr/>
        </p:nvSpPr>
        <p:spPr bwMode="auto">
          <a:xfrm>
            <a:off x="3088111" y="2193677"/>
            <a:ext cx="8239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7" name="Arc 16"/>
          <p:cNvSpPr>
            <a:spLocks noChangeAspect="1"/>
          </p:cNvSpPr>
          <p:nvPr/>
        </p:nvSpPr>
        <p:spPr bwMode="auto">
          <a:xfrm rot="18567265" flipV="1">
            <a:off x="6391698" y="2452440"/>
            <a:ext cx="708025" cy="622300"/>
          </a:xfrm>
          <a:custGeom>
            <a:avLst/>
            <a:gdLst>
              <a:gd name="T0" fmla="*/ 316658953 w 21600"/>
              <a:gd name="T1" fmla="*/ 0 h 31243"/>
              <a:gd name="T2" fmla="*/ 641665256 w 21600"/>
              <a:gd name="T3" fmla="*/ 246884551 h 31243"/>
              <a:gd name="T4" fmla="*/ 0 w 21600"/>
              <a:gd name="T5" fmla="*/ 155196837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Arc 17"/>
          <p:cNvSpPr>
            <a:spLocks noChangeAspect="1"/>
          </p:cNvSpPr>
          <p:nvPr/>
        </p:nvSpPr>
        <p:spPr bwMode="auto">
          <a:xfrm rot="18567265" flipH="1">
            <a:off x="7833149" y="2476252"/>
            <a:ext cx="627062" cy="522287"/>
          </a:xfrm>
          <a:custGeom>
            <a:avLst/>
            <a:gdLst>
              <a:gd name="T0" fmla="*/ 219977741 w 21600"/>
              <a:gd name="T1" fmla="*/ 0 h 29609"/>
              <a:gd name="T2" fmla="*/ 468824941 w 21600"/>
              <a:gd name="T3" fmla="*/ 162510045 h 29609"/>
              <a:gd name="T4" fmla="*/ 0 w 21600"/>
              <a:gd name="T5" fmla="*/ 107794794 h 29609"/>
              <a:gd name="T6" fmla="*/ 0 60000 65536"/>
              <a:gd name="T7" fmla="*/ 0 60000 65536"/>
              <a:gd name="T8" fmla="*/ 0 60000 65536"/>
              <a:gd name="T9" fmla="*/ 0 w 21600"/>
              <a:gd name="T10" fmla="*/ 0 h 29609"/>
              <a:gd name="T11" fmla="*/ 21600 w 21600"/>
              <a:gd name="T12" fmla="*/ 29609 h 29609"/>
            </a:gdLst>
            <a:ahLst/>
            <a:cxnLst>
              <a:cxn ang="T6">
                <a:pos x="T0" y="T1"/>
              </a:cxn>
              <a:cxn ang="T7">
                <a:pos x="T2" y="T3"/>
              </a:cxn>
              <a:cxn ang="T8">
                <a:pos x="T4" y="T5"/>
              </a:cxn>
            </a:cxnLst>
            <a:rect l="T9" t="T10" r="T11" b="T12"/>
            <a:pathLst>
              <a:path w="21600" h="29609" fill="none" extrusionOk="0">
                <a:moveTo>
                  <a:pt x="8990" y="0"/>
                </a:moveTo>
                <a:cubicBezTo>
                  <a:pt x="16673" y="3517"/>
                  <a:pt x="21600" y="11190"/>
                  <a:pt x="21600" y="19640"/>
                </a:cubicBezTo>
                <a:cubicBezTo>
                  <a:pt x="21600" y="23110"/>
                  <a:pt x="20763" y="26530"/>
                  <a:pt x="19161" y="29608"/>
                </a:cubicBezTo>
              </a:path>
              <a:path w="21600" h="29609" stroke="0" extrusionOk="0">
                <a:moveTo>
                  <a:pt x="8990" y="0"/>
                </a:moveTo>
                <a:cubicBezTo>
                  <a:pt x="16673" y="3517"/>
                  <a:pt x="21600" y="11190"/>
                  <a:pt x="21600" y="19640"/>
                </a:cubicBezTo>
                <a:cubicBezTo>
                  <a:pt x="21600" y="23110"/>
                  <a:pt x="20763" y="26530"/>
                  <a:pt x="19161" y="29608"/>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 name="Arc 18"/>
          <p:cNvSpPr>
            <a:spLocks noChangeAspect="1"/>
          </p:cNvSpPr>
          <p:nvPr/>
        </p:nvSpPr>
        <p:spPr bwMode="auto">
          <a:xfrm rot="3032735">
            <a:off x="8853911" y="2463552"/>
            <a:ext cx="655638" cy="573087"/>
          </a:xfrm>
          <a:custGeom>
            <a:avLst/>
            <a:gdLst>
              <a:gd name="T0" fmla="*/ 251442364 w 21600"/>
              <a:gd name="T1" fmla="*/ 0 h 31243"/>
              <a:gd name="T2" fmla="*/ 509512861 w 21600"/>
              <a:gd name="T3" fmla="*/ 192821835 h 31243"/>
              <a:gd name="T4" fmla="*/ 0 w 21600"/>
              <a:gd name="T5" fmla="*/ 121211676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 name="Arc 19"/>
          <p:cNvSpPr>
            <a:spLocks noChangeAspect="1"/>
          </p:cNvSpPr>
          <p:nvPr/>
        </p:nvSpPr>
        <p:spPr bwMode="auto">
          <a:xfrm rot="3032735" flipH="1" flipV="1">
            <a:off x="5349504" y="2515146"/>
            <a:ext cx="631825" cy="554038"/>
          </a:xfrm>
          <a:custGeom>
            <a:avLst/>
            <a:gdLst>
              <a:gd name="T0" fmla="*/ 225028195 w 21600"/>
              <a:gd name="T1" fmla="*/ 0 h 31243"/>
              <a:gd name="T2" fmla="*/ 455988289 w 21600"/>
              <a:gd name="T3" fmla="*/ 174226048 h 31243"/>
              <a:gd name="T4" fmla="*/ 0 w 21600"/>
              <a:gd name="T5" fmla="*/ 109522165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 name="Text Box 20"/>
          <p:cNvSpPr txBox="1">
            <a:spLocks noChangeAspect="1" noChangeArrowheads="1"/>
          </p:cNvSpPr>
          <p:nvPr/>
        </p:nvSpPr>
        <p:spPr bwMode="auto">
          <a:xfrm>
            <a:off x="4943898" y="2296865"/>
            <a:ext cx="641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92" name="Text Box 21"/>
          <p:cNvSpPr txBox="1">
            <a:spLocks noChangeAspect="1" noChangeArrowheads="1"/>
          </p:cNvSpPr>
          <p:nvPr/>
        </p:nvSpPr>
        <p:spPr bwMode="auto">
          <a:xfrm>
            <a:off x="7012411" y="2374652"/>
            <a:ext cx="6413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grpSp>
        <p:nvGrpSpPr>
          <p:cNvPr id="93" name="Group 22"/>
          <p:cNvGrpSpPr>
            <a:grpSpLocks/>
          </p:cNvGrpSpPr>
          <p:nvPr/>
        </p:nvGrpSpPr>
        <p:grpSpPr bwMode="auto">
          <a:xfrm>
            <a:off x="2064173" y="2325440"/>
            <a:ext cx="457200" cy="436562"/>
            <a:chOff x="488" y="2081"/>
            <a:chExt cx="288" cy="275"/>
          </a:xfrm>
        </p:grpSpPr>
        <p:sp>
          <p:nvSpPr>
            <p:cNvPr id="94" name="Oval 23"/>
            <p:cNvSpPr>
              <a:spLocks noChangeAspect="1" noChangeArrowheads="1"/>
            </p:cNvSpPr>
            <p:nvPr/>
          </p:nvSpPr>
          <p:spPr bwMode="auto">
            <a:xfrm>
              <a:off x="523" y="2137"/>
              <a:ext cx="159"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5" name="Text Box 24"/>
            <p:cNvSpPr txBox="1">
              <a:spLocks noChangeAspect="1" noChangeArrowheads="1"/>
            </p:cNvSpPr>
            <p:nvPr/>
          </p:nvSpPr>
          <p:spPr bwMode="auto">
            <a:xfrm>
              <a:off x="488" y="2081"/>
              <a:ext cx="2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1">
                  <a:solidFill>
                    <a:srgbClr val="FF0000"/>
                  </a:solidFill>
                  <a:ea typeface="宋体" panose="02010600030101010101" pitchFamily="2" charset="-122"/>
                </a:rPr>
                <a:t>+</a:t>
              </a:r>
            </a:p>
          </p:txBody>
        </p:sp>
      </p:grpSp>
      <p:grpSp>
        <p:nvGrpSpPr>
          <p:cNvPr id="96" name="Group 25"/>
          <p:cNvGrpSpPr>
            <a:grpSpLocks/>
          </p:cNvGrpSpPr>
          <p:nvPr/>
        </p:nvGrpSpPr>
        <p:grpSpPr bwMode="auto">
          <a:xfrm>
            <a:off x="3785023" y="2452440"/>
            <a:ext cx="457200" cy="434975"/>
            <a:chOff x="1676" y="2113"/>
            <a:chExt cx="288" cy="274"/>
          </a:xfrm>
        </p:grpSpPr>
        <p:sp>
          <p:nvSpPr>
            <p:cNvPr id="97" name="Oval 26"/>
            <p:cNvSpPr>
              <a:spLocks noChangeAspect="1" noChangeArrowheads="1"/>
            </p:cNvSpPr>
            <p:nvPr/>
          </p:nvSpPr>
          <p:spPr bwMode="auto">
            <a:xfrm>
              <a:off x="1748" y="2186"/>
              <a:ext cx="158"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8" name="Text Box 27"/>
            <p:cNvSpPr txBox="1">
              <a:spLocks noChangeAspect="1" noChangeArrowheads="1"/>
            </p:cNvSpPr>
            <p:nvPr/>
          </p:nvSpPr>
          <p:spPr bwMode="auto">
            <a:xfrm>
              <a:off x="1676" y="2113"/>
              <a:ext cx="28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b="1">
                  <a:solidFill>
                    <a:srgbClr val="FF0000"/>
                  </a:solidFill>
                  <a:ea typeface="宋体" panose="02010600030101010101" pitchFamily="2" charset="-122"/>
                </a:rPr>
                <a:t>－</a:t>
              </a:r>
            </a:p>
          </p:txBody>
        </p:sp>
      </p:grpSp>
      <p:sp>
        <p:nvSpPr>
          <p:cNvPr id="99" name="Freeform 28"/>
          <p:cNvSpPr>
            <a:spLocks noChangeAspect="1"/>
          </p:cNvSpPr>
          <p:nvPr/>
        </p:nvSpPr>
        <p:spPr bwMode="auto">
          <a:xfrm>
            <a:off x="8082386" y="2295277"/>
            <a:ext cx="1165225" cy="762000"/>
          </a:xfrm>
          <a:custGeom>
            <a:avLst/>
            <a:gdLst>
              <a:gd name="T0" fmla="*/ 0 w 734"/>
              <a:gd name="T1" fmla="*/ 259576921 h 480"/>
              <a:gd name="T2" fmla="*/ 327620303 w 734"/>
              <a:gd name="T3" fmla="*/ 1204634778 h 480"/>
              <a:gd name="T4" fmla="*/ 652721244 w 734"/>
              <a:gd name="T5" fmla="*/ 1096268881 h 480"/>
              <a:gd name="T6" fmla="*/ 907256345 w 734"/>
              <a:gd name="T7" fmla="*/ 1058465753 h 480"/>
              <a:gd name="T8" fmla="*/ 1197073424 w 734"/>
              <a:gd name="T9" fmla="*/ 1096268881 h 480"/>
              <a:gd name="T10" fmla="*/ 1197073424 w 734"/>
              <a:gd name="T11" fmla="*/ 1096268881 h 480"/>
              <a:gd name="T12" fmla="*/ 1343244025 w 734"/>
              <a:gd name="T13" fmla="*/ 1126510748 h 480"/>
              <a:gd name="T14" fmla="*/ 1489413039 w 734"/>
              <a:gd name="T15" fmla="*/ 1209675089 h 480"/>
              <a:gd name="T16" fmla="*/ 1524695215 w 734"/>
              <a:gd name="T17" fmla="*/ 1161792926 h 480"/>
              <a:gd name="T18" fmla="*/ 1849794866 w 734"/>
              <a:gd name="T19" fmla="*/ 224294742 h 480"/>
              <a:gd name="T20" fmla="*/ 1595259566 w 734"/>
              <a:gd name="T21" fmla="*/ 115927208 h 480"/>
              <a:gd name="T22" fmla="*/ 1343244025 w 734"/>
              <a:gd name="T23" fmla="*/ 42843452 h 480"/>
              <a:gd name="T24" fmla="*/ 1123989711 w 734"/>
              <a:gd name="T25" fmla="*/ 5040313 h 480"/>
              <a:gd name="T26" fmla="*/ 834172632 w 734"/>
              <a:gd name="T27" fmla="*/ 5040313 h 480"/>
              <a:gd name="T28" fmla="*/ 509071592 w 734"/>
              <a:gd name="T29" fmla="*/ 42843452 h 480"/>
              <a:gd name="T30" fmla="*/ 216733465 w 734"/>
              <a:gd name="T31" fmla="*/ 151209386 h 480"/>
              <a:gd name="T32" fmla="*/ 0 w 734"/>
              <a:gd name="T33" fmla="*/ 259576921 h 4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34"/>
              <a:gd name="T52" fmla="*/ 0 h 480"/>
              <a:gd name="T53" fmla="*/ 734 w 734"/>
              <a:gd name="T54" fmla="*/ 480 h 4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34" h="480">
                <a:moveTo>
                  <a:pt x="0" y="103"/>
                </a:moveTo>
                <a:lnTo>
                  <a:pt x="130" y="478"/>
                </a:lnTo>
                <a:lnTo>
                  <a:pt x="259" y="435"/>
                </a:lnTo>
                <a:cubicBezTo>
                  <a:pt x="346" y="420"/>
                  <a:pt x="324" y="420"/>
                  <a:pt x="360" y="420"/>
                </a:cubicBezTo>
                <a:cubicBezTo>
                  <a:pt x="396" y="420"/>
                  <a:pt x="456" y="432"/>
                  <a:pt x="475" y="435"/>
                </a:cubicBezTo>
                <a:cubicBezTo>
                  <a:pt x="494" y="437"/>
                  <a:pt x="465" y="432"/>
                  <a:pt x="475" y="435"/>
                </a:cubicBezTo>
                <a:cubicBezTo>
                  <a:pt x="485" y="437"/>
                  <a:pt x="514" y="440"/>
                  <a:pt x="533" y="447"/>
                </a:cubicBezTo>
                <a:cubicBezTo>
                  <a:pt x="552" y="454"/>
                  <a:pt x="579" y="478"/>
                  <a:pt x="591" y="480"/>
                </a:cubicBezTo>
                <a:cubicBezTo>
                  <a:pt x="599" y="462"/>
                  <a:pt x="597" y="470"/>
                  <a:pt x="605" y="461"/>
                </a:cubicBezTo>
                <a:cubicBezTo>
                  <a:pt x="669" y="275"/>
                  <a:pt x="734" y="89"/>
                  <a:pt x="734" y="89"/>
                </a:cubicBezTo>
                <a:cubicBezTo>
                  <a:pt x="641" y="46"/>
                  <a:pt x="701" y="74"/>
                  <a:pt x="633" y="46"/>
                </a:cubicBezTo>
                <a:cubicBezTo>
                  <a:pt x="497" y="10"/>
                  <a:pt x="637" y="38"/>
                  <a:pt x="533" y="17"/>
                </a:cubicBezTo>
                <a:cubicBezTo>
                  <a:pt x="425" y="2"/>
                  <a:pt x="480" y="5"/>
                  <a:pt x="446" y="2"/>
                </a:cubicBezTo>
                <a:cubicBezTo>
                  <a:pt x="413" y="0"/>
                  <a:pt x="372" y="0"/>
                  <a:pt x="331" y="2"/>
                </a:cubicBezTo>
                <a:cubicBezTo>
                  <a:pt x="290" y="5"/>
                  <a:pt x="242" y="7"/>
                  <a:pt x="202" y="17"/>
                </a:cubicBezTo>
                <a:cubicBezTo>
                  <a:pt x="161" y="26"/>
                  <a:pt x="120" y="46"/>
                  <a:pt x="86" y="60"/>
                </a:cubicBezTo>
                <a:cubicBezTo>
                  <a:pt x="37" y="86"/>
                  <a:pt x="0" y="103"/>
                  <a:pt x="0" y="103"/>
                </a:cubicBezTo>
                <a:close/>
              </a:path>
            </a:pathLst>
          </a:custGeom>
          <a:gradFill rotWithShape="0">
            <a:gsLst>
              <a:gs pos="0">
                <a:srgbClr val="C0C0C0"/>
              </a:gs>
              <a:gs pos="50000">
                <a:srgbClr val="EAEAEA"/>
              </a:gs>
              <a:gs pos="100000">
                <a:srgbClr val="C0C0C0"/>
              </a:gs>
            </a:gsLst>
            <a:lin ang="0" scaled="1"/>
          </a:gradFill>
          <a:ln w="38100" cap="flat" cmpd="sng">
            <a:solidFill>
              <a:srgbClr val="000000"/>
            </a:solidFill>
            <a:prstDash val="solid"/>
            <a:round/>
            <a:headEnd type="none" w="med" len="med"/>
            <a:tailEnd type="none" w="med" len="med"/>
          </a:ln>
        </p:spPr>
        <p:txBody>
          <a:bodyPr/>
          <a:lstStyle/>
          <a:p>
            <a:endParaRPr lang="zh-CN" altLang="en-US"/>
          </a:p>
        </p:txBody>
      </p:sp>
      <p:grpSp>
        <p:nvGrpSpPr>
          <p:cNvPr id="100" name="Group 29"/>
          <p:cNvGrpSpPr>
            <a:grpSpLocks/>
          </p:cNvGrpSpPr>
          <p:nvPr/>
        </p:nvGrpSpPr>
        <p:grpSpPr bwMode="auto">
          <a:xfrm>
            <a:off x="8423698" y="2366715"/>
            <a:ext cx="457200" cy="434975"/>
            <a:chOff x="4598" y="2059"/>
            <a:chExt cx="288" cy="274"/>
          </a:xfrm>
        </p:grpSpPr>
        <p:sp>
          <p:nvSpPr>
            <p:cNvPr id="101" name="Oval 30"/>
            <p:cNvSpPr>
              <a:spLocks noChangeAspect="1" noChangeArrowheads="1"/>
            </p:cNvSpPr>
            <p:nvPr/>
          </p:nvSpPr>
          <p:spPr bwMode="auto">
            <a:xfrm>
              <a:off x="4670" y="2124"/>
              <a:ext cx="158"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2" name="Text Box 31"/>
            <p:cNvSpPr txBox="1">
              <a:spLocks noChangeAspect="1" noChangeArrowheads="1"/>
            </p:cNvSpPr>
            <p:nvPr/>
          </p:nvSpPr>
          <p:spPr bwMode="auto">
            <a:xfrm>
              <a:off x="4598" y="2059"/>
              <a:ext cx="28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b="1">
                  <a:solidFill>
                    <a:srgbClr val="FF0000"/>
                  </a:solidFill>
                  <a:ea typeface="宋体" panose="02010600030101010101" pitchFamily="2" charset="-122"/>
                </a:rPr>
                <a:t>－</a:t>
              </a:r>
            </a:p>
          </p:txBody>
        </p:sp>
      </p:grpSp>
      <p:grpSp>
        <p:nvGrpSpPr>
          <p:cNvPr id="103" name="Group 34"/>
          <p:cNvGrpSpPr>
            <a:grpSpLocks/>
          </p:cNvGrpSpPr>
          <p:nvPr/>
        </p:nvGrpSpPr>
        <p:grpSpPr bwMode="auto">
          <a:xfrm>
            <a:off x="6015461" y="2554040"/>
            <a:ext cx="458787" cy="434975"/>
            <a:chOff x="3177" y="2177"/>
            <a:chExt cx="289" cy="274"/>
          </a:xfrm>
        </p:grpSpPr>
        <p:sp>
          <p:nvSpPr>
            <p:cNvPr id="104" name="Oval 35"/>
            <p:cNvSpPr>
              <a:spLocks noChangeAspect="1" noChangeArrowheads="1"/>
            </p:cNvSpPr>
            <p:nvPr/>
          </p:nvSpPr>
          <p:spPr bwMode="auto">
            <a:xfrm>
              <a:off x="3204" y="2241"/>
              <a:ext cx="160" cy="159"/>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5" name="Text Box 36"/>
            <p:cNvSpPr txBox="1">
              <a:spLocks noChangeAspect="1" noChangeArrowheads="1"/>
            </p:cNvSpPr>
            <p:nvPr/>
          </p:nvSpPr>
          <p:spPr bwMode="auto">
            <a:xfrm>
              <a:off x="3177" y="2177"/>
              <a:ext cx="28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1">
                  <a:solidFill>
                    <a:srgbClr val="FF0000"/>
                  </a:solidFill>
                  <a:ea typeface="宋体" panose="02010600030101010101" pitchFamily="2" charset="-122"/>
                </a:rPr>
                <a:t>+</a:t>
              </a:r>
            </a:p>
          </p:txBody>
        </p:sp>
      </p:grpSp>
      <p:sp>
        <p:nvSpPr>
          <p:cNvPr id="106" name="Rectangle 37"/>
          <p:cNvSpPr>
            <a:spLocks noChangeArrowheads="1"/>
          </p:cNvSpPr>
          <p:nvPr/>
        </p:nvSpPr>
        <p:spPr bwMode="auto">
          <a:xfrm>
            <a:off x="2037186" y="2055565"/>
            <a:ext cx="414337" cy="1038225"/>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7" name="Rectangle 38"/>
          <p:cNvSpPr>
            <a:spLocks noChangeArrowheads="1"/>
          </p:cNvSpPr>
          <p:nvPr/>
        </p:nvSpPr>
        <p:spPr bwMode="auto">
          <a:xfrm>
            <a:off x="3837411" y="2179390"/>
            <a:ext cx="414337" cy="1038225"/>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8" name="Rectangle 39"/>
          <p:cNvSpPr>
            <a:spLocks noChangeArrowheads="1"/>
          </p:cNvSpPr>
          <p:nvPr/>
        </p:nvSpPr>
        <p:spPr bwMode="auto">
          <a:xfrm>
            <a:off x="5707486" y="2385765"/>
            <a:ext cx="1011237" cy="693737"/>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9" name="Rectangle 40"/>
          <p:cNvSpPr>
            <a:spLocks noChangeArrowheads="1"/>
          </p:cNvSpPr>
          <p:nvPr/>
        </p:nvSpPr>
        <p:spPr bwMode="auto">
          <a:xfrm>
            <a:off x="8160173" y="2303215"/>
            <a:ext cx="1011238" cy="693737"/>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10" name="Text Box 1032"/>
          <p:cNvSpPr txBox="1">
            <a:spLocks noChangeArrowheads="1"/>
          </p:cNvSpPr>
          <p:nvPr/>
        </p:nvSpPr>
        <p:spPr bwMode="auto">
          <a:xfrm>
            <a:off x="272953" y="3816825"/>
            <a:ext cx="11151639"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30000"/>
              </a:lnSpc>
            </a:pPr>
            <a:r>
              <a:rPr kumimoji="1" lang="zh-CN" altLang="en-US" sz="2800" i="0" dirty="0">
                <a:latin typeface="+mn-lt"/>
                <a:ea typeface="微软雅黑" panose="020B0503020204020204" pitchFamily="34" charset="-122"/>
              </a:rPr>
              <a:t>当</a:t>
            </a:r>
            <a:r>
              <a:rPr kumimoji="1" lang="zh-CN" altLang="en-US" sz="2800" i="0" dirty="0">
                <a:solidFill>
                  <a:srgbClr val="000000"/>
                </a:solidFill>
                <a:latin typeface="+mn-lt"/>
                <a:ea typeface="微软雅黑" panose="020B0503020204020204" pitchFamily="34" charset="-122"/>
              </a:rPr>
              <a:t>截面上的剪力</a:t>
            </a:r>
            <a:r>
              <a:rPr kumimoji="1" lang="en-US" altLang="zh-CN" sz="2800" b="0" dirty="0">
                <a:solidFill>
                  <a:srgbClr val="FF0000"/>
                </a:solidFill>
                <a:latin typeface="+mn-lt"/>
                <a:ea typeface="微软雅黑" panose="020B0503020204020204" pitchFamily="34" charset="-122"/>
              </a:rPr>
              <a:t>F</a:t>
            </a:r>
            <a:r>
              <a:rPr kumimoji="1" lang="en-US" altLang="zh-CN" sz="2800" b="0" i="0" baseline="-25000" dirty="0">
                <a:solidFill>
                  <a:srgbClr val="FF0000"/>
                </a:solidFill>
                <a:latin typeface="+mn-lt"/>
                <a:ea typeface="微软雅黑" panose="020B0503020204020204" pitchFamily="34" charset="-122"/>
              </a:rPr>
              <a:t>Q</a:t>
            </a:r>
            <a:r>
              <a:rPr kumimoji="1" lang="zh-CN" altLang="en-US" sz="2800" i="0" dirty="0">
                <a:solidFill>
                  <a:srgbClr val="000000"/>
                </a:solidFill>
                <a:latin typeface="+mn-lt"/>
                <a:ea typeface="微软雅黑" panose="020B0503020204020204" pitchFamily="34" charset="-122"/>
              </a:rPr>
              <a:t>使研究对象有</a:t>
            </a:r>
            <a:r>
              <a:rPr kumimoji="1" lang="zh-CN" altLang="en-US" sz="2800" i="0" dirty="0">
                <a:solidFill>
                  <a:srgbClr val="FF0000"/>
                </a:solidFill>
                <a:latin typeface="+mn-lt"/>
                <a:ea typeface="微软雅黑" panose="020B0503020204020204" pitchFamily="34" charset="-122"/>
              </a:rPr>
              <a:t>顺时针转向趋势时为正</a:t>
            </a:r>
            <a:r>
              <a:rPr kumimoji="1" lang="zh-CN" altLang="en-US" sz="2800" i="0" dirty="0">
                <a:solidFill>
                  <a:srgbClr val="000000"/>
                </a:solidFill>
                <a:latin typeface="+mn-lt"/>
                <a:ea typeface="微软雅黑" panose="020B0503020204020204" pitchFamily="34" charset="-122"/>
              </a:rPr>
              <a:t>，</a:t>
            </a:r>
            <a:r>
              <a:rPr kumimoji="1" lang="zh-CN" altLang="en-US" sz="2800" i="0" dirty="0">
                <a:solidFill>
                  <a:srgbClr val="FF0000"/>
                </a:solidFill>
                <a:latin typeface="+mn-lt"/>
                <a:ea typeface="微软雅黑" panose="020B0503020204020204" pitchFamily="34" charset="-122"/>
              </a:rPr>
              <a:t>反之为负</a:t>
            </a:r>
            <a:r>
              <a:rPr kumimoji="1" lang="zh-CN" altLang="en-US" sz="2800" i="0" dirty="0">
                <a:solidFill>
                  <a:srgbClr val="000000"/>
                </a:solidFill>
                <a:latin typeface="+mn-lt"/>
                <a:ea typeface="微软雅黑" panose="020B0503020204020204" pitchFamily="34" charset="-122"/>
              </a:rPr>
              <a:t>。</a:t>
            </a:r>
          </a:p>
          <a:p>
            <a:pPr>
              <a:lnSpc>
                <a:spcPct val="130000"/>
              </a:lnSpc>
            </a:pPr>
            <a:r>
              <a:rPr lang="zh-CN" altLang="en-US" sz="2800" i="0" dirty="0">
                <a:latin typeface="+mn-lt"/>
                <a:ea typeface="微软雅黑" panose="020B0503020204020204" pitchFamily="34" charset="-122"/>
              </a:rPr>
              <a:t>当截面上的弯矩</a:t>
            </a:r>
            <a:r>
              <a:rPr lang="en-US" altLang="zh-CN" sz="2800" b="0" dirty="0">
                <a:solidFill>
                  <a:srgbClr val="FF0000"/>
                </a:solidFill>
                <a:latin typeface="+mn-lt"/>
                <a:ea typeface="微软雅黑" panose="020B0503020204020204" pitchFamily="34" charset="-122"/>
              </a:rPr>
              <a:t>M</a:t>
            </a:r>
            <a:r>
              <a:rPr lang="zh-CN" altLang="en-US" sz="2800" i="0" dirty="0">
                <a:latin typeface="+mn-lt"/>
                <a:ea typeface="微软雅黑" panose="020B0503020204020204" pitchFamily="34" charset="-122"/>
              </a:rPr>
              <a:t>使研究对象产生</a:t>
            </a:r>
            <a:r>
              <a:rPr lang="zh-CN" altLang="en-US" sz="2800" i="0" dirty="0">
                <a:solidFill>
                  <a:srgbClr val="FF0000"/>
                </a:solidFill>
                <a:latin typeface="+mn-lt"/>
                <a:ea typeface="微软雅黑" panose="020B0503020204020204" pitchFamily="34" charset="-122"/>
              </a:rPr>
              <a:t>向下凸的变形时（即上部受压下部受拉）为正</a:t>
            </a:r>
            <a:r>
              <a:rPr lang="zh-CN" altLang="en-US" sz="2800" i="0" dirty="0">
                <a:latin typeface="+mn-lt"/>
                <a:ea typeface="微软雅黑" panose="020B0503020204020204" pitchFamily="34" charset="-122"/>
              </a:rPr>
              <a:t>，</a:t>
            </a:r>
            <a:r>
              <a:rPr lang="zh-CN" altLang="en-US" sz="2800" i="0" dirty="0">
                <a:solidFill>
                  <a:srgbClr val="FF0000"/>
                </a:solidFill>
                <a:latin typeface="+mn-lt"/>
                <a:ea typeface="微软雅黑" panose="020B0503020204020204" pitchFamily="34" charset="-122"/>
              </a:rPr>
              <a:t>反之为负</a:t>
            </a:r>
            <a:r>
              <a:rPr lang="zh-CN" altLang="en-US" sz="2800" i="0" dirty="0">
                <a:latin typeface="+mn-lt"/>
                <a:ea typeface="微软雅黑" panose="020B0503020204020204" pitchFamily="34" charset="-122"/>
              </a:rPr>
              <a:t>。</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20168483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106"/>
                                        </p:tgtEl>
                                        <p:attrNameLst>
                                          <p:attrName>style.visibility</p:attrName>
                                        </p:attrNameLst>
                                      </p:cBhvr>
                                      <p:to>
                                        <p:strVal val="visible"/>
                                      </p:to>
                                    </p:set>
                                    <p:animEffect transition="in" filter="barn(outVertical)">
                                      <p:cBhvr>
                                        <p:cTn id="15" dur="3000"/>
                                        <p:tgtEl>
                                          <p:spTgt spid="106"/>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slide(fromTop)">
                                      <p:cBhvr>
                                        <p:cTn id="20" dur="5000"/>
                                        <p:tgtEl>
                                          <p:spTgt spid="79"/>
                                        </p:tgtEl>
                                      </p:cBhvr>
                                    </p:animEffec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par>
                                <p:cTn id="21" presetID="12" presetClass="entr" presetSubtype="4"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slide(fromBottom)">
                                      <p:cBhvr>
                                        <p:cTn id="23" dur="5000"/>
                                        <p:tgtEl>
                                          <p:spTgt spid="81"/>
                                        </p:tgtEl>
                                      </p:cBhvr>
                                    </p:animEffect>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par>
                                <p:cTn id="24" presetID="19" presetClass="entr" presetSubtype="10" fill="hold" grpId="0" nodeType="withEffect">
                                  <p:stCondLst>
                                    <p:cond delay="0"/>
                                  </p:stCondLst>
                                  <p:childTnLst>
                                    <p:set>
                                      <p:cBhvr>
                                        <p:cTn id="25" dur="1" fill="hold">
                                          <p:stCondLst>
                                            <p:cond delay="0"/>
                                          </p:stCondLst>
                                        </p:cTn>
                                        <p:tgtEl>
                                          <p:spTgt spid="82"/>
                                        </p:tgtEl>
                                        <p:attrNameLst>
                                          <p:attrName>style.visibility</p:attrName>
                                        </p:attrNameLst>
                                      </p:cBhvr>
                                      <p:to>
                                        <p:strVal val="visible"/>
                                      </p:to>
                                    </p:set>
                                    <p:anim calcmode="lin" valueType="num">
                                      <p:cBhvr>
                                        <p:cTn id="26" dur="5000" fill="hold"/>
                                        <p:tgtEl>
                                          <p:spTgt spid="82"/>
                                        </p:tgtEl>
                                        <p:attrNameLst>
                                          <p:attrName>ppt_w</p:attrName>
                                        </p:attrNameLst>
                                      </p:cBhvr>
                                      <p:tavLst>
                                        <p:tav tm="0" fmla="#ppt_w*sin(2.5*pi*$)">
                                          <p:val>
                                            <p:fltVal val="0"/>
                                          </p:val>
                                        </p:tav>
                                        <p:tav tm="100000">
                                          <p:val>
                                            <p:fltVal val="1"/>
                                          </p:val>
                                        </p:tav>
                                      </p:tavLst>
                                    </p:anim>
                                    <p:anim calcmode="lin" valueType="num">
                                      <p:cBhvr>
                                        <p:cTn id="27" dur="5000" fill="hold"/>
                                        <p:tgtEl>
                                          <p:spTgt spid="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par>
                                <p:cTn id="28" presetID="19" presetClass="entr" presetSubtype="10" fill="hold" grpId="0" nodeType="withEffect">
                                  <p:stCondLst>
                                    <p:cond delay="0"/>
                                  </p:stCondLst>
                                  <p:childTnLst>
                                    <p:set>
                                      <p:cBhvr>
                                        <p:cTn id="29" dur="1" fill="hold">
                                          <p:stCondLst>
                                            <p:cond delay="0"/>
                                          </p:stCondLst>
                                        </p:cTn>
                                        <p:tgtEl>
                                          <p:spTgt spid="80"/>
                                        </p:tgtEl>
                                        <p:attrNameLst>
                                          <p:attrName>style.visibility</p:attrName>
                                        </p:attrNameLst>
                                      </p:cBhvr>
                                      <p:to>
                                        <p:strVal val="visible"/>
                                      </p:to>
                                    </p:set>
                                    <p:anim calcmode="lin" valueType="num">
                                      <p:cBhvr>
                                        <p:cTn id="30" dur="5000" fill="hold"/>
                                        <p:tgtEl>
                                          <p:spTgt spid="80"/>
                                        </p:tgtEl>
                                        <p:attrNameLst>
                                          <p:attrName>ppt_w</p:attrName>
                                        </p:attrNameLst>
                                      </p:cBhvr>
                                      <p:tavLst>
                                        <p:tav tm="0" fmla="#ppt_w*sin(2.5*pi*$)">
                                          <p:val>
                                            <p:fltVal val="0"/>
                                          </p:val>
                                        </p:tav>
                                        <p:tav tm="100000">
                                          <p:val>
                                            <p:fltVal val="1"/>
                                          </p:val>
                                        </p:tav>
                                      </p:tavLst>
                                    </p:anim>
                                    <p:anim calcmode="lin" valueType="num">
                                      <p:cBhvr>
                                        <p:cTn id="31" dur="5000" fill="hold"/>
                                        <p:tgtEl>
                                          <p:spTgt spid="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par>
                          <p:cTn id="32" fill="hold">
                            <p:stCondLst>
                              <p:cond delay="5000"/>
                            </p:stCondLst>
                            <p:childTnLst>
                              <p:par>
                                <p:cTn id="33" presetID="8" presetClass="emph" presetSubtype="0" fill="hold" grpId="1" nodeType="afterEffect">
                                  <p:stCondLst>
                                    <p:cond delay="0"/>
                                  </p:stCondLst>
                                  <p:childTnLst>
                                    <p:animRot by="10800000">
                                      <p:cBhvr>
                                        <p:cTn id="34" dur="5000" fill="hold"/>
                                        <p:tgtEl>
                                          <p:spTgt spid="106"/>
                                        </p:tgtEl>
                                        <p:attrNameLst>
                                          <p:attrName>r</p:attrName>
                                        </p:attrNameLst>
                                      </p:cBhvr>
                                    </p:animRot>
                                  </p:childTnLst>
                                </p:cTn>
                              </p:par>
                            </p:childTnLst>
                          </p:cTn>
                        </p:par>
                        <p:par>
                          <p:cTn id="35" fill="hold">
                            <p:stCondLst>
                              <p:cond delay="10000"/>
                            </p:stCondLst>
                            <p:childTnLst>
                              <p:par>
                                <p:cTn id="36" presetID="1" presetClass="entr" presetSubtype="0" fill="hold" grpId="0" nodeType="afterEffect">
                                  <p:stCondLst>
                                    <p:cond delay="0"/>
                                  </p:stCondLst>
                                  <p:childTnLst>
                                    <p:set>
                                      <p:cBhvr>
                                        <p:cTn id="37" dur="1" fill="hold">
                                          <p:stCondLst>
                                            <p:cond delay="0"/>
                                          </p:stCondLst>
                                        </p:cTn>
                                        <p:tgtEl>
                                          <p:spTgt spid="77"/>
                                        </p:tgtEl>
                                        <p:attrNameLst>
                                          <p:attrName>style.visibility</p:attrName>
                                        </p:attrNameLst>
                                      </p:cBhvr>
                                      <p:to>
                                        <p:strVal val="visible"/>
                                      </p:to>
                                    </p:set>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childTnLst>
                          </p:cTn>
                        </p:par>
                        <p:par>
                          <p:cTn id="38" fill="hold">
                            <p:stCondLst>
                              <p:cond delay="10000"/>
                            </p:stCondLst>
                            <p:childTnLst>
                              <p:par>
                                <p:cTn id="39" presetID="1" presetClass="exit" presetSubtype="0" fill="hold" grpId="2" nodeType="afterEffect">
                                  <p:stCondLst>
                                    <p:cond delay="0"/>
                                  </p:stCondLst>
                                  <p:childTnLst>
                                    <p:set>
                                      <p:cBhvr>
                                        <p:cTn id="40" dur="1" fill="hold">
                                          <p:stCondLst>
                                            <p:cond delay="0"/>
                                          </p:stCondLst>
                                        </p:cTn>
                                        <p:tgtEl>
                                          <p:spTgt spid="106"/>
                                        </p:tgtEl>
                                        <p:attrNameLst>
                                          <p:attrName>style.visibility</p:attrName>
                                        </p:attrNameLst>
                                      </p:cBhvr>
                                      <p:to>
                                        <p:strVal val="hidden"/>
                                      </p:to>
                                    </p:set>
                                  </p:childTnLst>
                                </p:cTn>
                              </p:par>
                            </p:childTnLst>
                          </p:cTn>
                        </p:par>
                        <p:par>
                          <p:cTn id="41" fill="hold">
                            <p:stCondLst>
                              <p:cond delay="10000"/>
                            </p:stCondLst>
                            <p:childTnLst>
                              <p:par>
                                <p:cTn id="42" presetID="8" presetClass="emph" presetSubtype="0" fill="hold" grpId="1" nodeType="afterEffect">
                                  <p:stCondLst>
                                    <p:cond delay="0"/>
                                  </p:stCondLst>
                                  <p:childTnLst>
                                    <p:animRot by="21600000">
                                      <p:cBhvr>
                                        <p:cTn id="43" dur="5000" fill="hold"/>
                                        <p:tgtEl>
                                          <p:spTgt spid="77"/>
                                        </p:tgtEl>
                                        <p:attrNameLst>
                                          <p:attrName>r</p:attrName>
                                        </p:attrNameLst>
                                      </p:cBhvr>
                                    </p:animRot>
                                  </p:childTnLst>
                                </p:cTn>
                              </p:par>
                            </p:childTnLst>
                          </p:cTn>
                        </p:par>
                        <p:par>
                          <p:cTn id="44" fill="hold">
                            <p:stCondLst>
                              <p:cond delay="15000"/>
                            </p:stCondLst>
                            <p:childTnLst>
                              <p:par>
                                <p:cTn id="45" presetID="23" presetClass="entr" presetSubtype="32" fill="hold" nodeType="afterEffect">
                                  <p:stCondLst>
                                    <p:cond delay="1000"/>
                                  </p:stCondLst>
                                  <p:childTnLst>
                                    <p:set>
                                      <p:cBhvr>
                                        <p:cTn id="46" dur="1" fill="hold">
                                          <p:stCondLst>
                                            <p:cond delay="0"/>
                                          </p:stCondLst>
                                        </p:cTn>
                                        <p:tgtEl>
                                          <p:spTgt spid="93"/>
                                        </p:tgtEl>
                                        <p:attrNameLst>
                                          <p:attrName>style.visibility</p:attrName>
                                        </p:attrNameLst>
                                      </p:cBhvr>
                                      <p:to>
                                        <p:strVal val="visible"/>
                                      </p:to>
                                    </p:set>
                                    <p:anim calcmode="lin" valueType="num">
                                      <p:cBhvr>
                                        <p:cTn id="47" dur="3000" fill="hold"/>
                                        <p:tgtEl>
                                          <p:spTgt spid="93"/>
                                        </p:tgtEl>
                                        <p:attrNameLst>
                                          <p:attrName>ppt_w</p:attrName>
                                        </p:attrNameLst>
                                      </p:cBhvr>
                                      <p:tavLst>
                                        <p:tav tm="0">
                                          <p:val>
                                            <p:strVal val="4*#ppt_w"/>
                                          </p:val>
                                        </p:tav>
                                        <p:tav tm="100000">
                                          <p:val>
                                            <p:strVal val="#ppt_w"/>
                                          </p:val>
                                        </p:tav>
                                      </p:tavLst>
                                    </p:anim>
                                    <p:anim calcmode="lin" valueType="num">
                                      <p:cBhvr>
                                        <p:cTn id="48" dur="3000" fill="hold"/>
                                        <p:tgtEl>
                                          <p:spTgt spid="9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3" name="CHIMES.WAV"/>
                                        </p:tgtEl>
                                      </p:cMediaNode>
                                    </p:audio>
                                  </p:subTnLst>
                                </p:cTn>
                              </p:par>
                            </p:childTnLst>
                          </p:cTn>
                        </p:par>
                      </p:childTnLst>
                    </p:cTn>
                  </p:par>
                  <p:par>
                    <p:cTn id="49" fill="hold">
                      <p:stCondLst>
                        <p:cond delay="indefinite"/>
                      </p:stCondLst>
                      <p:childTnLst>
                        <p:par>
                          <p:cTn id="50" fill="hold">
                            <p:stCondLst>
                              <p:cond delay="0"/>
                            </p:stCondLst>
                            <p:childTnLst>
                              <p:par>
                                <p:cTn id="51" presetID="16" presetClass="entr" presetSubtype="37" fill="hold" grpId="0" nodeType="clickEffect">
                                  <p:stCondLst>
                                    <p:cond delay="0"/>
                                  </p:stCondLst>
                                  <p:childTnLst>
                                    <p:set>
                                      <p:cBhvr>
                                        <p:cTn id="52" dur="1" fill="hold">
                                          <p:stCondLst>
                                            <p:cond delay="0"/>
                                          </p:stCondLst>
                                        </p:cTn>
                                        <p:tgtEl>
                                          <p:spTgt spid="107"/>
                                        </p:tgtEl>
                                        <p:attrNameLst>
                                          <p:attrName>style.visibility</p:attrName>
                                        </p:attrNameLst>
                                      </p:cBhvr>
                                      <p:to>
                                        <p:strVal val="visible"/>
                                      </p:to>
                                    </p:set>
                                    <p:animEffect transition="in" filter="barn(outVertical)">
                                      <p:cBhvr>
                                        <p:cTn id="53" dur="3000"/>
                                        <p:tgtEl>
                                          <p:spTgt spid="10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83"/>
                                        </p:tgtEl>
                                        <p:attrNameLst>
                                          <p:attrName>style.visibility</p:attrName>
                                        </p:attrNameLst>
                                      </p:cBhvr>
                                      <p:to>
                                        <p:strVal val="visible"/>
                                      </p:to>
                                    </p:set>
                                    <p:animEffect transition="in" filter="slide(fromBottom)">
                                      <p:cBhvr>
                                        <p:cTn id="58" dur="5000"/>
                                        <p:tgtEl>
                                          <p:spTgt spid="83"/>
                                        </p:tgtEl>
                                      </p:cBhvr>
                                    </p:animEffect>
                                  </p:childTnLst>
                                  <p:subTnLst>
                                    <p:audio>
                                      <p:cMediaNode>
                                        <p:cTn display="0" masterRel="sameClick">
                                          <p:stCondLst>
                                            <p:cond evt="begin" delay="0">
                                              <p:tn val="56"/>
                                            </p:cond>
                                          </p:stCondLst>
                                          <p:endCondLst>
                                            <p:cond evt="onStopAudio" delay="0">
                                              <p:tgtEl>
                                                <p:sldTgt/>
                                              </p:tgtEl>
                                            </p:cond>
                                          </p:endCondLst>
                                        </p:cTn>
                                        <p:tgtEl>
                                          <p:sndTgt r:embed="rId3" name="CHIMES.WAV"/>
                                        </p:tgtEl>
                                      </p:cMediaNode>
                                    </p:audio>
                                  </p:subTnLst>
                                </p:cTn>
                              </p:par>
                              <p:par>
                                <p:cTn id="59" presetID="12" presetClass="entr" presetSubtype="1"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animEffect transition="in" filter="slide(fromTop)">
                                      <p:cBhvr>
                                        <p:cTn id="61" dur="5000"/>
                                        <p:tgtEl>
                                          <p:spTgt spid="85"/>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par>
                                <p:cTn id="62" presetID="19" presetClass="entr" presetSubtype="10" fill="hold" grpId="0" nodeType="withEffect">
                                  <p:stCondLst>
                                    <p:cond delay="0"/>
                                  </p:stCondLst>
                                  <p:childTnLst>
                                    <p:set>
                                      <p:cBhvr>
                                        <p:cTn id="63" dur="1" fill="hold">
                                          <p:stCondLst>
                                            <p:cond delay="0"/>
                                          </p:stCondLst>
                                        </p:cTn>
                                        <p:tgtEl>
                                          <p:spTgt spid="84"/>
                                        </p:tgtEl>
                                        <p:attrNameLst>
                                          <p:attrName>style.visibility</p:attrName>
                                        </p:attrNameLst>
                                      </p:cBhvr>
                                      <p:to>
                                        <p:strVal val="visible"/>
                                      </p:to>
                                    </p:set>
                                    <p:anim calcmode="lin" valueType="num">
                                      <p:cBhvr>
                                        <p:cTn id="64" dur="5000" fill="hold"/>
                                        <p:tgtEl>
                                          <p:spTgt spid="84"/>
                                        </p:tgtEl>
                                        <p:attrNameLst>
                                          <p:attrName>ppt_w</p:attrName>
                                        </p:attrNameLst>
                                      </p:cBhvr>
                                      <p:tavLst>
                                        <p:tav tm="0" fmla="#ppt_w*sin(2.5*pi*$)">
                                          <p:val>
                                            <p:fltVal val="0"/>
                                          </p:val>
                                        </p:tav>
                                        <p:tav tm="100000">
                                          <p:val>
                                            <p:fltVal val="1"/>
                                          </p:val>
                                        </p:tav>
                                      </p:tavLst>
                                    </p:anim>
                                    <p:anim calcmode="lin" valueType="num">
                                      <p:cBhvr>
                                        <p:cTn id="65" dur="5000" fill="hold"/>
                                        <p:tgtEl>
                                          <p:spTgt spid="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par>
                                <p:cTn id="66" presetID="19" presetClass="entr" presetSubtype="10" fill="hold" grpId="0" nodeType="withEffect">
                                  <p:stCondLst>
                                    <p:cond delay="0"/>
                                  </p:stCondLst>
                                  <p:childTnLst>
                                    <p:set>
                                      <p:cBhvr>
                                        <p:cTn id="67" dur="1" fill="hold">
                                          <p:stCondLst>
                                            <p:cond delay="0"/>
                                          </p:stCondLst>
                                        </p:cTn>
                                        <p:tgtEl>
                                          <p:spTgt spid="86"/>
                                        </p:tgtEl>
                                        <p:attrNameLst>
                                          <p:attrName>style.visibility</p:attrName>
                                        </p:attrNameLst>
                                      </p:cBhvr>
                                      <p:to>
                                        <p:strVal val="visible"/>
                                      </p:to>
                                    </p:set>
                                    <p:anim calcmode="lin" valueType="num">
                                      <p:cBhvr>
                                        <p:cTn id="68" dur="5000" fill="hold"/>
                                        <p:tgtEl>
                                          <p:spTgt spid="86"/>
                                        </p:tgtEl>
                                        <p:attrNameLst>
                                          <p:attrName>ppt_w</p:attrName>
                                        </p:attrNameLst>
                                      </p:cBhvr>
                                      <p:tavLst>
                                        <p:tav tm="0" fmla="#ppt_w*sin(2.5*pi*$)">
                                          <p:val>
                                            <p:fltVal val="0"/>
                                          </p:val>
                                        </p:tav>
                                        <p:tav tm="100000">
                                          <p:val>
                                            <p:fltVal val="1"/>
                                          </p:val>
                                        </p:tav>
                                      </p:tavLst>
                                    </p:anim>
                                    <p:anim calcmode="lin" valueType="num">
                                      <p:cBhvr>
                                        <p:cTn id="69" dur="5000" fill="hold"/>
                                        <p:tgtEl>
                                          <p:spTgt spid="8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par>
                          <p:cTn id="70" fill="hold">
                            <p:stCondLst>
                              <p:cond delay="5000"/>
                            </p:stCondLst>
                            <p:childTnLst>
                              <p:par>
                                <p:cTn id="71" presetID="8" presetClass="emph" presetSubtype="0" fill="hold" grpId="1" nodeType="afterEffect">
                                  <p:stCondLst>
                                    <p:cond delay="0"/>
                                  </p:stCondLst>
                                  <p:childTnLst>
                                    <p:animRot by="-10800000">
                                      <p:cBhvr>
                                        <p:cTn id="72" dur="5000" fill="hold"/>
                                        <p:tgtEl>
                                          <p:spTgt spid="107"/>
                                        </p:tgtEl>
                                        <p:attrNameLst>
                                          <p:attrName>r</p:attrName>
                                        </p:attrNameLst>
                                      </p:cBhvr>
                                    </p:animRot>
                                  </p:childTnLst>
                                </p:cTn>
                              </p:par>
                            </p:childTnLst>
                          </p:cTn>
                        </p:par>
                        <p:par>
                          <p:cTn id="73" fill="hold">
                            <p:stCondLst>
                              <p:cond delay="10000"/>
                            </p:stCondLst>
                            <p:childTnLst>
                              <p:par>
                                <p:cTn id="74" presetID="1" presetClass="entr" presetSubtype="0" fill="hold" grpId="0" nodeType="afterEffect">
                                  <p:stCondLst>
                                    <p:cond delay="1000"/>
                                  </p:stCondLst>
                                  <p:childTnLst>
                                    <p:set>
                                      <p:cBhvr>
                                        <p:cTn id="75" dur="1" fill="hold">
                                          <p:stCondLst>
                                            <p:cond delay="0"/>
                                          </p:stCondLst>
                                        </p:cTn>
                                        <p:tgtEl>
                                          <p:spTgt spid="78"/>
                                        </p:tgtEl>
                                        <p:attrNameLst>
                                          <p:attrName>style.visibility</p:attrName>
                                        </p:attrNameLst>
                                      </p:cBhvr>
                                      <p:to>
                                        <p:strVal val="visible"/>
                                      </p:to>
                                    </p:set>
                                  </p:childTnLst>
                                  <p:subTnLst>
                                    <p:audio>
                                      <p:cMediaNode>
                                        <p:cTn display="0" masterRel="sameClick">
                                          <p:stCondLst>
                                            <p:cond evt="begin" delay="0">
                                              <p:tn val="74"/>
                                            </p:cond>
                                          </p:stCondLst>
                                          <p:endCondLst>
                                            <p:cond evt="onStopAudio" delay="0">
                                              <p:tgtEl>
                                                <p:sldTgt/>
                                              </p:tgtEl>
                                            </p:cond>
                                          </p:endCondLst>
                                        </p:cTn>
                                        <p:tgtEl>
                                          <p:sndTgt r:embed="rId4" name="CAMERA.WAV"/>
                                        </p:tgtEl>
                                      </p:cMediaNode>
                                    </p:audio>
                                  </p:subTnLst>
                                </p:cTn>
                              </p:par>
                            </p:childTnLst>
                          </p:cTn>
                        </p:par>
                        <p:par>
                          <p:cTn id="76" fill="hold">
                            <p:stCondLst>
                              <p:cond delay="11000"/>
                            </p:stCondLst>
                            <p:childTnLst>
                              <p:par>
                                <p:cTn id="77" presetID="1" presetClass="exit" presetSubtype="0" fill="hold" grpId="2" nodeType="afterEffect">
                                  <p:stCondLst>
                                    <p:cond delay="0"/>
                                  </p:stCondLst>
                                  <p:childTnLst>
                                    <p:set>
                                      <p:cBhvr>
                                        <p:cTn id="78" dur="1" fill="hold">
                                          <p:stCondLst>
                                            <p:cond delay="0"/>
                                          </p:stCondLst>
                                        </p:cTn>
                                        <p:tgtEl>
                                          <p:spTgt spid="107"/>
                                        </p:tgtEl>
                                        <p:attrNameLst>
                                          <p:attrName>style.visibility</p:attrName>
                                        </p:attrNameLst>
                                      </p:cBhvr>
                                      <p:to>
                                        <p:strVal val="hidden"/>
                                      </p:to>
                                    </p:set>
                                  </p:childTnLst>
                                </p:cTn>
                              </p:par>
                            </p:childTnLst>
                          </p:cTn>
                        </p:par>
                        <p:par>
                          <p:cTn id="79" fill="hold">
                            <p:stCondLst>
                              <p:cond delay="11000"/>
                            </p:stCondLst>
                            <p:childTnLst>
                              <p:par>
                                <p:cTn id="80" presetID="8" presetClass="emph" presetSubtype="0" fill="hold" grpId="1" nodeType="afterEffect">
                                  <p:stCondLst>
                                    <p:cond delay="0"/>
                                  </p:stCondLst>
                                  <p:childTnLst>
                                    <p:animRot by="-21600000">
                                      <p:cBhvr>
                                        <p:cTn id="81" dur="5000" fill="hold"/>
                                        <p:tgtEl>
                                          <p:spTgt spid="78"/>
                                        </p:tgtEl>
                                        <p:attrNameLst>
                                          <p:attrName>r</p:attrName>
                                        </p:attrNameLst>
                                      </p:cBhvr>
                                    </p:animRot>
                                  </p:childTnLst>
                                </p:cTn>
                              </p:par>
                            </p:childTnLst>
                          </p:cTn>
                        </p:par>
                        <p:par>
                          <p:cTn id="82" fill="hold">
                            <p:stCondLst>
                              <p:cond delay="16000"/>
                            </p:stCondLst>
                            <p:childTnLst>
                              <p:par>
                                <p:cTn id="83" presetID="23" presetClass="entr" presetSubtype="32" fill="hold" nodeType="afterEffect">
                                  <p:stCondLst>
                                    <p:cond delay="1000"/>
                                  </p:stCondLst>
                                  <p:childTnLst>
                                    <p:set>
                                      <p:cBhvr>
                                        <p:cTn id="84" dur="1" fill="hold">
                                          <p:stCondLst>
                                            <p:cond delay="0"/>
                                          </p:stCondLst>
                                        </p:cTn>
                                        <p:tgtEl>
                                          <p:spTgt spid="96"/>
                                        </p:tgtEl>
                                        <p:attrNameLst>
                                          <p:attrName>style.visibility</p:attrName>
                                        </p:attrNameLst>
                                      </p:cBhvr>
                                      <p:to>
                                        <p:strVal val="visible"/>
                                      </p:to>
                                    </p:set>
                                    <p:anim calcmode="lin" valueType="num">
                                      <p:cBhvr>
                                        <p:cTn id="85" dur="3000" fill="hold"/>
                                        <p:tgtEl>
                                          <p:spTgt spid="96"/>
                                        </p:tgtEl>
                                        <p:attrNameLst>
                                          <p:attrName>ppt_w</p:attrName>
                                        </p:attrNameLst>
                                      </p:cBhvr>
                                      <p:tavLst>
                                        <p:tav tm="0">
                                          <p:val>
                                            <p:strVal val="4*#ppt_w"/>
                                          </p:val>
                                        </p:tav>
                                        <p:tav tm="100000">
                                          <p:val>
                                            <p:strVal val="#ppt_w"/>
                                          </p:val>
                                        </p:tav>
                                      </p:tavLst>
                                    </p:anim>
                                    <p:anim calcmode="lin" valueType="num">
                                      <p:cBhvr>
                                        <p:cTn id="86" dur="3000" fill="hold"/>
                                        <p:tgtEl>
                                          <p:spTgt spid="9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3"/>
                                            </p:cond>
                                          </p:stCondLst>
                                          <p:endCondLst>
                                            <p:cond evt="onStopAudio" delay="0">
                                              <p:tgtEl>
                                                <p:sldTgt/>
                                              </p:tgtEl>
                                            </p:cond>
                                          </p:endCondLst>
                                        </p:cTn>
                                        <p:tgtEl>
                                          <p:sndTgt r:embed="rId3" name="CHIMES.WAV"/>
                                        </p:tgtEl>
                                      </p:cMediaNode>
                                    </p:audio>
                                  </p:subTnLst>
                                </p:cTn>
                              </p:par>
                            </p:childTnLst>
                          </p:cTn>
                        </p:par>
                      </p:childTnLst>
                    </p:cTn>
                  </p:par>
                  <p:par>
                    <p:cTn id="87" fill="hold">
                      <p:stCondLst>
                        <p:cond delay="indefinite"/>
                      </p:stCondLst>
                      <p:childTnLst>
                        <p:par>
                          <p:cTn id="88" fill="hold">
                            <p:stCondLst>
                              <p:cond delay="0"/>
                            </p:stCondLst>
                            <p:childTnLst>
                              <p:par>
                                <p:cTn id="89" presetID="16" presetClass="entr" presetSubtype="37" fill="hold" grpId="0" nodeType="clickEffect">
                                  <p:stCondLst>
                                    <p:cond delay="0"/>
                                  </p:stCondLst>
                                  <p:childTnLst>
                                    <p:set>
                                      <p:cBhvr>
                                        <p:cTn id="90" dur="1" fill="hold">
                                          <p:stCondLst>
                                            <p:cond delay="0"/>
                                          </p:stCondLst>
                                        </p:cTn>
                                        <p:tgtEl>
                                          <p:spTgt spid="108"/>
                                        </p:tgtEl>
                                        <p:attrNameLst>
                                          <p:attrName>style.visibility</p:attrName>
                                        </p:attrNameLst>
                                      </p:cBhvr>
                                      <p:to>
                                        <p:strVal val="visible"/>
                                      </p:to>
                                    </p:set>
                                    <p:animEffect transition="in" filter="barn(outVertical)">
                                      <p:cBhvr>
                                        <p:cTn id="91" dur="3000"/>
                                        <p:tgtEl>
                                          <p:spTgt spid="10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87"/>
                                        </p:tgtEl>
                                        <p:attrNameLst>
                                          <p:attrName>style.visibility</p:attrName>
                                        </p:attrNameLst>
                                      </p:cBhvr>
                                      <p:to>
                                        <p:strVal val="visible"/>
                                      </p:to>
                                    </p:set>
                                    <p:animEffect transition="in" filter="wipe(down)">
                                      <p:cBhvr>
                                        <p:cTn id="96" dur="5000"/>
                                        <p:tgtEl>
                                          <p:spTgt spid="87"/>
                                        </p:tgtEl>
                                      </p:cBhvr>
                                    </p:animEffect>
                                  </p:childTnLst>
                                  <p:subTnLst>
                                    <p:audio>
                                      <p:cMediaNode>
                                        <p:cTn display="0" masterRel="sameClick">
                                          <p:stCondLst>
                                            <p:cond evt="begin" delay="0">
                                              <p:tn val="94"/>
                                            </p:cond>
                                          </p:stCondLst>
                                          <p:endCondLst>
                                            <p:cond evt="onStopAudio" delay="0">
                                              <p:tgtEl>
                                                <p:sldTgt/>
                                              </p:tgtEl>
                                            </p:cond>
                                          </p:endCondLst>
                                        </p:cTn>
                                        <p:tgtEl>
                                          <p:sndTgt r:embed="rId3" name="CHIMES.WAV"/>
                                        </p:tgtEl>
                                      </p:cMediaNode>
                                    </p:audio>
                                  </p:subTnLst>
                                </p:cTn>
                              </p:par>
                              <p:par>
                                <p:cTn id="97" presetID="22" presetClass="entr" presetSubtype="4" fill="hold" grpId="0" nodeType="withEffect">
                                  <p:stCondLst>
                                    <p:cond delay="1000"/>
                                  </p:stCondLst>
                                  <p:childTnLst>
                                    <p:set>
                                      <p:cBhvr>
                                        <p:cTn id="98" dur="1" fill="hold">
                                          <p:stCondLst>
                                            <p:cond delay="0"/>
                                          </p:stCondLst>
                                        </p:cTn>
                                        <p:tgtEl>
                                          <p:spTgt spid="90"/>
                                        </p:tgtEl>
                                        <p:attrNameLst>
                                          <p:attrName>style.visibility</p:attrName>
                                        </p:attrNameLst>
                                      </p:cBhvr>
                                      <p:to>
                                        <p:strVal val="visible"/>
                                      </p:to>
                                    </p:set>
                                    <p:animEffect transition="in" filter="wipe(down)">
                                      <p:cBhvr>
                                        <p:cTn id="99" dur="5000"/>
                                        <p:tgtEl>
                                          <p:spTgt spid="90"/>
                                        </p:tgtEl>
                                      </p:cBhvr>
                                    </p:animEffect>
                                  </p:childTnLst>
                                  <p:subTnLst>
                                    <p:audio>
                                      <p:cMediaNode>
                                        <p:cTn display="0" masterRel="sameClick">
                                          <p:stCondLst>
                                            <p:cond evt="begin" delay="0">
                                              <p:tn val="97"/>
                                            </p:cond>
                                          </p:stCondLst>
                                          <p:endCondLst>
                                            <p:cond evt="onStopAudio" delay="0">
                                              <p:tgtEl>
                                                <p:sldTgt/>
                                              </p:tgtEl>
                                            </p:cond>
                                          </p:endCondLst>
                                        </p:cTn>
                                        <p:tgtEl>
                                          <p:sndTgt r:embed="rId3" name="CHIMES.WAV"/>
                                        </p:tgtEl>
                                      </p:cMediaNode>
                                    </p:audio>
                                  </p:subTnLst>
                                </p:cTn>
                              </p:par>
                              <p:par>
                                <p:cTn id="100" presetID="19" presetClass="entr" presetSubtype="10" fill="hold" grpId="0" nodeType="withEffect">
                                  <p:stCondLst>
                                    <p:cond delay="1000"/>
                                  </p:stCondLst>
                                  <p:childTnLst>
                                    <p:set>
                                      <p:cBhvr>
                                        <p:cTn id="101" dur="1" fill="hold">
                                          <p:stCondLst>
                                            <p:cond delay="0"/>
                                          </p:stCondLst>
                                        </p:cTn>
                                        <p:tgtEl>
                                          <p:spTgt spid="92"/>
                                        </p:tgtEl>
                                        <p:attrNameLst>
                                          <p:attrName>style.visibility</p:attrName>
                                        </p:attrNameLst>
                                      </p:cBhvr>
                                      <p:to>
                                        <p:strVal val="visible"/>
                                      </p:to>
                                    </p:set>
                                    <p:anim calcmode="lin" valueType="num">
                                      <p:cBhvr>
                                        <p:cTn id="102" dur="5000" fill="hold"/>
                                        <p:tgtEl>
                                          <p:spTgt spid="92"/>
                                        </p:tgtEl>
                                        <p:attrNameLst>
                                          <p:attrName>ppt_w</p:attrName>
                                        </p:attrNameLst>
                                      </p:cBhvr>
                                      <p:tavLst>
                                        <p:tav tm="0" fmla="#ppt_w*sin(2.5*pi*$)">
                                          <p:val>
                                            <p:fltVal val="0"/>
                                          </p:val>
                                        </p:tav>
                                        <p:tav tm="100000">
                                          <p:val>
                                            <p:fltVal val="1"/>
                                          </p:val>
                                        </p:tav>
                                      </p:tavLst>
                                    </p:anim>
                                    <p:anim calcmode="lin" valueType="num">
                                      <p:cBhvr>
                                        <p:cTn id="103" dur="5000" fill="hold"/>
                                        <p:tgtEl>
                                          <p:spTgt spid="9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0"/>
                                            </p:cond>
                                          </p:stCondLst>
                                          <p:endCondLst>
                                            <p:cond evt="onStopAudio" delay="0">
                                              <p:tgtEl>
                                                <p:sldTgt/>
                                              </p:tgtEl>
                                            </p:cond>
                                          </p:endCondLst>
                                        </p:cTn>
                                        <p:tgtEl>
                                          <p:sndTgt r:embed="rId3" name="CHIMES.WAV"/>
                                        </p:tgtEl>
                                      </p:cMediaNode>
                                    </p:audio>
                                  </p:subTnLst>
                                </p:cTn>
                              </p:par>
                              <p:par>
                                <p:cTn id="104" presetID="19" presetClass="entr" presetSubtype="10" fill="hold" grpId="0" nodeType="withEffect">
                                  <p:stCondLst>
                                    <p:cond delay="1000"/>
                                  </p:stCondLst>
                                  <p:childTnLst>
                                    <p:set>
                                      <p:cBhvr>
                                        <p:cTn id="105" dur="1" fill="hold">
                                          <p:stCondLst>
                                            <p:cond delay="0"/>
                                          </p:stCondLst>
                                        </p:cTn>
                                        <p:tgtEl>
                                          <p:spTgt spid="91"/>
                                        </p:tgtEl>
                                        <p:attrNameLst>
                                          <p:attrName>style.visibility</p:attrName>
                                        </p:attrNameLst>
                                      </p:cBhvr>
                                      <p:to>
                                        <p:strVal val="visible"/>
                                      </p:to>
                                    </p:set>
                                    <p:anim calcmode="lin" valueType="num">
                                      <p:cBhvr>
                                        <p:cTn id="106" dur="5000" fill="hold"/>
                                        <p:tgtEl>
                                          <p:spTgt spid="91"/>
                                        </p:tgtEl>
                                        <p:attrNameLst>
                                          <p:attrName>ppt_w</p:attrName>
                                        </p:attrNameLst>
                                      </p:cBhvr>
                                      <p:tavLst>
                                        <p:tav tm="0" fmla="#ppt_w*sin(2.5*pi*$)">
                                          <p:val>
                                            <p:fltVal val="0"/>
                                          </p:val>
                                        </p:tav>
                                        <p:tav tm="100000">
                                          <p:val>
                                            <p:fltVal val="1"/>
                                          </p:val>
                                        </p:tav>
                                      </p:tavLst>
                                    </p:anim>
                                    <p:anim calcmode="lin" valueType="num">
                                      <p:cBhvr>
                                        <p:cTn id="107" dur="5000" fill="hold"/>
                                        <p:tgtEl>
                                          <p:spTgt spid="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4"/>
                                            </p:cond>
                                          </p:stCondLst>
                                          <p:endCondLst>
                                            <p:cond evt="onStopAudio" delay="0">
                                              <p:tgtEl>
                                                <p:sldTgt/>
                                              </p:tgtEl>
                                            </p:cond>
                                          </p:endCondLst>
                                        </p:cTn>
                                        <p:tgtEl>
                                          <p:sndTgt r:embed="rId3" name="CHIMES.WAV"/>
                                        </p:tgtEl>
                                      </p:cMediaNode>
                                    </p:audio>
                                  </p:subTnLst>
                                </p:cTn>
                              </p:par>
                            </p:childTnLst>
                          </p:cTn>
                        </p:par>
                        <p:par>
                          <p:cTn id="108" fill="hold">
                            <p:stCondLst>
                              <p:cond delay="6000"/>
                            </p:stCondLst>
                            <p:childTnLst>
                              <p:par>
                                <p:cTn id="109" presetID="22" presetClass="entr" presetSubtype="4" fill="hold" grpId="0" nodeType="afterEffect">
                                  <p:stCondLst>
                                    <p:cond delay="0"/>
                                  </p:stCondLst>
                                  <p:childTnLst>
                                    <p:set>
                                      <p:cBhvr>
                                        <p:cTn id="110" dur="1" fill="hold">
                                          <p:stCondLst>
                                            <p:cond delay="0"/>
                                          </p:stCondLst>
                                        </p:cTn>
                                        <p:tgtEl>
                                          <p:spTgt spid="74"/>
                                        </p:tgtEl>
                                        <p:attrNameLst>
                                          <p:attrName>style.visibility</p:attrName>
                                        </p:attrNameLst>
                                      </p:cBhvr>
                                      <p:to>
                                        <p:strVal val="visible"/>
                                      </p:to>
                                    </p:set>
                                    <p:animEffect transition="in" filter="wipe(down)">
                                      <p:cBhvr>
                                        <p:cTn id="111" dur="5000"/>
                                        <p:tgtEl>
                                          <p:spTgt spid="74"/>
                                        </p:tgtEl>
                                      </p:cBhvr>
                                    </p:animEffect>
                                  </p:childTnLst>
                                  <p:subTnLst>
                                    <p:audio>
                                      <p:cMediaNode>
                                        <p:cTn display="0" masterRel="sameClick">
                                          <p:stCondLst>
                                            <p:cond evt="begin" delay="0">
                                              <p:tn val="109"/>
                                            </p:cond>
                                          </p:stCondLst>
                                          <p:endCondLst>
                                            <p:cond evt="onStopAudio" delay="0">
                                              <p:tgtEl>
                                                <p:sldTgt/>
                                              </p:tgtEl>
                                            </p:cond>
                                          </p:endCondLst>
                                        </p:cTn>
                                        <p:tgtEl>
                                          <p:sndTgt r:embed="rId4" name="CAMERA.WAV"/>
                                        </p:tgtEl>
                                      </p:cMediaNode>
                                    </p:audio>
                                  </p:subTnLst>
                                </p:cTn>
                              </p:par>
                              <p:par>
                                <p:cTn id="112" presetID="22" presetClass="exit" presetSubtype="4" fill="hold" grpId="1" nodeType="withEffect">
                                  <p:stCondLst>
                                    <p:cond delay="0"/>
                                  </p:stCondLst>
                                  <p:childTnLst>
                                    <p:animEffect transition="out" filter="wipe(down)">
                                      <p:cBhvr>
                                        <p:cTn id="113" dur="5000"/>
                                        <p:tgtEl>
                                          <p:spTgt spid="108"/>
                                        </p:tgtEl>
                                      </p:cBhvr>
                                    </p:animEffect>
                                    <p:set>
                                      <p:cBhvr>
                                        <p:cTn id="114" dur="1" fill="hold">
                                          <p:stCondLst>
                                            <p:cond delay="4999"/>
                                          </p:stCondLst>
                                        </p:cTn>
                                        <p:tgtEl>
                                          <p:spTgt spid="108"/>
                                        </p:tgtEl>
                                        <p:attrNameLst>
                                          <p:attrName>style.visibility</p:attrName>
                                        </p:attrNameLst>
                                      </p:cBhvr>
                                      <p:to>
                                        <p:strVal val="hidden"/>
                                      </p:to>
                                    </p:set>
                                  </p:childTnLst>
                                </p:cTn>
                              </p:par>
                              <p:par>
                                <p:cTn id="115" presetID="8" presetClass="emph" presetSubtype="0" fill="hold" grpId="1" nodeType="withEffect">
                                  <p:stCondLst>
                                    <p:cond delay="0"/>
                                  </p:stCondLst>
                                  <p:childTnLst>
                                    <p:animRot by="-21600000">
                                      <p:cBhvr>
                                        <p:cTn id="116" dur="5000" fill="hold"/>
                                        <p:tgtEl>
                                          <p:spTgt spid="87"/>
                                        </p:tgtEl>
                                        <p:attrNameLst>
                                          <p:attrName>r</p:attrName>
                                        </p:attrNameLst>
                                      </p:cBhvr>
                                    </p:animRot>
                                  </p:childTnLst>
                                </p:cTn>
                              </p:par>
                              <p:par>
                                <p:cTn id="117" presetID="8" presetClass="emph" presetSubtype="0" fill="hold" grpId="1" nodeType="withEffect">
                                  <p:stCondLst>
                                    <p:cond delay="0"/>
                                  </p:stCondLst>
                                  <p:childTnLst>
                                    <p:animRot by="21600000">
                                      <p:cBhvr>
                                        <p:cTn id="118" dur="5000" fill="hold"/>
                                        <p:tgtEl>
                                          <p:spTgt spid="90"/>
                                        </p:tgtEl>
                                        <p:attrNameLst>
                                          <p:attrName>r</p:attrName>
                                        </p:attrNameLst>
                                      </p:cBhvr>
                                    </p:animRot>
                                  </p:childTnLst>
                                </p:cTn>
                              </p:par>
                            </p:childTnLst>
                          </p:cTn>
                        </p:par>
                        <p:par>
                          <p:cTn id="119" fill="hold">
                            <p:stCondLst>
                              <p:cond delay="11000"/>
                            </p:stCondLst>
                            <p:childTnLst>
                              <p:par>
                                <p:cTn id="120" presetID="23" presetClass="entr" presetSubtype="32" fill="hold" nodeType="afterEffect">
                                  <p:stCondLst>
                                    <p:cond delay="1000"/>
                                  </p:stCondLst>
                                  <p:childTnLst>
                                    <p:set>
                                      <p:cBhvr>
                                        <p:cTn id="121" dur="1" fill="hold">
                                          <p:stCondLst>
                                            <p:cond delay="0"/>
                                          </p:stCondLst>
                                        </p:cTn>
                                        <p:tgtEl>
                                          <p:spTgt spid="103"/>
                                        </p:tgtEl>
                                        <p:attrNameLst>
                                          <p:attrName>style.visibility</p:attrName>
                                        </p:attrNameLst>
                                      </p:cBhvr>
                                      <p:to>
                                        <p:strVal val="visible"/>
                                      </p:to>
                                    </p:set>
                                    <p:anim calcmode="lin" valueType="num">
                                      <p:cBhvr>
                                        <p:cTn id="122" dur="3000" fill="hold"/>
                                        <p:tgtEl>
                                          <p:spTgt spid="103"/>
                                        </p:tgtEl>
                                        <p:attrNameLst>
                                          <p:attrName>ppt_w</p:attrName>
                                        </p:attrNameLst>
                                      </p:cBhvr>
                                      <p:tavLst>
                                        <p:tav tm="0">
                                          <p:val>
                                            <p:strVal val="4*#ppt_w"/>
                                          </p:val>
                                        </p:tav>
                                        <p:tav tm="100000">
                                          <p:val>
                                            <p:strVal val="#ppt_w"/>
                                          </p:val>
                                        </p:tav>
                                      </p:tavLst>
                                    </p:anim>
                                    <p:anim calcmode="lin" valueType="num">
                                      <p:cBhvr>
                                        <p:cTn id="123" dur="3000" fill="hold"/>
                                        <p:tgtEl>
                                          <p:spTgt spid="10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3" name="CHIMES.WAV"/>
                                        </p:tgtEl>
                                      </p:cMediaNode>
                                    </p:audio>
                                  </p:subTnLst>
                                </p:cTn>
                              </p:par>
                            </p:childTnLst>
                          </p:cTn>
                        </p:par>
                      </p:childTnLst>
                    </p:cTn>
                  </p:par>
                  <p:par>
                    <p:cTn id="124" fill="hold">
                      <p:stCondLst>
                        <p:cond delay="indefinite"/>
                      </p:stCondLst>
                      <p:childTnLst>
                        <p:par>
                          <p:cTn id="125" fill="hold">
                            <p:stCondLst>
                              <p:cond delay="0"/>
                            </p:stCondLst>
                            <p:childTnLst>
                              <p:par>
                                <p:cTn id="126" presetID="16" presetClass="entr" presetSubtype="37" fill="hold" grpId="0" nodeType="clickEffect">
                                  <p:stCondLst>
                                    <p:cond delay="0"/>
                                  </p:stCondLst>
                                  <p:childTnLst>
                                    <p:set>
                                      <p:cBhvr>
                                        <p:cTn id="127" dur="1" fill="hold">
                                          <p:stCondLst>
                                            <p:cond delay="0"/>
                                          </p:stCondLst>
                                        </p:cTn>
                                        <p:tgtEl>
                                          <p:spTgt spid="109"/>
                                        </p:tgtEl>
                                        <p:attrNameLst>
                                          <p:attrName>style.visibility</p:attrName>
                                        </p:attrNameLst>
                                      </p:cBhvr>
                                      <p:to>
                                        <p:strVal val="visible"/>
                                      </p:to>
                                    </p:set>
                                    <p:animEffect transition="in" filter="barn(outVertical)">
                                      <p:cBhvr>
                                        <p:cTn id="128" dur="3000"/>
                                        <p:tgtEl>
                                          <p:spTgt spid="10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88"/>
                                        </p:tgtEl>
                                        <p:attrNameLst>
                                          <p:attrName>style.visibility</p:attrName>
                                        </p:attrNameLst>
                                      </p:cBhvr>
                                      <p:to>
                                        <p:strVal val="visible"/>
                                      </p:to>
                                    </p:set>
                                    <p:animEffect transition="in" filter="wipe(up)">
                                      <p:cBhvr>
                                        <p:cTn id="133" dur="5000"/>
                                        <p:tgtEl>
                                          <p:spTgt spid="88"/>
                                        </p:tgtEl>
                                      </p:cBhvr>
                                    </p:animEffect>
                                  </p:childTnLst>
                                  <p:subTnLst>
                                    <p:audio>
                                      <p:cMediaNode>
                                        <p:cTn display="0" masterRel="sameClick">
                                          <p:stCondLst>
                                            <p:cond evt="begin" delay="0">
                                              <p:tn val="131"/>
                                            </p:cond>
                                          </p:stCondLst>
                                          <p:endCondLst>
                                            <p:cond evt="onStopAudio" delay="0">
                                              <p:tgtEl>
                                                <p:sldTgt/>
                                              </p:tgtEl>
                                            </p:cond>
                                          </p:endCondLst>
                                        </p:cTn>
                                        <p:tgtEl>
                                          <p:sndTgt r:embed="rId3" name="CHIMES.WAV"/>
                                        </p:tgtEl>
                                      </p:cMediaNode>
                                    </p:audio>
                                  </p:subTnLst>
                                </p:cTn>
                              </p:par>
                              <p:par>
                                <p:cTn id="134" presetID="22" presetClass="entr" presetSubtype="1" fill="hold" grpId="0" nodeType="withEffect">
                                  <p:stCondLst>
                                    <p:cond delay="0"/>
                                  </p:stCondLst>
                                  <p:childTnLst>
                                    <p:set>
                                      <p:cBhvr>
                                        <p:cTn id="135" dur="1" fill="hold">
                                          <p:stCondLst>
                                            <p:cond delay="0"/>
                                          </p:stCondLst>
                                        </p:cTn>
                                        <p:tgtEl>
                                          <p:spTgt spid="89"/>
                                        </p:tgtEl>
                                        <p:attrNameLst>
                                          <p:attrName>style.visibility</p:attrName>
                                        </p:attrNameLst>
                                      </p:cBhvr>
                                      <p:to>
                                        <p:strVal val="visible"/>
                                      </p:to>
                                    </p:set>
                                    <p:animEffect transition="in" filter="wipe(up)">
                                      <p:cBhvr>
                                        <p:cTn id="136" dur="5000"/>
                                        <p:tgtEl>
                                          <p:spTgt spid="89"/>
                                        </p:tgtEl>
                                      </p:cBhvr>
                                    </p:animEffect>
                                  </p:childTnLst>
                                  <p:subTnLst>
                                    <p:audio>
                                      <p:cMediaNode>
                                        <p:cTn display="0" masterRel="sameClick">
                                          <p:stCondLst>
                                            <p:cond evt="begin" delay="0">
                                              <p:tn val="134"/>
                                            </p:cond>
                                          </p:stCondLst>
                                          <p:endCondLst>
                                            <p:cond evt="onStopAudio" delay="0">
                                              <p:tgtEl>
                                                <p:sldTgt/>
                                              </p:tgtEl>
                                            </p:cond>
                                          </p:endCondLst>
                                        </p:cTn>
                                        <p:tgtEl>
                                          <p:sndTgt r:embed="rId3" name="CHIMES.WAV"/>
                                        </p:tgtEl>
                                      </p:cMediaNode>
                                    </p:audio>
                                  </p:subTnLst>
                                </p:cTn>
                              </p:par>
                              <p:par>
                                <p:cTn id="137" presetID="19" presetClass="entr" presetSubtype="10" fill="hold" grpId="0" nodeType="withEffect">
                                  <p:stCondLst>
                                    <p:cond delay="0"/>
                                  </p:stCondLst>
                                  <p:childTnLst>
                                    <p:set>
                                      <p:cBhvr>
                                        <p:cTn id="138" dur="1" fill="hold">
                                          <p:stCondLst>
                                            <p:cond delay="0"/>
                                          </p:stCondLst>
                                        </p:cTn>
                                        <p:tgtEl>
                                          <p:spTgt spid="76"/>
                                        </p:tgtEl>
                                        <p:attrNameLst>
                                          <p:attrName>style.visibility</p:attrName>
                                        </p:attrNameLst>
                                      </p:cBhvr>
                                      <p:to>
                                        <p:strVal val="visible"/>
                                      </p:to>
                                    </p:set>
                                    <p:anim calcmode="lin" valueType="num">
                                      <p:cBhvr>
                                        <p:cTn id="139" dur="5000" fill="hold"/>
                                        <p:tgtEl>
                                          <p:spTgt spid="76"/>
                                        </p:tgtEl>
                                        <p:attrNameLst>
                                          <p:attrName>ppt_w</p:attrName>
                                        </p:attrNameLst>
                                      </p:cBhvr>
                                      <p:tavLst>
                                        <p:tav tm="0" fmla="#ppt_w*sin(2.5*pi*$)">
                                          <p:val>
                                            <p:fltVal val="0"/>
                                          </p:val>
                                        </p:tav>
                                        <p:tav tm="100000">
                                          <p:val>
                                            <p:fltVal val="1"/>
                                          </p:val>
                                        </p:tav>
                                      </p:tavLst>
                                    </p:anim>
                                    <p:anim calcmode="lin" valueType="num">
                                      <p:cBhvr>
                                        <p:cTn id="140" dur="5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7"/>
                                            </p:cond>
                                          </p:stCondLst>
                                          <p:endCondLst>
                                            <p:cond evt="onStopAudio" delay="0">
                                              <p:tgtEl>
                                                <p:sldTgt/>
                                              </p:tgtEl>
                                            </p:cond>
                                          </p:endCondLst>
                                        </p:cTn>
                                        <p:tgtEl>
                                          <p:sndTgt r:embed="rId3" name="CHIMES.WAV"/>
                                        </p:tgtEl>
                                      </p:cMediaNode>
                                    </p:audio>
                                  </p:subTnLst>
                                </p:cTn>
                              </p:par>
                              <p:par>
                                <p:cTn id="141" presetID="19" presetClass="entr" presetSubtype="10" fill="hold" grpId="0" nodeType="withEffect">
                                  <p:stCondLst>
                                    <p:cond delay="0"/>
                                  </p:stCondLst>
                                  <p:childTnLst>
                                    <p:set>
                                      <p:cBhvr>
                                        <p:cTn id="142" dur="1" fill="hold">
                                          <p:stCondLst>
                                            <p:cond delay="0"/>
                                          </p:stCondLst>
                                        </p:cTn>
                                        <p:tgtEl>
                                          <p:spTgt spid="75"/>
                                        </p:tgtEl>
                                        <p:attrNameLst>
                                          <p:attrName>style.visibility</p:attrName>
                                        </p:attrNameLst>
                                      </p:cBhvr>
                                      <p:to>
                                        <p:strVal val="visible"/>
                                      </p:to>
                                    </p:set>
                                    <p:anim calcmode="lin" valueType="num">
                                      <p:cBhvr>
                                        <p:cTn id="143" dur="5000" fill="hold"/>
                                        <p:tgtEl>
                                          <p:spTgt spid="75"/>
                                        </p:tgtEl>
                                        <p:attrNameLst>
                                          <p:attrName>ppt_w</p:attrName>
                                        </p:attrNameLst>
                                      </p:cBhvr>
                                      <p:tavLst>
                                        <p:tav tm="0" fmla="#ppt_w*sin(2.5*pi*$)">
                                          <p:val>
                                            <p:fltVal val="0"/>
                                          </p:val>
                                        </p:tav>
                                        <p:tav tm="100000">
                                          <p:val>
                                            <p:fltVal val="1"/>
                                          </p:val>
                                        </p:tav>
                                      </p:tavLst>
                                    </p:anim>
                                    <p:anim calcmode="lin" valueType="num">
                                      <p:cBhvr>
                                        <p:cTn id="144"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1"/>
                                            </p:cond>
                                          </p:stCondLst>
                                          <p:endCondLst>
                                            <p:cond evt="onStopAudio" delay="0">
                                              <p:tgtEl>
                                                <p:sldTgt/>
                                              </p:tgtEl>
                                            </p:cond>
                                          </p:endCondLst>
                                        </p:cTn>
                                        <p:tgtEl>
                                          <p:sndTgt r:embed="rId3" name="CHIMES.WAV"/>
                                        </p:tgtEl>
                                      </p:cMediaNode>
                                    </p:audio>
                                  </p:subTnLst>
                                </p:cTn>
                              </p:par>
                              <p:par>
                                <p:cTn id="145" presetID="22" presetClass="entr" presetSubtype="4" fill="hold" grpId="0" nodeType="withEffect">
                                  <p:stCondLst>
                                    <p:cond delay="0"/>
                                  </p:stCondLst>
                                  <p:childTnLst>
                                    <p:set>
                                      <p:cBhvr>
                                        <p:cTn id="146" dur="1" fill="hold">
                                          <p:stCondLst>
                                            <p:cond delay="0"/>
                                          </p:stCondLst>
                                        </p:cTn>
                                        <p:tgtEl>
                                          <p:spTgt spid="99"/>
                                        </p:tgtEl>
                                        <p:attrNameLst>
                                          <p:attrName>style.visibility</p:attrName>
                                        </p:attrNameLst>
                                      </p:cBhvr>
                                      <p:to>
                                        <p:strVal val="visible"/>
                                      </p:to>
                                    </p:set>
                                    <p:animEffect transition="in" filter="wipe(down)">
                                      <p:cBhvr>
                                        <p:cTn id="147" dur="5000"/>
                                        <p:tgtEl>
                                          <p:spTgt spid="99"/>
                                        </p:tgtEl>
                                      </p:cBhvr>
                                    </p:animEffect>
                                  </p:childTnLst>
                                  <p:subTnLst>
                                    <p:audio>
                                      <p:cMediaNode>
                                        <p:cTn display="0" masterRel="sameClick">
                                          <p:stCondLst>
                                            <p:cond evt="begin" delay="0">
                                              <p:tn val="145"/>
                                            </p:cond>
                                          </p:stCondLst>
                                          <p:endCondLst>
                                            <p:cond evt="onStopAudio" delay="0">
                                              <p:tgtEl>
                                                <p:sldTgt/>
                                              </p:tgtEl>
                                            </p:cond>
                                          </p:endCondLst>
                                        </p:cTn>
                                        <p:tgtEl>
                                          <p:sndTgt r:embed="rId4" name="CAMERA.WAV"/>
                                        </p:tgtEl>
                                      </p:cMediaNode>
                                    </p:audio>
                                  </p:subTnLst>
                                </p:cTn>
                              </p:par>
                              <p:par>
                                <p:cTn id="148" presetID="22" presetClass="exit" presetSubtype="4" fill="hold" grpId="1" nodeType="withEffect">
                                  <p:stCondLst>
                                    <p:cond delay="0"/>
                                  </p:stCondLst>
                                  <p:childTnLst>
                                    <p:animEffect transition="out" filter="wipe(down)">
                                      <p:cBhvr>
                                        <p:cTn id="149" dur="5000"/>
                                        <p:tgtEl>
                                          <p:spTgt spid="109"/>
                                        </p:tgtEl>
                                      </p:cBhvr>
                                    </p:animEffect>
                                    <p:set>
                                      <p:cBhvr>
                                        <p:cTn id="150" dur="1" fill="hold">
                                          <p:stCondLst>
                                            <p:cond delay="4999"/>
                                          </p:stCondLst>
                                        </p:cTn>
                                        <p:tgtEl>
                                          <p:spTgt spid="109"/>
                                        </p:tgtEl>
                                        <p:attrNameLst>
                                          <p:attrName>style.visibility</p:attrName>
                                        </p:attrNameLst>
                                      </p:cBhvr>
                                      <p:to>
                                        <p:strVal val="hidden"/>
                                      </p:to>
                                    </p:set>
                                  </p:childTnLst>
                                </p:cTn>
                              </p:par>
                            </p:childTnLst>
                          </p:cTn>
                        </p:par>
                        <p:par>
                          <p:cTn id="151" fill="hold">
                            <p:stCondLst>
                              <p:cond delay="5000"/>
                            </p:stCondLst>
                            <p:childTnLst>
                              <p:par>
                                <p:cTn id="152" presetID="8" presetClass="emph" presetSubtype="0" fill="hold" grpId="1" nodeType="afterEffect">
                                  <p:stCondLst>
                                    <p:cond delay="0"/>
                                  </p:stCondLst>
                                  <p:childTnLst>
                                    <p:animRot by="21600000">
                                      <p:cBhvr>
                                        <p:cTn id="153" dur="5000" fill="hold"/>
                                        <p:tgtEl>
                                          <p:spTgt spid="89"/>
                                        </p:tgtEl>
                                        <p:attrNameLst>
                                          <p:attrName>r</p:attrName>
                                        </p:attrNameLst>
                                      </p:cBhvr>
                                    </p:animRot>
                                  </p:childTnLst>
                                </p:cTn>
                              </p:par>
                              <p:par>
                                <p:cTn id="154" presetID="8" presetClass="emph" presetSubtype="0" fill="hold" grpId="1" nodeType="withEffect">
                                  <p:stCondLst>
                                    <p:cond delay="0"/>
                                  </p:stCondLst>
                                  <p:childTnLst>
                                    <p:animRot by="-21600000">
                                      <p:cBhvr>
                                        <p:cTn id="155" dur="5000" fill="hold"/>
                                        <p:tgtEl>
                                          <p:spTgt spid="88"/>
                                        </p:tgtEl>
                                        <p:attrNameLst>
                                          <p:attrName>r</p:attrName>
                                        </p:attrNameLst>
                                      </p:cBhvr>
                                    </p:animRot>
                                  </p:childTnLst>
                                </p:cTn>
                              </p:par>
                            </p:childTnLst>
                          </p:cTn>
                        </p:par>
                        <p:par>
                          <p:cTn id="156" fill="hold">
                            <p:stCondLst>
                              <p:cond delay="10000"/>
                            </p:stCondLst>
                            <p:childTnLst>
                              <p:par>
                                <p:cTn id="157" presetID="23" presetClass="entr" presetSubtype="32" fill="hold" nodeType="afterEffect">
                                  <p:stCondLst>
                                    <p:cond delay="0"/>
                                  </p:stCondLst>
                                  <p:childTnLst>
                                    <p:set>
                                      <p:cBhvr>
                                        <p:cTn id="158" dur="1" fill="hold">
                                          <p:stCondLst>
                                            <p:cond delay="0"/>
                                          </p:stCondLst>
                                        </p:cTn>
                                        <p:tgtEl>
                                          <p:spTgt spid="100"/>
                                        </p:tgtEl>
                                        <p:attrNameLst>
                                          <p:attrName>style.visibility</p:attrName>
                                        </p:attrNameLst>
                                      </p:cBhvr>
                                      <p:to>
                                        <p:strVal val="visible"/>
                                      </p:to>
                                    </p:set>
                                    <p:anim calcmode="lin" valueType="num">
                                      <p:cBhvr>
                                        <p:cTn id="159" dur="3000" fill="hold"/>
                                        <p:tgtEl>
                                          <p:spTgt spid="100"/>
                                        </p:tgtEl>
                                        <p:attrNameLst>
                                          <p:attrName>ppt_w</p:attrName>
                                        </p:attrNameLst>
                                      </p:cBhvr>
                                      <p:tavLst>
                                        <p:tav tm="0">
                                          <p:val>
                                            <p:strVal val="4*#ppt_w"/>
                                          </p:val>
                                        </p:tav>
                                        <p:tav tm="100000">
                                          <p:val>
                                            <p:strVal val="#ppt_w"/>
                                          </p:val>
                                        </p:tav>
                                      </p:tavLst>
                                    </p:anim>
                                    <p:anim calcmode="lin" valueType="num">
                                      <p:cBhvr>
                                        <p:cTn id="160" dur="3000" fill="hold"/>
                                        <p:tgtEl>
                                          <p:spTgt spid="10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57"/>
                                            </p:cond>
                                          </p:stCondLst>
                                          <p:endCondLst>
                                            <p:cond evt="onStopAudio" delay="0">
                                              <p:tgtEl>
                                                <p:sldTgt/>
                                              </p:tgtEl>
                                            </p:cond>
                                          </p:endCondLst>
                                        </p:cTn>
                                        <p:tgtEl>
                                          <p:sndTgt r:embed="rId3" name="CHIMES.WAV"/>
                                        </p:tgtEl>
                                      </p:cMediaNode>
                                    </p:audio>
                                  </p:sub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499"/>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74" grpId="0" animBg="1"/>
      <p:bldP spid="75" grpId="0" autoUpdateAnimBg="0"/>
      <p:bldP spid="76" grpId="0" autoUpdateAnimBg="0"/>
      <p:bldP spid="77" grpId="0" animBg="1"/>
      <p:bldP spid="77" grpId="1" animBg="1"/>
      <p:bldP spid="78" grpId="0" animBg="1"/>
      <p:bldP spid="78" grpId="1" animBg="1"/>
      <p:bldP spid="79" grpId="0" animBg="1"/>
      <p:bldP spid="80" grpId="0" autoUpdateAnimBg="0"/>
      <p:bldP spid="81" grpId="0" animBg="1"/>
      <p:bldP spid="82" grpId="0" autoUpdateAnimBg="0"/>
      <p:bldP spid="83" grpId="0" animBg="1"/>
      <p:bldP spid="84" grpId="0" autoUpdateAnimBg="0"/>
      <p:bldP spid="85" grpId="0" animBg="1"/>
      <p:bldP spid="86" grpId="0" autoUpdateAnimBg="0"/>
      <p:bldP spid="87" grpId="0" animBg="1"/>
      <p:bldP spid="87" grpId="1" animBg="1"/>
      <p:bldP spid="88" grpId="0" animBg="1"/>
      <p:bldP spid="88" grpId="1" animBg="1"/>
      <p:bldP spid="89" grpId="0" animBg="1"/>
      <p:bldP spid="89" grpId="1" animBg="1"/>
      <p:bldP spid="90" grpId="0" animBg="1"/>
      <p:bldP spid="90" grpId="1" animBg="1"/>
      <p:bldP spid="91" grpId="0" autoUpdateAnimBg="0"/>
      <p:bldP spid="92" grpId="0" autoUpdateAnimBg="0"/>
      <p:bldP spid="99" grpId="0" animBg="1"/>
      <p:bldP spid="106" grpId="0" animBg="1"/>
      <p:bldP spid="106" grpId="1" animBg="1"/>
      <p:bldP spid="106" grpId="2" animBg="1"/>
      <p:bldP spid="107" grpId="0" animBg="1"/>
      <p:bldP spid="107" grpId="1" animBg="1"/>
      <p:bldP spid="107" grpId="2" animBg="1"/>
      <p:bldP spid="108" grpId="0" animBg="1"/>
      <p:bldP spid="108" grpId="1" animBg="1"/>
      <p:bldP spid="109" grpId="0" animBg="1"/>
      <p:bldP spid="109" grpId="1" animBg="1"/>
      <p:bldP spid="11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5" name="Text Box 1032"/>
          <p:cNvSpPr txBox="1">
            <a:spLocks noChangeArrowheads="1"/>
          </p:cNvSpPr>
          <p:nvPr/>
        </p:nvSpPr>
        <p:spPr bwMode="auto">
          <a:xfrm>
            <a:off x="272953" y="932195"/>
            <a:ext cx="11151639" cy="28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计算表明：梁上某一截面的</a:t>
            </a:r>
            <a:r>
              <a:rPr lang="zh-CN" altLang="en-US" sz="2800" i="0" dirty="0">
                <a:solidFill>
                  <a:srgbClr val="FF0000"/>
                </a:solidFill>
                <a:latin typeface="+mn-lt"/>
                <a:ea typeface="微软雅黑" panose="020B0503020204020204" pitchFamily="34" charset="-122"/>
              </a:rPr>
              <a:t>剪力</a:t>
            </a:r>
            <a:r>
              <a:rPr lang="zh-CN" altLang="en-US" sz="2800" i="0" dirty="0">
                <a:latin typeface="+mn-lt"/>
                <a:ea typeface="微软雅黑" panose="020B0503020204020204" pitchFamily="34" charset="-122"/>
              </a:rPr>
              <a:t>大小等于截面之左（或右）段上所有外力的代数和；</a:t>
            </a:r>
            <a:r>
              <a:rPr lang="zh-CN" altLang="en-US" sz="2800" i="0" dirty="0">
                <a:solidFill>
                  <a:srgbClr val="FF0000"/>
                </a:solidFill>
                <a:latin typeface="+mn-lt"/>
                <a:ea typeface="微软雅黑" panose="020B0503020204020204" pitchFamily="34" charset="-122"/>
              </a:rPr>
              <a:t>弯矩</a:t>
            </a:r>
            <a:r>
              <a:rPr lang="zh-CN" altLang="en-US" sz="2800" i="0" dirty="0">
                <a:latin typeface="+mn-lt"/>
                <a:ea typeface="微软雅黑" panose="020B0503020204020204" pitchFamily="34" charset="-122"/>
              </a:rPr>
              <a:t>大小等于截面之左（或右）段上的所有外力对截面形心力矩的代数和。在实际计算中，剪力和弯矩的符号一般皆设为正，如果计算结果为正，表明实际的剪力和弯矩与图示方向一致；若结果为负，则与图示方向相反</a:t>
            </a:r>
            <a:r>
              <a:rPr lang="zh-CN" altLang="en-US" sz="2800" i="0" dirty="0">
                <a:ea typeface="微软雅黑" panose="020B0503020204020204" pitchFamily="34" charset="-122"/>
              </a:rPr>
              <a:t>。</a:t>
            </a:r>
            <a:endParaRPr lang="zh-CN" altLang="en-US" sz="2800" i="0" dirty="0">
              <a:latin typeface="+mj-lt"/>
              <a:ea typeface="微软雅黑" panose="020B0503020204020204" pitchFamily="34" charset="-122"/>
            </a:endParaRPr>
          </a:p>
        </p:txBody>
      </p:sp>
      <p:sp>
        <p:nvSpPr>
          <p:cNvPr id="42" name="Text Box 1032"/>
          <p:cNvSpPr txBox="1">
            <a:spLocks noChangeArrowheads="1"/>
          </p:cNvSpPr>
          <p:nvPr/>
        </p:nvSpPr>
        <p:spPr bwMode="auto">
          <a:xfrm>
            <a:off x="813013" y="3933056"/>
            <a:ext cx="4310879" cy="188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研究对象在截面的左边</a:t>
            </a:r>
            <a:endParaRPr lang="en-US" altLang="zh-CN" sz="2800" i="0" dirty="0">
              <a:latin typeface="+mn-lt"/>
              <a:ea typeface="微软雅黑" panose="020B0503020204020204" pitchFamily="34" charset="-122"/>
            </a:endParaRPr>
          </a:p>
          <a:p>
            <a:pPr lvl="0" algn="just"/>
            <a:r>
              <a:rPr kumimoji="1" lang="en-US" altLang="zh-CN" sz="3200" b="0" i="0" dirty="0">
                <a:solidFill>
                  <a:srgbClr val="FF0000"/>
                </a:solidFill>
                <a:ea typeface="黑体" panose="02010609060101010101" pitchFamily="49" charset="-122"/>
              </a:rPr>
              <a:t>   </a:t>
            </a:r>
            <a:r>
              <a:rPr kumimoji="1" lang="en-US" altLang="zh-CN" sz="3200" b="0" dirty="0">
                <a:solidFill>
                  <a:srgbClr val="FF0000"/>
                </a:solidFill>
                <a:ea typeface="黑体" panose="02010609060101010101" pitchFamily="49" charset="-122"/>
              </a:rPr>
              <a:t>F</a:t>
            </a:r>
            <a:r>
              <a:rPr kumimoji="1" lang="en-US" altLang="zh-CN" sz="3200" b="0" i="0" baseline="-25000" dirty="0">
                <a:solidFill>
                  <a:srgbClr val="FF0000"/>
                </a:solidFill>
                <a:ea typeface="黑体" panose="02010609060101010101" pitchFamily="49" charset="-122"/>
              </a:rPr>
              <a:t>Q</a:t>
            </a:r>
            <a:r>
              <a:rPr kumimoji="1" lang="zh-CN" altLang="en-US"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左</a:t>
            </a:r>
            <a:endParaRPr kumimoji="1" lang="zh-CN" altLang="en-US" sz="3200" b="0" i="0" dirty="0">
              <a:solidFill>
                <a:srgbClr val="FF0000"/>
              </a:solidFill>
              <a:ea typeface="黑体" panose="02010609060101010101" pitchFamily="49" charset="-122"/>
            </a:endParaRPr>
          </a:p>
          <a:p>
            <a:pPr lvl="0" algn="just">
              <a:lnSpc>
                <a:spcPct val="150000"/>
              </a:lnSpc>
            </a:pPr>
            <a:r>
              <a:rPr kumimoji="1" lang="en-US" altLang="zh-CN" sz="3200" b="0" dirty="0">
                <a:solidFill>
                  <a:srgbClr val="FF0000"/>
                </a:solidFill>
                <a:ea typeface="黑体" panose="02010609060101010101" pitchFamily="49" charset="-122"/>
              </a:rPr>
              <a:t>  M</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M</a:t>
            </a:r>
            <a:r>
              <a:rPr kumimoji="1" lang="en-US" altLang="zh-CN" sz="3200" b="0" baseline="-25000" dirty="0">
                <a:solidFill>
                  <a:srgbClr val="FF0000"/>
                </a:solidFill>
                <a:ea typeface="黑体" panose="02010609060101010101" pitchFamily="49" charset="-122"/>
              </a:rPr>
              <a:t>C</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左</a:t>
            </a:r>
            <a:r>
              <a:rPr kumimoji="1" lang="en-US" altLang="zh-CN" sz="3200" b="0" i="0" dirty="0">
                <a:solidFill>
                  <a:srgbClr val="FF0000"/>
                </a:solidFill>
                <a:ea typeface="黑体" panose="02010609060101010101" pitchFamily="49" charset="-122"/>
              </a:rPr>
              <a:t>)</a:t>
            </a:r>
          </a:p>
        </p:txBody>
      </p:sp>
      <p:sp>
        <p:nvSpPr>
          <p:cNvPr id="43" name="Text Box 1032"/>
          <p:cNvSpPr txBox="1">
            <a:spLocks noChangeArrowheads="1"/>
          </p:cNvSpPr>
          <p:nvPr/>
        </p:nvSpPr>
        <p:spPr bwMode="auto">
          <a:xfrm>
            <a:off x="6312024" y="3933056"/>
            <a:ext cx="4310879" cy="179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研究对象在截面的右边</a:t>
            </a:r>
            <a:endParaRPr lang="en-US" altLang="zh-CN" sz="2800" i="0" dirty="0">
              <a:latin typeface="+mn-lt"/>
              <a:ea typeface="微软雅黑" panose="020B0503020204020204" pitchFamily="34" charset="-122"/>
            </a:endParaRPr>
          </a:p>
          <a:p>
            <a:pPr lvl="0" algn="just"/>
            <a:r>
              <a:rPr kumimoji="1" lang="en-US" altLang="zh-CN" sz="3200" b="0" i="0" dirty="0">
                <a:solidFill>
                  <a:srgbClr val="FF0000"/>
                </a:solidFill>
                <a:ea typeface="黑体" panose="02010609060101010101" pitchFamily="49" charset="-122"/>
              </a:rPr>
              <a:t>   </a:t>
            </a:r>
            <a:r>
              <a:rPr kumimoji="1" lang="en-US" altLang="zh-CN" sz="3200" b="0" dirty="0">
                <a:solidFill>
                  <a:srgbClr val="FF0000"/>
                </a:solidFill>
                <a:ea typeface="黑体" panose="02010609060101010101" pitchFamily="49" charset="-122"/>
              </a:rPr>
              <a:t>F</a:t>
            </a:r>
            <a:r>
              <a:rPr kumimoji="1" lang="en-US" altLang="zh-CN" sz="3200" b="0" i="0" baseline="-25000" dirty="0">
                <a:solidFill>
                  <a:srgbClr val="FF0000"/>
                </a:solidFill>
                <a:ea typeface="黑体" panose="02010609060101010101" pitchFamily="49" charset="-122"/>
              </a:rPr>
              <a:t>Q</a:t>
            </a:r>
            <a:r>
              <a:rPr kumimoji="1" lang="zh-CN" altLang="en-US"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右</a:t>
            </a:r>
            <a:endParaRPr kumimoji="1" lang="zh-CN" altLang="en-US" sz="3200" b="0" i="0" dirty="0">
              <a:solidFill>
                <a:srgbClr val="FF0000"/>
              </a:solidFill>
              <a:ea typeface="黑体" panose="02010609060101010101" pitchFamily="49" charset="-122"/>
            </a:endParaRPr>
          </a:p>
          <a:p>
            <a:pPr lvl="0" algn="just">
              <a:lnSpc>
                <a:spcPct val="150000"/>
              </a:lnSpc>
            </a:pPr>
            <a:r>
              <a:rPr kumimoji="1" lang="en-US" altLang="zh-CN" sz="3200" b="0" dirty="0">
                <a:solidFill>
                  <a:srgbClr val="FF0000"/>
                </a:solidFill>
                <a:ea typeface="黑体" panose="02010609060101010101" pitchFamily="49" charset="-122"/>
              </a:rPr>
              <a:t>  M</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M</a:t>
            </a:r>
            <a:r>
              <a:rPr kumimoji="1" lang="en-US" altLang="zh-CN" sz="3200" b="0" baseline="-25000" dirty="0">
                <a:solidFill>
                  <a:srgbClr val="FF0000"/>
                </a:solidFill>
                <a:ea typeface="黑体" panose="02010609060101010101" pitchFamily="49" charset="-122"/>
              </a:rPr>
              <a:t>C</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右</a:t>
            </a:r>
            <a:r>
              <a:rPr kumimoji="1" lang="en-US" altLang="zh-CN" sz="3200" b="0" i="0" dirty="0">
                <a:solidFill>
                  <a:srgbClr val="FF0000"/>
                </a:solidFill>
                <a:ea typeface="黑体" panose="02010609060101010101" pitchFamily="49" charset="-122"/>
              </a:rPr>
              <a:t>)</a:t>
            </a:r>
          </a:p>
        </p:txBody>
      </p:sp>
    </p:spTree>
    <p:extLst>
      <p:ext uri="{BB962C8B-B14F-4D97-AF65-F5344CB8AC3E}">
        <p14:creationId xmlns:p14="http://schemas.microsoft.com/office/powerpoint/2010/main" val="6312979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42" grpId="0" autoUpdateAnimBg="0"/>
      <p:bldP spid="4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848872" cy="465448"/>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i="0" dirty="0">
                <a:solidFill>
                  <a:schemeClr val="tx1"/>
                </a:solidFill>
                <a:latin typeface="+mn-lt"/>
                <a:ea typeface="黑体" panose="02010609060101010101" pitchFamily="49" charset="-122"/>
              </a:rPr>
              <a:t>如图所示的简支梁，试求</a:t>
            </a:r>
            <a:r>
              <a:rPr lang="en-US" altLang="zh-CN" i="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a:t>
            </a:r>
            <a:r>
              <a:rPr lang="en-US" altLang="zh-CN" i="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及</a:t>
            </a:r>
            <a:r>
              <a:rPr lang="en-US" altLang="zh-CN" i="0" dirty="0">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左右截面上的内力。</a:t>
            </a:r>
          </a:p>
        </p:txBody>
      </p:sp>
      <p:sp>
        <p:nvSpPr>
          <p:cNvPr id="3" name="矩形 2">
            <a:extLst>
              <a:ext uri="{FF2B5EF4-FFF2-40B4-BE49-F238E27FC236}">
                <a16:creationId xmlns:a16="http://schemas.microsoft.com/office/drawing/2014/main" id="{E8DB0D0A-8BE9-6ADA-6C58-96049487BA32}"/>
              </a:ext>
            </a:extLst>
          </p:cNvPr>
          <p:cNvSpPr/>
          <p:nvPr/>
        </p:nvSpPr>
        <p:spPr>
          <a:xfrm>
            <a:off x="211185" y="1430351"/>
            <a:ext cx="5127330" cy="493148"/>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a:t>
            </a:r>
            <a:endParaRPr kumimoji="1" lang="en-US" altLang="zh-CN" i="0" dirty="0">
              <a:solidFill>
                <a:schemeClr val="tx1"/>
              </a:solidFill>
              <a:latin typeface="+mn-lt"/>
              <a:ea typeface="黑体" panose="02010609060101010101" pitchFamily="49" charset="-122"/>
            </a:endParaRPr>
          </a:p>
        </p:txBody>
      </p:sp>
      <p:sp>
        <p:nvSpPr>
          <p:cNvPr id="8" name="矩形 7">
            <a:extLst>
              <a:ext uri="{FF2B5EF4-FFF2-40B4-BE49-F238E27FC236}">
                <a16:creationId xmlns:a16="http://schemas.microsoft.com/office/drawing/2014/main" id="{1F86EC10-3CEB-11E4-3709-D598B31B586E}"/>
              </a:ext>
            </a:extLst>
          </p:cNvPr>
          <p:cNvSpPr/>
          <p:nvPr/>
        </p:nvSpPr>
        <p:spPr>
          <a:xfrm>
            <a:off x="444206" y="3513377"/>
            <a:ext cx="6819709" cy="493148"/>
          </a:xfrm>
          <a:prstGeom prst="rect">
            <a:avLst/>
          </a:prstGeom>
        </p:spPr>
        <p:txBody>
          <a:bodyPr wrap="square">
            <a:spAutoFit/>
          </a:bodyPr>
          <a:lstStyle/>
          <a:p>
            <a:pPr lvl="0">
              <a:lnSpc>
                <a:spcPct val="120000"/>
              </a:lnSpc>
            </a:pP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838336" y="1725367"/>
            <a:ext cx="4730549" cy="4140528"/>
          </a:xfrm>
          <a:prstGeom prst="rect">
            <a:avLst/>
          </a:prstGeom>
          <a:solidFill>
            <a:srgbClr val="B9CDE5"/>
          </a:solidFill>
          <a:ln>
            <a:noFill/>
          </a:ln>
          <a:effectLst/>
        </p:spPr>
        <p:txBody>
          <a:bodyPr wrap="none" anchor="ctr"/>
          <a:lstStyle/>
          <a:p>
            <a:endParaRPr lang="zh-CN" altLang="en-US"/>
          </a:p>
        </p:txBody>
      </p:sp>
      <p:grpSp>
        <p:nvGrpSpPr>
          <p:cNvPr id="13" name="组合 12">
            <a:extLst>
              <a:ext uri="{FF2B5EF4-FFF2-40B4-BE49-F238E27FC236}">
                <a16:creationId xmlns:a16="http://schemas.microsoft.com/office/drawing/2014/main" id="{0B24FCC4-B7C0-3166-B6F8-704837FCD77C}"/>
              </a:ext>
            </a:extLst>
          </p:cNvPr>
          <p:cNvGrpSpPr/>
          <p:nvPr/>
        </p:nvGrpSpPr>
        <p:grpSpPr>
          <a:xfrm>
            <a:off x="7472920" y="1739287"/>
            <a:ext cx="3477372" cy="1312268"/>
            <a:chOff x="695624" y="1801697"/>
            <a:chExt cx="3477372" cy="1312268"/>
          </a:xfrm>
        </p:grpSpPr>
        <p:cxnSp>
          <p:nvCxnSpPr>
            <p:cNvPr id="14" name="直接连接符 223">
              <a:extLst>
                <a:ext uri="{FF2B5EF4-FFF2-40B4-BE49-F238E27FC236}">
                  <a16:creationId xmlns:a16="http://schemas.microsoft.com/office/drawing/2014/main" id="{B8970A43-ABBF-0760-839C-C4CD1BD8EB5D}"/>
                </a:ext>
              </a:extLst>
            </p:cNvPr>
            <p:cNvCxnSpPr>
              <a:cxnSpLocks noChangeShapeType="1"/>
              <a:stCxn id="37" idx="0"/>
              <a:endCxn id="48" idx="0"/>
            </p:cNvCxnSpPr>
            <p:nvPr/>
          </p:nvCxnSpPr>
          <p:spPr bwMode="auto">
            <a:xfrm>
              <a:off x="1087705" y="2402055"/>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 name="组合 224">
              <a:extLst>
                <a:ext uri="{FF2B5EF4-FFF2-40B4-BE49-F238E27FC236}">
                  <a16:creationId xmlns:a16="http://schemas.microsoft.com/office/drawing/2014/main" id="{0DF131BA-C371-7D59-7A83-81CDE2E6A421}"/>
                </a:ext>
              </a:extLst>
            </p:cNvPr>
            <p:cNvGrpSpPr>
              <a:grpSpLocks/>
            </p:cNvGrpSpPr>
            <p:nvPr/>
          </p:nvGrpSpPr>
          <p:grpSpPr bwMode="auto">
            <a:xfrm>
              <a:off x="3548785" y="2402055"/>
              <a:ext cx="438150" cy="396875"/>
              <a:chOff x="6199814" y="5094185"/>
              <a:chExt cx="473132" cy="428316"/>
            </a:xfrm>
          </p:grpSpPr>
          <p:grpSp>
            <p:nvGrpSpPr>
              <p:cNvPr id="47" name="组合 225">
                <a:extLst>
                  <a:ext uri="{FF2B5EF4-FFF2-40B4-BE49-F238E27FC236}">
                    <a16:creationId xmlns:a16="http://schemas.microsoft.com/office/drawing/2014/main" id="{566A527C-275D-6E84-9BB4-513194B37598}"/>
                  </a:ext>
                </a:extLst>
              </p:cNvPr>
              <p:cNvGrpSpPr>
                <a:grpSpLocks/>
              </p:cNvGrpSpPr>
              <p:nvPr/>
            </p:nvGrpSpPr>
            <p:grpSpPr bwMode="auto">
              <a:xfrm>
                <a:off x="6199814" y="5451033"/>
                <a:ext cx="473132" cy="71468"/>
                <a:chOff x="2321750" y="5453423"/>
                <a:chExt cx="473132" cy="71468"/>
              </a:xfrm>
            </p:grpSpPr>
            <p:cxnSp>
              <p:nvCxnSpPr>
                <p:cNvPr id="51" name="直接连接符 229">
                  <a:extLst>
                    <a:ext uri="{FF2B5EF4-FFF2-40B4-BE49-F238E27FC236}">
                      <a16:creationId xmlns:a16="http://schemas.microsoft.com/office/drawing/2014/main" id="{430ADF96-C044-5CE2-B7D8-1C9D11670DAE}"/>
                    </a:ext>
                  </a:extLst>
                </p:cNvPr>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230">
                  <a:extLst>
                    <a:ext uri="{FF2B5EF4-FFF2-40B4-BE49-F238E27FC236}">
                      <a16:creationId xmlns:a16="http://schemas.microsoft.com/office/drawing/2014/main" id="{3C8AB489-1706-7D92-4086-40F82DBDB043}"/>
                    </a:ext>
                  </a:extLst>
                </p:cNvPr>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231">
                  <a:extLst>
                    <a:ext uri="{FF2B5EF4-FFF2-40B4-BE49-F238E27FC236}">
                      <a16:creationId xmlns:a16="http://schemas.microsoft.com/office/drawing/2014/main" id="{0D95F62C-9359-F6C9-8ACD-3E78C774C81E}"/>
                    </a:ext>
                  </a:extLst>
                </p:cNvPr>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2">
                  <a:extLst>
                    <a:ext uri="{FF2B5EF4-FFF2-40B4-BE49-F238E27FC236}">
                      <a16:creationId xmlns:a16="http://schemas.microsoft.com/office/drawing/2014/main" id="{2D3E49F8-94B6-C2D3-83B4-E5D24F6C4A53}"/>
                    </a:ext>
                  </a:extLst>
                </p:cNvPr>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3">
                  <a:extLst>
                    <a:ext uri="{FF2B5EF4-FFF2-40B4-BE49-F238E27FC236}">
                      <a16:creationId xmlns:a16="http://schemas.microsoft.com/office/drawing/2014/main" id="{3CC3948F-496D-ACAF-932A-47174D47C16A}"/>
                    </a:ext>
                  </a:extLst>
                </p:cNvPr>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4">
                  <a:extLst>
                    <a:ext uri="{FF2B5EF4-FFF2-40B4-BE49-F238E27FC236}">
                      <a16:creationId xmlns:a16="http://schemas.microsoft.com/office/drawing/2014/main" id="{F0A75ECB-15D6-34B0-A223-A712DE783660}"/>
                    </a:ext>
                  </a:extLst>
                </p:cNvPr>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235">
                  <a:extLst>
                    <a:ext uri="{FF2B5EF4-FFF2-40B4-BE49-F238E27FC236}">
                      <a16:creationId xmlns:a16="http://schemas.microsoft.com/office/drawing/2014/main" id="{470F317E-9637-F8CC-FA42-E70BBFD2A3E0}"/>
                    </a:ext>
                  </a:extLst>
                </p:cNvPr>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236">
                  <a:extLst>
                    <a:ext uri="{FF2B5EF4-FFF2-40B4-BE49-F238E27FC236}">
                      <a16:creationId xmlns:a16="http://schemas.microsoft.com/office/drawing/2014/main" id="{180A7C08-79D0-FD5F-992A-50D30323CDE5}"/>
                    </a:ext>
                  </a:extLst>
                </p:cNvPr>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8" name="等腰三角形 226">
                <a:extLst>
                  <a:ext uri="{FF2B5EF4-FFF2-40B4-BE49-F238E27FC236}">
                    <a16:creationId xmlns:a16="http://schemas.microsoft.com/office/drawing/2014/main" id="{545E56A6-7DA4-8B7C-DAFE-3F96E0E3065B}"/>
                  </a:ext>
                </a:extLst>
              </p:cNvPr>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 name="椭圆 227">
                <a:extLst>
                  <a:ext uri="{FF2B5EF4-FFF2-40B4-BE49-F238E27FC236}">
                    <a16:creationId xmlns:a16="http://schemas.microsoft.com/office/drawing/2014/main" id="{A7498F0C-19DA-2D62-5ECF-010E5F3FFC0F}"/>
                  </a:ext>
                </a:extLst>
              </p:cNvPr>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 name="椭圆 228">
                <a:extLst>
                  <a:ext uri="{FF2B5EF4-FFF2-40B4-BE49-F238E27FC236}">
                    <a16:creationId xmlns:a16="http://schemas.microsoft.com/office/drawing/2014/main" id="{46D054B8-9745-CDF6-9FBA-E112222C7A81}"/>
                  </a:ext>
                </a:extLst>
              </p:cNvPr>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6" name="组合 237">
              <a:extLst>
                <a:ext uri="{FF2B5EF4-FFF2-40B4-BE49-F238E27FC236}">
                  <a16:creationId xmlns:a16="http://schemas.microsoft.com/office/drawing/2014/main" id="{56AED552-EAC7-1CA2-507C-341EE21854C9}"/>
                </a:ext>
              </a:extLst>
            </p:cNvPr>
            <p:cNvGrpSpPr>
              <a:grpSpLocks/>
            </p:cNvGrpSpPr>
            <p:nvPr/>
          </p:nvGrpSpPr>
          <p:grpSpPr bwMode="auto">
            <a:xfrm>
              <a:off x="895438" y="2402055"/>
              <a:ext cx="354013" cy="317500"/>
              <a:chOff x="2312606" y="5094185"/>
              <a:chExt cx="473132" cy="424341"/>
            </a:xfrm>
          </p:grpSpPr>
          <p:sp>
            <p:nvSpPr>
              <p:cNvPr id="37" name="等腰三角形 238">
                <a:extLst>
                  <a:ext uri="{FF2B5EF4-FFF2-40B4-BE49-F238E27FC236}">
                    <a16:creationId xmlns:a16="http://schemas.microsoft.com/office/drawing/2014/main" id="{B7C175D7-48E9-1C05-7AEB-2B54F8B23449}"/>
                  </a:ext>
                </a:extLst>
              </p:cNvPr>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38" name="组合 239">
                <a:extLst>
                  <a:ext uri="{FF2B5EF4-FFF2-40B4-BE49-F238E27FC236}">
                    <a16:creationId xmlns:a16="http://schemas.microsoft.com/office/drawing/2014/main" id="{A1C8F1C2-1BB8-2D24-DA81-6CAFF05FDFFF}"/>
                  </a:ext>
                </a:extLst>
              </p:cNvPr>
              <p:cNvGrpSpPr>
                <a:grpSpLocks/>
              </p:cNvGrpSpPr>
              <p:nvPr/>
            </p:nvGrpSpPr>
            <p:grpSpPr bwMode="auto">
              <a:xfrm>
                <a:off x="2312606" y="5447058"/>
                <a:ext cx="473132" cy="71468"/>
                <a:chOff x="2321750" y="5453423"/>
                <a:chExt cx="473132" cy="71468"/>
              </a:xfrm>
            </p:grpSpPr>
            <p:cxnSp>
              <p:nvCxnSpPr>
                <p:cNvPr id="39" name="直接连接符 240">
                  <a:extLst>
                    <a:ext uri="{FF2B5EF4-FFF2-40B4-BE49-F238E27FC236}">
                      <a16:creationId xmlns:a16="http://schemas.microsoft.com/office/drawing/2014/main" id="{3FFAC72D-5200-9D19-B8A8-4482EA74C968}"/>
                    </a:ext>
                  </a:extLst>
                </p:cNvPr>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241">
                  <a:extLst>
                    <a:ext uri="{FF2B5EF4-FFF2-40B4-BE49-F238E27FC236}">
                      <a16:creationId xmlns:a16="http://schemas.microsoft.com/office/drawing/2014/main" id="{6A31B568-3D12-B394-4B68-4D82C999C2E3}"/>
                    </a:ext>
                  </a:extLst>
                </p:cNvPr>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242">
                  <a:extLst>
                    <a:ext uri="{FF2B5EF4-FFF2-40B4-BE49-F238E27FC236}">
                      <a16:creationId xmlns:a16="http://schemas.microsoft.com/office/drawing/2014/main" id="{6C46BA07-28D3-E04F-0635-FB10AC102EF9}"/>
                    </a:ext>
                  </a:extLst>
                </p:cNvPr>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243">
                  <a:extLst>
                    <a:ext uri="{FF2B5EF4-FFF2-40B4-BE49-F238E27FC236}">
                      <a16:creationId xmlns:a16="http://schemas.microsoft.com/office/drawing/2014/main" id="{BE2D518F-DB0F-A625-D365-4A82D5DF4992}"/>
                    </a:ext>
                  </a:extLst>
                </p:cNvPr>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244">
                  <a:extLst>
                    <a:ext uri="{FF2B5EF4-FFF2-40B4-BE49-F238E27FC236}">
                      <a16:creationId xmlns:a16="http://schemas.microsoft.com/office/drawing/2014/main" id="{298367A5-0A84-180F-3B19-4F802AE7D10A}"/>
                    </a:ext>
                  </a:extLst>
                </p:cNvPr>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245">
                  <a:extLst>
                    <a:ext uri="{FF2B5EF4-FFF2-40B4-BE49-F238E27FC236}">
                      <a16:creationId xmlns:a16="http://schemas.microsoft.com/office/drawing/2014/main" id="{26FDC06C-CC6B-246B-8758-634F58516261}"/>
                    </a:ext>
                  </a:extLst>
                </p:cNvPr>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246">
                  <a:extLst>
                    <a:ext uri="{FF2B5EF4-FFF2-40B4-BE49-F238E27FC236}">
                      <a16:creationId xmlns:a16="http://schemas.microsoft.com/office/drawing/2014/main" id="{3EB6BC3D-67DD-1679-66FB-D2C07926972E}"/>
                    </a:ext>
                  </a:extLst>
                </p:cNvPr>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247">
                  <a:extLst>
                    <a:ext uri="{FF2B5EF4-FFF2-40B4-BE49-F238E27FC236}">
                      <a16:creationId xmlns:a16="http://schemas.microsoft.com/office/drawing/2014/main" id="{4D5C6D2A-9A75-E9B5-6D70-F20B12B8B2F7}"/>
                    </a:ext>
                  </a:extLst>
                </p:cNvPr>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18" name="直接箭头连接符 250">
              <a:extLst>
                <a:ext uri="{FF2B5EF4-FFF2-40B4-BE49-F238E27FC236}">
                  <a16:creationId xmlns:a16="http://schemas.microsoft.com/office/drawing/2014/main" id="{A26FD729-C09C-A3DC-1383-52BA5070FDC3}"/>
                </a:ext>
              </a:extLst>
            </p:cNvPr>
            <p:cNvCxnSpPr>
              <a:cxnSpLocks noChangeShapeType="1"/>
            </p:cNvCxnSpPr>
            <p:nvPr/>
          </p:nvCxnSpPr>
          <p:spPr bwMode="auto">
            <a:xfrm>
              <a:off x="2062646" y="1951205"/>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106">
              <a:extLst>
                <a:ext uri="{FF2B5EF4-FFF2-40B4-BE49-F238E27FC236}">
                  <a16:creationId xmlns:a16="http://schemas.microsoft.com/office/drawing/2014/main" id="{423E9F00-5D9F-488D-FE6C-E9CF3856F813}"/>
                </a:ext>
              </a:extLst>
            </p:cNvPr>
            <p:cNvSpPr txBox="1">
              <a:spLocks noChangeArrowheads="1"/>
            </p:cNvSpPr>
            <p:nvPr/>
          </p:nvSpPr>
          <p:spPr bwMode="auto">
            <a:xfrm>
              <a:off x="1964221" y="1840080"/>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latin typeface="Times New Roman" pitchFamily="18" charset="0"/>
                  <a:ea typeface="+mn-ea"/>
                  <a:cs typeface="Times New Roman" pitchFamily="18" charset="0"/>
                </a:rPr>
                <a:t>F</a:t>
              </a:r>
              <a:endParaRPr lang="zh-CN" altLang="en-US" sz="1800" b="0" i="1" dirty="0">
                <a:latin typeface="Times New Roman" pitchFamily="18" charset="0"/>
                <a:ea typeface="+mn-ea"/>
                <a:cs typeface="Times New Roman" pitchFamily="18" charset="0"/>
              </a:endParaRPr>
            </a:p>
          </p:txBody>
        </p:sp>
        <p:cxnSp>
          <p:nvCxnSpPr>
            <p:cNvPr id="20" name="直接连接符 19">
              <a:extLst>
                <a:ext uri="{FF2B5EF4-FFF2-40B4-BE49-F238E27FC236}">
                  <a16:creationId xmlns:a16="http://schemas.microsoft.com/office/drawing/2014/main" id="{64581562-7DED-5410-0023-265DD8285E8D}"/>
                </a:ext>
              </a:extLst>
            </p:cNvPr>
            <p:cNvCxnSpPr/>
            <p:nvPr/>
          </p:nvCxnSpPr>
          <p:spPr bwMode="auto">
            <a:xfrm>
              <a:off x="1085851" y="1951205"/>
              <a:ext cx="5530" cy="35267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FF30EC41-2014-091A-47FC-E625DCAB5A42}"/>
                </a:ext>
              </a:extLst>
            </p:cNvPr>
            <p:cNvCxnSpPr/>
            <p:nvPr/>
          </p:nvCxnSpPr>
          <p:spPr bwMode="auto">
            <a:xfrm>
              <a:off x="1080660" y="2099952"/>
              <a:ext cx="617492"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106">
              <a:extLst>
                <a:ext uri="{FF2B5EF4-FFF2-40B4-BE49-F238E27FC236}">
                  <a16:creationId xmlns:a16="http://schemas.microsoft.com/office/drawing/2014/main" id="{5D38AB25-A6AD-A220-C181-5DB3199AD812}"/>
                </a:ext>
              </a:extLst>
            </p:cNvPr>
            <p:cNvSpPr txBox="1">
              <a:spLocks noChangeArrowheads="1"/>
            </p:cNvSpPr>
            <p:nvPr/>
          </p:nvSpPr>
          <p:spPr bwMode="auto">
            <a:xfrm>
              <a:off x="695624" y="2180595"/>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cxnSp>
          <p:nvCxnSpPr>
            <p:cNvPr id="23" name="直接连接符 22">
              <a:extLst>
                <a:ext uri="{FF2B5EF4-FFF2-40B4-BE49-F238E27FC236}">
                  <a16:creationId xmlns:a16="http://schemas.microsoft.com/office/drawing/2014/main" id="{69FB9221-3744-C0F4-A92C-0F2DAA201749}"/>
                </a:ext>
              </a:extLst>
            </p:cNvPr>
            <p:cNvCxnSpPr/>
            <p:nvPr/>
          </p:nvCxnSpPr>
          <p:spPr bwMode="auto">
            <a:xfrm>
              <a:off x="1085851" y="2663915"/>
              <a:ext cx="1854" cy="45005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9EA8F4CB-4D7C-BA53-A563-B49D0C90ADF0}"/>
                </a:ext>
              </a:extLst>
            </p:cNvPr>
            <p:cNvCxnSpPr/>
            <p:nvPr/>
          </p:nvCxnSpPr>
          <p:spPr bwMode="auto">
            <a:xfrm>
              <a:off x="1080660" y="2980087"/>
              <a:ext cx="977101"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2CBBB79D-C625-CDCB-FB12-18EC1E42F990}"/>
                </a:ext>
              </a:extLst>
            </p:cNvPr>
            <p:cNvCxnSpPr/>
            <p:nvPr/>
          </p:nvCxnSpPr>
          <p:spPr bwMode="auto">
            <a:xfrm>
              <a:off x="2057761" y="2402055"/>
              <a:ext cx="0" cy="71191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7D28B6D5-F74E-DD7C-1968-2CFEC921C007}"/>
                </a:ext>
              </a:extLst>
            </p:cNvPr>
            <p:cNvCxnSpPr/>
            <p:nvPr/>
          </p:nvCxnSpPr>
          <p:spPr bwMode="auto">
            <a:xfrm>
              <a:off x="2057761" y="2980160"/>
              <a:ext cx="1720518"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A19CBBDE-40A4-353C-AAC9-36EA53320467}"/>
                </a:ext>
              </a:extLst>
            </p:cNvPr>
            <p:cNvCxnSpPr/>
            <p:nvPr/>
          </p:nvCxnSpPr>
          <p:spPr bwMode="auto">
            <a:xfrm>
              <a:off x="3784109" y="2663915"/>
              <a:ext cx="1854" cy="45005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 Box 106">
              <a:extLst>
                <a:ext uri="{FF2B5EF4-FFF2-40B4-BE49-F238E27FC236}">
                  <a16:creationId xmlns:a16="http://schemas.microsoft.com/office/drawing/2014/main" id="{4FF395B3-8C87-0383-AF5F-DC5D0EB29A19}"/>
                </a:ext>
              </a:extLst>
            </p:cNvPr>
            <p:cNvSpPr txBox="1">
              <a:spLocks noChangeArrowheads="1"/>
            </p:cNvSpPr>
            <p:nvPr/>
          </p:nvSpPr>
          <p:spPr bwMode="auto">
            <a:xfrm>
              <a:off x="2552816" y="2653645"/>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chemeClr val="tx1"/>
                  </a:solidFill>
                  <a:latin typeface="Times New Roman" pitchFamily="18" charset="0"/>
                  <a:ea typeface="+mn-ea"/>
                  <a:cs typeface="Times New Roman" pitchFamily="18" charset="0"/>
                </a:rPr>
                <a:t>2</a:t>
              </a:r>
              <a:r>
                <a:rPr lang="en-US" altLang="zh-CN" sz="1800" b="0" dirty="0">
                  <a:solidFill>
                    <a:schemeClr val="tx1"/>
                  </a:solidFill>
                  <a:latin typeface="Times New Roman" pitchFamily="18" charset="0"/>
                  <a:ea typeface="+mn-ea"/>
                  <a:cs typeface="Times New Roman" pitchFamily="18" charset="0"/>
                </a:rPr>
                <a:t>l</a:t>
              </a:r>
              <a:r>
                <a:rPr lang="en-US" altLang="zh-CN" sz="1800" b="0" i="0" dirty="0">
                  <a:solidFill>
                    <a:schemeClr val="tx1"/>
                  </a:solidFill>
                  <a:latin typeface="Times New Roman" pitchFamily="18" charset="0"/>
                  <a:ea typeface="+mn-ea"/>
                  <a:cs typeface="Times New Roman" pitchFamily="18" charset="0"/>
                </a:rPr>
                <a:t>/3</a:t>
              </a:r>
            </a:p>
          </p:txBody>
        </p:sp>
        <p:sp>
          <p:nvSpPr>
            <p:cNvPr id="29" name="Text Box 106">
              <a:extLst>
                <a:ext uri="{FF2B5EF4-FFF2-40B4-BE49-F238E27FC236}">
                  <a16:creationId xmlns:a16="http://schemas.microsoft.com/office/drawing/2014/main" id="{EA3794C8-A153-209D-E739-D7F907DE7224}"/>
                </a:ext>
              </a:extLst>
            </p:cNvPr>
            <p:cNvSpPr txBox="1">
              <a:spLocks noChangeArrowheads="1"/>
            </p:cNvSpPr>
            <p:nvPr/>
          </p:nvSpPr>
          <p:spPr bwMode="auto">
            <a:xfrm>
              <a:off x="3691984" y="219009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B</a:t>
              </a:r>
              <a:endParaRPr lang="zh-CN" altLang="en-US" sz="1800" b="0" i="1" dirty="0">
                <a:solidFill>
                  <a:schemeClr val="tx1"/>
                </a:solidFill>
                <a:latin typeface="Times New Roman" pitchFamily="18" charset="0"/>
                <a:ea typeface="+mn-ea"/>
                <a:cs typeface="Times New Roman" pitchFamily="18" charset="0"/>
              </a:endParaRPr>
            </a:p>
          </p:txBody>
        </p:sp>
        <p:sp>
          <p:nvSpPr>
            <p:cNvPr id="30" name="Text Box 106">
              <a:extLst>
                <a:ext uri="{FF2B5EF4-FFF2-40B4-BE49-F238E27FC236}">
                  <a16:creationId xmlns:a16="http://schemas.microsoft.com/office/drawing/2014/main" id="{19FEF01A-8A38-C44A-B050-1DF385E9CE93}"/>
                </a:ext>
              </a:extLst>
            </p:cNvPr>
            <p:cNvSpPr txBox="1">
              <a:spLocks noChangeArrowheads="1"/>
            </p:cNvSpPr>
            <p:nvPr/>
          </p:nvSpPr>
          <p:spPr bwMode="auto">
            <a:xfrm>
              <a:off x="1159379" y="180169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sp>
          <p:nvSpPr>
            <p:cNvPr id="31" name="Text Box 106">
              <a:extLst>
                <a:ext uri="{FF2B5EF4-FFF2-40B4-BE49-F238E27FC236}">
                  <a16:creationId xmlns:a16="http://schemas.microsoft.com/office/drawing/2014/main" id="{F3ECEC29-C077-64FE-B68B-FA01DA083681}"/>
                </a:ext>
              </a:extLst>
            </p:cNvPr>
            <p:cNvSpPr txBox="1">
              <a:spLocks noChangeArrowheads="1"/>
            </p:cNvSpPr>
            <p:nvPr/>
          </p:nvSpPr>
          <p:spPr bwMode="auto">
            <a:xfrm>
              <a:off x="1967751" y="237424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C</a:t>
              </a:r>
              <a:endParaRPr lang="zh-CN" altLang="en-US" sz="1800" b="0" i="1" dirty="0">
                <a:solidFill>
                  <a:schemeClr val="tx1"/>
                </a:solidFill>
                <a:latin typeface="Times New Roman" pitchFamily="18" charset="0"/>
                <a:ea typeface="+mn-ea"/>
                <a:cs typeface="Times New Roman" pitchFamily="18" charset="0"/>
              </a:endParaRPr>
            </a:p>
          </p:txBody>
        </p:sp>
        <p:sp>
          <p:nvSpPr>
            <p:cNvPr id="32" name="Text Box 106">
              <a:extLst>
                <a:ext uri="{FF2B5EF4-FFF2-40B4-BE49-F238E27FC236}">
                  <a16:creationId xmlns:a16="http://schemas.microsoft.com/office/drawing/2014/main" id="{34211A9F-E2DE-1A65-193F-D0F2C242B6F7}"/>
                </a:ext>
              </a:extLst>
            </p:cNvPr>
            <p:cNvSpPr txBox="1">
              <a:spLocks noChangeArrowheads="1"/>
            </p:cNvSpPr>
            <p:nvPr/>
          </p:nvSpPr>
          <p:spPr bwMode="auto">
            <a:xfrm>
              <a:off x="1255596" y="2665052"/>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dirty="0">
                  <a:solidFill>
                    <a:schemeClr val="tx1"/>
                  </a:solidFill>
                  <a:latin typeface="Times New Roman" pitchFamily="18" charset="0"/>
                  <a:ea typeface="+mn-ea"/>
                  <a:cs typeface="Times New Roman" pitchFamily="18" charset="0"/>
                </a:rPr>
                <a:t>l</a:t>
              </a:r>
              <a:r>
                <a:rPr lang="en-US" altLang="zh-CN" sz="1800" b="0" i="0" dirty="0">
                  <a:solidFill>
                    <a:schemeClr val="tx1"/>
                  </a:solidFill>
                  <a:latin typeface="Times New Roman" pitchFamily="18" charset="0"/>
                  <a:ea typeface="+mn-ea"/>
                  <a:cs typeface="Times New Roman" pitchFamily="18" charset="0"/>
                </a:rPr>
                <a:t>/3</a:t>
              </a:r>
            </a:p>
          </p:txBody>
        </p:sp>
        <p:cxnSp>
          <p:nvCxnSpPr>
            <p:cNvPr id="33" name="直接连接符 32">
              <a:extLst>
                <a:ext uri="{FF2B5EF4-FFF2-40B4-BE49-F238E27FC236}">
                  <a16:creationId xmlns:a16="http://schemas.microsoft.com/office/drawing/2014/main" id="{BCF791AF-55BD-0A7C-4B9D-8C3445F12FFE}"/>
                </a:ext>
              </a:extLst>
            </p:cNvPr>
            <p:cNvCxnSpPr/>
            <p:nvPr/>
          </p:nvCxnSpPr>
          <p:spPr bwMode="auto">
            <a:xfrm>
              <a:off x="1698152" y="1941735"/>
              <a:ext cx="0" cy="616662"/>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06">
              <a:extLst>
                <a:ext uri="{FF2B5EF4-FFF2-40B4-BE49-F238E27FC236}">
                  <a16:creationId xmlns:a16="http://schemas.microsoft.com/office/drawing/2014/main" id="{35665BFD-384B-4BB1-D694-45294D17561E}"/>
                </a:ext>
              </a:extLst>
            </p:cNvPr>
            <p:cNvSpPr txBox="1">
              <a:spLocks noChangeArrowheads="1"/>
            </p:cNvSpPr>
            <p:nvPr/>
          </p:nvSpPr>
          <p:spPr bwMode="auto">
            <a:xfrm>
              <a:off x="1562706" y="208846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b="0" i="0" dirty="0">
                  <a:solidFill>
                    <a:schemeClr val="tx1"/>
                  </a:solidFill>
                  <a:latin typeface="Times New Roman" pitchFamily="18" charset="0"/>
                  <a:ea typeface="+mn-ea"/>
                  <a:cs typeface="Times New Roman" pitchFamily="18" charset="0"/>
                </a:rPr>
                <a:t>1</a:t>
              </a:r>
              <a:endParaRPr lang="zh-CN" altLang="en-US" sz="1600" b="0" i="0" dirty="0">
                <a:solidFill>
                  <a:schemeClr val="tx1"/>
                </a:solidFill>
                <a:latin typeface="Times New Roman" pitchFamily="18" charset="0"/>
                <a:ea typeface="+mn-ea"/>
                <a:cs typeface="Times New Roman" pitchFamily="18" charset="0"/>
              </a:endParaRPr>
            </a:p>
          </p:txBody>
        </p:sp>
        <p:sp>
          <p:nvSpPr>
            <p:cNvPr id="35" name="Text Box 106">
              <a:extLst>
                <a:ext uri="{FF2B5EF4-FFF2-40B4-BE49-F238E27FC236}">
                  <a16:creationId xmlns:a16="http://schemas.microsoft.com/office/drawing/2014/main" id="{B8A7356C-7785-2063-ADD3-FE4E26C71054}"/>
                </a:ext>
              </a:extLst>
            </p:cNvPr>
            <p:cNvSpPr txBox="1">
              <a:spLocks noChangeArrowheads="1"/>
            </p:cNvSpPr>
            <p:nvPr/>
          </p:nvSpPr>
          <p:spPr bwMode="auto">
            <a:xfrm>
              <a:off x="1562706" y="2419456"/>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b="0" i="0" dirty="0">
                  <a:solidFill>
                    <a:schemeClr val="tx1"/>
                  </a:solidFill>
                  <a:latin typeface="Times New Roman" pitchFamily="18" charset="0"/>
                  <a:ea typeface="+mn-ea"/>
                  <a:cs typeface="Times New Roman" pitchFamily="18" charset="0"/>
                </a:rPr>
                <a:t>1</a:t>
              </a:r>
              <a:endParaRPr lang="zh-CN" altLang="en-US" sz="1600" b="0" i="0" dirty="0">
                <a:solidFill>
                  <a:schemeClr val="tx1"/>
                </a:solidFill>
                <a:latin typeface="Times New Roman" pitchFamily="18" charset="0"/>
                <a:ea typeface="+mn-ea"/>
                <a:cs typeface="Times New Roman" pitchFamily="18" charset="0"/>
              </a:endParaRPr>
            </a:p>
          </p:txBody>
        </p:sp>
        <p:sp>
          <p:nvSpPr>
            <p:cNvPr id="36" name="Text Box 106">
              <a:extLst>
                <a:ext uri="{FF2B5EF4-FFF2-40B4-BE49-F238E27FC236}">
                  <a16:creationId xmlns:a16="http://schemas.microsoft.com/office/drawing/2014/main" id="{1A49EFC8-539D-0C76-6157-D2757456D10A}"/>
                </a:ext>
              </a:extLst>
            </p:cNvPr>
            <p:cNvSpPr txBox="1">
              <a:spLocks noChangeArrowheads="1"/>
            </p:cNvSpPr>
            <p:nvPr/>
          </p:nvSpPr>
          <p:spPr bwMode="auto">
            <a:xfrm>
              <a:off x="1306719" y="234175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D</a:t>
              </a:r>
              <a:endParaRPr lang="zh-CN" altLang="en-US" sz="1800" b="0" i="1" dirty="0">
                <a:solidFill>
                  <a:schemeClr val="tx1"/>
                </a:solidFill>
                <a:latin typeface="Times New Roman" pitchFamily="18" charset="0"/>
                <a:ea typeface="+mn-ea"/>
                <a:cs typeface="Times New Roman" pitchFamily="18" charset="0"/>
              </a:endParaRPr>
            </a:p>
          </p:txBody>
        </p:sp>
      </p:grpSp>
      <p:grpSp>
        <p:nvGrpSpPr>
          <p:cNvPr id="107" name="组合 106">
            <a:extLst>
              <a:ext uri="{FF2B5EF4-FFF2-40B4-BE49-F238E27FC236}">
                <a16:creationId xmlns:a16="http://schemas.microsoft.com/office/drawing/2014/main" id="{AE325AB0-0AC2-AA17-0ACC-B2BD2DD9EC0B}"/>
              </a:ext>
            </a:extLst>
          </p:cNvPr>
          <p:cNvGrpSpPr/>
          <p:nvPr/>
        </p:nvGrpSpPr>
        <p:grpSpPr>
          <a:xfrm>
            <a:off x="7780951" y="3044432"/>
            <a:ext cx="2809301" cy="1167839"/>
            <a:chOff x="5360272" y="3197353"/>
            <a:chExt cx="2809301" cy="1167839"/>
          </a:xfrm>
        </p:grpSpPr>
        <p:cxnSp>
          <p:nvCxnSpPr>
            <p:cNvPr id="108" name="直接连接符 223">
              <a:extLst>
                <a:ext uri="{FF2B5EF4-FFF2-40B4-BE49-F238E27FC236}">
                  <a16:creationId xmlns:a16="http://schemas.microsoft.com/office/drawing/2014/main" id="{A0692AF6-DC78-F51E-E7A4-B877547A8B82}"/>
                </a:ext>
              </a:extLst>
            </p:cNvPr>
            <p:cNvCxnSpPr>
              <a:cxnSpLocks noChangeShapeType="1"/>
            </p:cNvCxnSpPr>
            <p:nvPr/>
          </p:nvCxnSpPr>
          <p:spPr bwMode="auto">
            <a:xfrm>
              <a:off x="5461602" y="3759328"/>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箭头连接符 250">
              <a:extLst>
                <a:ext uri="{FF2B5EF4-FFF2-40B4-BE49-F238E27FC236}">
                  <a16:creationId xmlns:a16="http://schemas.microsoft.com/office/drawing/2014/main" id="{E26500CD-88C7-AA1E-679F-0450DB633094}"/>
                </a:ext>
              </a:extLst>
            </p:cNvPr>
            <p:cNvCxnSpPr>
              <a:cxnSpLocks noChangeShapeType="1"/>
            </p:cNvCxnSpPr>
            <p:nvPr/>
          </p:nvCxnSpPr>
          <p:spPr bwMode="auto">
            <a:xfrm>
              <a:off x="6436543" y="3308478"/>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106">
              <a:extLst>
                <a:ext uri="{FF2B5EF4-FFF2-40B4-BE49-F238E27FC236}">
                  <a16:creationId xmlns:a16="http://schemas.microsoft.com/office/drawing/2014/main" id="{537BCF51-F668-E229-3CED-4AD3E7930B24}"/>
                </a:ext>
              </a:extLst>
            </p:cNvPr>
            <p:cNvSpPr txBox="1">
              <a:spLocks noChangeArrowheads="1"/>
            </p:cNvSpPr>
            <p:nvPr/>
          </p:nvSpPr>
          <p:spPr bwMode="auto">
            <a:xfrm>
              <a:off x="6338118" y="3197353"/>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latin typeface="Times New Roman" pitchFamily="18" charset="0"/>
                  <a:ea typeface="+mn-ea"/>
                  <a:cs typeface="Times New Roman" pitchFamily="18" charset="0"/>
                </a:rPr>
                <a:t>F</a:t>
              </a:r>
              <a:endParaRPr lang="zh-CN" altLang="en-US" sz="1800" b="0" i="1" dirty="0">
                <a:latin typeface="Times New Roman" pitchFamily="18" charset="0"/>
                <a:ea typeface="+mn-ea"/>
                <a:cs typeface="Times New Roman" pitchFamily="18" charset="0"/>
              </a:endParaRPr>
            </a:p>
          </p:txBody>
        </p:sp>
        <p:sp>
          <p:nvSpPr>
            <p:cNvPr id="114" name="Text Box 106">
              <a:extLst>
                <a:ext uri="{FF2B5EF4-FFF2-40B4-BE49-F238E27FC236}">
                  <a16:creationId xmlns:a16="http://schemas.microsoft.com/office/drawing/2014/main" id="{C7097E71-CFCC-296B-ED92-E72C41251162}"/>
                </a:ext>
              </a:extLst>
            </p:cNvPr>
            <p:cNvSpPr txBox="1">
              <a:spLocks noChangeArrowheads="1"/>
            </p:cNvSpPr>
            <p:nvPr/>
          </p:nvSpPr>
          <p:spPr bwMode="auto">
            <a:xfrm>
              <a:off x="5360272" y="399689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15" name="直接箭头连接符 250">
              <a:extLst>
                <a:ext uri="{FF2B5EF4-FFF2-40B4-BE49-F238E27FC236}">
                  <a16:creationId xmlns:a16="http://schemas.microsoft.com/office/drawing/2014/main" id="{772A6DD7-0121-D563-BC7B-1CCAD9C5B23E}"/>
                </a:ext>
              </a:extLst>
            </p:cNvPr>
            <p:cNvCxnSpPr>
              <a:cxnSpLocks noChangeShapeType="1"/>
            </p:cNvCxnSpPr>
            <p:nvPr/>
          </p:nvCxnSpPr>
          <p:spPr bwMode="auto">
            <a:xfrm flipV="1">
              <a:off x="5435839" y="3771467"/>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箭头连接符 250">
              <a:extLst>
                <a:ext uri="{FF2B5EF4-FFF2-40B4-BE49-F238E27FC236}">
                  <a16:creationId xmlns:a16="http://schemas.microsoft.com/office/drawing/2014/main" id="{9CA2F578-CC09-1DF7-B3E3-48DC2AD40DAB}"/>
                </a:ext>
              </a:extLst>
            </p:cNvPr>
            <p:cNvCxnSpPr>
              <a:cxnSpLocks noChangeShapeType="1"/>
            </p:cNvCxnSpPr>
            <p:nvPr/>
          </p:nvCxnSpPr>
          <p:spPr bwMode="auto">
            <a:xfrm flipV="1">
              <a:off x="8136539" y="3779896"/>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Text Box 106">
              <a:extLst>
                <a:ext uri="{FF2B5EF4-FFF2-40B4-BE49-F238E27FC236}">
                  <a16:creationId xmlns:a16="http://schemas.microsoft.com/office/drawing/2014/main" id="{08901EE9-8389-0937-60CF-7CD2C30144F1}"/>
                </a:ext>
              </a:extLst>
            </p:cNvPr>
            <p:cNvSpPr txBox="1">
              <a:spLocks noChangeArrowheads="1"/>
            </p:cNvSpPr>
            <p:nvPr/>
          </p:nvSpPr>
          <p:spPr bwMode="auto">
            <a:xfrm>
              <a:off x="7688561" y="3879050"/>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grpSp>
      <p:grpSp>
        <p:nvGrpSpPr>
          <p:cNvPr id="122" name="组合 121">
            <a:extLst>
              <a:ext uri="{FF2B5EF4-FFF2-40B4-BE49-F238E27FC236}">
                <a16:creationId xmlns:a16="http://schemas.microsoft.com/office/drawing/2014/main" id="{52747248-B988-4789-2990-DE9A65328C10}"/>
              </a:ext>
            </a:extLst>
          </p:cNvPr>
          <p:cNvGrpSpPr/>
          <p:nvPr/>
        </p:nvGrpSpPr>
        <p:grpSpPr>
          <a:xfrm>
            <a:off x="7472920" y="4385290"/>
            <a:ext cx="1835294" cy="996861"/>
            <a:chOff x="5055068" y="4364813"/>
            <a:chExt cx="1835294" cy="996861"/>
          </a:xfrm>
        </p:grpSpPr>
        <p:cxnSp>
          <p:nvCxnSpPr>
            <p:cNvPr id="123" name="直接连接符 223">
              <a:extLst>
                <a:ext uri="{FF2B5EF4-FFF2-40B4-BE49-F238E27FC236}">
                  <a16:creationId xmlns:a16="http://schemas.microsoft.com/office/drawing/2014/main" id="{4E844109-B270-5C52-CCDF-4A62D3B6A5AB}"/>
                </a:ext>
              </a:extLst>
            </p:cNvPr>
            <p:cNvCxnSpPr>
              <a:cxnSpLocks noChangeShapeType="1"/>
            </p:cNvCxnSpPr>
            <p:nvPr/>
          </p:nvCxnSpPr>
          <p:spPr bwMode="auto">
            <a:xfrm>
              <a:off x="5480796" y="4815851"/>
              <a:ext cx="621374"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箭头连接符 250">
              <a:extLst>
                <a:ext uri="{FF2B5EF4-FFF2-40B4-BE49-F238E27FC236}">
                  <a16:creationId xmlns:a16="http://schemas.microsoft.com/office/drawing/2014/main" id="{35ACA4CE-2AD2-98B7-6798-FCD01ED66A48}"/>
                </a:ext>
              </a:extLst>
            </p:cNvPr>
            <p:cNvCxnSpPr>
              <a:cxnSpLocks noChangeShapeType="1"/>
            </p:cNvCxnSpPr>
            <p:nvPr/>
          </p:nvCxnSpPr>
          <p:spPr bwMode="auto">
            <a:xfrm>
              <a:off x="6147175" y="462521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106">
              <a:extLst>
                <a:ext uri="{FF2B5EF4-FFF2-40B4-BE49-F238E27FC236}">
                  <a16:creationId xmlns:a16="http://schemas.microsoft.com/office/drawing/2014/main" id="{B5161920-8809-F711-CA13-555CC266880E}"/>
                </a:ext>
              </a:extLst>
            </p:cNvPr>
            <p:cNvSpPr txBox="1">
              <a:spLocks noChangeArrowheads="1"/>
            </p:cNvSpPr>
            <p:nvPr/>
          </p:nvSpPr>
          <p:spPr bwMode="auto">
            <a:xfrm>
              <a:off x="5652120" y="4364813"/>
              <a:ext cx="5538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Q1</a:t>
              </a:r>
              <a:endParaRPr lang="zh-CN" altLang="en-US" sz="1800" b="0" i="0" baseline="-25000" dirty="0">
                <a:latin typeface="Times New Roman" pitchFamily="18" charset="0"/>
                <a:ea typeface="+mn-ea"/>
                <a:cs typeface="Times New Roman" pitchFamily="18" charset="0"/>
              </a:endParaRPr>
            </a:p>
          </p:txBody>
        </p:sp>
        <p:sp>
          <p:nvSpPr>
            <p:cNvPr id="128" name="Text Box 106">
              <a:extLst>
                <a:ext uri="{FF2B5EF4-FFF2-40B4-BE49-F238E27FC236}">
                  <a16:creationId xmlns:a16="http://schemas.microsoft.com/office/drawing/2014/main" id="{A11DD707-1780-E74B-DCCE-C8A1CF96A492}"/>
                </a:ext>
              </a:extLst>
            </p:cNvPr>
            <p:cNvSpPr txBox="1">
              <a:spLocks noChangeArrowheads="1"/>
            </p:cNvSpPr>
            <p:nvPr/>
          </p:nvSpPr>
          <p:spPr bwMode="auto">
            <a:xfrm>
              <a:off x="5055068" y="49933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29" name="直接箭头连接符 250">
              <a:extLst>
                <a:ext uri="{FF2B5EF4-FFF2-40B4-BE49-F238E27FC236}">
                  <a16:creationId xmlns:a16="http://schemas.microsoft.com/office/drawing/2014/main" id="{C1ADA7E9-CDB4-688C-53F5-D61D8B41FBE4}"/>
                </a:ext>
              </a:extLst>
            </p:cNvPr>
            <p:cNvCxnSpPr>
              <a:cxnSpLocks noChangeShapeType="1"/>
            </p:cNvCxnSpPr>
            <p:nvPr/>
          </p:nvCxnSpPr>
          <p:spPr bwMode="auto">
            <a:xfrm flipV="1">
              <a:off x="5471191" y="480275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129">
              <a:extLst>
                <a:ext uri="{FF2B5EF4-FFF2-40B4-BE49-F238E27FC236}">
                  <a16:creationId xmlns:a16="http://schemas.microsoft.com/office/drawing/2014/main" id="{72321EBF-4A7B-32F6-4A99-E10E104DE197}"/>
                </a:ext>
              </a:extLst>
            </p:cNvPr>
            <p:cNvCxnSpPr/>
            <p:nvPr/>
          </p:nvCxnSpPr>
          <p:spPr bwMode="auto">
            <a:xfrm>
              <a:off x="5480796" y="5154778"/>
              <a:ext cx="621374"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130">
              <a:extLst>
                <a:ext uri="{FF2B5EF4-FFF2-40B4-BE49-F238E27FC236}">
                  <a16:creationId xmlns:a16="http://schemas.microsoft.com/office/drawing/2014/main" id="{F373E22D-7337-10FC-9CB5-E1064B864321}"/>
                </a:ext>
              </a:extLst>
            </p:cNvPr>
            <p:cNvCxnSpPr/>
            <p:nvPr/>
          </p:nvCxnSpPr>
          <p:spPr bwMode="auto">
            <a:xfrm>
              <a:off x="6102170" y="4839653"/>
              <a:ext cx="0" cy="413956"/>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Text Box 106">
              <a:extLst>
                <a:ext uri="{FF2B5EF4-FFF2-40B4-BE49-F238E27FC236}">
                  <a16:creationId xmlns:a16="http://schemas.microsoft.com/office/drawing/2014/main" id="{212E6BD5-9463-06DF-2F7C-FEAD5B54202D}"/>
                </a:ext>
              </a:extLst>
            </p:cNvPr>
            <p:cNvSpPr txBox="1">
              <a:spLocks noChangeArrowheads="1"/>
            </p:cNvSpPr>
            <p:nvPr/>
          </p:nvSpPr>
          <p:spPr bwMode="auto">
            <a:xfrm>
              <a:off x="5576153" y="485023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sp>
          <p:nvSpPr>
            <p:cNvPr id="133" name="Text Box 106">
              <a:extLst>
                <a:ext uri="{FF2B5EF4-FFF2-40B4-BE49-F238E27FC236}">
                  <a16:creationId xmlns:a16="http://schemas.microsoft.com/office/drawing/2014/main" id="{493064B9-FA94-33CE-67F9-4BF6C4B6AEE2}"/>
                </a:ext>
              </a:extLst>
            </p:cNvPr>
            <p:cNvSpPr txBox="1">
              <a:spLocks noChangeArrowheads="1"/>
            </p:cNvSpPr>
            <p:nvPr/>
          </p:nvSpPr>
          <p:spPr bwMode="auto">
            <a:xfrm>
              <a:off x="6286127" y="4457822"/>
              <a:ext cx="6042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0" baseline="-25000" dirty="0">
                  <a:latin typeface="Times New Roman" pitchFamily="18" charset="0"/>
                  <a:ea typeface="+mn-ea"/>
                  <a:cs typeface="Times New Roman" pitchFamily="18" charset="0"/>
                </a:rPr>
                <a:t>1</a:t>
              </a:r>
              <a:endParaRPr lang="zh-CN" altLang="en-US" sz="1800" b="0" i="0" baseline="-25000" dirty="0">
                <a:latin typeface="Times New Roman" pitchFamily="18" charset="0"/>
                <a:ea typeface="+mn-ea"/>
                <a:cs typeface="Times New Roman" pitchFamily="18" charset="0"/>
              </a:endParaRPr>
            </a:p>
          </p:txBody>
        </p:sp>
        <p:sp>
          <p:nvSpPr>
            <p:cNvPr id="134" name="弧形 133">
              <a:extLst>
                <a:ext uri="{FF2B5EF4-FFF2-40B4-BE49-F238E27FC236}">
                  <a16:creationId xmlns:a16="http://schemas.microsoft.com/office/drawing/2014/main" id="{7EEC440E-1746-4A3D-80E3-96C750BAFB63}"/>
                </a:ext>
              </a:extLst>
            </p:cNvPr>
            <p:cNvSpPr/>
            <p:nvPr/>
          </p:nvSpPr>
          <p:spPr bwMode="auto">
            <a:xfrm rot="2805425">
              <a:off x="5495154" y="4413944"/>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pSp>
      <p:graphicFrame>
        <p:nvGraphicFramePr>
          <p:cNvPr id="135" name="Object 98">
            <a:extLst>
              <a:ext uri="{FF2B5EF4-FFF2-40B4-BE49-F238E27FC236}">
                <a16:creationId xmlns:a16="http://schemas.microsoft.com/office/drawing/2014/main" id="{C3CD7A55-A78D-71F1-2709-D9F5C5552502}"/>
              </a:ext>
            </a:extLst>
          </p:cNvPr>
          <p:cNvGraphicFramePr>
            <a:graphicFrameLocks noChangeAspect="1"/>
          </p:cNvGraphicFramePr>
          <p:nvPr>
            <p:extLst>
              <p:ext uri="{D42A27DB-BD31-4B8C-83A1-F6EECF244321}">
                <p14:modId xmlns:p14="http://schemas.microsoft.com/office/powerpoint/2010/main" val="1475543181"/>
              </p:ext>
            </p:extLst>
          </p:nvPr>
        </p:nvGraphicFramePr>
        <p:xfrm>
          <a:off x="828143" y="1981436"/>
          <a:ext cx="3674243" cy="1393261"/>
        </p:xfrm>
        <a:graphic>
          <a:graphicData uri="http://schemas.openxmlformats.org/presentationml/2006/ole">
            <mc:AlternateContent xmlns:mc="http://schemas.openxmlformats.org/markup-compatibility/2006">
              <mc:Choice xmlns:v="urn:schemas-microsoft-com:vml" Requires="v">
                <p:oleObj spid="_x0000_s1138" name="公式" r:id="rId4" imgW="1625400" imgH="609480" progId="Equation.3">
                  <p:embed/>
                </p:oleObj>
              </mc:Choice>
              <mc:Fallback>
                <p:oleObj name="公式" r:id="rId4" imgW="1625400" imgH="609480" progId="Equation.3">
                  <p:embed/>
                  <p:pic>
                    <p:nvPicPr>
                      <p:cNvPr id="145506" name="Object 98"/>
                      <p:cNvPicPr>
                        <a:picLocks noChangeAspect="1" noChangeArrowheads="1"/>
                      </p:cNvPicPr>
                      <p:nvPr/>
                    </p:nvPicPr>
                    <p:blipFill>
                      <a:blip r:embed="rId5"/>
                      <a:srcRect/>
                      <a:stretch>
                        <a:fillRect/>
                      </a:stretch>
                    </p:blipFill>
                    <p:spPr bwMode="auto">
                      <a:xfrm>
                        <a:off x="828143" y="1981436"/>
                        <a:ext cx="3674243" cy="1393261"/>
                      </a:xfrm>
                      <a:prstGeom prst="rect">
                        <a:avLst/>
                      </a:prstGeom>
                      <a:noFill/>
                      <a:ln>
                        <a:noFill/>
                      </a:ln>
                    </p:spPr>
                  </p:pic>
                </p:oleObj>
              </mc:Fallback>
            </mc:AlternateContent>
          </a:graphicData>
        </a:graphic>
      </p:graphicFrame>
      <p:sp>
        <p:nvSpPr>
          <p:cNvPr id="136" name="矩形 135">
            <a:extLst>
              <a:ext uri="{FF2B5EF4-FFF2-40B4-BE49-F238E27FC236}">
                <a16:creationId xmlns:a16="http://schemas.microsoft.com/office/drawing/2014/main" id="{54CF797A-3212-00F4-D82B-18FEE729BE7A}"/>
              </a:ext>
            </a:extLst>
          </p:cNvPr>
          <p:cNvSpPr/>
          <p:nvPr/>
        </p:nvSpPr>
        <p:spPr>
          <a:xfrm>
            <a:off x="211184" y="4164465"/>
            <a:ext cx="6819709" cy="936347"/>
          </a:xfrm>
          <a:prstGeom prst="rect">
            <a:avLst/>
          </a:prstGeom>
        </p:spPr>
        <p:txBody>
          <a:bodyPr wrap="square">
            <a:spAutoFit/>
          </a:bodyPr>
          <a:lstStyle/>
          <a:p>
            <a:pPr lvl="0">
              <a:lnSpc>
                <a:spcPct val="12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求截面</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上的内力</a:t>
            </a:r>
            <a:endParaRPr kumimoji="1" lang="en-US" altLang="zh-CN" i="0" dirty="0">
              <a:solidFill>
                <a:schemeClr val="tx1"/>
              </a:solidFill>
              <a:latin typeface="+mn-lt"/>
              <a:ea typeface="黑体" panose="02010609060101010101" pitchFamily="49" charset="-122"/>
            </a:endParaRPr>
          </a:p>
          <a:p>
            <a:pPr lvl="0">
              <a:lnSpc>
                <a:spcPct val="120000"/>
              </a:lnSpc>
            </a:pPr>
            <a:r>
              <a:rPr kumimoji="1" lang="en-US" altLang="zh-CN" b="0" dirty="0">
                <a:solidFill>
                  <a:schemeClr val="tx1"/>
                </a:solidFill>
                <a:ea typeface="黑体" panose="02010609060101010101" pitchFamily="49" charset="-122"/>
              </a:rPr>
              <a:t>      </a:t>
            </a:r>
            <a:endParaRPr kumimoji="1" lang="en-US" altLang="zh-CN" i="0" dirty="0">
              <a:solidFill>
                <a:schemeClr val="tx1"/>
              </a:solidFill>
              <a:latin typeface="+mn-lt"/>
              <a:ea typeface="黑体" panose="02010609060101010101" pitchFamily="49" charset="-122"/>
            </a:endParaRPr>
          </a:p>
        </p:txBody>
      </p:sp>
      <p:graphicFrame>
        <p:nvGraphicFramePr>
          <p:cNvPr id="137" name="Object 100">
            <a:extLst>
              <a:ext uri="{FF2B5EF4-FFF2-40B4-BE49-F238E27FC236}">
                <a16:creationId xmlns:a16="http://schemas.microsoft.com/office/drawing/2014/main" id="{052EB022-56BE-D7A5-BA34-C1C720777795}"/>
              </a:ext>
            </a:extLst>
          </p:cNvPr>
          <p:cNvGraphicFramePr>
            <a:graphicFrameLocks noChangeAspect="1"/>
          </p:cNvGraphicFramePr>
          <p:nvPr>
            <p:extLst>
              <p:ext uri="{D42A27DB-BD31-4B8C-83A1-F6EECF244321}">
                <p14:modId xmlns:p14="http://schemas.microsoft.com/office/powerpoint/2010/main" val="2547068972"/>
              </p:ext>
            </p:extLst>
          </p:nvPr>
        </p:nvGraphicFramePr>
        <p:xfrm>
          <a:off x="1587280" y="3314700"/>
          <a:ext cx="2636512" cy="849765"/>
        </p:xfrm>
        <a:graphic>
          <a:graphicData uri="http://schemas.openxmlformats.org/presentationml/2006/ole">
            <mc:AlternateContent xmlns:mc="http://schemas.openxmlformats.org/markup-compatibility/2006">
              <mc:Choice xmlns:v="urn:schemas-microsoft-com:vml" Requires="v">
                <p:oleObj spid="_x0000_s1139" name="公式" r:id="rId6" imgW="1130040" imgH="355320" progId="Equation.3">
                  <p:embed/>
                </p:oleObj>
              </mc:Choice>
              <mc:Fallback>
                <p:oleObj name="公式" r:id="rId6" imgW="1130040" imgH="355320" progId="Equation.3">
                  <p:embed/>
                  <p:pic>
                    <p:nvPicPr>
                      <p:cNvPr id="145508" name="Object 100"/>
                      <p:cNvPicPr>
                        <a:picLocks noChangeAspect="1" noChangeArrowheads="1"/>
                      </p:cNvPicPr>
                      <p:nvPr/>
                    </p:nvPicPr>
                    <p:blipFill>
                      <a:blip r:embed="rId7"/>
                      <a:srcRect/>
                      <a:stretch>
                        <a:fillRect/>
                      </a:stretch>
                    </p:blipFill>
                    <p:spPr bwMode="auto">
                      <a:xfrm>
                        <a:off x="1587280" y="3314700"/>
                        <a:ext cx="2636512" cy="849765"/>
                      </a:xfrm>
                      <a:prstGeom prst="rect">
                        <a:avLst/>
                      </a:prstGeom>
                      <a:noFill/>
                      <a:ln>
                        <a:noFill/>
                      </a:ln>
                    </p:spPr>
                  </p:pic>
                </p:oleObj>
              </mc:Fallback>
            </mc:AlternateContent>
          </a:graphicData>
        </a:graphic>
      </p:graphicFrame>
      <p:graphicFrame>
        <p:nvGraphicFramePr>
          <p:cNvPr id="139" name="Object 105">
            <a:extLst>
              <a:ext uri="{FF2B5EF4-FFF2-40B4-BE49-F238E27FC236}">
                <a16:creationId xmlns:a16="http://schemas.microsoft.com/office/drawing/2014/main" id="{6D09B94F-6EB0-B62D-892C-1F6EC00C1BC8}"/>
              </a:ext>
            </a:extLst>
          </p:cNvPr>
          <p:cNvGraphicFramePr>
            <a:graphicFrameLocks noChangeAspect="1"/>
          </p:cNvGraphicFramePr>
          <p:nvPr>
            <p:extLst>
              <p:ext uri="{D42A27DB-BD31-4B8C-83A1-F6EECF244321}">
                <p14:modId xmlns:p14="http://schemas.microsoft.com/office/powerpoint/2010/main" val="1414807323"/>
              </p:ext>
            </p:extLst>
          </p:nvPr>
        </p:nvGraphicFramePr>
        <p:xfrm>
          <a:off x="979912" y="4705748"/>
          <a:ext cx="1915195" cy="811559"/>
        </p:xfrm>
        <a:graphic>
          <a:graphicData uri="http://schemas.openxmlformats.org/presentationml/2006/ole">
            <mc:AlternateContent xmlns:mc="http://schemas.openxmlformats.org/markup-compatibility/2006">
              <mc:Choice xmlns:v="urn:schemas-microsoft-com:vml" Requires="v">
                <p:oleObj spid="_x0000_s1140" name="Equation" r:id="rId8" imgW="952200" imgH="393480" progId="Equation.DSMT4">
                  <p:embed/>
                </p:oleObj>
              </mc:Choice>
              <mc:Fallback>
                <p:oleObj name="Equation" r:id="rId8" imgW="952200" imgH="393480" progId="Equation.DSMT4">
                  <p:embed/>
                  <p:pic>
                    <p:nvPicPr>
                      <p:cNvPr id="145513" name="Object 105"/>
                      <p:cNvPicPr>
                        <a:picLocks noChangeAspect="1" noChangeArrowheads="1"/>
                      </p:cNvPicPr>
                      <p:nvPr/>
                    </p:nvPicPr>
                    <p:blipFill>
                      <a:blip r:embed="rId9"/>
                      <a:srcRect/>
                      <a:stretch>
                        <a:fillRect/>
                      </a:stretch>
                    </p:blipFill>
                    <p:spPr bwMode="auto">
                      <a:xfrm>
                        <a:off x="979912" y="4705748"/>
                        <a:ext cx="1915195" cy="811559"/>
                      </a:xfrm>
                      <a:prstGeom prst="rect">
                        <a:avLst/>
                      </a:prstGeom>
                      <a:noFill/>
                      <a:ln>
                        <a:noFill/>
                      </a:ln>
                    </p:spPr>
                  </p:pic>
                </p:oleObj>
              </mc:Fallback>
            </mc:AlternateContent>
          </a:graphicData>
        </a:graphic>
      </p:graphicFrame>
      <p:graphicFrame>
        <p:nvGraphicFramePr>
          <p:cNvPr id="140" name="Object 106">
            <a:extLst>
              <a:ext uri="{FF2B5EF4-FFF2-40B4-BE49-F238E27FC236}">
                <a16:creationId xmlns:a16="http://schemas.microsoft.com/office/drawing/2014/main" id="{144267C6-B353-B3B0-A5F8-7FF86469AF4E}"/>
              </a:ext>
            </a:extLst>
          </p:cNvPr>
          <p:cNvGraphicFramePr>
            <a:graphicFrameLocks noChangeAspect="1"/>
          </p:cNvGraphicFramePr>
          <p:nvPr>
            <p:extLst>
              <p:ext uri="{D42A27DB-BD31-4B8C-83A1-F6EECF244321}">
                <p14:modId xmlns:p14="http://schemas.microsoft.com/office/powerpoint/2010/main" val="4058259812"/>
              </p:ext>
            </p:extLst>
          </p:nvPr>
        </p:nvGraphicFramePr>
        <p:xfrm>
          <a:off x="979912" y="5497729"/>
          <a:ext cx="2099545" cy="736333"/>
        </p:xfrm>
        <a:graphic>
          <a:graphicData uri="http://schemas.openxmlformats.org/presentationml/2006/ole">
            <mc:AlternateContent xmlns:mc="http://schemas.openxmlformats.org/markup-compatibility/2006">
              <mc:Choice xmlns:v="urn:schemas-microsoft-com:vml" Requires="v">
                <p:oleObj spid="_x0000_s1141" name="Equation" r:id="rId10" imgW="1155600" imgH="393480" progId="Equation.DSMT4">
                  <p:embed/>
                </p:oleObj>
              </mc:Choice>
              <mc:Fallback>
                <p:oleObj name="Equation" r:id="rId10" imgW="1155600" imgH="393480" progId="Equation.DSMT4">
                  <p:embed/>
                  <p:pic>
                    <p:nvPicPr>
                      <p:cNvPr id="145514" name="Object 106"/>
                      <p:cNvPicPr>
                        <a:picLocks noChangeAspect="1" noChangeArrowheads="1"/>
                      </p:cNvPicPr>
                      <p:nvPr/>
                    </p:nvPicPr>
                    <p:blipFill>
                      <a:blip r:embed="rId11"/>
                      <a:srcRect/>
                      <a:stretch>
                        <a:fillRect/>
                      </a:stretch>
                    </p:blipFill>
                    <p:spPr bwMode="auto">
                      <a:xfrm>
                        <a:off x="979912" y="5497729"/>
                        <a:ext cx="2099545" cy="73633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744683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5" y="1004275"/>
            <a:ext cx="6093340" cy="940066"/>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     同理，对于</a:t>
            </a:r>
            <a:r>
              <a:rPr lang="en-US" altLang="zh-CN" dirty="0">
                <a:solidFill>
                  <a:schemeClr val="tx1"/>
                </a:solidFill>
              </a:rPr>
              <a:t>C</a:t>
            </a:r>
            <a:r>
              <a:rPr lang="zh-CN" altLang="en-US" b="0" i="0" baseline="-25000" dirty="0">
                <a:solidFill>
                  <a:schemeClr val="tx1"/>
                </a:solidFill>
              </a:rPr>
              <a:t>左</a:t>
            </a:r>
            <a:r>
              <a:rPr kumimoji="1" lang="zh-CN" altLang="en-US" i="0" dirty="0">
                <a:solidFill>
                  <a:schemeClr val="tx1"/>
                </a:solidFill>
                <a:latin typeface="+mn-lt"/>
                <a:ea typeface="黑体" panose="02010609060101010101" pitchFamily="49" charset="-122"/>
              </a:rPr>
              <a:t>截面：</a:t>
            </a:r>
          </a:p>
          <a:p>
            <a:pPr lvl="0">
              <a:lnSpc>
                <a:spcPct val="120000"/>
              </a:lnSpc>
            </a:pP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827867" y="1342851"/>
            <a:ext cx="4730549" cy="4498485"/>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5" y="3596015"/>
            <a:ext cx="2284416" cy="493148"/>
          </a:xfrm>
          <a:prstGeom prst="rect">
            <a:avLst/>
          </a:prstGeom>
        </p:spPr>
        <p:txBody>
          <a:bodyPr wrap="square">
            <a:spAutoFit/>
          </a:bodyPr>
          <a:lstStyle/>
          <a:p>
            <a:pPr>
              <a:lnSpc>
                <a:spcPct val="120000"/>
              </a:lnSpc>
            </a:pPr>
            <a:r>
              <a:rPr lang="zh-CN" altLang="en-US" i="0" dirty="0">
                <a:solidFill>
                  <a:srgbClr val="FF0000"/>
                </a:solidFill>
              </a:rPr>
              <a:t>      </a:t>
            </a:r>
            <a:r>
              <a:rPr kumimoji="1" lang="zh-CN" altLang="en-US" i="0" dirty="0">
                <a:solidFill>
                  <a:srgbClr val="FF0000"/>
                </a:solidFill>
                <a:latin typeface="+mn-lt"/>
                <a:ea typeface="黑体" panose="02010609060101010101" pitchFamily="49" charset="-122"/>
              </a:rPr>
              <a:t>注意：</a:t>
            </a:r>
            <a:endParaRPr kumimoji="1" lang="en-US" altLang="zh-CN" i="0" dirty="0">
              <a:solidFill>
                <a:schemeClr val="tx1"/>
              </a:solidFill>
              <a:latin typeface="+mn-lt"/>
              <a:ea typeface="黑体" panose="02010609060101010101" pitchFamily="49" charset="-122"/>
            </a:endParaRPr>
          </a:p>
        </p:txBody>
      </p:sp>
      <p:grpSp>
        <p:nvGrpSpPr>
          <p:cNvPr id="4" name="组合 3">
            <a:extLst>
              <a:ext uri="{FF2B5EF4-FFF2-40B4-BE49-F238E27FC236}">
                <a16:creationId xmlns:a16="http://schemas.microsoft.com/office/drawing/2014/main" id="{90C56C01-56C8-3572-8A3D-230557D98332}"/>
              </a:ext>
            </a:extLst>
          </p:cNvPr>
          <p:cNvGrpSpPr/>
          <p:nvPr/>
        </p:nvGrpSpPr>
        <p:grpSpPr>
          <a:xfrm>
            <a:off x="7228875" y="3574768"/>
            <a:ext cx="2195335" cy="947730"/>
            <a:chOff x="5055068" y="4413944"/>
            <a:chExt cx="2195335" cy="947730"/>
          </a:xfrm>
        </p:grpSpPr>
        <p:cxnSp>
          <p:nvCxnSpPr>
            <p:cNvPr id="5" name="直接连接符 223">
              <a:extLst>
                <a:ext uri="{FF2B5EF4-FFF2-40B4-BE49-F238E27FC236}">
                  <a16:creationId xmlns:a16="http://schemas.microsoft.com/office/drawing/2014/main" id="{6457A2D1-CDCD-0F1F-D74C-97EC6A9B7D8D}"/>
                </a:ext>
              </a:extLst>
            </p:cNvPr>
            <p:cNvCxnSpPr>
              <a:cxnSpLocks noChangeShapeType="1"/>
            </p:cNvCxnSpPr>
            <p:nvPr/>
          </p:nvCxnSpPr>
          <p:spPr bwMode="auto">
            <a:xfrm>
              <a:off x="5480796" y="4815851"/>
              <a:ext cx="908392"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箭头连接符 250">
              <a:extLst>
                <a:ext uri="{FF2B5EF4-FFF2-40B4-BE49-F238E27FC236}">
                  <a16:creationId xmlns:a16="http://schemas.microsoft.com/office/drawing/2014/main" id="{3019D0FC-4867-F566-185A-83CEE8B3B9C7}"/>
                </a:ext>
              </a:extLst>
            </p:cNvPr>
            <p:cNvCxnSpPr>
              <a:cxnSpLocks noChangeShapeType="1"/>
            </p:cNvCxnSpPr>
            <p:nvPr/>
          </p:nvCxnSpPr>
          <p:spPr bwMode="auto">
            <a:xfrm>
              <a:off x="6440312" y="462521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 Box 106">
              <a:extLst>
                <a:ext uri="{FF2B5EF4-FFF2-40B4-BE49-F238E27FC236}">
                  <a16:creationId xmlns:a16="http://schemas.microsoft.com/office/drawing/2014/main" id="{2DF8F0B7-1910-4453-FD15-F0C0DB939B63}"/>
                </a:ext>
              </a:extLst>
            </p:cNvPr>
            <p:cNvSpPr txBox="1">
              <a:spLocks noChangeArrowheads="1"/>
            </p:cNvSpPr>
            <p:nvPr/>
          </p:nvSpPr>
          <p:spPr bwMode="auto">
            <a:xfrm>
              <a:off x="5838437" y="4850636"/>
              <a:ext cx="694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0"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a:t>
              </a:r>
              <a:r>
                <a:rPr lang="en-US" altLang="zh-CN" sz="1800" b="0"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左</a:t>
              </a:r>
            </a:p>
          </p:txBody>
        </p:sp>
        <p:sp>
          <p:nvSpPr>
            <p:cNvPr id="10" name="Text Box 106">
              <a:extLst>
                <a:ext uri="{FF2B5EF4-FFF2-40B4-BE49-F238E27FC236}">
                  <a16:creationId xmlns:a16="http://schemas.microsoft.com/office/drawing/2014/main" id="{E3B54652-86E9-E18B-0131-F07E9D2E8D88}"/>
                </a:ext>
              </a:extLst>
            </p:cNvPr>
            <p:cNvSpPr txBox="1">
              <a:spLocks noChangeArrowheads="1"/>
            </p:cNvSpPr>
            <p:nvPr/>
          </p:nvSpPr>
          <p:spPr bwMode="auto">
            <a:xfrm>
              <a:off x="5055068" y="49933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1" name="直接箭头连接符 250">
              <a:extLst>
                <a:ext uri="{FF2B5EF4-FFF2-40B4-BE49-F238E27FC236}">
                  <a16:creationId xmlns:a16="http://schemas.microsoft.com/office/drawing/2014/main" id="{23C462F2-5116-F28E-8B3B-F670641906B3}"/>
                </a:ext>
              </a:extLst>
            </p:cNvPr>
            <p:cNvCxnSpPr>
              <a:cxnSpLocks noChangeShapeType="1"/>
            </p:cNvCxnSpPr>
            <p:nvPr/>
          </p:nvCxnSpPr>
          <p:spPr bwMode="auto">
            <a:xfrm flipV="1">
              <a:off x="5471191" y="480275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106">
              <a:extLst>
                <a:ext uri="{FF2B5EF4-FFF2-40B4-BE49-F238E27FC236}">
                  <a16:creationId xmlns:a16="http://schemas.microsoft.com/office/drawing/2014/main" id="{B3CF2F92-7589-D15F-09CA-D647BF7B5F8D}"/>
                </a:ext>
              </a:extLst>
            </p:cNvPr>
            <p:cNvSpPr txBox="1">
              <a:spLocks noChangeArrowheads="1"/>
            </p:cNvSpPr>
            <p:nvPr/>
          </p:nvSpPr>
          <p:spPr bwMode="auto">
            <a:xfrm>
              <a:off x="6587279" y="4457822"/>
              <a:ext cx="6631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左</a:t>
              </a:r>
            </a:p>
          </p:txBody>
        </p:sp>
        <p:sp>
          <p:nvSpPr>
            <p:cNvPr id="53" name="弧形 52">
              <a:extLst>
                <a:ext uri="{FF2B5EF4-FFF2-40B4-BE49-F238E27FC236}">
                  <a16:creationId xmlns:a16="http://schemas.microsoft.com/office/drawing/2014/main" id="{E439BB72-5174-1476-E2EE-701CC1AC6DC4}"/>
                </a:ext>
              </a:extLst>
            </p:cNvPr>
            <p:cNvSpPr/>
            <p:nvPr/>
          </p:nvSpPr>
          <p:spPr bwMode="auto">
            <a:xfrm rot="2805425">
              <a:off x="5761269" y="4413944"/>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pSp>
      <p:grpSp>
        <p:nvGrpSpPr>
          <p:cNvPr id="54" name="组合 53">
            <a:extLst>
              <a:ext uri="{FF2B5EF4-FFF2-40B4-BE49-F238E27FC236}">
                <a16:creationId xmlns:a16="http://schemas.microsoft.com/office/drawing/2014/main" id="{CD3401DF-0D99-62F2-84EE-EF3E6C05DCD7}"/>
              </a:ext>
            </a:extLst>
          </p:cNvPr>
          <p:cNvGrpSpPr/>
          <p:nvPr/>
        </p:nvGrpSpPr>
        <p:grpSpPr>
          <a:xfrm>
            <a:off x="7218964" y="1879393"/>
            <a:ext cx="3668346" cy="1709054"/>
            <a:chOff x="5022050" y="1062676"/>
            <a:chExt cx="3668346" cy="1709054"/>
          </a:xfrm>
        </p:grpSpPr>
        <p:cxnSp>
          <p:nvCxnSpPr>
            <p:cNvPr id="55" name="直接连接符 223">
              <a:extLst>
                <a:ext uri="{FF2B5EF4-FFF2-40B4-BE49-F238E27FC236}">
                  <a16:creationId xmlns:a16="http://schemas.microsoft.com/office/drawing/2014/main" id="{674A9E93-51D0-0D95-CAA8-ECB93764D89A}"/>
                </a:ext>
              </a:extLst>
            </p:cNvPr>
            <p:cNvCxnSpPr>
              <a:cxnSpLocks noChangeShapeType="1"/>
            </p:cNvCxnSpPr>
            <p:nvPr/>
          </p:nvCxnSpPr>
          <p:spPr bwMode="auto">
            <a:xfrm>
              <a:off x="5447149" y="1663034"/>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250">
              <a:extLst>
                <a:ext uri="{FF2B5EF4-FFF2-40B4-BE49-F238E27FC236}">
                  <a16:creationId xmlns:a16="http://schemas.microsoft.com/office/drawing/2014/main" id="{2C2FE6E9-1B51-E075-393F-02E501EC7BB9}"/>
                </a:ext>
              </a:extLst>
            </p:cNvPr>
            <p:cNvCxnSpPr>
              <a:cxnSpLocks noChangeShapeType="1"/>
            </p:cNvCxnSpPr>
            <p:nvPr/>
          </p:nvCxnSpPr>
          <p:spPr bwMode="auto">
            <a:xfrm>
              <a:off x="6422090" y="1212184"/>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106">
              <a:extLst>
                <a:ext uri="{FF2B5EF4-FFF2-40B4-BE49-F238E27FC236}">
                  <a16:creationId xmlns:a16="http://schemas.microsoft.com/office/drawing/2014/main" id="{670FF597-198E-3836-0E9D-7C190A7DD791}"/>
                </a:ext>
              </a:extLst>
            </p:cNvPr>
            <p:cNvSpPr txBox="1">
              <a:spLocks noChangeArrowheads="1"/>
            </p:cNvSpPr>
            <p:nvPr/>
          </p:nvSpPr>
          <p:spPr bwMode="auto">
            <a:xfrm>
              <a:off x="6323665" y="110105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latin typeface="Times New Roman" pitchFamily="18" charset="0"/>
                  <a:ea typeface="+mn-ea"/>
                  <a:cs typeface="Times New Roman" pitchFamily="18" charset="0"/>
                </a:rPr>
                <a:t>F</a:t>
              </a:r>
              <a:endParaRPr lang="zh-CN" altLang="en-US" sz="1800" i="1" dirty="0">
                <a:latin typeface="Times New Roman" pitchFamily="18" charset="0"/>
                <a:ea typeface="+mn-ea"/>
                <a:cs typeface="Times New Roman" pitchFamily="18" charset="0"/>
              </a:endParaRPr>
            </a:p>
          </p:txBody>
        </p:sp>
        <p:cxnSp>
          <p:nvCxnSpPr>
            <p:cNvPr id="58" name="直接连接符 57">
              <a:extLst>
                <a:ext uri="{FF2B5EF4-FFF2-40B4-BE49-F238E27FC236}">
                  <a16:creationId xmlns:a16="http://schemas.microsoft.com/office/drawing/2014/main" id="{F9EAF884-FFBF-7B6F-53C0-FD497A00B093}"/>
                </a:ext>
              </a:extLst>
            </p:cNvPr>
            <p:cNvCxnSpPr/>
            <p:nvPr/>
          </p:nvCxnSpPr>
          <p:spPr bwMode="auto">
            <a:xfrm>
              <a:off x="5445295" y="1212184"/>
              <a:ext cx="5530" cy="35267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a:extLst>
                <a:ext uri="{FF2B5EF4-FFF2-40B4-BE49-F238E27FC236}">
                  <a16:creationId xmlns:a16="http://schemas.microsoft.com/office/drawing/2014/main" id="{C69988B5-6DA0-9217-4439-BF33B9B689A8}"/>
                </a:ext>
              </a:extLst>
            </p:cNvPr>
            <p:cNvCxnSpPr/>
            <p:nvPr/>
          </p:nvCxnSpPr>
          <p:spPr bwMode="auto">
            <a:xfrm>
              <a:off x="5440104" y="1360931"/>
              <a:ext cx="617492"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106">
              <a:extLst>
                <a:ext uri="{FF2B5EF4-FFF2-40B4-BE49-F238E27FC236}">
                  <a16:creationId xmlns:a16="http://schemas.microsoft.com/office/drawing/2014/main" id="{C2F76D71-BA4F-5E45-A684-BD985E378417}"/>
                </a:ext>
              </a:extLst>
            </p:cNvPr>
            <p:cNvSpPr txBox="1">
              <a:spLocks noChangeArrowheads="1"/>
            </p:cNvSpPr>
            <p:nvPr/>
          </p:nvSpPr>
          <p:spPr bwMode="auto">
            <a:xfrm>
              <a:off x="5055068" y="14415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cxnSp>
          <p:nvCxnSpPr>
            <p:cNvPr id="61" name="直接连接符 60">
              <a:extLst>
                <a:ext uri="{FF2B5EF4-FFF2-40B4-BE49-F238E27FC236}">
                  <a16:creationId xmlns:a16="http://schemas.microsoft.com/office/drawing/2014/main" id="{DBA740ED-0D13-7E32-20D7-4476DAE42488}"/>
                </a:ext>
              </a:extLst>
            </p:cNvPr>
            <p:cNvCxnSpPr/>
            <p:nvPr/>
          </p:nvCxnSpPr>
          <p:spPr bwMode="auto">
            <a:xfrm>
              <a:off x="5440104" y="2114563"/>
              <a:ext cx="977101"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a:extLst>
                <a:ext uri="{FF2B5EF4-FFF2-40B4-BE49-F238E27FC236}">
                  <a16:creationId xmlns:a16="http://schemas.microsoft.com/office/drawing/2014/main" id="{3830DA01-33C7-0D2F-684C-A3813F72AA87}"/>
                </a:ext>
              </a:extLst>
            </p:cNvPr>
            <p:cNvCxnSpPr/>
            <p:nvPr/>
          </p:nvCxnSpPr>
          <p:spPr bwMode="auto">
            <a:xfrm>
              <a:off x="6417205" y="1663034"/>
              <a:ext cx="0" cy="71191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62">
              <a:extLst>
                <a:ext uri="{FF2B5EF4-FFF2-40B4-BE49-F238E27FC236}">
                  <a16:creationId xmlns:a16="http://schemas.microsoft.com/office/drawing/2014/main" id="{27DAC2A5-3569-4D92-AFFC-8F8C72553C45}"/>
                </a:ext>
              </a:extLst>
            </p:cNvPr>
            <p:cNvCxnSpPr/>
            <p:nvPr/>
          </p:nvCxnSpPr>
          <p:spPr bwMode="auto">
            <a:xfrm>
              <a:off x="6417205" y="2114636"/>
              <a:ext cx="1720518"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 Box 106">
              <a:extLst>
                <a:ext uri="{FF2B5EF4-FFF2-40B4-BE49-F238E27FC236}">
                  <a16:creationId xmlns:a16="http://schemas.microsoft.com/office/drawing/2014/main" id="{348155B6-CBE6-69AB-783C-065D354CF588}"/>
                </a:ext>
              </a:extLst>
            </p:cNvPr>
            <p:cNvSpPr txBox="1">
              <a:spLocks noChangeArrowheads="1"/>
            </p:cNvSpPr>
            <p:nvPr/>
          </p:nvSpPr>
          <p:spPr bwMode="auto">
            <a:xfrm>
              <a:off x="6912260" y="1788121"/>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chemeClr val="tx1"/>
                  </a:solidFill>
                  <a:latin typeface="Times New Roman" pitchFamily="18" charset="0"/>
                  <a:ea typeface="+mn-ea"/>
                  <a:cs typeface="Times New Roman" pitchFamily="18" charset="0"/>
                </a:rPr>
                <a:t>2</a:t>
              </a:r>
              <a:r>
                <a:rPr lang="en-US" altLang="zh-CN" sz="1800" b="0" i="1" dirty="0">
                  <a:solidFill>
                    <a:schemeClr val="tx1"/>
                  </a:solidFill>
                  <a:latin typeface="Times New Roman" pitchFamily="18" charset="0"/>
                  <a:ea typeface="+mn-ea"/>
                  <a:cs typeface="Times New Roman" pitchFamily="18" charset="0"/>
                </a:rPr>
                <a:t>l</a:t>
              </a:r>
              <a:r>
                <a:rPr lang="en-US" altLang="zh-CN" sz="1800" b="0" dirty="0">
                  <a:solidFill>
                    <a:schemeClr val="tx1"/>
                  </a:solidFill>
                  <a:latin typeface="Times New Roman" pitchFamily="18" charset="0"/>
                  <a:ea typeface="+mn-ea"/>
                  <a:cs typeface="Times New Roman" pitchFamily="18" charset="0"/>
                </a:rPr>
                <a:t>/</a:t>
              </a:r>
              <a:r>
                <a:rPr lang="en-US" altLang="zh-CN" sz="1800" b="0" i="0" dirty="0">
                  <a:solidFill>
                    <a:schemeClr val="tx1"/>
                  </a:solidFill>
                  <a:latin typeface="Times New Roman" pitchFamily="18" charset="0"/>
                  <a:ea typeface="+mn-ea"/>
                  <a:cs typeface="Times New Roman" pitchFamily="18" charset="0"/>
                </a:rPr>
                <a:t>3</a:t>
              </a:r>
            </a:p>
          </p:txBody>
        </p:sp>
        <p:sp>
          <p:nvSpPr>
            <p:cNvPr id="65" name="Text Box 106">
              <a:extLst>
                <a:ext uri="{FF2B5EF4-FFF2-40B4-BE49-F238E27FC236}">
                  <a16:creationId xmlns:a16="http://schemas.microsoft.com/office/drawing/2014/main" id="{37014731-0876-4954-0739-EDC1F654E53D}"/>
                </a:ext>
              </a:extLst>
            </p:cNvPr>
            <p:cNvSpPr txBox="1">
              <a:spLocks noChangeArrowheads="1"/>
            </p:cNvSpPr>
            <p:nvPr/>
          </p:nvSpPr>
          <p:spPr bwMode="auto">
            <a:xfrm>
              <a:off x="8051428" y="145107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B</a:t>
              </a:r>
              <a:endParaRPr lang="zh-CN" altLang="en-US" sz="1800" b="0" i="1" dirty="0">
                <a:solidFill>
                  <a:schemeClr val="tx1"/>
                </a:solidFill>
                <a:latin typeface="Times New Roman" pitchFamily="18" charset="0"/>
                <a:ea typeface="+mn-ea"/>
                <a:cs typeface="Times New Roman" pitchFamily="18" charset="0"/>
              </a:endParaRPr>
            </a:p>
          </p:txBody>
        </p:sp>
        <p:sp>
          <p:nvSpPr>
            <p:cNvPr id="66" name="Text Box 106">
              <a:extLst>
                <a:ext uri="{FF2B5EF4-FFF2-40B4-BE49-F238E27FC236}">
                  <a16:creationId xmlns:a16="http://schemas.microsoft.com/office/drawing/2014/main" id="{84E23C0A-9F83-E140-E3A5-B413D757EDAA}"/>
                </a:ext>
              </a:extLst>
            </p:cNvPr>
            <p:cNvSpPr txBox="1">
              <a:spLocks noChangeArrowheads="1"/>
            </p:cNvSpPr>
            <p:nvPr/>
          </p:nvSpPr>
          <p:spPr bwMode="auto">
            <a:xfrm>
              <a:off x="5518823" y="106267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sp>
          <p:nvSpPr>
            <p:cNvPr id="67" name="Text Box 106">
              <a:extLst>
                <a:ext uri="{FF2B5EF4-FFF2-40B4-BE49-F238E27FC236}">
                  <a16:creationId xmlns:a16="http://schemas.microsoft.com/office/drawing/2014/main" id="{3178D3BE-4699-C601-B68F-53B341B09A97}"/>
                </a:ext>
              </a:extLst>
            </p:cNvPr>
            <p:cNvSpPr txBox="1">
              <a:spLocks noChangeArrowheads="1"/>
            </p:cNvSpPr>
            <p:nvPr/>
          </p:nvSpPr>
          <p:spPr bwMode="auto">
            <a:xfrm>
              <a:off x="6327195" y="163522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solidFill>
                    <a:schemeClr val="tx1"/>
                  </a:solidFill>
                  <a:latin typeface="Times New Roman" pitchFamily="18" charset="0"/>
                  <a:ea typeface="+mn-ea"/>
                  <a:cs typeface="Times New Roman" pitchFamily="18" charset="0"/>
                </a:rPr>
                <a:t>C</a:t>
              </a:r>
              <a:endParaRPr lang="zh-CN" altLang="en-US" sz="1800" i="1" dirty="0">
                <a:solidFill>
                  <a:schemeClr val="tx1"/>
                </a:solidFill>
                <a:latin typeface="Times New Roman" pitchFamily="18" charset="0"/>
                <a:ea typeface="+mn-ea"/>
                <a:cs typeface="Times New Roman" pitchFamily="18" charset="0"/>
              </a:endParaRPr>
            </a:p>
          </p:txBody>
        </p:sp>
        <p:sp>
          <p:nvSpPr>
            <p:cNvPr id="68" name="Text Box 106">
              <a:extLst>
                <a:ext uri="{FF2B5EF4-FFF2-40B4-BE49-F238E27FC236}">
                  <a16:creationId xmlns:a16="http://schemas.microsoft.com/office/drawing/2014/main" id="{1FBE601F-BC87-2B91-8392-B2CC266AF961}"/>
                </a:ext>
              </a:extLst>
            </p:cNvPr>
            <p:cNvSpPr txBox="1">
              <a:spLocks noChangeArrowheads="1"/>
            </p:cNvSpPr>
            <p:nvPr/>
          </p:nvSpPr>
          <p:spPr bwMode="auto">
            <a:xfrm>
              <a:off x="5615040" y="1799528"/>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l</a:t>
              </a:r>
              <a:r>
                <a:rPr lang="en-US" altLang="zh-CN" sz="1800" b="0" dirty="0">
                  <a:solidFill>
                    <a:schemeClr val="tx1"/>
                  </a:solidFill>
                  <a:latin typeface="Times New Roman" pitchFamily="18" charset="0"/>
                  <a:ea typeface="+mn-ea"/>
                  <a:cs typeface="Times New Roman" pitchFamily="18" charset="0"/>
                </a:rPr>
                <a:t>/</a:t>
              </a:r>
              <a:r>
                <a:rPr lang="en-US" altLang="zh-CN" sz="1800" b="0" i="0" dirty="0">
                  <a:solidFill>
                    <a:schemeClr val="tx1"/>
                  </a:solidFill>
                  <a:latin typeface="Times New Roman" pitchFamily="18" charset="0"/>
                  <a:ea typeface="+mn-ea"/>
                  <a:cs typeface="Times New Roman" pitchFamily="18" charset="0"/>
                </a:rPr>
                <a:t>3</a:t>
              </a:r>
            </a:p>
          </p:txBody>
        </p:sp>
        <p:cxnSp>
          <p:nvCxnSpPr>
            <p:cNvPr id="71" name="直接连接符 70">
              <a:extLst>
                <a:ext uri="{FF2B5EF4-FFF2-40B4-BE49-F238E27FC236}">
                  <a16:creationId xmlns:a16="http://schemas.microsoft.com/office/drawing/2014/main" id="{02472BFC-FADE-EA4E-95CC-9B949A671DB6}"/>
                </a:ext>
              </a:extLst>
            </p:cNvPr>
            <p:cNvCxnSpPr/>
            <p:nvPr/>
          </p:nvCxnSpPr>
          <p:spPr bwMode="auto">
            <a:xfrm>
              <a:off x="6057596" y="1202714"/>
              <a:ext cx="0" cy="616662"/>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106">
              <a:extLst>
                <a:ext uri="{FF2B5EF4-FFF2-40B4-BE49-F238E27FC236}">
                  <a16:creationId xmlns:a16="http://schemas.microsoft.com/office/drawing/2014/main" id="{52CB1384-F29E-B4E8-6067-7282FB27C740}"/>
                </a:ext>
              </a:extLst>
            </p:cNvPr>
            <p:cNvSpPr txBox="1">
              <a:spLocks noChangeArrowheads="1"/>
            </p:cNvSpPr>
            <p:nvPr/>
          </p:nvSpPr>
          <p:spPr bwMode="auto">
            <a:xfrm>
              <a:off x="5922150" y="134944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dirty="0">
                  <a:solidFill>
                    <a:schemeClr val="tx1"/>
                  </a:solidFill>
                  <a:latin typeface="Times New Roman" pitchFamily="18" charset="0"/>
                  <a:ea typeface="+mn-ea"/>
                  <a:cs typeface="Times New Roman" pitchFamily="18" charset="0"/>
                </a:rPr>
                <a:t>1</a:t>
              </a:r>
              <a:endParaRPr lang="zh-CN" altLang="en-US" sz="1600" dirty="0">
                <a:solidFill>
                  <a:schemeClr val="tx1"/>
                </a:solidFill>
                <a:latin typeface="Times New Roman" pitchFamily="18" charset="0"/>
                <a:ea typeface="+mn-ea"/>
                <a:cs typeface="Times New Roman" pitchFamily="18" charset="0"/>
              </a:endParaRPr>
            </a:p>
          </p:txBody>
        </p:sp>
        <p:sp>
          <p:nvSpPr>
            <p:cNvPr id="73" name="Text Box 106">
              <a:extLst>
                <a:ext uri="{FF2B5EF4-FFF2-40B4-BE49-F238E27FC236}">
                  <a16:creationId xmlns:a16="http://schemas.microsoft.com/office/drawing/2014/main" id="{2435B687-F3DA-4D84-E340-27BCC06F2ADA}"/>
                </a:ext>
              </a:extLst>
            </p:cNvPr>
            <p:cNvSpPr txBox="1">
              <a:spLocks noChangeArrowheads="1"/>
            </p:cNvSpPr>
            <p:nvPr/>
          </p:nvSpPr>
          <p:spPr bwMode="auto">
            <a:xfrm>
              <a:off x="5922150" y="16804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dirty="0">
                  <a:solidFill>
                    <a:schemeClr val="tx1"/>
                  </a:solidFill>
                  <a:latin typeface="Times New Roman" pitchFamily="18" charset="0"/>
                  <a:ea typeface="+mn-ea"/>
                  <a:cs typeface="Times New Roman" pitchFamily="18" charset="0"/>
                </a:rPr>
                <a:t>1</a:t>
              </a:r>
              <a:endParaRPr lang="zh-CN" altLang="en-US" sz="1600" dirty="0">
                <a:solidFill>
                  <a:schemeClr val="tx1"/>
                </a:solidFill>
                <a:latin typeface="Times New Roman" pitchFamily="18" charset="0"/>
                <a:ea typeface="+mn-ea"/>
                <a:cs typeface="Times New Roman" pitchFamily="18" charset="0"/>
              </a:endParaRPr>
            </a:p>
          </p:txBody>
        </p:sp>
        <p:sp>
          <p:nvSpPr>
            <p:cNvPr id="74" name="Text Box 106">
              <a:extLst>
                <a:ext uri="{FF2B5EF4-FFF2-40B4-BE49-F238E27FC236}">
                  <a16:creationId xmlns:a16="http://schemas.microsoft.com/office/drawing/2014/main" id="{D0A70945-395C-19CF-5E1B-E557A11EAD0B}"/>
                </a:ext>
              </a:extLst>
            </p:cNvPr>
            <p:cNvSpPr txBox="1">
              <a:spLocks noChangeArrowheads="1"/>
            </p:cNvSpPr>
            <p:nvPr/>
          </p:nvSpPr>
          <p:spPr bwMode="auto">
            <a:xfrm>
              <a:off x="5666163" y="160273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D</a:t>
              </a:r>
              <a:endParaRPr lang="zh-CN" altLang="en-US" sz="1800" b="0" i="1" dirty="0">
                <a:solidFill>
                  <a:schemeClr val="tx1"/>
                </a:solidFill>
                <a:latin typeface="Times New Roman" pitchFamily="18" charset="0"/>
                <a:ea typeface="+mn-ea"/>
                <a:cs typeface="Times New Roman" pitchFamily="18" charset="0"/>
              </a:endParaRPr>
            </a:p>
          </p:txBody>
        </p:sp>
        <p:sp>
          <p:nvSpPr>
            <p:cNvPr id="79" name="Text Box 106">
              <a:extLst>
                <a:ext uri="{FF2B5EF4-FFF2-40B4-BE49-F238E27FC236}">
                  <a16:creationId xmlns:a16="http://schemas.microsoft.com/office/drawing/2014/main" id="{28E2B56A-960A-69E4-BC41-56F416F43D1E}"/>
                </a:ext>
              </a:extLst>
            </p:cNvPr>
            <p:cNvSpPr txBox="1">
              <a:spLocks noChangeArrowheads="1"/>
            </p:cNvSpPr>
            <p:nvPr/>
          </p:nvSpPr>
          <p:spPr bwMode="auto">
            <a:xfrm>
              <a:off x="5022050" y="1763815"/>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80" name="直接箭头连接符 250">
              <a:extLst>
                <a:ext uri="{FF2B5EF4-FFF2-40B4-BE49-F238E27FC236}">
                  <a16:creationId xmlns:a16="http://schemas.microsoft.com/office/drawing/2014/main" id="{CFEE9B77-541F-8578-94FC-682391B0C48F}"/>
                </a:ext>
              </a:extLst>
            </p:cNvPr>
            <p:cNvCxnSpPr>
              <a:cxnSpLocks noChangeShapeType="1"/>
            </p:cNvCxnSpPr>
            <p:nvPr/>
          </p:nvCxnSpPr>
          <p:spPr bwMode="auto">
            <a:xfrm flipV="1">
              <a:off x="5438666" y="1665145"/>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250">
              <a:extLst>
                <a:ext uri="{FF2B5EF4-FFF2-40B4-BE49-F238E27FC236}">
                  <a16:creationId xmlns:a16="http://schemas.microsoft.com/office/drawing/2014/main" id="{2CB9CFE2-D765-4E92-6F2B-BD3416B331D1}"/>
                </a:ext>
              </a:extLst>
            </p:cNvPr>
            <p:cNvCxnSpPr>
              <a:cxnSpLocks noChangeShapeType="1"/>
            </p:cNvCxnSpPr>
            <p:nvPr/>
          </p:nvCxnSpPr>
          <p:spPr bwMode="auto">
            <a:xfrm flipV="1">
              <a:off x="8139366" y="165536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106">
              <a:extLst>
                <a:ext uri="{FF2B5EF4-FFF2-40B4-BE49-F238E27FC236}">
                  <a16:creationId xmlns:a16="http://schemas.microsoft.com/office/drawing/2014/main" id="{11AD9AD8-795C-C42F-E93B-396E9A47A92E}"/>
                </a:ext>
              </a:extLst>
            </p:cNvPr>
            <p:cNvSpPr txBox="1">
              <a:spLocks noChangeArrowheads="1"/>
            </p:cNvSpPr>
            <p:nvPr/>
          </p:nvSpPr>
          <p:spPr bwMode="auto">
            <a:xfrm>
              <a:off x="8082390" y="1736887"/>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graphicFrame>
          <p:nvGraphicFramePr>
            <p:cNvPr id="83" name="对象 82">
              <a:extLst>
                <a:ext uri="{FF2B5EF4-FFF2-40B4-BE49-F238E27FC236}">
                  <a16:creationId xmlns:a16="http://schemas.microsoft.com/office/drawing/2014/main" id="{CBAFF4CB-6B6D-9604-1A0C-8F7B926F6C80}"/>
                </a:ext>
              </a:extLst>
            </p:cNvPr>
            <p:cNvGraphicFramePr>
              <a:graphicFrameLocks noChangeAspect="1"/>
            </p:cNvGraphicFramePr>
            <p:nvPr>
              <p:extLst>
                <p:ext uri="{D42A27DB-BD31-4B8C-83A1-F6EECF244321}">
                  <p14:modId xmlns:p14="http://schemas.microsoft.com/office/powerpoint/2010/main" val="3786950577"/>
                </p:ext>
              </p:extLst>
            </p:nvPr>
          </p:nvGraphicFramePr>
          <p:xfrm>
            <a:off x="5157065" y="2201817"/>
            <a:ext cx="792163" cy="569913"/>
          </p:xfrm>
          <a:graphic>
            <a:graphicData uri="http://schemas.openxmlformats.org/presentationml/2006/ole">
              <mc:AlternateContent xmlns:mc="http://schemas.openxmlformats.org/markup-compatibility/2006">
                <mc:Choice xmlns:v="urn:schemas-microsoft-com:vml" Requires="v">
                  <p:oleObj spid="_x0000_s2190" name="公式" r:id="rId4" imgW="533160" imgH="355320" progId="Equation.3">
                    <p:embed/>
                  </p:oleObj>
                </mc:Choice>
                <mc:Fallback>
                  <p:oleObj name="公式" r:id="rId4" imgW="533160" imgH="355320" progId="Equation.3">
                    <p:embed/>
                    <p:pic>
                      <p:nvPicPr>
                        <p:cNvPr id="2" name="对象 1"/>
                        <p:cNvPicPr>
                          <a:picLocks noChangeAspect="1" noChangeArrowheads="1"/>
                        </p:cNvPicPr>
                        <p:nvPr/>
                      </p:nvPicPr>
                      <p:blipFill>
                        <a:blip r:embed="rId5"/>
                        <a:srcRect/>
                        <a:stretch>
                          <a:fillRect/>
                        </a:stretch>
                      </p:blipFill>
                      <p:spPr bwMode="auto">
                        <a:xfrm>
                          <a:off x="5157065" y="2201817"/>
                          <a:ext cx="792163" cy="569913"/>
                        </a:xfrm>
                        <a:prstGeom prst="rect">
                          <a:avLst/>
                        </a:prstGeom>
                        <a:noFill/>
                        <a:ln>
                          <a:noFill/>
                        </a:ln>
                      </p:spPr>
                    </p:pic>
                  </p:oleObj>
                </mc:Fallback>
              </mc:AlternateContent>
            </a:graphicData>
          </a:graphic>
        </p:graphicFrame>
        <p:graphicFrame>
          <p:nvGraphicFramePr>
            <p:cNvPr id="84" name="对象 83">
              <a:extLst>
                <a:ext uri="{FF2B5EF4-FFF2-40B4-BE49-F238E27FC236}">
                  <a16:creationId xmlns:a16="http://schemas.microsoft.com/office/drawing/2014/main" id="{6EE3D2B1-00B1-E1D0-FCB6-E0D96C34364E}"/>
                </a:ext>
              </a:extLst>
            </p:cNvPr>
            <p:cNvGraphicFramePr>
              <a:graphicFrameLocks noChangeAspect="1"/>
            </p:cNvGraphicFramePr>
            <p:nvPr>
              <p:extLst>
                <p:ext uri="{D42A27DB-BD31-4B8C-83A1-F6EECF244321}">
                  <p14:modId xmlns:p14="http://schemas.microsoft.com/office/powerpoint/2010/main" val="615615405"/>
                </p:ext>
              </p:extLst>
            </p:nvPr>
          </p:nvGraphicFramePr>
          <p:xfrm>
            <a:off x="7893471" y="2123855"/>
            <a:ext cx="796925" cy="592137"/>
          </p:xfrm>
          <a:graphic>
            <a:graphicData uri="http://schemas.openxmlformats.org/presentationml/2006/ole">
              <mc:AlternateContent xmlns:mc="http://schemas.openxmlformats.org/markup-compatibility/2006">
                <mc:Choice xmlns:v="urn:schemas-microsoft-com:vml" Requires="v">
                  <p:oleObj spid="_x0000_s2191" name="公式" r:id="rId6" imgW="533160" imgH="355320" progId="Equation.3">
                    <p:embed/>
                  </p:oleObj>
                </mc:Choice>
                <mc:Fallback>
                  <p:oleObj name="公式" r:id="rId6" imgW="533160" imgH="355320" progId="Equation.3">
                    <p:embed/>
                    <p:pic>
                      <p:nvPicPr>
                        <p:cNvPr id="3" name="对象 2"/>
                        <p:cNvPicPr>
                          <a:picLocks noChangeAspect="1" noChangeArrowheads="1"/>
                        </p:cNvPicPr>
                        <p:nvPr/>
                      </p:nvPicPr>
                      <p:blipFill>
                        <a:blip r:embed="rId7"/>
                        <a:srcRect/>
                        <a:stretch>
                          <a:fillRect/>
                        </a:stretch>
                      </p:blipFill>
                      <p:spPr bwMode="auto">
                        <a:xfrm>
                          <a:off x="7893471" y="2123855"/>
                          <a:ext cx="7969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5" name="组合 84">
            <a:extLst>
              <a:ext uri="{FF2B5EF4-FFF2-40B4-BE49-F238E27FC236}">
                <a16:creationId xmlns:a16="http://schemas.microsoft.com/office/drawing/2014/main" id="{CDBAE6BF-F334-8B4B-19D2-CA6D6B133C7E}"/>
              </a:ext>
            </a:extLst>
          </p:cNvPr>
          <p:cNvGrpSpPr/>
          <p:nvPr/>
        </p:nvGrpSpPr>
        <p:grpSpPr>
          <a:xfrm>
            <a:off x="8430131" y="4560752"/>
            <a:ext cx="2029193" cy="1080120"/>
            <a:chOff x="1822727" y="2882521"/>
            <a:chExt cx="2029193" cy="1080120"/>
          </a:xfrm>
        </p:grpSpPr>
        <p:sp>
          <p:nvSpPr>
            <p:cNvPr id="86" name="弧形 85">
              <a:extLst>
                <a:ext uri="{FF2B5EF4-FFF2-40B4-BE49-F238E27FC236}">
                  <a16:creationId xmlns:a16="http://schemas.microsoft.com/office/drawing/2014/main" id="{077D4178-F2C5-C298-DD28-972EBF6D9DD0}"/>
                </a:ext>
              </a:extLst>
            </p:cNvPr>
            <p:cNvSpPr/>
            <p:nvPr/>
          </p:nvSpPr>
          <p:spPr bwMode="auto">
            <a:xfrm rot="7994575" flipV="1">
              <a:off x="1822727" y="3019987"/>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cxnSp>
          <p:nvCxnSpPr>
            <p:cNvPr id="87" name="直接连接符 223">
              <a:extLst>
                <a:ext uri="{FF2B5EF4-FFF2-40B4-BE49-F238E27FC236}">
                  <a16:creationId xmlns:a16="http://schemas.microsoft.com/office/drawing/2014/main" id="{76A3FDFE-C7AD-AFFD-8C5F-484A3A4E1F38}"/>
                </a:ext>
              </a:extLst>
            </p:cNvPr>
            <p:cNvCxnSpPr>
              <a:cxnSpLocks noChangeShapeType="1"/>
            </p:cNvCxnSpPr>
            <p:nvPr/>
          </p:nvCxnSpPr>
          <p:spPr bwMode="auto">
            <a:xfrm>
              <a:off x="2039112" y="3435932"/>
              <a:ext cx="1723161"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250">
              <a:extLst>
                <a:ext uri="{FF2B5EF4-FFF2-40B4-BE49-F238E27FC236}">
                  <a16:creationId xmlns:a16="http://schemas.microsoft.com/office/drawing/2014/main" id="{02A89940-73F4-046A-F08D-0C2EDD77F61D}"/>
                </a:ext>
              </a:extLst>
            </p:cNvPr>
            <p:cNvCxnSpPr>
              <a:cxnSpLocks noChangeShapeType="1"/>
            </p:cNvCxnSpPr>
            <p:nvPr/>
          </p:nvCxnSpPr>
          <p:spPr bwMode="auto">
            <a:xfrm flipV="1">
              <a:off x="2006715" y="3196756"/>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 Box 106">
              <a:extLst>
                <a:ext uri="{FF2B5EF4-FFF2-40B4-BE49-F238E27FC236}">
                  <a16:creationId xmlns:a16="http://schemas.microsoft.com/office/drawing/2014/main" id="{14DA6040-3070-255C-5AB3-17BDCD166845}"/>
                </a:ext>
              </a:extLst>
            </p:cNvPr>
            <p:cNvSpPr txBox="1">
              <a:spLocks noChangeArrowheads="1"/>
            </p:cNvSpPr>
            <p:nvPr/>
          </p:nvSpPr>
          <p:spPr bwMode="auto">
            <a:xfrm>
              <a:off x="1961709" y="3467586"/>
              <a:ext cx="7650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右</a:t>
              </a:r>
            </a:p>
          </p:txBody>
        </p:sp>
        <p:sp>
          <p:nvSpPr>
            <p:cNvPr id="90" name="Text Box 106">
              <a:extLst>
                <a:ext uri="{FF2B5EF4-FFF2-40B4-BE49-F238E27FC236}">
                  <a16:creationId xmlns:a16="http://schemas.microsoft.com/office/drawing/2014/main" id="{C680AC56-328E-72C1-5A73-1C3A878842B3}"/>
                </a:ext>
              </a:extLst>
            </p:cNvPr>
            <p:cNvSpPr txBox="1">
              <a:spLocks noChangeArrowheads="1"/>
            </p:cNvSpPr>
            <p:nvPr/>
          </p:nvSpPr>
          <p:spPr bwMode="auto">
            <a:xfrm>
              <a:off x="3370908" y="3593309"/>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91" name="直接箭头连接符 250">
              <a:extLst>
                <a:ext uri="{FF2B5EF4-FFF2-40B4-BE49-F238E27FC236}">
                  <a16:creationId xmlns:a16="http://schemas.microsoft.com/office/drawing/2014/main" id="{1B8E9BF0-F337-633D-DD13-D23BD49CB921}"/>
                </a:ext>
              </a:extLst>
            </p:cNvPr>
            <p:cNvCxnSpPr>
              <a:cxnSpLocks noChangeShapeType="1"/>
            </p:cNvCxnSpPr>
            <p:nvPr/>
          </p:nvCxnSpPr>
          <p:spPr bwMode="auto">
            <a:xfrm flipV="1">
              <a:off x="3788929" y="3452021"/>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a:extLst>
                <a:ext uri="{FF2B5EF4-FFF2-40B4-BE49-F238E27FC236}">
                  <a16:creationId xmlns:a16="http://schemas.microsoft.com/office/drawing/2014/main" id="{9A0B30B7-428A-EA77-9339-DB2939F605E6}"/>
                </a:ext>
              </a:extLst>
            </p:cNvPr>
            <p:cNvCxnSpPr/>
            <p:nvPr/>
          </p:nvCxnSpPr>
          <p:spPr bwMode="auto">
            <a:xfrm>
              <a:off x="2027022" y="3459734"/>
              <a:ext cx="0" cy="413956"/>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106">
              <a:extLst>
                <a:ext uri="{FF2B5EF4-FFF2-40B4-BE49-F238E27FC236}">
                  <a16:creationId xmlns:a16="http://schemas.microsoft.com/office/drawing/2014/main" id="{23AC857B-968F-7357-BE1F-3F0256B46167}"/>
                </a:ext>
              </a:extLst>
            </p:cNvPr>
            <p:cNvSpPr txBox="1">
              <a:spLocks noChangeArrowheads="1"/>
            </p:cNvSpPr>
            <p:nvPr/>
          </p:nvSpPr>
          <p:spPr bwMode="auto">
            <a:xfrm>
              <a:off x="1871700" y="2882521"/>
              <a:ext cx="7227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cs typeface="Times New Roman" pitchFamily="18" charset="0"/>
                </a:rPr>
                <a:t>右</a:t>
              </a:r>
              <a:endParaRPr lang="zh-CN" altLang="en-US" sz="1800" b="0" i="0" baseline="-25000" dirty="0">
                <a:latin typeface="Times New Roman" pitchFamily="18" charset="0"/>
                <a:ea typeface="+mn-ea"/>
                <a:cs typeface="Times New Roman" pitchFamily="18" charset="0"/>
              </a:endParaRPr>
            </a:p>
          </p:txBody>
        </p:sp>
      </p:grpSp>
      <p:sp>
        <p:nvSpPr>
          <p:cNvPr id="94" name="椭圆 93">
            <a:extLst>
              <a:ext uri="{FF2B5EF4-FFF2-40B4-BE49-F238E27FC236}">
                <a16:creationId xmlns:a16="http://schemas.microsoft.com/office/drawing/2014/main" id="{BB9199F7-67DD-E9D8-3CE0-3692277FE464}"/>
              </a:ext>
            </a:extLst>
          </p:cNvPr>
          <p:cNvSpPr/>
          <p:nvPr/>
        </p:nvSpPr>
        <p:spPr bwMode="auto">
          <a:xfrm>
            <a:off x="8299084" y="1934615"/>
            <a:ext cx="618203" cy="1034655"/>
          </a:xfrm>
          <a:prstGeom prst="ellipse">
            <a:avLst/>
          </a:prstGeom>
          <a:solidFill>
            <a:schemeClr val="accent1">
              <a:lumMod val="40000"/>
              <a:lumOff val="60000"/>
              <a:alpha val="40000"/>
            </a:schemeClr>
          </a:solidFill>
          <a:ln w="28575">
            <a:solidFill>
              <a:srgbClr val="0000FF"/>
            </a:solidFill>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aphicFrame>
        <p:nvGraphicFramePr>
          <p:cNvPr id="162" name="Object 14">
            <a:extLst>
              <a:ext uri="{FF2B5EF4-FFF2-40B4-BE49-F238E27FC236}">
                <a16:creationId xmlns:a16="http://schemas.microsoft.com/office/drawing/2014/main" id="{2573CDFD-E94E-1591-E660-66010D4294A5}"/>
              </a:ext>
            </a:extLst>
          </p:cNvPr>
          <p:cNvGraphicFramePr>
            <a:graphicFrameLocks noChangeAspect="1"/>
          </p:cNvGraphicFramePr>
          <p:nvPr>
            <p:extLst>
              <p:ext uri="{D42A27DB-BD31-4B8C-83A1-F6EECF244321}">
                <p14:modId xmlns:p14="http://schemas.microsoft.com/office/powerpoint/2010/main" val="1879367399"/>
              </p:ext>
            </p:extLst>
          </p:nvPr>
        </p:nvGraphicFramePr>
        <p:xfrm>
          <a:off x="690563" y="1477325"/>
          <a:ext cx="5548909" cy="842442"/>
        </p:xfrm>
        <a:graphic>
          <a:graphicData uri="http://schemas.openxmlformats.org/presentationml/2006/ole">
            <mc:AlternateContent xmlns:mc="http://schemas.openxmlformats.org/markup-compatibility/2006">
              <mc:Choice xmlns:v="urn:schemas-microsoft-com:vml" Requires="v">
                <p:oleObj spid="_x0000_s2192" name="Equation" r:id="rId8" imgW="2438280" imgH="393480" progId="Equation.DSMT4">
                  <p:embed/>
                </p:oleObj>
              </mc:Choice>
              <mc:Fallback>
                <p:oleObj name="Equation" r:id="rId8" imgW="2438280" imgH="393480" progId="Equation.DSMT4">
                  <p:embed/>
                  <p:pic>
                    <p:nvPicPr>
                      <p:cNvPr id="146446" name="Object 14"/>
                      <p:cNvPicPr>
                        <a:picLocks noChangeAspect="1" noChangeArrowheads="1"/>
                      </p:cNvPicPr>
                      <p:nvPr/>
                    </p:nvPicPr>
                    <p:blipFill>
                      <a:blip r:embed="rId9"/>
                      <a:srcRect/>
                      <a:stretch>
                        <a:fillRect/>
                      </a:stretch>
                    </p:blipFill>
                    <p:spPr bwMode="auto">
                      <a:xfrm>
                        <a:off x="690563" y="1477325"/>
                        <a:ext cx="5548909" cy="842442"/>
                      </a:xfrm>
                      <a:prstGeom prst="rect">
                        <a:avLst/>
                      </a:prstGeom>
                      <a:noFill/>
                      <a:ln>
                        <a:noFill/>
                      </a:ln>
                    </p:spPr>
                  </p:pic>
                </p:oleObj>
              </mc:Fallback>
            </mc:AlternateContent>
          </a:graphicData>
        </a:graphic>
      </p:graphicFrame>
      <p:sp>
        <p:nvSpPr>
          <p:cNvPr id="164" name="矩形 163">
            <a:extLst>
              <a:ext uri="{FF2B5EF4-FFF2-40B4-BE49-F238E27FC236}">
                <a16:creationId xmlns:a16="http://schemas.microsoft.com/office/drawing/2014/main" id="{57E8C73A-8305-A585-DEDF-6912196544D8}"/>
              </a:ext>
            </a:extLst>
          </p:cNvPr>
          <p:cNvSpPr/>
          <p:nvPr/>
        </p:nvSpPr>
        <p:spPr>
          <a:xfrm>
            <a:off x="211185" y="2334941"/>
            <a:ext cx="6093340" cy="940066"/>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     对于</a:t>
            </a:r>
            <a:r>
              <a:rPr lang="en-US" altLang="zh-CN" dirty="0">
                <a:solidFill>
                  <a:schemeClr val="tx1"/>
                </a:solidFill>
              </a:rPr>
              <a:t>C</a:t>
            </a:r>
            <a:r>
              <a:rPr lang="zh-CN" altLang="en-US" b="0" i="0" baseline="-25000" dirty="0">
                <a:solidFill>
                  <a:schemeClr val="tx1"/>
                </a:solidFill>
              </a:rPr>
              <a:t>右</a:t>
            </a:r>
            <a:r>
              <a:rPr kumimoji="1" lang="zh-CN" altLang="en-US" i="0" dirty="0">
                <a:solidFill>
                  <a:schemeClr val="tx1"/>
                </a:solidFill>
                <a:latin typeface="+mn-lt"/>
                <a:ea typeface="黑体" panose="02010609060101010101" pitchFamily="49" charset="-122"/>
              </a:rPr>
              <a:t>截面：</a:t>
            </a:r>
          </a:p>
          <a:p>
            <a:pPr lvl="0">
              <a:lnSpc>
                <a:spcPct val="120000"/>
              </a:lnSpc>
            </a:pPr>
            <a:endParaRPr kumimoji="1" lang="en-US" altLang="zh-CN" i="0" dirty="0">
              <a:solidFill>
                <a:schemeClr val="tx1"/>
              </a:solidFill>
              <a:latin typeface="+mn-lt"/>
              <a:ea typeface="黑体" panose="02010609060101010101" pitchFamily="49" charset="-122"/>
            </a:endParaRPr>
          </a:p>
        </p:txBody>
      </p:sp>
      <p:graphicFrame>
        <p:nvGraphicFramePr>
          <p:cNvPr id="165" name="Object 14">
            <a:extLst>
              <a:ext uri="{FF2B5EF4-FFF2-40B4-BE49-F238E27FC236}">
                <a16:creationId xmlns:a16="http://schemas.microsoft.com/office/drawing/2014/main" id="{416C0CEF-F5F0-76C4-3845-5CF202202A4D}"/>
              </a:ext>
            </a:extLst>
          </p:cNvPr>
          <p:cNvGraphicFramePr>
            <a:graphicFrameLocks noChangeAspect="1"/>
          </p:cNvGraphicFramePr>
          <p:nvPr>
            <p:extLst>
              <p:ext uri="{D42A27DB-BD31-4B8C-83A1-F6EECF244321}">
                <p14:modId xmlns:p14="http://schemas.microsoft.com/office/powerpoint/2010/main" val="1908128721"/>
              </p:ext>
            </p:extLst>
          </p:nvPr>
        </p:nvGraphicFramePr>
        <p:xfrm>
          <a:off x="686240" y="2661612"/>
          <a:ext cx="5865812" cy="841375"/>
        </p:xfrm>
        <a:graphic>
          <a:graphicData uri="http://schemas.openxmlformats.org/presentationml/2006/ole">
            <mc:AlternateContent xmlns:mc="http://schemas.openxmlformats.org/markup-compatibility/2006">
              <mc:Choice xmlns:v="urn:schemas-microsoft-com:vml" Requires="v">
                <p:oleObj spid="_x0000_s2193" name="Equation" r:id="rId10" imgW="2577960" imgH="393480" progId="Equation.DSMT4">
                  <p:embed/>
                </p:oleObj>
              </mc:Choice>
              <mc:Fallback>
                <p:oleObj name="Equation" r:id="rId10" imgW="2577960" imgH="393480" progId="Equation.DSMT4">
                  <p:embed/>
                  <p:pic>
                    <p:nvPicPr>
                      <p:cNvPr id="162" name="Object 14">
                        <a:extLst>
                          <a:ext uri="{FF2B5EF4-FFF2-40B4-BE49-F238E27FC236}">
                            <a16:creationId xmlns:a16="http://schemas.microsoft.com/office/drawing/2014/main" id="{2573CDFD-E94E-1591-E660-66010D4294A5}"/>
                          </a:ext>
                        </a:extLst>
                      </p:cNvPr>
                      <p:cNvPicPr>
                        <a:picLocks noChangeAspect="1" noChangeArrowheads="1"/>
                      </p:cNvPicPr>
                      <p:nvPr/>
                    </p:nvPicPr>
                    <p:blipFill>
                      <a:blip r:embed="rId11"/>
                      <a:srcRect/>
                      <a:stretch>
                        <a:fillRect/>
                      </a:stretch>
                    </p:blipFill>
                    <p:spPr bwMode="auto">
                      <a:xfrm>
                        <a:off x="686240" y="2661612"/>
                        <a:ext cx="5865812" cy="841375"/>
                      </a:xfrm>
                      <a:prstGeom prst="rect">
                        <a:avLst/>
                      </a:prstGeom>
                      <a:noFill/>
                      <a:ln>
                        <a:noFill/>
                      </a:ln>
                    </p:spPr>
                  </p:pic>
                </p:oleObj>
              </mc:Fallback>
            </mc:AlternateContent>
          </a:graphicData>
        </a:graphic>
      </p:graphicFrame>
      <p:graphicFrame>
        <p:nvGraphicFramePr>
          <p:cNvPr id="167" name="Object 14">
            <a:extLst>
              <a:ext uri="{FF2B5EF4-FFF2-40B4-BE49-F238E27FC236}">
                <a16:creationId xmlns:a16="http://schemas.microsoft.com/office/drawing/2014/main" id="{07F1ABBF-61E5-1CA7-3BC4-4E2B47107D86}"/>
              </a:ext>
            </a:extLst>
          </p:cNvPr>
          <p:cNvGraphicFramePr>
            <a:graphicFrameLocks noChangeAspect="1"/>
          </p:cNvGraphicFramePr>
          <p:nvPr>
            <p:extLst>
              <p:ext uri="{D42A27DB-BD31-4B8C-83A1-F6EECF244321}">
                <p14:modId xmlns:p14="http://schemas.microsoft.com/office/powerpoint/2010/main" val="1731662322"/>
              </p:ext>
            </p:extLst>
          </p:nvPr>
        </p:nvGraphicFramePr>
        <p:xfrm>
          <a:off x="1711325" y="3585414"/>
          <a:ext cx="3814763" cy="514350"/>
        </p:xfrm>
        <a:graphic>
          <a:graphicData uri="http://schemas.openxmlformats.org/presentationml/2006/ole">
            <mc:AlternateContent xmlns:mc="http://schemas.openxmlformats.org/markup-compatibility/2006">
              <mc:Choice xmlns:v="urn:schemas-microsoft-com:vml" Requires="v">
                <p:oleObj spid="_x0000_s2194" name="Equation" r:id="rId12" imgW="1676160" imgH="241200" progId="Equation.DSMT4">
                  <p:embed/>
                </p:oleObj>
              </mc:Choice>
              <mc:Fallback>
                <p:oleObj name="Equation" r:id="rId12" imgW="1676160" imgH="241200" progId="Equation.DSMT4">
                  <p:embed/>
                  <p:pic>
                    <p:nvPicPr>
                      <p:cNvPr id="165" name="Object 14">
                        <a:extLst>
                          <a:ext uri="{FF2B5EF4-FFF2-40B4-BE49-F238E27FC236}">
                            <a16:creationId xmlns:a16="http://schemas.microsoft.com/office/drawing/2014/main" id="{416C0CEF-F5F0-76C4-3845-5CF202202A4D}"/>
                          </a:ext>
                        </a:extLst>
                      </p:cNvPr>
                      <p:cNvPicPr>
                        <a:picLocks noChangeAspect="1" noChangeArrowheads="1"/>
                      </p:cNvPicPr>
                      <p:nvPr/>
                    </p:nvPicPr>
                    <p:blipFill>
                      <a:blip r:embed="rId13"/>
                      <a:srcRect/>
                      <a:stretch>
                        <a:fillRect/>
                      </a:stretch>
                    </p:blipFill>
                    <p:spPr bwMode="auto">
                      <a:xfrm>
                        <a:off x="1711325" y="3585414"/>
                        <a:ext cx="3814763" cy="514350"/>
                      </a:xfrm>
                      <a:prstGeom prst="rect">
                        <a:avLst/>
                      </a:prstGeom>
                      <a:noFill/>
                      <a:ln>
                        <a:noFill/>
                      </a:ln>
                    </p:spPr>
                  </p:pic>
                </p:oleObj>
              </mc:Fallback>
            </mc:AlternateContent>
          </a:graphicData>
        </a:graphic>
      </p:graphicFrame>
      <p:sp>
        <p:nvSpPr>
          <p:cNvPr id="169" name="文本框 168">
            <a:extLst>
              <a:ext uri="{FF2B5EF4-FFF2-40B4-BE49-F238E27FC236}">
                <a16:creationId xmlns:a16="http://schemas.microsoft.com/office/drawing/2014/main" id="{B99ACD1A-817C-5392-3FD6-41D061AA5F23}"/>
              </a:ext>
            </a:extLst>
          </p:cNvPr>
          <p:cNvSpPr txBox="1"/>
          <p:nvPr/>
        </p:nvSpPr>
        <p:spPr>
          <a:xfrm>
            <a:off x="560317" y="4281804"/>
            <a:ext cx="6174768" cy="1684244"/>
          </a:xfrm>
          <a:prstGeom prst="rect">
            <a:avLst/>
          </a:prstGeom>
          <a:noFill/>
        </p:spPr>
        <p:txBody>
          <a:bodyPr wrap="square">
            <a:spAutoFit/>
          </a:bodyPr>
          <a:lstStyle/>
          <a:p>
            <a:pPr>
              <a:lnSpc>
                <a:spcPct val="150000"/>
              </a:lnSpc>
            </a:pPr>
            <a:r>
              <a:rPr kumimoji="1" lang="zh-CN" altLang="en-US" i="0" dirty="0">
                <a:solidFill>
                  <a:srgbClr val="FF0000"/>
                </a:solidFill>
                <a:latin typeface="+mn-lt"/>
                <a:ea typeface="黑体" panose="02010609060101010101" pitchFamily="49" charset="-122"/>
              </a:rPr>
              <a:t>可以发现：</a:t>
            </a:r>
            <a:r>
              <a:rPr kumimoji="1" lang="zh-CN" altLang="en-US" i="0" dirty="0">
                <a:solidFill>
                  <a:schemeClr val="tx1"/>
                </a:solidFill>
                <a:latin typeface="+mn-lt"/>
                <a:ea typeface="黑体" panose="02010609060101010101" pitchFamily="49" charset="-122"/>
              </a:rPr>
              <a:t>在</a:t>
            </a:r>
            <a:r>
              <a:rPr kumimoji="1" lang="zh-CN" altLang="en-US" i="0" dirty="0">
                <a:latin typeface="+mn-lt"/>
                <a:ea typeface="黑体" panose="02010609060101010101" pitchFamily="49" charset="-122"/>
              </a:rPr>
              <a:t>集中力</a:t>
            </a:r>
            <a:r>
              <a:rPr kumimoji="1" lang="zh-CN" altLang="en-US" i="0" dirty="0">
                <a:solidFill>
                  <a:schemeClr val="tx1"/>
                </a:solidFill>
                <a:latin typeface="+mn-lt"/>
                <a:ea typeface="黑体" panose="02010609060101010101" pitchFamily="49" charset="-122"/>
              </a:rPr>
              <a:t>作用处，左右截面上</a:t>
            </a:r>
            <a:r>
              <a:rPr kumimoji="1" lang="zh-CN" altLang="en-US" i="0" dirty="0">
                <a:latin typeface="+mn-lt"/>
                <a:ea typeface="黑体" panose="02010609060101010101" pitchFamily="49" charset="-122"/>
              </a:rPr>
              <a:t>剪力发生突变，突变值</a:t>
            </a:r>
            <a:r>
              <a:rPr kumimoji="1" lang="zh-CN" altLang="en-US" i="0" dirty="0">
                <a:solidFill>
                  <a:schemeClr val="tx1"/>
                </a:solidFill>
                <a:latin typeface="+mn-lt"/>
                <a:ea typeface="黑体" panose="02010609060101010101" pitchFamily="49" charset="-122"/>
              </a:rPr>
              <a:t>为该</a:t>
            </a:r>
            <a:r>
              <a:rPr kumimoji="1" lang="zh-CN" altLang="en-US" i="0" dirty="0">
                <a:latin typeface="+mn-lt"/>
                <a:ea typeface="黑体" panose="02010609060101010101" pitchFamily="49" charset="-122"/>
              </a:rPr>
              <a:t>集中力的大小</a:t>
            </a:r>
            <a:r>
              <a:rPr kumimoji="1" lang="zh-CN" altLang="en-US" i="0" dirty="0">
                <a:solidFill>
                  <a:schemeClr val="tx1"/>
                </a:solidFill>
                <a:latin typeface="+mn-lt"/>
                <a:ea typeface="黑体" panose="02010609060101010101" pitchFamily="49" charset="-122"/>
              </a:rPr>
              <a:t>；而弯矩保持不变。</a:t>
            </a:r>
          </a:p>
        </p:txBody>
      </p:sp>
    </p:spTree>
    <p:extLst>
      <p:ext uri="{BB962C8B-B14F-4D97-AF65-F5344CB8AC3E}">
        <p14:creationId xmlns:p14="http://schemas.microsoft.com/office/powerpoint/2010/main" val="235633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6" grpId="0"/>
      <p:bldP spid="94" grpId="0" animBg="1"/>
      <p:bldP spid="164" grpId="0"/>
      <p:bldP spid="16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377756" y="1435057"/>
            <a:ext cx="4680520" cy="4829869"/>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3727935" y="881059"/>
            <a:ext cx="5955476"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弯矩、剪力与荷载集度之间的关系</a:t>
            </a:r>
          </a:p>
        </p:txBody>
      </p:sp>
      <p:sp>
        <p:nvSpPr>
          <p:cNvPr id="15" name="Text Box 1032"/>
          <p:cNvSpPr txBox="1">
            <a:spLocks noChangeArrowheads="1"/>
          </p:cNvSpPr>
          <p:nvPr/>
        </p:nvSpPr>
        <p:spPr bwMode="auto">
          <a:xfrm>
            <a:off x="436926" y="1393509"/>
            <a:ext cx="6693845" cy="486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j-lt"/>
                <a:ea typeface="微软雅黑" panose="020B0503020204020204" pitchFamily="34" charset="-122"/>
              </a:rPr>
              <a:t>研究表明，梁上截面上的弯矩、剪力和作用于该截面处的载荷集度之间存在一定的关系。设梁上作用着任意载荷，坐标原点选在梁的左端截面形心（即支座</a:t>
            </a:r>
            <a:r>
              <a:rPr kumimoji="1" lang="en-US" altLang="zh-CN" sz="2800" b="0" dirty="0">
                <a:latin typeface="+mj-lt"/>
                <a:ea typeface="微软雅黑" panose="020B0503020204020204" pitchFamily="34" charset="-122"/>
              </a:rPr>
              <a:t>A</a:t>
            </a:r>
            <a:r>
              <a:rPr kumimoji="1" lang="zh-CN" altLang="en-US" sz="2800" i="0" dirty="0">
                <a:latin typeface="+mj-lt"/>
                <a:ea typeface="微软雅黑" panose="020B0503020204020204" pitchFamily="34" charset="-122"/>
              </a:rPr>
              <a:t>处），</a:t>
            </a:r>
            <a:r>
              <a:rPr kumimoji="1" lang="en-US" altLang="zh-CN" sz="2800" b="0" dirty="0">
                <a:latin typeface="+mj-lt"/>
                <a:ea typeface="微软雅黑" panose="020B0503020204020204" pitchFamily="34" charset="-122"/>
              </a:rPr>
              <a:t>x </a:t>
            </a:r>
            <a:r>
              <a:rPr kumimoji="1" lang="zh-CN" altLang="en-US" sz="2800" i="0" dirty="0">
                <a:latin typeface="+mj-lt"/>
                <a:ea typeface="微软雅黑" panose="020B0503020204020204" pitchFamily="34" charset="-122"/>
              </a:rPr>
              <a:t>轴向右为正，分布载荷以向上为正 。</a:t>
            </a:r>
            <a:endParaRPr kumimoji="1" lang="en-US" altLang="zh-CN" sz="2800" i="0" dirty="0">
              <a:latin typeface="+mj-lt"/>
              <a:ea typeface="微软雅黑" panose="020B0503020204020204" pitchFamily="34" charset="-122"/>
            </a:endParaRPr>
          </a:p>
          <a:p>
            <a:pPr lvl="0">
              <a:lnSpc>
                <a:spcPct val="130000"/>
              </a:lnSpc>
            </a:pPr>
            <a:r>
              <a:rPr kumimoji="1" lang="zh-CN" altLang="en-US" sz="2800" i="0" dirty="0">
                <a:ea typeface="微软雅黑" panose="020B0503020204020204" pitchFamily="34" charset="-122"/>
              </a:rPr>
              <a:t>从</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截面处截取微段</a:t>
            </a:r>
            <a:r>
              <a:rPr kumimoji="1" lang="en-US" altLang="zh-CN" sz="2800" b="0" i="0" dirty="0">
                <a:ea typeface="微软雅黑" panose="020B0503020204020204" pitchFamily="34" charset="-122"/>
              </a:rPr>
              <a:t>d</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进行分析。</a:t>
            </a:r>
            <a:r>
              <a:rPr kumimoji="1" lang="en-US" altLang="zh-CN" sz="2800" b="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在</a:t>
            </a:r>
            <a:r>
              <a:rPr kumimoji="1" lang="en-US" altLang="zh-CN" sz="2800" b="0" i="0" dirty="0">
                <a:ea typeface="微软雅黑" panose="020B0503020204020204" pitchFamily="34" charset="-122"/>
              </a:rPr>
              <a:t>d</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微段上可看成均布的；左截面上作用有剪力</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和弯矩</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，右截面上作用有剪力</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en-US" altLang="zh-CN" sz="2800" b="0" i="0" dirty="0" err="1">
                <a:ea typeface="微软雅黑" panose="020B0503020204020204" pitchFamily="34" charset="-122"/>
              </a:rPr>
              <a:t>d</a:t>
            </a:r>
            <a:r>
              <a:rPr kumimoji="1" lang="en-US" altLang="zh-CN" sz="2800" b="0" dirty="0" err="1">
                <a:ea typeface="微软雅黑" panose="020B0503020204020204" pitchFamily="34" charset="-122"/>
              </a:rPr>
              <a:t>F</a:t>
            </a:r>
            <a:r>
              <a:rPr kumimoji="1" lang="en-US" altLang="zh-CN" sz="2800" b="0" i="0" baseline="-25000" dirty="0" err="1">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和弯矩</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en-US" altLang="zh-CN" sz="2800" b="0" i="0" dirty="0" err="1">
                <a:ea typeface="微软雅黑" panose="020B0503020204020204" pitchFamily="34" charset="-122"/>
              </a:rPr>
              <a:t>d</a:t>
            </a:r>
            <a:r>
              <a:rPr kumimoji="1" lang="en-US" altLang="zh-CN" sz="2800" b="0" dirty="0" err="1">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a:t>
            </a:r>
            <a:endParaRPr lang="zh-CN" altLang="en-US" sz="2800" i="0" dirty="0">
              <a:latin typeface="+mj-lt"/>
              <a:ea typeface="微软雅黑" panose="020B0503020204020204" pitchFamily="34" charset="-122"/>
            </a:endParaRPr>
          </a:p>
        </p:txBody>
      </p:sp>
      <p:sp>
        <p:nvSpPr>
          <p:cNvPr id="48" name="Text Box 4">
            <a:extLst>
              <a:ext uri="{FF2B5EF4-FFF2-40B4-BE49-F238E27FC236}">
                <a16:creationId xmlns:a16="http://schemas.microsoft.com/office/drawing/2014/main" id="{CB050D47-D455-D11B-73CA-B8FDE70B6077}"/>
              </a:ext>
            </a:extLst>
          </p:cNvPr>
          <p:cNvSpPr txBox="1">
            <a:spLocks noChangeAspect="1" noChangeArrowheads="1"/>
          </p:cNvSpPr>
          <p:nvPr/>
        </p:nvSpPr>
        <p:spPr bwMode="auto">
          <a:xfrm flipH="1">
            <a:off x="8966175" y="290337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ea typeface="宋体" panose="02010600030101010101" pitchFamily="2" charset="-122"/>
              </a:rPr>
              <a:t>d</a:t>
            </a:r>
            <a:r>
              <a:rPr lang="en-US" altLang="zh-CN" b="0" i="1" dirty="0">
                <a:ea typeface="宋体" panose="02010600030101010101" pitchFamily="2" charset="-122"/>
              </a:rPr>
              <a:t>x</a:t>
            </a:r>
          </a:p>
        </p:txBody>
      </p:sp>
      <p:grpSp>
        <p:nvGrpSpPr>
          <p:cNvPr id="49" name="Group 5">
            <a:extLst>
              <a:ext uri="{FF2B5EF4-FFF2-40B4-BE49-F238E27FC236}">
                <a16:creationId xmlns:a16="http://schemas.microsoft.com/office/drawing/2014/main" id="{9F3C5067-2DFA-A3A5-1722-8027DE467FBA}"/>
              </a:ext>
            </a:extLst>
          </p:cNvPr>
          <p:cNvGrpSpPr>
            <a:grpSpLocks/>
          </p:cNvGrpSpPr>
          <p:nvPr/>
        </p:nvGrpSpPr>
        <p:grpSpPr bwMode="auto">
          <a:xfrm>
            <a:off x="9088412" y="3158965"/>
            <a:ext cx="365125" cy="233363"/>
            <a:chOff x="1278" y="3602"/>
            <a:chExt cx="230" cy="147"/>
          </a:xfrm>
        </p:grpSpPr>
        <p:sp>
          <p:nvSpPr>
            <p:cNvPr id="50" name="Line 6">
              <a:extLst>
                <a:ext uri="{FF2B5EF4-FFF2-40B4-BE49-F238E27FC236}">
                  <a16:creationId xmlns:a16="http://schemas.microsoft.com/office/drawing/2014/main" id="{FE378CB5-943D-9B3A-7A91-0D01E26A3531}"/>
                </a:ext>
              </a:extLst>
            </p:cNvPr>
            <p:cNvSpPr>
              <a:spLocks noChangeAspect="1" noChangeShapeType="1"/>
            </p:cNvSpPr>
            <p:nvPr/>
          </p:nvSpPr>
          <p:spPr bwMode="auto">
            <a:xfrm flipH="1">
              <a:off x="1508" y="3602"/>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7">
              <a:extLst>
                <a:ext uri="{FF2B5EF4-FFF2-40B4-BE49-F238E27FC236}">
                  <a16:creationId xmlns:a16="http://schemas.microsoft.com/office/drawing/2014/main" id="{D29F19B6-EF18-23C3-DBEA-6953C9A00F99}"/>
                </a:ext>
              </a:extLst>
            </p:cNvPr>
            <p:cNvSpPr>
              <a:spLocks noChangeAspect="1" noChangeShapeType="1"/>
            </p:cNvSpPr>
            <p:nvPr/>
          </p:nvSpPr>
          <p:spPr bwMode="auto">
            <a:xfrm flipH="1">
              <a:off x="1278" y="3691"/>
              <a:ext cx="221"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2" name="Group 8">
            <a:extLst>
              <a:ext uri="{FF2B5EF4-FFF2-40B4-BE49-F238E27FC236}">
                <a16:creationId xmlns:a16="http://schemas.microsoft.com/office/drawing/2014/main" id="{52CD634A-5FE1-F3EE-01D7-01CB05CD22DA}"/>
              </a:ext>
            </a:extLst>
          </p:cNvPr>
          <p:cNvGrpSpPr>
            <a:grpSpLocks/>
          </p:cNvGrpSpPr>
          <p:nvPr/>
        </p:nvGrpSpPr>
        <p:grpSpPr bwMode="auto">
          <a:xfrm>
            <a:off x="7896200" y="1341278"/>
            <a:ext cx="3884612" cy="2425700"/>
            <a:chOff x="527" y="2457"/>
            <a:chExt cx="2447" cy="1528"/>
          </a:xfrm>
        </p:grpSpPr>
        <p:grpSp>
          <p:nvGrpSpPr>
            <p:cNvPr id="54" name="Group 9">
              <a:extLst>
                <a:ext uri="{FF2B5EF4-FFF2-40B4-BE49-F238E27FC236}">
                  <a16:creationId xmlns:a16="http://schemas.microsoft.com/office/drawing/2014/main" id="{D38BD220-555E-A61A-6DC3-CDA0D52B230A}"/>
                </a:ext>
              </a:extLst>
            </p:cNvPr>
            <p:cNvGrpSpPr>
              <a:grpSpLocks/>
            </p:cNvGrpSpPr>
            <p:nvPr/>
          </p:nvGrpSpPr>
          <p:grpSpPr bwMode="auto">
            <a:xfrm>
              <a:off x="883" y="2565"/>
              <a:ext cx="722" cy="650"/>
              <a:chOff x="1032" y="2321"/>
              <a:chExt cx="722" cy="650"/>
            </a:xfrm>
          </p:grpSpPr>
          <p:sp>
            <p:nvSpPr>
              <p:cNvPr id="220" name="Text Box 10">
                <a:extLst>
                  <a:ext uri="{FF2B5EF4-FFF2-40B4-BE49-F238E27FC236}">
                    <a16:creationId xmlns:a16="http://schemas.microsoft.com/office/drawing/2014/main" id="{CB46CA78-1BCD-5EF9-8118-2140DD0F1F8E}"/>
                  </a:ext>
                </a:extLst>
              </p:cNvPr>
              <p:cNvSpPr txBox="1">
                <a:spLocks noChangeAspect="1" noChangeArrowheads="1"/>
              </p:cNvSpPr>
              <p:nvPr/>
            </p:nvSpPr>
            <p:spPr bwMode="auto">
              <a:xfrm>
                <a:off x="1192" y="2321"/>
                <a:ext cx="55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sp>
            <p:nvSpPr>
              <p:cNvPr id="221" name="Line 11">
                <a:extLst>
                  <a:ext uri="{FF2B5EF4-FFF2-40B4-BE49-F238E27FC236}">
                    <a16:creationId xmlns:a16="http://schemas.microsoft.com/office/drawing/2014/main" id="{C6494C4B-D87F-C4CB-F37C-749A153B1FA5}"/>
                  </a:ext>
                </a:extLst>
              </p:cNvPr>
              <p:cNvSpPr>
                <a:spLocks noChangeAspect="1" noChangeShapeType="1"/>
              </p:cNvSpPr>
              <p:nvPr/>
            </p:nvSpPr>
            <p:spPr bwMode="auto">
              <a:xfrm flipV="1">
                <a:off x="1508" y="2659"/>
                <a:ext cx="0" cy="301"/>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2" name="Line 12">
                <a:extLst>
                  <a:ext uri="{FF2B5EF4-FFF2-40B4-BE49-F238E27FC236}">
                    <a16:creationId xmlns:a16="http://schemas.microsoft.com/office/drawing/2014/main" id="{9F468FF9-F334-3052-049D-FE659E8A7256}"/>
                  </a:ext>
                </a:extLst>
              </p:cNvPr>
              <p:cNvSpPr>
                <a:spLocks noChangeAspect="1" noChangeShapeType="1"/>
              </p:cNvSpPr>
              <p:nvPr/>
            </p:nvSpPr>
            <p:spPr bwMode="auto">
              <a:xfrm flipV="1">
                <a:off x="1628" y="2594"/>
                <a:ext cx="0" cy="3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3" name="Line 13">
                <a:extLst>
                  <a:ext uri="{FF2B5EF4-FFF2-40B4-BE49-F238E27FC236}">
                    <a16:creationId xmlns:a16="http://schemas.microsoft.com/office/drawing/2014/main" id="{4454FECC-9176-E900-37E6-07A63A8B13CF}"/>
                  </a:ext>
                </a:extLst>
              </p:cNvPr>
              <p:cNvSpPr>
                <a:spLocks noChangeAspect="1" noChangeShapeType="1"/>
              </p:cNvSpPr>
              <p:nvPr/>
            </p:nvSpPr>
            <p:spPr bwMode="auto">
              <a:xfrm flipV="1">
                <a:off x="1747" y="2629"/>
                <a:ext cx="0" cy="33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4" name="Line 14">
                <a:extLst>
                  <a:ext uri="{FF2B5EF4-FFF2-40B4-BE49-F238E27FC236}">
                    <a16:creationId xmlns:a16="http://schemas.microsoft.com/office/drawing/2014/main" id="{408F0D53-F675-084E-B671-0B35EAFEED15}"/>
                  </a:ext>
                </a:extLst>
              </p:cNvPr>
              <p:cNvSpPr>
                <a:spLocks noChangeAspect="1" noChangeShapeType="1"/>
              </p:cNvSpPr>
              <p:nvPr/>
            </p:nvSpPr>
            <p:spPr bwMode="auto">
              <a:xfrm flipV="1">
                <a:off x="1032" y="2733"/>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5" name="Line 15">
                <a:extLst>
                  <a:ext uri="{FF2B5EF4-FFF2-40B4-BE49-F238E27FC236}">
                    <a16:creationId xmlns:a16="http://schemas.microsoft.com/office/drawing/2014/main" id="{4109BECE-F79B-0316-605A-BB5722C1F2F5}"/>
                  </a:ext>
                </a:extLst>
              </p:cNvPr>
              <p:cNvSpPr>
                <a:spLocks noChangeAspect="1" noChangeShapeType="1"/>
              </p:cNvSpPr>
              <p:nvPr/>
            </p:nvSpPr>
            <p:spPr bwMode="auto">
              <a:xfrm flipV="1">
                <a:off x="1152" y="2664"/>
                <a:ext cx="0" cy="29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6" name="Line 16">
                <a:extLst>
                  <a:ext uri="{FF2B5EF4-FFF2-40B4-BE49-F238E27FC236}">
                    <a16:creationId xmlns:a16="http://schemas.microsoft.com/office/drawing/2014/main" id="{949BF14A-DDBD-2E11-4528-D14BF138F25C}"/>
                  </a:ext>
                </a:extLst>
              </p:cNvPr>
              <p:cNvSpPr>
                <a:spLocks noChangeAspect="1" noChangeShapeType="1"/>
              </p:cNvSpPr>
              <p:nvPr/>
            </p:nvSpPr>
            <p:spPr bwMode="auto">
              <a:xfrm flipV="1">
                <a:off x="1273" y="2647"/>
                <a:ext cx="0" cy="31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7" name="Line 17">
                <a:extLst>
                  <a:ext uri="{FF2B5EF4-FFF2-40B4-BE49-F238E27FC236}">
                    <a16:creationId xmlns:a16="http://schemas.microsoft.com/office/drawing/2014/main" id="{CA5659C9-5E9F-38C0-CF47-132C8182447B}"/>
                  </a:ext>
                </a:extLst>
              </p:cNvPr>
              <p:cNvSpPr>
                <a:spLocks noChangeAspect="1" noChangeShapeType="1"/>
              </p:cNvSpPr>
              <p:nvPr/>
            </p:nvSpPr>
            <p:spPr bwMode="auto">
              <a:xfrm flipV="1">
                <a:off x="1393" y="2699"/>
                <a:ext cx="1" cy="2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8" name="Freeform 18">
                <a:extLst>
                  <a:ext uri="{FF2B5EF4-FFF2-40B4-BE49-F238E27FC236}">
                    <a16:creationId xmlns:a16="http://schemas.microsoft.com/office/drawing/2014/main" id="{082CE94A-DC75-534B-1C67-B698E253230B}"/>
                  </a:ext>
                </a:extLst>
              </p:cNvPr>
              <p:cNvSpPr>
                <a:spLocks/>
              </p:cNvSpPr>
              <p:nvPr/>
            </p:nvSpPr>
            <p:spPr bwMode="auto">
              <a:xfrm>
                <a:off x="1032" y="2597"/>
                <a:ext cx="722" cy="137"/>
              </a:xfrm>
              <a:custGeom>
                <a:avLst/>
                <a:gdLst>
                  <a:gd name="T0" fmla="*/ 0 w 722"/>
                  <a:gd name="T1" fmla="*/ 137 h 137"/>
                  <a:gd name="T2" fmla="*/ 189 w 722"/>
                  <a:gd name="T3" fmla="*/ 59 h 137"/>
                  <a:gd name="T4" fmla="*/ 369 w 722"/>
                  <a:gd name="T5" fmla="*/ 102 h 137"/>
                  <a:gd name="T6" fmla="*/ 601 w 722"/>
                  <a:gd name="T7" fmla="*/ 8 h 137"/>
                  <a:gd name="T8" fmla="*/ 722 w 722"/>
                  <a:gd name="T9" fmla="*/ 51 h 137"/>
                  <a:gd name="T10" fmla="*/ 0 60000 65536"/>
                  <a:gd name="T11" fmla="*/ 0 60000 65536"/>
                  <a:gd name="T12" fmla="*/ 0 60000 65536"/>
                  <a:gd name="T13" fmla="*/ 0 60000 65536"/>
                  <a:gd name="T14" fmla="*/ 0 60000 65536"/>
                  <a:gd name="T15" fmla="*/ 0 w 722"/>
                  <a:gd name="T16" fmla="*/ 0 h 137"/>
                  <a:gd name="T17" fmla="*/ 722 w 722"/>
                  <a:gd name="T18" fmla="*/ 137 h 137"/>
                </a:gdLst>
                <a:ahLst/>
                <a:cxnLst>
                  <a:cxn ang="T10">
                    <a:pos x="T0" y="T1"/>
                  </a:cxn>
                  <a:cxn ang="T11">
                    <a:pos x="T2" y="T3"/>
                  </a:cxn>
                  <a:cxn ang="T12">
                    <a:pos x="T4" y="T5"/>
                  </a:cxn>
                  <a:cxn ang="T13">
                    <a:pos x="T6" y="T7"/>
                  </a:cxn>
                  <a:cxn ang="T14">
                    <a:pos x="T8" y="T9"/>
                  </a:cxn>
                </a:cxnLst>
                <a:rect l="T15" t="T16" r="T17" b="T18"/>
                <a:pathLst>
                  <a:path w="722" h="137">
                    <a:moveTo>
                      <a:pt x="0" y="137"/>
                    </a:moveTo>
                    <a:cubicBezTo>
                      <a:pt x="64" y="101"/>
                      <a:pt x="128" y="65"/>
                      <a:pt x="189" y="59"/>
                    </a:cubicBezTo>
                    <a:cubicBezTo>
                      <a:pt x="250" y="53"/>
                      <a:pt x="300" y="110"/>
                      <a:pt x="369" y="102"/>
                    </a:cubicBezTo>
                    <a:cubicBezTo>
                      <a:pt x="438" y="94"/>
                      <a:pt x="542" y="16"/>
                      <a:pt x="601" y="8"/>
                    </a:cubicBezTo>
                    <a:cubicBezTo>
                      <a:pt x="660" y="0"/>
                      <a:pt x="703" y="44"/>
                      <a:pt x="722" y="51"/>
                    </a:cubicBezTo>
                  </a:path>
                </a:pathLst>
              </a:custGeom>
              <a:noFill/>
              <a:ln w="952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 name="Text Box 19">
              <a:extLst>
                <a:ext uri="{FF2B5EF4-FFF2-40B4-BE49-F238E27FC236}">
                  <a16:creationId xmlns:a16="http://schemas.microsoft.com/office/drawing/2014/main" id="{C8B14173-1E69-681F-C738-E465DF41A477}"/>
                </a:ext>
              </a:extLst>
            </p:cNvPr>
            <p:cNvSpPr txBox="1">
              <a:spLocks noChangeAspect="1" noChangeArrowheads="1"/>
            </p:cNvSpPr>
            <p:nvPr/>
          </p:nvSpPr>
          <p:spPr bwMode="auto">
            <a:xfrm flipH="1">
              <a:off x="1476" y="361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ea typeface="宋体" panose="02010600030101010101" pitchFamily="2" charset="-122"/>
                </a:rPr>
                <a:t>l</a:t>
              </a:r>
            </a:p>
          </p:txBody>
        </p:sp>
        <p:sp>
          <p:nvSpPr>
            <p:cNvPr id="56" name="Text Box 20">
              <a:extLst>
                <a:ext uri="{FF2B5EF4-FFF2-40B4-BE49-F238E27FC236}">
                  <a16:creationId xmlns:a16="http://schemas.microsoft.com/office/drawing/2014/main" id="{B46BD4C4-0C24-E21C-ED9D-1A1E9DEE59B5}"/>
                </a:ext>
              </a:extLst>
            </p:cNvPr>
            <p:cNvSpPr txBox="1">
              <a:spLocks noChangeAspect="1" noChangeArrowheads="1"/>
            </p:cNvSpPr>
            <p:nvPr/>
          </p:nvSpPr>
          <p:spPr bwMode="auto">
            <a:xfrm>
              <a:off x="527" y="306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A</a:t>
              </a:r>
            </a:p>
          </p:txBody>
        </p:sp>
        <p:sp>
          <p:nvSpPr>
            <p:cNvPr id="57" name="Text Box 21">
              <a:extLst>
                <a:ext uri="{FF2B5EF4-FFF2-40B4-BE49-F238E27FC236}">
                  <a16:creationId xmlns:a16="http://schemas.microsoft.com/office/drawing/2014/main" id="{34234455-E77B-AF83-87FE-4C350D2A6341}"/>
                </a:ext>
              </a:extLst>
            </p:cNvPr>
            <p:cNvSpPr txBox="1">
              <a:spLocks noChangeAspect="1" noChangeArrowheads="1"/>
            </p:cNvSpPr>
            <p:nvPr/>
          </p:nvSpPr>
          <p:spPr bwMode="auto">
            <a:xfrm>
              <a:off x="2411" y="3088"/>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B</a:t>
              </a:r>
              <a:r>
                <a:rPr lang="en-US" altLang="zh-CN" i="1" dirty="0">
                  <a:ea typeface="宋体" panose="02010600030101010101" pitchFamily="2" charset="-122"/>
                </a:rPr>
                <a:t>   </a:t>
              </a:r>
            </a:p>
          </p:txBody>
        </p:sp>
        <p:sp>
          <p:nvSpPr>
            <p:cNvPr id="58" name="Line 22">
              <a:extLst>
                <a:ext uri="{FF2B5EF4-FFF2-40B4-BE49-F238E27FC236}">
                  <a16:creationId xmlns:a16="http://schemas.microsoft.com/office/drawing/2014/main" id="{2015F06F-D8B0-A391-70B7-11106CC1656F}"/>
                </a:ext>
              </a:extLst>
            </p:cNvPr>
            <p:cNvSpPr>
              <a:spLocks noChangeAspect="1" noChangeShapeType="1"/>
            </p:cNvSpPr>
            <p:nvPr/>
          </p:nvSpPr>
          <p:spPr bwMode="auto">
            <a:xfrm flipH="1">
              <a:off x="763" y="3581"/>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3">
              <a:extLst>
                <a:ext uri="{FF2B5EF4-FFF2-40B4-BE49-F238E27FC236}">
                  <a16:creationId xmlns:a16="http://schemas.microsoft.com/office/drawing/2014/main" id="{BFE08FDC-5531-F3DD-94CD-4456597D7A52}"/>
                </a:ext>
              </a:extLst>
            </p:cNvPr>
            <p:cNvSpPr>
              <a:spLocks noChangeAspect="1" noChangeShapeType="1"/>
            </p:cNvSpPr>
            <p:nvPr/>
          </p:nvSpPr>
          <p:spPr bwMode="auto">
            <a:xfrm flipH="1">
              <a:off x="763" y="3872"/>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60" name="Line 24">
              <a:extLst>
                <a:ext uri="{FF2B5EF4-FFF2-40B4-BE49-F238E27FC236}">
                  <a16:creationId xmlns:a16="http://schemas.microsoft.com/office/drawing/2014/main" id="{395CDC66-D172-6CE4-8627-3F9D460D84AE}"/>
                </a:ext>
              </a:extLst>
            </p:cNvPr>
            <p:cNvSpPr>
              <a:spLocks noChangeAspect="1" noChangeShapeType="1"/>
            </p:cNvSpPr>
            <p:nvPr/>
          </p:nvSpPr>
          <p:spPr bwMode="auto">
            <a:xfrm flipH="1">
              <a:off x="2428" y="3614"/>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Freeform 25">
              <a:extLst>
                <a:ext uri="{FF2B5EF4-FFF2-40B4-BE49-F238E27FC236}">
                  <a16:creationId xmlns:a16="http://schemas.microsoft.com/office/drawing/2014/main" id="{C683B8AF-D77A-1FBC-F3D6-9CCB379F49F0}"/>
                </a:ext>
              </a:extLst>
            </p:cNvPr>
            <p:cNvSpPr>
              <a:spLocks noChangeAspect="1"/>
            </p:cNvSpPr>
            <p:nvPr/>
          </p:nvSpPr>
          <p:spPr bwMode="auto">
            <a:xfrm>
              <a:off x="786" y="3224"/>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 name="Group 26">
              <a:extLst>
                <a:ext uri="{FF2B5EF4-FFF2-40B4-BE49-F238E27FC236}">
                  <a16:creationId xmlns:a16="http://schemas.microsoft.com/office/drawing/2014/main" id="{455A4AC1-5F2C-B81D-F583-EB09D9190986}"/>
                </a:ext>
              </a:extLst>
            </p:cNvPr>
            <p:cNvGrpSpPr>
              <a:grpSpLocks/>
            </p:cNvGrpSpPr>
            <p:nvPr/>
          </p:nvGrpSpPr>
          <p:grpSpPr bwMode="auto">
            <a:xfrm>
              <a:off x="607" y="3194"/>
              <a:ext cx="313" cy="330"/>
              <a:chOff x="1686" y="3521"/>
              <a:chExt cx="313" cy="330"/>
            </a:xfrm>
          </p:grpSpPr>
          <p:sp>
            <p:nvSpPr>
              <p:cNvPr id="216" name="AutoShape 27">
                <a:extLst>
                  <a:ext uri="{FF2B5EF4-FFF2-40B4-BE49-F238E27FC236}">
                    <a16:creationId xmlns:a16="http://schemas.microsoft.com/office/drawing/2014/main" id="{D6F54226-A1BF-6442-25B3-ED9FA6EF1242}"/>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7" name="Rectangle 28" descr="宽上对角线">
                <a:extLst>
                  <a:ext uri="{FF2B5EF4-FFF2-40B4-BE49-F238E27FC236}">
                    <a16:creationId xmlns:a16="http://schemas.microsoft.com/office/drawing/2014/main" id="{158B5D7E-B421-BE32-AF57-6D8ADF46482A}"/>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8" name="Line 29">
                <a:extLst>
                  <a:ext uri="{FF2B5EF4-FFF2-40B4-BE49-F238E27FC236}">
                    <a16:creationId xmlns:a16="http://schemas.microsoft.com/office/drawing/2014/main" id="{2DDFF42C-714B-0B66-A78A-3755543507EE}"/>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Oval 30">
                <a:extLst>
                  <a:ext uri="{FF2B5EF4-FFF2-40B4-BE49-F238E27FC236}">
                    <a16:creationId xmlns:a16="http://schemas.microsoft.com/office/drawing/2014/main" id="{5D37247E-FE2F-6E1A-7C51-04CDD1B30B10}"/>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grpSp>
          <p:nvGrpSpPr>
            <p:cNvPr id="63" name="Group 31">
              <a:extLst>
                <a:ext uri="{FF2B5EF4-FFF2-40B4-BE49-F238E27FC236}">
                  <a16:creationId xmlns:a16="http://schemas.microsoft.com/office/drawing/2014/main" id="{18BC668D-97C5-5BE2-0036-C103101BFD35}"/>
                </a:ext>
              </a:extLst>
            </p:cNvPr>
            <p:cNvGrpSpPr>
              <a:grpSpLocks/>
            </p:cNvGrpSpPr>
            <p:nvPr/>
          </p:nvGrpSpPr>
          <p:grpSpPr bwMode="auto">
            <a:xfrm>
              <a:off x="2272" y="3193"/>
              <a:ext cx="311" cy="358"/>
              <a:chOff x="3499" y="3511"/>
              <a:chExt cx="311" cy="358"/>
            </a:xfrm>
          </p:grpSpPr>
          <p:sp>
            <p:nvSpPr>
              <p:cNvPr id="211" name="Line 32">
                <a:extLst>
                  <a:ext uri="{FF2B5EF4-FFF2-40B4-BE49-F238E27FC236}">
                    <a16:creationId xmlns:a16="http://schemas.microsoft.com/office/drawing/2014/main" id="{B69F7629-527F-859B-0C5A-DBB56EA0DE89}"/>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Rectangle 33" descr="宽上对角线">
                <a:extLst>
                  <a:ext uri="{FF2B5EF4-FFF2-40B4-BE49-F238E27FC236}">
                    <a16:creationId xmlns:a16="http://schemas.microsoft.com/office/drawing/2014/main" id="{7803131D-9CA3-10F5-AC69-92BB33121B39}"/>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3" name="Line 34">
                <a:extLst>
                  <a:ext uri="{FF2B5EF4-FFF2-40B4-BE49-F238E27FC236}">
                    <a16:creationId xmlns:a16="http://schemas.microsoft.com/office/drawing/2014/main" id="{0837EA39-A02E-5435-90D4-C20FC9A87D1F}"/>
                  </a:ext>
                </a:extLst>
              </p:cNvPr>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Oval 35">
                <a:extLst>
                  <a:ext uri="{FF2B5EF4-FFF2-40B4-BE49-F238E27FC236}">
                    <a16:creationId xmlns:a16="http://schemas.microsoft.com/office/drawing/2014/main" id="{A112812C-9BA0-BA45-05A0-595CCFEF9BB5}"/>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5" name="Oval 36">
                <a:extLst>
                  <a:ext uri="{FF2B5EF4-FFF2-40B4-BE49-F238E27FC236}">
                    <a16:creationId xmlns:a16="http://schemas.microsoft.com/office/drawing/2014/main" id="{12561671-810C-B34F-65C3-BB87C194CE27}"/>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197" name="Text Box 37">
              <a:extLst>
                <a:ext uri="{FF2B5EF4-FFF2-40B4-BE49-F238E27FC236}">
                  <a16:creationId xmlns:a16="http://schemas.microsoft.com/office/drawing/2014/main" id="{95623BF7-B7D8-44F1-DAD6-19C0E151A6E2}"/>
                </a:ext>
              </a:extLst>
            </p:cNvPr>
            <p:cNvSpPr txBox="1">
              <a:spLocks noChangeAspect="1" noChangeArrowheads="1"/>
            </p:cNvSpPr>
            <p:nvPr/>
          </p:nvSpPr>
          <p:spPr bwMode="auto">
            <a:xfrm flipH="1">
              <a:off x="927" y="3447"/>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i="1" dirty="0">
                  <a:ea typeface="宋体" panose="02010600030101010101" pitchFamily="2" charset="-122"/>
                </a:rPr>
                <a:t> </a:t>
              </a:r>
              <a:r>
                <a:rPr lang="en-US" altLang="zh-CN" b="0" i="1" dirty="0">
                  <a:ea typeface="宋体" panose="02010600030101010101" pitchFamily="2" charset="-122"/>
                </a:rPr>
                <a:t>x</a:t>
              </a:r>
            </a:p>
          </p:txBody>
        </p:sp>
        <p:sp>
          <p:nvSpPr>
            <p:cNvPr id="198" name="Line 38">
              <a:extLst>
                <a:ext uri="{FF2B5EF4-FFF2-40B4-BE49-F238E27FC236}">
                  <a16:creationId xmlns:a16="http://schemas.microsoft.com/office/drawing/2014/main" id="{5B58F4BF-F75F-5B33-387C-1459AF44BFF6}"/>
                </a:ext>
              </a:extLst>
            </p:cNvPr>
            <p:cNvSpPr>
              <a:spLocks noChangeAspect="1" noChangeShapeType="1"/>
            </p:cNvSpPr>
            <p:nvPr/>
          </p:nvSpPr>
          <p:spPr bwMode="auto">
            <a:xfrm flipH="1">
              <a:off x="1291" y="36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39">
              <a:extLst>
                <a:ext uri="{FF2B5EF4-FFF2-40B4-BE49-F238E27FC236}">
                  <a16:creationId xmlns:a16="http://schemas.microsoft.com/office/drawing/2014/main" id="{AEDE2ECA-180D-DC18-06C3-8D13734456C7}"/>
                </a:ext>
              </a:extLst>
            </p:cNvPr>
            <p:cNvSpPr>
              <a:spLocks noChangeAspect="1" noChangeShapeType="1"/>
            </p:cNvSpPr>
            <p:nvPr/>
          </p:nvSpPr>
          <p:spPr bwMode="auto">
            <a:xfrm flipH="1">
              <a:off x="747" y="3690"/>
              <a:ext cx="55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0" name="Text Box 40">
              <a:extLst>
                <a:ext uri="{FF2B5EF4-FFF2-40B4-BE49-F238E27FC236}">
                  <a16:creationId xmlns:a16="http://schemas.microsoft.com/office/drawing/2014/main" id="{3870A47A-582A-8E67-576D-1FC8A67D3A2A}"/>
                </a:ext>
              </a:extLst>
            </p:cNvPr>
            <p:cNvSpPr txBox="1">
              <a:spLocks noChangeAspect="1" noChangeArrowheads="1"/>
            </p:cNvSpPr>
            <p:nvPr/>
          </p:nvSpPr>
          <p:spPr bwMode="auto">
            <a:xfrm>
              <a:off x="1851" y="2478"/>
              <a:ext cx="33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i="1" baseline="-25000" dirty="0">
                <a:solidFill>
                  <a:srgbClr val="FF0000"/>
                </a:solidFill>
                <a:ea typeface="宋体" panose="02010600030101010101" pitchFamily="2" charset="-122"/>
              </a:endParaRPr>
            </a:p>
          </p:txBody>
        </p:sp>
        <p:sp>
          <p:nvSpPr>
            <p:cNvPr id="201" name="Line 41">
              <a:extLst>
                <a:ext uri="{FF2B5EF4-FFF2-40B4-BE49-F238E27FC236}">
                  <a16:creationId xmlns:a16="http://schemas.microsoft.com/office/drawing/2014/main" id="{7DCE8A73-DBC2-F641-5E0B-C557CE5AD92C}"/>
                </a:ext>
              </a:extLst>
            </p:cNvPr>
            <p:cNvSpPr>
              <a:spLocks noChangeAspect="1" noChangeShapeType="1"/>
            </p:cNvSpPr>
            <p:nvPr/>
          </p:nvSpPr>
          <p:spPr bwMode="auto">
            <a:xfrm>
              <a:off x="1860" y="2679"/>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02" name="Group 42">
              <a:extLst>
                <a:ext uri="{FF2B5EF4-FFF2-40B4-BE49-F238E27FC236}">
                  <a16:creationId xmlns:a16="http://schemas.microsoft.com/office/drawing/2014/main" id="{AE758F40-8639-3B49-908A-F2D96D1B2048}"/>
                </a:ext>
              </a:extLst>
            </p:cNvPr>
            <p:cNvGrpSpPr>
              <a:grpSpLocks/>
            </p:cNvGrpSpPr>
            <p:nvPr/>
          </p:nvGrpSpPr>
          <p:grpSpPr bwMode="auto">
            <a:xfrm>
              <a:off x="1943" y="2917"/>
              <a:ext cx="320" cy="542"/>
              <a:chOff x="4382" y="268"/>
              <a:chExt cx="320" cy="542"/>
            </a:xfrm>
          </p:grpSpPr>
          <p:sp>
            <p:nvSpPr>
              <p:cNvPr id="208" name="Line 43">
                <a:extLst>
                  <a:ext uri="{FF2B5EF4-FFF2-40B4-BE49-F238E27FC236}">
                    <a16:creationId xmlns:a16="http://schemas.microsoft.com/office/drawing/2014/main" id="{95CAA39C-957F-DEC5-9271-DCA3DC2A976A}"/>
                  </a:ext>
                </a:extLst>
              </p:cNvPr>
              <p:cNvSpPr>
                <a:spLocks noChangeAspect="1" noChangeShapeType="1"/>
              </p:cNvSpPr>
              <p:nvPr/>
            </p:nvSpPr>
            <p:spPr bwMode="auto">
              <a:xfrm>
                <a:off x="4541" y="268"/>
                <a:ext cx="0" cy="54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44">
                <a:extLst>
                  <a:ext uri="{FF2B5EF4-FFF2-40B4-BE49-F238E27FC236}">
                    <a16:creationId xmlns:a16="http://schemas.microsoft.com/office/drawing/2014/main" id="{62C3A60A-1DC2-EF61-B156-4EA0B285FEEB}"/>
                  </a:ext>
                </a:extLst>
              </p:cNvPr>
              <p:cNvSpPr>
                <a:spLocks noChangeAspect="1" noChangeShapeType="1"/>
              </p:cNvSpPr>
              <p:nvPr/>
            </p:nvSpPr>
            <p:spPr bwMode="auto">
              <a:xfrm flipH="1">
                <a:off x="4382" y="271"/>
                <a:ext cx="159"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0" name="Line 45">
                <a:extLst>
                  <a:ext uri="{FF2B5EF4-FFF2-40B4-BE49-F238E27FC236}">
                    <a16:creationId xmlns:a16="http://schemas.microsoft.com/office/drawing/2014/main" id="{6459E89F-CE25-930A-6AE3-C918A59BE619}"/>
                  </a:ext>
                </a:extLst>
              </p:cNvPr>
              <p:cNvSpPr>
                <a:spLocks noChangeAspect="1" noChangeShapeType="1"/>
              </p:cNvSpPr>
              <p:nvPr/>
            </p:nvSpPr>
            <p:spPr bwMode="auto">
              <a:xfrm>
                <a:off x="4541" y="810"/>
                <a:ext cx="161"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203" name="Text Box 46">
              <a:extLst>
                <a:ext uri="{FF2B5EF4-FFF2-40B4-BE49-F238E27FC236}">
                  <a16:creationId xmlns:a16="http://schemas.microsoft.com/office/drawing/2014/main" id="{C9EBB599-5ABA-7644-80EB-4CED56948B2B}"/>
                </a:ext>
              </a:extLst>
            </p:cNvPr>
            <p:cNvSpPr txBox="1">
              <a:spLocks noChangeAspect="1" noChangeArrowheads="1"/>
            </p:cNvSpPr>
            <p:nvPr/>
          </p:nvSpPr>
          <p:spPr bwMode="auto">
            <a:xfrm>
              <a:off x="2000" y="2683"/>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endParaRPr lang="en-US" altLang="zh-CN" b="0" dirty="0">
                <a:solidFill>
                  <a:srgbClr val="FF0000"/>
                </a:solidFill>
                <a:ea typeface="宋体" panose="02010600030101010101" pitchFamily="2" charset="-122"/>
              </a:endParaRPr>
            </a:p>
          </p:txBody>
        </p:sp>
        <p:sp>
          <p:nvSpPr>
            <p:cNvPr id="204" name="Text Box 47">
              <a:extLst>
                <a:ext uri="{FF2B5EF4-FFF2-40B4-BE49-F238E27FC236}">
                  <a16:creationId xmlns:a16="http://schemas.microsoft.com/office/drawing/2014/main" id="{22F2E806-3DDC-89F0-9C2D-B804704B7E59}"/>
                </a:ext>
              </a:extLst>
            </p:cNvPr>
            <p:cNvSpPr txBox="1">
              <a:spLocks noChangeAspect="1" noChangeArrowheads="1"/>
            </p:cNvSpPr>
            <p:nvPr/>
          </p:nvSpPr>
          <p:spPr bwMode="auto">
            <a:xfrm>
              <a:off x="2717" y="3167"/>
              <a:ext cx="20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x</a:t>
              </a:r>
            </a:p>
          </p:txBody>
        </p:sp>
        <p:sp>
          <p:nvSpPr>
            <p:cNvPr id="205" name="Line 48">
              <a:extLst>
                <a:ext uri="{FF2B5EF4-FFF2-40B4-BE49-F238E27FC236}">
                  <a16:creationId xmlns:a16="http://schemas.microsoft.com/office/drawing/2014/main" id="{76B96146-D44D-096D-0693-A20FD3B9A551}"/>
                </a:ext>
              </a:extLst>
            </p:cNvPr>
            <p:cNvSpPr>
              <a:spLocks noChangeAspect="1" noChangeShapeType="1"/>
            </p:cNvSpPr>
            <p:nvPr/>
          </p:nvSpPr>
          <p:spPr bwMode="auto">
            <a:xfrm>
              <a:off x="2609" y="3221"/>
              <a:ext cx="365" cy="0"/>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6" name="Line 49">
              <a:extLst>
                <a:ext uri="{FF2B5EF4-FFF2-40B4-BE49-F238E27FC236}">
                  <a16:creationId xmlns:a16="http://schemas.microsoft.com/office/drawing/2014/main" id="{1A2BBF4A-6EBD-0EC1-0FE6-5FC0100F6F0B}"/>
                </a:ext>
              </a:extLst>
            </p:cNvPr>
            <p:cNvSpPr>
              <a:spLocks noChangeAspect="1" noChangeShapeType="1"/>
            </p:cNvSpPr>
            <p:nvPr/>
          </p:nvSpPr>
          <p:spPr bwMode="auto">
            <a:xfrm flipV="1">
              <a:off x="751" y="2574"/>
              <a:ext cx="0" cy="624"/>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7" name="Text Box 50">
              <a:extLst>
                <a:ext uri="{FF2B5EF4-FFF2-40B4-BE49-F238E27FC236}">
                  <a16:creationId xmlns:a16="http://schemas.microsoft.com/office/drawing/2014/main" id="{4E08F2CD-F9CA-1B7A-452A-0E37136E5FC8}"/>
                </a:ext>
              </a:extLst>
            </p:cNvPr>
            <p:cNvSpPr txBox="1">
              <a:spLocks noChangeAspect="1" noChangeArrowheads="1"/>
            </p:cNvSpPr>
            <p:nvPr/>
          </p:nvSpPr>
          <p:spPr bwMode="auto">
            <a:xfrm>
              <a:off x="774" y="2457"/>
              <a:ext cx="24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y</a:t>
              </a:r>
            </a:p>
          </p:txBody>
        </p:sp>
      </p:grpSp>
      <p:sp>
        <p:nvSpPr>
          <p:cNvPr id="229" name="Rectangle 72">
            <a:extLst>
              <a:ext uri="{FF2B5EF4-FFF2-40B4-BE49-F238E27FC236}">
                <a16:creationId xmlns:a16="http://schemas.microsoft.com/office/drawing/2014/main" id="{82A672B8-0CE8-FB60-745E-4DDF46F8C9C3}"/>
              </a:ext>
            </a:extLst>
          </p:cNvPr>
          <p:cNvSpPr>
            <a:spLocks noChangeArrowheads="1"/>
          </p:cNvSpPr>
          <p:nvPr/>
        </p:nvSpPr>
        <p:spPr bwMode="auto">
          <a:xfrm>
            <a:off x="9161437" y="2493803"/>
            <a:ext cx="241300" cy="125412"/>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nvGrpSpPr>
          <p:cNvPr id="230" name="Group 51">
            <a:extLst>
              <a:ext uri="{FF2B5EF4-FFF2-40B4-BE49-F238E27FC236}">
                <a16:creationId xmlns:a16="http://schemas.microsoft.com/office/drawing/2014/main" id="{E2BEB870-AFC6-EE3B-7795-7E296F24BB6D}"/>
              </a:ext>
            </a:extLst>
          </p:cNvPr>
          <p:cNvGrpSpPr>
            <a:grpSpLocks/>
          </p:cNvGrpSpPr>
          <p:nvPr/>
        </p:nvGrpSpPr>
        <p:grpSpPr bwMode="auto">
          <a:xfrm>
            <a:off x="9143975" y="3582050"/>
            <a:ext cx="904875" cy="2682875"/>
            <a:chOff x="4015" y="2341"/>
            <a:chExt cx="570" cy="1690"/>
          </a:xfrm>
        </p:grpSpPr>
        <p:sp>
          <p:nvSpPr>
            <p:cNvPr id="231" name="Text Box 52">
              <a:extLst>
                <a:ext uri="{FF2B5EF4-FFF2-40B4-BE49-F238E27FC236}">
                  <a16:creationId xmlns:a16="http://schemas.microsoft.com/office/drawing/2014/main" id="{8D7425F8-9925-EE22-2BF2-267138540A3D}"/>
                </a:ext>
              </a:extLst>
            </p:cNvPr>
            <p:cNvSpPr txBox="1">
              <a:spLocks noChangeAspect="1" noChangeArrowheads="1"/>
            </p:cNvSpPr>
            <p:nvPr/>
          </p:nvSpPr>
          <p:spPr bwMode="auto">
            <a:xfrm flipH="1">
              <a:off x="4015" y="3696"/>
              <a:ext cx="57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t>d</a:t>
              </a:r>
              <a:r>
                <a:rPr lang="en-US" altLang="zh-CN" b="0" dirty="0"/>
                <a:t>x</a:t>
              </a:r>
            </a:p>
          </p:txBody>
        </p:sp>
        <p:sp>
          <p:nvSpPr>
            <p:cNvPr id="232" name="Line 53">
              <a:extLst>
                <a:ext uri="{FF2B5EF4-FFF2-40B4-BE49-F238E27FC236}">
                  <a16:creationId xmlns:a16="http://schemas.microsoft.com/office/drawing/2014/main" id="{FFA398D1-26C2-DC04-A0FF-DAA340993311}"/>
                </a:ext>
              </a:extLst>
            </p:cNvPr>
            <p:cNvSpPr>
              <a:spLocks noChangeAspect="1" noChangeShapeType="1"/>
            </p:cNvSpPr>
            <p:nvPr/>
          </p:nvSpPr>
          <p:spPr bwMode="auto">
            <a:xfrm flipH="1">
              <a:off x="4534" y="365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4">
              <a:extLst>
                <a:ext uri="{FF2B5EF4-FFF2-40B4-BE49-F238E27FC236}">
                  <a16:creationId xmlns:a16="http://schemas.microsoft.com/office/drawing/2014/main" id="{17778EC2-E5B5-F652-7038-A0EF0908CBAB}"/>
                </a:ext>
              </a:extLst>
            </p:cNvPr>
            <p:cNvSpPr>
              <a:spLocks noChangeAspect="1" noChangeShapeType="1"/>
            </p:cNvSpPr>
            <p:nvPr/>
          </p:nvSpPr>
          <p:spPr bwMode="auto">
            <a:xfrm flipH="1">
              <a:off x="4034" y="366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Text Box 55">
              <a:extLst>
                <a:ext uri="{FF2B5EF4-FFF2-40B4-BE49-F238E27FC236}">
                  <a16:creationId xmlns:a16="http://schemas.microsoft.com/office/drawing/2014/main" id="{B212FC45-AA28-D18A-A233-F995E8A0AF03}"/>
                </a:ext>
              </a:extLst>
            </p:cNvPr>
            <p:cNvSpPr txBox="1">
              <a:spLocks noChangeAspect="1" noChangeArrowheads="1"/>
            </p:cNvSpPr>
            <p:nvPr/>
          </p:nvSpPr>
          <p:spPr bwMode="auto">
            <a:xfrm>
              <a:off x="4030" y="2341"/>
              <a:ext cx="46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grpSp>
          <p:nvGrpSpPr>
            <p:cNvPr id="235" name="Group 56">
              <a:extLst>
                <a:ext uri="{FF2B5EF4-FFF2-40B4-BE49-F238E27FC236}">
                  <a16:creationId xmlns:a16="http://schemas.microsoft.com/office/drawing/2014/main" id="{30D3D2F4-66EC-2A7C-B1E7-A10B7A012406}"/>
                </a:ext>
              </a:extLst>
            </p:cNvPr>
            <p:cNvGrpSpPr>
              <a:grpSpLocks/>
            </p:cNvGrpSpPr>
            <p:nvPr/>
          </p:nvGrpSpPr>
          <p:grpSpPr bwMode="auto">
            <a:xfrm>
              <a:off x="4028" y="2666"/>
              <a:ext cx="511" cy="270"/>
              <a:chOff x="3439" y="2416"/>
              <a:chExt cx="373" cy="227"/>
            </a:xfrm>
          </p:grpSpPr>
          <p:sp>
            <p:nvSpPr>
              <p:cNvPr id="238" name="Line 57">
                <a:extLst>
                  <a:ext uri="{FF2B5EF4-FFF2-40B4-BE49-F238E27FC236}">
                    <a16:creationId xmlns:a16="http://schemas.microsoft.com/office/drawing/2014/main" id="{F3C4CC78-D0A7-E548-4FB1-3576FCC07CCB}"/>
                  </a:ext>
                </a:extLst>
              </p:cNvPr>
              <p:cNvSpPr>
                <a:spLocks noChangeAspect="1" noChangeShapeType="1"/>
              </p:cNvSpPr>
              <p:nvPr/>
            </p:nvSpPr>
            <p:spPr bwMode="auto">
              <a:xfrm flipV="1">
                <a:off x="3439" y="2419"/>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9" name="Line 58">
                <a:extLst>
                  <a:ext uri="{FF2B5EF4-FFF2-40B4-BE49-F238E27FC236}">
                    <a16:creationId xmlns:a16="http://schemas.microsoft.com/office/drawing/2014/main" id="{BB388421-7391-C138-90DA-5D7A4014E04A}"/>
                  </a:ext>
                </a:extLst>
              </p:cNvPr>
              <p:cNvSpPr>
                <a:spLocks noChangeAspect="1" noChangeShapeType="1"/>
              </p:cNvSpPr>
              <p:nvPr/>
            </p:nvSpPr>
            <p:spPr bwMode="auto">
              <a:xfrm flipV="1">
                <a:off x="3561" y="2416"/>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0" name="Line 59">
                <a:extLst>
                  <a:ext uri="{FF2B5EF4-FFF2-40B4-BE49-F238E27FC236}">
                    <a16:creationId xmlns:a16="http://schemas.microsoft.com/office/drawing/2014/main" id="{0D1EDE87-1614-CA3D-54BF-3A9BE935526F}"/>
                  </a:ext>
                </a:extLst>
              </p:cNvPr>
              <p:cNvSpPr>
                <a:spLocks noChangeAspect="1" noChangeShapeType="1"/>
              </p:cNvSpPr>
              <p:nvPr/>
            </p:nvSpPr>
            <p:spPr bwMode="auto">
              <a:xfrm flipV="1">
                <a:off x="3683" y="2416"/>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1" name="Line 60">
                <a:extLst>
                  <a:ext uri="{FF2B5EF4-FFF2-40B4-BE49-F238E27FC236}">
                    <a16:creationId xmlns:a16="http://schemas.microsoft.com/office/drawing/2014/main" id="{4280ECC9-EE6B-8DE7-6DDB-8E856DDFC4F3}"/>
                  </a:ext>
                </a:extLst>
              </p:cNvPr>
              <p:cNvSpPr>
                <a:spLocks noChangeAspect="1" noChangeShapeType="1"/>
              </p:cNvSpPr>
              <p:nvPr/>
            </p:nvSpPr>
            <p:spPr bwMode="auto">
              <a:xfrm flipV="1">
                <a:off x="3806" y="24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2" name="Line 61">
                <a:extLst>
                  <a:ext uri="{FF2B5EF4-FFF2-40B4-BE49-F238E27FC236}">
                    <a16:creationId xmlns:a16="http://schemas.microsoft.com/office/drawing/2014/main" id="{F8813B7C-C2C8-D682-904E-4CFA434ABFC5}"/>
                  </a:ext>
                </a:extLst>
              </p:cNvPr>
              <p:cNvSpPr>
                <a:spLocks noChangeAspect="1" noChangeShapeType="1"/>
              </p:cNvSpPr>
              <p:nvPr/>
            </p:nvSpPr>
            <p:spPr bwMode="auto">
              <a:xfrm>
                <a:off x="3448" y="2427"/>
                <a:ext cx="364" cy="0"/>
              </a:xfrm>
              <a:prstGeom prst="line">
                <a:avLst/>
              </a:prstGeom>
              <a:noFill/>
              <a:ln w="95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36" name="Line 62">
              <a:extLst>
                <a:ext uri="{FF2B5EF4-FFF2-40B4-BE49-F238E27FC236}">
                  <a16:creationId xmlns:a16="http://schemas.microsoft.com/office/drawing/2014/main" id="{42E6DE06-2456-93C0-E59D-A9E5FCC1666D}"/>
                </a:ext>
              </a:extLst>
            </p:cNvPr>
            <p:cNvSpPr>
              <a:spLocks noChangeShapeType="1"/>
            </p:cNvSpPr>
            <p:nvPr/>
          </p:nvSpPr>
          <p:spPr bwMode="auto">
            <a:xfrm flipH="1">
              <a:off x="4015" y="3973"/>
              <a:ext cx="507" cy="0"/>
            </a:xfrm>
            <a:prstGeom prst="line">
              <a:avLst/>
            </a:prstGeom>
            <a:noFill/>
            <a:ln w="635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7" name="Rectangle 63">
              <a:extLst>
                <a:ext uri="{FF2B5EF4-FFF2-40B4-BE49-F238E27FC236}">
                  <a16:creationId xmlns:a16="http://schemas.microsoft.com/office/drawing/2014/main" id="{3E6179AE-1EFE-B6F7-ECDD-E310CA98792C}"/>
                </a:ext>
              </a:extLst>
            </p:cNvPr>
            <p:cNvSpPr>
              <a:spLocks noChangeArrowheads="1"/>
            </p:cNvSpPr>
            <p:nvPr/>
          </p:nvSpPr>
          <p:spPr bwMode="auto">
            <a:xfrm>
              <a:off x="4031" y="2925"/>
              <a:ext cx="506" cy="803"/>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3" name="Line 64">
            <a:extLst>
              <a:ext uri="{FF2B5EF4-FFF2-40B4-BE49-F238E27FC236}">
                <a16:creationId xmlns:a16="http://schemas.microsoft.com/office/drawing/2014/main" id="{BBF05C08-DCC9-D6A6-C8E0-583E6BD1AE09}"/>
              </a:ext>
            </a:extLst>
          </p:cNvPr>
          <p:cNvSpPr>
            <a:spLocks noChangeAspect="1" noChangeShapeType="1"/>
          </p:cNvSpPr>
          <p:nvPr/>
        </p:nvSpPr>
        <p:spPr bwMode="auto">
          <a:xfrm>
            <a:off x="10080600" y="4625037"/>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4" name="Line 65">
            <a:extLst>
              <a:ext uri="{FF2B5EF4-FFF2-40B4-BE49-F238E27FC236}">
                <a16:creationId xmlns:a16="http://schemas.microsoft.com/office/drawing/2014/main" id="{FF76EB42-8540-2128-97D8-926D608D94A2}"/>
              </a:ext>
            </a:extLst>
          </p:cNvPr>
          <p:cNvSpPr>
            <a:spLocks noChangeAspect="1" noChangeShapeType="1"/>
          </p:cNvSpPr>
          <p:nvPr/>
        </p:nvSpPr>
        <p:spPr bwMode="auto">
          <a:xfrm flipV="1">
            <a:off x="9066187" y="4637737"/>
            <a:ext cx="0" cy="8651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5" name="Text Box 66">
            <a:extLst>
              <a:ext uri="{FF2B5EF4-FFF2-40B4-BE49-F238E27FC236}">
                <a16:creationId xmlns:a16="http://schemas.microsoft.com/office/drawing/2014/main" id="{546FDC2A-61E4-0839-D70B-3794F4B67DE6}"/>
              </a:ext>
            </a:extLst>
          </p:cNvPr>
          <p:cNvSpPr txBox="1">
            <a:spLocks noChangeAspect="1" noChangeArrowheads="1"/>
          </p:cNvSpPr>
          <p:nvPr/>
        </p:nvSpPr>
        <p:spPr bwMode="auto">
          <a:xfrm>
            <a:off x="8370862" y="5436250"/>
            <a:ext cx="115887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p>
        </p:txBody>
      </p:sp>
      <p:sp>
        <p:nvSpPr>
          <p:cNvPr id="246" name="Text Box 67">
            <a:extLst>
              <a:ext uri="{FF2B5EF4-FFF2-40B4-BE49-F238E27FC236}">
                <a16:creationId xmlns:a16="http://schemas.microsoft.com/office/drawing/2014/main" id="{4202AC44-68FF-7B4C-0212-7F0DF159B531}"/>
              </a:ext>
            </a:extLst>
          </p:cNvPr>
          <p:cNvSpPr txBox="1">
            <a:spLocks noChangeAspect="1" noChangeArrowheads="1"/>
          </p:cNvSpPr>
          <p:nvPr/>
        </p:nvSpPr>
        <p:spPr bwMode="auto">
          <a:xfrm>
            <a:off x="9969475" y="4237687"/>
            <a:ext cx="1811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F</a:t>
            </a:r>
            <a:r>
              <a:rPr lang="en-US" altLang="zh-CN" b="0" i="0" baseline="-25000" dirty="0" err="1">
                <a:solidFill>
                  <a:srgbClr val="FF0000"/>
                </a:solidFill>
                <a:ea typeface="宋体" panose="02010600030101010101" pitchFamily="2" charset="-122"/>
              </a:rPr>
              <a:t>Q</a:t>
            </a:r>
            <a:endParaRPr lang="en-US" altLang="zh-CN" b="0" i="0" dirty="0">
              <a:solidFill>
                <a:srgbClr val="FF0000"/>
              </a:solidFill>
            </a:endParaRPr>
          </a:p>
        </p:txBody>
      </p:sp>
      <p:sp>
        <p:nvSpPr>
          <p:cNvPr id="247" name="Arc 68">
            <a:extLst>
              <a:ext uri="{FF2B5EF4-FFF2-40B4-BE49-F238E27FC236}">
                <a16:creationId xmlns:a16="http://schemas.microsoft.com/office/drawing/2014/main" id="{C953D956-DA55-4815-1CC1-CA4415CF33D6}"/>
              </a:ext>
            </a:extLst>
          </p:cNvPr>
          <p:cNvSpPr>
            <a:spLocks noChangeAspect="1"/>
          </p:cNvSpPr>
          <p:nvPr/>
        </p:nvSpPr>
        <p:spPr bwMode="auto">
          <a:xfrm rot="20176938" flipV="1">
            <a:off x="9721825" y="4890150"/>
            <a:ext cx="708025" cy="547687"/>
          </a:xfrm>
          <a:custGeom>
            <a:avLst/>
            <a:gdLst>
              <a:gd name="T0" fmla="*/ 515191976 w 21600"/>
              <a:gd name="T1" fmla="*/ 0 h 27496"/>
              <a:gd name="T2" fmla="*/ 641665256 w 21600"/>
              <a:gd name="T3" fmla="*/ 217299177 h 27496"/>
              <a:gd name="T4" fmla="*/ 0 w 21600"/>
              <a:gd name="T5" fmla="*/ 125601349 h 27496"/>
              <a:gd name="T6" fmla="*/ 0 60000 65536"/>
              <a:gd name="T7" fmla="*/ 0 60000 65536"/>
              <a:gd name="T8" fmla="*/ 0 60000 65536"/>
              <a:gd name="T9" fmla="*/ 0 w 21600"/>
              <a:gd name="T10" fmla="*/ 0 h 27496"/>
              <a:gd name="T11" fmla="*/ 21600 w 21600"/>
              <a:gd name="T12" fmla="*/ 27496 h 27496"/>
            </a:gdLst>
            <a:ahLst/>
            <a:cxnLst>
              <a:cxn ang="T6">
                <a:pos x="T0" y="T1"/>
              </a:cxn>
              <a:cxn ang="T7">
                <a:pos x="T2" y="T3"/>
              </a:cxn>
              <a:cxn ang="T8">
                <a:pos x="T4" y="T5"/>
              </a:cxn>
            </a:cxnLst>
            <a:rect l="T9" t="T10" r="T11" b="T12"/>
            <a:pathLst>
              <a:path w="21600" h="27496" fill="none" extrusionOk="0">
                <a:moveTo>
                  <a:pt x="14627" y="0"/>
                </a:moveTo>
                <a:cubicBezTo>
                  <a:pt x="19071" y="4090"/>
                  <a:pt x="21600" y="9853"/>
                  <a:pt x="21600" y="15893"/>
                </a:cubicBezTo>
                <a:cubicBezTo>
                  <a:pt x="21600" y="20003"/>
                  <a:pt x="20427" y="24028"/>
                  <a:pt x="18218" y="27495"/>
                </a:cubicBezTo>
              </a:path>
              <a:path w="21600" h="27496" stroke="0" extrusionOk="0">
                <a:moveTo>
                  <a:pt x="14627" y="0"/>
                </a:moveTo>
                <a:cubicBezTo>
                  <a:pt x="19071" y="4090"/>
                  <a:pt x="21600" y="9853"/>
                  <a:pt x="21600" y="15893"/>
                </a:cubicBezTo>
                <a:cubicBezTo>
                  <a:pt x="21600" y="20003"/>
                  <a:pt x="20427" y="24028"/>
                  <a:pt x="18218" y="27495"/>
                </a:cubicBezTo>
                <a:lnTo>
                  <a:pt x="0" y="15893"/>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Arc 69">
            <a:extLst>
              <a:ext uri="{FF2B5EF4-FFF2-40B4-BE49-F238E27FC236}">
                <a16:creationId xmlns:a16="http://schemas.microsoft.com/office/drawing/2014/main" id="{65EFB4F2-3A70-1CC8-9102-E055077397BB}"/>
              </a:ext>
            </a:extLst>
          </p:cNvPr>
          <p:cNvSpPr>
            <a:spLocks noChangeAspect="1"/>
          </p:cNvSpPr>
          <p:nvPr/>
        </p:nvSpPr>
        <p:spPr bwMode="auto">
          <a:xfrm rot="1313600" flipH="1" flipV="1">
            <a:off x="8751862" y="4899675"/>
            <a:ext cx="631825" cy="509587"/>
          </a:xfrm>
          <a:custGeom>
            <a:avLst/>
            <a:gdLst>
              <a:gd name="T0" fmla="*/ 329220605 w 21600"/>
              <a:gd name="T1" fmla="*/ 0 h 28735"/>
              <a:gd name="T2" fmla="*/ 455988289 w 21600"/>
              <a:gd name="T3" fmla="*/ 160262771 h 28735"/>
              <a:gd name="T4" fmla="*/ 0 w 21600"/>
              <a:gd name="T5" fmla="*/ 95549691 h 28735"/>
              <a:gd name="T6" fmla="*/ 0 60000 65536"/>
              <a:gd name="T7" fmla="*/ 0 60000 65536"/>
              <a:gd name="T8" fmla="*/ 0 60000 65536"/>
              <a:gd name="T9" fmla="*/ 0 w 21600"/>
              <a:gd name="T10" fmla="*/ 0 h 28735"/>
              <a:gd name="T11" fmla="*/ 21600 w 21600"/>
              <a:gd name="T12" fmla="*/ 28735 h 28735"/>
            </a:gdLst>
            <a:ahLst/>
            <a:cxnLst>
              <a:cxn ang="T6">
                <a:pos x="T0" y="T1"/>
              </a:cxn>
              <a:cxn ang="T7">
                <a:pos x="T2" y="T3"/>
              </a:cxn>
              <a:cxn ang="T8">
                <a:pos x="T4" y="T5"/>
              </a:cxn>
            </a:cxnLst>
            <a:rect l="T9" t="T10" r="T11" b="T12"/>
            <a:pathLst>
              <a:path w="21600" h="28735" fill="none" extrusionOk="0">
                <a:moveTo>
                  <a:pt x="13154" y="-1"/>
                </a:moveTo>
                <a:cubicBezTo>
                  <a:pt x="18478" y="4087"/>
                  <a:pt x="21600" y="10419"/>
                  <a:pt x="21600" y="17132"/>
                </a:cubicBezTo>
                <a:cubicBezTo>
                  <a:pt x="21600" y="21242"/>
                  <a:pt x="20427" y="25267"/>
                  <a:pt x="18218" y="28734"/>
                </a:cubicBezTo>
              </a:path>
              <a:path w="21600" h="28735" stroke="0" extrusionOk="0">
                <a:moveTo>
                  <a:pt x="13154" y="-1"/>
                </a:moveTo>
                <a:cubicBezTo>
                  <a:pt x="18478" y="4087"/>
                  <a:pt x="21600" y="10419"/>
                  <a:pt x="21600" y="17132"/>
                </a:cubicBezTo>
                <a:cubicBezTo>
                  <a:pt x="21600" y="21242"/>
                  <a:pt x="20427" y="25267"/>
                  <a:pt x="18218" y="28734"/>
                </a:cubicBezTo>
                <a:lnTo>
                  <a:pt x="0" y="17132"/>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9" name="Text Box 70">
            <a:extLst>
              <a:ext uri="{FF2B5EF4-FFF2-40B4-BE49-F238E27FC236}">
                <a16:creationId xmlns:a16="http://schemas.microsoft.com/office/drawing/2014/main" id="{65321A41-0434-EFBA-CC7A-006B62FF38F1}"/>
              </a:ext>
            </a:extLst>
          </p:cNvPr>
          <p:cNvSpPr txBox="1">
            <a:spLocks noChangeAspect="1" noChangeArrowheads="1"/>
          </p:cNvSpPr>
          <p:nvPr/>
        </p:nvSpPr>
        <p:spPr bwMode="auto">
          <a:xfrm>
            <a:off x="7934300" y="4788550"/>
            <a:ext cx="10922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ea typeface="宋体" panose="02010600030101010101" pitchFamily="2" charset="-122"/>
              </a:rPr>
              <a:t>M</a:t>
            </a:r>
            <a:r>
              <a:rPr lang="en-US" altLang="zh-CN" b="0" i="0" dirty="0">
                <a:solidFill>
                  <a:srgbClr val="FF0000"/>
                </a:solidFill>
                <a:ea typeface="宋体" panose="02010600030101010101" pitchFamily="2" charset="-122"/>
              </a:rPr>
              <a:t> </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
        <p:nvSpPr>
          <p:cNvPr id="250" name="Text Box 71">
            <a:extLst>
              <a:ext uri="{FF2B5EF4-FFF2-40B4-BE49-F238E27FC236}">
                <a16:creationId xmlns:a16="http://schemas.microsoft.com/office/drawing/2014/main" id="{74803A6F-FAF5-9807-8A9D-799E2EB4C70F}"/>
              </a:ext>
            </a:extLst>
          </p:cNvPr>
          <p:cNvSpPr txBox="1">
            <a:spLocks noChangeAspect="1" noChangeArrowheads="1"/>
          </p:cNvSpPr>
          <p:nvPr/>
        </p:nvSpPr>
        <p:spPr bwMode="auto">
          <a:xfrm>
            <a:off x="10399687" y="4756800"/>
            <a:ext cx="162811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 </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M</a:t>
            </a:r>
            <a:endParaRPr lang="en-US" altLang="zh-CN" b="0" i="0" dirty="0">
              <a:solidFill>
                <a:srgbClr val="FF0000"/>
              </a:solidFill>
            </a:endParaRPr>
          </a:p>
        </p:txBody>
      </p:sp>
    </p:spTree>
    <p:extLst>
      <p:ext uri="{BB962C8B-B14F-4D97-AF65-F5344CB8AC3E}">
        <p14:creationId xmlns:p14="http://schemas.microsoft.com/office/powerpoint/2010/main" val="29598179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par>
                          <p:cTn id="15" fill="hold">
                            <p:stCondLst>
                              <p:cond delay="0"/>
                            </p:stCondLst>
                            <p:childTnLst>
                              <p:par>
                                <p:cTn id="16" presetID="6" presetClass="emph" presetSubtype="0" repeatCount="2000" accel="50000" decel="50000" autoRev="1" fill="hold" nodeType="afterEffect">
                                  <p:stCondLst>
                                    <p:cond delay="0"/>
                                  </p:stCondLst>
                                  <p:childTnLst>
                                    <p:animScale>
                                      <p:cBhvr>
                                        <p:cTn id="17" dur="5000" fill="hold"/>
                                        <p:tgtEl>
                                          <p:spTgt spid="49"/>
                                        </p:tgtEl>
                                      </p:cBhvr>
                                      <p:by x="10000" y="100000"/>
                                    </p:animScale>
                                  </p:childTnLst>
                                </p:cTn>
                              </p:par>
                              <p:par>
                                <p:cTn id="18" presetID="0" presetClass="path" presetSubtype="0" repeatCount="2000" accel="50000" decel="50000" autoRev="1" fill="hold" nodeType="withEffect">
                                  <p:stCondLst>
                                    <p:cond delay="0"/>
                                  </p:stCondLst>
                                  <p:childTnLst>
                                    <p:animMotion origin="layout" path="M 3.33333E-6 3.7037E-6 L -0.0194 -0.00186 " pathEditMode="relative" rAng="0" ptsTypes="AA">
                                      <p:cBhvr>
                                        <p:cTn id="19" dur="5000" fill="hold"/>
                                        <p:tgtEl>
                                          <p:spTgt spid="49"/>
                                        </p:tgtEl>
                                        <p:attrNameLst>
                                          <p:attrName>ppt_x</p:attrName>
                                          <p:attrName>ppt_y</p:attrName>
                                        </p:attrNameLst>
                                      </p:cBhvr>
                                      <p:rCtr x="-977" y="-93"/>
                                    </p:animMotion>
                                  </p:childTnLst>
                                </p:cTn>
                              </p:par>
                            </p:childTnLst>
                          </p:cTn>
                        </p:par>
                        <p:par>
                          <p:cTn id="20" fill="hold">
                            <p:stCondLst>
                              <p:cond delay="20000"/>
                            </p:stCondLst>
                            <p:childTnLst>
                              <p:par>
                                <p:cTn id="21" presetID="53"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p:cTn id="23" dur="3000" fill="hold"/>
                                        <p:tgtEl>
                                          <p:spTgt spid="48"/>
                                        </p:tgtEl>
                                        <p:attrNameLst>
                                          <p:attrName>ppt_w</p:attrName>
                                        </p:attrNameLst>
                                      </p:cBhvr>
                                      <p:tavLst>
                                        <p:tav tm="0">
                                          <p:val>
                                            <p:fltVal val="0"/>
                                          </p:val>
                                        </p:tav>
                                        <p:tav tm="100000">
                                          <p:val>
                                            <p:strVal val="#ppt_w"/>
                                          </p:val>
                                        </p:tav>
                                      </p:tavLst>
                                    </p:anim>
                                    <p:anim calcmode="lin" valueType="num">
                                      <p:cBhvr>
                                        <p:cTn id="24" dur="3000" fill="hold"/>
                                        <p:tgtEl>
                                          <p:spTgt spid="48"/>
                                        </p:tgtEl>
                                        <p:attrNameLst>
                                          <p:attrName>ppt_h</p:attrName>
                                        </p:attrNameLst>
                                      </p:cBhvr>
                                      <p:tavLst>
                                        <p:tav tm="0">
                                          <p:val>
                                            <p:fltVal val="0"/>
                                          </p:val>
                                        </p:tav>
                                        <p:tav tm="100000">
                                          <p:val>
                                            <p:strVal val="#ppt_h"/>
                                          </p:val>
                                        </p:tav>
                                      </p:tavLst>
                                    </p:anim>
                                    <p:animEffect transition="in" filter="fade">
                                      <p:cBhvr>
                                        <p:cTn id="25" dur="30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9"/>
                                        </p:tgtEl>
                                        <p:attrNameLst>
                                          <p:attrName>style.visibility</p:attrName>
                                        </p:attrNameLst>
                                      </p:cBhvr>
                                      <p:to>
                                        <p:strVal val="visible"/>
                                      </p:to>
                                    </p:set>
                                  </p:childTnLst>
                                </p:cTn>
                              </p:par>
                            </p:childTnLst>
                          </p:cTn>
                        </p:par>
                        <p:par>
                          <p:cTn id="30" fill="hold">
                            <p:stCondLst>
                              <p:cond delay="0"/>
                            </p:stCondLst>
                            <p:childTnLst>
                              <p:par>
                                <p:cTn id="31" presetID="6" presetClass="emph" presetSubtype="0" repeatCount="2000" autoRev="1" fill="hold" grpId="1" nodeType="afterEffect">
                                  <p:stCondLst>
                                    <p:cond delay="0"/>
                                  </p:stCondLst>
                                  <p:childTnLst>
                                    <p:animScale>
                                      <p:cBhvr>
                                        <p:cTn id="32" dur="1000" fill="hold"/>
                                        <p:tgtEl>
                                          <p:spTgt spid="229"/>
                                        </p:tgtEl>
                                      </p:cBhvr>
                                      <p:by x="100000" y="150000"/>
                                    </p:animScale>
                                  </p:childTnLst>
                                </p:cTn>
                              </p:par>
                            </p:childTnLst>
                          </p:cTn>
                        </p:par>
                        <p:par>
                          <p:cTn id="33" fill="hold">
                            <p:stCondLst>
                              <p:cond delay="4000"/>
                            </p:stCondLst>
                            <p:childTnLst>
                              <p:par>
                                <p:cTn id="34" presetID="36" presetClass="path" presetSubtype="0" accel="50000" decel="50000" fill="hold" grpId="2" nodeType="afterEffect">
                                  <p:stCondLst>
                                    <p:cond delay="0"/>
                                  </p:stCondLst>
                                  <p:childTnLst>
                                    <p:animMotion origin="layout" path="M 1.875E-6 4.81481E-6 L 0.00169 0.06412 C 0.10625 0.07013 0.43437 0.07013 0.49883 0.07013 L 0.50013 0.00833 " pathEditMode="relative" rAng="0" ptsTypes="AAAA">
                                      <p:cBhvr>
                                        <p:cTn id="35" dur="8000" fill="hold"/>
                                        <p:tgtEl>
                                          <p:spTgt spid="229"/>
                                        </p:tgtEl>
                                        <p:attrNameLst>
                                          <p:attrName>ppt_x</p:attrName>
                                          <p:attrName>ppt_y</p:attrName>
                                        </p:attrNameLst>
                                      </p:cBhvr>
                                      <p:rCtr x="25000" y="3495"/>
                                    </p:animMotion>
                                  </p:childTnLst>
                                </p:cTn>
                              </p:par>
                            </p:childTnLst>
                          </p:cTn>
                        </p:par>
                        <p:par>
                          <p:cTn id="36" fill="hold">
                            <p:stCondLst>
                              <p:cond delay="12000"/>
                            </p:stCondLst>
                            <p:childTnLst>
                              <p:par>
                                <p:cTn id="37" presetID="1" presetClass="exit" presetSubtype="0" fill="hold" grpId="3" nodeType="afterEffect">
                                  <p:stCondLst>
                                    <p:cond delay="0"/>
                                  </p:stCondLst>
                                  <p:childTnLst>
                                    <p:set>
                                      <p:cBhvr>
                                        <p:cTn id="38" dur="1" fill="hold">
                                          <p:stCondLst>
                                            <p:cond delay="0"/>
                                          </p:stCondLst>
                                        </p:cTn>
                                        <p:tgtEl>
                                          <p:spTgt spid="229"/>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30"/>
                                        </p:tgtEl>
                                        <p:attrNameLst>
                                          <p:attrName>style.visibility</p:attrName>
                                        </p:attrNameLst>
                                      </p:cBhvr>
                                      <p:to>
                                        <p:strVal val="visible"/>
                                      </p:to>
                                    </p:set>
                                  </p:childTnLst>
                                </p:cTn>
                              </p:par>
                              <p:par>
                                <p:cTn id="41" presetID="6" presetClass="emph" presetSubtype="0" fill="hold" nodeType="withEffect">
                                  <p:stCondLst>
                                    <p:cond delay="0"/>
                                  </p:stCondLst>
                                  <p:childTnLst>
                                    <p:animScale>
                                      <p:cBhvr>
                                        <p:cTn id="42" dur="10" fill="hold"/>
                                        <p:tgtEl>
                                          <p:spTgt spid="230"/>
                                        </p:tgtEl>
                                      </p:cBhvr>
                                      <p:by x="25000" y="100000"/>
                                    </p:animScale>
                                  </p:childTnLst>
                                </p:cTn>
                              </p:par>
                              <p:par>
                                <p:cTn id="43" presetID="6" presetClass="emph" presetSubtype="0" fill="hold" nodeType="withEffect">
                                  <p:stCondLst>
                                    <p:cond delay="0"/>
                                  </p:stCondLst>
                                  <p:childTnLst>
                                    <p:animScale>
                                      <p:cBhvr>
                                        <p:cTn id="44" dur="10" fill="hold"/>
                                        <p:tgtEl>
                                          <p:spTgt spid="230"/>
                                        </p:tgtEl>
                                      </p:cBhvr>
                                      <p:by x="100000" y="10000"/>
                                    </p:animScale>
                                  </p:childTnLst>
                                </p:cTn>
                              </p:par>
                            </p:childTnLst>
                          </p:cTn>
                        </p:par>
                        <p:par>
                          <p:cTn id="45" fill="hold">
                            <p:stCondLst>
                              <p:cond delay="12010"/>
                            </p:stCondLst>
                            <p:childTnLst>
                              <p:par>
                                <p:cTn id="46" presetID="6" presetClass="emph" presetSubtype="0" fill="hold" nodeType="afterEffect">
                                  <p:stCondLst>
                                    <p:cond delay="2000"/>
                                  </p:stCondLst>
                                  <p:childTnLst>
                                    <p:animScale>
                                      <p:cBhvr>
                                        <p:cTn id="47" dur="8000" fill="hold"/>
                                        <p:tgtEl>
                                          <p:spTgt spid="230"/>
                                        </p:tgtEl>
                                      </p:cBhvr>
                                      <p:by x="400000" y="100000"/>
                                    </p:animScale>
                                  </p:childTnLst>
                                </p:cTn>
                              </p:par>
                              <p:par>
                                <p:cTn id="48" presetID="6" presetClass="emph" presetSubtype="0" fill="hold" nodeType="withEffect">
                                  <p:stCondLst>
                                    <p:cond delay="2000"/>
                                  </p:stCondLst>
                                  <p:childTnLst>
                                    <p:animScale>
                                      <p:cBhvr>
                                        <p:cTn id="49" dur="8000" fill="hold"/>
                                        <p:tgtEl>
                                          <p:spTgt spid="230"/>
                                        </p:tgtEl>
                                      </p:cBhvr>
                                      <p:by x="100000" y="1000000"/>
                                    </p:animScale>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244"/>
                                        </p:tgtEl>
                                        <p:attrNameLst>
                                          <p:attrName>style.visibility</p:attrName>
                                        </p:attrNameLst>
                                      </p:cBhvr>
                                      <p:to>
                                        <p:strVal val="visible"/>
                                      </p:to>
                                    </p:set>
                                    <p:animEffect transition="in" filter="slide(fromBottom)">
                                      <p:cBhvr>
                                        <p:cTn id="54" dur="3000"/>
                                        <p:tgtEl>
                                          <p:spTgt spid="244"/>
                                        </p:tgtEl>
                                      </p:cBhvr>
                                    </p:animEffect>
                                  </p:childTnLst>
                                </p:cTn>
                              </p:par>
                              <p:par>
                                <p:cTn id="55" presetID="12" presetClass="entr" presetSubtype="1" fill="hold" nodeType="withEffect">
                                  <p:stCondLst>
                                    <p:cond delay="0"/>
                                  </p:stCondLst>
                                  <p:childTnLst>
                                    <p:set>
                                      <p:cBhvr>
                                        <p:cTn id="56" dur="1" fill="hold">
                                          <p:stCondLst>
                                            <p:cond delay="0"/>
                                          </p:stCondLst>
                                        </p:cTn>
                                        <p:tgtEl>
                                          <p:spTgt spid="243"/>
                                        </p:tgtEl>
                                        <p:attrNameLst>
                                          <p:attrName>style.visibility</p:attrName>
                                        </p:attrNameLst>
                                      </p:cBhvr>
                                      <p:to>
                                        <p:strVal val="visible"/>
                                      </p:to>
                                    </p:set>
                                    <p:animEffect transition="in" filter="slide(fromTop)">
                                      <p:cBhvr>
                                        <p:cTn id="57" dur="3000"/>
                                        <p:tgtEl>
                                          <p:spTgt spid="243"/>
                                        </p:tgtEl>
                                      </p:cBhvr>
                                    </p:animEffect>
                                  </p:childTnLst>
                                </p:cTn>
                              </p:par>
                            </p:childTnLst>
                          </p:cTn>
                        </p:par>
                        <p:par>
                          <p:cTn id="58" fill="hold">
                            <p:stCondLst>
                              <p:cond delay="3000"/>
                            </p:stCondLst>
                            <p:childTnLst>
                              <p:par>
                                <p:cTn id="59" presetID="19" presetClass="entr" presetSubtype="10" fill="hold" grpId="0" nodeType="afterEffect">
                                  <p:stCondLst>
                                    <p:cond delay="0"/>
                                  </p:stCondLst>
                                  <p:childTnLst>
                                    <p:set>
                                      <p:cBhvr>
                                        <p:cTn id="60" dur="1" fill="hold">
                                          <p:stCondLst>
                                            <p:cond delay="0"/>
                                          </p:stCondLst>
                                        </p:cTn>
                                        <p:tgtEl>
                                          <p:spTgt spid="245"/>
                                        </p:tgtEl>
                                        <p:attrNameLst>
                                          <p:attrName>style.visibility</p:attrName>
                                        </p:attrNameLst>
                                      </p:cBhvr>
                                      <p:to>
                                        <p:strVal val="visible"/>
                                      </p:to>
                                    </p:set>
                                    <p:anim calcmode="lin" valueType="num">
                                      <p:cBhvr>
                                        <p:cTn id="61" dur="5000" fill="hold"/>
                                        <p:tgtEl>
                                          <p:spTgt spid="245"/>
                                        </p:tgtEl>
                                        <p:attrNameLst>
                                          <p:attrName>ppt_w</p:attrName>
                                        </p:attrNameLst>
                                      </p:cBhvr>
                                      <p:tavLst>
                                        <p:tav tm="0" fmla="#ppt_w*sin(2.5*pi*$)">
                                          <p:val>
                                            <p:fltVal val="0"/>
                                          </p:val>
                                        </p:tav>
                                        <p:tav tm="100000">
                                          <p:val>
                                            <p:fltVal val="1"/>
                                          </p:val>
                                        </p:tav>
                                      </p:tavLst>
                                    </p:anim>
                                    <p:anim calcmode="lin" valueType="num">
                                      <p:cBhvr>
                                        <p:cTn id="62" dur="5000" fill="hold"/>
                                        <p:tgtEl>
                                          <p:spTgt spid="245"/>
                                        </p:tgtEl>
                                        <p:attrNameLst>
                                          <p:attrName>ppt_h</p:attrName>
                                        </p:attrNameLst>
                                      </p:cBhvr>
                                      <p:tavLst>
                                        <p:tav tm="0">
                                          <p:val>
                                            <p:strVal val="#ppt_h"/>
                                          </p:val>
                                        </p:tav>
                                        <p:tav tm="100000">
                                          <p:val>
                                            <p:strVal val="#ppt_h"/>
                                          </p:val>
                                        </p:tav>
                                      </p:tavLst>
                                    </p:anim>
                                  </p:childTnLst>
                                </p:cTn>
                              </p:par>
                              <p:par>
                                <p:cTn id="63" presetID="19" presetClass="entr" presetSubtype="10" fill="hold" grpId="0" nodeType="withEffect">
                                  <p:stCondLst>
                                    <p:cond delay="0"/>
                                  </p:stCondLst>
                                  <p:childTnLst>
                                    <p:set>
                                      <p:cBhvr>
                                        <p:cTn id="64" dur="1" fill="hold">
                                          <p:stCondLst>
                                            <p:cond delay="0"/>
                                          </p:stCondLst>
                                        </p:cTn>
                                        <p:tgtEl>
                                          <p:spTgt spid="246"/>
                                        </p:tgtEl>
                                        <p:attrNameLst>
                                          <p:attrName>style.visibility</p:attrName>
                                        </p:attrNameLst>
                                      </p:cBhvr>
                                      <p:to>
                                        <p:strVal val="visible"/>
                                      </p:to>
                                    </p:set>
                                    <p:anim calcmode="lin" valueType="num">
                                      <p:cBhvr>
                                        <p:cTn id="65" dur="5000" fill="hold"/>
                                        <p:tgtEl>
                                          <p:spTgt spid="246"/>
                                        </p:tgtEl>
                                        <p:attrNameLst>
                                          <p:attrName>ppt_w</p:attrName>
                                        </p:attrNameLst>
                                      </p:cBhvr>
                                      <p:tavLst>
                                        <p:tav tm="0" fmla="#ppt_w*sin(2.5*pi*$)">
                                          <p:val>
                                            <p:fltVal val="0"/>
                                          </p:val>
                                        </p:tav>
                                        <p:tav tm="100000">
                                          <p:val>
                                            <p:fltVal val="1"/>
                                          </p:val>
                                        </p:tav>
                                      </p:tavLst>
                                    </p:anim>
                                    <p:anim calcmode="lin" valueType="num">
                                      <p:cBhvr>
                                        <p:cTn id="66" dur="5000" fill="hold"/>
                                        <p:tgtEl>
                                          <p:spTgt spid="246"/>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48"/>
                                        </p:tgtEl>
                                        <p:attrNameLst>
                                          <p:attrName>style.visibility</p:attrName>
                                        </p:attrNameLst>
                                      </p:cBhvr>
                                      <p:to>
                                        <p:strVal val="visible"/>
                                      </p:to>
                                    </p:set>
                                    <p:animEffect transition="in" filter="wipe(down)">
                                      <p:cBhvr>
                                        <p:cTn id="71" dur="5000"/>
                                        <p:tgtEl>
                                          <p:spTgt spid="248"/>
                                        </p:tgtEl>
                                      </p:cBhvr>
                                    </p:animEffect>
                                  </p:childTnLst>
                                </p:cTn>
                              </p:par>
                              <p:par>
                                <p:cTn id="72" presetID="22" presetClass="entr" presetSubtype="4" fill="hold" nodeType="withEffect">
                                  <p:stCondLst>
                                    <p:cond delay="0"/>
                                  </p:stCondLst>
                                  <p:childTnLst>
                                    <p:set>
                                      <p:cBhvr>
                                        <p:cTn id="73" dur="1" fill="hold">
                                          <p:stCondLst>
                                            <p:cond delay="0"/>
                                          </p:stCondLst>
                                        </p:cTn>
                                        <p:tgtEl>
                                          <p:spTgt spid="247"/>
                                        </p:tgtEl>
                                        <p:attrNameLst>
                                          <p:attrName>style.visibility</p:attrName>
                                        </p:attrNameLst>
                                      </p:cBhvr>
                                      <p:to>
                                        <p:strVal val="visible"/>
                                      </p:to>
                                    </p:set>
                                    <p:animEffect transition="in" filter="wipe(down)">
                                      <p:cBhvr>
                                        <p:cTn id="74" dur="5000"/>
                                        <p:tgtEl>
                                          <p:spTgt spid="247"/>
                                        </p:tgtEl>
                                      </p:cBhvr>
                                    </p:animEffect>
                                  </p:childTnLst>
                                </p:cTn>
                              </p:par>
                            </p:childTnLst>
                          </p:cTn>
                        </p:par>
                        <p:par>
                          <p:cTn id="75" fill="hold">
                            <p:stCondLst>
                              <p:cond delay="5000"/>
                            </p:stCondLst>
                            <p:childTnLst>
                              <p:par>
                                <p:cTn id="76" presetID="8" presetClass="emph" presetSubtype="0" fill="hold" nodeType="afterEffect">
                                  <p:stCondLst>
                                    <p:cond delay="0"/>
                                  </p:stCondLst>
                                  <p:childTnLst>
                                    <p:animRot by="21600000">
                                      <p:cBhvr>
                                        <p:cTn id="77" dur="3000" fill="hold"/>
                                        <p:tgtEl>
                                          <p:spTgt spid="248"/>
                                        </p:tgtEl>
                                        <p:attrNameLst>
                                          <p:attrName>r</p:attrName>
                                        </p:attrNameLst>
                                      </p:cBhvr>
                                    </p:animRot>
                                  </p:childTnLst>
                                </p:cTn>
                              </p:par>
                              <p:par>
                                <p:cTn id="78" presetID="8" presetClass="emph" presetSubtype="0" fill="hold" nodeType="withEffect">
                                  <p:stCondLst>
                                    <p:cond delay="0"/>
                                  </p:stCondLst>
                                  <p:childTnLst>
                                    <p:animRot by="-21600000">
                                      <p:cBhvr>
                                        <p:cTn id="79" dur="3000" fill="hold"/>
                                        <p:tgtEl>
                                          <p:spTgt spid="247"/>
                                        </p:tgtEl>
                                        <p:attrNameLst>
                                          <p:attrName>r</p:attrName>
                                        </p:attrNameLst>
                                      </p:cBhvr>
                                    </p:animRot>
                                  </p:childTnLst>
                                </p:cTn>
                              </p:par>
                            </p:childTnLst>
                          </p:cTn>
                        </p:par>
                        <p:par>
                          <p:cTn id="80" fill="hold">
                            <p:stCondLst>
                              <p:cond delay="8000"/>
                            </p:stCondLst>
                            <p:childTnLst>
                              <p:par>
                                <p:cTn id="81" presetID="19" presetClass="entr" presetSubtype="10" fill="hold" grpId="0" nodeType="afterEffect">
                                  <p:stCondLst>
                                    <p:cond delay="0"/>
                                  </p:stCondLst>
                                  <p:childTnLst>
                                    <p:set>
                                      <p:cBhvr>
                                        <p:cTn id="82" dur="1" fill="hold">
                                          <p:stCondLst>
                                            <p:cond delay="0"/>
                                          </p:stCondLst>
                                        </p:cTn>
                                        <p:tgtEl>
                                          <p:spTgt spid="249"/>
                                        </p:tgtEl>
                                        <p:attrNameLst>
                                          <p:attrName>style.visibility</p:attrName>
                                        </p:attrNameLst>
                                      </p:cBhvr>
                                      <p:to>
                                        <p:strVal val="visible"/>
                                      </p:to>
                                    </p:set>
                                    <p:anim calcmode="lin" valueType="num">
                                      <p:cBhvr>
                                        <p:cTn id="83" dur="5000" fill="hold"/>
                                        <p:tgtEl>
                                          <p:spTgt spid="249"/>
                                        </p:tgtEl>
                                        <p:attrNameLst>
                                          <p:attrName>ppt_w</p:attrName>
                                        </p:attrNameLst>
                                      </p:cBhvr>
                                      <p:tavLst>
                                        <p:tav tm="0" fmla="#ppt_w*sin(2.5*pi*$)">
                                          <p:val>
                                            <p:fltVal val="0"/>
                                          </p:val>
                                        </p:tav>
                                        <p:tav tm="100000">
                                          <p:val>
                                            <p:fltVal val="1"/>
                                          </p:val>
                                        </p:tav>
                                      </p:tavLst>
                                    </p:anim>
                                    <p:anim calcmode="lin" valueType="num">
                                      <p:cBhvr>
                                        <p:cTn id="84" dur="5000" fill="hold"/>
                                        <p:tgtEl>
                                          <p:spTgt spid="249"/>
                                        </p:tgtEl>
                                        <p:attrNameLst>
                                          <p:attrName>ppt_h</p:attrName>
                                        </p:attrNameLst>
                                      </p:cBhvr>
                                      <p:tavLst>
                                        <p:tav tm="0">
                                          <p:val>
                                            <p:strVal val="#ppt_h"/>
                                          </p:val>
                                        </p:tav>
                                        <p:tav tm="100000">
                                          <p:val>
                                            <p:strVal val="#ppt_h"/>
                                          </p:val>
                                        </p:tav>
                                      </p:tavLst>
                                    </p:anim>
                                  </p:childTnLst>
                                </p:cTn>
                              </p:par>
                              <p:par>
                                <p:cTn id="85" presetID="19" presetClass="entr" presetSubtype="10" fill="hold" grpId="0" nodeType="withEffect">
                                  <p:stCondLst>
                                    <p:cond delay="0"/>
                                  </p:stCondLst>
                                  <p:childTnLst>
                                    <p:set>
                                      <p:cBhvr>
                                        <p:cTn id="86" dur="1" fill="hold">
                                          <p:stCondLst>
                                            <p:cond delay="0"/>
                                          </p:stCondLst>
                                        </p:cTn>
                                        <p:tgtEl>
                                          <p:spTgt spid="250"/>
                                        </p:tgtEl>
                                        <p:attrNameLst>
                                          <p:attrName>style.visibility</p:attrName>
                                        </p:attrNameLst>
                                      </p:cBhvr>
                                      <p:to>
                                        <p:strVal val="visible"/>
                                      </p:to>
                                    </p:set>
                                    <p:anim calcmode="lin" valueType="num">
                                      <p:cBhvr>
                                        <p:cTn id="87" dur="5000" fill="hold"/>
                                        <p:tgtEl>
                                          <p:spTgt spid="250"/>
                                        </p:tgtEl>
                                        <p:attrNameLst>
                                          <p:attrName>ppt_w</p:attrName>
                                        </p:attrNameLst>
                                      </p:cBhvr>
                                      <p:tavLst>
                                        <p:tav tm="0" fmla="#ppt_w*sin(2.5*pi*$)">
                                          <p:val>
                                            <p:fltVal val="0"/>
                                          </p:val>
                                        </p:tav>
                                        <p:tav tm="100000">
                                          <p:val>
                                            <p:fltVal val="1"/>
                                          </p:val>
                                        </p:tav>
                                      </p:tavLst>
                                    </p:anim>
                                    <p:anim calcmode="lin" valueType="num">
                                      <p:cBhvr>
                                        <p:cTn id="88" dur="5000" fill="hold"/>
                                        <p:tgtEl>
                                          <p:spTgt spid="25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48" grpId="0"/>
      <p:bldP spid="229" grpId="0" animBg="1"/>
      <p:bldP spid="229" grpId="1" animBg="1"/>
      <p:bldP spid="229" grpId="2" animBg="1"/>
      <p:bldP spid="229" grpId="3" animBg="1"/>
      <p:bldP spid="245" grpId="0"/>
      <p:bldP spid="246" grpId="0"/>
      <p:bldP spid="249" grpId="0"/>
      <p:bldP spid="2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896200" y="1174955"/>
            <a:ext cx="4162076" cy="4829869"/>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441968" y="1405817"/>
            <a:ext cx="1626626" cy="590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2600" dirty="0"/>
              <a:t>∑</a:t>
            </a:r>
            <a:r>
              <a:rPr lang="en-US" altLang="zh-CN" sz="2600" b="0" dirty="0" err="1"/>
              <a:t>F</a:t>
            </a:r>
            <a:r>
              <a:rPr lang="en-US" altLang="zh-CN" sz="2600" b="0" baseline="-25000" dirty="0" err="1"/>
              <a:t>y</a:t>
            </a:r>
            <a:r>
              <a:rPr lang="en-US" altLang="zh-CN" sz="2600" b="0" i="0" dirty="0"/>
              <a:t>=0</a:t>
            </a:r>
          </a:p>
        </p:txBody>
      </p:sp>
      <p:sp>
        <p:nvSpPr>
          <p:cNvPr id="48" name="Text Box 4">
            <a:extLst>
              <a:ext uri="{FF2B5EF4-FFF2-40B4-BE49-F238E27FC236}">
                <a16:creationId xmlns:a16="http://schemas.microsoft.com/office/drawing/2014/main" id="{CB050D47-D455-D11B-73CA-B8FDE70B6077}"/>
              </a:ext>
            </a:extLst>
          </p:cNvPr>
          <p:cNvSpPr txBox="1">
            <a:spLocks noChangeAspect="1" noChangeArrowheads="1"/>
          </p:cNvSpPr>
          <p:nvPr/>
        </p:nvSpPr>
        <p:spPr bwMode="auto">
          <a:xfrm flipH="1">
            <a:off x="8966175" y="264327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ea typeface="宋体" panose="02010600030101010101" pitchFamily="2" charset="-122"/>
              </a:rPr>
              <a:t>d</a:t>
            </a:r>
            <a:r>
              <a:rPr lang="en-US" altLang="zh-CN" b="0" i="1" dirty="0">
                <a:ea typeface="宋体" panose="02010600030101010101" pitchFamily="2" charset="-122"/>
              </a:rPr>
              <a:t>x</a:t>
            </a:r>
          </a:p>
        </p:txBody>
      </p:sp>
      <p:grpSp>
        <p:nvGrpSpPr>
          <p:cNvPr id="49" name="Group 5">
            <a:extLst>
              <a:ext uri="{FF2B5EF4-FFF2-40B4-BE49-F238E27FC236}">
                <a16:creationId xmlns:a16="http://schemas.microsoft.com/office/drawing/2014/main" id="{9F3C5067-2DFA-A3A5-1722-8027DE467FBA}"/>
              </a:ext>
            </a:extLst>
          </p:cNvPr>
          <p:cNvGrpSpPr>
            <a:grpSpLocks/>
          </p:cNvGrpSpPr>
          <p:nvPr/>
        </p:nvGrpSpPr>
        <p:grpSpPr bwMode="auto">
          <a:xfrm>
            <a:off x="9088412" y="2898863"/>
            <a:ext cx="365125" cy="233363"/>
            <a:chOff x="1278" y="3602"/>
            <a:chExt cx="230" cy="147"/>
          </a:xfrm>
        </p:grpSpPr>
        <p:sp>
          <p:nvSpPr>
            <p:cNvPr id="50" name="Line 6">
              <a:extLst>
                <a:ext uri="{FF2B5EF4-FFF2-40B4-BE49-F238E27FC236}">
                  <a16:creationId xmlns:a16="http://schemas.microsoft.com/office/drawing/2014/main" id="{FE378CB5-943D-9B3A-7A91-0D01E26A3531}"/>
                </a:ext>
              </a:extLst>
            </p:cNvPr>
            <p:cNvSpPr>
              <a:spLocks noChangeAspect="1" noChangeShapeType="1"/>
            </p:cNvSpPr>
            <p:nvPr/>
          </p:nvSpPr>
          <p:spPr bwMode="auto">
            <a:xfrm flipH="1">
              <a:off x="1508" y="3602"/>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7">
              <a:extLst>
                <a:ext uri="{FF2B5EF4-FFF2-40B4-BE49-F238E27FC236}">
                  <a16:creationId xmlns:a16="http://schemas.microsoft.com/office/drawing/2014/main" id="{D29F19B6-EF18-23C3-DBEA-6953C9A00F99}"/>
                </a:ext>
              </a:extLst>
            </p:cNvPr>
            <p:cNvSpPr>
              <a:spLocks noChangeAspect="1" noChangeShapeType="1"/>
            </p:cNvSpPr>
            <p:nvPr/>
          </p:nvSpPr>
          <p:spPr bwMode="auto">
            <a:xfrm flipH="1">
              <a:off x="1278" y="3691"/>
              <a:ext cx="221"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2" name="Group 8">
            <a:extLst>
              <a:ext uri="{FF2B5EF4-FFF2-40B4-BE49-F238E27FC236}">
                <a16:creationId xmlns:a16="http://schemas.microsoft.com/office/drawing/2014/main" id="{52CD634A-5FE1-F3EE-01D7-01CB05CD22DA}"/>
              </a:ext>
            </a:extLst>
          </p:cNvPr>
          <p:cNvGrpSpPr>
            <a:grpSpLocks/>
          </p:cNvGrpSpPr>
          <p:nvPr/>
        </p:nvGrpSpPr>
        <p:grpSpPr bwMode="auto">
          <a:xfrm>
            <a:off x="7896200" y="1081176"/>
            <a:ext cx="3884612" cy="2425700"/>
            <a:chOff x="527" y="2457"/>
            <a:chExt cx="2447" cy="1528"/>
          </a:xfrm>
        </p:grpSpPr>
        <p:grpSp>
          <p:nvGrpSpPr>
            <p:cNvPr id="54" name="Group 9">
              <a:extLst>
                <a:ext uri="{FF2B5EF4-FFF2-40B4-BE49-F238E27FC236}">
                  <a16:creationId xmlns:a16="http://schemas.microsoft.com/office/drawing/2014/main" id="{D38BD220-555E-A61A-6DC3-CDA0D52B230A}"/>
                </a:ext>
              </a:extLst>
            </p:cNvPr>
            <p:cNvGrpSpPr>
              <a:grpSpLocks/>
            </p:cNvGrpSpPr>
            <p:nvPr/>
          </p:nvGrpSpPr>
          <p:grpSpPr bwMode="auto">
            <a:xfrm>
              <a:off x="883" y="2565"/>
              <a:ext cx="722" cy="650"/>
              <a:chOff x="1032" y="2321"/>
              <a:chExt cx="722" cy="650"/>
            </a:xfrm>
          </p:grpSpPr>
          <p:sp>
            <p:nvSpPr>
              <p:cNvPr id="220" name="Text Box 10">
                <a:extLst>
                  <a:ext uri="{FF2B5EF4-FFF2-40B4-BE49-F238E27FC236}">
                    <a16:creationId xmlns:a16="http://schemas.microsoft.com/office/drawing/2014/main" id="{CB46CA78-1BCD-5EF9-8118-2140DD0F1F8E}"/>
                  </a:ext>
                </a:extLst>
              </p:cNvPr>
              <p:cNvSpPr txBox="1">
                <a:spLocks noChangeAspect="1" noChangeArrowheads="1"/>
              </p:cNvSpPr>
              <p:nvPr/>
            </p:nvSpPr>
            <p:spPr bwMode="auto">
              <a:xfrm>
                <a:off x="1192" y="2321"/>
                <a:ext cx="55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sp>
            <p:nvSpPr>
              <p:cNvPr id="221" name="Line 11">
                <a:extLst>
                  <a:ext uri="{FF2B5EF4-FFF2-40B4-BE49-F238E27FC236}">
                    <a16:creationId xmlns:a16="http://schemas.microsoft.com/office/drawing/2014/main" id="{C6494C4B-D87F-C4CB-F37C-749A153B1FA5}"/>
                  </a:ext>
                </a:extLst>
              </p:cNvPr>
              <p:cNvSpPr>
                <a:spLocks noChangeAspect="1" noChangeShapeType="1"/>
              </p:cNvSpPr>
              <p:nvPr/>
            </p:nvSpPr>
            <p:spPr bwMode="auto">
              <a:xfrm flipV="1">
                <a:off x="1508" y="2659"/>
                <a:ext cx="0" cy="301"/>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2" name="Line 12">
                <a:extLst>
                  <a:ext uri="{FF2B5EF4-FFF2-40B4-BE49-F238E27FC236}">
                    <a16:creationId xmlns:a16="http://schemas.microsoft.com/office/drawing/2014/main" id="{9F468FF9-F334-3052-049D-FE659E8A7256}"/>
                  </a:ext>
                </a:extLst>
              </p:cNvPr>
              <p:cNvSpPr>
                <a:spLocks noChangeAspect="1" noChangeShapeType="1"/>
              </p:cNvSpPr>
              <p:nvPr/>
            </p:nvSpPr>
            <p:spPr bwMode="auto">
              <a:xfrm flipV="1">
                <a:off x="1628" y="2594"/>
                <a:ext cx="0" cy="3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3" name="Line 13">
                <a:extLst>
                  <a:ext uri="{FF2B5EF4-FFF2-40B4-BE49-F238E27FC236}">
                    <a16:creationId xmlns:a16="http://schemas.microsoft.com/office/drawing/2014/main" id="{4454FECC-9176-E900-37E6-07A63A8B13CF}"/>
                  </a:ext>
                </a:extLst>
              </p:cNvPr>
              <p:cNvSpPr>
                <a:spLocks noChangeAspect="1" noChangeShapeType="1"/>
              </p:cNvSpPr>
              <p:nvPr/>
            </p:nvSpPr>
            <p:spPr bwMode="auto">
              <a:xfrm flipV="1">
                <a:off x="1747" y="2629"/>
                <a:ext cx="0" cy="33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4" name="Line 14">
                <a:extLst>
                  <a:ext uri="{FF2B5EF4-FFF2-40B4-BE49-F238E27FC236}">
                    <a16:creationId xmlns:a16="http://schemas.microsoft.com/office/drawing/2014/main" id="{408F0D53-F675-084E-B671-0B35EAFEED15}"/>
                  </a:ext>
                </a:extLst>
              </p:cNvPr>
              <p:cNvSpPr>
                <a:spLocks noChangeAspect="1" noChangeShapeType="1"/>
              </p:cNvSpPr>
              <p:nvPr/>
            </p:nvSpPr>
            <p:spPr bwMode="auto">
              <a:xfrm flipV="1">
                <a:off x="1032" y="2733"/>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5" name="Line 15">
                <a:extLst>
                  <a:ext uri="{FF2B5EF4-FFF2-40B4-BE49-F238E27FC236}">
                    <a16:creationId xmlns:a16="http://schemas.microsoft.com/office/drawing/2014/main" id="{4109BECE-F79B-0316-605A-BB5722C1F2F5}"/>
                  </a:ext>
                </a:extLst>
              </p:cNvPr>
              <p:cNvSpPr>
                <a:spLocks noChangeAspect="1" noChangeShapeType="1"/>
              </p:cNvSpPr>
              <p:nvPr/>
            </p:nvSpPr>
            <p:spPr bwMode="auto">
              <a:xfrm flipV="1">
                <a:off x="1152" y="2664"/>
                <a:ext cx="0" cy="29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6" name="Line 16">
                <a:extLst>
                  <a:ext uri="{FF2B5EF4-FFF2-40B4-BE49-F238E27FC236}">
                    <a16:creationId xmlns:a16="http://schemas.microsoft.com/office/drawing/2014/main" id="{949BF14A-DDBD-2E11-4528-D14BF138F25C}"/>
                  </a:ext>
                </a:extLst>
              </p:cNvPr>
              <p:cNvSpPr>
                <a:spLocks noChangeAspect="1" noChangeShapeType="1"/>
              </p:cNvSpPr>
              <p:nvPr/>
            </p:nvSpPr>
            <p:spPr bwMode="auto">
              <a:xfrm flipV="1">
                <a:off x="1273" y="2647"/>
                <a:ext cx="0" cy="31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7" name="Line 17">
                <a:extLst>
                  <a:ext uri="{FF2B5EF4-FFF2-40B4-BE49-F238E27FC236}">
                    <a16:creationId xmlns:a16="http://schemas.microsoft.com/office/drawing/2014/main" id="{CA5659C9-5E9F-38C0-CF47-132C8182447B}"/>
                  </a:ext>
                </a:extLst>
              </p:cNvPr>
              <p:cNvSpPr>
                <a:spLocks noChangeAspect="1" noChangeShapeType="1"/>
              </p:cNvSpPr>
              <p:nvPr/>
            </p:nvSpPr>
            <p:spPr bwMode="auto">
              <a:xfrm flipV="1">
                <a:off x="1393" y="2699"/>
                <a:ext cx="1" cy="2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8" name="Freeform 18">
                <a:extLst>
                  <a:ext uri="{FF2B5EF4-FFF2-40B4-BE49-F238E27FC236}">
                    <a16:creationId xmlns:a16="http://schemas.microsoft.com/office/drawing/2014/main" id="{082CE94A-DC75-534B-1C67-B698E253230B}"/>
                  </a:ext>
                </a:extLst>
              </p:cNvPr>
              <p:cNvSpPr>
                <a:spLocks/>
              </p:cNvSpPr>
              <p:nvPr/>
            </p:nvSpPr>
            <p:spPr bwMode="auto">
              <a:xfrm>
                <a:off x="1032" y="2597"/>
                <a:ext cx="722" cy="137"/>
              </a:xfrm>
              <a:custGeom>
                <a:avLst/>
                <a:gdLst>
                  <a:gd name="T0" fmla="*/ 0 w 722"/>
                  <a:gd name="T1" fmla="*/ 137 h 137"/>
                  <a:gd name="T2" fmla="*/ 189 w 722"/>
                  <a:gd name="T3" fmla="*/ 59 h 137"/>
                  <a:gd name="T4" fmla="*/ 369 w 722"/>
                  <a:gd name="T5" fmla="*/ 102 h 137"/>
                  <a:gd name="T6" fmla="*/ 601 w 722"/>
                  <a:gd name="T7" fmla="*/ 8 h 137"/>
                  <a:gd name="T8" fmla="*/ 722 w 722"/>
                  <a:gd name="T9" fmla="*/ 51 h 137"/>
                  <a:gd name="T10" fmla="*/ 0 60000 65536"/>
                  <a:gd name="T11" fmla="*/ 0 60000 65536"/>
                  <a:gd name="T12" fmla="*/ 0 60000 65536"/>
                  <a:gd name="T13" fmla="*/ 0 60000 65536"/>
                  <a:gd name="T14" fmla="*/ 0 60000 65536"/>
                  <a:gd name="T15" fmla="*/ 0 w 722"/>
                  <a:gd name="T16" fmla="*/ 0 h 137"/>
                  <a:gd name="T17" fmla="*/ 722 w 722"/>
                  <a:gd name="T18" fmla="*/ 137 h 137"/>
                </a:gdLst>
                <a:ahLst/>
                <a:cxnLst>
                  <a:cxn ang="T10">
                    <a:pos x="T0" y="T1"/>
                  </a:cxn>
                  <a:cxn ang="T11">
                    <a:pos x="T2" y="T3"/>
                  </a:cxn>
                  <a:cxn ang="T12">
                    <a:pos x="T4" y="T5"/>
                  </a:cxn>
                  <a:cxn ang="T13">
                    <a:pos x="T6" y="T7"/>
                  </a:cxn>
                  <a:cxn ang="T14">
                    <a:pos x="T8" y="T9"/>
                  </a:cxn>
                </a:cxnLst>
                <a:rect l="T15" t="T16" r="T17" b="T18"/>
                <a:pathLst>
                  <a:path w="722" h="137">
                    <a:moveTo>
                      <a:pt x="0" y="137"/>
                    </a:moveTo>
                    <a:cubicBezTo>
                      <a:pt x="64" y="101"/>
                      <a:pt x="128" y="65"/>
                      <a:pt x="189" y="59"/>
                    </a:cubicBezTo>
                    <a:cubicBezTo>
                      <a:pt x="250" y="53"/>
                      <a:pt x="300" y="110"/>
                      <a:pt x="369" y="102"/>
                    </a:cubicBezTo>
                    <a:cubicBezTo>
                      <a:pt x="438" y="94"/>
                      <a:pt x="542" y="16"/>
                      <a:pt x="601" y="8"/>
                    </a:cubicBezTo>
                    <a:cubicBezTo>
                      <a:pt x="660" y="0"/>
                      <a:pt x="703" y="44"/>
                      <a:pt x="722" y="51"/>
                    </a:cubicBezTo>
                  </a:path>
                </a:pathLst>
              </a:custGeom>
              <a:noFill/>
              <a:ln w="952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 name="Text Box 19">
              <a:extLst>
                <a:ext uri="{FF2B5EF4-FFF2-40B4-BE49-F238E27FC236}">
                  <a16:creationId xmlns:a16="http://schemas.microsoft.com/office/drawing/2014/main" id="{C8B14173-1E69-681F-C738-E465DF41A477}"/>
                </a:ext>
              </a:extLst>
            </p:cNvPr>
            <p:cNvSpPr txBox="1">
              <a:spLocks noChangeAspect="1" noChangeArrowheads="1"/>
            </p:cNvSpPr>
            <p:nvPr/>
          </p:nvSpPr>
          <p:spPr bwMode="auto">
            <a:xfrm flipH="1">
              <a:off x="1476" y="361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ea typeface="宋体" panose="02010600030101010101" pitchFamily="2" charset="-122"/>
                </a:rPr>
                <a:t>l</a:t>
              </a:r>
            </a:p>
          </p:txBody>
        </p:sp>
        <p:sp>
          <p:nvSpPr>
            <p:cNvPr id="56" name="Text Box 20">
              <a:extLst>
                <a:ext uri="{FF2B5EF4-FFF2-40B4-BE49-F238E27FC236}">
                  <a16:creationId xmlns:a16="http://schemas.microsoft.com/office/drawing/2014/main" id="{B46BD4C4-0C24-E21C-ED9D-1A1E9DEE59B5}"/>
                </a:ext>
              </a:extLst>
            </p:cNvPr>
            <p:cNvSpPr txBox="1">
              <a:spLocks noChangeAspect="1" noChangeArrowheads="1"/>
            </p:cNvSpPr>
            <p:nvPr/>
          </p:nvSpPr>
          <p:spPr bwMode="auto">
            <a:xfrm>
              <a:off x="527" y="306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A</a:t>
              </a:r>
            </a:p>
          </p:txBody>
        </p:sp>
        <p:sp>
          <p:nvSpPr>
            <p:cNvPr id="57" name="Text Box 21">
              <a:extLst>
                <a:ext uri="{FF2B5EF4-FFF2-40B4-BE49-F238E27FC236}">
                  <a16:creationId xmlns:a16="http://schemas.microsoft.com/office/drawing/2014/main" id="{34234455-E77B-AF83-87FE-4C350D2A6341}"/>
                </a:ext>
              </a:extLst>
            </p:cNvPr>
            <p:cNvSpPr txBox="1">
              <a:spLocks noChangeAspect="1" noChangeArrowheads="1"/>
            </p:cNvSpPr>
            <p:nvPr/>
          </p:nvSpPr>
          <p:spPr bwMode="auto">
            <a:xfrm>
              <a:off x="2411" y="3088"/>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B</a:t>
              </a:r>
              <a:r>
                <a:rPr lang="en-US" altLang="zh-CN" i="1" dirty="0">
                  <a:ea typeface="宋体" panose="02010600030101010101" pitchFamily="2" charset="-122"/>
                </a:rPr>
                <a:t>   </a:t>
              </a:r>
            </a:p>
          </p:txBody>
        </p:sp>
        <p:sp>
          <p:nvSpPr>
            <p:cNvPr id="58" name="Line 22">
              <a:extLst>
                <a:ext uri="{FF2B5EF4-FFF2-40B4-BE49-F238E27FC236}">
                  <a16:creationId xmlns:a16="http://schemas.microsoft.com/office/drawing/2014/main" id="{2015F06F-D8B0-A391-70B7-11106CC1656F}"/>
                </a:ext>
              </a:extLst>
            </p:cNvPr>
            <p:cNvSpPr>
              <a:spLocks noChangeAspect="1" noChangeShapeType="1"/>
            </p:cNvSpPr>
            <p:nvPr/>
          </p:nvSpPr>
          <p:spPr bwMode="auto">
            <a:xfrm flipH="1">
              <a:off x="763" y="3581"/>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3">
              <a:extLst>
                <a:ext uri="{FF2B5EF4-FFF2-40B4-BE49-F238E27FC236}">
                  <a16:creationId xmlns:a16="http://schemas.microsoft.com/office/drawing/2014/main" id="{BFE08FDC-5531-F3DD-94CD-4456597D7A52}"/>
                </a:ext>
              </a:extLst>
            </p:cNvPr>
            <p:cNvSpPr>
              <a:spLocks noChangeAspect="1" noChangeShapeType="1"/>
            </p:cNvSpPr>
            <p:nvPr/>
          </p:nvSpPr>
          <p:spPr bwMode="auto">
            <a:xfrm flipH="1">
              <a:off x="763" y="3872"/>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60" name="Line 24">
              <a:extLst>
                <a:ext uri="{FF2B5EF4-FFF2-40B4-BE49-F238E27FC236}">
                  <a16:creationId xmlns:a16="http://schemas.microsoft.com/office/drawing/2014/main" id="{395CDC66-D172-6CE4-8627-3F9D460D84AE}"/>
                </a:ext>
              </a:extLst>
            </p:cNvPr>
            <p:cNvSpPr>
              <a:spLocks noChangeAspect="1" noChangeShapeType="1"/>
            </p:cNvSpPr>
            <p:nvPr/>
          </p:nvSpPr>
          <p:spPr bwMode="auto">
            <a:xfrm flipH="1">
              <a:off x="2428" y="3614"/>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Freeform 25">
              <a:extLst>
                <a:ext uri="{FF2B5EF4-FFF2-40B4-BE49-F238E27FC236}">
                  <a16:creationId xmlns:a16="http://schemas.microsoft.com/office/drawing/2014/main" id="{C683B8AF-D77A-1FBC-F3D6-9CCB379F49F0}"/>
                </a:ext>
              </a:extLst>
            </p:cNvPr>
            <p:cNvSpPr>
              <a:spLocks noChangeAspect="1"/>
            </p:cNvSpPr>
            <p:nvPr/>
          </p:nvSpPr>
          <p:spPr bwMode="auto">
            <a:xfrm>
              <a:off x="786" y="3224"/>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 name="Group 26">
              <a:extLst>
                <a:ext uri="{FF2B5EF4-FFF2-40B4-BE49-F238E27FC236}">
                  <a16:creationId xmlns:a16="http://schemas.microsoft.com/office/drawing/2014/main" id="{455A4AC1-5F2C-B81D-F583-EB09D9190986}"/>
                </a:ext>
              </a:extLst>
            </p:cNvPr>
            <p:cNvGrpSpPr>
              <a:grpSpLocks/>
            </p:cNvGrpSpPr>
            <p:nvPr/>
          </p:nvGrpSpPr>
          <p:grpSpPr bwMode="auto">
            <a:xfrm>
              <a:off x="607" y="3194"/>
              <a:ext cx="313" cy="330"/>
              <a:chOff x="1686" y="3521"/>
              <a:chExt cx="313" cy="330"/>
            </a:xfrm>
          </p:grpSpPr>
          <p:sp>
            <p:nvSpPr>
              <p:cNvPr id="216" name="AutoShape 27">
                <a:extLst>
                  <a:ext uri="{FF2B5EF4-FFF2-40B4-BE49-F238E27FC236}">
                    <a16:creationId xmlns:a16="http://schemas.microsoft.com/office/drawing/2014/main" id="{D6F54226-A1BF-6442-25B3-ED9FA6EF1242}"/>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7" name="Rectangle 28" descr="宽上对角线">
                <a:extLst>
                  <a:ext uri="{FF2B5EF4-FFF2-40B4-BE49-F238E27FC236}">
                    <a16:creationId xmlns:a16="http://schemas.microsoft.com/office/drawing/2014/main" id="{158B5D7E-B421-BE32-AF57-6D8ADF46482A}"/>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8" name="Line 29">
                <a:extLst>
                  <a:ext uri="{FF2B5EF4-FFF2-40B4-BE49-F238E27FC236}">
                    <a16:creationId xmlns:a16="http://schemas.microsoft.com/office/drawing/2014/main" id="{2DDFF42C-714B-0B66-A78A-3755543507EE}"/>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Oval 30">
                <a:extLst>
                  <a:ext uri="{FF2B5EF4-FFF2-40B4-BE49-F238E27FC236}">
                    <a16:creationId xmlns:a16="http://schemas.microsoft.com/office/drawing/2014/main" id="{5D37247E-FE2F-6E1A-7C51-04CDD1B30B10}"/>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grpSp>
          <p:nvGrpSpPr>
            <p:cNvPr id="63" name="Group 31">
              <a:extLst>
                <a:ext uri="{FF2B5EF4-FFF2-40B4-BE49-F238E27FC236}">
                  <a16:creationId xmlns:a16="http://schemas.microsoft.com/office/drawing/2014/main" id="{18BC668D-97C5-5BE2-0036-C103101BFD35}"/>
                </a:ext>
              </a:extLst>
            </p:cNvPr>
            <p:cNvGrpSpPr>
              <a:grpSpLocks/>
            </p:cNvGrpSpPr>
            <p:nvPr/>
          </p:nvGrpSpPr>
          <p:grpSpPr bwMode="auto">
            <a:xfrm>
              <a:off x="2272" y="3193"/>
              <a:ext cx="311" cy="358"/>
              <a:chOff x="3499" y="3511"/>
              <a:chExt cx="311" cy="358"/>
            </a:xfrm>
          </p:grpSpPr>
          <p:sp>
            <p:nvSpPr>
              <p:cNvPr id="211" name="Line 32">
                <a:extLst>
                  <a:ext uri="{FF2B5EF4-FFF2-40B4-BE49-F238E27FC236}">
                    <a16:creationId xmlns:a16="http://schemas.microsoft.com/office/drawing/2014/main" id="{B69F7629-527F-859B-0C5A-DBB56EA0DE89}"/>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Rectangle 33" descr="宽上对角线">
                <a:extLst>
                  <a:ext uri="{FF2B5EF4-FFF2-40B4-BE49-F238E27FC236}">
                    <a16:creationId xmlns:a16="http://schemas.microsoft.com/office/drawing/2014/main" id="{7803131D-9CA3-10F5-AC69-92BB33121B39}"/>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3" name="Line 34">
                <a:extLst>
                  <a:ext uri="{FF2B5EF4-FFF2-40B4-BE49-F238E27FC236}">
                    <a16:creationId xmlns:a16="http://schemas.microsoft.com/office/drawing/2014/main" id="{0837EA39-A02E-5435-90D4-C20FC9A87D1F}"/>
                  </a:ext>
                </a:extLst>
              </p:cNvPr>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Oval 35">
                <a:extLst>
                  <a:ext uri="{FF2B5EF4-FFF2-40B4-BE49-F238E27FC236}">
                    <a16:creationId xmlns:a16="http://schemas.microsoft.com/office/drawing/2014/main" id="{A112812C-9BA0-BA45-05A0-595CCFEF9BB5}"/>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5" name="Oval 36">
                <a:extLst>
                  <a:ext uri="{FF2B5EF4-FFF2-40B4-BE49-F238E27FC236}">
                    <a16:creationId xmlns:a16="http://schemas.microsoft.com/office/drawing/2014/main" id="{12561671-810C-B34F-65C3-BB87C194CE27}"/>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197" name="Text Box 37">
              <a:extLst>
                <a:ext uri="{FF2B5EF4-FFF2-40B4-BE49-F238E27FC236}">
                  <a16:creationId xmlns:a16="http://schemas.microsoft.com/office/drawing/2014/main" id="{95623BF7-B7D8-44F1-DAD6-19C0E151A6E2}"/>
                </a:ext>
              </a:extLst>
            </p:cNvPr>
            <p:cNvSpPr txBox="1">
              <a:spLocks noChangeAspect="1" noChangeArrowheads="1"/>
            </p:cNvSpPr>
            <p:nvPr/>
          </p:nvSpPr>
          <p:spPr bwMode="auto">
            <a:xfrm flipH="1">
              <a:off x="927" y="3447"/>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i="1" dirty="0">
                  <a:ea typeface="宋体" panose="02010600030101010101" pitchFamily="2" charset="-122"/>
                </a:rPr>
                <a:t> </a:t>
              </a:r>
              <a:r>
                <a:rPr lang="en-US" altLang="zh-CN" b="0" i="1" dirty="0">
                  <a:ea typeface="宋体" panose="02010600030101010101" pitchFamily="2" charset="-122"/>
                </a:rPr>
                <a:t>x</a:t>
              </a:r>
            </a:p>
          </p:txBody>
        </p:sp>
        <p:sp>
          <p:nvSpPr>
            <p:cNvPr id="198" name="Line 38">
              <a:extLst>
                <a:ext uri="{FF2B5EF4-FFF2-40B4-BE49-F238E27FC236}">
                  <a16:creationId xmlns:a16="http://schemas.microsoft.com/office/drawing/2014/main" id="{5B58F4BF-F75F-5B33-387C-1459AF44BFF6}"/>
                </a:ext>
              </a:extLst>
            </p:cNvPr>
            <p:cNvSpPr>
              <a:spLocks noChangeAspect="1" noChangeShapeType="1"/>
            </p:cNvSpPr>
            <p:nvPr/>
          </p:nvSpPr>
          <p:spPr bwMode="auto">
            <a:xfrm flipH="1">
              <a:off x="1291" y="36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39">
              <a:extLst>
                <a:ext uri="{FF2B5EF4-FFF2-40B4-BE49-F238E27FC236}">
                  <a16:creationId xmlns:a16="http://schemas.microsoft.com/office/drawing/2014/main" id="{AEDE2ECA-180D-DC18-06C3-8D13734456C7}"/>
                </a:ext>
              </a:extLst>
            </p:cNvPr>
            <p:cNvSpPr>
              <a:spLocks noChangeAspect="1" noChangeShapeType="1"/>
            </p:cNvSpPr>
            <p:nvPr/>
          </p:nvSpPr>
          <p:spPr bwMode="auto">
            <a:xfrm flipH="1">
              <a:off x="747" y="3690"/>
              <a:ext cx="55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0" name="Text Box 40">
              <a:extLst>
                <a:ext uri="{FF2B5EF4-FFF2-40B4-BE49-F238E27FC236}">
                  <a16:creationId xmlns:a16="http://schemas.microsoft.com/office/drawing/2014/main" id="{3870A47A-582A-8E67-576D-1FC8A67D3A2A}"/>
                </a:ext>
              </a:extLst>
            </p:cNvPr>
            <p:cNvSpPr txBox="1">
              <a:spLocks noChangeAspect="1" noChangeArrowheads="1"/>
            </p:cNvSpPr>
            <p:nvPr/>
          </p:nvSpPr>
          <p:spPr bwMode="auto">
            <a:xfrm>
              <a:off x="1851" y="2478"/>
              <a:ext cx="33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i="1" baseline="-25000" dirty="0">
                <a:solidFill>
                  <a:srgbClr val="FF0000"/>
                </a:solidFill>
                <a:ea typeface="宋体" panose="02010600030101010101" pitchFamily="2" charset="-122"/>
              </a:endParaRPr>
            </a:p>
          </p:txBody>
        </p:sp>
        <p:sp>
          <p:nvSpPr>
            <p:cNvPr id="201" name="Line 41">
              <a:extLst>
                <a:ext uri="{FF2B5EF4-FFF2-40B4-BE49-F238E27FC236}">
                  <a16:creationId xmlns:a16="http://schemas.microsoft.com/office/drawing/2014/main" id="{7DCE8A73-DBC2-F641-5E0B-C557CE5AD92C}"/>
                </a:ext>
              </a:extLst>
            </p:cNvPr>
            <p:cNvSpPr>
              <a:spLocks noChangeAspect="1" noChangeShapeType="1"/>
            </p:cNvSpPr>
            <p:nvPr/>
          </p:nvSpPr>
          <p:spPr bwMode="auto">
            <a:xfrm>
              <a:off x="1860" y="2679"/>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02" name="Group 42">
              <a:extLst>
                <a:ext uri="{FF2B5EF4-FFF2-40B4-BE49-F238E27FC236}">
                  <a16:creationId xmlns:a16="http://schemas.microsoft.com/office/drawing/2014/main" id="{AE758F40-8639-3B49-908A-F2D96D1B2048}"/>
                </a:ext>
              </a:extLst>
            </p:cNvPr>
            <p:cNvGrpSpPr>
              <a:grpSpLocks/>
            </p:cNvGrpSpPr>
            <p:nvPr/>
          </p:nvGrpSpPr>
          <p:grpSpPr bwMode="auto">
            <a:xfrm>
              <a:off x="1943" y="2917"/>
              <a:ext cx="320" cy="542"/>
              <a:chOff x="4382" y="268"/>
              <a:chExt cx="320" cy="542"/>
            </a:xfrm>
          </p:grpSpPr>
          <p:sp>
            <p:nvSpPr>
              <p:cNvPr id="208" name="Line 43">
                <a:extLst>
                  <a:ext uri="{FF2B5EF4-FFF2-40B4-BE49-F238E27FC236}">
                    <a16:creationId xmlns:a16="http://schemas.microsoft.com/office/drawing/2014/main" id="{95CAA39C-957F-DEC5-9271-DCA3DC2A976A}"/>
                  </a:ext>
                </a:extLst>
              </p:cNvPr>
              <p:cNvSpPr>
                <a:spLocks noChangeAspect="1" noChangeShapeType="1"/>
              </p:cNvSpPr>
              <p:nvPr/>
            </p:nvSpPr>
            <p:spPr bwMode="auto">
              <a:xfrm>
                <a:off x="4541" y="268"/>
                <a:ext cx="0" cy="54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44">
                <a:extLst>
                  <a:ext uri="{FF2B5EF4-FFF2-40B4-BE49-F238E27FC236}">
                    <a16:creationId xmlns:a16="http://schemas.microsoft.com/office/drawing/2014/main" id="{62C3A60A-1DC2-EF61-B156-4EA0B285FEEB}"/>
                  </a:ext>
                </a:extLst>
              </p:cNvPr>
              <p:cNvSpPr>
                <a:spLocks noChangeAspect="1" noChangeShapeType="1"/>
              </p:cNvSpPr>
              <p:nvPr/>
            </p:nvSpPr>
            <p:spPr bwMode="auto">
              <a:xfrm flipH="1">
                <a:off x="4382" y="271"/>
                <a:ext cx="159"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0" name="Line 45">
                <a:extLst>
                  <a:ext uri="{FF2B5EF4-FFF2-40B4-BE49-F238E27FC236}">
                    <a16:creationId xmlns:a16="http://schemas.microsoft.com/office/drawing/2014/main" id="{6459E89F-CE25-930A-6AE3-C918A59BE619}"/>
                  </a:ext>
                </a:extLst>
              </p:cNvPr>
              <p:cNvSpPr>
                <a:spLocks noChangeAspect="1" noChangeShapeType="1"/>
              </p:cNvSpPr>
              <p:nvPr/>
            </p:nvSpPr>
            <p:spPr bwMode="auto">
              <a:xfrm>
                <a:off x="4541" y="810"/>
                <a:ext cx="161"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203" name="Text Box 46">
              <a:extLst>
                <a:ext uri="{FF2B5EF4-FFF2-40B4-BE49-F238E27FC236}">
                  <a16:creationId xmlns:a16="http://schemas.microsoft.com/office/drawing/2014/main" id="{C9EBB599-5ABA-7644-80EB-4CED56948B2B}"/>
                </a:ext>
              </a:extLst>
            </p:cNvPr>
            <p:cNvSpPr txBox="1">
              <a:spLocks noChangeAspect="1" noChangeArrowheads="1"/>
            </p:cNvSpPr>
            <p:nvPr/>
          </p:nvSpPr>
          <p:spPr bwMode="auto">
            <a:xfrm>
              <a:off x="2000" y="2683"/>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endParaRPr lang="en-US" altLang="zh-CN" b="0" dirty="0">
                <a:solidFill>
                  <a:srgbClr val="FF0000"/>
                </a:solidFill>
                <a:ea typeface="宋体" panose="02010600030101010101" pitchFamily="2" charset="-122"/>
              </a:endParaRPr>
            </a:p>
          </p:txBody>
        </p:sp>
        <p:sp>
          <p:nvSpPr>
            <p:cNvPr id="204" name="Text Box 47">
              <a:extLst>
                <a:ext uri="{FF2B5EF4-FFF2-40B4-BE49-F238E27FC236}">
                  <a16:creationId xmlns:a16="http://schemas.microsoft.com/office/drawing/2014/main" id="{22F2E806-3DDC-89F0-9C2D-B804704B7E59}"/>
                </a:ext>
              </a:extLst>
            </p:cNvPr>
            <p:cNvSpPr txBox="1">
              <a:spLocks noChangeAspect="1" noChangeArrowheads="1"/>
            </p:cNvSpPr>
            <p:nvPr/>
          </p:nvSpPr>
          <p:spPr bwMode="auto">
            <a:xfrm>
              <a:off x="2717" y="3167"/>
              <a:ext cx="20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x</a:t>
              </a:r>
            </a:p>
          </p:txBody>
        </p:sp>
        <p:sp>
          <p:nvSpPr>
            <p:cNvPr id="205" name="Line 48">
              <a:extLst>
                <a:ext uri="{FF2B5EF4-FFF2-40B4-BE49-F238E27FC236}">
                  <a16:creationId xmlns:a16="http://schemas.microsoft.com/office/drawing/2014/main" id="{76B96146-D44D-096D-0693-A20FD3B9A551}"/>
                </a:ext>
              </a:extLst>
            </p:cNvPr>
            <p:cNvSpPr>
              <a:spLocks noChangeAspect="1" noChangeShapeType="1"/>
            </p:cNvSpPr>
            <p:nvPr/>
          </p:nvSpPr>
          <p:spPr bwMode="auto">
            <a:xfrm>
              <a:off x="2609" y="3221"/>
              <a:ext cx="365" cy="0"/>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6" name="Line 49">
              <a:extLst>
                <a:ext uri="{FF2B5EF4-FFF2-40B4-BE49-F238E27FC236}">
                  <a16:creationId xmlns:a16="http://schemas.microsoft.com/office/drawing/2014/main" id="{1A2BBF4A-6EBD-0EC1-0FE6-5FC0100F6F0B}"/>
                </a:ext>
              </a:extLst>
            </p:cNvPr>
            <p:cNvSpPr>
              <a:spLocks noChangeAspect="1" noChangeShapeType="1"/>
            </p:cNvSpPr>
            <p:nvPr/>
          </p:nvSpPr>
          <p:spPr bwMode="auto">
            <a:xfrm flipV="1">
              <a:off x="751" y="2574"/>
              <a:ext cx="0" cy="624"/>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7" name="Text Box 50">
              <a:extLst>
                <a:ext uri="{FF2B5EF4-FFF2-40B4-BE49-F238E27FC236}">
                  <a16:creationId xmlns:a16="http://schemas.microsoft.com/office/drawing/2014/main" id="{4E08F2CD-F9CA-1B7A-452A-0E37136E5FC8}"/>
                </a:ext>
              </a:extLst>
            </p:cNvPr>
            <p:cNvSpPr txBox="1">
              <a:spLocks noChangeAspect="1" noChangeArrowheads="1"/>
            </p:cNvSpPr>
            <p:nvPr/>
          </p:nvSpPr>
          <p:spPr bwMode="auto">
            <a:xfrm>
              <a:off x="774" y="2457"/>
              <a:ext cx="24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y</a:t>
              </a:r>
            </a:p>
          </p:txBody>
        </p:sp>
      </p:grpSp>
      <p:sp>
        <p:nvSpPr>
          <p:cNvPr id="229" name="Rectangle 72">
            <a:extLst>
              <a:ext uri="{FF2B5EF4-FFF2-40B4-BE49-F238E27FC236}">
                <a16:creationId xmlns:a16="http://schemas.microsoft.com/office/drawing/2014/main" id="{82A672B8-0CE8-FB60-745E-4DDF46F8C9C3}"/>
              </a:ext>
            </a:extLst>
          </p:cNvPr>
          <p:cNvSpPr>
            <a:spLocks noChangeArrowheads="1"/>
          </p:cNvSpPr>
          <p:nvPr/>
        </p:nvSpPr>
        <p:spPr bwMode="auto">
          <a:xfrm>
            <a:off x="9161437" y="2233701"/>
            <a:ext cx="241300" cy="125412"/>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nvGrpSpPr>
          <p:cNvPr id="230" name="Group 51">
            <a:extLst>
              <a:ext uri="{FF2B5EF4-FFF2-40B4-BE49-F238E27FC236}">
                <a16:creationId xmlns:a16="http://schemas.microsoft.com/office/drawing/2014/main" id="{E2BEB870-AFC6-EE3B-7795-7E296F24BB6D}"/>
              </a:ext>
            </a:extLst>
          </p:cNvPr>
          <p:cNvGrpSpPr>
            <a:grpSpLocks/>
          </p:cNvGrpSpPr>
          <p:nvPr/>
        </p:nvGrpSpPr>
        <p:grpSpPr bwMode="auto">
          <a:xfrm>
            <a:off x="9143975" y="3321948"/>
            <a:ext cx="904875" cy="2682875"/>
            <a:chOff x="4015" y="2341"/>
            <a:chExt cx="570" cy="1690"/>
          </a:xfrm>
        </p:grpSpPr>
        <p:sp>
          <p:nvSpPr>
            <p:cNvPr id="231" name="Text Box 52">
              <a:extLst>
                <a:ext uri="{FF2B5EF4-FFF2-40B4-BE49-F238E27FC236}">
                  <a16:creationId xmlns:a16="http://schemas.microsoft.com/office/drawing/2014/main" id="{8D7425F8-9925-EE22-2BF2-267138540A3D}"/>
                </a:ext>
              </a:extLst>
            </p:cNvPr>
            <p:cNvSpPr txBox="1">
              <a:spLocks noChangeAspect="1" noChangeArrowheads="1"/>
            </p:cNvSpPr>
            <p:nvPr/>
          </p:nvSpPr>
          <p:spPr bwMode="auto">
            <a:xfrm flipH="1">
              <a:off x="4015" y="3696"/>
              <a:ext cx="57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t>d</a:t>
              </a:r>
              <a:r>
                <a:rPr lang="en-US" altLang="zh-CN" b="0" dirty="0"/>
                <a:t>x</a:t>
              </a:r>
            </a:p>
          </p:txBody>
        </p:sp>
        <p:sp>
          <p:nvSpPr>
            <p:cNvPr id="232" name="Line 53">
              <a:extLst>
                <a:ext uri="{FF2B5EF4-FFF2-40B4-BE49-F238E27FC236}">
                  <a16:creationId xmlns:a16="http://schemas.microsoft.com/office/drawing/2014/main" id="{FFA398D1-26C2-DC04-A0FF-DAA340993311}"/>
                </a:ext>
              </a:extLst>
            </p:cNvPr>
            <p:cNvSpPr>
              <a:spLocks noChangeAspect="1" noChangeShapeType="1"/>
            </p:cNvSpPr>
            <p:nvPr/>
          </p:nvSpPr>
          <p:spPr bwMode="auto">
            <a:xfrm flipH="1">
              <a:off x="4534" y="365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4">
              <a:extLst>
                <a:ext uri="{FF2B5EF4-FFF2-40B4-BE49-F238E27FC236}">
                  <a16:creationId xmlns:a16="http://schemas.microsoft.com/office/drawing/2014/main" id="{17778EC2-E5B5-F652-7038-A0EF0908CBAB}"/>
                </a:ext>
              </a:extLst>
            </p:cNvPr>
            <p:cNvSpPr>
              <a:spLocks noChangeAspect="1" noChangeShapeType="1"/>
            </p:cNvSpPr>
            <p:nvPr/>
          </p:nvSpPr>
          <p:spPr bwMode="auto">
            <a:xfrm flipH="1">
              <a:off x="4034" y="366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Text Box 55">
              <a:extLst>
                <a:ext uri="{FF2B5EF4-FFF2-40B4-BE49-F238E27FC236}">
                  <a16:creationId xmlns:a16="http://schemas.microsoft.com/office/drawing/2014/main" id="{B212FC45-AA28-D18A-A233-F995E8A0AF03}"/>
                </a:ext>
              </a:extLst>
            </p:cNvPr>
            <p:cNvSpPr txBox="1">
              <a:spLocks noChangeAspect="1" noChangeArrowheads="1"/>
            </p:cNvSpPr>
            <p:nvPr/>
          </p:nvSpPr>
          <p:spPr bwMode="auto">
            <a:xfrm>
              <a:off x="4030" y="2341"/>
              <a:ext cx="46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grpSp>
          <p:nvGrpSpPr>
            <p:cNvPr id="235" name="Group 56">
              <a:extLst>
                <a:ext uri="{FF2B5EF4-FFF2-40B4-BE49-F238E27FC236}">
                  <a16:creationId xmlns:a16="http://schemas.microsoft.com/office/drawing/2014/main" id="{30D3D2F4-66EC-2A7C-B1E7-A10B7A012406}"/>
                </a:ext>
              </a:extLst>
            </p:cNvPr>
            <p:cNvGrpSpPr>
              <a:grpSpLocks/>
            </p:cNvGrpSpPr>
            <p:nvPr/>
          </p:nvGrpSpPr>
          <p:grpSpPr bwMode="auto">
            <a:xfrm>
              <a:off x="4028" y="2666"/>
              <a:ext cx="511" cy="270"/>
              <a:chOff x="3439" y="2416"/>
              <a:chExt cx="373" cy="227"/>
            </a:xfrm>
          </p:grpSpPr>
          <p:sp>
            <p:nvSpPr>
              <p:cNvPr id="238" name="Line 57">
                <a:extLst>
                  <a:ext uri="{FF2B5EF4-FFF2-40B4-BE49-F238E27FC236}">
                    <a16:creationId xmlns:a16="http://schemas.microsoft.com/office/drawing/2014/main" id="{F3C4CC78-D0A7-E548-4FB1-3576FCC07CCB}"/>
                  </a:ext>
                </a:extLst>
              </p:cNvPr>
              <p:cNvSpPr>
                <a:spLocks noChangeAspect="1" noChangeShapeType="1"/>
              </p:cNvSpPr>
              <p:nvPr/>
            </p:nvSpPr>
            <p:spPr bwMode="auto">
              <a:xfrm flipV="1">
                <a:off x="3439" y="2419"/>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9" name="Line 58">
                <a:extLst>
                  <a:ext uri="{FF2B5EF4-FFF2-40B4-BE49-F238E27FC236}">
                    <a16:creationId xmlns:a16="http://schemas.microsoft.com/office/drawing/2014/main" id="{BB388421-7391-C138-90DA-5D7A4014E04A}"/>
                  </a:ext>
                </a:extLst>
              </p:cNvPr>
              <p:cNvSpPr>
                <a:spLocks noChangeAspect="1" noChangeShapeType="1"/>
              </p:cNvSpPr>
              <p:nvPr/>
            </p:nvSpPr>
            <p:spPr bwMode="auto">
              <a:xfrm flipV="1">
                <a:off x="3561" y="2416"/>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0" name="Line 59">
                <a:extLst>
                  <a:ext uri="{FF2B5EF4-FFF2-40B4-BE49-F238E27FC236}">
                    <a16:creationId xmlns:a16="http://schemas.microsoft.com/office/drawing/2014/main" id="{0D1EDE87-1614-CA3D-54BF-3A9BE935526F}"/>
                  </a:ext>
                </a:extLst>
              </p:cNvPr>
              <p:cNvSpPr>
                <a:spLocks noChangeAspect="1" noChangeShapeType="1"/>
              </p:cNvSpPr>
              <p:nvPr/>
            </p:nvSpPr>
            <p:spPr bwMode="auto">
              <a:xfrm flipV="1">
                <a:off x="3683" y="2416"/>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1" name="Line 60">
                <a:extLst>
                  <a:ext uri="{FF2B5EF4-FFF2-40B4-BE49-F238E27FC236}">
                    <a16:creationId xmlns:a16="http://schemas.microsoft.com/office/drawing/2014/main" id="{4280ECC9-EE6B-8DE7-6DDB-8E856DDFC4F3}"/>
                  </a:ext>
                </a:extLst>
              </p:cNvPr>
              <p:cNvSpPr>
                <a:spLocks noChangeAspect="1" noChangeShapeType="1"/>
              </p:cNvSpPr>
              <p:nvPr/>
            </p:nvSpPr>
            <p:spPr bwMode="auto">
              <a:xfrm flipV="1">
                <a:off x="3806" y="24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2" name="Line 61">
                <a:extLst>
                  <a:ext uri="{FF2B5EF4-FFF2-40B4-BE49-F238E27FC236}">
                    <a16:creationId xmlns:a16="http://schemas.microsoft.com/office/drawing/2014/main" id="{F8813B7C-C2C8-D682-904E-4CFA434ABFC5}"/>
                  </a:ext>
                </a:extLst>
              </p:cNvPr>
              <p:cNvSpPr>
                <a:spLocks noChangeAspect="1" noChangeShapeType="1"/>
              </p:cNvSpPr>
              <p:nvPr/>
            </p:nvSpPr>
            <p:spPr bwMode="auto">
              <a:xfrm>
                <a:off x="3448" y="2427"/>
                <a:ext cx="364" cy="0"/>
              </a:xfrm>
              <a:prstGeom prst="line">
                <a:avLst/>
              </a:prstGeom>
              <a:noFill/>
              <a:ln w="95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36" name="Line 62">
              <a:extLst>
                <a:ext uri="{FF2B5EF4-FFF2-40B4-BE49-F238E27FC236}">
                  <a16:creationId xmlns:a16="http://schemas.microsoft.com/office/drawing/2014/main" id="{42E6DE06-2456-93C0-E59D-A9E5FCC1666D}"/>
                </a:ext>
              </a:extLst>
            </p:cNvPr>
            <p:cNvSpPr>
              <a:spLocks noChangeShapeType="1"/>
            </p:cNvSpPr>
            <p:nvPr/>
          </p:nvSpPr>
          <p:spPr bwMode="auto">
            <a:xfrm flipH="1">
              <a:off x="4015" y="3973"/>
              <a:ext cx="507" cy="0"/>
            </a:xfrm>
            <a:prstGeom prst="line">
              <a:avLst/>
            </a:prstGeom>
            <a:noFill/>
            <a:ln w="635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7" name="Rectangle 63">
              <a:extLst>
                <a:ext uri="{FF2B5EF4-FFF2-40B4-BE49-F238E27FC236}">
                  <a16:creationId xmlns:a16="http://schemas.microsoft.com/office/drawing/2014/main" id="{3E6179AE-1EFE-B6F7-ECDD-E310CA98792C}"/>
                </a:ext>
              </a:extLst>
            </p:cNvPr>
            <p:cNvSpPr>
              <a:spLocks noChangeArrowheads="1"/>
            </p:cNvSpPr>
            <p:nvPr/>
          </p:nvSpPr>
          <p:spPr bwMode="auto">
            <a:xfrm>
              <a:off x="4031" y="2925"/>
              <a:ext cx="506" cy="803"/>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3" name="Line 64">
            <a:extLst>
              <a:ext uri="{FF2B5EF4-FFF2-40B4-BE49-F238E27FC236}">
                <a16:creationId xmlns:a16="http://schemas.microsoft.com/office/drawing/2014/main" id="{BBF05C08-DCC9-D6A6-C8E0-583E6BD1AE09}"/>
              </a:ext>
            </a:extLst>
          </p:cNvPr>
          <p:cNvSpPr>
            <a:spLocks noChangeAspect="1" noChangeShapeType="1"/>
          </p:cNvSpPr>
          <p:nvPr/>
        </p:nvSpPr>
        <p:spPr bwMode="auto">
          <a:xfrm>
            <a:off x="10080600" y="4364935"/>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4" name="Line 65">
            <a:extLst>
              <a:ext uri="{FF2B5EF4-FFF2-40B4-BE49-F238E27FC236}">
                <a16:creationId xmlns:a16="http://schemas.microsoft.com/office/drawing/2014/main" id="{FF76EB42-8540-2128-97D8-926D608D94A2}"/>
              </a:ext>
            </a:extLst>
          </p:cNvPr>
          <p:cNvSpPr>
            <a:spLocks noChangeAspect="1" noChangeShapeType="1"/>
          </p:cNvSpPr>
          <p:nvPr/>
        </p:nvSpPr>
        <p:spPr bwMode="auto">
          <a:xfrm flipV="1">
            <a:off x="9066187" y="4377635"/>
            <a:ext cx="0" cy="8651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5" name="Text Box 66">
            <a:extLst>
              <a:ext uri="{FF2B5EF4-FFF2-40B4-BE49-F238E27FC236}">
                <a16:creationId xmlns:a16="http://schemas.microsoft.com/office/drawing/2014/main" id="{546FDC2A-61E4-0839-D70B-3794F4B67DE6}"/>
              </a:ext>
            </a:extLst>
          </p:cNvPr>
          <p:cNvSpPr txBox="1">
            <a:spLocks noChangeAspect="1" noChangeArrowheads="1"/>
          </p:cNvSpPr>
          <p:nvPr/>
        </p:nvSpPr>
        <p:spPr bwMode="auto">
          <a:xfrm>
            <a:off x="8370862" y="5176148"/>
            <a:ext cx="115887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p>
        </p:txBody>
      </p:sp>
      <p:sp>
        <p:nvSpPr>
          <p:cNvPr id="246" name="Text Box 67">
            <a:extLst>
              <a:ext uri="{FF2B5EF4-FFF2-40B4-BE49-F238E27FC236}">
                <a16:creationId xmlns:a16="http://schemas.microsoft.com/office/drawing/2014/main" id="{4202AC44-68FF-7B4C-0212-7F0DF159B531}"/>
              </a:ext>
            </a:extLst>
          </p:cNvPr>
          <p:cNvSpPr txBox="1">
            <a:spLocks noChangeAspect="1" noChangeArrowheads="1"/>
          </p:cNvSpPr>
          <p:nvPr/>
        </p:nvSpPr>
        <p:spPr bwMode="auto">
          <a:xfrm>
            <a:off x="9993287" y="3984625"/>
            <a:ext cx="2126901"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F</a:t>
            </a:r>
            <a:r>
              <a:rPr lang="en-US" altLang="zh-CN" b="0" i="0" baseline="-25000" dirty="0" err="1">
                <a:solidFill>
                  <a:srgbClr val="FF0000"/>
                </a:solidFill>
                <a:ea typeface="宋体" panose="02010600030101010101" pitchFamily="2" charset="-122"/>
              </a:rPr>
              <a:t>Q</a:t>
            </a:r>
            <a:endParaRPr lang="en-US" altLang="zh-CN" b="0" i="0" dirty="0">
              <a:solidFill>
                <a:srgbClr val="FF0000"/>
              </a:solidFill>
            </a:endParaRPr>
          </a:p>
          <a:p>
            <a:pPr algn="just" eaLnBrk="1" hangingPunct="1"/>
            <a:endParaRPr lang="en-US" altLang="zh-CN" b="0" i="0" dirty="0">
              <a:solidFill>
                <a:srgbClr val="FF0000"/>
              </a:solidFill>
            </a:endParaRPr>
          </a:p>
        </p:txBody>
      </p:sp>
      <p:sp>
        <p:nvSpPr>
          <p:cNvPr id="247" name="Arc 68">
            <a:extLst>
              <a:ext uri="{FF2B5EF4-FFF2-40B4-BE49-F238E27FC236}">
                <a16:creationId xmlns:a16="http://schemas.microsoft.com/office/drawing/2014/main" id="{C953D956-DA55-4815-1CC1-CA4415CF33D6}"/>
              </a:ext>
            </a:extLst>
          </p:cNvPr>
          <p:cNvSpPr>
            <a:spLocks noChangeAspect="1"/>
          </p:cNvSpPr>
          <p:nvPr/>
        </p:nvSpPr>
        <p:spPr bwMode="auto">
          <a:xfrm rot="20176938" flipV="1">
            <a:off x="9721825" y="4630048"/>
            <a:ext cx="708025" cy="547687"/>
          </a:xfrm>
          <a:custGeom>
            <a:avLst/>
            <a:gdLst>
              <a:gd name="T0" fmla="*/ 515191976 w 21600"/>
              <a:gd name="T1" fmla="*/ 0 h 27496"/>
              <a:gd name="T2" fmla="*/ 641665256 w 21600"/>
              <a:gd name="T3" fmla="*/ 217299177 h 27496"/>
              <a:gd name="T4" fmla="*/ 0 w 21600"/>
              <a:gd name="T5" fmla="*/ 125601349 h 27496"/>
              <a:gd name="T6" fmla="*/ 0 60000 65536"/>
              <a:gd name="T7" fmla="*/ 0 60000 65536"/>
              <a:gd name="T8" fmla="*/ 0 60000 65536"/>
              <a:gd name="T9" fmla="*/ 0 w 21600"/>
              <a:gd name="T10" fmla="*/ 0 h 27496"/>
              <a:gd name="T11" fmla="*/ 21600 w 21600"/>
              <a:gd name="T12" fmla="*/ 27496 h 27496"/>
            </a:gdLst>
            <a:ahLst/>
            <a:cxnLst>
              <a:cxn ang="T6">
                <a:pos x="T0" y="T1"/>
              </a:cxn>
              <a:cxn ang="T7">
                <a:pos x="T2" y="T3"/>
              </a:cxn>
              <a:cxn ang="T8">
                <a:pos x="T4" y="T5"/>
              </a:cxn>
            </a:cxnLst>
            <a:rect l="T9" t="T10" r="T11" b="T12"/>
            <a:pathLst>
              <a:path w="21600" h="27496" fill="none" extrusionOk="0">
                <a:moveTo>
                  <a:pt x="14627" y="0"/>
                </a:moveTo>
                <a:cubicBezTo>
                  <a:pt x="19071" y="4090"/>
                  <a:pt x="21600" y="9853"/>
                  <a:pt x="21600" y="15893"/>
                </a:cubicBezTo>
                <a:cubicBezTo>
                  <a:pt x="21600" y="20003"/>
                  <a:pt x="20427" y="24028"/>
                  <a:pt x="18218" y="27495"/>
                </a:cubicBezTo>
              </a:path>
              <a:path w="21600" h="27496" stroke="0" extrusionOk="0">
                <a:moveTo>
                  <a:pt x="14627" y="0"/>
                </a:moveTo>
                <a:cubicBezTo>
                  <a:pt x="19071" y="4090"/>
                  <a:pt x="21600" y="9853"/>
                  <a:pt x="21600" y="15893"/>
                </a:cubicBezTo>
                <a:cubicBezTo>
                  <a:pt x="21600" y="20003"/>
                  <a:pt x="20427" y="24028"/>
                  <a:pt x="18218" y="27495"/>
                </a:cubicBezTo>
                <a:lnTo>
                  <a:pt x="0" y="15893"/>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Arc 69">
            <a:extLst>
              <a:ext uri="{FF2B5EF4-FFF2-40B4-BE49-F238E27FC236}">
                <a16:creationId xmlns:a16="http://schemas.microsoft.com/office/drawing/2014/main" id="{65EFB4F2-3A70-1CC8-9102-E055077397BB}"/>
              </a:ext>
            </a:extLst>
          </p:cNvPr>
          <p:cNvSpPr>
            <a:spLocks noChangeAspect="1"/>
          </p:cNvSpPr>
          <p:nvPr/>
        </p:nvSpPr>
        <p:spPr bwMode="auto">
          <a:xfrm rot="1313600" flipH="1" flipV="1">
            <a:off x="8751862" y="4639573"/>
            <a:ext cx="631825" cy="509587"/>
          </a:xfrm>
          <a:custGeom>
            <a:avLst/>
            <a:gdLst>
              <a:gd name="T0" fmla="*/ 329220605 w 21600"/>
              <a:gd name="T1" fmla="*/ 0 h 28735"/>
              <a:gd name="T2" fmla="*/ 455988289 w 21600"/>
              <a:gd name="T3" fmla="*/ 160262771 h 28735"/>
              <a:gd name="T4" fmla="*/ 0 w 21600"/>
              <a:gd name="T5" fmla="*/ 95549691 h 28735"/>
              <a:gd name="T6" fmla="*/ 0 60000 65536"/>
              <a:gd name="T7" fmla="*/ 0 60000 65536"/>
              <a:gd name="T8" fmla="*/ 0 60000 65536"/>
              <a:gd name="T9" fmla="*/ 0 w 21600"/>
              <a:gd name="T10" fmla="*/ 0 h 28735"/>
              <a:gd name="T11" fmla="*/ 21600 w 21600"/>
              <a:gd name="T12" fmla="*/ 28735 h 28735"/>
            </a:gdLst>
            <a:ahLst/>
            <a:cxnLst>
              <a:cxn ang="T6">
                <a:pos x="T0" y="T1"/>
              </a:cxn>
              <a:cxn ang="T7">
                <a:pos x="T2" y="T3"/>
              </a:cxn>
              <a:cxn ang="T8">
                <a:pos x="T4" y="T5"/>
              </a:cxn>
            </a:cxnLst>
            <a:rect l="T9" t="T10" r="T11" b="T12"/>
            <a:pathLst>
              <a:path w="21600" h="28735" fill="none" extrusionOk="0">
                <a:moveTo>
                  <a:pt x="13154" y="-1"/>
                </a:moveTo>
                <a:cubicBezTo>
                  <a:pt x="18478" y="4087"/>
                  <a:pt x="21600" y="10419"/>
                  <a:pt x="21600" y="17132"/>
                </a:cubicBezTo>
                <a:cubicBezTo>
                  <a:pt x="21600" y="21242"/>
                  <a:pt x="20427" y="25267"/>
                  <a:pt x="18218" y="28734"/>
                </a:cubicBezTo>
              </a:path>
              <a:path w="21600" h="28735" stroke="0" extrusionOk="0">
                <a:moveTo>
                  <a:pt x="13154" y="-1"/>
                </a:moveTo>
                <a:cubicBezTo>
                  <a:pt x="18478" y="4087"/>
                  <a:pt x="21600" y="10419"/>
                  <a:pt x="21600" y="17132"/>
                </a:cubicBezTo>
                <a:cubicBezTo>
                  <a:pt x="21600" y="21242"/>
                  <a:pt x="20427" y="25267"/>
                  <a:pt x="18218" y="28734"/>
                </a:cubicBezTo>
                <a:lnTo>
                  <a:pt x="0" y="17132"/>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9" name="Text Box 70">
            <a:extLst>
              <a:ext uri="{FF2B5EF4-FFF2-40B4-BE49-F238E27FC236}">
                <a16:creationId xmlns:a16="http://schemas.microsoft.com/office/drawing/2014/main" id="{65321A41-0434-EFBA-CC7A-006B62FF38F1}"/>
              </a:ext>
            </a:extLst>
          </p:cNvPr>
          <p:cNvSpPr txBox="1">
            <a:spLocks noChangeAspect="1" noChangeArrowheads="1"/>
          </p:cNvSpPr>
          <p:nvPr/>
        </p:nvSpPr>
        <p:spPr bwMode="auto">
          <a:xfrm>
            <a:off x="7934300" y="4528448"/>
            <a:ext cx="10922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ea typeface="宋体" panose="02010600030101010101" pitchFamily="2" charset="-122"/>
              </a:rPr>
              <a:t>M</a:t>
            </a:r>
            <a:r>
              <a:rPr lang="en-US" altLang="zh-CN" b="0" i="0" dirty="0">
                <a:solidFill>
                  <a:srgbClr val="FF0000"/>
                </a:solidFill>
                <a:ea typeface="宋体" panose="02010600030101010101" pitchFamily="2" charset="-122"/>
              </a:rPr>
              <a:t> </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
        <p:nvSpPr>
          <p:cNvPr id="250" name="Text Box 71">
            <a:extLst>
              <a:ext uri="{FF2B5EF4-FFF2-40B4-BE49-F238E27FC236}">
                <a16:creationId xmlns:a16="http://schemas.microsoft.com/office/drawing/2014/main" id="{74803A6F-FAF5-9807-8A9D-799E2EB4C70F}"/>
              </a:ext>
            </a:extLst>
          </p:cNvPr>
          <p:cNvSpPr txBox="1">
            <a:spLocks noChangeAspect="1" noChangeArrowheads="1"/>
          </p:cNvSpPr>
          <p:nvPr/>
        </p:nvSpPr>
        <p:spPr bwMode="auto">
          <a:xfrm>
            <a:off x="10399687" y="4496698"/>
            <a:ext cx="1600969"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 </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M</a:t>
            </a:r>
            <a:r>
              <a:rPr lang="en-US" altLang="zh-CN" b="0" dirty="0">
                <a:solidFill>
                  <a:srgbClr val="FF0000"/>
                </a:solidFill>
                <a:ea typeface="宋体" panose="02010600030101010101" pitchFamily="2" charset="-122"/>
              </a:rPr>
              <a:t> </a:t>
            </a:r>
            <a:endParaRPr lang="en-US" altLang="zh-CN" b="0" i="0" dirty="0">
              <a:solidFill>
                <a:srgbClr val="FF0000"/>
              </a:solidFill>
            </a:endParaRPr>
          </a:p>
        </p:txBody>
      </p:sp>
      <p:sp>
        <p:nvSpPr>
          <p:cNvPr id="2" name="Text Box 1032">
            <a:extLst>
              <a:ext uri="{FF2B5EF4-FFF2-40B4-BE49-F238E27FC236}">
                <a16:creationId xmlns:a16="http://schemas.microsoft.com/office/drawing/2014/main" id="{9592D351-2B28-5813-EB7B-36BBE673D6FD}"/>
              </a:ext>
            </a:extLst>
          </p:cNvPr>
          <p:cNvSpPr txBox="1">
            <a:spLocks noChangeArrowheads="1"/>
          </p:cNvSpPr>
          <p:nvPr/>
        </p:nvSpPr>
        <p:spPr bwMode="auto">
          <a:xfrm>
            <a:off x="436926" y="859965"/>
            <a:ext cx="4794977" cy="62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zh-CN" altLang="en-US" sz="2800" i="0" dirty="0">
                <a:latin typeface="微软雅黑" panose="020B0503020204020204" pitchFamily="34" charset="-122"/>
                <a:ea typeface="微软雅黑" panose="020B0503020204020204" pitchFamily="34" charset="-122"/>
              </a:rPr>
              <a:t>由平衡条件可得 </a:t>
            </a:r>
            <a:endParaRPr lang="en-US" altLang="zh-CN" sz="2800" i="0" dirty="0">
              <a:latin typeface="微软雅黑" panose="020B0503020204020204" pitchFamily="34" charset="-122"/>
              <a:ea typeface="微软雅黑" panose="020B0503020204020204" pitchFamily="34" charset="-122"/>
            </a:endParaRPr>
          </a:p>
        </p:txBody>
      </p:sp>
      <p:graphicFrame>
        <p:nvGraphicFramePr>
          <p:cNvPr id="3" name="Object 72">
            <a:extLst>
              <a:ext uri="{FF2B5EF4-FFF2-40B4-BE49-F238E27FC236}">
                <a16:creationId xmlns:a16="http://schemas.microsoft.com/office/drawing/2014/main" id="{78A5EA6A-039A-89EC-DF46-1E3BF596F38C}"/>
              </a:ext>
            </a:extLst>
          </p:cNvPr>
          <p:cNvGraphicFramePr>
            <a:graphicFrameLocks noChangeAspect="1"/>
          </p:cNvGraphicFramePr>
          <p:nvPr>
            <p:extLst>
              <p:ext uri="{D42A27DB-BD31-4B8C-83A1-F6EECF244321}">
                <p14:modId xmlns:p14="http://schemas.microsoft.com/office/powerpoint/2010/main" val="717039254"/>
              </p:ext>
            </p:extLst>
          </p:nvPr>
        </p:nvGraphicFramePr>
        <p:xfrm>
          <a:off x="1728788" y="1520825"/>
          <a:ext cx="5153025" cy="496888"/>
        </p:xfrm>
        <a:graphic>
          <a:graphicData uri="http://schemas.openxmlformats.org/presentationml/2006/ole">
            <mc:AlternateContent xmlns:mc="http://schemas.openxmlformats.org/markup-compatibility/2006">
              <mc:Choice xmlns:v="urn:schemas-microsoft-com:vml" Requires="v">
                <p:oleObj spid="_x0000_s3214" name="Equation" r:id="rId4" imgW="2209680" imgH="215640" progId="Equation.DSMT4">
                  <p:embed/>
                </p:oleObj>
              </mc:Choice>
              <mc:Fallback>
                <p:oleObj name="Equation" r:id="rId4" imgW="2209680" imgH="215640" progId="Equation.DSMT4">
                  <p:embed/>
                  <p:pic>
                    <p:nvPicPr>
                      <p:cNvPr id="905288" name="Object 72">
                        <a:extLst>
                          <a:ext uri="{FF2B5EF4-FFF2-40B4-BE49-F238E27FC236}">
                            <a16:creationId xmlns:a16="http://schemas.microsoft.com/office/drawing/2014/main" id="{0640F0A6-BF9E-30B2-28CD-86003FBF16BA}"/>
                          </a:ext>
                        </a:extLst>
                      </p:cNvPr>
                      <p:cNvPicPr>
                        <a:picLocks noChangeAspect="1" noChangeArrowheads="1"/>
                      </p:cNvPicPr>
                      <p:nvPr/>
                    </p:nvPicPr>
                    <p:blipFill>
                      <a:blip r:embed="rId5"/>
                      <a:srcRect/>
                      <a:stretch>
                        <a:fillRect/>
                      </a:stretch>
                    </p:blipFill>
                    <p:spPr bwMode="auto">
                      <a:xfrm>
                        <a:off x="1728788" y="1520825"/>
                        <a:ext cx="5153025" cy="496888"/>
                      </a:xfrm>
                      <a:prstGeom prst="rect">
                        <a:avLst/>
                      </a:prstGeom>
                      <a:noFill/>
                    </p:spPr>
                  </p:pic>
                </p:oleObj>
              </mc:Fallback>
            </mc:AlternateContent>
          </a:graphicData>
        </a:graphic>
      </p:graphicFrame>
      <p:graphicFrame>
        <p:nvGraphicFramePr>
          <p:cNvPr id="4" name="Object 74">
            <a:extLst>
              <a:ext uri="{FF2B5EF4-FFF2-40B4-BE49-F238E27FC236}">
                <a16:creationId xmlns:a16="http://schemas.microsoft.com/office/drawing/2014/main" id="{072D2962-521A-6884-82A9-7D3C8BA68ADA}"/>
              </a:ext>
            </a:extLst>
          </p:cNvPr>
          <p:cNvGraphicFramePr>
            <a:graphicFrameLocks noChangeAspect="1"/>
          </p:cNvGraphicFramePr>
          <p:nvPr>
            <p:extLst>
              <p:ext uri="{D42A27DB-BD31-4B8C-83A1-F6EECF244321}">
                <p14:modId xmlns:p14="http://schemas.microsoft.com/office/powerpoint/2010/main" val="2708963008"/>
              </p:ext>
            </p:extLst>
          </p:nvPr>
        </p:nvGraphicFramePr>
        <p:xfrm>
          <a:off x="1729220" y="1982300"/>
          <a:ext cx="1842962" cy="849312"/>
        </p:xfrm>
        <a:graphic>
          <a:graphicData uri="http://schemas.openxmlformats.org/presentationml/2006/ole">
            <mc:AlternateContent xmlns:mc="http://schemas.openxmlformats.org/markup-compatibility/2006">
              <mc:Choice xmlns:v="urn:schemas-microsoft-com:vml" Requires="v">
                <p:oleObj spid="_x0000_s3215" name="Equation" r:id="rId6" imgW="914400" imgH="419040" progId="Equation.DSMT4">
                  <p:embed/>
                </p:oleObj>
              </mc:Choice>
              <mc:Fallback>
                <p:oleObj name="Equation" r:id="rId6" imgW="914400" imgH="419040" progId="Equation.DSMT4">
                  <p:embed/>
                  <p:pic>
                    <p:nvPicPr>
                      <p:cNvPr id="905290" name="Object 74">
                        <a:extLst>
                          <a:ext uri="{FF2B5EF4-FFF2-40B4-BE49-F238E27FC236}">
                            <a16:creationId xmlns:a16="http://schemas.microsoft.com/office/drawing/2014/main" id="{295E2225-8FB1-788C-FE72-014A928B8B75}"/>
                          </a:ext>
                        </a:extLst>
                      </p:cNvPr>
                      <p:cNvPicPr>
                        <a:picLocks noChangeAspect="1" noChangeArrowheads="1"/>
                      </p:cNvPicPr>
                      <p:nvPr/>
                    </p:nvPicPr>
                    <p:blipFill>
                      <a:blip r:embed="rId7"/>
                      <a:srcRect/>
                      <a:stretch>
                        <a:fillRect/>
                      </a:stretch>
                    </p:blipFill>
                    <p:spPr bwMode="auto">
                      <a:xfrm>
                        <a:off x="1729220" y="1982300"/>
                        <a:ext cx="1842962" cy="849312"/>
                      </a:xfrm>
                      <a:prstGeom prst="rect">
                        <a:avLst/>
                      </a:prstGeom>
                      <a:noFill/>
                    </p:spPr>
                  </p:pic>
                </p:oleObj>
              </mc:Fallback>
            </mc:AlternateContent>
          </a:graphicData>
        </a:graphic>
      </p:graphicFrame>
      <p:sp>
        <p:nvSpPr>
          <p:cNvPr id="5" name="Text Box 76" descr="花束">
            <a:extLst>
              <a:ext uri="{FF2B5EF4-FFF2-40B4-BE49-F238E27FC236}">
                <a16:creationId xmlns:a16="http://schemas.microsoft.com/office/drawing/2014/main" id="{368BBA25-A632-8B5E-CD0D-4552E13D15E4}"/>
              </a:ext>
            </a:extLst>
          </p:cNvPr>
          <p:cNvSpPr txBox="1">
            <a:spLocks noChangeArrowheads="1"/>
          </p:cNvSpPr>
          <p:nvPr/>
        </p:nvSpPr>
        <p:spPr bwMode="auto">
          <a:xfrm>
            <a:off x="340889" y="2740819"/>
            <a:ext cx="1974692"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2600" dirty="0"/>
              <a:t>∑</a:t>
            </a:r>
            <a:r>
              <a:rPr lang="en-US" altLang="zh-CN" sz="2600" b="0" dirty="0"/>
              <a:t>M</a:t>
            </a:r>
            <a:r>
              <a:rPr lang="en-US" altLang="zh-CN" sz="2600" b="0" baseline="-25000" dirty="0"/>
              <a:t>c</a:t>
            </a:r>
            <a:r>
              <a:rPr lang="en-US" altLang="zh-CN" sz="2600" b="0" i="0" dirty="0"/>
              <a:t>(</a:t>
            </a:r>
            <a:r>
              <a:rPr lang="en-US" altLang="zh-CN" sz="2600" b="0" dirty="0"/>
              <a:t>F</a:t>
            </a:r>
            <a:r>
              <a:rPr lang="en-US" altLang="zh-CN" sz="2600" b="0" i="0" dirty="0"/>
              <a:t>)=0</a:t>
            </a:r>
          </a:p>
        </p:txBody>
      </p:sp>
      <p:graphicFrame>
        <p:nvGraphicFramePr>
          <p:cNvPr id="6" name="Object 77">
            <a:extLst>
              <a:ext uri="{FF2B5EF4-FFF2-40B4-BE49-F238E27FC236}">
                <a16:creationId xmlns:a16="http://schemas.microsoft.com/office/drawing/2014/main" id="{2EF76462-6E79-53D0-E4CB-84731946B15A}"/>
              </a:ext>
            </a:extLst>
          </p:cNvPr>
          <p:cNvGraphicFramePr>
            <a:graphicFrameLocks noChangeAspect="1"/>
          </p:cNvGraphicFramePr>
          <p:nvPr>
            <p:extLst>
              <p:ext uri="{D42A27DB-BD31-4B8C-83A1-F6EECF244321}">
                <p14:modId xmlns:p14="http://schemas.microsoft.com/office/powerpoint/2010/main" val="1475448252"/>
              </p:ext>
            </p:extLst>
          </p:nvPr>
        </p:nvGraphicFramePr>
        <p:xfrm>
          <a:off x="2068594" y="2751911"/>
          <a:ext cx="5767281" cy="745049"/>
        </p:xfrm>
        <a:graphic>
          <a:graphicData uri="http://schemas.openxmlformats.org/presentationml/2006/ole">
            <mc:AlternateContent xmlns:mc="http://schemas.openxmlformats.org/markup-compatibility/2006">
              <mc:Choice xmlns:v="urn:schemas-microsoft-com:vml" Requires="v">
                <p:oleObj spid="_x0000_s3216" name="Equation" r:id="rId8" imgW="3022560" imgH="393480" progId="Equation.DSMT4">
                  <p:embed/>
                </p:oleObj>
              </mc:Choice>
              <mc:Fallback>
                <p:oleObj name="Equation" r:id="rId8" imgW="3022560" imgH="393480" progId="Equation.DSMT4">
                  <p:embed/>
                  <p:pic>
                    <p:nvPicPr>
                      <p:cNvPr id="905293" name="Object 77">
                        <a:extLst>
                          <a:ext uri="{FF2B5EF4-FFF2-40B4-BE49-F238E27FC236}">
                            <a16:creationId xmlns:a16="http://schemas.microsoft.com/office/drawing/2014/main" id="{6D5ACF7E-B9AE-BF21-1932-8B3A8A1705EA}"/>
                          </a:ext>
                        </a:extLst>
                      </p:cNvPr>
                      <p:cNvPicPr>
                        <a:picLocks noChangeAspect="1" noChangeArrowheads="1"/>
                      </p:cNvPicPr>
                      <p:nvPr/>
                    </p:nvPicPr>
                    <p:blipFill>
                      <a:blip r:embed="rId9"/>
                      <a:srcRect/>
                      <a:stretch>
                        <a:fillRect/>
                      </a:stretch>
                    </p:blipFill>
                    <p:spPr bwMode="auto">
                      <a:xfrm>
                        <a:off x="2068594" y="2751911"/>
                        <a:ext cx="5767281" cy="745049"/>
                      </a:xfrm>
                      <a:prstGeom prst="rect">
                        <a:avLst/>
                      </a:prstGeom>
                      <a:noFill/>
                      <a:extLst/>
                    </p:spPr>
                  </p:pic>
                </p:oleObj>
              </mc:Fallback>
            </mc:AlternateContent>
          </a:graphicData>
        </a:graphic>
      </p:graphicFrame>
      <p:sp>
        <p:nvSpPr>
          <p:cNvPr id="8" name="Text Box 1032">
            <a:extLst>
              <a:ext uri="{FF2B5EF4-FFF2-40B4-BE49-F238E27FC236}">
                <a16:creationId xmlns:a16="http://schemas.microsoft.com/office/drawing/2014/main" id="{2969C69B-5DEC-5291-F69C-9F56978664B3}"/>
              </a:ext>
            </a:extLst>
          </p:cNvPr>
          <p:cNvSpPr txBox="1">
            <a:spLocks noChangeArrowheads="1"/>
          </p:cNvSpPr>
          <p:nvPr/>
        </p:nvSpPr>
        <p:spPr bwMode="auto">
          <a:xfrm>
            <a:off x="436926" y="3313371"/>
            <a:ext cx="5155018" cy="62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40000"/>
              </a:lnSpc>
            </a:pPr>
            <a:r>
              <a:rPr lang="zh-CN" altLang="en-US" sz="2800" i="0" dirty="0">
                <a:latin typeface="+mj-lt"/>
                <a:ea typeface="微软雅黑" panose="020B0503020204020204" pitchFamily="34" charset="-122"/>
              </a:rPr>
              <a:t>略去</a:t>
            </a:r>
            <a:r>
              <a:rPr lang="en-US" altLang="zh-CN" sz="2800" b="0" i="0" dirty="0">
                <a:latin typeface="+mj-lt"/>
                <a:ea typeface="微软雅黑" panose="020B0503020204020204" pitchFamily="34" charset="-122"/>
              </a:rPr>
              <a:t>d</a:t>
            </a:r>
            <a:r>
              <a:rPr lang="en-US" altLang="zh-CN" sz="2800" b="0" dirty="0">
                <a:latin typeface="+mj-lt"/>
                <a:ea typeface="微软雅黑" panose="020B0503020204020204" pitchFamily="34" charset="-122"/>
              </a:rPr>
              <a:t>x</a:t>
            </a:r>
            <a:r>
              <a:rPr lang="zh-CN" altLang="en-US" sz="2800" i="0" dirty="0">
                <a:latin typeface="+mj-lt"/>
                <a:ea typeface="微软雅黑" panose="020B0503020204020204" pitchFamily="34" charset="-122"/>
              </a:rPr>
              <a:t>的两阶微量，简化后得 </a:t>
            </a:r>
            <a:endParaRPr lang="en-US" altLang="zh-CN" sz="2800" i="0" dirty="0">
              <a:latin typeface="+mj-lt"/>
              <a:ea typeface="微软雅黑" panose="020B0503020204020204" pitchFamily="34" charset="-122"/>
            </a:endParaRPr>
          </a:p>
        </p:txBody>
      </p:sp>
      <p:graphicFrame>
        <p:nvGraphicFramePr>
          <p:cNvPr id="10" name="Object 80">
            <a:extLst>
              <a:ext uri="{FF2B5EF4-FFF2-40B4-BE49-F238E27FC236}">
                <a16:creationId xmlns:a16="http://schemas.microsoft.com/office/drawing/2014/main" id="{10BB31B8-0A8B-48CD-CB92-C0DDAAF3F6B2}"/>
              </a:ext>
            </a:extLst>
          </p:cNvPr>
          <p:cNvGraphicFramePr>
            <a:graphicFrameLocks noChangeAspect="1"/>
          </p:cNvGraphicFramePr>
          <p:nvPr>
            <p:extLst>
              <p:ext uri="{D42A27DB-BD31-4B8C-83A1-F6EECF244321}">
                <p14:modId xmlns:p14="http://schemas.microsoft.com/office/powerpoint/2010/main" val="3604574468"/>
              </p:ext>
            </p:extLst>
          </p:nvPr>
        </p:nvGraphicFramePr>
        <p:xfrm>
          <a:off x="806068" y="4038981"/>
          <a:ext cx="2087562" cy="827087"/>
        </p:xfrm>
        <a:graphic>
          <a:graphicData uri="http://schemas.openxmlformats.org/presentationml/2006/ole">
            <mc:AlternateContent xmlns:mc="http://schemas.openxmlformats.org/markup-compatibility/2006">
              <mc:Choice xmlns:v="urn:schemas-microsoft-com:vml" Requires="v">
                <p:oleObj spid="_x0000_s3217" name="Equation" r:id="rId10" imgW="990360" imgH="393480" progId="Equation.DSMT4">
                  <p:embed/>
                </p:oleObj>
              </mc:Choice>
              <mc:Fallback>
                <p:oleObj name="Equation" r:id="rId10" imgW="990360" imgH="393480" progId="Equation.DSMT4">
                  <p:embed/>
                  <p:pic>
                    <p:nvPicPr>
                      <p:cNvPr id="905296" name="Object 80">
                        <a:extLst>
                          <a:ext uri="{FF2B5EF4-FFF2-40B4-BE49-F238E27FC236}">
                            <a16:creationId xmlns:a16="http://schemas.microsoft.com/office/drawing/2014/main" id="{CD38AF0A-B1D8-ECED-D718-063F3D3965BB}"/>
                          </a:ext>
                        </a:extLst>
                      </p:cNvPr>
                      <p:cNvPicPr>
                        <a:picLocks noChangeAspect="1" noChangeArrowheads="1"/>
                      </p:cNvPicPr>
                      <p:nvPr/>
                    </p:nvPicPr>
                    <p:blipFill>
                      <a:blip r:embed="rId11"/>
                      <a:srcRect/>
                      <a:stretch>
                        <a:fillRect/>
                      </a:stretch>
                    </p:blipFill>
                    <p:spPr bwMode="auto">
                      <a:xfrm>
                        <a:off x="806068" y="4038981"/>
                        <a:ext cx="2087562"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3">
            <a:extLst>
              <a:ext uri="{FF2B5EF4-FFF2-40B4-BE49-F238E27FC236}">
                <a16:creationId xmlns:a16="http://schemas.microsoft.com/office/drawing/2014/main" id="{9618928E-B788-632C-8C19-DA88B36C2D50}"/>
              </a:ext>
            </a:extLst>
          </p:cNvPr>
          <p:cNvGraphicFramePr>
            <a:graphicFrameLocks noChangeAspect="1"/>
          </p:cNvGraphicFramePr>
          <p:nvPr>
            <p:extLst>
              <p:ext uri="{D42A27DB-BD31-4B8C-83A1-F6EECF244321}">
                <p14:modId xmlns:p14="http://schemas.microsoft.com/office/powerpoint/2010/main" val="1875450613"/>
              </p:ext>
            </p:extLst>
          </p:nvPr>
        </p:nvGraphicFramePr>
        <p:xfrm>
          <a:off x="3456647" y="3984625"/>
          <a:ext cx="3294063" cy="881063"/>
        </p:xfrm>
        <a:graphic>
          <a:graphicData uri="http://schemas.openxmlformats.org/presentationml/2006/ole">
            <mc:AlternateContent xmlns:mc="http://schemas.openxmlformats.org/markup-compatibility/2006">
              <mc:Choice xmlns:v="urn:schemas-microsoft-com:vml" Requires="v">
                <p:oleObj spid="_x0000_s3218" name="Equation" r:id="rId12" imgW="1562040" imgH="419040" progId="Equation.DSMT4">
                  <p:embed/>
                </p:oleObj>
              </mc:Choice>
              <mc:Fallback>
                <p:oleObj name="Equation" r:id="rId12" imgW="1562040" imgH="419040" progId="Equation.DSMT4">
                  <p:embed/>
                  <p:pic>
                    <p:nvPicPr>
                      <p:cNvPr id="906253" name="Object 13">
                        <a:extLst>
                          <a:ext uri="{FF2B5EF4-FFF2-40B4-BE49-F238E27FC236}">
                            <a16:creationId xmlns:a16="http://schemas.microsoft.com/office/drawing/2014/main" id="{1FF8EC1F-833A-2545-7491-A8D46541DDAF}"/>
                          </a:ext>
                        </a:extLst>
                      </p:cNvPr>
                      <p:cNvPicPr>
                        <a:picLocks noChangeAspect="1" noChangeArrowheads="1"/>
                      </p:cNvPicPr>
                      <p:nvPr/>
                    </p:nvPicPr>
                    <p:blipFill>
                      <a:blip r:embed="rId13"/>
                      <a:srcRect/>
                      <a:stretch>
                        <a:fillRect/>
                      </a:stretch>
                    </p:blipFill>
                    <p:spPr bwMode="auto">
                      <a:xfrm>
                        <a:off x="3456647" y="3984625"/>
                        <a:ext cx="3294063"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032">
            <a:extLst>
              <a:ext uri="{FF2B5EF4-FFF2-40B4-BE49-F238E27FC236}">
                <a16:creationId xmlns:a16="http://schemas.microsoft.com/office/drawing/2014/main" id="{EB74C18F-11DD-738D-D2D1-2E11FF6892FB}"/>
              </a:ext>
            </a:extLst>
          </p:cNvPr>
          <p:cNvSpPr txBox="1">
            <a:spLocks noChangeArrowheads="1"/>
          </p:cNvSpPr>
          <p:nvPr/>
        </p:nvSpPr>
        <p:spPr bwMode="auto">
          <a:xfrm>
            <a:off x="436925" y="4961317"/>
            <a:ext cx="7140187" cy="1233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40000"/>
              </a:lnSpc>
            </a:pPr>
            <a:r>
              <a:rPr kumimoji="1" lang="zh-CN" altLang="en-US" sz="2800" i="0" dirty="0">
                <a:latin typeface="+mn-lt"/>
                <a:ea typeface="微软雅黑" panose="020B0503020204020204" pitchFamily="34" charset="-122"/>
              </a:rPr>
              <a:t>以上两式表明了</a:t>
            </a:r>
            <a:r>
              <a:rPr kumimoji="1" lang="zh-CN" altLang="en-US" sz="2800" i="0" dirty="0">
                <a:solidFill>
                  <a:srgbClr val="FF00FF"/>
                </a:solidFill>
                <a:latin typeface="+mn-lt"/>
                <a:ea typeface="微软雅黑" panose="020B0503020204020204" pitchFamily="34" charset="-122"/>
              </a:rPr>
              <a:t>同一截面处</a:t>
            </a:r>
            <a:r>
              <a:rPr kumimoji="1" lang="en-US" altLang="zh-CN" sz="2800" b="0" dirty="0">
                <a:solidFill>
                  <a:srgbClr val="FF00FF"/>
                </a:solidFill>
                <a:latin typeface="+mn-lt"/>
                <a:ea typeface="微软雅黑" panose="020B0503020204020204" pitchFamily="34" charset="-122"/>
              </a:rPr>
              <a:t>M</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F</a:t>
            </a:r>
            <a:r>
              <a:rPr kumimoji="1" lang="en-US" altLang="zh-CN" sz="2800" b="0" i="0" baseline="-25000" dirty="0">
                <a:solidFill>
                  <a:srgbClr val="FF00FF"/>
                </a:solidFill>
                <a:latin typeface="+mn-lt"/>
                <a:ea typeface="微软雅黑" panose="020B0503020204020204" pitchFamily="34" charset="-122"/>
              </a:rPr>
              <a:t>Q</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与</a:t>
            </a:r>
            <a:r>
              <a:rPr kumimoji="1" lang="en-US" altLang="zh-CN" sz="2800" b="0" dirty="0">
                <a:solidFill>
                  <a:srgbClr val="FF00FF"/>
                </a:solidFill>
                <a:latin typeface="+mn-lt"/>
                <a:ea typeface="微软雅黑" panose="020B0503020204020204" pitchFamily="34" charset="-122"/>
              </a:rPr>
              <a:t>q</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三者之间的关系</a:t>
            </a:r>
            <a:r>
              <a:rPr kumimoji="1" lang="zh-CN" altLang="en-US" sz="2800" i="0" dirty="0">
                <a:latin typeface="+mn-lt"/>
                <a:ea typeface="微软雅黑" panose="020B0503020204020204" pitchFamily="34" charset="-122"/>
              </a:rPr>
              <a:t>。</a:t>
            </a:r>
            <a:endParaRPr lang="en-US" altLang="zh-CN" sz="2800" i="0" dirty="0">
              <a:latin typeface="+mn-lt"/>
              <a:ea typeface="微软雅黑" panose="020B0503020204020204" pitchFamily="34" charset="-122"/>
            </a:endParaRPr>
          </a:p>
        </p:txBody>
      </p:sp>
    </p:spTree>
    <p:extLst>
      <p:ext uri="{BB962C8B-B14F-4D97-AF65-F5344CB8AC3E}">
        <p14:creationId xmlns:p14="http://schemas.microsoft.com/office/powerpoint/2010/main" val="42849660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par>
                          <p:cTn id="15" fill="hold">
                            <p:stCondLst>
                              <p:cond delay="0"/>
                            </p:stCondLst>
                            <p:childTnLst>
                              <p:par>
                                <p:cTn id="16" presetID="6" presetClass="emph" presetSubtype="0" repeatCount="2000" accel="50000" decel="50000" autoRev="1" fill="hold" nodeType="afterEffect">
                                  <p:stCondLst>
                                    <p:cond delay="0"/>
                                  </p:stCondLst>
                                  <p:childTnLst>
                                    <p:animScale>
                                      <p:cBhvr>
                                        <p:cTn id="17" dur="5000" fill="hold"/>
                                        <p:tgtEl>
                                          <p:spTgt spid="49"/>
                                        </p:tgtEl>
                                      </p:cBhvr>
                                      <p:by x="10000" y="100000"/>
                                    </p:animScale>
                                  </p:childTnLst>
                                </p:cTn>
                              </p:par>
                              <p:par>
                                <p:cTn id="18" presetID="0" presetClass="path" presetSubtype="0" repeatCount="2000" accel="50000" decel="50000" autoRev="1" fill="hold" nodeType="withEffect">
                                  <p:stCondLst>
                                    <p:cond delay="0"/>
                                  </p:stCondLst>
                                  <p:childTnLst>
                                    <p:animMotion origin="layout" path="M 3.33333E-6 -3.33333E-6 L -0.0194 -0.00185 " pathEditMode="relative" rAng="0" ptsTypes="AA">
                                      <p:cBhvr>
                                        <p:cTn id="19" dur="5000" fill="hold"/>
                                        <p:tgtEl>
                                          <p:spTgt spid="49"/>
                                        </p:tgtEl>
                                        <p:attrNameLst>
                                          <p:attrName>ppt_x</p:attrName>
                                          <p:attrName>ppt_y</p:attrName>
                                        </p:attrNameLst>
                                      </p:cBhvr>
                                      <p:rCtr x="-977" y="-93"/>
                                    </p:animMotion>
                                  </p:childTnLst>
                                </p:cTn>
                              </p:par>
                            </p:childTnLst>
                          </p:cTn>
                        </p:par>
                        <p:par>
                          <p:cTn id="20" fill="hold">
                            <p:stCondLst>
                              <p:cond delay="20000"/>
                            </p:stCondLst>
                            <p:childTnLst>
                              <p:par>
                                <p:cTn id="21" presetID="53"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p:cTn id="23" dur="3000" fill="hold"/>
                                        <p:tgtEl>
                                          <p:spTgt spid="48"/>
                                        </p:tgtEl>
                                        <p:attrNameLst>
                                          <p:attrName>ppt_w</p:attrName>
                                        </p:attrNameLst>
                                      </p:cBhvr>
                                      <p:tavLst>
                                        <p:tav tm="0">
                                          <p:val>
                                            <p:fltVal val="0"/>
                                          </p:val>
                                        </p:tav>
                                        <p:tav tm="100000">
                                          <p:val>
                                            <p:strVal val="#ppt_w"/>
                                          </p:val>
                                        </p:tav>
                                      </p:tavLst>
                                    </p:anim>
                                    <p:anim calcmode="lin" valueType="num">
                                      <p:cBhvr>
                                        <p:cTn id="24" dur="3000" fill="hold"/>
                                        <p:tgtEl>
                                          <p:spTgt spid="48"/>
                                        </p:tgtEl>
                                        <p:attrNameLst>
                                          <p:attrName>ppt_h</p:attrName>
                                        </p:attrNameLst>
                                      </p:cBhvr>
                                      <p:tavLst>
                                        <p:tav tm="0">
                                          <p:val>
                                            <p:fltVal val="0"/>
                                          </p:val>
                                        </p:tav>
                                        <p:tav tm="100000">
                                          <p:val>
                                            <p:strVal val="#ppt_h"/>
                                          </p:val>
                                        </p:tav>
                                      </p:tavLst>
                                    </p:anim>
                                    <p:animEffect transition="in" filter="fade">
                                      <p:cBhvr>
                                        <p:cTn id="25" dur="30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9"/>
                                        </p:tgtEl>
                                        <p:attrNameLst>
                                          <p:attrName>style.visibility</p:attrName>
                                        </p:attrNameLst>
                                      </p:cBhvr>
                                      <p:to>
                                        <p:strVal val="visible"/>
                                      </p:to>
                                    </p:set>
                                  </p:childTnLst>
                                </p:cTn>
                              </p:par>
                            </p:childTnLst>
                          </p:cTn>
                        </p:par>
                        <p:par>
                          <p:cTn id="30" fill="hold">
                            <p:stCondLst>
                              <p:cond delay="0"/>
                            </p:stCondLst>
                            <p:childTnLst>
                              <p:par>
                                <p:cTn id="31" presetID="6" presetClass="emph" presetSubtype="0" repeatCount="2000" autoRev="1" fill="hold" grpId="1" nodeType="afterEffect">
                                  <p:stCondLst>
                                    <p:cond delay="0"/>
                                  </p:stCondLst>
                                  <p:childTnLst>
                                    <p:animScale>
                                      <p:cBhvr>
                                        <p:cTn id="32" dur="1000" fill="hold"/>
                                        <p:tgtEl>
                                          <p:spTgt spid="229"/>
                                        </p:tgtEl>
                                      </p:cBhvr>
                                      <p:by x="100000" y="150000"/>
                                    </p:animScale>
                                  </p:childTnLst>
                                </p:cTn>
                              </p:par>
                            </p:childTnLst>
                          </p:cTn>
                        </p:par>
                        <p:par>
                          <p:cTn id="33" fill="hold">
                            <p:stCondLst>
                              <p:cond delay="4000"/>
                            </p:stCondLst>
                            <p:childTnLst>
                              <p:par>
                                <p:cTn id="34" presetID="36" presetClass="path" presetSubtype="0" accel="50000" decel="50000" fill="hold" grpId="2" nodeType="afterEffect">
                                  <p:stCondLst>
                                    <p:cond delay="0"/>
                                  </p:stCondLst>
                                  <p:childTnLst>
                                    <p:animMotion origin="layout" path="M 1.875E-6 -2.22222E-6 L 0.00169 0.06412 C 0.10625 0.07014 0.43437 0.07014 0.49883 0.07014 L 0.50013 0.00834 " pathEditMode="relative" rAng="0" ptsTypes="AAAA">
                                      <p:cBhvr>
                                        <p:cTn id="35" dur="8000" fill="hold"/>
                                        <p:tgtEl>
                                          <p:spTgt spid="229"/>
                                        </p:tgtEl>
                                        <p:attrNameLst>
                                          <p:attrName>ppt_x</p:attrName>
                                          <p:attrName>ppt_y</p:attrName>
                                        </p:attrNameLst>
                                      </p:cBhvr>
                                      <p:rCtr x="25000" y="3495"/>
                                    </p:animMotion>
                                  </p:childTnLst>
                                </p:cTn>
                              </p:par>
                            </p:childTnLst>
                          </p:cTn>
                        </p:par>
                        <p:par>
                          <p:cTn id="36" fill="hold">
                            <p:stCondLst>
                              <p:cond delay="12000"/>
                            </p:stCondLst>
                            <p:childTnLst>
                              <p:par>
                                <p:cTn id="37" presetID="1" presetClass="exit" presetSubtype="0" fill="hold" grpId="3" nodeType="afterEffect">
                                  <p:stCondLst>
                                    <p:cond delay="0"/>
                                  </p:stCondLst>
                                  <p:childTnLst>
                                    <p:set>
                                      <p:cBhvr>
                                        <p:cTn id="38" dur="1" fill="hold">
                                          <p:stCondLst>
                                            <p:cond delay="0"/>
                                          </p:stCondLst>
                                        </p:cTn>
                                        <p:tgtEl>
                                          <p:spTgt spid="229"/>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30"/>
                                        </p:tgtEl>
                                        <p:attrNameLst>
                                          <p:attrName>style.visibility</p:attrName>
                                        </p:attrNameLst>
                                      </p:cBhvr>
                                      <p:to>
                                        <p:strVal val="visible"/>
                                      </p:to>
                                    </p:set>
                                  </p:childTnLst>
                                </p:cTn>
                              </p:par>
                              <p:par>
                                <p:cTn id="41" presetID="6" presetClass="emph" presetSubtype="0" fill="hold" nodeType="withEffect">
                                  <p:stCondLst>
                                    <p:cond delay="0"/>
                                  </p:stCondLst>
                                  <p:childTnLst>
                                    <p:animScale>
                                      <p:cBhvr>
                                        <p:cTn id="42" dur="10" fill="hold"/>
                                        <p:tgtEl>
                                          <p:spTgt spid="230"/>
                                        </p:tgtEl>
                                      </p:cBhvr>
                                      <p:by x="25000" y="100000"/>
                                    </p:animScale>
                                  </p:childTnLst>
                                </p:cTn>
                              </p:par>
                              <p:par>
                                <p:cTn id="43" presetID="6" presetClass="emph" presetSubtype="0" fill="hold" nodeType="withEffect">
                                  <p:stCondLst>
                                    <p:cond delay="0"/>
                                  </p:stCondLst>
                                  <p:childTnLst>
                                    <p:animScale>
                                      <p:cBhvr>
                                        <p:cTn id="44" dur="10" fill="hold"/>
                                        <p:tgtEl>
                                          <p:spTgt spid="230"/>
                                        </p:tgtEl>
                                      </p:cBhvr>
                                      <p:by x="100000" y="10000"/>
                                    </p:animScale>
                                  </p:childTnLst>
                                </p:cTn>
                              </p:par>
                            </p:childTnLst>
                          </p:cTn>
                        </p:par>
                        <p:par>
                          <p:cTn id="45" fill="hold">
                            <p:stCondLst>
                              <p:cond delay="12010"/>
                            </p:stCondLst>
                            <p:childTnLst>
                              <p:par>
                                <p:cTn id="46" presetID="6" presetClass="emph" presetSubtype="0" fill="hold" nodeType="afterEffect">
                                  <p:stCondLst>
                                    <p:cond delay="2000"/>
                                  </p:stCondLst>
                                  <p:childTnLst>
                                    <p:animScale>
                                      <p:cBhvr>
                                        <p:cTn id="47" dur="8000" fill="hold"/>
                                        <p:tgtEl>
                                          <p:spTgt spid="230"/>
                                        </p:tgtEl>
                                      </p:cBhvr>
                                      <p:by x="400000" y="100000"/>
                                    </p:animScale>
                                  </p:childTnLst>
                                </p:cTn>
                              </p:par>
                              <p:par>
                                <p:cTn id="48" presetID="6" presetClass="emph" presetSubtype="0" fill="hold" nodeType="withEffect">
                                  <p:stCondLst>
                                    <p:cond delay="2000"/>
                                  </p:stCondLst>
                                  <p:childTnLst>
                                    <p:animScale>
                                      <p:cBhvr>
                                        <p:cTn id="49" dur="8000" fill="hold"/>
                                        <p:tgtEl>
                                          <p:spTgt spid="230"/>
                                        </p:tgtEl>
                                      </p:cBhvr>
                                      <p:by x="100000" y="1000000"/>
                                    </p:animScale>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244"/>
                                        </p:tgtEl>
                                        <p:attrNameLst>
                                          <p:attrName>style.visibility</p:attrName>
                                        </p:attrNameLst>
                                      </p:cBhvr>
                                      <p:to>
                                        <p:strVal val="visible"/>
                                      </p:to>
                                    </p:set>
                                    <p:animEffect transition="in" filter="slide(fromBottom)">
                                      <p:cBhvr>
                                        <p:cTn id="54" dur="3000"/>
                                        <p:tgtEl>
                                          <p:spTgt spid="244"/>
                                        </p:tgtEl>
                                      </p:cBhvr>
                                    </p:animEffect>
                                  </p:childTnLst>
                                </p:cTn>
                              </p:par>
                              <p:par>
                                <p:cTn id="55" presetID="12" presetClass="entr" presetSubtype="1" fill="hold" nodeType="withEffect">
                                  <p:stCondLst>
                                    <p:cond delay="0"/>
                                  </p:stCondLst>
                                  <p:childTnLst>
                                    <p:set>
                                      <p:cBhvr>
                                        <p:cTn id="56" dur="1" fill="hold">
                                          <p:stCondLst>
                                            <p:cond delay="0"/>
                                          </p:stCondLst>
                                        </p:cTn>
                                        <p:tgtEl>
                                          <p:spTgt spid="243"/>
                                        </p:tgtEl>
                                        <p:attrNameLst>
                                          <p:attrName>style.visibility</p:attrName>
                                        </p:attrNameLst>
                                      </p:cBhvr>
                                      <p:to>
                                        <p:strVal val="visible"/>
                                      </p:to>
                                    </p:set>
                                    <p:animEffect transition="in" filter="slide(fromTop)">
                                      <p:cBhvr>
                                        <p:cTn id="57" dur="3000"/>
                                        <p:tgtEl>
                                          <p:spTgt spid="243"/>
                                        </p:tgtEl>
                                      </p:cBhvr>
                                    </p:animEffect>
                                  </p:childTnLst>
                                </p:cTn>
                              </p:par>
                            </p:childTnLst>
                          </p:cTn>
                        </p:par>
                        <p:par>
                          <p:cTn id="58" fill="hold">
                            <p:stCondLst>
                              <p:cond delay="3000"/>
                            </p:stCondLst>
                            <p:childTnLst>
                              <p:par>
                                <p:cTn id="59" presetID="19" presetClass="entr" presetSubtype="10" fill="hold" grpId="0" nodeType="afterEffect">
                                  <p:stCondLst>
                                    <p:cond delay="0"/>
                                  </p:stCondLst>
                                  <p:childTnLst>
                                    <p:set>
                                      <p:cBhvr>
                                        <p:cTn id="60" dur="1" fill="hold">
                                          <p:stCondLst>
                                            <p:cond delay="0"/>
                                          </p:stCondLst>
                                        </p:cTn>
                                        <p:tgtEl>
                                          <p:spTgt spid="245"/>
                                        </p:tgtEl>
                                        <p:attrNameLst>
                                          <p:attrName>style.visibility</p:attrName>
                                        </p:attrNameLst>
                                      </p:cBhvr>
                                      <p:to>
                                        <p:strVal val="visible"/>
                                      </p:to>
                                    </p:set>
                                    <p:anim calcmode="lin" valueType="num">
                                      <p:cBhvr>
                                        <p:cTn id="61" dur="5000" fill="hold"/>
                                        <p:tgtEl>
                                          <p:spTgt spid="245"/>
                                        </p:tgtEl>
                                        <p:attrNameLst>
                                          <p:attrName>ppt_w</p:attrName>
                                        </p:attrNameLst>
                                      </p:cBhvr>
                                      <p:tavLst>
                                        <p:tav tm="0" fmla="#ppt_w*sin(2.5*pi*$)">
                                          <p:val>
                                            <p:fltVal val="0"/>
                                          </p:val>
                                        </p:tav>
                                        <p:tav tm="100000">
                                          <p:val>
                                            <p:fltVal val="1"/>
                                          </p:val>
                                        </p:tav>
                                      </p:tavLst>
                                    </p:anim>
                                    <p:anim calcmode="lin" valueType="num">
                                      <p:cBhvr>
                                        <p:cTn id="62" dur="5000" fill="hold"/>
                                        <p:tgtEl>
                                          <p:spTgt spid="245"/>
                                        </p:tgtEl>
                                        <p:attrNameLst>
                                          <p:attrName>ppt_h</p:attrName>
                                        </p:attrNameLst>
                                      </p:cBhvr>
                                      <p:tavLst>
                                        <p:tav tm="0">
                                          <p:val>
                                            <p:strVal val="#ppt_h"/>
                                          </p:val>
                                        </p:tav>
                                        <p:tav tm="100000">
                                          <p:val>
                                            <p:strVal val="#ppt_h"/>
                                          </p:val>
                                        </p:tav>
                                      </p:tavLst>
                                    </p:anim>
                                  </p:childTnLst>
                                </p:cTn>
                              </p:par>
                              <p:par>
                                <p:cTn id="63" presetID="19" presetClass="entr" presetSubtype="10" fill="hold" grpId="0" nodeType="withEffect">
                                  <p:stCondLst>
                                    <p:cond delay="0"/>
                                  </p:stCondLst>
                                  <p:childTnLst>
                                    <p:set>
                                      <p:cBhvr>
                                        <p:cTn id="64" dur="1" fill="hold">
                                          <p:stCondLst>
                                            <p:cond delay="0"/>
                                          </p:stCondLst>
                                        </p:cTn>
                                        <p:tgtEl>
                                          <p:spTgt spid="246"/>
                                        </p:tgtEl>
                                        <p:attrNameLst>
                                          <p:attrName>style.visibility</p:attrName>
                                        </p:attrNameLst>
                                      </p:cBhvr>
                                      <p:to>
                                        <p:strVal val="visible"/>
                                      </p:to>
                                    </p:set>
                                    <p:anim calcmode="lin" valueType="num">
                                      <p:cBhvr>
                                        <p:cTn id="65" dur="5000" fill="hold"/>
                                        <p:tgtEl>
                                          <p:spTgt spid="246"/>
                                        </p:tgtEl>
                                        <p:attrNameLst>
                                          <p:attrName>ppt_w</p:attrName>
                                        </p:attrNameLst>
                                      </p:cBhvr>
                                      <p:tavLst>
                                        <p:tav tm="0" fmla="#ppt_w*sin(2.5*pi*$)">
                                          <p:val>
                                            <p:fltVal val="0"/>
                                          </p:val>
                                        </p:tav>
                                        <p:tav tm="100000">
                                          <p:val>
                                            <p:fltVal val="1"/>
                                          </p:val>
                                        </p:tav>
                                      </p:tavLst>
                                    </p:anim>
                                    <p:anim calcmode="lin" valueType="num">
                                      <p:cBhvr>
                                        <p:cTn id="66" dur="5000" fill="hold"/>
                                        <p:tgtEl>
                                          <p:spTgt spid="246"/>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48"/>
                                        </p:tgtEl>
                                        <p:attrNameLst>
                                          <p:attrName>style.visibility</p:attrName>
                                        </p:attrNameLst>
                                      </p:cBhvr>
                                      <p:to>
                                        <p:strVal val="visible"/>
                                      </p:to>
                                    </p:set>
                                    <p:animEffect transition="in" filter="wipe(down)">
                                      <p:cBhvr>
                                        <p:cTn id="71" dur="5000"/>
                                        <p:tgtEl>
                                          <p:spTgt spid="248"/>
                                        </p:tgtEl>
                                      </p:cBhvr>
                                    </p:animEffect>
                                  </p:childTnLst>
                                </p:cTn>
                              </p:par>
                              <p:par>
                                <p:cTn id="72" presetID="22" presetClass="entr" presetSubtype="4" fill="hold" nodeType="withEffect">
                                  <p:stCondLst>
                                    <p:cond delay="0"/>
                                  </p:stCondLst>
                                  <p:childTnLst>
                                    <p:set>
                                      <p:cBhvr>
                                        <p:cTn id="73" dur="1" fill="hold">
                                          <p:stCondLst>
                                            <p:cond delay="0"/>
                                          </p:stCondLst>
                                        </p:cTn>
                                        <p:tgtEl>
                                          <p:spTgt spid="247"/>
                                        </p:tgtEl>
                                        <p:attrNameLst>
                                          <p:attrName>style.visibility</p:attrName>
                                        </p:attrNameLst>
                                      </p:cBhvr>
                                      <p:to>
                                        <p:strVal val="visible"/>
                                      </p:to>
                                    </p:set>
                                    <p:animEffect transition="in" filter="wipe(down)">
                                      <p:cBhvr>
                                        <p:cTn id="74" dur="5000"/>
                                        <p:tgtEl>
                                          <p:spTgt spid="247"/>
                                        </p:tgtEl>
                                      </p:cBhvr>
                                    </p:animEffect>
                                  </p:childTnLst>
                                </p:cTn>
                              </p:par>
                            </p:childTnLst>
                          </p:cTn>
                        </p:par>
                        <p:par>
                          <p:cTn id="75" fill="hold">
                            <p:stCondLst>
                              <p:cond delay="5000"/>
                            </p:stCondLst>
                            <p:childTnLst>
                              <p:par>
                                <p:cTn id="76" presetID="8" presetClass="emph" presetSubtype="0" fill="hold" nodeType="afterEffect">
                                  <p:stCondLst>
                                    <p:cond delay="0"/>
                                  </p:stCondLst>
                                  <p:childTnLst>
                                    <p:animRot by="21600000">
                                      <p:cBhvr>
                                        <p:cTn id="77" dur="3000" fill="hold"/>
                                        <p:tgtEl>
                                          <p:spTgt spid="248"/>
                                        </p:tgtEl>
                                        <p:attrNameLst>
                                          <p:attrName>r</p:attrName>
                                        </p:attrNameLst>
                                      </p:cBhvr>
                                    </p:animRot>
                                  </p:childTnLst>
                                </p:cTn>
                              </p:par>
                              <p:par>
                                <p:cTn id="78" presetID="8" presetClass="emph" presetSubtype="0" fill="hold" nodeType="withEffect">
                                  <p:stCondLst>
                                    <p:cond delay="0"/>
                                  </p:stCondLst>
                                  <p:childTnLst>
                                    <p:animRot by="-21600000">
                                      <p:cBhvr>
                                        <p:cTn id="79" dur="3000" fill="hold"/>
                                        <p:tgtEl>
                                          <p:spTgt spid="247"/>
                                        </p:tgtEl>
                                        <p:attrNameLst>
                                          <p:attrName>r</p:attrName>
                                        </p:attrNameLst>
                                      </p:cBhvr>
                                    </p:animRot>
                                  </p:childTnLst>
                                </p:cTn>
                              </p:par>
                            </p:childTnLst>
                          </p:cTn>
                        </p:par>
                        <p:par>
                          <p:cTn id="80" fill="hold">
                            <p:stCondLst>
                              <p:cond delay="8000"/>
                            </p:stCondLst>
                            <p:childTnLst>
                              <p:par>
                                <p:cTn id="81" presetID="19" presetClass="entr" presetSubtype="10" fill="hold" grpId="0" nodeType="afterEffect">
                                  <p:stCondLst>
                                    <p:cond delay="0"/>
                                  </p:stCondLst>
                                  <p:childTnLst>
                                    <p:set>
                                      <p:cBhvr>
                                        <p:cTn id="82" dur="1" fill="hold">
                                          <p:stCondLst>
                                            <p:cond delay="0"/>
                                          </p:stCondLst>
                                        </p:cTn>
                                        <p:tgtEl>
                                          <p:spTgt spid="249"/>
                                        </p:tgtEl>
                                        <p:attrNameLst>
                                          <p:attrName>style.visibility</p:attrName>
                                        </p:attrNameLst>
                                      </p:cBhvr>
                                      <p:to>
                                        <p:strVal val="visible"/>
                                      </p:to>
                                    </p:set>
                                    <p:anim calcmode="lin" valueType="num">
                                      <p:cBhvr>
                                        <p:cTn id="83" dur="5000" fill="hold"/>
                                        <p:tgtEl>
                                          <p:spTgt spid="249"/>
                                        </p:tgtEl>
                                        <p:attrNameLst>
                                          <p:attrName>ppt_w</p:attrName>
                                        </p:attrNameLst>
                                      </p:cBhvr>
                                      <p:tavLst>
                                        <p:tav tm="0" fmla="#ppt_w*sin(2.5*pi*$)">
                                          <p:val>
                                            <p:fltVal val="0"/>
                                          </p:val>
                                        </p:tav>
                                        <p:tav tm="100000">
                                          <p:val>
                                            <p:fltVal val="1"/>
                                          </p:val>
                                        </p:tav>
                                      </p:tavLst>
                                    </p:anim>
                                    <p:anim calcmode="lin" valueType="num">
                                      <p:cBhvr>
                                        <p:cTn id="84" dur="5000" fill="hold"/>
                                        <p:tgtEl>
                                          <p:spTgt spid="249"/>
                                        </p:tgtEl>
                                        <p:attrNameLst>
                                          <p:attrName>ppt_h</p:attrName>
                                        </p:attrNameLst>
                                      </p:cBhvr>
                                      <p:tavLst>
                                        <p:tav tm="0">
                                          <p:val>
                                            <p:strVal val="#ppt_h"/>
                                          </p:val>
                                        </p:tav>
                                        <p:tav tm="100000">
                                          <p:val>
                                            <p:strVal val="#ppt_h"/>
                                          </p:val>
                                        </p:tav>
                                      </p:tavLst>
                                    </p:anim>
                                  </p:childTnLst>
                                </p:cTn>
                              </p:par>
                              <p:par>
                                <p:cTn id="85" presetID="19" presetClass="entr" presetSubtype="10" fill="hold" grpId="0" nodeType="withEffect">
                                  <p:stCondLst>
                                    <p:cond delay="0"/>
                                  </p:stCondLst>
                                  <p:childTnLst>
                                    <p:set>
                                      <p:cBhvr>
                                        <p:cTn id="86" dur="1" fill="hold">
                                          <p:stCondLst>
                                            <p:cond delay="0"/>
                                          </p:stCondLst>
                                        </p:cTn>
                                        <p:tgtEl>
                                          <p:spTgt spid="250"/>
                                        </p:tgtEl>
                                        <p:attrNameLst>
                                          <p:attrName>style.visibility</p:attrName>
                                        </p:attrNameLst>
                                      </p:cBhvr>
                                      <p:to>
                                        <p:strVal val="visible"/>
                                      </p:to>
                                    </p:set>
                                    <p:anim calcmode="lin" valueType="num">
                                      <p:cBhvr>
                                        <p:cTn id="87" dur="5000" fill="hold"/>
                                        <p:tgtEl>
                                          <p:spTgt spid="250"/>
                                        </p:tgtEl>
                                        <p:attrNameLst>
                                          <p:attrName>ppt_w</p:attrName>
                                        </p:attrNameLst>
                                      </p:cBhvr>
                                      <p:tavLst>
                                        <p:tav tm="0" fmla="#ppt_w*sin(2.5*pi*$)">
                                          <p:val>
                                            <p:fltVal val="0"/>
                                          </p:val>
                                        </p:tav>
                                        <p:tav tm="100000">
                                          <p:val>
                                            <p:fltVal val="1"/>
                                          </p:val>
                                        </p:tav>
                                      </p:tavLst>
                                    </p:anim>
                                    <p:anim calcmode="lin" valueType="num">
                                      <p:cBhvr>
                                        <p:cTn id="88" dur="5000" fill="hold"/>
                                        <p:tgtEl>
                                          <p:spTgt spid="250"/>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wipe(left)">
                                      <p:cBhvr>
                                        <p:cTn id="97" dur="5000"/>
                                        <p:tgtEl>
                                          <p:spTgt spid="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wipe(left)">
                                      <p:cBhvr>
                                        <p:cTn id="102" dur="5000"/>
                                        <p:tgtEl>
                                          <p:spTgt spid="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iterate type="lt">
                                    <p:tmPct val="30000"/>
                                  </p:iterate>
                                  <p:childTnLst>
                                    <p:set>
                                      <p:cBhvr>
                                        <p:cTn id="106" dur="1" fill="hold">
                                          <p:stCondLst>
                                            <p:cond delay="0"/>
                                          </p:stCondLst>
                                        </p:cTn>
                                        <p:tgtEl>
                                          <p:spTgt spid="5">
                                            <p:txEl>
                                              <p:pRg st="0" end="0"/>
                                            </p:txEl>
                                          </p:spTgt>
                                        </p:tgtEl>
                                        <p:attrNameLst>
                                          <p:attrName>style.visibility</p:attrName>
                                        </p:attrNameLst>
                                      </p:cBhvr>
                                      <p:to>
                                        <p:strVal val="visible"/>
                                      </p:to>
                                    </p:set>
                                    <p:animEffect transition="in" filter="wipe(left)">
                                      <p:cBhvr>
                                        <p:cTn id="107" dur="500"/>
                                        <p:tgtEl>
                                          <p:spTgt spid="5">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wipe(left)">
                                      <p:cBhvr>
                                        <p:cTn id="112" dur="5000"/>
                                        <p:tgtEl>
                                          <p:spTgt spid="6"/>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10"/>
                                        </p:tgtEl>
                                        <p:attrNameLst>
                                          <p:attrName>style.visibility</p:attrName>
                                        </p:attrNameLst>
                                      </p:cBhvr>
                                      <p:to>
                                        <p:strVal val="visible"/>
                                      </p:to>
                                    </p:set>
                                    <p:animEffect transition="in" filter="wipe(left)">
                                      <p:cBhvr>
                                        <p:cTn id="121" dur="5000"/>
                                        <p:tgtEl>
                                          <p:spTgt spid="1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11"/>
                                        </p:tgtEl>
                                        <p:attrNameLst>
                                          <p:attrName>style.visibility</p:attrName>
                                        </p:attrNameLst>
                                      </p:cBhvr>
                                      <p:to>
                                        <p:strVal val="visible"/>
                                      </p:to>
                                    </p:set>
                                    <p:animEffect transition="in" filter="wipe(left)">
                                      <p:cBhvr>
                                        <p:cTn id="126" dur="5000"/>
                                        <p:tgtEl>
                                          <p:spTgt spid="11"/>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48" grpId="0"/>
      <p:bldP spid="229" grpId="0" animBg="1"/>
      <p:bldP spid="229" grpId="1" animBg="1"/>
      <p:bldP spid="229" grpId="2" animBg="1"/>
      <p:bldP spid="229" grpId="3" animBg="1"/>
      <p:bldP spid="245" grpId="0"/>
      <p:bldP spid="246" grpId="0"/>
      <p:bldP spid="249" grpId="0"/>
      <p:bldP spid="250" grpId="0"/>
      <p:bldP spid="2" grpId="0" autoUpdateAnimBg="0"/>
      <p:bldP spid="5" grpId="0" build="p" autoUpdateAnimBg="0"/>
      <p:bldP spid="8" grpId="0" autoUpdateAnimBg="0"/>
      <p:bldP spid="1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3727935" y="881059"/>
            <a:ext cx="4031873"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剪力图与弯矩图的绘制</a:t>
            </a:r>
          </a:p>
        </p:txBody>
      </p:sp>
      <p:sp>
        <p:nvSpPr>
          <p:cNvPr id="15" name="Text Box 1032"/>
          <p:cNvSpPr txBox="1">
            <a:spLocks noChangeArrowheads="1"/>
          </p:cNvSpPr>
          <p:nvPr/>
        </p:nvSpPr>
        <p:spPr bwMode="auto">
          <a:xfrm>
            <a:off x="390052" y="1435057"/>
            <a:ext cx="11665296"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为表示剪力和弯矩沿梁轴的变化情况，可根据</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x</a:t>
            </a:r>
            <a:r>
              <a:rPr kumimoji="1" lang="en-US" altLang="zh-CN" sz="2800" b="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和</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latin typeface="+mn-lt"/>
                <a:ea typeface="微软雅黑" panose="020B0503020204020204" pitchFamily="34" charset="-122"/>
              </a:rPr>
              <a:t>两函数，分别取</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为横坐标轴，</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 和</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latin typeface="+mn-lt"/>
                <a:ea typeface="微软雅黑" panose="020B0503020204020204" pitchFamily="34" charset="-122"/>
              </a:rPr>
              <a:t>为纵坐标轴绘出的图形，称为剪力图和弯矩图。</a:t>
            </a:r>
            <a:endParaRPr lang="zh-CN" altLang="en-US" sz="2800" i="0" dirty="0">
              <a:latin typeface="+mj-lt"/>
              <a:ea typeface="微软雅黑" panose="020B0503020204020204" pitchFamily="34" charset="-122"/>
            </a:endParaRPr>
          </a:p>
        </p:txBody>
      </p:sp>
      <p:pic>
        <p:nvPicPr>
          <p:cNvPr id="49" name="图片 48">
            <a:extLst>
              <a:ext uri="{FF2B5EF4-FFF2-40B4-BE49-F238E27FC236}">
                <a16:creationId xmlns:a16="http://schemas.microsoft.com/office/drawing/2014/main" id="{F5BC75CD-9827-D83D-C26A-6525CCBF63C6}"/>
              </a:ext>
            </a:extLst>
          </p:cNvPr>
          <p:cNvPicPr>
            <a:picLocks noChangeAspect="1"/>
          </p:cNvPicPr>
          <p:nvPr/>
        </p:nvPicPr>
        <p:blipFill>
          <a:blip r:embed="rId3"/>
          <a:stretch>
            <a:fillRect/>
          </a:stretch>
        </p:blipFill>
        <p:spPr>
          <a:xfrm>
            <a:off x="5790652" y="2467675"/>
            <a:ext cx="6264696" cy="3914683"/>
          </a:xfrm>
          <a:prstGeom prst="rect">
            <a:avLst/>
          </a:prstGeom>
        </p:spPr>
      </p:pic>
      <p:sp>
        <p:nvSpPr>
          <p:cNvPr id="6" name="Text Box 1032"/>
          <p:cNvSpPr txBox="1">
            <a:spLocks noChangeArrowheads="1"/>
          </p:cNvSpPr>
          <p:nvPr/>
        </p:nvSpPr>
        <p:spPr bwMode="auto">
          <a:xfrm>
            <a:off x="390052" y="2713111"/>
            <a:ext cx="5273900"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工程上常利用剪力、弯矩和载荷集度三者之间的微分关系，并注意到在集中力 </a:t>
            </a:r>
            <a:r>
              <a:rPr kumimoji="1" lang="en-US" altLang="zh-CN" sz="2800" b="0" dirty="0">
                <a:latin typeface="+mn-lt"/>
                <a:ea typeface="微软雅黑" panose="020B0503020204020204" pitchFamily="34" charset="-122"/>
              </a:rPr>
              <a:t>F </a:t>
            </a:r>
            <a:r>
              <a:rPr kumimoji="1" lang="zh-CN" altLang="en-US" sz="2800" i="0" dirty="0">
                <a:latin typeface="+mn-lt"/>
                <a:ea typeface="微软雅黑" panose="020B0503020204020204" pitchFamily="34" charset="-122"/>
              </a:rPr>
              <a:t>的邻域内剪力图有突变，在集中力偶</a:t>
            </a:r>
            <a:r>
              <a:rPr kumimoji="1" lang="en-US" altLang="zh-CN" sz="2800" b="0" dirty="0">
                <a:latin typeface="+mn-lt"/>
                <a:ea typeface="微软雅黑" panose="020B0503020204020204" pitchFamily="34" charset="-122"/>
              </a:rPr>
              <a:t>M </a:t>
            </a:r>
            <a:r>
              <a:rPr kumimoji="1" lang="zh-CN" altLang="en-US" sz="2800" i="0" dirty="0">
                <a:latin typeface="+mn-lt"/>
                <a:ea typeface="微软雅黑" panose="020B0503020204020204" pitchFamily="34" charset="-122"/>
              </a:rPr>
              <a:t>的邻域内弯矩图有突变的性质，进行作图。</a:t>
            </a:r>
            <a:r>
              <a:rPr kumimoji="1" lang="en-US" altLang="zh-CN" sz="2800" i="0" dirty="0">
                <a:latin typeface="+mn-lt"/>
                <a:ea typeface="微软雅黑" panose="020B0503020204020204" pitchFamily="34" charset="-122"/>
              </a:rPr>
              <a:t> </a:t>
            </a:r>
            <a:r>
              <a:rPr kumimoji="1" lang="en-US" altLang="zh-CN" sz="280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利用微分规律简易法作内力图</a:t>
            </a:r>
            <a:r>
              <a:rPr kumimoji="1" lang="en-US" altLang="zh-CN" sz="2800" i="0" dirty="0">
                <a:solidFill>
                  <a:srgbClr val="FF00FF"/>
                </a:solidFill>
                <a:latin typeface="+mn-lt"/>
                <a:ea typeface="微软雅黑" panose="020B0503020204020204" pitchFamily="34" charset="-122"/>
              </a:rPr>
              <a:t>)</a:t>
            </a:r>
            <a:endParaRPr lang="zh-CN" altLang="en-US" sz="2800" i="0" dirty="0">
              <a:solidFill>
                <a:srgbClr val="FF00FF"/>
              </a:solidFill>
              <a:latin typeface="+mj-lt"/>
              <a:ea typeface="微软雅黑" panose="020B0503020204020204" pitchFamily="34" charset="-122"/>
            </a:endParaRPr>
          </a:p>
        </p:txBody>
      </p:sp>
    </p:spTree>
    <p:extLst>
      <p:ext uri="{BB962C8B-B14F-4D97-AF65-F5344CB8AC3E}">
        <p14:creationId xmlns:p14="http://schemas.microsoft.com/office/powerpoint/2010/main" val="12604878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 name="Text Box 1032"/>
          <p:cNvSpPr txBox="1">
            <a:spLocks noChangeArrowheads="1"/>
          </p:cNvSpPr>
          <p:nvPr/>
        </p:nvSpPr>
        <p:spPr bwMode="auto">
          <a:xfrm>
            <a:off x="390052" y="1196752"/>
            <a:ext cx="10314460"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solidFill>
                  <a:srgbClr val="FF00FF"/>
                </a:solidFill>
                <a:latin typeface="+mn-lt"/>
                <a:ea typeface="微软雅黑" panose="020B0503020204020204" pitchFamily="34" charset="-122"/>
              </a:rPr>
              <a:t>简易法作内力图基本步骤</a:t>
            </a:r>
            <a:endParaRPr lang="zh-CN" altLang="en-US" sz="2800" i="0" dirty="0">
              <a:solidFill>
                <a:srgbClr val="FF00FF"/>
              </a:solidFill>
              <a:latin typeface="+mj-lt"/>
              <a:ea typeface="微软雅黑" panose="020B0503020204020204" pitchFamily="34" charset="-122"/>
            </a:endParaRPr>
          </a:p>
        </p:txBody>
      </p:sp>
      <p:sp>
        <p:nvSpPr>
          <p:cNvPr id="8" name="矩形 7">
            <a:extLst>
              <a:ext uri="{FF2B5EF4-FFF2-40B4-BE49-F238E27FC236}">
                <a16:creationId xmlns:a16="http://schemas.microsoft.com/office/drawing/2014/main" id="{E8DB0D0A-8BE9-6ADA-6C58-96049487BA32}"/>
              </a:ext>
            </a:extLst>
          </p:cNvPr>
          <p:cNvSpPr/>
          <p:nvPr/>
        </p:nvSpPr>
        <p:spPr>
          <a:xfrm>
            <a:off x="695400" y="1762100"/>
            <a:ext cx="11017224" cy="565348"/>
          </a:xfrm>
          <a:prstGeom prst="rect">
            <a:avLst/>
          </a:prstGeom>
        </p:spPr>
        <p:txBody>
          <a:bodyPr wrap="square">
            <a:spAutoFit/>
          </a:bodyPr>
          <a:lstStyle/>
          <a:p>
            <a:pPr>
              <a:lnSpc>
                <a:spcPct val="120000"/>
              </a:lnSpc>
            </a:pPr>
            <a:r>
              <a:rPr kumimoji="1" lang="en-US" altLang="zh-CN" sz="2800" i="0" dirty="0">
                <a:solidFill>
                  <a:schemeClr val="tx1"/>
                </a:solidFill>
                <a:latin typeface="+mn-lt"/>
                <a:ea typeface="微软雅黑" panose="020B0503020204020204" pitchFamily="34" charset="-122"/>
              </a:rPr>
              <a:t>1)  </a:t>
            </a:r>
            <a:r>
              <a:rPr kumimoji="1" lang="zh-CN" altLang="en-US" sz="2800" i="0" dirty="0">
                <a:solidFill>
                  <a:srgbClr val="000000"/>
                </a:solidFill>
                <a:latin typeface="+mn-lt"/>
                <a:ea typeface="微软雅黑" panose="020B0503020204020204" pitchFamily="34" charset="-122"/>
              </a:rPr>
              <a:t>确定支座反力；</a:t>
            </a:r>
            <a:endParaRPr kumimoji="1" lang="en-US" altLang="zh-CN" i="0" dirty="0">
              <a:solidFill>
                <a:schemeClr val="tx1"/>
              </a:solidFill>
              <a:latin typeface="+mn-lt"/>
              <a:ea typeface="黑体" panose="02010609060101010101" pitchFamily="49" charset="-122"/>
            </a:endParaRPr>
          </a:p>
        </p:txBody>
      </p:sp>
      <p:sp>
        <p:nvSpPr>
          <p:cNvPr id="9" name="矩形 8">
            <a:extLst>
              <a:ext uri="{FF2B5EF4-FFF2-40B4-BE49-F238E27FC236}">
                <a16:creationId xmlns:a16="http://schemas.microsoft.com/office/drawing/2014/main" id="{E8DB0D0A-8BE9-6ADA-6C58-96049487BA32}"/>
              </a:ext>
            </a:extLst>
          </p:cNvPr>
          <p:cNvSpPr/>
          <p:nvPr/>
        </p:nvSpPr>
        <p:spPr>
          <a:xfrm>
            <a:off x="695400" y="2991347"/>
            <a:ext cx="10925375" cy="523220"/>
          </a:xfrm>
          <a:prstGeom prst="rect">
            <a:avLst/>
          </a:prstGeom>
        </p:spPr>
        <p:txBody>
          <a:bodyPr wrap="square">
            <a:spAutoFit/>
          </a:bodyPr>
          <a:lstStyle/>
          <a:p>
            <a:r>
              <a:rPr kumimoji="1" lang="en-US" altLang="zh-CN" sz="2800" i="0" dirty="0">
                <a:solidFill>
                  <a:schemeClr val="tx1"/>
                </a:solidFill>
                <a:ea typeface="微软雅黑" panose="020B0503020204020204" pitchFamily="34" charset="-122"/>
              </a:rPr>
              <a:t>3)  </a:t>
            </a:r>
            <a:r>
              <a:rPr kumimoji="1" lang="zh-CN" altLang="en-US" sz="2800" i="0" dirty="0">
                <a:solidFill>
                  <a:srgbClr val="000000"/>
                </a:solidFill>
                <a:latin typeface="+mn-lt"/>
                <a:ea typeface="微软雅黑" panose="020B0503020204020204" pitchFamily="34" charset="-122"/>
              </a:rPr>
              <a:t>确定控制点内力的数值大小及正负；</a:t>
            </a:r>
          </a:p>
        </p:txBody>
      </p:sp>
      <p:sp>
        <p:nvSpPr>
          <p:cNvPr id="10" name="矩形 9">
            <a:extLst>
              <a:ext uri="{FF2B5EF4-FFF2-40B4-BE49-F238E27FC236}">
                <a16:creationId xmlns:a16="http://schemas.microsoft.com/office/drawing/2014/main" id="{E8DB0D0A-8BE9-6ADA-6C58-96049487BA32}"/>
              </a:ext>
            </a:extLst>
          </p:cNvPr>
          <p:cNvSpPr/>
          <p:nvPr/>
        </p:nvSpPr>
        <p:spPr>
          <a:xfrm>
            <a:off x="695400" y="2241896"/>
            <a:ext cx="10925375" cy="738664"/>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2)  </a:t>
            </a:r>
            <a:r>
              <a:rPr kumimoji="1" lang="zh-CN" altLang="en-US" sz="2800" i="0" dirty="0">
                <a:solidFill>
                  <a:srgbClr val="000000"/>
                </a:solidFill>
                <a:latin typeface="+mn-lt"/>
                <a:ea typeface="微软雅黑" panose="020B0503020204020204" pitchFamily="34" charset="-122"/>
              </a:rPr>
              <a:t>利用微分规律判断梁各段内力图的形状；</a:t>
            </a:r>
            <a:endParaRPr kumimoji="1" lang="en-US" altLang="zh-CN" sz="2800" i="0" dirty="0">
              <a:solidFill>
                <a:srgbClr val="000000"/>
              </a:solidFill>
              <a:latin typeface="+mn-lt"/>
              <a:ea typeface="微软雅黑" panose="020B0503020204020204" pitchFamily="34" charset="-122"/>
            </a:endParaRPr>
          </a:p>
        </p:txBody>
      </p:sp>
      <p:sp>
        <p:nvSpPr>
          <p:cNvPr id="11" name="矩形 10">
            <a:extLst>
              <a:ext uri="{FF2B5EF4-FFF2-40B4-BE49-F238E27FC236}">
                <a16:creationId xmlns:a16="http://schemas.microsoft.com/office/drawing/2014/main" id="{E8DB0D0A-8BE9-6ADA-6C58-96049487BA32}"/>
              </a:ext>
            </a:extLst>
          </p:cNvPr>
          <p:cNvSpPr/>
          <p:nvPr/>
        </p:nvSpPr>
        <p:spPr>
          <a:xfrm>
            <a:off x="695400" y="3444000"/>
            <a:ext cx="10925375" cy="1307537"/>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4)  </a:t>
            </a:r>
            <a:r>
              <a:rPr kumimoji="1" lang="zh-CN" altLang="en-US" sz="2800" i="0" dirty="0">
                <a:solidFill>
                  <a:srgbClr val="000000"/>
                </a:solidFill>
                <a:latin typeface="+mn-lt"/>
                <a:ea typeface="微软雅黑" panose="020B0503020204020204" pitchFamily="34" charset="-122"/>
              </a:rPr>
              <a:t>描点画内力图。</a:t>
            </a:r>
          </a:p>
          <a:p>
            <a:pPr>
              <a:lnSpc>
                <a:spcPct val="150000"/>
              </a:lnSpc>
              <a:buClr>
                <a:srgbClr val="FF3300"/>
              </a:buClr>
            </a:pPr>
            <a:endParaRPr kumimoji="1" lang="en-US" altLang="zh-CN" sz="2800" i="0" dirty="0">
              <a:solidFill>
                <a:srgbClr val="000000"/>
              </a:solidFill>
              <a:latin typeface="+mn-lt"/>
              <a:ea typeface="微软雅黑" panose="020B0503020204020204" pitchFamily="34" charset="-122"/>
            </a:endParaRPr>
          </a:p>
        </p:txBody>
      </p:sp>
      <p:sp>
        <p:nvSpPr>
          <p:cNvPr id="12" name="矩形 11">
            <a:extLst>
              <a:ext uri="{FF2B5EF4-FFF2-40B4-BE49-F238E27FC236}">
                <a16:creationId xmlns:a16="http://schemas.microsoft.com/office/drawing/2014/main" id="{E8DB0D0A-8BE9-6ADA-6C58-96049487BA32}"/>
              </a:ext>
            </a:extLst>
          </p:cNvPr>
          <p:cNvSpPr/>
          <p:nvPr/>
        </p:nvSpPr>
        <p:spPr>
          <a:xfrm>
            <a:off x="695400" y="4365104"/>
            <a:ext cx="10925375" cy="662297"/>
          </a:xfrm>
          <a:prstGeom prst="rect">
            <a:avLst/>
          </a:prstGeom>
        </p:spPr>
        <p:txBody>
          <a:bodyPr wrap="square">
            <a:spAutoFit/>
          </a:bodyPr>
          <a:lstStyle/>
          <a:p>
            <a:pPr>
              <a:lnSpc>
                <a:spcPct val="150000"/>
              </a:lnSpc>
              <a:buClr>
                <a:srgbClr val="FF3300"/>
              </a:buClr>
            </a:pPr>
            <a:r>
              <a:rPr kumimoji="1" lang="zh-CN" altLang="en-US" sz="2800" i="0" dirty="0">
                <a:solidFill>
                  <a:srgbClr val="000000"/>
                </a:solidFill>
                <a:latin typeface="+mn-lt"/>
                <a:ea typeface="微软雅黑" panose="020B0503020204020204" pitchFamily="34" charset="-122"/>
              </a:rPr>
              <a:t>控制点</a:t>
            </a:r>
            <a:r>
              <a:rPr kumimoji="1" lang="en-US" altLang="zh-CN" sz="2800" i="0" dirty="0">
                <a:solidFill>
                  <a:srgbClr val="000000"/>
                </a:solidFill>
                <a:latin typeface="+mn-lt"/>
                <a:ea typeface="微软雅黑" panose="020B0503020204020204" pitchFamily="34" charset="-122"/>
              </a:rPr>
              <a:t>: </a:t>
            </a:r>
            <a:r>
              <a:rPr kumimoji="1" lang="zh-CN" altLang="en-US" sz="2800" i="0" dirty="0">
                <a:solidFill>
                  <a:srgbClr val="FF0000"/>
                </a:solidFill>
                <a:latin typeface="+mn-lt"/>
                <a:ea typeface="微软雅黑" panose="020B0503020204020204" pitchFamily="34" charset="-122"/>
              </a:rPr>
              <a:t>端点、分段点（外力变化点）和驻点（极值点）</a:t>
            </a:r>
            <a:r>
              <a:rPr kumimoji="1" lang="zh-CN" altLang="en-US" sz="2800" i="0" dirty="0">
                <a:solidFill>
                  <a:srgbClr val="000000"/>
                </a:solidFill>
                <a:latin typeface="+mn-lt"/>
                <a:ea typeface="微软雅黑" panose="020B0503020204020204" pitchFamily="34" charset="-122"/>
              </a:rPr>
              <a:t>等。</a:t>
            </a:r>
            <a:endParaRPr kumimoji="1" lang="en-US" altLang="zh-CN" sz="2800" i="0" dirty="0">
              <a:solidFill>
                <a:srgbClr val="000000"/>
              </a:solidFill>
              <a:latin typeface="+mn-lt"/>
              <a:ea typeface="微软雅黑" panose="020B0503020204020204" pitchFamily="34" charset="-122"/>
            </a:endParaRPr>
          </a:p>
        </p:txBody>
      </p:sp>
    </p:spTree>
    <p:extLst>
      <p:ext uri="{BB962C8B-B14F-4D97-AF65-F5344CB8AC3E}">
        <p14:creationId xmlns:p14="http://schemas.microsoft.com/office/powerpoint/2010/main" val="29342260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p:bldP spid="9" grpId="0"/>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11233248"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图示起重机大梁的跨度为</a:t>
            </a:r>
            <a:r>
              <a:rPr kumimoji="1" lang="en-US" altLang="zh-CN" b="0" dirty="0">
                <a:solidFill>
                  <a:schemeClr val="tx1"/>
                </a:solidFill>
                <a:latin typeface="+mn-lt"/>
                <a:ea typeface="黑体" panose="02010609060101010101" pitchFamily="49" charset="-122"/>
              </a:rPr>
              <a:t>l</a:t>
            </a:r>
            <a:r>
              <a:rPr kumimoji="1" lang="zh-CN" altLang="en-US" i="0" dirty="0">
                <a:solidFill>
                  <a:schemeClr val="tx1"/>
                </a:solidFill>
                <a:latin typeface="+mn-lt"/>
                <a:ea typeface="黑体" panose="02010609060101010101" pitchFamily="49" charset="-122"/>
              </a:rPr>
              <a:t>，自重力可看作均布载荷</a:t>
            </a:r>
            <a:r>
              <a:rPr kumimoji="1" lang="en-US" altLang="zh-CN" b="0" dirty="0">
                <a:solidFill>
                  <a:schemeClr val="tx1"/>
                </a:solidFill>
                <a:latin typeface="+mn-lt"/>
                <a:ea typeface="黑体" panose="02010609060101010101" pitchFamily="49" charset="-122"/>
              </a:rPr>
              <a:t>q</a:t>
            </a:r>
            <a:r>
              <a:rPr kumimoji="1" lang="zh-CN" altLang="en-US" i="0" dirty="0">
                <a:solidFill>
                  <a:schemeClr val="tx1"/>
                </a:solidFill>
                <a:latin typeface="+mn-lt"/>
                <a:ea typeface="黑体" panose="02010609060101010101" pitchFamily="49" charset="-122"/>
              </a:rPr>
              <a:t>。若小车所吊起物体的重力暂不考虑，试作剪力图与弯矩图。</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a:t>
            </a:r>
            <a:r>
              <a:rPr kumimoji="1" lang="zh-CN" altLang="en-US" i="0" dirty="0">
                <a:solidFill>
                  <a:schemeClr val="tx1"/>
                </a:solidFill>
                <a:ea typeface="黑体" panose="02010609060101010101" pitchFamily="49" charset="-122"/>
              </a:rPr>
              <a:t>将起重机大梁简化为简支梁，可得 </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1374548"/>
            <a:ext cx="4730549" cy="4859513"/>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19709" cy="3053144"/>
          </a:xfrm>
          <a:prstGeom prst="rect">
            <a:avLst/>
          </a:prstGeom>
        </p:spPr>
        <p:txBody>
          <a:bodyPr wrap="square">
            <a:spAutoFit/>
          </a:bodyPr>
          <a:lstStyle/>
          <a:p>
            <a:pPr lvl="0">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画剪力图与弯矩图。观察此梁所受外载情况，可知其左、右两端受集中力，全梁受负的均布力，所以剪力图在</a:t>
            </a:r>
            <a:r>
              <a:rPr kumimoji="1" lang="en-US" altLang="zh-CN" b="0" dirty="0">
                <a:solidFill>
                  <a:schemeClr val="tx1"/>
                </a:solidFill>
                <a:latin typeface="+mn-lt"/>
                <a:ea typeface="黑体" panose="02010609060101010101" pitchFamily="49" charset="-122"/>
              </a:rPr>
              <a:t>x</a:t>
            </a:r>
            <a:r>
              <a:rPr kumimoji="1" lang="zh-CN" altLang="en-US" b="0" i="0" dirty="0">
                <a:solidFill>
                  <a:schemeClr val="tx1"/>
                </a:solidFill>
                <a:latin typeface="+mn-lt"/>
                <a:ea typeface="黑体" panose="02010609060101010101" pitchFamily="49" charset="-122"/>
              </a:rPr>
              <a:t>＝</a:t>
            </a:r>
            <a:r>
              <a:rPr kumimoji="1" lang="en-US" altLang="zh-CN" b="0" i="0" dirty="0">
                <a:solidFill>
                  <a:schemeClr val="tx1"/>
                </a:solidFill>
                <a:latin typeface="+mn-lt"/>
                <a:ea typeface="黑体" panose="02010609060101010101" pitchFamily="49" charset="-122"/>
              </a:rPr>
              <a:t>0+</a:t>
            </a:r>
            <a:r>
              <a:rPr kumimoji="1" lang="zh-CN" altLang="en-US" i="0" dirty="0">
                <a:solidFill>
                  <a:schemeClr val="tx1"/>
                </a:solidFill>
                <a:latin typeface="+mn-lt"/>
                <a:ea typeface="黑体" panose="02010609060101010101" pitchFamily="49" charset="-122"/>
              </a:rPr>
              <a:t>和</a:t>
            </a:r>
            <a:r>
              <a:rPr kumimoji="1" lang="en-US" altLang="zh-CN" b="0" dirty="0">
                <a:solidFill>
                  <a:schemeClr val="tx1"/>
                </a:solidFill>
                <a:latin typeface="+mn-lt"/>
                <a:ea typeface="黑体" panose="02010609060101010101" pitchFamily="49" charset="-122"/>
              </a:rPr>
              <a:t>x</a:t>
            </a:r>
            <a:r>
              <a:rPr kumimoji="1" lang="zh-CN" altLang="en-US"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l</a:t>
            </a:r>
            <a:r>
              <a:rPr kumimoji="1" lang="zh-CN" altLang="en-US" b="0" i="0" dirty="0">
                <a:solidFill>
                  <a:schemeClr val="tx1"/>
                </a:solidFill>
                <a:latin typeface="+mn-lt"/>
                <a:ea typeface="黑体" panose="02010609060101010101" pitchFamily="49" charset="-122"/>
              </a:rPr>
              <a:t>－</a:t>
            </a:r>
            <a:r>
              <a:rPr kumimoji="1" lang="zh-CN" altLang="en-US" i="0" dirty="0">
                <a:solidFill>
                  <a:schemeClr val="tx1"/>
                </a:solidFill>
                <a:latin typeface="+mn-lt"/>
                <a:ea typeface="黑体" panose="02010609060101010101" pitchFamily="49" charset="-122"/>
              </a:rPr>
              <a:t>处有突变，在整个梁段上是斜率为负的直线。取梁的左、右端微段，求其平衡，可得</a:t>
            </a:r>
            <a:endParaRPr kumimoji="1" lang="en-US" altLang="zh-CN" i="0" dirty="0">
              <a:solidFill>
                <a:schemeClr val="tx1"/>
              </a:solidFill>
              <a:latin typeface="+mn-lt"/>
              <a:ea typeface="黑体" panose="02010609060101010101" pitchFamily="49" charset="-122"/>
            </a:endParaRPr>
          </a:p>
          <a:p>
            <a:pPr lvl="0">
              <a:lnSpc>
                <a:spcPct val="130000"/>
              </a:lnSpc>
            </a:pPr>
            <a:r>
              <a:rPr kumimoji="1" lang="en-US" altLang="zh-CN" sz="2800" b="0" i="0" dirty="0">
                <a:solidFill>
                  <a:schemeClr val="tx1"/>
                </a:solidFill>
                <a:latin typeface="+mn-lt"/>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ql</a:t>
            </a:r>
            <a:r>
              <a:rPr kumimoji="1" lang="en-US" altLang="zh-CN" b="0" i="0" dirty="0">
                <a:solidFill>
                  <a:schemeClr val="tx1"/>
                </a:solidFill>
                <a:ea typeface="黑体" panose="02010609060101010101" pitchFamily="49" charset="-122"/>
              </a:rPr>
              <a:t>/2 </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 =</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ql</a:t>
            </a:r>
            <a:r>
              <a:rPr kumimoji="1" lang="en-US" altLang="zh-CN" b="0" i="0" dirty="0">
                <a:solidFill>
                  <a:schemeClr val="tx1"/>
                </a:solidFill>
                <a:ea typeface="黑体" panose="02010609060101010101" pitchFamily="49" charset="-122"/>
              </a:rPr>
              <a:t>/2 </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a:t>
            </a:r>
            <a:r>
              <a:rPr kumimoji="1" lang="en-US" altLang="zh-CN" i="0" dirty="0">
                <a:solidFill>
                  <a:schemeClr val="tx1"/>
                </a:solidFill>
                <a:latin typeface="+mn-lt"/>
                <a:ea typeface="黑体" panose="02010609060101010101" pitchFamily="49" charset="-122"/>
              </a:rPr>
              <a:t>   </a:t>
            </a:r>
          </a:p>
        </p:txBody>
      </p:sp>
      <p:grpSp>
        <p:nvGrpSpPr>
          <p:cNvPr id="79" name="Group 9"/>
          <p:cNvGrpSpPr>
            <a:grpSpLocks/>
          </p:cNvGrpSpPr>
          <p:nvPr/>
        </p:nvGrpSpPr>
        <p:grpSpPr bwMode="auto">
          <a:xfrm>
            <a:off x="7638466" y="1558151"/>
            <a:ext cx="3529013" cy="2073275"/>
            <a:chOff x="3505" y="-72"/>
            <a:chExt cx="2223" cy="1306"/>
          </a:xfrm>
        </p:grpSpPr>
        <p:sp>
          <p:nvSpPr>
            <p:cNvPr id="80" name="Text Box 10"/>
            <p:cNvSpPr txBox="1">
              <a:spLocks noChangeAspect="1" noChangeArrowheads="1"/>
            </p:cNvSpPr>
            <p:nvPr/>
          </p:nvSpPr>
          <p:spPr bwMode="auto">
            <a:xfrm flipH="1">
              <a:off x="4542" y="842"/>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3200" b="0">
                  <a:solidFill>
                    <a:srgbClr val="000000"/>
                  </a:solidFill>
                  <a:ea typeface="宋体" panose="02010600030101010101" pitchFamily="2" charset="-122"/>
                </a:rPr>
                <a:t>l</a:t>
              </a:r>
            </a:p>
          </p:txBody>
        </p:sp>
        <p:sp>
          <p:nvSpPr>
            <p:cNvPr id="81" name="Text Box 11"/>
            <p:cNvSpPr txBox="1">
              <a:spLocks noChangeAspect="1" noChangeArrowheads="1"/>
            </p:cNvSpPr>
            <p:nvPr/>
          </p:nvSpPr>
          <p:spPr bwMode="auto">
            <a:xfrm>
              <a:off x="3505" y="369"/>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A</a:t>
              </a:r>
            </a:p>
          </p:txBody>
        </p:sp>
        <p:sp>
          <p:nvSpPr>
            <p:cNvPr id="82" name="Text Box 12"/>
            <p:cNvSpPr txBox="1">
              <a:spLocks noChangeAspect="1" noChangeArrowheads="1"/>
            </p:cNvSpPr>
            <p:nvPr/>
          </p:nvSpPr>
          <p:spPr bwMode="auto">
            <a:xfrm>
              <a:off x="5435" y="382"/>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B   </a:t>
              </a:r>
            </a:p>
          </p:txBody>
        </p:sp>
        <p:sp>
          <p:nvSpPr>
            <p:cNvPr id="83" name="Line 13"/>
            <p:cNvSpPr>
              <a:spLocks noChangeAspect="1" noChangeShapeType="1"/>
            </p:cNvSpPr>
            <p:nvPr/>
          </p:nvSpPr>
          <p:spPr bwMode="auto">
            <a:xfrm flipH="1">
              <a:off x="3785" y="8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4" name="Line 14"/>
            <p:cNvSpPr>
              <a:spLocks noChangeAspect="1" noChangeShapeType="1"/>
            </p:cNvSpPr>
            <p:nvPr/>
          </p:nvSpPr>
          <p:spPr bwMode="auto">
            <a:xfrm flipH="1">
              <a:off x="3785" y="1121"/>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5" name="Line 15"/>
            <p:cNvSpPr>
              <a:spLocks noChangeAspect="1" noChangeShapeType="1"/>
            </p:cNvSpPr>
            <p:nvPr/>
          </p:nvSpPr>
          <p:spPr bwMode="auto">
            <a:xfrm flipH="1">
              <a:off x="5450" y="86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6" name="Line 16"/>
            <p:cNvSpPr>
              <a:spLocks noChangeAspect="1" noChangeShapeType="1"/>
            </p:cNvSpPr>
            <p:nvPr/>
          </p:nvSpPr>
          <p:spPr bwMode="auto">
            <a:xfrm flipH="1" flipV="1">
              <a:off x="3807" y="536"/>
              <a:ext cx="1649" cy="1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7" name="Text Box 17"/>
            <p:cNvSpPr txBox="1">
              <a:spLocks noChangeAspect="1" noChangeArrowheads="1"/>
            </p:cNvSpPr>
            <p:nvPr/>
          </p:nvSpPr>
          <p:spPr bwMode="auto">
            <a:xfrm>
              <a:off x="4538" y="-72"/>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q</a:t>
              </a:r>
              <a:endParaRPr lang="en-US" altLang="zh-CN" sz="2800" b="0" i="0">
                <a:solidFill>
                  <a:srgbClr val="FF0000"/>
                </a:solidFill>
                <a:ea typeface="宋体" panose="02010600030101010101" pitchFamily="2" charset="-122"/>
              </a:endParaRPr>
            </a:p>
          </p:txBody>
        </p:sp>
        <p:grpSp>
          <p:nvGrpSpPr>
            <p:cNvPr id="88" name="Group 18"/>
            <p:cNvGrpSpPr>
              <a:grpSpLocks/>
            </p:cNvGrpSpPr>
            <p:nvPr/>
          </p:nvGrpSpPr>
          <p:grpSpPr bwMode="auto">
            <a:xfrm>
              <a:off x="3785" y="286"/>
              <a:ext cx="1670" cy="230"/>
              <a:chOff x="2926" y="1514"/>
              <a:chExt cx="2403" cy="230"/>
            </a:xfrm>
          </p:grpSpPr>
          <p:sp>
            <p:nvSpPr>
              <p:cNvPr id="89" name="Line 19"/>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0" name="Line 20"/>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1" name="Line 21"/>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22"/>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Line 23"/>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4" name="Line 24"/>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Line 25"/>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6" name="Line 26"/>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7" name="Line 27"/>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8" name="Line 28"/>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9" name="Line 29"/>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30"/>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31"/>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32"/>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33"/>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34"/>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grpSp>
        <p:nvGrpSpPr>
          <p:cNvPr id="105" name="Group 35"/>
          <p:cNvGrpSpPr>
            <a:grpSpLocks/>
          </p:cNvGrpSpPr>
          <p:nvPr/>
        </p:nvGrpSpPr>
        <p:grpSpPr bwMode="auto">
          <a:xfrm>
            <a:off x="7835316" y="2475726"/>
            <a:ext cx="496888" cy="523875"/>
            <a:chOff x="1686" y="3521"/>
            <a:chExt cx="313" cy="330"/>
          </a:xfrm>
        </p:grpSpPr>
        <p:sp>
          <p:nvSpPr>
            <p:cNvPr id="106" name="AutoShape 3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Rectangle 3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Line 3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3" name="Oval 3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8" name="Group 40"/>
          <p:cNvGrpSpPr>
            <a:grpSpLocks/>
          </p:cNvGrpSpPr>
          <p:nvPr/>
        </p:nvGrpSpPr>
        <p:grpSpPr bwMode="auto">
          <a:xfrm>
            <a:off x="10478504" y="2474139"/>
            <a:ext cx="493712" cy="568325"/>
            <a:chOff x="3499" y="3511"/>
            <a:chExt cx="311" cy="358"/>
          </a:xfrm>
        </p:grpSpPr>
        <p:sp>
          <p:nvSpPr>
            <p:cNvPr id="119" name="Line 4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0" name="Rectangle 4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Line 4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Oval 4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5" name="Oval 4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38" name="Text Box 47"/>
          <p:cNvSpPr txBox="1">
            <a:spLocks noChangeAspect="1" noChangeArrowheads="1"/>
          </p:cNvSpPr>
          <p:nvPr/>
        </p:nvSpPr>
        <p:spPr bwMode="auto">
          <a:xfrm>
            <a:off x="10694404" y="310755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41" name="Line 49"/>
          <p:cNvSpPr>
            <a:spLocks noChangeAspect="1" noChangeShapeType="1"/>
          </p:cNvSpPr>
          <p:nvPr/>
        </p:nvSpPr>
        <p:spPr bwMode="auto">
          <a:xfrm flipV="1">
            <a:off x="8078204" y="2644001"/>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2" name="Line 50"/>
          <p:cNvSpPr>
            <a:spLocks noChangeAspect="1" noChangeShapeType="1"/>
          </p:cNvSpPr>
          <p:nvPr/>
        </p:nvSpPr>
        <p:spPr bwMode="auto">
          <a:xfrm flipV="1">
            <a:off x="10724566" y="2629714"/>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57"/>
          <p:cNvSpPr txBox="1">
            <a:spLocks noChangeAspect="1" noChangeArrowheads="1"/>
          </p:cNvSpPr>
          <p:nvPr/>
        </p:nvSpPr>
        <p:spPr bwMode="auto">
          <a:xfrm flipH="1">
            <a:off x="10832213" y="521488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44" name="Freeform 60" descr="浅色竖线"/>
          <p:cNvSpPr>
            <a:spLocks/>
          </p:cNvSpPr>
          <p:nvPr/>
        </p:nvSpPr>
        <p:spPr bwMode="auto">
          <a:xfrm>
            <a:off x="8027101" y="4752924"/>
            <a:ext cx="2686050" cy="1128712"/>
          </a:xfrm>
          <a:custGeom>
            <a:avLst/>
            <a:gdLst>
              <a:gd name="T0" fmla="*/ 0 w 1692"/>
              <a:gd name="T1" fmla="*/ 907255933 h 711"/>
              <a:gd name="T2" fmla="*/ 0 w 1692"/>
              <a:gd name="T3" fmla="*/ 0 h 711"/>
              <a:gd name="T4" fmla="*/ 2147483647 w 1692"/>
              <a:gd name="T5" fmla="*/ 1791829685 h 711"/>
              <a:gd name="T6" fmla="*/ 2147483647 w 1692"/>
              <a:gd name="T7" fmla="*/ 907255933 h 711"/>
              <a:gd name="T8" fmla="*/ 0 w 1692"/>
              <a:gd name="T9" fmla="*/ 907255933 h 711"/>
              <a:gd name="T10" fmla="*/ 0 60000 65536"/>
              <a:gd name="T11" fmla="*/ 0 60000 65536"/>
              <a:gd name="T12" fmla="*/ 0 60000 65536"/>
              <a:gd name="T13" fmla="*/ 0 60000 65536"/>
              <a:gd name="T14" fmla="*/ 0 60000 65536"/>
              <a:gd name="T15" fmla="*/ 0 w 1692"/>
              <a:gd name="T16" fmla="*/ 0 h 711"/>
              <a:gd name="T17" fmla="*/ 1692 w 1692"/>
              <a:gd name="T18" fmla="*/ 711 h 711"/>
            </a:gdLst>
            <a:ahLst/>
            <a:cxnLst>
              <a:cxn ang="T10">
                <a:pos x="T0" y="T1"/>
              </a:cxn>
              <a:cxn ang="T11">
                <a:pos x="T2" y="T3"/>
              </a:cxn>
              <a:cxn ang="T12">
                <a:pos x="T4" y="T5"/>
              </a:cxn>
              <a:cxn ang="T13">
                <a:pos x="T6" y="T7"/>
              </a:cxn>
              <a:cxn ang="T14">
                <a:pos x="T8" y="T9"/>
              </a:cxn>
            </a:cxnLst>
            <a:rect l="T15" t="T16" r="T17" b="T18"/>
            <a:pathLst>
              <a:path w="1692" h="711">
                <a:moveTo>
                  <a:pt x="0" y="360"/>
                </a:moveTo>
                <a:lnTo>
                  <a:pt x="0" y="0"/>
                </a:lnTo>
                <a:lnTo>
                  <a:pt x="1692" y="711"/>
                </a:lnTo>
                <a:lnTo>
                  <a:pt x="1692" y="360"/>
                </a:lnTo>
                <a:lnTo>
                  <a:pt x="0" y="360"/>
                </a:lnTo>
                <a:close/>
              </a:path>
            </a:pathLst>
          </a:custGeom>
          <a:pattFill prst="ltVert">
            <a:fgClr>
              <a:srgbClr val="000000"/>
            </a:fgClr>
            <a:bgClr>
              <a:srgbClr val="99FFCC"/>
            </a:bgClr>
          </a:pattFill>
          <a:ln w="9525" cap="flat" cmpd="sng">
            <a:solidFill>
              <a:srgbClr val="000000"/>
            </a:solidFill>
            <a:prstDash val="solid"/>
            <a:round/>
            <a:headEnd/>
            <a:tailEnd/>
          </a:ln>
        </p:spPr>
        <p:txBody>
          <a:bodyPr/>
          <a:lstStyle/>
          <a:p>
            <a:endParaRPr kumimoji="1" lang="zh-CN" altLang="en-US" b="0" i="0">
              <a:solidFill>
                <a:srgbClr val="FFFFFF"/>
              </a:solidFill>
              <a:ea typeface="黑体" panose="02010609060101010101" pitchFamily="49" charset="-122"/>
            </a:endParaRPr>
          </a:p>
        </p:txBody>
      </p:sp>
      <p:sp>
        <p:nvSpPr>
          <p:cNvPr id="145" name="Text Box 62"/>
          <p:cNvSpPr txBox="1">
            <a:spLocks noChangeAspect="1" noChangeArrowheads="1"/>
          </p:cNvSpPr>
          <p:nvPr/>
        </p:nvSpPr>
        <p:spPr bwMode="auto">
          <a:xfrm>
            <a:off x="7296851" y="4457649"/>
            <a:ext cx="7794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46" name="Group 63"/>
          <p:cNvGrpSpPr>
            <a:grpSpLocks/>
          </p:cNvGrpSpPr>
          <p:nvPr/>
        </p:nvGrpSpPr>
        <p:grpSpPr bwMode="auto">
          <a:xfrm>
            <a:off x="10182926" y="5279974"/>
            <a:ext cx="569912" cy="495300"/>
            <a:chOff x="4503" y="2280"/>
            <a:chExt cx="269" cy="231"/>
          </a:xfrm>
        </p:grpSpPr>
        <p:sp>
          <p:nvSpPr>
            <p:cNvPr id="14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9" name="Text Box 66"/>
          <p:cNvSpPr txBox="1">
            <a:spLocks noChangeAspect="1" noChangeArrowheads="1"/>
          </p:cNvSpPr>
          <p:nvPr/>
        </p:nvSpPr>
        <p:spPr bwMode="auto">
          <a:xfrm>
            <a:off x="10430576" y="4564011"/>
            <a:ext cx="10414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50" name="Line 68"/>
          <p:cNvSpPr>
            <a:spLocks noChangeShapeType="1"/>
          </p:cNvSpPr>
          <p:nvPr/>
        </p:nvSpPr>
        <p:spPr bwMode="auto">
          <a:xfrm>
            <a:off x="10721088" y="5318074"/>
            <a:ext cx="0" cy="557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1" name="Text Box 69"/>
          <p:cNvSpPr txBox="1">
            <a:spLocks noChangeAspect="1" noChangeArrowheads="1"/>
          </p:cNvSpPr>
          <p:nvPr/>
        </p:nvSpPr>
        <p:spPr bwMode="auto">
          <a:xfrm>
            <a:off x="10600438" y="5684786"/>
            <a:ext cx="779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52" name="Group 70"/>
          <p:cNvGrpSpPr>
            <a:grpSpLocks/>
          </p:cNvGrpSpPr>
          <p:nvPr/>
        </p:nvGrpSpPr>
        <p:grpSpPr bwMode="auto">
          <a:xfrm>
            <a:off x="8106476" y="4860874"/>
            <a:ext cx="592137" cy="523875"/>
            <a:chOff x="3767" y="1607"/>
            <a:chExt cx="373" cy="330"/>
          </a:xfrm>
        </p:grpSpPr>
        <p:sp>
          <p:nvSpPr>
            <p:cNvPr id="153" name="Oval 7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Text Box 7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55" name="Line 73"/>
          <p:cNvSpPr>
            <a:spLocks noChangeShapeType="1"/>
          </p:cNvSpPr>
          <p:nvPr/>
        </p:nvSpPr>
        <p:spPr bwMode="auto">
          <a:xfrm>
            <a:off x="8027101" y="4752924"/>
            <a:ext cx="2686050" cy="11287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6" name="Oval 75"/>
          <p:cNvSpPr>
            <a:spLocks noChangeArrowheads="1"/>
          </p:cNvSpPr>
          <p:nvPr/>
        </p:nvSpPr>
        <p:spPr bwMode="auto">
          <a:xfrm>
            <a:off x="10670288" y="5843536"/>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7" name="Line 81"/>
          <p:cNvSpPr>
            <a:spLocks noChangeShapeType="1"/>
          </p:cNvSpPr>
          <p:nvPr/>
        </p:nvSpPr>
        <p:spPr bwMode="auto">
          <a:xfrm rot="16200000">
            <a:off x="7435756" y="4769593"/>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Text Box 82"/>
          <p:cNvSpPr txBox="1">
            <a:spLocks noChangeAspect="1" noChangeArrowheads="1"/>
          </p:cNvSpPr>
          <p:nvPr/>
        </p:nvSpPr>
        <p:spPr bwMode="auto">
          <a:xfrm flipH="1">
            <a:off x="8008051" y="403219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59" name="Line 56"/>
          <p:cNvSpPr>
            <a:spLocks noChangeShapeType="1"/>
          </p:cNvSpPr>
          <p:nvPr/>
        </p:nvSpPr>
        <p:spPr bwMode="auto">
          <a:xfrm>
            <a:off x="8000113" y="5321249"/>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0" name="Line 67"/>
          <p:cNvSpPr>
            <a:spLocks noChangeShapeType="1"/>
          </p:cNvSpPr>
          <p:nvPr/>
        </p:nvSpPr>
        <p:spPr bwMode="auto">
          <a:xfrm>
            <a:off x="8027101" y="4767211"/>
            <a:ext cx="0" cy="557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Oval 74"/>
          <p:cNvSpPr>
            <a:spLocks noChangeArrowheads="1"/>
          </p:cNvSpPr>
          <p:nvPr/>
        </p:nvSpPr>
        <p:spPr bwMode="auto">
          <a:xfrm>
            <a:off x="7990588" y="4722761"/>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2" name="Text Box 83"/>
          <p:cNvSpPr txBox="1">
            <a:spLocks noChangeAspect="1" noChangeArrowheads="1"/>
          </p:cNvSpPr>
          <p:nvPr/>
        </p:nvSpPr>
        <p:spPr bwMode="auto">
          <a:xfrm>
            <a:off x="7700076" y="5133924"/>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graphicFrame>
        <p:nvGraphicFramePr>
          <p:cNvPr id="163" name="Object 52"/>
          <p:cNvGraphicFramePr>
            <a:graphicFrameLocks noChangeAspect="1"/>
          </p:cNvGraphicFramePr>
          <p:nvPr>
            <p:extLst>
              <p:ext uri="{D42A27DB-BD31-4B8C-83A1-F6EECF244321}">
                <p14:modId xmlns:p14="http://schemas.microsoft.com/office/powerpoint/2010/main" val="3284389236"/>
              </p:ext>
            </p:extLst>
          </p:nvPr>
        </p:nvGraphicFramePr>
        <p:xfrm>
          <a:off x="2078278" y="2149014"/>
          <a:ext cx="1971675" cy="827087"/>
        </p:xfrm>
        <a:graphic>
          <a:graphicData uri="http://schemas.openxmlformats.org/presentationml/2006/ole">
            <mc:AlternateContent xmlns:mc="http://schemas.openxmlformats.org/markup-compatibility/2006">
              <mc:Choice xmlns:v="urn:schemas-microsoft-com:vml" Requires="v">
                <p:oleObj spid="_x0000_s4126" name="Equation" r:id="rId6" imgW="927000" imgH="393480" progId="Equation.DSMT4">
                  <p:embed/>
                </p:oleObj>
              </mc:Choice>
              <mc:Fallback>
                <p:oleObj name="Equation" r:id="rId6" imgW="927000" imgH="393480" progId="Equation.DSMT4">
                  <p:embed/>
                  <p:pic>
                    <p:nvPicPr>
                      <p:cNvPr id="0" name=""/>
                      <p:cNvPicPr>
                        <a:picLocks noChangeAspect="1" noChangeArrowheads="1"/>
                      </p:cNvPicPr>
                      <p:nvPr/>
                    </p:nvPicPr>
                    <p:blipFill>
                      <a:blip r:embed="rId7"/>
                      <a:srcRect/>
                      <a:stretch>
                        <a:fillRect/>
                      </a:stretch>
                    </p:blipFill>
                    <p:spPr bwMode="auto">
                      <a:xfrm>
                        <a:off x="2078278" y="2149014"/>
                        <a:ext cx="1971675"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 name="Rectangle 57"/>
          <p:cNvSpPr>
            <a:spLocks noChangeArrowheads="1"/>
          </p:cNvSpPr>
          <p:nvPr/>
        </p:nvSpPr>
        <p:spPr bwMode="auto">
          <a:xfrm>
            <a:off x="4587708" y="2293476"/>
            <a:ext cx="5437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effectLst/>
                <a:uLnTx/>
                <a:uFillTx/>
                <a:latin typeface="Times New Roman" panose="02020603050405020304" pitchFamily="18" charset="0"/>
                <a:ea typeface="黑体" panose="02010609060101010101" pitchFamily="49" charset="-122"/>
              </a:rPr>
              <a:t>(↑)</a:t>
            </a:r>
          </a:p>
        </p:txBody>
      </p:sp>
      <p:sp>
        <p:nvSpPr>
          <p:cNvPr id="165" name="矩形 164">
            <a:extLst>
              <a:ext uri="{FF2B5EF4-FFF2-40B4-BE49-F238E27FC236}">
                <a16:creationId xmlns:a16="http://schemas.microsoft.com/office/drawing/2014/main" id="{54CF797A-3212-00F4-D82B-18FEE729BE7A}"/>
              </a:ext>
            </a:extLst>
          </p:cNvPr>
          <p:cNvSpPr/>
          <p:nvPr/>
        </p:nvSpPr>
        <p:spPr>
          <a:xfrm>
            <a:off x="590597" y="5828996"/>
            <a:ext cx="4353276"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连接</a:t>
            </a:r>
            <a:r>
              <a:rPr kumimoji="1" lang="en-US" altLang="zh-CN" b="0" dirty="0">
                <a:solidFill>
                  <a:schemeClr val="tx1"/>
                </a:solidFill>
                <a:latin typeface="+mn-lt"/>
                <a:ea typeface="黑体" panose="02010609060101010101" pitchFamily="49" charset="-122"/>
              </a:rPr>
              <a:t>AB</a:t>
            </a:r>
            <a:r>
              <a:rPr kumimoji="1" lang="zh-CN" altLang="en-US" i="0" dirty="0">
                <a:solidFill>
                  <a:schemeClr val="tx1"/>
                </a:solidFill>
                <a:latin typeface="+mn-lt"/>
                <a:ea typeface="黑体" panose="02010609060101010101" pitchFamily="49" charset="-122"/>
              </a:rPr>
              <a:t>两点即可得剪力图。</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41133230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8" presetClass="entr" presetSubtype="32" fill="hold" nodeType="with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diamond(out)">
                                      <p:cBhvr>
                                        <p:cTn id="11" dur="5000"/>
                                        <p:tgtEl>
                                          <p:spTgt spid="79"/>
                                        </p:tgtEl>
                                      </p:cBhvr>
                                    </p:animEffect>
                                  </p:childTnLst>
                                </p:cTn>
                              </p:par>
                              <p:par>
                                <p:cTn id="12" presetID="8" presetClass="entr" presetSubtype="32" fill="hold" nodeType="withEffect">
                                  <p:stCondLst>
                                    <p:cond delay="500"/>
                                  </p:stCondLst>
                                  <p:childTnLst>
                                    <p:set>
                                      <p:cBhvr>
                                        <p:cTn id="13" dur="1" fill="hold">
                                          <p:stCondLst>
                                            <p:cond delay="0"/>
                                          </p:stCondLst>
                                        </p:cTn>
                                        <p:tgtEl>
                                          <p:spTgt spid="105"/>
                                        </p:tgtEl>
                                        <p:attrNameLst>
                                          <p:attrName>style.visibility</p:attrName>
                                        </p:attrNameLst>
                                      </p:cBhvr>
                                      <p:to>
                                        <p:strVal val="visible"/>
                                      </p:to>
                                    </p:set>
                                    <p:animEffect transition="in" filter="diamond(out)">
                                      <p:cBhvr>
                                        <p:cTn id="14" dur="5000"/>
                                        <p:tgtEl>
                                          <p:spTgt spid="105"/>
                                        </p:tgtEl>
                                      </p:cBhvr>
                                    </p:animEffect>
                                  </p:childTnLst>
                                </p:cTn>
                              </p:par>
                              <p:par>
                                <p:cTn id="15" presetID="8" presetClass="entr" presetSubtype="32" fill="hold" nodeType="withEffect">
                                  <p:stCondLst>
                                    <p:cond delay="500"/>
                                  </p:stCondLst>
                                  <p:childTnLst>
                                    <p:set>
                                      <p:cBhvr>
                                        <p:cTn id="16" dur="1" fill="hold">
                                          <p:stCondLst>
                                            <p:cond delay="0"/>
                                          </p:stCondLst>
                                        </p:cTn>
                                        <p:tgtEl>
                                          <p:spTgt spid="118"/>
                                        </p:tgtEl>
                                        <p:attrNameLst>
                                          <p:attrName>style.visibility</p:attrName>
                                        </p:attrNameLst>
                                      </p:cBhvr>
                                      <p:to>
                                        <p:strVal val="visible"/>
                                      </p:to>
                                    </p:set>
                                    <p:animEffect transition="in" filter="diamond(out)">
                                      <p:cBhvr>
                                        <p:cTn id="17" dur="5000"/>
                                        <p:tgtEl>
                                          <p:spTgt spid="11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slide(fromBottom)">
                                      <p:cBhvr>
                                        <p:cTn id="22" dur="5000"/>
                                        <p:tgtEl>
                                          <p:spTgt spid="141"/>
                                        </p:tgtEl>
                                      </p:cBhvr>
                                    </p:animEffect>
                                  </p:childTnLst>
                                </p:cTn>
                              </p:par>
                            </p:childTnLst>
                          </p:cTn>
                        </p:par>
                        <p:par>
                          <p:cTn id="23" fill="hold">
                            <p:stCondLst>
                              <p:cond delay="5000"/>
                            </p:stCondLst>
                            <p:childTnLst>
                              <p:par>
                                <p:cTn id="24" presetID="9" presetClass="emph" presetSubtype="0" nodeType="afterEffect">
                                  <p:stCondLst>
                                    <p:cond delay="0"/>
                                  </p:stCondLst>
                                  <p:childTnLst>
                                    <p:set>
                                      <p:cBhvr rctx="PPT">
                                        <p:cTn id="25" dur="indefinite"/>
                                        <p:tgtEl>
                                          <p:spTgt spid="105"/>
                                        </p:tgtEl>
                                        <p:attrNameLst>
                                          <p:attrName>style.opacity</p:attrName>
                                        </p:attrNameLst>
                                      </p:cBhvr>
                                      <p:to>
                                        <p:strVal val="0.5"/>
                                      </p:to>
                                    </p:set>
                                    <p:animEffect filter="image" prLst="opacity: 0.5">
                                      <p:cBhvr rctx="IE">
                                        <p:cTn id="26" dur="indefinite"/>
                                        <p:tgtEl>
                                          <p:spTgt spid="105"/>
                                        </p:tgtEl>
                                      </p:cBhvr>
                                    </p:animEffect>
                                  </p:childTnLst>
                                </p:cTn>
                              </p:par>
                              <p:par>
                                <p:cTn id="27" presetID="9" presetClass="emph" presetSubtype="0" nodeType="withEffect">
                                  <p:stCondLst>
                                    <p:cond delay="0"/>
                                  </p:stCondLst>
                                  <p:childTnLst>
                                    <p:set>
                                      <p:cBhvr rctx="PPT">
                                        <p:cTn id="28" dur="indefinite"/>
                                        <p:tgtEl>
                                          <p:spTgt spid="118"/>
                                        </p:tgtEl>
                                        <p:attrNameLst>
                                          <p:attrName>style.opacity</p:attrName>
                                        </p:attrNameLst>
                                      </p:cBhvr>
                                      <p:to>
                                        <p:strVal val="0.5"/>
                                      </p:to>
                                    </p:set>
                                    <p:animEffect filter="image" prLst="opacity: 0.5">
                                      <p:cBhvr rctx="IE">
                                        <p:cTn id="29" dur="indefinite"/>
                                        <p:tgtEl>
                                          <p:spTgt spid="118"/>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slide(fromBottom)">
                                      <p:cBhvr>
                                        <p:cTn id="32" dur="5000"/>
                                        <p:tgtEl>
                                          <p:spTgt spid="142"/>
                                        </p:tgtEl>
                                      </p:cBhvr>
                                    </p:animEffect>
                                  </p:childTnLst>
                                </p:cTn>
                              </p:par>
                            </p:childTnLst>
                          </p:cTn>
                        </p:par>
                        <p:par>
                          <p:cTn id="33" fill="hold">
                            <p:stCondLst>
                              <p:cond delay="10000"/>
                            </p:stCondLst>
                            <p:childTnLst>
                              <p:par>
                                <p:cTn id="34" presetID="19" presetClass="entr" presetSubtype="10" fill="hold" grpId="0" nodeType="afterEffect">
                                  <p:stCondLst>
                                    <p:cond delay="0"/>
                                  </p:stCondLst>
                                  <p:childTnLst>
                                    <p:set>
                                      <p:cBhvr>
                                        <p:cTn id="35" dur="1" fill="hold">
                                          <p:stCondLst>
                                            <p:cond delay="0"/>
                                          </p:stCondLst>
                                        </p:cTn>
                                        <p:tgtEl>
                                          <p:spTgt spid="138"/>
                                        </p:tgtEl>
                                        <p:attrNameLst>
                                          <p:attrName>style.visibility</p:attrName>
                                        </p:attrNameLst>
                                      </p:cBhvr>
                                      <p:to>
                                        <p:strVal val="visible"/>
                                      </p:to>
                                    </p:set>
                                    <p:anim calcmode="lin" valueType="num">
                                      <p:cBhvr>
                                        <p:cTn id="36" dur="5000" fill="hold"/>
                                        <p:tgtEl>
                                          <p:spTgt spid="138"/>
                                        </p:tgtEl>
                                        <p:attrNameLst>
                                          <p:attrName>ppt_w</p:attrName>
                                        </p:attrNameLst>
                                      </p:cBhvr>
                                      <p:tavLst>
                                        <p:tav tm="0" fmla="#ppt_w*sin(2.5*pi*$)">
                                          <p:val>
                                            <p:fltVal val="0"/>
                                          </p:val>
                                        </p:tav>
                                        <p:tav tm="100000">
                                          <p:val>
                                            <p:fltVal val="1"/>
                                          </p:val>
                                        </p:tav>
                                      </p:tavLst>
                                    </p:anim>
                                    <p:anim calcmode="lin" valueType="num">
                                      <p:cBhvr>
                                        <p:cTn id="37" dur="5000" fill="hold"/>
                                        <p:tgtEl>
                                          <p:spTgt spid="138"/>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3"/>
                                        </p:tgtEl>
                                        <p:attrNameLst>
                                          <p:attrName>style.visibility</p:attrName>
                                        </p:attrNameLst>
                                      </p:cBhvr>
                                      <p:to>
                                        <p:strVal val="visible"/>
                                      </p:to>
                                    </p:set>
                                    <p:animEffect transition="in" filter="wipe(left)">
                                      <p:cBhvr>
                                        <p:cTn id="42" dur="5000"/>
                                        <p:tgtEl>
                                          <p:spTgt spid="163"/>
                                        </p:tgtEl>
                                      </p:cBhvr>
                                    </p:animEffect>
                                  </p:childTnLst>
                                </p:cTn>
                              </p:par>
                            </p:childTnLst>
                          </p:cTn>
                        </p:par>
                        <p:par>
                          <p:cTn id="43" fill="hold">
                            <p:stCondLst>
                              <p:cond delay="5000"/>
                            </p:stCondLst>
                            <p:childTnLst>
                              <p:par>
                                <p:cTn id="44" presetID="22" presetClass="entr" presetSubtype="8" fill="hold" grpId="0" nodeType="afterEffect">
                                  <p:stCondLst>
                                    <p:cond delay="0"/>
                                  </p:stCondLst>
                                  <p:childTnLst>
                                    <p:set>
                                      <p:cBhvr>
                                        <p:cTn id="45" dur="1" fill="hold">
                                          <p:stCondLst>
                                            <p:cond delay="0"/>
                                          </p:stCondLst>
                                        </p:cTn>
                                        <p:tgtEl>
                                          <p:spTgt spid="164"/>
                                        </p:tgtEl>
                                        <p:attrNameLst>
                                          <p:attrName>style.visibility</p:attrName>
                                        </p:attrNameLst>
                                      </p:cBhvr>
                                      <p:to>
                                        <p:strVal val="visible"/>
                                      </p:to>
                                    </p:set>
                                    <p:animEffect transition="in" filter="wipe(left)">
                                      <p:cBhvr>
                                        <p:cTn id="46" dur="2000"/>
                                        <p:tgtEl>
                                          <p:spTgt spid="16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6"/>
                                        </p:tgtEl>
                                        <p:attrNameLst>
                                          <p:attrName>style.visibility</p:attrName>
                                        </p:attrNameLst>
                                      </p:cBhvr>
                                      <p:to>
                                        <p:strVal val="visible"/>
                                      </p:to>
                                    </p:set>
                                  </p:childTnLst>
                                </p:cTn>
                              </p:par>
                              <p:par>
                                <p:cTn id="51" presetID="12" presetClass="entr" presetSubtype="8" fill="hold" grpId="0" nodeType="withEffect">
                                  <p:stCondLst>
                                    <p:cond delay="500"/>
                                  </p:stCondLst>
                                  <p:childTnLst>
                                    <p:set>
                                      <p:cBhvr>
                                        <p:cTn id="52" dur="1" fill="hold">
                                          <p:stCondLst>
                                            <p:cond delay="0"/>
                                          </p:stCondLst>
                                        </p:cTn>
                                        <p:tgtEl>
                                          <p:spTgt spid="159"/>
                                        </p:tgtEl>
                                        <p:attrNameLst>
                                          <p:attrName>style.visibility</p:attrName>
                                        </p:attrNameLst>
                                      </p:cBhvr>
                                      <p:to>
                                        <p:strVal val="visible"/>
                                      </p:to>
                                    </p:set>
                                    <p:animEffect transition="in" filter="slide(fromLeft)">
                                      <p:cBhvr>
                                        <p:cTn id="53" dur="5000"/>
                                        <p:tgtEl>
                                          <p:spTgt spid="159"/>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65"/>
                                        </p:tgtEl>
                                        <p:attrNameLst>
                                          <p:attrName>style.visibility</p:attrName>
                                        </p:attrNameLst>
                                      </p:cBhvr>
                                      <p:to>
                                        <p:strVal val="visible"/>
                                      </p:to>
                                    </p:set>
                                  </p:childTnLst>
                                </p:cTn>
                              </p:par>
                              <p:par>
                                <p:cTn id="58" presetID="19" presetClass="entr" presetSubtype="10" fill="hold" grpId="0" nodeType="withEffect">
                                  <p:stCondLst>
                                    <p:cond delay="500"/>
                                  </p:stCondLst>
                                  <p:childTnLst>
                                    <p:set>
                                      <p:cBhvr>
                                        <p:cTn id="59" dur="1" fill="hold">
                                          <p:stCondLst>
                                            <p:cond delay="0"/>
                                          </p:stCondLst>
                                        </p:cTn>
                                        <p:tgtEl>
                                          <p:spTgt spid="143"/>
                                        </p:tgtEl>
                                        <p:attrNameLst>
                                          <p:attrName>style.visibility</p:attrName>
                                        </p:attrNameLst>
                                      </p:cBhvr>
                                      <p:to>
                                        <p:strVal val="visible"/>
                                      </p:to>
                                    </p:set>
                                    <p:anim calcmode="lin" valueType="num">
                                      <p:cBhvr>
                                        <p:cTn id="60" dur="5000" fill="hold"/>
                                        <p:tgtEl>
                                          <p:spTgt spid="143"/>
                                        </p:tgtEl>
                                        <p:attrNameLst>
                                          <p:attrName>ppt_w</p:attrName>
                                        </p:attrNameLst>
                                      </p:cBhvr>
                                      <p:tavLst>
                                        <p:tav tm="0" fmla="#ppt_w*sin(2.5*pi*$)">
                                          <p:val>
                                            <p:fltVal val="0"/>
                                          </p:val>
                                        </p:tav>
                                        <p:tav tm="100000">
                                          <p:val>
                                            <p:fltVal val="1"/>
                                          </p:val>
                                        </p:tav>
                                      </p:tavLst>
                                    </p:anim>
                                    <p:anim calcmode="lin" valueType="num">
                                      <p:cBhvr>
                                        <p:cTn id="61" dur="5000" fill="hold"/>
                                        <p:tgtEl>
                                          <p:spTgt spid="143"/>
                                        </p:tgtEl>
                                        <p:attrNameLst>
                                          <p:attrName>ppt_h</p:attrName>
                                        </p:attrNameLst>
                                      </p:cBhvr>
                                      <p:tavLst>
                                        <p:tav tm="0">
                                          <p:val>
                                            <p:strVal val="#ppt_h"/>
                                          </p:val>
                                        </p:tav>
                                        <p:tav tm="100000">
                                          <p:val>
                                            <p:strVal val="#ppt_h"/>
                                          </p:val>
                                        </p:tav>
                                      </p:tavLst>
                                    </p:anim>
                                  </p:childTnLst>
                                </p:cTn>
                              </p:par>
                              <p:par>
                                <p:cTn id="62" presetID="12" presetClass="entr" presetSubtype="4" fill="hold" grpId="0" nodeType="withEffect">
                                  <p:stCondLst>
                                    <p:cond delay="500"/>
                                  </p:stCondLst>
                                  <p:childTnLst>
                                    <p:set>
                                      <p:cBhvr>
                                        <p:cTn id="63" dur="1" fill="hold">
                                          <p:stCondLst>
                                            <p:cond delay="0"/>
                                          </p:stCondLst>
                                        </p:cTn>
                                        <p:tgtEl>
                                          <p:spTgt spid="157"/>
                                        </p:tgtEl>
                                        <p:attrNameLst>
                                          <p:attrName>style.visibility</p:attrName>
                                        </p:attrNameLst>
                                      </p:cBhvr>
                                      <p:to>
                                        <p:strVal val="visible"/>
                                      </p:to>
                                    </p:set>
                                    <p:animEffect transition="in" filter="slide(fromBottom)">
                                      <p:cBhvr>
                                        <p:cTn id="64" dur="5000"/>
                                        <p:tgtEl>
                                          <p:spTgt spid="157"/>
                                        </p:tgtEl>
                                      </p:cBhvr>
                                    </p:animEffect>
                                  </p:childTnLst>
                                </p:cTn>
                              </p:par>
                              <p:par>
                                <p:cTn id="65" presetID="19" presetClass="entr" presetSubtype="10" fill="hold" grpId="0" nodeType="withEffect">
                                  <p:stCondLst>
                                    <p:cond delay="500"/>
                                  </p:stCondLst>
                                  <p:childTnLst>
                                    <p:set>
                                      <p:cBhvr>
                                        <p:cTn id="66" dur="1" fill="hold">
                                          <p:stCondLst>
                                            <p:cond delay="0"/>
                                          </p:stCondLst>
                                        </p:cTn>
                                        <p:tgtEl>
                                          <p:spTgt spid="158"/>
                                        </p:tgtEl>
                                        <p:attrNameLst>
                                          <p:attrName>style.visibility</p:attrName>
                                        </p:attrNameLst>
                                      </p:cBhvr>
                                      <p:to>
                                        <p:strVal val="visible"/>
                                      </p:to>
                                    </p:set>
                                    <p:anim calcmode="lin" valueType="num">
                                      <p:cBhvr>
                                        <p:cTn id="67" dur="5000" fill="hold"/>
                                        <p:tgtEl>
                                          <p:spTgt spid="158"/>
                                        </p:tgtEl>
                                        <p:attrNameLst>
                                          <p:attrName>ppt_w</p:attrName>
                                        </p:attrNameLst>
                                      </p:cBhvr>
                                      <p:tavLst>
                                        <p:tav tm="0" fmla="#ppt_w*sin(2.5*pi*$)">
                                          <p:val>
                                            <p:fltVal val="0"/>
                                          </p:val>
                                        </p:tav>
                                        <p:tav tm="100000">
                                          <p:val>
                                            <p:fltVal val="1"/>
                                          </p:val>
                                        </p:tav>
                                      </p:tavLst>
                                    </p:anim>
                                    <p:anim calcmode="lin" valueType="num">
                                      <p:cBhvr>
                                        <p:cTn id="68" dur="5000" fill="hold"/>
                                        <p:tgtEl>
                                          <p:spTgt spid="158"/>
                                        </p:tgtEl>
                                        <p:attrNameLst>
                                          <p:attrName>ppt_h</p:attrName>
                                        </p:attrNameLst>
                                      </p:cBhvr>
                                      <p:tavLst>
                                        <p:tav tm="0">
                                          <p:val>
                                            <p:strVal val="#ppt_h"/>
                                          </p:val>
                                        </p:tav>
                                        <p:tav tm="100000">
                                          <p:val>
                                            <p:strVal val="#ppt_h"/>
                                          </p:val>
                                        </p:tav>
                                      </p:tavLst>
                                    </p:anim>
                                  </p:childTnLst>
                                </p:cTn>
                              </p:par>
                              <p:par>
                                <p:cTn id="69" presetID="19" presetClass="entr" presetSubtype="10" fill="hold" grpId="0" nodeType="withEffect">
                                  <p:stCondLst>
                                    <p:cond delay="500"/>
                                  </p:stCondLst>
                                  <p:childTnLst>
                                    <p:set>
                                      <p:cBhvr>
                                        <p:cTn id="70" dur="1" fill="hold">
                                          <p:stCondLst>
                                            <p:cond delay="0"/>
                                          </p:stCondLst>
                                        </p:cTn>
                                        <p:tgtEl>
                                          <p:spTgt spid="162"/>
                                        </p:tgtEl>
                                        <p:attrNameLst>
                                          <p:attrName>style.visibility</p:attrName>
                                        </p:attrNameLst>
                                      </p:cBhvr>
                                      <p:to>
                                        <p:strVal val="visible"/>
                                      </p:to>
                                    </p:set>
                                    <p:anim calcmode="lin" valueType="num">
                                      <p:cBhvr>
                                        <p:cTn id="71" dur="5000" fill="hold"/>
                                        <p:tgtEl>
                                          <p:spTgt spid="162"/>
                                        </p:tgtEl>
                                        <p:attrNameLst>
                                          <p:attrName>ppt_w</p:attrName>
                                        </p:attrNameLst>
                                      </p:cBhvr>
                                      <p:tavLst>
                                        <p:tav tm="0" fmla="#ppt_w*sin(2.5*pi*$)">
                                          <p:val>
                                            <p:fltVal val="0"/>
                                          </p:val>
                                        </p:tav>
                                        <p:tav tm="100000">
                                          <p:val>
                                            <p:fltVal val="1"/>
                                          </p:val>
                                        </p:tav>
                                      </p:tavLst>
                                    </p:anim>
                                    <p:anim calcmode="lin" valueType="num">
                                      <p:cBhvr>
                                        <p:cTn id="72"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9"/>
                                            </p:cond>
                                          </p:stCondLst>
                                          <p:endCondLst>
                                            <p:cond evt="onStopAudio" delay="0">
                                              <p:tgtEl>
                                                <p:sldTgt/>
                                              </p:tgtEl>
                                            </p:cond>
                                          </p:endCondLst>
                                        </p:cTn>
                                        <p:tgtEl>
                                          <p:sndTgt r:embed="rId4" name="CAMERA.WAV"/>
                                        </p:tgtEl>
                                      </p:cMediaNode>
                                    </p:audio>
                                  </p:subTnLst>
                                </p:cTn>
                              </p:par>
                            </p:childTnLst>
                          </p:cTn>
                        </p:par>
                        <p:par>
                          <p:cTn id="73" fill="hold">
                            <p:stCondLst>
                              <p:cond delay="5500"/>
                            </p:stCondLst>
                            <p:childTnLst>
                              <p:par>
                                <p:cTn id="74" presetID="15" presetClass="entr" presetSubtype="0" fill="hold" grpId="0" nodeType="afterEffect">
                                  <p:stCondLst>
                                    <p:cond delay="0"/>
                                  </p:stCondLst>
                                  <p:childTnLst>
                                    <p:set>
                                      <p:cBhvr>
                                        <p:cTn id="75" dur="1" fill="hold">
                                          <p:stCondLst>
                                            <p:cond delay="0"/>
                                          </p:stCondLst>
                                        </p:cTn>
                                        <p:tgtEl>
                                          <p:spTgt spid="161"/>
                                        </p:tgtEl>
                                        <p:attrNameLst>
                                          <p:attrName>style.visibility</p:attrName>
                                        </p:attrNameLst>
                                      </p:cBhvr>
                                      <p:to>
                                        <p:strVal val="visible"/>
                                      </p:to>
                                    </p:set>
                                    <p:anim calcmode="lin" valueType="num">
                                      <p:cBhvr>
                                        <p:cTn id="76" dur="2000" fill="hold"/>
                                        <p:tgtEl>
                                          <p:spTgt spid="161"/>
                                        </p:tgtEl>
                                        <p:attrNameLst>
                                          <p:attrName>ppt_w</p:attrName>
                                        </p:attrNameLst>
                                      </p:cBhvr>
                                      <p:tavLst>
                                        <p:tav tm="0">
                                          <p:val>
                                            <p:fltVal val="0"/>
                                          </p:val>
                                        </p:tav>
                                        <p:tav tm="100000">
                                          <p:val>
                                            <p:strVal val="#ppt_w"/>
                                          </p:val>
                                        </p:tav>
                                      </p:tavLst>
                                    </p:anim>
                                    <p:anim calcmode="lin" valueType="num">
                                      <p:cBhvr>
                                        <p:cTn id="77" dur="2000" fill="hold"/>
                                        <p:tgtEl>
                                          <p:spTgt spid="161"/>
                                        </p:tgtEl>
                                        <p:attrNameLst>
                                          <p:attrName>ppt_h</p:attrName>
                                        </p:attrNameLst>
                                      </p:cBhvr>
                                      <p:tavLst>
                                        <p:tav tm="0">
                                          <p:val>
                                            <p:fltVal val="0"/>
                                          </p:val>
                                        </p:tav>
                                        <p:tav tm="100000">
                                          <p:val>
                                            <p:strVal val="#ppt_h"/>
                                          </p:val>
                                        </p:tav>
                                      </p:tavLst>
                                    </p:anim>
                                    <p:anim calcmode="lin" valueType="num">
                                      <p:cBhvr>
                                        <p:cTn id="78" dur="2000" fill="hold"/>
                                        <p:tgtEl>
                                          <p:spTgt spid="161"/>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6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5" name="CHIMES.WAV"/>
                                        </p:tgtEl>
                                      </p:cMediaNode>
                                    </p:audio>
                                  </p:subTnLst>
                                </p:cTn>
                              </p:par>
                            </p:childTnLst>
                          </p:cTn>
                        </p:par>
                        <p:par>
                          <p:cTn id="80" fill="hold">
                            <p:stCondLst>
                              <p:cond delay="7500"/>
                            </p:stCondLst>
                            <p:childTnLst>
                              <p:par>
                                <p:cTn id="81" presetID="19" presetClass="entr" presetSubtype="10" fill="hold" grpId="0" nodeType="afterEffect">
                                  <p:stCondLst>
                                    <p:cond delay="0"/>
                                  </p:stCondLst>
                                  <p:childTnLst>
                                    <p:set>
                                      <p:cBhvr>
                                        <p:cTn id="82" dur="1" fill="hold">
                                          <p:stCondLst>
                                            <p:cond delay="0"/>
                                          </p:stCondLst>
                                        </p:cTn>
                                        <p:tgtEl>
                                          <p:spTgt spid="145"/>
                                        </p:tgtEl>
                                        <p:attrNameLst>
                                          <p:attrName>style.visibility</p:attrName>
                                        </p:attrNameLst>
                                      </p:cBhvr>
                                      <p:to>
                                        <p:strVal val="visible"/>
                                      </p:to>
                                    </p:set>
                                    <p:anim calcmode="lin" valueType="num">
                                      <p:cBhvr>
                                        <p:cTn id="83" dur="5000" fill="hold"/>
                                        <p:tgtEl>
                                          <p:spTgt spid="145"/>
                                        </p:tgtEl>
                                        <p:attrNameLst>
                                          <p:attrName>ppt_w</p:attrName>
                                        </p:attrNameLst>
                                      </p:cBhvr>
                                      <p:tavLst>
                                        <p:tav tm="0" fmla="#ppt_w*sin(2.5*pi*$)">
                                          <p:val>
                                            <p:fltVal val="0"/>
                                          </p:val>
                                        </p:tav>
                                        <p:tav tm="100000">
                                          <p:val>
                                            <p:fltVal val="1"/>
                                          </p:val>
                                        </p:tav>
                                      </p:tavLst>
                                    </p:anim>
                                    <p:anim calcmode="lin" valueType="num">
                                      <p:cBhvr>
                                        <p:cTn id="84"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5" name="CHIMES.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0"/>
                                        </p:tgtEl>
                                        <p:attrNameLst>
                                          <p:attrName>style.visibility</p:attrName>
                                        </p:attrNameLst>
                                      </p:cBhvr>
                                      <p:to>
                                        <p:strVal val="visible"/>
                                      </p:to>
                                    </p:set>
                                    <p:animEffect transition="in" filter="wipe(down)">
                                      <p:cBhvr>
                                        <p:cTn id="87" dur="5000"/>
                                        <p:tgtEl>
                                          <p:spTgt spid="160"/>
                                        </p:tgtEl>
                                      </p:cBhvr>
                                    </p:animEffect>
                                  </p:childTnLst>
                                </p:cTn>
                              </p:par>
                            </p:childTnLst>
                          </p:cTn>
                        </p:par>
                        <p:par>
                          <p:cTn id="88" fill="hold">
                            <p:stCondLst>
                              <p:cond delay="12500"/>
                            </p:stCondLst>
                            <p:childTnLst>
                              <p:par>
                                <p:cTn id="89" presetID="15" presetClass="entr" presetSubtype="0" fill="hold" grpId="0" nodeType="afterEffect">
                                  <p:stCondLst>
                                    <p:cond delay="0"/>
                                  </p:stCondLst>
                                  <p:childTnLst>
                                    <p:set>
                                      <p:cBhvr>
                                        <p:cTn id="90" dur="1" fill="hold">
                                          <p:stCondLst>
                                            <p:cond delay="0"/>
                                          </p:stCondLst>
                                        </p:cTn>
                                        <p:tgtEl>
                                          <p:spTgt spid="156"/>
                                        </p:tgtEl>
                                        <p:attrNameLst>
                                          <p:attrName>style.visibility</p:attrName>
                                        </p:attrNameLst>
                                      </p:cBhvr>
                                      <p:to>
                                        <p:strVal val="visible"/>
                                      </p:to>
                                    </p:set>
                                    <p:anim calcmode="lin" valueType="num">
                                      <p:cBhvr>
                                        <p:cTn id="91" dur="2000" fill="hold"/>
                                        <p:tgtEl>
                                          <p:spTgt spid="156"/>
                                        </p:tgtEl>
                                        <p:attrNameLst>
                                          <p:attrName>ppt_w</p:attrName>
                                        </p:attrNameLst>
                                      </p:cBhvr>
                                      <p:tavLst>
                                        <p:tav tm="0">
                                          <p:val>
                                            <p:fltVal val="0"/>
                                          </p:val>
                                        </p:tav>
                                        <p:tav tm="100000">
                                          <p:val>
                                            <p:strVal val="#ppt_w"/>
                                          </p:val>
                                        </p:tav>
                                      </p:tavLst>
                                    </p:anim>
                                    <p:anim calcmode="lin" valueType="num">
                                      <p:cBhvr>
                                        <p:cTn id="92" dur="2000" fill="hold"/>
                                        <p:tgtEl>
                                          <p:spTgt spid="156"/>
                                        </p:tgtEl>
                                        <p:attrNameLst>
                                          <p:attrName>ppt_h</p:attrName>
                                        </p:attrNameLst>
                                      </p:cBhvr>
                                      <p:tavLst>
                                        <p:tav tm="0">
                                          <p:val>
                                            <p:fltVal val="0"/>
                                          </p:val>
                                        </p:tav>
                                        <p:tav tm="100000">
                                          <p:val>
                                            <p:strVal val="#ppt_h"/>
                                          </p:val>
                                        </p:tav>
                                      </p:tavLst>
                                    </p:anim>
                                    <p:anim calcmode="lin" valueType="num">
                                      <p:cBhvr>
                                        <p:cTn id="93" dur="2000" fill="hold"/>
                                        <p:tgtEl>
                                          <p:spTgt spid="156"/>
                                        </p:tgtEl>
                                        <p:attrNameLst>
                                          <p:attrName>ppt_x</p:attrName>
                                        </p:attrNameLst>
                                      </p:cBhvr>
                                      <p:tavLst>
                                        <p:tav tm="0" fmla="#ppt_x+(cos(-2*pi*(1-$))*-#ppt_x-sin(-2*pi*(1-$))*(1-#ppt_y))*(1-$)">
                                          <p:val>
                                            <p:fltVal val="0"/>
                                          </p:val>
                                        </p:tav>
                                        <p:tav tm="100000">
                                          <p:val>
                                            <p:fltVal val="1"/>
                                          </p:val>
                                        </p:tav>
                                      </p:tavLst>
                                    </p:anim>
                                    <p:anim calcmode="lin" valueType="num">
                                      <p:cBhvr>
                                        <p:cTn id="94" dur="2000" fill="hold"/>
                                        <p:tgtEl>
                                          <p:spTgt spid="1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9"/>
                                            </p:cond>
                                          </p:stCondLst>
                                          <p:endCondLst>
                                            <p:cond evt="onStopAudio" delay="0">
                                              <p:tgtEl>
                                                <p:sldTgt/>
                                              </p:tgtEl>
                                            </p:cond>
                                          </p:endCondLst>
                                        </p:cTn>
                                        <p:tgtEl>
                                          <p:sndTgt r:embed="rId5" name="CHIMES.WAV"/>
                                        </p:tgtEl>
                                      </p:cMediaNode>
                                    </p:audio>
                                  </p:subTnLst>
                                </p:cTn>
                              </p:par>
                            </p:childTnLst>
                          </p:cTn>
                        </p:par>
                        <p:par>
                          <p:cTn id="95" fill="hold">
                            <p:stCondLst>
                              <p:cond delay="14500"/>
                            </p:stCondLst>
                            <p:childTnLst>
                              <p:par>
                                <p:cTn id="96" presetID="19" presetClass="entr" presetSubtype="10" fill="hold" grpId="0" nodeType="afterEffect">
                                  <p:stCondLst>
                                    <p:cond delay="0"/>
                                  </p:stCondLst>
                                  <p:childTnLst>
                                    <p:set>
                                      <p:cBhvr>
                                        <p:cTn id="97" dur="1" fill="hold">
                                          <p:stCondLst>
                                            <p:cond delay="0"/>
                                          </p:stCondLst>
                                        </p:cTn>
                                        <p:tgtEl>
                                          <p:spTgt spid="151"/>
                                        </p:tgtEl>
                                        <p:attrNameLst>
                                          <p:attrName>style.visibility</p:attrName>
                                        </p:attrNameLst>
                                      </p:cBhvr>
                                      <p:to>
                                        <p:strVal val="visible"/>
                                      </p:to>
                                    </p:set>
                                    <p:anim calcmode="lin" valueType="num">
                                      <p:cBhvr>
                                        <p:cTn id="98" dur="5000" fill="hold"/>
                                        <p:tgtEl>
                                          <p:spTgt spid="151"/>
                                        </p:tgtEl>
                                        <p:attrNameLst>
                                          <p:attrName>ppt_w</p:attrName>
                                        </p:attrNameLst>
                                      </p:cBhvr>
                                      <p:tavLst>
                                        <p:tav tm="0" fmla="#ppt_w*sin(2.5*pi*$)">
                                          <p:val>
                                            <p:fltVal val="0"/>
                                          </p:val>
                                        </p:tav>
                                        <p:tav tm="100000">
                                          <p:val>
                                            <p:fltVal val="1"/>
                                          </p:val>
                                        </p:tav>
                                      </p:tavLst>
                                    </p:anim>
                                    <p:anim calcmode="lin" valueType="num">
                                      <p:cBhvr>
                                        <p:cTn id="99"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5" name="CHIMES.WAV"/>
                                        </p:tgtEl>
                                      </p:cMediaNode>
                                    </p:audio>
                                  </p:subTnLst>
                                </p:cTn>
                              </p:par>
                              <p:par>
                                <p:cTn id="100" presetID="22" presetClass="entr" presetSubtype="1" fill="hold" grpId="0" nodeType="withEffect">
                                  <p:stCondLst>
                                    <p:cond delay="0"/>
                                  </p:stCondLst>
                                  <p:childTnLst>
                                    <p:set>
                                      <p:cBhvr>
                                        <p:cTn id="101" dur="1" fill="hold">
                                          <p:stCondLst>
                                            <p:cond delay="0"/>
                                          </p:stCondLst>
                                        </p:cTn>
                                        <p:tgtEl>
                                          <p:spTgt spid="150"/>
                                        </p:tgtEl>
                                        <p:attrNameLst>
                                          <p:attrName>style.visibility</p:attrName>
                                        </p:attrNameLst>
                                      </p:cBhvr>
                                      <p:to>
                                        <p:strVal val="visible"/>
                                      </p:to>
                                    </p:set>
                                    <p:animEffect transition="in" filter="wipe(up)">
                                      <p:cBhvr>
                                        <p:cTn id="102" dur="5000"/>
                                        <p:tgtEl>
                                          <p:spTgt spid="150"/>
                                        </p:tgtEl>
                                      </p:cBhvr>
                                    </p:animEffect>
                                  </p:childTnLst>
                                </p:cTn>
                              </p:par>
                            </p:childTnLst>
                          </p:cTn>
                        </p:par>
                        <p:par>
                          <p:cTn id="103" fill="hold">
                            <p:stCondLst>
                              <p:cond delay="19500"/>
                            </p:stCondLst>
                            <p:childTnLst>
                              <p:par>
                                <p:cTn id="104" presetID="18" presetClass="entr" presetSubtype="6" fill="hold" grpId="0" nodeType="afterEffect">
                                  <p:stCondLst>
                                    <p:cond delay="0"/>
                                  </p:stCondLst>
                                  <p:childTnLst>
                                    <p:set>
                                      <p:cBhvr>
                                        <p:cTn id="105" dur="1" fill="hold">
                                          <p:stCondLst>
                                            <p:cond delay="0"/>
                                          </p:stCondLst>
                                        </p:cTn>
                                        <p:tgtEl>
                                          <p:spTgt spid="155"/>
                                        </p:tgtEl>
                                        <p:attrNameLst>
                                          <p:attrName>style.visibility</p:attrName>
                                        </p:attrNameLst>
                                      </p:cBhvr>
                                      <p:to>
                                        <p:strVal val="visible"/>
                                      </p:to>
                                    </p:set>
                                    <p:animEffect transition="in" filter="strips(downRight)">
                                      <p:cBhvr>
                                        <p:cTn id="106" dur="5000"/>
                                        <p:tgtEl>
                                          <p:spTgt spid="155"/>
                                        </p:tgtEl>
                                      </p:cBhvr>
                                    </p:animEffect>
                                  </p:childTnLst>
                                </p:cTn>
                              </p:par>
                            </p:childTnLst>
                          </p:cTn>
                        </p:par>
                        <p:par>
                          <p:cTn id="107" fill="hold">
                            <p:stCondLst>
                              <p:cond delay="24500"/>
                            </p:stCondLst>
                            <p:childTnLst>
                              <p:par>
                                <p:cTn id="108" presetID="22" presetClass="entr" presetSubtype="8" fill="hold" grpId="0" nodeType="afterEffect">
                                  <p:stCondLst>
                                    <p:cond delay="0"/>
                                  </p:stCondLst>
                                  <p:childTnLst>
                                    <p:set>
                                      <p:cBhvr>
                                        <p:cTn id="109" dur="1" fill="hold">
                                          <p:stCondLst>
                                            <p:cond delay="0"/>
                                          </p:stCondLst>
                                        </p:cTn>
                                        <p:tgtEl>
                                          <p:spTgt spid="144"/>
                                        </p:tgtEl>
                                        <p:attrNameLst>
                                          <p:attrName>style.visibility</p:attrName>
                                        </p:attrNameLst>
                                      </p:cBhvr>
                                      <p:to>
                                        <p:strVal val="visible"/>
                                      </p:to>
                                    </p:set>
                                    <p:animEffect transition="in" filter="wipe(left)">
                                      <p:cBhvr>
                                        <p:cTn id="110" dur="5000"/>
                                        <p:tgtEl>
                                          <p:spTgt spid="144"/>
                                        </p:tgtEl>
                                      </p:cBhvr>
                                    </p:animEffect>
                                  </p:childTnLst>
                                </p:cTn>
                              </p:par>
                            </p:childTnLst>
                          </p:cTn>
                        </p:par>
                        <p:par>
                          <p:cTn id="111" fill="hold">
                            <p:stCondLst>
                              <p:cond delay="29500"/>
                            </p:stCondLst>
                            <p:childTnLst>
                              <p:par>
                                <p:cTn id="112" presetID="15" presetClass="entr" presetSubtype="0" fill="hold" nodeType="afterEffect">
                                  <p:stCondLst>
                                    <p:cond delay="0"/>
                                  </p:stCondLst>
                                  <p:childTnLst>
                                    <p:set>
                                      <p:cBhvr>
                                        <p:cTn id="113" dur="1" fill="hold">
                                          <p:stCondLst>
                                            <p:cond delay="0"/>
                                          </p:stCondLst>
                                        </p:cTn>
                                        <p:tgtEl>
                                          <p:spTgt spid="152"/>
                                        </p:tgtEl>
                                        <p:attrNameLst>
                                          <p:attrName>style.visibility</p:attrName>
                                        </p:attrNameLst>
                                      </p:cBhvr>
                                      <p:to>
                                        <p:strVal val="visible"/>
                                      </p:to>
                                    </p:set>
                                    <p:anim calcmode="lin" valueType="num">
                                      <p:cBhvr>
                                        <p:cTn id="114" dur="3000" fill="hold"/>
                                        <p:tgtEl>
                                          <p:spTgt spid="152"/>
                                        </p:tgtEl>
                                        <p:attrNameLst>
                                          <p:attrName>ppt_w</p:attrName>
                                        </p:attrNameLst>
                                      </p:cBhvr>
                                      <p:tavLst>
                                        <p:tav tm="0">
                                          <p:val>
                                            <p:fltVal val="0"/>
                                          </p:val>
                                        </p:tav>
                                        <p:tav tm="100000">
                                          <p:val>
                                            <p:strVal val="#ppt_w"/>
                                          </p:val>
                                        </p:tav>
                                      </p:tavLst>
                                    </p:anim>
                                    <p:anim calcmode="lin" valueType="num">
                                      <p:cBhvr>
                                        <p:cTn id="115" dur="3000" fill="hold"/>
                                        <p:tgtEl>
                                          <p:spTgt spid="152"/>
                                        </p:tgtEl>
                                        <p:attrNameLst>
                                          <p:attrName>ppt_h</p:attrName>
                                        </p:attrNameLst>
                                      </p:cBhvr>
                                      <p:tavLst>
                                        <p:tav tm="0">
                                          <p:val>
                                            <p:fltVal val="0"/>
                                          </p:val>
                                        </p:tav>
                                        <p:tav tm="100000">
                                          <p:val>
                                            <p:strVal val="#ppt_h"/>
                                          </p:val>
                                        </p:tav>
                                      </p:tavLst>
                                    </p:anim>
                                    <p:anim calcmode="lin" valueType="num">
                                      <p:cBhvr>
                                        <p:cTn id="116" dur="3000" fill="hold"/>
                                        <p:tgtEl>
                                          <p:spTgt spid="152"/>
                                        </p:tgtEl>
                                        <p:attrNameLst>
                                          <p:attrName>ppt_x</p:attrName>
                                        </p:attrNameLst>
                                      </p:cBhvr>
                                      <p:tavLst>
                                        <p:tav tm="0" fmla="#ppt_x+(cos(-2*pi*(1-$))*-#ppt_x-sin(-2*pi*(1-$))*(1-#ppt_y))*(1-$)">
                                          <p:val>
                                            <p:fltVal val="0"/>
                                          </p:val>
                                        </p:tav>
                                        <p:tav tm="100000">
                                          <p:val>
                                            <p:fltVal val="1"/>
                                          </p:val>
                                        </p:tav>
                                      </p:tavLst>
                                    </p:anim>
                                    <p:anim calcmode="lin" valueType="num">
                                      <p:cBhvr>
                                        <p:cTn id="117" dur="3000" fill="hold"/>
                                        <p:tgtEl>
                                          <p:spTgt spid="152"/>
                                        </p:tgtEl>
                                        <p:attrNameLst>
                                          <p:attrName>ppt_y</p:attrName>
                                        </p:attrNameLst>
                                      </p:cBhvr>
                                      <p:tavLst>
                                        <p:tav tm="0" fmla="#ppt_y+(sin(-2*pi*(1-$))*-#ppt_x+cos(-2*pi*(1-$))*(1-#ppt_y))*(1-$)">
                                          <p:val>
                                            <p:fltVal val="0"/>
                                          </p:val>
                                        </p:tav>
                                        <p:tav tm="100000">
                                          <p:val>
                                            <p:fltVal val="1"/>
                                          </p:val>
                                        </p:tav>
                                      </p:tavLst>
                                    </p:anim>
                                  </p:childTnLst>
                                </p:cTn>
                              </p:par>
                            </p:childTnLst>
                          </p:cTn>
                        </p:par>
                        <p:par>
                          <p:cTn id="118" fill="hold">
                            <p:stCondLst>
                              <p:cond delay="32500"/>
                            </p:stCondLst>
                            <p:childTnLst>
                              <p:par>
                                <p:cTn id="119" presetID="15" presetClass="entr" presetSubtype="0" fill="hold" nodeType="afterEffect">
                                  <p:stCondLst>
                                    <p:cond delay="0"/>
                                  </p:stCondLst>
                                  <p:childTnLst>
                                    <p:set>
                                      <p:cBhvr>
                                        <p:cTn id="120" dur="1" fill="hold">
                                          <p:stCondLst>
                                            <p:cond delay="0"/>
                                          </p:stCondLst>
                                        </p:cTn>
                                        <p:tgtEl>
                                          <p:spTgt spid="146"/>
                                        </p:tgtEl>
                                        <p:attrNameLst>
                                          <p:attrName>style.visibility</p:attrName>
                                        </p:attrNameLst>
                                      </p:cBhvr>
                                      <p:to>
                                        <p:strVal val="visible"/>
                                      </p:to>
                                    </p:set>
                                    <p:anim calcmode="lin" valueType="num">
                                      <p:cBhvr>
                                        <p:cTn id="121" dur="3000" fill="hold"/>
                                        <p:tgtEl>
                                          <p:spTgt spid="146"/>
                                        </p:tgtEl>
                                        <p:attrNameLst>
                                          <p:attrName>ppt_w</p:attrName>
                                        </p:attrNameLst>
                                      </p:cBhvr>
                                      <p:tavLst>
                                        <p:tav tm="0">
                                          <p:val>
                                            <p:fltVal val="0"/>
                                          </p:val>
                                        </p:tav>
                                        <p:tav tm="100000">
                                          <p:val>
                                            <p:strVal val="#ppt_w"/>
                                          </p:val>
                                        </p:tav>
                                      </p:tavLst>
                                    </p:anim>
                                    <p:anim calcmode="lin" valueType="num">
                                      <p:cBhvr>
                                        <p:cTn id="122" dur="3000" fill="hold"/>
                                        <p:tgtEl>
                                          <p:spTgt spid="146"/>
                                        </p:tgtEl>
                                        <p:attrNameLst>
                                          <p:attrName>ppt_h</p:attrName>
                                        </p:attrNameLst>
                                      </p:cBhvr>
                                      <p:tavLst>
                                        <p:tav tm="0">
                                          <p:val>
                                            <p:fltVal val="0"/>
                                          </p:val>
                                        </p:tav>
                                        <p:tav tm="100000">
                                          <p:val>
                                            <p:strVal val="#ppt_h"/>
                                          </p:val>
                                        </p:tav>
                                      </p:tavLst>
                                    </p:anim>
                                    <p:anim calcmode="lin" valueType="num">
                                      <p:cBhvr>
                                        <p:cTn id="123" dur="3000" fill="hold"/>
                                        <p:tgtEl>
                                          <p:spTgt spid="146"/>
                                        </p:tgtEl>
                                        <p:attrNameLst>
                                          <p:attrName>ppt_x</p:attrName>
                                        </p:attrNameLst>
                                      </p:cBhvr>
                                      <p:tavLst>
                                        <p:tav tm="0" fmla="#ppt_x+(cos(-2*pi*(1-$))*-#ppt_x-sin(-2*pi*(1-$))*(1-#ppt_y))*(1-$)">
                                          <p:val>
                                            <p:fltVal val="0"/>
                                          </p:val>
                                        </p:tav>
                                        <p:tav tm="100000">
                                          <p:val>
                                            <p:fltVal val="1"/>
                                          </p:val>
                                        </p:tav>
                                      </p:tavLst>
                                    </p:anim>
                                    <p:anim calcmode="lin" valueType="num">
                                      <p:cBhvr>
                                        <p:cTn id="124" dur="3000" fill="hold"/>
                                        <p:tgtEl>
                                          <p:spTgt spid="14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9"/>
                                            </p:cond>
                                          </p:stCondLst>
                                          <p:endCondLst>
                                            <p:cond evt="onStopAudio" delay="0">
                                              <p:tgtEl>
                                                <p:sldTgt/>
                                              </p:tgtEl>
                                            </p:cond>
                                          </p:endCondLst>
                                        </p:cTn>
                                        <p:tgtEl>
                                          <p:sndTgt r:embed="rId5" name="CHIMES.WAV"/>
                                        </p:tgtEl>
                                      </p:cMediaNode>
                                    </p:audio>
                                  </p:subTnLst>
                                </p:cTn>
                              </p:par>
                            </p:childTnLst>
                          </p:cTn>
                        </p:par>
                        <p:par>
                          <p:cTn id="125" fill="hold">
                            <p:stCondLst>
                              <p:cond delay="35500"/>
                            </p:stCondLst>
                            <p:childTnLst>
                              <p:par>
                                <p:cTn id="126" presetID="22" presetClass="entr" presetSubtype="8" fill="hold" grpId="0" nodeType="afterEffect">
                                  <p:stCondLst>
                                    <p:cond delay="0"/>
                                  </p:stCondLst>
                                  <p:childTnLst>
                                    <p:set>
                                      <p:cBhvr>
                                        <p:cTn id="127" dur="1" fill="hold">
                                          <p:stCondLst>
                                            <p:cond delay="0"/>
                                          </p:stCondLst>
                                        </p:cTn>
                                        <p:tgtEl>
                                          <p:spTgt spid="149"/>
                                        </p:tgtEl>
                                        <p:attrNameLst>
                                          <p:attrName>style.visibility</p:attrName>
                                        </p:attrNameLst>
                                      </p:cBhvr>
                                      <p:to>
                                        <p:strVal val="visible"/>
                                      </p:to>
                                    </p:set>
                                    <p:animEffect transition="in" filter="wipe(left)">
                                      <p:cBhvr>
                                        <p:cTn id="128" dur="5000"/>
                                        <p:tgtEl>
                                          <p:spTgt spid="149"/>
                                        </p:tgtEl>
                                      </p:cBhvr>
                                    </p:animEffect>
                                  </p:childTnLst>
                                  <p:subTnLst>
                                    <p:audio>
                                      <p:cMediaNode>
                                        <p:cTn display="0" masterRel="sameClick">
                                          <p:stCondLst>
                                            <p:cond evt="begin" delay="0">
                                              <p:tn val="12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38" grpId="0"/>
      <p:bldP spid="141" grpId="0" animBg="1"/>
      <p:bldP spid="142" grpId="0" animBg="1"/>
      <p:bldP spid="143" grpId="0"/>
      <p:bldP spid="144" grpId="0" animBg="1"/>
      <p:bldP spid="145" grpId="0" autoUpdateAnimBg="0"/>
      <p:bldP spid="149" grpId="0" autoUpdateAnimBg="0"/>
      <p:bldP spid="150" grpId="0" animBg="1"/>
      <p:bldP spid="151" grpId="0" autoUpdateAnimBg="0"/>
      <p:bldP spid="155" grpId="0" animBg="1"/>
      <p:bldP spid="156" grpId="0" animBg="1"/>
      <p:bldP spid="157" grpId="0" animBg="1"/>
      <p:bldP spid="158" grpId="0"/>
      <p:bldP spid="159" grpId="0" animBg="1"/>
      <p:bldP spid="160" grpId="0" animBg="1"/>
      <p:bldP spid="161" grpId="0" animBg="1"/>
      <p:bldP spid="162" grpId="0" autoUpdateAnimBg="0"/>
      <p:bldP spid="164" grpId="0"/>
      <p:bldP spid="16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908720"/>
            <a:ext cx="4730549" cy="5325341"/>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1237439"/>
            <a:ext cx="6819709" cy="1000980"/>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        由</a:t>
            </a:r>
            <a:r>
              <a:rPr kumimoji="1" lang="en-US" altLang="zh-CN" b="0" dirty="0">
                <a:solidFill>
                  <a:schemeClr val="tx1"/>
                </a:solidFill>
                <a:ea typeface="黑体" panose="02010609060101010101" pitchFamily="49" charset="-122"/>
              </a:rPr>
              <a:t>q</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可知弯矩图为上凸抛物线，在</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处截面</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/2</a:t>
            </a:r>
            <a:r>
              <a:rPr kumimoji="1" lang="zh-CN" altLang="en-US" b="0"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，有极值，则知     </a:t>
            </a:r>
            <a:endParaRPr kumimoji="1" lang="en-US" altLang="zh-CN" i="0" dirty="0">
              <a:solidFill>
                <a:schemeClr val="tx1"/>
              </a:solidFill>
              <a:latin typeface="+mn-lt"/>
              <a:ea typeface="黑体" panose="02010609060101010101" pitchFamily="49" charset="-122"/>
            </a:endParaRPr>
          </a:p>
        </p:txBody>
      </p:sp>
      <p:grpSp>
        <p:nvGrpSpPr>
          <p:cNvPr id="79" name="Group 9"/>
          <p:cNvGrpSpPr>
            <a:grpSpLocks/>
          </p:cNvGrpSpPr>
          <p:nvPr/>
        </p:nvGrpSpPr>
        <p:grpSpPr bwMode="auto">
          <a:xfrm>
            <a:off x="7638466" y="764401"/>
            <a:ext cx="3529013" cy="2073275"/>
            <a:chOff x="3505" y="-72"/>
            <a:chExt cx="2223" cy="1306"/>
          </a:xfrm>
        </p:grpSpPr>
        <p:sp>
          <p:nvSpPr>
            <p:cNvPr id="80" name="Text Box 10"/>
            <p:cNvSpPr txBox="1">
              <a:spLocks noChangeAspect="1" noChangeArrowheads="1"/>
            </p:cNvSpPr>
            <p:nvPr/>
          </p:nvSpPr>
          <p:spPr bwMode="auto">
            <a:xfrm flipH="1">
              <a:off x="4542" y="842"/>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3200" b="0">
                  <a:solidFill>
                    <a:srgbClr val="000000"/>
                  </a:solidFill>
                  <a:ea typeface="宋体" panose="02010600030101010101" pitchFamily="2" charset="-122"/>
                </a:rPr>
                <a:t>l</a:t>
              </a:r>
            </a:p>
          </p:txBody>
        </p:sp>
        <p:sp>
          <p:nvSpPr>
            <p:cNvPr id="81" name="Text Box 11"/>
            <p:cNvSpPr txBox="1">
              <a:spLocks noChangeAspect="1" noChangeArrowheads="1"/>
            </p:cNvSpPr>
            <p:nvPr/>
          </p:nvSpPr>
          <p:spPr bwMode="auto">
            <a:xfrm>
              <a:off x="3505" y="369"/>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A</a:t>
              </a:r>
            </a:p>
          </p:txBody>
        </p:sp>
        <p:sp>
          <p:nvSpPr>
            <p:cNvPr id="82" name="Text Box 12"/>
            <p:cNvSpPr txBox="1">
              <a:spLocks noChangeAspect="1" noChangeArrowheads="1"/>
            </p:cNvSpPr>
            <p:nvPr/>
          </p:nvSpPr>
          <p:spPr bwMode="auto">
            <a:xfrm>
              <a:off x="5435" y="382"/>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B   </a:t>
              </a:r>
            </a:p>
          </p:txBody>
        </p:sp>
        <p:sp>
          <p:nvSpPr>
            <p:cNvPr id="83" name="Line 13"/>
            <p:cNvSpPr>
              <a:spLocks noChangeAspect="1" noChangeShapeType="1"/>
            </p:cNvSpPr>
            <p:nvPr/>
          </p:nvSpPr>
          <p:spPr bwMode="auto">
            <a:xfrm flipH="1">
              <a:off x="3785" y="8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4" name="Line 14"/>
            <p:cNvSpPr>
              <a:spLocks noChangeAspect="1" noChangeShapeType="1"/>
            </p:cNvSpPr>
            <p:nvPr/>
          </p:nvSpPr>
          <p:spPr bwMode="auto">
            <a:xfrm flipH="1">
              <a:off x="3785" y="1121"/>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5" name="Line 15"/>
            <p:cNvSpPr>
              <a:spLocks noChangeAspect="1" noChangeShapeType="1"/>
            </p:cNvSpPr>
            <p:nvPr/>
          </p:nvSpPr>
          <p:spPr bwMode="auto">
            <a:xfrm flipH="1">
              <a:off x="5450" y="86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6" name="Line 16"/>
            <p:cNvSpPr>
              <a:spLocks noChangeAspect="1" noChangeShapeType="1"/>
            </p:cNvSpPr>
            <p:nvPr/>
          </p:nvSpPr>
          <p:spPr bwMode="auto">
            <a:xfrm flipH="1" flipV="1">
              <a:off x="3807" y="536"/>
              <a:ext cx="1649" cy="1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7" name="Text Box 17"/>
            <p:cNvSpPr txBox="1">
              <a:spLocks noChangeAspect="1" noChangeArrowheads="1"/>
            </p:cNvSpPr>
            <p:nvPr/>
          </p:nvSpPr>
          <p:spPr bwMode="auto">
            <a:xfrm>
              <a:off x="4538" y="-72"/>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q</a:t>
              </a:r>
              <a:endParaRPr lang="en-US" altLang="zh-CN" sz="2800" b="0" i="0">
                <a:solidFill>
                  <a:srgbClr val="FF0000"/>
                </a:solidFill>
                <a:ea typeface="宋体" panose="02010600030101010101" pitchFamily="2" charset="-122"/>
              </a:endParaRPr>
            </a:p>
          </p:txBody>
        </p:sp>
        <p:grpSp>
          <p:nvGrpSpPr>
            <p:cNvPr id="88" name="Group 18"/>
            <p:cNvGrpSpPr>
              <a:grpSpLocks/>
            </p:cNvGrpSpPr>
            <p:nvPr/>
          </p:nvGrpSpPr>
          <p:grpSpPr bwMode="auto">
            <a:xfrm>
              <a:off x="3785" y="286"/>
              <a:ext cx="1670" cy="230"/>
              <a:chOff x="2926" y="1514"/>
              <a:chExt cx="2403" cy="230"/>
            </a:xfrm>
          </p:grpSpPr>
          <p:sp>
            <p:nvSpPr>
              <p:cNvPr id="89" name="Line 19"/>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0" name="Line 20"/>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1" name="Line 21"/>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22"/>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Line 23"/>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4" name="Line 24"/>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Line 25"/>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6" name="Line 26"/>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7" name="Line 27"/>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8" name="Line 28"/>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9" name="Line 29"/>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30"/>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31"/>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32"/>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33"/>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34"/>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grpSp>
        <p:nvGrpSpPr>
          <p:cNvPr id="105" name="Group 35"/>
          <p:cNvGrpSpPr>
            <a:grpSpLocks/>
          </p:cNvGrpSpPr>
          <p:nvPr/>
        </p:nvGrpSpPr>
        <p:grpSpPr bwMode="auto">
          <a:xfrm>
            <a:off x="7835316" y="1681976"/>
            <a:ext cx="496888" cy="523875"/>
            <a:chOff x="1686" y="3521"/>
            <a:chExt cx="313" cy="330"/>
          </a:xfrm>
        </p:grpSpPr>
        <p:sp>
          <p:nvSpPr>
            <p:cNvPr id="106" name="AutoShape 3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Rectangle 3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Line 3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3" name="Oval 3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8" name="Group 40"/>
          <p:cNvGrpSpPr>
            <a:grpSpLocks/>
          </p:cNvGrpSpPr>
          <p:nvPr/>
        </p:nvGrpSpPr>
        <p:grpSpPr bwMode="auto">
          <a:xfrm>
            <a:off x="10478504" y="1680389"/>
            <a:ext cx="493712" cy="568325"/>
            <a:chOff x="3499" y="3511"/>
            <a:chExt cx="311" cy="358"/>
          </a:xfrm>
        </p:grpSpPr>
        <p:sp>
          <p:nvSpPr>
            <p:cNvPr id="119" name="Line 4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0" name="Rectangle 4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Line 4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Oval 4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5" name="Oval 4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38" name="Text Box 47"/>
          <p:cNvSpPr txBox="1">
            <a:spLocks noChangeAspect="1" noChangeArrowheads="1"/>
          </p:cNvSpPr>
          <p:nvPr/>
        </p:nvSpPr>
        <p:spPr bwMode="auto">
          <a:xfrm>
            <a:off x="10694404" y="231380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41" name="Line 49"/>
          <p:cNvSpPr>
            <a:spLocks noChangeAspect="1" noChangeShapeType="1"/>
          </p:cNvSpPr>
          <p:nvPr/>
        </p:nvSpPr>
        <p:spPr bwMode="auto">
          <a:xfrm flipV="1">
            <a:off x="8078204" y="1850251"/>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2" name="Line 50"/>
          <p:cNvSpPr>
            <a:spLocks noChangeAspect="1" noChangeShapeType="1"/>
          </p:cNvSpPr>
          <p:nvPr/>
        </p:nvSpPr>
        <p:spPr bwMode="auto">
          <a:xfrm flipV="1">
            <a:off x="10724566" y="1835964"/>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57"/>
          <p:cNvSpPr txBox="1">
            <a:spLocks noChangeAspect="1" noChangeArrowheads="1"/>
          </p:cNvSpPr>
          <p:nvPr/>
        </p:nvSpPr>
        <p:spPr bwMode="auto">
          <a:xfrm flipH="1">
            <a:off x="10832213" y="4086125"/>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44" name="Freeform 60" descr="浅色竖线"/>
          <p:cNvSpPr>
            <a:spLocks/>
          </p:cNvSpPr>
          <p:nvPr/>
        </p:nvSpPr>
        <p:spPr bwMode="auto">
          <a:xfrm>
            <a:off x="8027101" y="3624163"/>
            <a:ext cx="2686050" cy="1128712"/>
          </a:xfrm>
          <a:custGeom>
            <a:avLst/>
            <a:gdLst>
              <a:gd name="T0" fmla="*/ 0 w 1692"/>
              <a:gd name="T1" fmla="*/ 907255933 h 711"/>
              <a:gd name="T2" fmla="*/ 0 w 1692"/>
              <a:gd name="T3" fmla="*/ 0 h 711"/>
              <a:gd name="T4" fmla="*/ 2147483647 w 1692"/>
              <a:gd name="T5" fmla="*/ 1791829685 h 711"/>
              <a:gd name="T6" fmla="*/ 2147483647 w 1692"/>
              <a:gd name="T7" fmla="*/ 907255933 h 711"/>
              <a:gd name="T8" fmla="*/ 0 w 1692"/>
              <a:gd name="T9" fmla="*/ 907255933 h 711"/>
              <a:gd name="T10" fmla="*/ 0 60000 65536"/>
              <a:gd name="T11" fmla="*/ 0 60000 65536"/>
              <a:gd name="T12" fmla="*/ 0 60000 65536"/>
              <a:gd name="T13" fmla="*/ 0 60000 65536"/>
              <a:gd name="T14" fmla="*/ 0 60000 65536"/>
              <a:gd name="T15" fmla="*/ 0 w 1692"/>
              <a:gd name="T16" fmla="*/ 0 h 711"/>
              <a:gd name="T17" fmla="*/ 1692 w 1692"/>
              <a:gd name="T18" fmla="*/ 711 h 711"/>
            </a:gdLst>
            <a:ahLst/>
            <a:cxnLst>
              <a:cxn ang="T10">
                <a:pos x="T0" y="T1"/>
              </a:cxn>
              <a:cxn ang="T11">
                <a:pos x="T2" y="T3"/>
              </a:cxn>
              <a:cxn ang="T12">
                <a:pos x="T4" y="T5"/>
              </a:cxn>
              <a:cxn ang="T13">
                <a:pos x="T6" y="T7"/>
              </a:cxn>
              <a:cxn ang="T14">
                <a:pos x="T8" y="T9"/>
              </a:cxn>
            </a:cxnLst>
            <a:rect l="T15" t="T16" r="T17" b="T18"/>
            <a:pathLst>
              <a:path w="1692" h="711">
                <a:moveTo>
                  <a:pt x="0" y="360"/>
                </a:moveTo>
                <a:lnTo>
                  <a:pt x="0" y="0"/>
                </a:lnTo>
                <a:lnTo>
                  <a:pt x="1692" y="711"/>
                </a:lnTo>
                <a:lnTo>
                  <a:pt x="1692" y="360"/>
                </a:lnTo>
                <a:lnTo>
                  <a:pt x="0" y="360"/>
                </a:lnTo>
                <a:close/>
              </a:path>
            </a:pathLst>
          </a:custGeom>
          <a:pattFill prst="ltVert">
            <a:fgClr>
              <a:srgbClr val="000000"/>
            </a:fgClr>
            <a:bgClr>
              <a:srgbClr val="99FFCC"/>
            </a:bgClr>
          </a:pattFill>
          <a:ln w="9525" cap="flat" cmpd="sng">
            <a:solidFill>
              <a:srgbClr val="000000"/>
            </a:solidFill>
            <a:prstDash val="solid"/>
            <a:round/>
            <a:headEnd/>
            <a:tailEnd/>
          </a:ln>
        </p:spPr>
        <p:txBody>
          <a:bodyPr/>
          <a:lstStyle/>
          <a:p>
            <a:endParaRPr kumimoji="1" lang="zh-CN" altLang="en-US" b="0" i="0">
              <a:solidFill>
                <a:srgbClr val="FFFFFF"/>
              </a:solidFill>
              <a:ea typeface="黑体" panose="02010609060101010101" pitchFamily="49" charset="-122"/>
            </a:endParaRPr>
          </a:p>
        </p:txBody>
      </p:sp>
      <p:sp>
        <p:nvSpPr>
          <p:cNvPr id="145" name="Text Box 62"/>
          <p:cNvSpPr txBox="1">
            <a:spLocks noChangeAspect="1" noChangeArrowheads="1"/>
          </p:cNvSpPr>
          <p:nvPr/>
        </p:nvSpPr>
        <p:spPr bwMode="auto">
          <a:xfrm>
            <a:off x="7296851" y="3328888"/>
            <a:ext cx="7794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46" name="Group 63"/>
          <p:cNvGrpSpPr>
            <a:grpSpLocks/>
          </p:cNvGrpSpPr>
          <p:nvPr/>
        </p:nvGrpSpPr>
        <p:grpSpPr bwMode="auto">
          <a:xfrm>
            <a:off x="10182926" y="4151213"/>
            <a:ext cx="569912" cy="495300"/>
            <a:chOff x="4503" y="2280"/>
            <a:chExt cx="269" cy="231"/>
          </a:xfrm>
        </p:grpSpPr>
        <p:sp>
          <p:nvSpPr>
            <p:cNvPr id="14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9" name="Text Box 66"/>
          <p:cNvSpPr txBox="1">
            <a:spLocks noChangeAspect="1" noChangeArrowheads="1"/>
          </p:cNvSpPr>
          <p:nvPr/>
        </p:nvSpPr>
        <p:spPr bwMode="auto">
          <a:xfrm>
            <a:off x="10430576" y="3435250"/>
            <a:ext cx="10414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50" name="Line 68"/>
          <p:cNvSpPr>
            <a:spLocks noChangeShapeType="1"/>
          </p:cNvSpPr>
          <p:nvPr/>
        </p:nvSpPr>
        <p:spPr bwMode="auto">
          <a:xfrm>
            <a:off x="10721088" y="4189313"/>
            <a:ext cx="0" cy="557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1" name="Text Box 69"/>
          <p:cNvSpPr txBox="1">
            <a:spLocks noChangeAspect="1" noChangeArrowheads="1"/>
          </p:cNvSpPr>
          <p:nvPr/>
        </p:nvSpPr>
        <p:spPr bwMode="auto">
          <a:xfrm>
            <a:off x="10600438" y="4556025"/>
            <a:ext cx="779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52" name="Group 70"/>
          <p:cNvGrpSpPr>
            <a:grpSpLocks/>
          </p:cNvGrpSpPr>
          <p:nvPr/>
        </p:nvGrpSpPr>
        <p:grpSpPr bwMode="auto">
          <a:xfrm>
            <a:off x="8106476" y="3732113"/>
            <a:ext cx="592137" cy="523875"/>
            <a:chOff x="3767" y="1607"/>
            <a:chExt cx="373" cy="330"/>
          </a:xfrm>
        </p:grpSpPr>
        <p:sp>
          <p:nvSpPr>
            <p:cNvPr id="153" name="Oval 7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Text Box 7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55" name="Line 73"/>
          <p:cNvSpPr>
            <a:spLocks noChangeShapeType="1"/>
          </p:cNvSpPr>
          <p:nvPr/>
        </p:nvSpPr>
        <p:spPr bwMode="auto">
          <a:xfrm>
            <a:off x="8027101" y="3624163"/>
            <a:ext cx="2686050" cy="11287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6" name="Oval 75"/>
          <p:cNvSpPr>
            <a:spLocks noChangeArrowheads="1"/>
          </p:cNvSpPr>
          <p:nvPr/>
        </p:nvSpPr>
        <p:spPr bwMode="auto">
          <a:xfrm>
            <a:off x="10670288" y="4714775"/>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7" name="Line 81"/>
          <p:cNvSpPr>
            <a:spLocks noChangeShapeType="1"/>
          </p:cNvSpPr>
          <p:nvPr/>
        </p:nvSpPr>
        <p:spPr bwMode="auto">
          <a:xfrm rot="16200000">
            <a:off x="7435756" y="3640832"/>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Text Box 82"/>
          <p:cNvSpPr txBox="1">
            <a:spLocks noChangeAspect="1" noChangeArrowheads="1"/>
          </p:cNvSpPr>
          <p:nvPr/>
        </p:nvSpPr>
        <p:spPr bwMode="auto">
          <a:xfrm flipH="1">
            <a:off x="8008051" y="290343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59" name="Line 56"/>
          <p:cNvSpPr>
            <a:spLocks noChangeShapeType="1"/>
          </p:cNvSpPr>
          <p:nvPr/>
        </p:nvSpPr>
        <p:spPr bwMode="auto">
          <a:xfrm>
            <a:off x="8000113" y="4192488"/>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0" name="Line 67"/>
          <p:cNvSpPr>
            <a:spLocks noChangeShapeType="1"/>
          </p:cNvSpPr>
          <p:nvPr/>
        </p:nvSpPr>
        <p:spPr bwMode="auto">
          <a:xfrm>
            <a:off x="8027101" y="3638450"/>
            <a:ext cx="0" cy="557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Oval 74"/>
          <p:cNvSpPr>
            <a:spLocks noChangeArrowheads="1"/>
          </p:cNvSpPr>
          <p:nvPr/>
        </p:nvSpPr>
        <p:spPr bwMode="auto">
          <a:xfrm>
            <a:off x="7990588" y="3594000"/>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2" name="Text Box 83"/>
          <p:cNvSpPr txBox="1">
            <a:spLocks noChangeAspect="1" noChangeArrowheads="1"/>
          </p:cNvSpPr>
          <p:nvPr/>
        </p:nvSpPr>
        <p:spPr bwMode="auto">
          <a:xfrm>
            <a:off x="7700076" y="4005163"/>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70" name="Text Box 76"/>
          <p:cNvSpPr txBox="1">
            <a:spLocks noChangeAspect="1" noChangeArrowheads="1"/>
          </p:cNvSpPr>
          <p:nvPr/>
        </p:nvSpPr>
        <p:spPr bwMode="auto">
          <a:xfrm flipH="1">
            <a:off x="10837176" y="584677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71" name="Line 77"/>
          <p:cNvSpPr>
            <a:spLocks noChangeShapeType="1"/>
          </p:cNvSpPr>
          <p:nvPr/>
        </p:nvSpPr>
        <p:spPr bwMode="auto">
          <a:xfrm rot="16200000">
            <a:off x="7453419" y="5376085"/>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2" name="Text Box 78"/>
          <p:cNvSpPr txBox="1">
            <a:spLocks noChangeAspect="1" noChangeArrowheads="1"/>
          </p:cNvSpPr>
          <p:nvPr/>
        </p:nvSpPr>
        <p:spPr bwMode="auto">
          <a:xfrm flipH="1">
            <a:off x="8013014" y="466409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73" name="Text Box 80"/>
          <p:cNvSpPr txBox="1">
            <a:spLocks noChangeAspect="1" noChangeArrowheads="1"/>
          </p:cNvSpPr>
          <p:nvPr/>
        </p:nvSpPr>
        <p:spPr bwMode="auto">
          <a:xfrm>
            <a:off x="7705039" y="5765816"/>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74" name="Freeform 84" descr="浅色竖线"/>
          <p:cNvSpPr>
            <a:spLocks/>
          </p:cNvSpPr>
          <p:nvPr/>
        </p:nvSpPr>
        <p:spPr bwMode="auto">
          <a:xfrm>
            <a:off x="8033651" y="5486416"/>
            <a:ext cx="2673350" cy="468312"/>
          </a:xfrm>
          <a:custGeom>
            <a:avLst/>
            <a:gdLst>
              <a:gd name="T0" fmla="*/ 0 w 1684"/>
              <a:gd name="T1" fmla="*/ 743444397 h 295"/>
              <a:gd name="T2" fmla="*/ 201612491 w 1684"/>
              <a:gd name="T3" fmla="*/ 582154636 h 295"/>
              <a:gd name="T4" fmla="*/ 569555346 w 1684"/>
              <a:gd name="T5" fmla="*/ 355340810 h 295"/>
              <a:gd name="T6" fmla="*/ 814011225 w 1684"/>
              <a:gd name="T7" fmla="*/ 241934741 h 295"/>
              <a:gd name="T8" fmla="*/ 1018143227 w 1684"/>
              <a:gd name="T9" fmla="*/ 166330116 h 295"/>
              <a:gd name="T10" fmla="*/ 1507053397 w 1684"/>
              <a:gd name="T11" fmla="*/ 57962739 h 295"/>
              <a:gd name="T12" fmla="*/ 2069049269 w 1684"/>
              <a:gd name="T13" fmla="*/ 0 h 295"/>
              <a:gd name="T14" fmla="*/ 2147483647 w 1684"/>
              <a:gd name="T15" fmla="*/ 30241843 h 295"/>
              <a:gd name="T16" fmla="*/ 2147483647 w 1684"/>
              <a:gd name="T17" fmla="*/ 98285179 h 295"/>
              <a:gd name="T18" fmla="*/ 2147483647 w 1684"/>
              <a:gd name="T19" fmla="*/ 269655625 h 295"/>
              <a:gd name="T20" fmla="*/ 2147483647 w 1684"/>
              <a:gd name="T21" fmla="*/ 438506736 h 295"/>
              <a:gd name="T22" fmla="*/ 2147483647 w 1684"/>
              <a:gd name="T23" fmla="*/ 567033721 h 295"/>
              <a:gd name="T24" fmla="*/ 2147483647 w 1684"/>
              <a:gd name="T25" fmla="*/ 738404092 h 295"/>
              <a:gd name="T26" fmla="*/ 0 w 1684"/>
              <a:gd name="T27" fmla="*/ 743444397 h 2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84"/>
              <a:gd name="T43" fmla="*/ 0 h 295"/>
              <a:gd name="T44" fmla="*/ 1684 w 1684"/>
              <a:gd name="T45" fmla="*/ 295 h 29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84" h="295">
                <a:moveTo>
                  <a:pt x="0" y="295"/>
                </a:moveTo>
                <a:cubicBezTo>
                  <a:pt x="46" y="261"/>
                  <a:pt x="44" y="267"/>
                  <a:pt x="80" y="231"/>
                </a:cubicBezTo>
                <a:cubicBezTo>
                  <a:pt x="137" y="189"/>
                  <a:pt x="182" y="167"/>
                  <a:pt x="226" y="141"/>
                </a:cubicBezTo>
                <a:cubicBezTo>
                  <a:pt x="242" y="130"/>
                  <a:pt x="317" y="98"/>
                  <a:pt x="323" y="96"/>
                </a:cubicBezTo>
                <a:cubicBezTo>
                  <a:pt x="386" y="66"/>
                  <a:pt x="353" y="84"/>
                  <a:pt x="404" y="66"/>
                </a:cubicBezTo>
                <a:cubicBezTo>
                  <a:pt x="464" y="42"/>
                  <a:pt x="534" y="36"/>
                  <a:pt x="598" y="23"/>
                </a:cubicBezTo>
                <a:cubicBezTo>
                  <a:pt x="667" y="17"/>
                  <a:pt x="754" y="4"/>
                  <a:pt x="821" y="0"/>
                </a:cubicBezTo>
                <a:cubicBezTo>
                  <a:pt x="900" y="5"/>
                  <a:pt x="966" y="1"/>
                  <a:pt x="1037" y="12"/>
                </a:cubicBezTo>
                <a:cubicBezTo>
                  <a:pt x="1080" y="18"/>
                  <a:pt x="1135" y="30"/>
                  <a:pt x="1178" y="39"/>
                </a:cubicBezTo>
                <a:cubicBezTo>
                  <a:pt x="1261" y="56"/>
                  <a:pt x="1332" y="80"/>
                  <a:pt x="1412" y="107"/>
                </a:cubicBezTo>
                <a:cubicBezTo>
                  <a:pt x="1472" y="130"/>
                  <a:pt x="1505" y="153"/>
                  <a:pt x="1538" y="174"/>
                </a:cubicBezTo>
                <a:cubicBezTo>
                  <a:pt x="1628" y="231"/>
                  <a:pt x="1568" y="189"/>
                  <a:pt x="1619" y="225"/>
                </a:cubicBezTo>
                <a:cubicBezTo>
                  <a:pt x="1643" y="258"/>
                  <a:pt x="1646" y="257"/>
                  <a:pt x="1684" y="293"/>
                </a:cubicBezTo>
                <a:cubicBezTo>
                  <a:pt x="837" y="294"/>
                  <a:pt x="0" y="295"/>
                  <a:pt x="0" y="295"/>
                </a:cubicBezTo>
                <a:close/>
              </a:path>
            </a:pathLst>
          </a:custGeom>
          <a:pattFill prst="ltVert">
            <a:fgClr>
              <a:srgbClr val="000000"/>
            </a:fgClr>
            <a:bgClr>
              <a:srgbClr val="99FFCC"/>
            </a:bgClr>
          </a:patt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kumimoji="1" lang="zh-CN" altLang="en-US" b="0" i="0">
              <a:solidFill>
                <a:srgbClr val="FFFFFF"/>
              </a:solidFill>
              <a:ea typeface="黑体" panose="02010609060101010101" pitchFamily="49" charset="-122"/>
            </a:endParaRPr>
          </a:p>
        </p:txBody>
      </p:sp>
      <p:sp>
        <p:nvSpPr>
          <p:cNvPr id="75" name="Text Box 85"/>
          <p:cNvSpPr txBox="1">
            <a:spLocks noChangeAspect="1" noChangeArrowheads="1"/>
          </p:cNvSpPr>
          <p:nvPr/>
        </p:nvSpPr>
        <p:spPr bwMode="auto">
          <a:xfrm>
            <a:off x="8870264" y="5005403"/>
            <a:ext cx="974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baseline="30000">
                <a:solidFill>
                  <a:srgbClr val="000000"/>
                </a:solidFill>
                <a:ea typeface="宋体" panose="02010600030101010101" pitchFamily="2" charset="-122"/>
              </a:rPr>
              <a:t>2</a:t>
            </a:r>
            <a:r>
              <a:rPr lang="en-US" altLang="zh-CN" sz="2800" b="0" i="0">
                <a:solidFill>
                  <a:srgbClr val="000000"/>
                </a:solidFill>
                <a:ea typeface="宋体" panose="02010600030101010101" pitchFamily="2" charset="-122"/>
              </a:rPr>
              <a:t>/8</a:t>
            </a:r>
            <a:endParaRPr lang="en-US" altLang="zh-CN" sz="2800" b="0">
              <a:solidFill>
                <a:srgbClr val="000000"/>
              </a:solidFill>
              <a:ea typeface="宋体" panose="02010600030101010101" pitchFamily="2" charset="-122"/>
            </a:endParaRPr>
          </a:p>
        </p:txBody>
      </p:sp>
      <p:sp>
        <p:nvSpPr>
          <p:cNvPr id="76" name="Text Box 86"/>
          <p:cNvSpPr txBox="1">
            <a:spLocks noChangeAspect="1" noChangeArrowheads="1"/>
          </p:cNvSpPr>
          <p:nvPr/>
        </p:nvSpPr>
        <p:spPr bwMode="auto">
          <a:xfrm>
            <a:off x="10360926" y="5295916"/>
            <a:ext cx="1089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77" name="Arc 88"/>
          <p:cNvSpPr>
            <a:spLocks/>
          </p:cNvSpPr>
          <p:nvPr/>
        </p:nvSpPr>
        <p:spPr bwMode="auto">
          <a:xfrm>
            <a:off x="8041589" y="5492766"/>
            <a:ext cx="2673350" cy="871537"/>
          </a:xfrm>
          <a:custGeom>
            <a:avLst/>
            <a:gdLst>
              <a:gd name="T0" fmla="*/ 0 w 38341"/>
              <a:gd name="T1" fmla="*/ 781245807 h 21600"/>
              <a:gd name="T2" fmla="*/ 2147483647 w 38341"/>
              <a:gd name="T3" fmla="*/ 749516707 h 21600"/>
              <a:gd name="T4" fmla="*/ 2147483647 w 38341"/>
              <a:gd name="T5" fmla="*/ 1418893356 h 21600"/>
              <a:gd name="T6" fmla="*/ 0 60000 65536"/>
              <a:gd name="T7" fmla="*/ 0 60000 65536"/>
              <a:gd name="T8" fmla="*/ 0 60000 65536"/>
              <a:gd name="T9" fmla="*/ 0 w 38341"/>
              <a:gd name="T10" fmla="*/ 0 h 21600"/>
              <a:gd name="T11" fmla="*/ 38341 w 38341"/>
              <a:gd name="T12" fmla="*/ 21600 h 21600"/>
            </a:gdLst>
            <a:ahLst/>
            <a:cxnLst>
              <a:cxn ang="T6">
                <a:pos x="T0" y="T1"/>
              </a:cxn>
              <a:cxn ang="T7">
                <a:pos x="T2" y="T3"/>
              </a:cxn>
              <a:cxn ang="T8">
                <a:pos x="T4" y="T5"/>
              </a:cxn>
            </a:cxnLst>
            <a:rect l="T9" t="T10" r="T11" b="T12"/>
            <a:pathLst>
              <a:path w="38341" h="21600" fill="none" extrusionOk="0">
                <a:moveTo>
                  <a:pt x="0" y="11893"/>
                </a:moveTo>
                <a:cubicBezTo>
                  <a:pt x="3668" y="4601"/>
                  <a:pt x="11133" y="-1"/>
                  <a:pt x="19296" y="0"/>
                </a:cubicBezTo>
                <a:cubicBezTo>
                  <a:pt x="27262" y="0"/>
                  <a:pt x="34582" y="4385"/>
                  <a:pt x="38341" y="11409"/>
                </a:cubicBezTo>
              </a:path>
              <a:path w="38341" h="21600" stroke="0" extrusionOk="0">
                <a:moveTo>
                  <a:pt x="0" y="11893"/>
                </a:moveTo>
                <a:cubicBezTo>
                  <a:pt x="3668" y="4601"/>
                  <a:pt x="11133" y="-1"/>
                  <a:pt x="19296" y="0"/>
                </a:cubicBezTo>
                <a:cubicBezTo>
                  <a:pt x="27262" y="0"/>
                  <a:pt x="34582" y="4385"/>
                  <a:pt x="38341" y="11409"/>
                </a:cubicBezTo>
                <a:lnTo>
                  <a:pt x="19296"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78" name="Oval 90"/>
          <p:cNvSpPr>
            <a:spLocks noChangeArrowheads="1"/>
          </p:cNvSpPr>
          <p:nvPr/>
        </p:nvSpPr>
        <p:spPr bwMode="auto">
          <a:xfrm>
            <a:off x="8014601" y="591027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7" name="Oval 91"/>
          <p:cNvSpPr>
            <a:spLocks noChangeArrowheads="1"/>
          </p:cNvSpPr>
          <p:nvPr/>
        </p:nvSpPr>
        <p:spPr bwMode="auto">
          <a:xfrm>
            <a:off x="9333814" y="5453078"/>
            <a:ext cx="74612"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08" name="Group 92"/>
          <p:cNvGrpSpPr>
            <a:grpSpLocks/>
          </p:cNvGrpSpPr>
          <p:nvPr/>
        </p:nvGrpSpPr>
        <p:grpSpPr bwMode="auto">
          <a:xfrm>
            <a:off x="9063939" y="5484828"/>
            <a:ext cx="592137" cy="523875"/>
            <a:chOff x="3767" y="1607"/>
            <a:chExt cx="373" cy="330"/>
          </a:xfrm>
        </p:grpSpPr>
        <p:sp>
          <p:nvSpPr>
            <p:cNvPr id="110" name="Oval 9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1" name="Text Box 9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14" name="Line 79"/>
          <p:cNvSpPr>
            <a:spLocks noChangeShapeType="1"/>
          </p:cNvSpPr>
          <p:nvPr/>
        </p:nvSpPr>
        <p:spPr bwMode="auto">
          <a:xfrm>
            <a:off x="8005076" y="5953141"/>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5" name="Oval 89"/>
          <p:cNvSpPr>
            <a:spLocks noChangeArrowheads="1"/>
          </p:cNvSpPr>
          <p:nvPr/>
        </p:nvSpPr>
        <p:spPr bwMode="auto">
          <a:xfrm>
            <a:off x="10683189" y="591186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aphicFrame>
        <p:nvGraphicFramePr>
          <p:cNvPr id="116" name="Object 52"/>
          <p:cNvGraphicFramePr>
            <a:graphicFrameLocks noChangeAspect="1"/>
          </p:cNvGraphicFramePr>
          <p:nvPr>
            <p:extLst>
              <p:ext uri="{D42A27DB-BD31-4B8C-83A1-F6EECF244321}">
                <p14:modId xmlns:p14="http://schemas.microsoft.com/office/powerpoint/2010/main" val="2592110669"/>
              </p:ext>
            </p:extLst>
          </p:nvPr>
        </p:nvGraphicFramePr>
        <p:xfrm>
          <a:off x="884146" y="2306638"/>
          <a:ext cx="4699000" cy="879475"/>
        </p:xfrm>
        <a:graphic>
          <a:graphicData uri="http://schemas.openxmlformats.org/presentationml/2006/ole">
            <mc:AlternateContent xmlns:mc="http://schemas.openxmlformats.org/markup-compatibility/2006">
              <mc:Choice xmlns:v="urn:schemas-microsoft-com:vml" Requires="v">
                <p:oleObj spid="_x0000_s5150" name="Equation" r:id="rId6" imgW="2209680" imgH="419040" progId="Equation.DSMT4">
                  <p:embed/>
                </p:oleObj>
              </mc:Choice>
              <mc:Fallback>
                <p:oleObj name="Equation" r:id="rId6" imgW="2209680" imgH="419040" progId="Equation.DSMT4">
                  <p:embed/>
                  <p:pic>
                    <p:nvPicPr>
                      <p:cNvPr id="0" name=""/>
                      <p:cNvPicPr>
                        <a:picLocks noChangeAspect="1" noChangeArrowheads="1"/>
                      </p:cNvPicPr>
                      <p:nvPr/>
                    </p:nvPicPr>
                    <p:blipFill>
                      <a:blip r:embed="rId7"/>
                      <a:srcRect/>
                      <a:stretch>
                        <a:fillRect/>
                      </a:stretch>
                    </p:blipFill>
                    <p:spPr bwMode="auto">
                      <a:xfrm>
                        <a:off x="884146" y="2306638"/>
                        <a:ext cx="4699000"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7" name="矩形 116">
            <a:extLst>
              <a:ext uri="{FF2B5EF4-FFF2-40B4-BE49-F238E27FC236}">
                <a16:creationId xmlns:a16="http://schemas.microsoft.com/office/drawing/2014/main" id="{54CF797A-3212-00F4-D82B-18FEE729BE7A}"/>
              </a:ext>
            </a:extLst>
          </p:cNvPr>
          <p:cNvSpPr/>
          <p:nvPr/>
        </p:nvSpPr>
        <p:spPr>
          <a:xfrm>
            <a:off x="211184" y="3211172"/>
            <a:ext cx="6819709" cy="2012859"/>
          </a:xfrm>
          <a:prstGeom prst="rect">
            <a:avLst/>
          </a:prstGeom>
        </p:spPr>
        <p:txBody>
          <a:bodyPr wrap="square">
            <a:spAutoFit/>
          </a:bodyPr>
          <a:lstStyle/>
          <a:p>
            <a:pPr>
              <a:lnSpc>
                <a:spcPct val="130000"/>
              </a:lnSpc>
            </a:pPr>
            <a:r>
              <a:rPr kumimoji="1" lang="zh-CN" altLang="en-US" i="0" dirty="0">
                <a:solidFill>
                  <a:schemeClr val="tx1"/>
                </a:solidFill>
                <a:ea typeface="黑体" panose="02010609060101010101" pitchFamily="49" charset="-122"/>
              </a:rPr>
              <a:t>工程上，在弯矩图中画抛物线仅需注意</a:t>
            </a:r>
            <a:r>
              <a:rPr kumimoji="1" lang="zh-CN" altLang="en-US" i="0" dirty="0">
                <a:ea typeface="黑体" panose="02010609060101010101" pitchFamily="49" charset="-122"/>
              </a:rPr>
              <a:t>极值</a:t>
            </a:r>
            <a:r>
              <a:rPr kumimoji="1" lang="zh-CN" altLang="en-US" i="0" dirty="0">
                <a:solidFill>
                  <a:schemeClr val="tx1"/>
                </a:solidFill>
                <a:ea typeface="黑体" panose="02010609060101010101" pitchFamily="49" charset="-122"/>
              </a:rPr>
              <a:t>和</a:t>
            </a:r>
            <a:r>
              <a:rPr kumimoji="1" lang="zh-CN" altLang="en-US" i="0" dirty="0">
                <a:ea typeface="黑体" panose="02010609060101010101" pitchFamily="49" charset="-122"/>
              </a:rPr>
              <a:t>凸凹方向</a:t>
            </a:r>
            <a:r>
              <a:rPr kumimoji="1" lang="zh-CN" altLang="en-US" i="0" dirty="0">
                <a:solidFill>
                  <a:schemeClr val="tx1"/>
                </a:solidFill>
                <a:ea typeface="黑体" panose="02010609060101010101" pitchFamily="49" charset="-122"/>
              </a:rPr>
              <a:t>，可化简画出弯矩图，并在图上标出极值的大小。 </a:t>
            </a:r>
          </a:p>
          <a:p>
            <a:pPr lvl="0">
              <a:lnSpc>
                <a:spcPct val="130000"/>
              </a:lnSpc>
            </a:pPr>
            <a:r>
              <a:rPr kumimoji="1" lang="zh-CN" altLang="en-US" i="0" dirty="0">
                <a:solidFill>
                  <a:schemeClr val="tx1"/>
                </a:solidFill>
                <a:ea typeface="黑体" panose="02010609060101010101" pitchFamily="49" charset="-122"/>
              </a:rPr>
              <a:t>  </a:t>
            </a:r>
            <a:endParaRPr kumimoji="1" lang="en-US" altLang="zh-CN" i="0" dirty="0">
              <a:solidFill>
                <a:schemeClr val="tx1"/>
              </a:solidFill>
              <a:ea typeface="黑体" panose="02010609060101010101" pitchFamily="49" charset="-122"/>
            </a:endParaRPr>
          </a:p>
        </p:txBody>
      </p:sp>
    </p:spTree>
    <p:extLst>
      <p:ext uri="{BB962C8B-B14F-4D97-AF65-F5344CB8AC3E}">
        <p14:creationId xmlns:p14="http://schemas.microsoft.com/office/powerpoint/2010/main" val="28607404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par>
                                <p:cTn id="11" presetID="8" presetClass="entr" presetSubtype="32"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diamond(out)">
                                      <p:cBhvr>
                                        <p:cTn id="13" dur="5000"/>
                                        <p:tgtEl>
                                          <p:spTgt spid="79"/>
                                        </p:tgtEl>
                                      </p:cBhvr>
                                    </p:animEffect>
                                  </p:childTnLst>
                                </p:cTn>
                              </p:par>
                              <p:par>
                                <p:cTn id="14" presetID="8" presetClass="entr" presetSubtype="32" fill="hold" nodeType="withEffect">
                                  <p:stCondLst>
                                    <p:cond delay="500"/>
                                  </p:stCondLst>
                                  <p:childTnLst>
                                    <p:set>
                                      <p:cBhvr>
                                        <p:cTn id="15" dur="1" fill="hold">
                                          <p:stCondLst>
                                            <p:cond delay="0"/>
                                          </p:stCondLst>
                                        </p:cTn>
                                        <p:tgtEl>
                                          <p:spTgt spid="105"/>
                                        </p:tgtEl>
                                        <p:attrNameLst>
                                          <p:attrName>style.visibility</p:attrName>
                                        </p:attrNameLst>
                                      </p:cBhvr>
                                      <p:to>
                                        <p:strVal val="visible"/>
                                      </p:to>
                                    </p:set>
                                    <p:animEffect transition="in" filter="diamond(out)">
                                      <p:cBhvr>
                                        <p:cTn id="16" dur="5000"/>
                                        <p:tgtEl>
                                          <p:spTgt spid="105"/>
                                        </p:tgtEl>
                                      </p:cBhvr>
                                    </p:animEffect>
                                  </p:childTnLst>
                                </p:cTn>
                              </p:par>
                              <p:par>
                                <p:cTn id="17" presetID="8" presetClass="entr" presetSubtype="32" fill="hold" nodeType="withEffect">
                                  <p:stCondLst>
                                    <p:cond delay="500"/>
                                  </p:stCondLst>
                                  <p:childTnLst>
                                    <p:set>
                                      <p:cBhvr>
                                        <p:cTn id="18" dur="1" fill="hold">
                                          <p:stCondLst>
                                            <p:cond delay="0"/>
                                          </p:stCondLst>
                                        </p:cTn>
                                        <p:tgtEl>
                                          <p:spTgt spid="118"/>
                                        </p:tgtEl>
                                        <p:attrNameLst>
                                          <p:attrName>style.visibility</p:attrName>
                                        </p:attrNameLst>
                                      </p:cBhvr>
                                      <p:to>
                                        <p:strVal val="visible"/>
                                      </p:to>
                                    </p:set>
                                    <p:animEffect transition="in" filter="diamond(out)">
                                      <p:cBhvr>
                                        <p:cTn id="19" dur="5000"/>
                                        <p:tgtEl>
                                          <p:spTgt spid="11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41"/>
                                        </p:tgtEl>
                                        <p:attrNameLst>
                                          <p:attrName>style.visibility</p:attrName>
                                        </p:attrNameLst>
                                      </p:cBhvr>
                                      <p:to>
                                        <p:strVal val="visible"/>
                                      </p:to>
                                    </p:set>
                                    <p:animEffect transition="in" filter="slide(fromBottom)">
                                      <p:cBhvr>
                                        <p:cTn id="24" dur="5000"/>
                                        <p:tgtEl>
                                          <p:spTgt spid="141"/>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42"/>
                                        </p:tgtEl>
                                        <p:attrNameLst>
                                          <p:attrName>style.visibility</p:attrName>
                                        </p:attrNameLst>
                                      </p:cBhvr>
                                      <p:to>
                                        <p:strVal val="visible"/>
                                      </p:to>
                                    </p:set>
                                    <p:animEffect transition="in" filter="slide(fromBottom)">
                                      <p:cBhvr>
                                        <p:cTn id="27" dur="5000"/>
                                        <p:tgtEl>
                                          <p:spTgt spid="142"/>
                                        </p:tgtEl>
                                      </p:cBhvr>
                                    </p:animEffect>
                                  </p:childTnLst>
                                </p:cTn>
                              </p:par>
                            </p:childTnLst>
                          </p:cTn>
                        </p:par>
                        <p:par>
                          <p:cTn id="28" fill="hold">
                            <p:stCondLst>
                              <p:cond delay="5000"/>
                            </p:stCondLst>
                            <p:childTnLst>
                              <p:par>
                                <p:cTn id="29" presetID="9" presetClass="emph" presetSubtype="0" nodeType="afterEffect">
                                  <p:stCondLst>
                                    <p:cond delay="0"/>
                                  </p:stCondLst>
                                  <p:childTnLst>
                                    <p:set>
                                      <p:cBhvr rctx="PPT">
                                        <p:cTn id="30" dur="indefinite"/>
                                        <p:tgtEl>
                                          <p:spTgt spid="105"/>
                                        </p:tgtEl>
                                        <p:attrNameLst>
                                          <p:attrName>style.opacity</p:attrName>
                                        </p:attrNameLst>
                                      </p:cBhvr>
                                      <p:to>
                                        <p:strVal val="0.5"/>
                                      </p:to>
                                    </p:set>
                                    <p:animEffect filter="image" prLst="opacity: 0.5">
                                      <p:cBhvr rctx="IE">
                                        <p:cTn id="31" dur="indefinite"/>
                                        <p:tgtEl>
                                          <p:spTgt spid="105"/>
                                        </p:tgtEl>
                                      </p:cBhvr>
                                    </p:animEffect>
                                  </p:childTnLst>
                                </p:cTn>
                              </p:par>
                              <p:par>
                                <p:cTn id="32" presetID="9" presetClass="emph" presetSubtype="0" nodeType="withEffect">
                                  <p:stCondLst>
                                    <p:cond delay="0"/>
                                  </p:stCondLst>
                                  <p:childTnLst>
                                    <p:set>
                                      <p:cBhvr rctx="PPT">
                                        <p:cTn id="33" dur="indefinite"/>
                                        <p:tgtEl>
                                          <p:spTgt spid="118"/>
                                        </p:tgtEl>
                                        <p:attrNameLst>
                                          <p:attrName>style.opacity</p:attrName>
                                        </p:attrNameLst>
                                      </p:cBhvr>
                                      <p:to>
                                        <p:strVal val="0.5"/>
                                      </p:to>
                                    </p:set>
                                    <p:animEffect filter="image" prLst="opacity: 0.5">
                                      <p:cBhvr rctx="IE">
                                        <p:cTn id="34" dur="indefinite"/>
                                        <p:tgtEl>
                                          <p:spTgt spid="118"/>
                                        </p:tgtEl>
                                      </p:cBhvr>
                                    </p:animEffect>
                                  </p:childTnLst>
                                </p:cTn>
                              </p:par>
                            </p:childTnLst>
                          </p:cTn>
                        </p:par>
                        <p:par>
                          <p:cTn id="35" fill="hold">
                            <p:stCondLst>
                              <p:cond delay="5000"/>
                            </p:stCondLst>
                            <p:childTnLst>
                              <p:par>
                                <p:cTn id="36" presetID="19" presetClass="entr" presetSubtype="10" fill="hold" grpId="0" nodeType="afterEffect">
                                  <p:stCondLst>
                                    <p:cond delay="0"/>
                                  </p:stCondLst>
                                  <p:childTnLst>
                                    <p:set>
                                      <p:cBhvr>
                                        <p:cTn id="37" dur="1" fill="hold">
                                          <p:stCondLst>
                                            <p:cond delay="0"/>
                                          </p:stCondLst>
                                        </p:cTn>
                                        <p:tgtEl>
                                          <p:spTgt spid="138"/>
                                        </p:tgtEl>
                                        <p:attrNameLst>
                                          <p:attrName>style.visibility</p:attrName>
                                        </p:attrNameLst>
                                      </p:cBhvr>
                                      <p:to>
                                        <p:strVal val="visible"/>
                                      </p:to>
                                    </p:set>
                                    <p:anim calcmode="lin" valueType="num">
                                      <p:cBhvr>
                                        <p:cTn id="38" dur="5000" fill="hold"/>
                                        <p:tgtEl>
                                          <p:spTgt spid="138"/>
                                        </p:tgtEl>
                                        <p:attrNameLst>
                                          <p:attrName>ppt_w</p:attrName>
                                        </p:attrNameLst>
                                      </p:cBhvr>
                                      <p:tavLst>
                                        <p:tav tm="0" fmla="#ppt_w*sin(2.5*pi*$)">
                                          <p:val>
                                            <p:fltVal val="0"/>
                                          </p:val>
                                        </p:tav>
                                        <p:tav tm="100000">
                                          <p:val>
                                            <p:fltVal val="1"/>
                                          </p:val>
                                        </p:tav>
                                      </p:tavLst>
                                    </p:anim>
                                    <p:anim calcmode="lin" valueType="num">
                                      <p:cBhvr>
                                        <p:cTn id="39" dur="5000" fill="hold"/>
                                        <p:tgtEl>
                                          <p:spTgt spid="138"/>
                                        </p:tgtEl>
                                        <p:attrNameLst>
                                          <p:attrName>ppt_h</p:attrName>
                                        </p:attrNameLst>
                                      </p:cBhvr>
                                      <p:tavLst>
                                        <p:tav tm="0">
                                          <p:val>
                                            <p:strVal val="#ppt_h"/>
                                          </p:val>
                                        </p:tav>
                                        <p:tav tm="100000">
                                          <p:val>
                                            <p:strVal val="#ppt_h"/>
                                          </p:val>
                                        </p:tav>
                                      </p:tavLst>
                                    </p:anim>
                                  </p:childTnLst>
                                </p:cTn>
                              </p:par>
                              <p:par>
                                <p:cTn id="40" presetID="12" presetClass="entr" presetSubtype="8" fill="hold" grpId="0" nodeType="withEffect">
                                  <p:stCondLst>
                                    <p:cond delay="500"/>
                                  </p:stCondLst>
                                  <p:childTnLst>
                                    <p:set>
                                      <p:cBhvr>
                                        <p:cTn id="41" dur="1" fill="hold">
                                          <p:stCondLst>
                                            <p:cond delay="0"/>
                                          </p:stCondLst>
                                        </p:cTn>
                                        <p:tgtEl>
                                          <p:spTgt spid="159"/>
                                        </p:tgtEl>
                                        <p:attrNameLst>
                                          <p:attrName>style.visibility</p:attrName>
                                        </p:attrNameLst>
                                      </p:cBhvr>
                                      <p:to>
                                        <p:strVal val="visible"/>
                                      </p:to>
                                    </p:set>
                                    <p:animEffect transition="in" filter="slide(fromLeft)">
                                      <p:cBhvr>
                                        <p:cTn id="42" dur="5000"/>
                                        <p:tgtEl>
                                          <p:spTgt spid="159"/>
                                        </p:tgtEl>
                                      </p:cBhvr>
                                    </p:animEffect>
                                  </p:childTnLst>
                                </p:cTn>
                              </p:par>
                              <p:par>
                                <p:cTn id="43" presetID="19" presetClass="entr" presetSubtype="10" fill="hold" grpId="0" nodeType="withEffect">
                                  <p:stCondLst>
                                    <p:cond delay="500"/>
                                  </p:stCondLst>
                                  <p:childTnLst>
                                    <p:set>
                                      <p:cBhvr>
                                        <p:cTn id="44" dur="1" fill="hold">
                                          <p:stCondLst>
                                            <p:cond delay="0"/>
                                          </p:stCondLst>
                                        </p:cTn>
                                        <p:tgtEl>
                                          <p:spTgt spid="143"/>
                                        </p:tgtEl>
                                        <p:attrNameLst>
                                          <p:attrName>style.visibility</p:attrName>
                                        </p:attrNameLst>
                                      </p:cBhvr>
                                      <p:to>
                                        <p:strVal val="visible"/>
                                      </p:to>
                                    </p:set>
                                    <p:anim calcmode="lin" valueType="num">
                                      <p:cBhvr>
                                        <p:cTn id="45" dur="5000" fill="hold"/>
                                        <p:tgtEl>
                                          <p:spTgt spid="143"/>
                                        </p:tgtEl>
                                        <p:attrNameLst>
                                          <p:attrName>ppt_w</p:attrName>
                                        </p:attrNameLst>
                                      </p:cBhvr>
                                      <p:tavLst>
                                        <p:tav tm="0" fmla="#ppt_w*sin(2.5*pi*$)">
                                          <p:val>
                                            <p:fltVal val="0"/>
                                          </p:val>
                                        </p:tav>
                                        <p:tav tm="100000">
                                          <p:val>
                                            <p:fltVal val="1"/>
                                          </p:val>
                                        </p:tav>
                                      </p:tavLst>
                                    </p:anim>
                                    <p:anim calcmode="lin" valueType="num">
                                      <p:cBhvr>
                                        <p:cTn id="46" dur="5000" fill="hold"/>
                                        <p:tgtEl>
                                          <p:spTgt spid="143"/>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500"/>
                                  </p:stCondLst>
                                  <p:childTnLst>
                                    <p:set>
                                      <p:cBhvr>
                                        <p:cTn id="48" dur="1" fill="hold">
                                          <p:stCondLst>
                                            <p:cond delay="0"/>
                                          </p:stCondLst>
                                        </p:cTn>
                                        <p:tgtEl>
                                          <p:spTgt spid="157"/>
                                        </p:tgtEl>
                                        <p:attrNameLst>
                                          <p:attrName>style.visibility</p:attrName>
                                        </p:attrNameLst>
                                      </p:cBhvr>
                                      <p:to>
                                        <p:strVal val="visible"/>
                                      </p:to>
                                    </p:set>
                                    <p:animEffect transition="in" filter="slide(fromBottom)">
                                      <p:cBhvr>
                                        <p:cTn id="49" dur="5000"/>
                                        <p:tgtEl>
                                          <p:spTgt spid="157"/>
                                        </p:tgtEl>
                                      </p:cBhvr>
                                    </p:animEffect>
                                  </p:childTnLst>
                                </p:cTn>
                              </p:par>
                              <p:par>
                                <p:cTn id="50" presetID="19" presetClass="entr" presetSubtype="10" fill="hold" grpId="0" nodeType="withEffect">
                                  <p:stCondLst>
                                    <p:cond delay="500"/>
                                  </p:stCondLst>
                                  <p:childTnLst>
                                    <p:set>
                                      <p:cBhvr>
                                        <p:cTn id="51" dur="1" fill="hold">
                                          <p:stCondLst>
                                            <p:cond delay="0"/>
                                          </p:stCondLst>
                                        </p:cTn>
                                        <p:tgtEl>
                                          <p:spTgt spid="158"/>
                                        </p:tgtEl>
                                        <p:attrNameLst>
                                          <p:attrName>style.visibility</p:attrName>
                                        </p:attrNameLst>
                                      </p:cBhvr>
                                      <p:to>
                                        <p:strVal val="visible"/>
                                      </p:to>
                                    </p:set>
                                    <p:anim calcmode="lin" valueType="num">
                                      <p:cBhvr>
                                        <p:cTn id="52" dur="5000" fill="hold"/>
                                        <p:tgtEl>
                                          <p:spTgt spid="158"/>
                                        </p:tgtEl>
                                        <p:attrNameLst>
                                          <p:attrName>ppt_w</p:attrName>
                                        </p:attrNameLst>
                                      </p:cBhvr>
                                      <p:tavLst>
                                        <p:tav tm="0" fmla="#ppt_w*sin(2.5*pi*$)">
                                          <p:val>
                                            <p:fltVal val="0"/>
                                          </p:val>
                                        </p:tav>
                                        <p:tav tm="100000">
                                          <p:val>
                                            <p:fltVal val="1"/>
                                          </p:val>
                                        </p:tav>
                                      </p:tavLst>
                                    </p:anim>
                                    <p:anim calcmode="lin" valueType="num">
                                      <p:cBhvr>
                                        <p:cTn id="53" dur="5000" fill="hold"/>
                                        <p:tgtEl>
                                          <p:spTgt spid="158"/>
                                        </p:tgtEl>
                                        <p:attrNameLst>
                                          <p:attrName>ppt_h</p:attrName>
                                        </p:attrNameLst>
                                      </p:cBhvr>
                                      <p:tavLst>
                                        <p:tav tm="0">
                                          <p:val>
                                            <p:strVal val="#ppt_h"/>
                                          </p:val>
                                        </p:tav>
                                        <p:tav tm="100000">
                                          <p:val>
                                            <p:strVal val="#ppt_h"/>
                                          </p:val>
                                        </p:tav>
                                      </p:tavLst>
                                    </p:anim>
                                  </p:childTnLst>
                                </p:cTn>
                              </p:par>
                              <p:par>
                                <p:cTn id="54" presetID="19" presetClass="entr" presetSubtype="10" fill="hold" grpId="0" nodeType="withEffect">
                                  <p:stCondLst>
                                    <p:cond delay="500"/>
                                  </p:stCondLst>
                                  <p:childTnLst>
                                    <p:set>
                                      <p:cBhvr>
                                        <p:cTn id="55" dur="1" fill="hold">
                                          <p:stCondLst>
                                            <p:cond delay="0"/>
                                          </p:stCondLst>
                                        </p:cTn>
                                        <p:tgtEl>
                                          <p:spTgt spid="162"/>
                                        </p:tgtEl>
                                        <p:attrNameLst>
                                          <p:attrName>style.visibility</p:attrName>
                                        </p:attrNameLst>
                                      </p:cBhvr>
                                      <p:to>
                                        <p:strVal val="visible"/>
                                      </p:to>
                                    </p:set>
                                    <p:anim calcmode="lin" valueType="num">
                                      <p:cBhvr>
                                        <p:cTn id="56" dur="5000" fill="hold"/>
                                        <p:tgtEl>
                                          <p:spTgt spid="162"/>
                                        </p:tgtEl>
                                        <p:attrNameLst>
                                          <p:attrName>ppt_w</p:attrName>
                                        </p:attrNameLst>
                                      </p:cBhvr>
                                      <p:tavLst>
                                        <p:tav tm="0" fmla="#ppt_w*sin(2.5*pi*$)">
                                          <p:val>
                                            <p:fltVal val="0"/>
                                          </p:val>
                                        </p:tav>
                                        <p:tav tm="100000">
                                          <p:val>
                                            <p:fltVal val="1"/>
                                          </p:val>
                                        </p:tav>
                                      </p:tavLst>
                                    </p:anim>
                                    <p:anim calcmode="lin" valueType="num">
                                      <p:cBhvr>
                                        <p:cTn id="57"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4" name="CAMERA.WAV"/>
                                        </p:tgtEl>
                                      </p:cMediaNode>
                                    </p:audio>
                                  </p:subTnLst>
                                </p:cTn>
                              </p:par>
                            </p:childTnLst>
                          </p:cTn>
                        </p:par>
                        <p:par>
                          <p:cTn id="58" fill="hold">
                            <p:stCondLst>
                              <p:cond delay="10500"/>
                            </p:stCondLst>
                            <p:childTnLst>
                              <p:par>
                                <p:cTn id="59" presetID="15" presetClass="entr" presetSubtype="0" fill="hold" grpId="0" nodeType="afterEffect">
                                  <p:stCondLst>
                                    <p:cond delay="0"/>
                                  </p:stCondLst>
                                  <p:childTnLst>
                                    <p:set>
                                      <p:cBhvr>
                                        <p:cTn id="60" dur="1" fill="hold">
                                          <p:stCondLst>
                                            <p:cond delay="0"/>
                                          </p:stCondLst>
                                        </p:cTn>
                                        <p:tgtEl>
                                          <p:spTgt spid="161"/>
                                        </p:tgtEl>
                                        <p:attrNameLst>
                                          <p:attrName>style.visibility</p:attrName>
                                        </p:attrNameLst>
                                      </p:cBhvr>
                                      <p:to>
                                        <p:strVal val="visible"/>
                                      </p:to>
                                    </p:set>
                                    <p:anim calcmode="lin" valueType="num">
                                      <p:cBhvr>
                                        <p:cTn id="61" dur="2000" fill="hold"/>
                                        <p:tgtEl>
                                          <p:spTgt spid="161"/>
                                        </p:tgtEl>
                                        <p:attrNameLst>
                                          <p:attrName>ppt_w</p:attrName>
                                        </p:attrNameLst>
                                      </p:cBhvr>
                                      <p:tavLst>
                                        <p:tav tm="0">
                                          <p:val>
                                            <p:fltVal val="0"/>
                                          </p:val>
                                        </p:tav>
                                        <p:tav tm="100000">
                                          <p:val>
                                            <p:strVal val="#ppt_w"/>
                                          </p:val>
                                        </p:tav>
                                      </p:tavLst>
                                    </p:anim>
                                    <p:anim calcmode="lin" valueType="num">
                                      <p:cBhvr>
                                        <p:cTn id="62" dur="2000" fill="hold"/>
                                        <p:tgtEl>
                                          <p:spTgt spid="161"/>
                                        </p:tgtEl>
                                        <p:attrNameLst>
                                          <p:attrName>ppt_h</p:attrName>
                                        </p:attrNameLst>
                                      </p:cBhvr>
                                      <p:tavLst>
                                        <p:tav tm="0">
                                          <p:val>
                                            <p:fltVal val="0"/>
                                          </p:val>
                                        </p:tav>
                                        <p:tav tm="100000">
                                          <p:val>
                                            <p:strVal val="#ppt_h"/>
                                          </p:val>
                                        </p:tav>
                                      </p:tavLst>
                                    </p:anim>
                                    <p:anim calcmode="lin" valueType="num">
                                      <p:cBhvr>
                                        <p:cTn id="63" dur="2000" fill="hold"/>
                                        <p:tgtEl>
                                          <p:spTgt spid="161"/>
                                        </p:tgtEl>
                                        <p:attrNameLst>
                                          <p:attrName>ppt_x</p:attrName>
                                        </p:attrNameLst>
                                      </p:cBhvr>
                                      <p:tavLst>
                                        <p:tav tm="0" fmla="#ppt_x+(cos(-2*pi*(1-$))*-#ppt_x-sin(-2*pi*(1-$))*(1-#ppt_y))*(1-$)">
                                          <p:val>
                                            <p:fltVal val="0"/>
                                          </p:val>
                                        </p:tav>
                                        <p:tav tm="100000">
                                          <p:val>
                                            <p:fltVal val="1"/>
                                          </p:val>
                                        </p:tav>
                                      </p:tavLst>
                                    </p:anim>
                                    <p:anim calcmode="lin" valueType="num">
                                      <p:cBhvr>
                                        <p:cTn id="64" dur="2000" fill="hold"/>
                                        <p:tgtEl>
                                          <p:spTgt spid="16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9"/>
                                            </p:cond>
                                          </p:stCondLst>
                                          <p:endCondLst>
                                            <p:cond evt="onStopAudio" delay="0">
                                              <p:tgtEl>
                                                <p:sldTgt/>
                                              </p:tgtEl>
                                            </p:cond>
                                          </p:endCondLst>
                                        </p:cTn>
                                        <p:tgtEl>
                                          <p:sndTgt r:embed="rId5" name="CHIMES.WAV"/>
                                        </p:tgtEl>
                                      </p:cMediaNode>
                                    </p:audio>
                                  </p:subTnLst>
                                </p:cTn>
                              </p:par>
                            </p:childTnLst>
                          </p:cTn>
                        </p:par>
                        <p:par>
                          <p:cTn id="65" fill="hold">
                            <p:stCondLst>
                              <p:cond delay="12500"/>
                            </p:stCondLst>
                            <p:childTnLst>
                              <p:par>
                                <p:cTn id="66" presetID="19" presetClass="entr" presetSubtype="10" fill="hold" grpId="0" nodeType="afterEffect">
                                  <p:stCondLst>
                                    <p:cond delay="0"/>
                                  </p:stCondLst>
                                  <p:childTnLst>
                                    <p:set>
                                      <p:cBhvr>
                                        <p:cTn id="67" dur="1" fill="hold">
                                          <p:stCondLst>
                                            <p:cond delay="0"/>
                                          </p:stCondLst>
                                        </p:cTn>
                                        <p:tgtEl>
                                          <p:spTgt spid="145"/>
                                        </p:tgtEl>
                                        <p:attrNameLst>
                                          <p:attrName>style.visibility</p:attrName>
                                        </p:attrNameLst>
                                      </p:cBhvr>
                                      <p:to>
                                        <p:strVal val="visible"/>
                                      </p:to>
                                    </p:set>
                                    <p:anim calcmode="lin" valueType="num">
                                      <p:cBhvr>
                                        <p:cTn id="68" dur="5000" fill="hold"/>
                                        <p:tgtEl>
                                          <p:spTgt spid="145"/>
                                        </p:tgtEl>
                                        <p:attrNameLst>
                                          <p:attrName>ppt_w</p:attrName>
                                        </p:attrNameLst>
                                      </p:cBhvr>
                                      <p:tavLst>
                                        <p:tav tm="0" fmla="#ppt_w*sin(2.5*pi*$)">
                                          <p:val>
                                            <p:fltVal val="0"/>
                                          </p:val>
                                        </p:tav>
                                        <p:tav tm="100000">
                                          <p:val>
                                            <p:fltVal val="1"/>
                                          </p:val>
                                        </p:tav>
                                      </p:tavLst>
                                    </p:anim>
                                    <p:anim calcmode="lin" valueType="num">
                                      <p:cBhvr>
                                        <p:cTn id="69"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5" name="CHIMES.WAV"/>
                                        </p:tgtEl>
                                      </p:cMediaNode>
                                    </p:audio>
                                  </p:subTnLst>
                                </p:cTn>
                              </p:par>
                              <p:par>
                                <p:cTn id="70" presetID="22" presetClass="entr" presetSubtype="4" fill="hold" grpId="0" nodeType="withEffect">
                                  <p:stCondLst>
                                    <p:cond delay="0"/>
                                  </p:stCondLst>
                                  <p:childTnLst>
                                    <p:set>
                                      <p:cBhvr>
                                        <p:cTn id="71" dur="1" fill="hold">
                                          <p:stCondLst>
                                            <p:cond delay="0"/>
                                          </p:stCondLst>
                                        </p:cTn>
                                        <p:tgtEl>
                                          <p:spTgt spid="160"/>
                                        </p:tgtEl>
                                        <p:attrNameLst>
                                          <p:attrName>style.visibility</p:attrName>
                                        </p:attrNameLst>
                                      </p:cBhvr>
                                      <p:to>
                                        <p:strVal val="visible"/>
                                      </p:to>
                                    </p:set>
                                    <p:animEffect transition="in" filter="wipe(down)">
                                      <p:cBhvr>
                                        <p:cTn id="72" dur="5000"/>
                                        <p:tgtEl>
                                          <p:spTgt spid="160"/>
                                        </p:tgtEl>
                                      </p:cBhvr>
                                    </p:animEffect>
                                  </p:childTnLst>
                                </p:cTn>
                              </p:par>
                            </p:childTnLst>
                          </p:cTn>
                        </p:par>
                        <p:par>
                          <p:cTn id="73" fill="hold">
                            <p:stCondLst>
                              <p:cond delay="17500"/>
                            </p:stCondLst>
                            <p:childTnLst>
                              <p:par>
                                <p:cTn id="74" presetID="15" presetClass="entr" presetSubtype="0" fill="hold" grpId="0" nodeType="afterEffect">
                                  <p:stCondLst>
                                    <p:cond delay="0"/>
                                  </p:stCondLst>
                                  <p:childTnLst>
                                    <p:set>
                                      <p:cBhvr>
                                        <p:cTn id="75" dur="1" fill="hold">
                                          <p:stCondLst>
                                            <p:cond delay="0"/>
                                          </p:stCondLst>
                                        </p:cTn>
                                        <p:tgtEl>
                                          <p:spTgt spid="156"/>
                                        </p:tgtEl>
                                        <p:attrNameLst>
                                          <p:attrName>style.visibility</p:attrName>
                                        </p:attrNameLst>
                                      </p:cBhvr>
                                      <p:to>
                                        <p:strVal val="visible"/>
                                      </p:to>
                                    </p:set>
                                    <p:anim calcmode="lin" valueType="num">
                                      <p:cBhvr>
                                        <p:cTn id="76" dur="2000" fill="hold"/>
                                        <p:tgtEl>
                                          <p:spTgt spid="156"/>
                                        </p:tgtEl>
                                        <p:attrNameLst>
                                          <p:attrName>ppt_w</p:attrName>
                                        </p:attrNameLst>
                                      </p:cBhvr>
                                      <p:tavLst>
                                        <p:tav tm="0">
                                          <p:val>
                                            <p:fltVal val="0"/>
                                          </p:val>
                                        </p:tav>
                                        <p:tav tm="100000">
                                          <p:val>
                                            <p:strVal val="#ppt_w"/>
                                          </p:val>
                                        </p:tav>
                                      </p:tavLst>
                                    </p:anim>
                                    <p:anim calcmode="lin" valueType="num">
                                      <p:cBhvr>
                                        <p:cTn id="77" dur="2000" fill="hold"/>
                                        <p:tgtEl>
                                          <p:spTgt spid="156"/>
                                        </p:tgtEl>
                                        <p:attrNameLst>
                                          <p:attrName>ppt_h</p:attrName>
                                        </p:attrNameLst>
                                      </p:cBhvr>
                                      <p:tavLst>
                                        <p:tav tm="0">
                                          <p:val>
                                            <p:fltVal val="0"/>
                                          </p:val>
                                        </p:tav>
                                        <p:tav tm="100000">
                                          <p:val>
                                            <p:strVal val="#ppt_h"/>
                                          </p:val>
                                        </p:tav>
                                      </p:tavLst>
                                    </p:anim>
                                    <p:anim calcmode="lin" valueType="num">
                                      <p:cBhvr>
                                        <p:cTn id="78" dur="2000" fill="hold"/>
                                        <p:tgtEl>
                                          <p:spTgt spid="156"/>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5" name="CHIMES.WAV"/>
                                        </p:tgtEl>
                                      </p:cMediaNode>
                                    </p:audio>
                                  </p:subTnLst>
                                </p:cTn>
                              </p:par>
                            </p:childTnLst>
                          </p:cTn>
                        </p:par>
                        <p:par>
                          <p:cTn id="80" fill="hold">
                            <p:stCondLst>
                              <p:cond delay="19500"/>
                            </p:stCondLst>
                            <p:childTnLst>
                              <p:par>
                                <p:cTn id="81" presetID="19" presetClass="entr" presetSubtype="10" fill="hold" grpId="0" nodeType="afterEffect">
                                  <p:stCondLst>
                                    <p:cond delay="0"/>
                                  </p:stCondLst>
                                  <p:childTnLst>
                                    <p:set>
                                      <p:cBhvr>
                                        <p:cTn id="82" dur="1" fill="hold">
                                          <p:stCondLst>
                                            <p:cond delay="0"/>
                                          </p:stCondLst>
                                        </p:cTn>
                                        <p:tgtEl>
                                          <p:spTgt spid="151"/>
                                        </p:tgtEl>
                                        <p:attrNameLst>
                                          <p:attrName>style.visibility</p:attrName>
                                        </p:attrNameLst>
                                      </p:cBhvr>
                                      <p:to>
                                        <p:strVal val="visible"/>
                                      </p:to>
                                    </p:set>
                                    <p:anim calcmode="lin" valueType="num">
                                      <p:cBhvr>
                                        <p:cTn id="83" dur="5000" fill="hold"/>
                                        <p:tgtEl>
                                          <p:spTgt spid="151"/>
                                        </p:tgtEl>
                                        <p:attrNameLst>
                                          <p:attrName>ppt_w</p:attrName>
                                        </p:attrNameLst>
                                      </p:cBhvr>
                                      <p:tavLst>
                                        <p:tav tm="0" fmla="#ppt_w*sin(2.5*pi*$)">
                                          <p:val>
                                            <p:fltVal val="0"/>
                                          </p:val>
                                        </p:tav>
                                        <p:tav tm="100000">
                                          <p:val>
                                            <p:fltVal val="1"/>
                                          </p:val>
                                        </p:tav>
                                      </p:tavLst>
                                    </p:anim>
                                    <p:anim calcmode="lin" valueType="num">
                                      <p:cBhvr>
                                        <p:cTn id="8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5" name="CHIMES.WAV"/>
                                        </p:tgtEl>
                                      </p:cMediaNode>
                                    </p:audio>
                                  </p:subTnLst>
                                </p:cTn>
                              </p:par>
                              <p:par>
                                <p:cTn id="85" presetID="22" presetClass="entr" presetSubtype="1" fill="hold" grpId="0" nodeType="withEffect">
                                  <p:stCondLst>
                                    <p:cond delay="0"/>
                                  </p:stCondLst>
                                  <p:childTnLst>
                                    <p:set>
                                      <p:cBhvr>
                                        <p:cTn id="86" dur="1" fill="hold">
                                          <p:stCondLst>
                                            <p:cond delay="0"/>
                                          </p:stCondLst>
                                        </p:cTn>
                                        <p:tgtEl>
                                          <p:spTgt spid="150"/>
                                        </p:tgtEl>
                                        <p:attrNameLst>
                                          <p:attrName>style.visibility</p:attrName>
                                        </p:attrNameLst>
                                      </p:cBhvr>
                                      <p:to>
                                        <p:strVal val="visible"/>
                                      </p:to>
                                    </p:set>
                                    <p:animEffect transition="in" filter="wipe(up)">
                                      <p:cBhvr>
                                        <p:cTn id="87" dur="5000"/>
                                        <p:tgtEl>
                                          <p:spTgt spid="150"/>
                                        </p:tgtEl>
                                      </p:cBhvr>
                                    </p:animEffect>
                                  </p:childTnLst>
                                </p:cTn>
                              </p:par>
                            </p:childTnLst>
                          </p:cTn>
                        </p:par>
                        <p:par>
                          <p:cTn id="88" fill="hold">
                            <p:stCondLst>
                              <p:cond delay="24500"/>
                            </p:stCondLst>
                            <p:childTnLst>
                              <p:par>
                                <p:cTn id="89" presetID="18" presetClass="entr" presetSubtype="6" fill="hold" grpId="0" nodeType="afterEffect">
                                  <p:stCondLst>
                                    <p:cond delay="0"/>
                                  </p:stCondLst>
                                  <p:childTnLst>
                                    <p:set>
                                      <p:cBhvr>
                                        <p:cTn id="90" dur="1" fill="hold">
                                          <p:stCondLst>
                                            <p:cond delay="0"/>
                                          </p:stCondLst>
                                        </p:cTn>
                                        <p:tgtEl>
                                          <p:spTgt spid="155"/>
                                        </p:tgtEl>
                                        <p:attrNameLst>
                                          <p:attrName>style.visibility</p:attrName>
                                        </p:attrNameLst>
                                      </p:cBhvr>
                                      <p:to>
                                        <p:strVal val="visible"/>
                                      </p:to>
                                    </p:set>
                                    <p:animEffect transition="in" filter="strips(downRight)">
                                      <p:cBhvr>
                                        <p:cTn id="91" dur="5000"/>
                                        <p:tgtEl>
                                          <p:spTgt spid="155"/>
                                        </p:tgtEl>
                                      </p:cBhvr>
                                    </p:animEffect>
                                  </p:childTnLst>
                                </p:cTn>
                              </p:par>
                            </p:childTnLst>
                          </p:cTn>
                        </p:par>
                        <p:par>
                          <p:cTn id="92" fill="hold">
                            <p:stCondLst>
                              <p:cond delay="29500"/>
                            </p:stCondLst>
                            <p:childTnLst>
                              <p:par>
                                <p:cTn id="93" presetID="22" presetClass="entr" presetSubtype="8" fill="hold" grpId="0" nodeType="afterEffect">
                                  <p:stCondLst>
                                    <p:cond delay="0"/>
                                  </p:stCondLst>
                                  <p:childTnLst>
                                    <p:set>
                                      <p:cBhvr>
                                        <p:cTn id="94" dur="1" fill="hold">
                                          <p:stCondLst>
                                            <p:cond delay="0"/>
                                          </p:stCondLst>
                                        </p:cTn>
                                        <p:tgtEl>
                                          <p:spTgt spid="144"/>
                                        </p:tgtEl>
                                        <p:attrNameLst>
                                          <p:attrName>style.visibility</p:attrName>
                                        </p:attrNameLst>
                                      </p:cBhvr>
                                      <p:to>
                                        <p:strVal val="visible"/>
                                      </p:to>
                                    </p:set>
                                    <p:animEffect transition="in" filter="wipe(left)">
                                      <p:cBhvr>
                                        <p:cTn id="95" dur="5000"/>
                                        <p:tgtEl>
                                          <p:spTgt spid="144"/>
                                        </p:tgtEl>
                                      </p:cBhvr>
                                    </p:animEffect>
                                  </p:childTnLst>
                                </p:cTn>
                              </p:par>
                            </p:childTnLst>
                          </p:cTn>
                        </p:par>
                        <p:par>
                          <p:cTn id="96" fill="hold">
                            <p:stCondLst>
                              <p:cond delay="34500"/>
                            </p:stCondLst>
                            <p:childTnLst>
                              <p:par>
                                <p:cTn id="97" presetID="15" presetClass="entr" presetSubtype="0" fill="hold" nodeType="afterEffect">
                                  <p:stCondLst>
                                    <p:cond delay="0"/>
                                  </p:stCondLst>
                                  <p:childTnLst>
                                    <p:set>
                                      <p:cBhvr>
                                        <p:cTn id="98" dur="1" fill="hold">
                                          <p:stCondLst>
                                            <p:cond delay="0"/>
                                          </p:stCondLst>
                                        </p:cTn>
                                        <p:tgtEl>
                                          <p:spTgt spid="152"/>
                                        </p:tgtEl>
                                        <p:attrNameLst>
                                          <p:attrName>style.visibility</p:attrName>
                                        </p:attrNameLst>
                                      </p:cBhvr>
                                      <p:to>
                                        <p:strVal val="visible"/>
                                      </p:to>
                                    </p:set>
                                    <p:anim calcmode="lin" valueType="num">
                                      <p:cBhvr>
                                        <p:cTn id="99" dur="3000" fill="hold"/>
                                        <p:tgtEl>
                                          <p:spTgt spid="152"/>
                                        </p:tgtEl>
                                        <p:attrNameLst>
                                          <p:attrName>ppt_w</p:attrName>
                                        </p:attrNameLst>
                                      </p:cBhvr>
                                      <p:tavLst>
                                        <p:tav tm="0">
                                          <p:val>
                                            <p:fltVal val="0"/>
                                          </p:val>
                                        </p:tav>
                                        <p:tav tm="100000">
                                          <p:val>
                                            <p:strVal val="#ppt_w"/>
                                          </p:val>
                                        </p:tav>
                                      </p:tavLst>
                                    </p:anim>
                                    <p:anim calcmode="lin" valueType="num">
                                      <p:cBhvr>
                                        <p:cTn id="100" dur="3000" fill="hold"/>
                                        <p:tgtEl>
                                          <p:spTgt spid="152"/>
                                        </p:tgtEl>
                                        <p:attrNameLst>
                                          <p:attrName>ppt_h</p:attrName>
                                        </p:attrNameLst>
                                      </p:cBhvr>
                                      <p:tavLst>
                                        <p:tav tm="0">
                                          <p:val>
                                            <p:fltVal val="0"/>
                                          </p:val>
                                        </p:tav>
                                        <p:tav tm="100000">
                                          <p:val>
                                            <p:strVal val="#ppt_h"/>
                                          </p:val>
                                        </p:tav>
                                      </p:tavLst>
                                    </p:anim>
                                    <p:anim calcmode="lin" valueType="num">
                                      <p:cBhvr>
                                        <p:cTn id="101" dur="3000" fill="hold"/>
                                        <p:tgtEl>
                                          <p:spTgt spid="152"/>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152"/>
                                        </p:tgtEl>
                                        <p:attrNameLst>
                                          <p:attrName>ppt_y</p:attrName>
                                        </p:attrNameLst>
                                      </p:cBhvr>
                                      <p:tavLst>
                                        <p:tav tm="0" fmla="#ppt_y+(sin(-2*pi*(1-$))*-#ppt_x+cos(-2*pi*(1-$))*(1-#ppt_y))*(1-$)">
                                          <p:val>
                                            <p:fltVal val="0"/>
                                          </p:val>
                                        </p:tav>
                                        <p:tav tm="100000">
                                          <p:val>
                                            <p:fltVal val="1"/>
                                          </p:val>
                                        </p:tav>
                                      </p:tavLst>
                                    </p:anim>
                                  </p:childTnLst>
                                </p:cTn>
                              </p:par>
                            </p:childTnLst>
                          </p:cTn>
                        </p:par>
                        <p:par>
                          <p:cTn id="103" fill="hold">
                            <p:stCondLst>
                              <p:cond delay="37500"/>
                            </p:stCondLst>
                            <p:childTnLst>
                              <p:par>
                                <p:cTn id="104" presetID="15" presetClass="entr" presetSubtype="0" fill="hold" nodeType="afterEffect">
                                  <p:stCondLst>
                                    <p:cond delay="0"/>
                                  </p:stCondLst>
                                  <p:childTnLst>
                                    <p:set>
                                      <p:cBhvr>
                                        <p:cTn id="105" dur="1" fill="hold">
                                          <p:stCondLst>
                                            <p:cond delay="0"/>
                                          </p:stCondLst>
                                        </p:cTn>
                                        <p:tgtEl>
                                          <p:spTgt spid="146"/>
                                        </p:tgtEl>
                                        <p:attrNameLst>
                                          <p:attrName>style.visibility</p:attrName>
                                        </p:attrNameLst>
                                      </p:cBhvr>
                                      <p:to>
                                        <p:strVal val="visible"/>
                                      </p:to>
                                    </p:set>
                                    <p:anim calcmode="lin" valueType="num">
                                      <p:cBhvr>
                                        <p:cTn id="106" dur="3000" fill="hold"/>
                                        <p:tgtEl>
                                          <p:spTgt spid="146"/>
                                        </p:tgtEl>
                                        <p:attrNameLst>
                                          <p:attrName>ppt_w</p:attrName>
                                        </p:attrNameLst>
                                      </p:cBhvr>
                                      <p:tavLst>
                                        <p:tav tm="0">
                                          <p:val>
                                            <p:fltVal val="0"/>
                                          </p:val>
                                        </p:tav>
                                        <p:tav tm="100000">
                                          <p:val>
                                            <p:strVal val="#ppt_w"/>
                                          </p:val>
                                        </p:tav>
                                      </p:tavLst>
                                    </p:anim>
                                    <p:anim calcmode="lin" valueType="num">
                                      <p:cBhvr>
                                        <p:cTn id="107" dur="3000" fill="hold"/>
                                        <p:tgtEl>
                                          <p:spTgt spid="146"/>
                                        </p:tgtEl>
                                        <p:attrNameLst>
                                          <p:attrName>ppt_h</p:attrName>
                                        </p:attrNameLst>
                                      </p:cBhvr>
                                      <p:tavLst>
                                        <p:tav tm="0">
                                          <p:val>
                                            <p:fltVal val="0"/>
                                          </p:val>
                                        </p:tav>
                                        <p:tav tm="100000">
                                          <p:val>
                                            <p:strVal val="#ppt_h"/>
                                          </p:val>
                                        </p:tav>
                                      </p:tavLst>
                                    </p:anim>
                                    <p:anim calcmode="lin" valueType="num">
                                      <p:cBhvr>
                                        <p:cTn id="108" dur="3000" fill="hold"/>
                                        <p:tgtEl>
                                          <p:spTgt spid="146"/>
                                        </p:tgtEl>
                                        <p:attrNameLst>
                                          <p:attrName>ppt_x</p:attrName>
                                        </p:attrNameLst>
                                      </p:cBhvr>
                                      <p:tavLst>
                                        <p:tav tm="0" fmla="#ppt_x+(cos(-2*pi*(1-$))*-#ppt_x-sin(-2*pi*(1-$))*(1-#ppt_y))*(1-$)">
                                          <p:val>
                                            <p:fltVal val="0"/>
                                          </p:val>
                                        </p:tav>
                                        <p:tav tm="100000">
                                          <p:val>
                                            <p:fltVal val="1"/>
                                          </p:val>
                                        </p:tav>
                                      </p:tavLst>
                                    </p:anim>
                                    <p:anim calcmode="lin" valueType="num">
                                      <p:cBhvr>
                                        <p:cTn id="109" dur="3000" fill="hold"/>
                                        <p:tgtEl>
                                          <p:spTgt spid="14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4"/>
                                            </p:cond>
                                          </p:stCondLst>
                                          <p:endCondLst>
                                            <p:cond evt="onStopAudio" delay="0">
                                              <p:tgtEl>
                                                <p:sldTgt/>
                                              </p:tgtEl>
                                            </p:cond>
                                          </p:endCondLst>
                                        </p:cTn>
                                        <p:tgtEl>
                                          <p:sndTgt r:embed="rId5" name="CHIMES.WAV"/>
                                        </p:tgtEl>
                                      </p:cMediaNode>
                                    </p:audio>
                                  </p:subTnLst>
                                </p:cTn>
                              </p:par>
                            </p:childTnLst>
                          </p:cTn>
                        </p:par>
                        <p:par>
                          <p:cTn id="110" fill="hold">
                            <p:stCondLst>
                              <p:cond delay="40500"/>
                            </p:stCondLst>
                            <p:childTnLst>
                              <p:par>
                                <p:cTn id="111" presetID="22" presetClass="entr" presetSubtype="8" fill="hold" grpId="0" nodeType="afterEffect">
                                  <p:stCondLst>
                                    <p:cond delay="0"/>
                                  </p:stCondLst>
                                  <p:childTnLst>
                                    <p:set>
                                      <p:cBhvr>
                                        <p:cTn id="112" dur="1" fill="hold">
                                          <p:stCondLst>
                                            <p:cond delay="0"/>
                                          </p:stCondLst>
                                        </p:cTn>
                                        <p:tgtEl>
                                          <p:spTgt spid="149"/>
                                        </p:tgtEl>
                                        <p:attrNameLst>
                                          <p:attrName>style.visibility</p:attrName>
                                        </p:attrNameLst>
                                      </p:cBhvr>
                                      <p:to>
                                        <p:strVal val="visible"/>
                                      </p:to>
                                    </p:set>
                                    <p:animEffect transition="in" filter="wipe(left)">
                                      <p:cBhvr>
                                        <p:cTn id="113" dur="5000"/>
                                        <p:tgtEl>
                                          <p:spTgt spid="149"/>
                                        </p:tgtEl>
                                      </p:cBhvr>
                                    </p:animEffect>
                                  </p:childTnLst>
                                  <p:subTnLst>
                                    <p:audio>
                                      <p:cMediaNode>
                                        <p:cTn display="0" masterRel="sameClick">
                                          <p:stCondLst>
                                            <p:cond evt="begin" delay="0">
                                              <p:tn val="111"/>
                                            </p:cond>
                                          </p:stCondLst>
                                          <p:endCondLst>
                                            <p:cond evt="onStopAudio" delay="0">
                                              <p:tgtEl>
                                                <p:sldTgt/>
                                              </p:tgtEl>
                                            </p:cond>
                                          </p:endCondLst>
                                        </p:cTn>
                                        <p:tgtEl>
                                          <p:sndTgt r:embed="rId5" name="CHIMES.WAV"/>
                                        </p:tgtEl>
                                      </p:cMediaNode>
                                    </p:audio>
                                  </p:sub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16"/>
                                        </p:tgtEl>
                                        <p:attrNameLst>
                                          <p:attrName>style.visibility</p:attrName>
                                        </p:attrNameLst>
                                      </p:cBhvr>
                                      <p:to>
                                        <p:strVal val="visible"/>
                                      </p:to>
                                    </p:set>
                                    <p:animEffect transition="in" filter="wipe(left)">
                                      <p:cBhvr>
                                        <p:cTn id="118" dur="5000"/>
                                        <p:tgtEl>
                                          <p:spTgt spid="116"/>
                                        </p:tgtEl>
                                      </p:cBhvr>
                                    </p:animEffect>
                                  </p:childTnLst>
                                </p:cTn>
                              </p:par>
                            </p:childTnLst>
                          </p:cTn>
                        </p:par>
                        <p:par>
                          <p:cTn id="119" fill="hold">
                            <p:stCondLst>
                              <p:cond delay="5000"/>
                            </p:stCondLst>
                            <p:childTnLst>
                              <p:par>
                                <p:cTn id="120" presetID="12" presetClass="entr" presetSubtype="8" fill="hold" grpId="0" nodeType="afterEffect">
                                  <p:stCondLst>
                                    <p:cond delay="0"/>
                                  </p:stCondLst>
                                  <p:childTnLst>
                                    <p:set>
                                      <p:cBhvr>
                                        <p:cTn id="121" dur="1" fill="hold">
                                          <p:stCondLst>
                                            <p:cond delay="0"/>
                                          </p:stCondLst>
                                        </p:cTn>
                                        <p:tgtEl>
                                          <p:spTgt spid="114"/>
                                        </p:tgtEl>
                                        <p:attrNameLst>
                                          <p:attrName>style.visibility</p:attrName>
                                        </p:attrNameLst>
                                      </p:cBhvr>
                                      <p:to>
                                        <p:strVal val="visible"/>
                                      </p:to>
                                    </p:set>
                                    <p:animEffect transition="in" filter="slide(fromLeft)">
                                      <p:cBhvr>
                                        <p:cTn id="122" dur="5000"/>
                                        <p:tgtEl>
                                          <p:spTgt spid="114"/>
                                        </p:tgtEl>
                                      </p:cBhvr>
                                    </p:animEffect>
                                  </p:childTnLst>
                                </p:cTn>
                              </p:par>
                              <p:par>
                                <p:cTn id="123" presetID="19" presetClass="entr" presetSubtype="10" fill="hold" grpId="0" nodeType="withEffect">
                                  <p:stCondLst>
                                    <p:cond delay="500"/>
                                  </p:stCondLst>
                                  <p:childTnLst>
                                    <p:set>
                                      <p:cBhvr>
                                        <p:cTn id="124" dur="1" fill="hold">
                                          <p:stCondLst>
                                            <p:cond delay="0"/>
                                          </p:stCondLst>
                                        </p:cTn>
                                        <p:tgtEl>
                                          <p:spTgt spid="70"/>
                                        </p:tgtEl>
                                        <p:attrNameLst>
                                          <p:attrName>style.visibility</p:attrName>
                                        </p:attrNameLst>
                                      </p:cBhvr>
                                      <p:to>
                                        <p:strVal val="visible"/>
                                      </p:to>
                                    </p:set>
                                    <p:anim calcmode="lin" valueType="num">
                                      <p:cBhvr>
                                        <p:cTn id="125" dur="5000" fill="hold"/>
                                        <p:tgtEl>
                                          <p:spTgt spid="70"/>
                                        </p:tgtEl>
                                        <p:attrNameLst>
                                          <p:attrName>ppt_w</p:attrName>
                                        </p:attrNameLst>
                                      </p:cBhvr>
                                      <p:tavLst>
                                        <p:tav tm="0" fmla="#ppt_w*sin(2.5*pi*$)">
                                          <p:val>
                                            <p:fltVal val="0"/>
                                          </p:val>
                                        </p:tav>
                                        <p:tav tm="100000">
                                          <p:val>
                                            <p:fltVal val="1"/>
                                          </p:val>
                                        </p:tav>
                                      </p:tavLst>
                                    </p:anim>
                                    <p:anim calcmode="lin" valueType="num">
                                      <p:cBhvr>
                                        <p:cTn id="126" dur="5000" fill="hold"/>
                                        <p:tgtEl>
                                          <p:spTgt spid="70"/>
                                        </p:tgtEl>
                                        <p:attrNameLst>
                                          <p:attrName>ppt_h</p:attrName>
                                        </p:attrNameLst>
                                      </p:cBhvr>
                                      <p:tavLst>
                                        <p:tav tm="0">
                                          <p:val>
                                            <p:strVal val="#ppt_h"/>
                                          </p:val>
                                        </p:tav>
                                        <p:tav tm="100000">
                                          <p:val>
                                            <p:strVal val="#ppt_h"/>
                                          </p:val>
                                        </p:tav>
                                      </p:tavLst>
                                    </p:anim>
                                  </p:childTnLst>
                                </p:cTn>
                              </p:par>
                              <p:par>
                                <p:cTn id="127" presetID="12" presetClass="entr" presetSubtype="4" fill="hold" grpId="0" nodeType="withEffect">
                                  <p:stCondLst>
                                    <p:cond delay="500"/>
                                  </p:stCondLst>
                                  <p:childTnLst>
                                    <p:set>
                                      <p:cBhvr>
                                        <p:cTn id="128" dur="1" fill="hold">
                                          <p:stCondLst>
                                            <p:cond delay="0"/>
                                          </p:stCondLst>
                                        </p:cTn>
                                        <p:tgtEl>
                                          <p:spTgt spid="71"/>
                                        </p:tgtEl>
                                        <p:attrNameLst>
                                          <p:attrName>style.visibility</p:attrName>
                                        </p:attrNameLst>
                                      </p:cBhvr>
                                      <p:to>
                                        <p:strVal val="visible"/>
                                      </p:to>
                                    </p:set>
                                    <p:animEffect transition="in" filter="slide(fromBottom)">
                                      <p:cBhvr>
                                        <p:cTn id="129" dur="5000"/>
                                        <p:tgtEl>
                                          <p:spTgt spid="71"/>
                                        </p:tgtEl>
                                      </p:cBhvr>
                                    </p:animEffect>
                                  </p:childTnLst>
                                </p:cTn>
                              </p:par>
                              <p:par>
                                <p:cTn id="130" presetID="19" presetClass="entr" presetSubtype="10" fill="hold" grpId="0" nodeType="withEffect">
                                  <p:stCondLst>
                                    <p:cond delay="500"/>
                                  </p:stCondLst>
                                  <p:childTnLst>
                                    <p:set>
                                      <p:cBhvr>
                                        <p:cTn id="131" dur="1" fill="hold">
                                          <p:stCondLst>
                                            <p:cond delay="0"/>
                                          </p:stCondLst>
                                        </p:cTn>
                                        <p:tgtEl>
                                          <p:spTgt spid="72"/>
                                        </p:tgtEl>
                                        <p:attrNameLst>
                                          <p:attrName>style.visibility</p:attrName>
                                        </p:attrNameLst>
                                      </p:cBhvr>
                                      <p:to>
                                        <p:strVal val="visible"/>
                                      </p:to>
                                    </p:set>
                                    <p:anim calcmode="lin" valueType="num">
                                      <p:cBhvr>
                                        <p:cTn id="132" dur="5000" fill="hold"/>
                                        <p:tgtEl>
                                          <p:spTgt spid="72"/>
                                        </p:tgtEl>
                                        <p:attrNameLst>
                                          <p:attrName>ppt_w</p:attrName>
                                        </p:attrNameLst>
                                      </p:cBhvr>
                                      <p:tavLst>
                                        <p:tav tm="0" fmla="#ppt_w*sin(2.5*pi*$)">
                                          <p:val>
                                            <p:fltVal val="0"/>
                                          </p:val>
                                        </p:tav>
                                        <p:tav tm="100000">
                                          <p:val>
                                            <p:fltVal val="1"/>
                                          </p:val>
                                        </p:tav>
                                      </p:tavLst>
                                    </p:anim>
                                    <p:anim calcmode="lin" valueType="num">
                                      <p:cBhvr>
                                        <p:cTn id="133" dur="5000" fill="hold"/>
                                        <p:tgtEl>
                                          <p:spTgt spid="72"/>
                                        </p:tgtEl>
                                        <p:attrNameLst>
                                          <p:attrName>ppt_h</p:attrName>
                                        </p:attrNameLst>
                                      </p:cBhvr>
                                      <p:tavLst>
                                        <p:tav tm="0">
                                          <p:val>
                                            <p:strVal val="#ppt_h"/>
                                          </p:val>
                                        </p:tav>
                                        <p:tav tm="100000">
                                          <p:val>
                                            <p:strVal val="#ppt_h"/>
                                          </p:val>
                                        </p:tav>
                                      </p:tavLst>
                                    </p:anim>
                                  </p:childTnLst>
                                </p:cTn>
                              </p:par>
                              <p:par>
                                <p:cTn id="134" presetID="19" presetClass="entr" presetSubtype="10" fill="hold" grpId="0" nodeType="withEffect">
                                  <p:stCondLst>
                                    <p:cond delay="500"/>
                                  </p:stCondLst>
                                  <p:childTnLst>
                                    <p:set>
                                      <p:cBhvr>
                                        <p:cTn id="135" dur="1" fill="hold">
                                          <p:stCondLst>
                                            <p:cond delay="0"/>
                                          </p:stCondLst>
                                        </p:cTn>
                                        <p:tgtEl>
                                          <p:spTgt spid="73"/>
                                        </p:tgtEl>
                                        <p:attrNameLst>
                                          <p:attrName>style.visibility</p:attrName>
                                        </p:attrNameLst>
                                      </p:cBhvr>
                                      <p:to>
                                        <p:strVal val="visible"/>
                                      </p:to>
                                    </p:set>
                                    <p:anim calcmode="lin" valueType="num">
                                      <p:cBhvr>
                                        <p:cTn id="136" dur="5000" fill="hold"/>
                                        <p:tgtEl>
                                          <p:spTgt spid="73"/>
                                        </p:tgtEl>
                                        <p:attrNameLst>
                                          <p:attrName>ppt_w</p:attrName>
                                        </p:attrNameLst>
                                      </p:cBhvr>
                                      <p:tavLst>
                                        <p:tav tm="0" fmla="#ppt_w*sin(2.5*pi*$)">
                                          <p:val>
                                            <p:fltVal val="0"/>
                                          </p:val>
                                        </p:tav>
                                        <p:tav tm="100000">
                                          <p:val>
                                            <p:fltVal val="1"/>
                                          </p:val>
                                        </p:tav>
                                      </p:tavLst>
                                    </p:anim>
                                    <p:anim calcmode="lin" valueType="num">
                                      <p:cBhvr>
                                        <p:cTn id="137" dur="5000" fill="hold"/>
                                        <p:tgtEl>
                                          <p:spTgt spid="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4"/>
                                            </p:cond>
                                          </p:stCondLst>
                                          <p:endCondLst>
                                            <p:cond evt="onStopAudio" delay="0">
                                              <p:tgtEl>
                                                <p:sldTgt/>
                                              </p:tgtEl>
                                            </p:cond>
                                          </p:endCondLst>
                                        </p:cTn>
                                        <p:tgtEl>
                                          <p:sndTgt r:embed="rId4" name="CAMERA.WAV"/>
                                        </p:tgtEl>
                                      </p:cMediaNode>
                                    </p:audio>
                                  </p:subTnLst>
                                </p:cTn>
                              </p:par>
                            </p:childTnLst>
                          </p:cTn>
                        </p:par>
                        <p:par>
                          <p:cTn id="138" fill="hold">
                            <p:stCondLst>
                              <p:cond delay="10500"/>
                            </p:stCondLst>
                            <p:childTnLst>
                              <p:par>
                                <p:cTn id="139" presetID="15" presetClass="entr" presetSubtype="0" fill="hold" grpId="0" nodeType="afterEffect">
                                  <p:stCondLst>
                                    <p:cond delay="0"/>
                                  </p:stCondLst>
                                  <p:childTnLst>
                                    <p:set>
                                      <p:cBhvr>
                                        <p:cTn id="140" dur="1" fill="hold">
                                          <p:stCondLst>
                                            <p:cond delay="0"/>
                                          </p:stCondLst>
                                        </p:cTn>
                                        <p:tgtEl>
                                          <p:spTgt spid="78"/>
                                        </p:tgtEl>
                                        <p:attrNameLst>
                                          <p:attrName>style.visibility</p:attrName>
                                        </p:attrNameLst>
                                      </p:cBhvr>
                                      <p:to>
                                        <p:strVal val="visible"/>
                                      </p:to>
                                    </p:set>
                                    <p:anim calcmode="lin" valueType="num">
                                      <p:cBhvr>
                                        <p:cTn id="141" dur="3000" fill="hold"/>
                                        <p:tgtEl>
                                          <p:spTgt spid="78"/>
                                        </p:tgtEl>
                                        <p:attrNameLst>
                                          <p:attrName>ppt_w</p:attrName>
                                        </p:attrNameLst>
                                      </p:cBhvr>
                                      <p:tavLst>
                                        <p:tav tm="0">
                                          <p:val>
                                            <p:fltVal val="0"/>
                                          </p:val>
                                        </p:tav>
                                        <p:tav tm="100000">
                                          <p:val>
                                            <p:strVal val="#ppt_w"/>
                                          </p:val>
                                        </p:tav>
                                      </p:tavLst>
                                    </p:anim>
                                    <p:anim calcmode="lin" valueType="num">
                                      <p:cBhvr>
                                        <p:cTn id="142" dur="3000" fill="hold"/>
                                        <p:tgtEl>
                                          <p:spTgt spid="78"/>
                                        </p:tgtEl>
                                        <p:attrNameLst>
                                          <p:attrName>ppt_h</p:attrName>
                                        </p:attrNameLst>
                                      </p:cBhvr>
                                      <p:tavLst>
                                        <p:tav tm="0">
                                          <p:val>
                                            <p:fltVal val="0"/>
                                          </p:val>
                                        </p:tav>
                                        <p:tav tm="100000">
                                          <p:val>
                                            <p:strVal val="#ppt_h"/>
                                          </p:val>
                                        </p:tav>
                                      </p:tavLst>
                                    </p:anim>
                                    <p:anim calcmode="lin" valueType="num">
                                      <p:cBhvr>
                                        <p:cTn id="143" dur="3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144" dur="3000" fill="hold"/>
                                        <p:tgtEl>
                                          <p:spTgt spid="7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9"/>
                                            </p:cond>
                                          </p:stCondLst>
                                          <p:endCondLst>
                                            <p:cond evt="onStopAudio" delay="0">
                                              <p:tgtEl>
                                                <p:sldTgt/>
                                              </p:tgtEl>
                                            </p:cond>
                                          </p:endCondLst>
                                        </p:cTn>
                                        <p:tgtEl>
                                          <p:sndTgt r:embed="rId5" name="CHIMES.WAV"/>
                                        </p:tgtEl>
                                      </p:cMediaNode>
                                    </p:audio>
                                  </p:subTnLst>
                                </p:cTn>
                              </p:par>
                            </p:childTnLst>
                          </p:cTn>
                        </p:par>
                        <p:par>
                          <p:cTn id="145" fill="hold">
                            <p:stCondLst>
                              <p:cond delay="13500"/>
                            </p:stCondLst>
                            <p:childTnLst>
                              <p:par>
                                <p:cTn id="146" presetID="15" presetClass="entr" presetSubtype="0" fill="hold" grpId="0" nodeType="afterEffect">
                                  <p:stCondLst>
                                    <p:cond delay="0"/>
                                  </p:stCondLst>
                                  <p:childTnLst>
                                    <p:set>
                                      <p:cBhvr>
                                        <p:cTn id="147" dur="1" fill="hold">
                                          <p:stCondLst>
                                            <p:cond delay="0"/>
                                          </p:stCondLst>
                                        </p:cTn>
                                        <p:tgtEl>
                                          <p:spTgt spid="115"/>
                                        </p:tgtEl>
                                        <p:attrNameLst>
                                          <p:attrName>style.visibility</p:attrName>
                                        </p:attrNameLst>
                                      </p:cBhvr>
                                      <p:to>
                                        <p:strVal val="visible"/>
                                      </p:to>
                                    </p:set>
                                    <p:anim calcmode="lin" valueType="num">
                                      <p:cBhvr>
                                        <p:cTn id="148" dur="3000" fill="hold"/>
                                        <p:tgtEl>
                                          <p:spTgt spid="115"/>
                                        </p:tgtEl>
                                        <p:attrNameLst>
                                          <p:attrName>ppt_w</p:attrName>
                                        </p:attrNameLst>
                                      </p:cBhvr>
                                      <p:tavLst>
                                        <p:tav tm="0">
                                          <p:val>
                                            <p:fltVal val="0"/>
                                          </p:val>
                                        </p:tav>
                                        <p:tav tm="100000">
                                          <p:val>
                                            <p:strVal val="#ppt_w"/>
                                          </p:val>
                                        </p:tav>
                                      </p:tavLst>
                                    </p:anim>
                                    <p:anim calcmode="lin" valueType="num">
                                      <p:cBhvr>
                                        <p:cTn id="149" dur="3000" fill="hold"/>
                                        <p:tgtEl>
                                          <p:spTgt spid="115"/>
                                        </p:tgtEl>
                                        <p:attrNameLst>
                                          <p:attrName>ppt_h</p:attrName>
                                        </p:attrNameLst>
                                      </p:cBhvr>
                                      <p:tavLst>
                                        <p:tav tm="0">
                                          <p:val>
                                            <p:fltVal val="0"/>
                                          </p:val>
                                        </p:tav>
                                        <p:tav tm="100000">
                                          <p:val>
                                            <p:strVal val="#ppt_h"/>
                                          </p:val>
                                        </p:tav>
                                      </p:tavLst>
                                    </p:anim>
                                    <p:anim calcmode="lin" valueType="num">
                                      <p:cBhvr>
                                        <p:cTn id="150" dur="3000" fill="hold"/>
                                        <p:tgtEl>
                                          <p:spTgt spid="115"/>
                                        </p:tgtEl>
                                        <p:attrNameLst>
                                          <p:attrName>ppt_x</p:attrName>
                                        </p:attrNameLst>
                                      </p:cBhvr>
                                      <p:tavLst>
                                        <p:tav tm="0" fmla="#ppt_x+(cos(-2*pi*(1-$))*-#ppt_x-sin(-2*pi*(1-$))*(1-#ppt_y))*(1-$)">
                                          <p:val>
                                            <p:fltVal val="0"/>
                                          </p:val>
                                        </p:tav>
                                        <p:tav tm="100000">
                                          <p:val>
                                            <p:fltVal val="1"/>
                                          </p:val>
                                        </p:tav>
                                      </p:tavLst>
                                    </p:anim>
                                    <p:anim calcmode="lin" valueType="num">
                                      <p:cBhvr>
                                        <p:cTn id="151" dur="3000" fill="hold"/>
                                        <p:tgtEl>
                                          <p:spTgt spid="11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46"/>
                                            </p:cond>
                                          </p:stCondLst>
                                          <p:endCondLst>
                                            <p:cond evt="onStopAudio" delay="0">
                                              <p:tgtEl>
                                                <p:sldTgt/>
                                              </p:tgtEl>
                                            </p:cond>
                                          </p:endCondLst>
                                        </p:cTn>
                                        <p:tgtEl>
                                          <p:sndTgt r:embed="rId5" name="CHIMES.WAV"/>
                                        </p:tgtEl>
                                      </p:cMediaNode>
                                    </p:audio>
                                  </p:subTnLst>
                                </p:cTn>
                              </p:par>
                            </p:childTnLst>
                          </p:cTn>
                        </p:par>
                        <p:par>
                          <p:cTn id="152" fill="hold">
                            <p:stCondLst>
                              <p:cond delay="16500"/>
                            </p:stCondLst>
                            <p:childTnLst>
                              <p:par>
                                <p:cTn id="153" presetID="15" presetClass="entr" presetSubtype="0" fill="hold" grpId="0" nodeType="afterEffect">
                                  <p:stCondLst>
                                    <p:cond delay="0"/>
                                  </p:stCondLst>
                                  <p:childTnLst>
                                    <p:set>
                                      <p:cBhvr>
                                        <p:cTn id="154" dur="1" fill="hold">
                                          <p:stCondLst>
                                            <p:cond delay="0"/>
                                          </p:stCondLst>
                                        </p:cTn>
                                        <p:tgtEl>
                                          <p:spTgt spid="107"/>
                                        </p:tgtEl>
                                        <p:attrNameLst>
                                          <p:attrName>style.visibility</p:attrName>
                                        </p:attrNameLst>
                                      </p:cBhvr>
                                      <p:to>
                                        <p:strVal val="visible"/>
                                      </p:to>
                                    </p:set>
                                    <p:anim calcmode="lin" valueType="num">
                                      <p:cBhvr>
                                        <p:cTn id="155" dur="3000" fill="hold"/>
                                        <p:tgtEl>
                                          <p:spTgt spid="107"/>
                                        </p:tgtEl>
                                        <p:attrNameLst>
                                          <p:attrName>ppt_w</p:attrName>
                                        </p:attrNameLst>
                                      </p:cBhvr>
                                      <p:tavLst>
                                        <p:tav tm="0">
                                          <p:val>
                                            <p:fltVal val="0"/>
                                          </p:val>
                                        </p:tav>
                                        <p:tav tm="100000">
                                          <p:val>
                                            <p:strVal val="#ppt_w"/>
                                          </p:val>
                                        </p:tav>
                                      </p:tavLst>
                                    </p:anim>
                                    <p:anim calcmode="lin" valueType="num">
                                      <p:cBhvr>
                                        <p:cTn id="156" dur="3000" fill="hold"/>
                                        <p:tgtEl>
                                          <p:spTgt spid="107"/>
                                        </p:tgtEl>
                                        <p:attrNameLst>
                                          <p:attrName>ppt_h</p:attrName>
                                        </p:attrNameLst>
                                      </p:cBhvr>
                                      <p:tavLst>
                                        <p:tav tm="0">
                                          <p:val>
                                            <p:fltVal val="0"/>
                                          </p:val>
                                        </p:tav>
                                        <p:tav tm="100000">
                                          <p:val>
                                            <p:strVal val="#ppt_h"/>
                                          </p:val>
                                        </p:tav>
                                      </p:tavLst>
                                    </p:anim>
                                    <p:anim calcmode="lin" valueType="num">
                                      <p:cBhvr>
                                        <p:cTn id="157" dur="3000" fill="hold"/>
                                        <p:tgtEl>
                                          <p:spTgt spid="107"/>
                                        </p:tgtEl>
                                        <p:attrNameLst>
                                          <p:attrName>ppt_x</p:attrName>
                                        </p:attrNameLst>
                                      </p:cBhvr>
                                      <p:tavLst>
                                        <p:tav tm="0" fmla="#ppt_x+(cos(-2*pi*(1-$))*-#ppt_x-sin(-2*pi*(1-$))*(1-#ppt_y))*(1-$)">
                                          <p:val>
                                            <p:fltVal val="0"/>
                                          </p:val>
                                        </p:tav>
                                        <p:tav tm="100000">
                                          <p:val>
                                            <p:fltVal val="1"/>
                                          </p:val>
                                        </p:tav>
                                      </p:tavLst>
                                    </p:anim>
                                    <p:anim calcmode="lin" valueType="num">
                                      <p:cBhvr>
                                        <p:cTn id="158" dur="3000" fill="hold"/>
                                        <p:tgtEl>
                                          <p:spTgt spid="10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53"/>
                                            </p:cond>
                                          </p:stCondLst>
                                          <p:endCondLst>
                                            <p:cond evt="onStopAudio" delay="0">
                                              <p:tgtEl>
                                                <p:sldTgt/>
                                              </p:tgtEl>
                                            </p:cond>
                                          </p:endCondLst>
                                        </p:cTn>
                                        <p:tgtEl>
                                          <p:sndTgt r:embed="rId5" name="CHIMES.WAV"/>
                                        </p:tgtEl>
                                      </p:cMediaNode>
                                    </p:audio>
                                  </p:subTnLst>
                                </p:cTn>
                              </p:par>
                            </p:childTnLst>
                          </p:cTn>
                        </p:par>
                        <p:par>
                          <p:cTn id="159" fill="hold">
                            <p:stCondLst>
                              <p:cond delay="19500"/>
                            </p:stCondLst>
                            <p:childTnLst>
                              <p:par>
                                <p:cTn id="160" presetID="19" presetClass="entr" presetSubtype="10" fill="hold" grpId="0" nodeType="afterEffect">
                                  <p:stCondLst>
                                    <p:cond delay="0"/>
                                  </p:stCondLst>
                                  <p:childTnLst>
                                    <p:set>
                                      <p:cBhvr>
                                        <p:cTn id="161" dur="1" fill="hold">
                                          <p:stCondLst>
                                            <p:cond delay="0"/>
                                          </p:stCondLst>
                                        </p:cTn>
                                        <p:tgtEl>
                                          <p:spTgt spid="75"/>
                                        </p:tgtEl>
                                        <p:attrNameLst>
                                          <p:attrName>style.visibility</p:attrName>
                                        </p:attrNameLst>
                                      </p:cBhvr>
                                      <p:to>
                                        <p:strVal val="visible"/>
                                      </p:to>
                                    </p:set>
                                    <p:anim calcmode="lin" valueType="num">
                                      <p:cBhvr>
                                        <p:cTn id="162" dur="5000" fill="hold"/>
                                        <p:tgtEl>
                                          <p:spTgt spid="75"/>
                                        </p:tgtEl>
                                        <p:attrNameLst>
                                          <p:attrName>ppt_w</p:attrName>
                                        </p:attrNameLst>
                                      </p:cBhvr>
                                      <p:tavLst>
                                        <p:tav tm="0" fmla="#ppt_w*sin(2.5*pi*$)">
                                          <p:val>
                                            <p:fltVal val="0"/>
                                          </p:val>
                                        </p:tav>
                                        <p:tav tm="100000">
                                          <p:val>
                                            <p:fltVal val="1"/>
                                          </p:val>
                                        </p:tav>
                                      </p:tavLst>
                                    </p:anim>
                                    <p:anim calcmode="lin" valueType="num">
                                      <p:cBhvr>
                                        <p:cTn id="163"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0"/>
                                            </p:cond>
                                          </p:stCondLst>
                                          <p:endCondLst>
                                            <p:cond evt="onStopAudio" delay="0">
                                              <p:tgtEl>
                                                <p:sldTgt/>
                                              </p:tgtEl>
                                            </p:cond>
                                          </p:endCondLst>
                                        </p:cTn>
                                        <p:tgtEl>
                                          <p:sndTgt r:embed="rId5" name="CHIMES.WAV"/>
                                        </p:tgtEl>
                                      </p:cMediaNode>
                                    </p:audio>
                                  </p:subTnLst>
                                </p:cTn>
                              </p:par>
                            </p:childTnLst>
                          </p:cTn>
                        </p:par>
                        <p:par>
                          <p:cTn id="164" fill="hold">
                            <p:stCondLst>
                              <p:cond delay="24500"/>
                            </p:stCondLst>
                            <p:childTnLst>
                              <p:par>
                                <p:cTn id="165" presetID="22" presetClass="entr" presetSubtype="8" fill="hold" grpId="0" nodeType="afterEffect">
                                  <p:stCondLst>
                                    <p:cond delay="0"/>
                                  </p:stCondLst>
                                  <p:childTnLst>
                                    <p:set>
                                      <p:cBhvr>
                                        <p:cTn id="166" dur="1" fill="hold">
                                          <p:stCondLst>
                                            <p:cond delay="0"/>
                                          </p:stCondLst>
                                        </p:cTn>
                                        <p:tgtEl>
                                          <p:spTgt spid="77"/>
                                        </p:tgtEl>
                                        <p:attrNameLst>
                                          <p:attrName>style.visibility</p:attrName>
                                        </p:attrNameLst>
                                      </p:cBhvr>
                                      <p:to>
                                        <p:strVal val="visible"/>
                                      </p:to>
                                    </p:set>
                                    <p:animEffect transition="in" filter="wipe(left)">
                                      <p:cBhvr>
                                        <p:cTn id="167" dur="5000"/>
                                        <p:tgtEl>
                                          <p:spTgt spid="77"/>
                                        </p:tgtEl>
                                      </p:cBhvr>
                                    </p:animEffect>
                                  </p:childTnLst>
                                </p:cTn>
                              </p:par>
                            </p:childTnLst>
                          </p:cTn>
                        </p:par>
                        <p:par>
                          <p:cTn id="168" fill="hold">
                            <p:stCondLst>
                              <p:cond delay="29500"/>
                            </p:stCondLst>
                            <p:childTnLst>
                              <p:par>
                                <p:cTn id="169" presetID="22" presetClass="entr" presetSubtype="8" fill="hold" grpId="0" nodeType="afterEffect">
                                  <p:stCondLst>
                                    <p:cond delay="0"/>
                                  </p:stCondLst>
                                  <p:childTnLst>
                                    <p:set>
                                      <p:cBhvr>
                                        <p:cTn id="170" dur="1" fill="hold">
                                          <p:stCondLst>
                                            <p:cond delay="0"/>
                                          </p:stCondLst>
                                        </p:cTn>
                                        <p:tgtEl>
                                          <p:spTgt spid="74"/>
                                        </p:tgtEl>
                                        <p:attrNameLst>
                                          <p:attrName>style.visibility</p:attrName>
                                        </p:attrNameLst>
                                      </p:cBhvr>
                                      <p:to>
                                        <p:strVal val="visible"/>
                                      </p:to>
                                    </p:set>
                                    <p:animEffect transition="in" filter="wipe(left)">
                                      <p:cBhvr>
                                        <p:cTn id="171" dur="5000"/>
                                        <p:tgtEl>
                                          <p:spTgt spid="74"/>
                                        </p:tgtEl>
                                      </p:cBhvr>
                                    </p:animEffect>
                                  </p:childTnLst>
                                </p:cTn>
                              </p:par>
                            </p:childTnLst>
                          </p:cTn>
                        </p:par>
                        <p:par>
                          <p:cTn id="172" fill="hold">
                            <p:stCondLst>
                              <p:cond delay="34500"/>
                            </p:stCondLst>
                            <p:childTnLst>
                              <p:par>
                                <p:cTn id="173" presetID="15" presetClass="entr" presetSubtype="0" fill="hold" nodeType="afterEffect">
                                  <p:stCondLst>
                                    <p:cond delay="0"/>
                                  </p:stCondLst>
                                  <p:childTnLst>
                                    <p:set>
                                      <p:cBhvr>
                                        <p:cTn id="174" dur="1" fill="hold">
                                          <p:stCondLst>
                                            <p:cond delay="0"/>
                                          </p:stCondLst>
                                        </p:cTn>
                                        <p:tgtEl>
                                          <p:spTgt spid="108"/>
                                        </p:tgtEl>
                                        <p:attrNameLst>
                                          <p:attrName>style.visibility</p:attrName>
                                        </p:attrNameLst>
                                      </p:cBhvr>
                                      <p:to>
                                        <p:strVal val="visible"/>
                                      </p:to>
                                    </p:set>
                                    <p:anim calcmode="lin" valueType="num">
                                      <p:cBhvr>
                                        <p:cTn id="175" dur="3000" fill="hold"/>
                                        <p:tgtEl>
                                          <p:spTgt spid="108"/>
                                        </p:tgtEl>
                                        <p:attrNameLst>
                                          <p:attrName>ppt_w</p:attrName>
                                        </p:attrNameLst>
                                      </p:cBhvr>
                                      <p:tavLst>
                                        <p:tav tm="0">
                                          <p:val>
                                            <p:fltVal val="0"/>
                                          </p:val>
                                        </p:tav>
                                        <p:tav tm="100000">
                                          <p:val>
                                            <p:strVal val="#ppt_w"/>
                                          </p:val>
                                        </p:tav>
                                      </p:tavLst>
                                    </p:anim>
                                    <p:anim calcmode="lin" valueType="num">
                                      <p:cBhvr>
                                        <p:cTn id="176" dur="3000" fill="hold"/>
                                        <p:tgtEl>
                                          <p:spTgt spid="108"/>
                                        </p:tgtEl>
                                        <p:attrNameLst>
                                          <p:attrName>ppt_h</p:attrName>
                                        </p:attrNameLst>
                                      </p:cBhvr>
                                      <p:tavLst>
                                        <p:tav tm="0">
                                          <p:val>
                                            <p:fltVal val="0"/>
                                          </p:val>
                                        </p:tav>
                                        <p:tav tm="100000">
                                          <p:val>
                                            <p:strVal val="#ppt_h"/>
                                          </p:val>
                                        </p:tav>
                                      </p:tavLst>
                                    </p:anim>
                                    <p:anim calcmode="lin" valueType="num">
                                      <p:cBhvr>
                                        <p:cTn id="177" dur="3000" fill="hold"/>
                                        <p:tgtEl>
                                          <p:spTgt spid="108"/>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08"/>
                                        </p:tgtEl>
                                        <p:attrNameLst>
                                          <p:attrName>ppt_y</p:attrName>
                                        </p:attrNameLst>
                                      </p:cBhvr>
                                      <p:tavLst>
                                        <p:tav tm="0" fmla="#ppt_y+(sin(-2*pi*(1-$))*-#ppt_x+cos(-2*pi*(1-$))*(1-#ppt_y))*(1-$)">
                                          <p:val>
                                            <p:fltVal val="0"/>
                                          </p:val>
                                        </p:tav>
                                        <p:tav tm="100000">
                                          <p:val>
                                            <p:fltVal val="1"/>
                                          </p:val>
                                        </p:tav>
                                      </p:tavLst>
                                    </p:anim>
                                  </p:childTnLst>
                                </p:cTn>
                              </p:par>
                            </p:childTnLst>
                          </p:cTn>
                        </p:par>
                        <p:par>
                          <p:cTn id="179" fill="hold">
                            <p:stCondLst>
                              <p:cond delay="37500"/>
                            </p:stCondLst>
                            <p:childTnLst>
                              <p:par>
                                <p:cTn id="180" presetID="19" presetClass="entr" presetSubtype="10" fill="hold" grpId="0" nodeType="afterEffect">
                                  <p:stCondLst>
                                    <p:cond delay="0"/>
                                  </p:stCondLst>
                                  <p:childTnLst>
                                    <p:set>
                                      <p:cBhvr>
                                        <p:cTn id="181" dur="1" fill="hold">
                                          <p:stCondLst>
                                            <p:cond delay="0"/>
                                          </p:stCondLst>
                                        </p:cTn>
                                        <p:tgtEl>
                                          <p:spTgt spid="76"/>
                                        </p:tgtEl>
                                        <p:attrNameLst>
                                          <p:attrName>style.visibility</p:attrName>
                                        </p:attrNameLst>
                                      </p:cBhvr>
                                      <p:to>
                                        <p:strVal val="visible"/>
                                      </p:to>
                                    </p:set>
                                    <p:anim calcmode="lin" valueType="num">
                                      <p:cBhvr>
                                        <p:cTn id="182" dur="5000" fill="hold"/>
                                        <p:tgtEl>
                                          <p:spTgt spid="76"/>
                                        </p:tgtEl>
                                        <p:attrNameLst>
                                          <p:attrName>ppt_w</p:attrName>
                                        </p:attrNameLst>
                                      </p:cBhvr>
                                      <p:tavLst>
                                        <p:tav tm="0" fmla="#ppt_w*sin(2.5*pi*$)">
                                          <p:val>
                                            <p:fltVal val="0"/>
                                          </p:val>
                                        </p:tav>
                                        <p:tav tm="100000">
                                          <p:val>
                                            <p:fltVal val="1"/>
                                          </p:val>
                                        </p:tav>
                                      </p:tavLst>
                                    </p:anim>
                                    <p:anim calcmode="lin" valueType="num">
                                      <p:cBhvr>
                                        <p:cTn id="183" dur="5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0"/>
                                            </p:cond>
                                          </p:stCondLst>
                                          <p:endCondLst>
                                            <p:cond evt="onStopAudio" delay="0">
                                              <p:tgtEl>
                                                <p:sldTgt/>
                                              </p:tgtEl>
                                            </p:cond>
                                          </p:endCondLst>
                                        </p:cTn>
                                        <p:tgtEl>
                                          <p:sndTgt r:embed="rId5" name="CHIMES.WAV"/>
                                        </p:tgtEl>
                                      </p:cMediaNode>
                                    </p:audio>
                                  </p:sub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6" grpId="0"/>
      <p:bldP spid="138" grpId="0"/>
      <p:bldP spid="141" grpId="0" animBg="1"/>
      <p:bldP spid="142" grpId="0" animBg="1"/>
      <p:bldP spid="143" grpId="0"/>
      <p:bldP spid="144" grpId="0" animBg="1"/>
      <p:bldP spid="145" grpId="0" autoUpdateAnimBg="0"/>
      <p:bldP spid="149" grpId="0" autoUpdateAnimBg="0"/>
      <p:bldP spid="150" grpId="0" animBg="1"/>
      <p:bldP spid="151" grpId="0" autoUpdateAnimBg="0"/>
      <p:bldP spid="155" grpId="0" animBg="1"/>
      <p:bldP spid="156" grpId="0" animBg="1"/>
      <p:bldP spid="157" grpId="0" animBg="1"/>
      <p:bldP spid="158" grpId="0"/>
      <p:bldP spid="159" grpId="0" animBg="1"/>
      <p:bldP spid="160" grpId="0" animBg="1"/>
      <p:bldP spid="161" grpId="0" animBg="1"/>
      <p:bldP spid="162" grpId="0" autoUpdateAnimBg="0"/>
      <p:bldP spid="70" grpId="0"/>
      <p:bldP spid="71" grpId="0" animBg="1"/>
      <p:bldP spid="72" grpId="0"/>
      <p:bldP spid="73" grpId="0" autoUpdateAnimBg="0"/>
      <p:bldP spid="74" grpId="0" animBg="1"/>
      <p:bldP spid="75" grpId="0" autoUpdateAnimBg="0"/>
      <p:bldP spid="76" grpId="0" autoUpdateAnimBg="0"/>
      <p:bldP spid="77" grpId="0" animBg="1"/>
      <p:bldP spid="78" grpId="0" animBg="1"/>
      <p:bldP spid="107" grpId="0" animBg="1"/>
      <p:bldP spid="114" grpId="0" animBg="1"/>
      <p:bldP spid="115" grpId="0" animBg="1"/>
      <p:bldP spid="1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11233248" cy="465448"/>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简支梁受载如图所示。若已知</a:t>
            </a:r>
            <a:r>
              <a:rPr lang="en-US" altLang="zh-CN" b="0" dirty="0">
                <a:solidFill>
                  <a:schemeClr val="tx1"/>
                </a:solidFill>
                <a:latin typeface="+mn-lt"/>
                <a:ea typeface="黑体" panose="02010609060101010101" pitchFamily="49" charset="-122"/>
              </a:rPr>
              <a:t>F</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a</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，试作梁的剪力图和弯矩图。 </a:t>
            </a:r>
          </a:p>
        </p:txBody>
      </p:sp>
      <p:sp>
        <p:nvSpPr>
          <p:cNvPr id="3" name="矩形 2">
            <a:extLst>
              <a:ext uri="{FF2B5EF4-FFF2-40B4-BE49-F238E27FC236}">
                <a16:creationId xmlns:a16="http://schemas.microsoft.com/office/drawing/2014/main" id="{E8DB0D0A-8BE9-6ADA-6C58-96049487BA32}"/>
              </a:ext>
            </a:extLst>
          </p:cNvPr>
          <p:cNvSpPr/>
          <p:nvPr/>
        </p:nvSpPr>
        <p:spPr>
          <a:xfrm>
            <a:off x="211184" y="1479778"/>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求支座反力。以整体为研究对象，由平衡方程可得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1374549"/>
            <a:ext cx="4730549" cy="2774532"/>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98315" cy="2492990"/>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j-lt"/>
                <a:ea typeface="黑体" panose="02010609060101010101" pitchFamily="49" charset="-122"/>
              </a:rPr>
              <a:t>由于集中力会引起剪力图突变，集中力偶会产生弯矩图的突变，所以在由集中力或集中力偶作用处，就应将梁分段计算，本题梁中</a:t>
            </a:r>
            <a:r>
              <a:rPr lang="en-US" altLang="zh-CN" b="0" dirty="0">
                <a:solidFill>
                  <a:schemeClr val="tx1"/>
                </a:solidFill>
                <a:latin typeface="+mj-lt"/>
                <a:ea typeface="黑体" panose="02010609060101010101" pitchFamily="49" charset="-122"/>
              </a:rPr>
              <a:t>C</a:t>
            </a:r>
            <a:r>
              <a:rPr lang="zh-CN" altLang="en-US" i="0" dirty="0">
                <a:solidFill>
                  <a:schemeClr val="tx1"/>
                </a:solidFill>
                <a:latin typeface="+mj-lt"/>
                <a:ea typeface="黑体" panose="02010609060101010101" pitchFamily="49" charset="-122"/>
              </a:rPr>
              <a:t>处有集中力</a:t>
            </a:r>
            <a:r>
              <a:rPr lang="en-US" altLang="zh-CN" b="0" dirty="0">
                <a:solidFill>
                  <a:schemeClr val="tx1"/>
                </a:solidFill>
                <a:latin typeface="+mj-lt"/>
                <a:ea typeface="黑体" panose="02010609060101010101" pitchFamily="49" charset="-122"/>
              </a:rPr>
              <a:t>F</a:t>
            </a:r>
            <a:r>
              <a:rPr lang="zh-CN" altLang="en-US" i="0" dirty="0">
                <a:solidFill>
                  <a:schemeClr val="tx1"/>
                </a:solidFill>
                <a:latin typeface="+mj-lt"/>
                <a:ea typeface="黑体" panose="02010609060101010101" pitchFamily="49" charset="-122"/>
              </a:rPr>
              <a:t>作用，故应将梁分为</a:t>
            </a:r>
            <a:r>
              <a:rPr lang="en-US" altLang="zh-CN" b="0" dirty="0">
                <a:solidFill>
                  <a:schemeClr val="tx1"/>
                </a:solidFill>
                <a:latin typeface="+mj-lt"/>
                <a:ea typeface="黑体" panose="02010609060101010101" pitchFamily="49" charset="-122"/>
              </a:rPr>
              <a:t>AC</a:t>
            </a:r>
            <a:r>
              <a:rPr lang="zh-CN" altLang="en-US" i="0" dirty="0">
                <a:solidFill>
                  <a:schemeClr val="tx1"/>
                </a:solidFill>
                <a:latin typeface="+mj-lt"/>
                <a:ea typeface="黑体" panose="02010609060101010101" pitchFamily="49" charset="-122"/>
              </a:rPr>
              <a:t>与</a:t>
            </a:r>
            <a:r>
              <a:rPr lang="en-US" altLang="zh-CN" b="0" dirty="0">
                <a:solidFill>
                  <a:schemeClr val="tx1"/>
                </a:solidFill>
                <a:latin typeface="+mj-lt"/>
                <a:ea typeface="黑体" panose="02010609060101010101" pitchFamily="49" charset="-122"/>
              </a:rPr>
              <a:t>CB</a:t>
            </a:r>
            <a:r>
              <a:rPr lang="zh-CN" altLang="en-US" i="0" dirty="0">
                <a:solidFill>
                  <a:schemeClr val="tx1"/>
                </a:solidFill>
                <a:latin typeface="+mj-lt"/>
                <a:ea typeface="黑体" panose="02010609060101010101" pitchFamily="49" charset="-122"/>
              </a:rPr>
              <a:t>两段研究。</a:t>
            </a:r>
          </a:p>
        </p:txBody>
      </p:sp>
      <p:graphicFrame>
        <p:nvGraphicFramePr>
          <p:cNvPr id="70" name="Object 52"/>
          <p:cNvGraphicFramePr>
            <a:graphicFrameLocks noChangeAspect="1"/>
          </p:cNvGraphicFramePr>
          <p:nvPr>
            <p:extLst>
              <p:ext uri="{D42A27DB-BD31-4B8C-83A1-F6EECF244321}">
                <p14:modId xmlns:p14="http://schemas.microsoft.com/office/powerpoint/2010/main" val="1762028268"/>
              </p:ext>
            </p:extLst>
          </p:nvPr>
        </p:nvGraphicFramePr>
        <p:xfrm>
          <a:off x="2314575" y="2089150"/>
          <a:ext cx="1624013" cy="823913"/>
        </p:xfrm>
        <a:graphic>
          <a:graphicData uri="http://schemas.openxmlformats.org/presentationml/2006/ole">
            <mc:AlternateContent xmlns:mc="http://schemas.openxmlformats.org/markup-compatibility/2006">
              <mc:Choice xmlns:v="urn:schemas-microsoft-com:vml" Requires="v">
                <p:oleObj spid="_x0000_s6202" name="Equation" r:id="rId4" imgW="774360" imgH="393480" progId="Equation.DSMT4">
                  <p:embed/>
                </p:oleObj>
              </mc:Choice>
              <mc:Fallback>
                <p:oleObj name="Equation" r:id="rId4" imgW="774360" imgH="393480" progId="Equation.DSMT4">
                  <p:embed/>
                  <p:pic>
                    <p:nvPicPr>
                      <p:cNvPr id="0" name=""/>
                      <p:cNvPicPr>
                        <a:picLocks noChangeAspect="1" noChangeArrowheads="1"/>
                      </p:cNvPicPr>
                      <p:nvPr/>
                    </p:nvPicPr>
                    <p:blipFill>
                      <a:blip r:embed="rId5"/>
                      <a:srcRect/>
                      <a:stretch>
                        <a:fillRect/>
                      </a:stretch>
                    </p:blipFill>
                    <p:spPr bwMode="auto">
                      <a:xfrm>
                        <a:off x="2314575" y="2089150"/>
                        <a:ext cx="1624013"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2151004447"/>
              </p:ext>
            </p:extLst>
          </p:nvPr>
        </p:nvGraphicFramePr>
        <p:xfrm>
          <a:off x="4364038" y="2105025"/>
          <a:ext cx="1627187" cy="823913"/>
        </p:xfrm>
        <a:graphic>
          <a:graphicData uri="http://schemas.openxmlformats.org/presentationml/2006/ole">
            <mc:AlternateContent xmlns:mc="http://schemas.openxmlformats.org/markup-compatibility/2006">
              <mc:Choice xmlns:v="urn:schemas-microsoft-com:vml" Requires="v">
                <p:oleObj spid="_x0000_s6203" name="Equation" r:id="rId6" imgW="774360" imgH="393480" progId="Equation.DSMT4">
                  <p:embed/>
                </p:oleObj>
              </mc:Choice>
              <mc:Fallback>
                <p:oleObj name="Equation" r:id="rId6" imgW="774360" imgH="393480" progId="Equation.DSMT4">
                  <p:embed/>
                  <p:pic>
                    <p:nvPicPr>
                      <p:cNvPr id="0" name=""/>
                      <p:cNvPicPr>
                        <a:picLocks noChangeAspect="1" noChangeArrowheads="1"/>
                      </p:cNvPicPr>
                      <p:nvPr/>
                    </p:nvPicPr>
                    <p:blipFill>
                      <a:blip r:embed="rId7"/>
                      <a:srcRect/>
                      <a:stretch>
                        <a:fillRect/>
                      </a:stretch>
                    </p:blipFill>
                    <p:spPr bwMode="auto">
                      <a:xfrm>
                        <a:off x="4364038" y="2105025"/>
                        <a:ext cx="1627187"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 name="Group 3"/>
          <p:cNvGrpSpPr>
            <a:grpSpLocks/>
          </p:cNvGrpSpPr>
          <p:nvPr/>
        </p:nvGrpSpPr>
        <p:grpSpPr bwMode="auto">
          <a:xfrm>
            <a:off x="7634962" y="1318990"/>
            <a:ext cx="3529012" cy="2608263"/>
            <a:chOff x="3415" y="58"/>
            <a:chExt cx="2223" cy="1643"/>
          </a:xfrm>
        </p:grpSpPr>
        <p:grpSp>
          <p:nvGrpSpPr>
            <p:cNvPr id="73" name="Group 4"/>
            <p:cNvGrpSpPr>
              <a:grpSpLocks/>
            </p:cNvGrpSpPr>
            <p:nvPr/>
          </p:nvGrpSpPr>
          <p:grpSpPr bwMode="auto">
            <a:xfrm>
              <a:off x="3415" y="58"/>
              <a:ext cx="2223" cy="1643"/>
              <a:chOff x="3415" y="58"/>
              <a:chExt cx="2223" cy="1643"/>
            </a:xfrm>
          </p:grpSpPr>
          <p:grpSp>
            <p:nvGrpSpPr>
              <p:cNvPr id="75" name="Group 5"/>
              <p:cNvGrpSpPr>
                <a:grpSpLocks/>
              </p:cNvGrpSpPr>
              <p:nvPr/>
            </p:nvGrpSpPr>
            <p:grpSpPr bwMode="auto">
              <a:xfrm>
                <a:off x="3415" y="836"/>
                <a:ext cx="2223" cy="865"/>
                <a:chOff x="3415" y="836"/>
                <a:chExt cx="2223" cy="865"/>
              </a:xfrm>
            </p:grpSpPr>
            <p:sp>
              <p:nvSpPr>
                <p:cNvPr id="116" name="Text Box 6"/>
                <p:cNvSpPr txBox="1">
                  <a:spLocks noChangeAspect="1" noChangeArrowheads="1"/>
                </p:cNvSpPr>
                <p:nvPr/>
              </p:nvSpPr>
              <p:spPr bwMode="auto">
                <a:xfrm flipH="1">
                  <a:off x="4452" y="12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117" name="Text Box 7"/>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22" name="Text Box 8"/>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23" name="Line 9"/>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6" name="Line 10"/>
                <p:cNvSpPr>
                  <a:spLocks noChangeAspect="1" noChangeShapeType="1"/>
                </p:cNvSpPr>
                <p:nvPr/>
              </p:nvSpPr>
              <p:spPr bwMode="auto">
                <a:xfrm flipH="1">
                  <a:off x="3695" y="158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7" name="Line 11"/>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Freeform 12"/>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76" name="Text Box 13"/>
              <p:cNvSpPr txBox="1">
                <a:spLocks noChangeAspect="1" noChangeArrowheads="1"/>
              </p:cNvSpPr>
              <p:nvPr/>
            </p:nvSpPr>
            <p:spPr bwMode="auto">
              <a:xfrm>
                <a:off x="4782" y="367"/>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F</a:t>
                </a:r>
                <a:endParaRPr kumimoji="1" lang="en-US" altLang="zh-CN" sz="32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77" name="Text Box 14"/>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78" name="Line 15"/>
              <p:cNvSpPr>
                <a:spLocks noChangeAspect="1" noChangeShapeType="1"/>
              </p:cNvSpPr>
              <p:nvPr/>
            </p:nvSpPr>
            <p:spPr bwMode="auto">
              <a:xfrm flipH="1">
                <a:off x="3703" y="29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Line 16"/>
              <p:cNvSpPr>
                <a:spLocks noChangeAspect="1" noChangeShapeType="1"/>
              </p:cNvSpPr>
              <p:nvPr/>
            </p:nvSpPr>
            <p:spPr bwMode="auto">
              <a:xfrm flipH="1">
                <a:off x="3697" y="373"/>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8" name="Line 17"/>
              <p:cNvSpPr>
                <a:spLocks noChangeAspect="1" noChangeShapeType="1"/>
              </p:cNvSpPr>
              <p:nvPr/>
            </p:nvSpPr>
            <p:spPr bwMode="auto">
              <a:xfrm flipH="1">
                <a:off x="5345" y="3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8"/>
              <p:cNvSpPr>
                <a:spLocks noChangeAspect="1" noChangeShapeType="1"/>
              </p:cNvSpPr>
              <p:nvPr/>
            </p:nvSpPr>
            <p:spPr bwMode="auto">
              <a:xfrm flipH="1">
                <a:off x="4789" y="374"/>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9"/>
              <p:cNvSpPr txBox="1">
                <a:spLocks noChangeAspect="1" noChangeArrowheads="1"/>
              </p:cNvSpPr>
              <p:nvPr/>
            </p:nvSpPr>
            <p:spPr bwMode="auto">
              <a:xfrm flipH="1">
                <a:off x="4904" y="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14" name="Line 20"/>
              <p:cNvSpPr>
                <a:spLocks noChangeAspect="1" noChangeShapeType="1"/>
              </p:cNvSpPr>
              <p:nvPr/>
            </p:nvSpPr>
            <p:spPr bwMode="auto">
              <a:xfrm flipH="1">
                <a:off x="4795" y="294"/>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1"/>
              <p:cNvSpPr txBox="1">
                <a:spLocks noChangeAspect="1" noChangeArrowheads="1"/>
              </p:cNvSpPr>
              <p:nvPr/>
            </p:nvSpPr>
            <p:spPr bwMode="auto">
              <a:xfrm flipH="1">
                <a:off x="4052" y="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sp>
          <p:nvSpPr>
            <p:cNvPr id="74" name="Line 22"/>
            <p:cNvSpPr>
              <a:spLocks noChangeAspect="1" noChangeShapeType="1"/>
            </p:cNvSpPr>
            <p:nvPr/>
          </p:nvSpPr>
          <p:spPr bwMode="auto">
            <a:xfrm>
              <a:off x="4803" y="440"/>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29" name="Group 29"/>
          <p:cNvGrpSpPr>
            <a:grpSpLocks/>
          </p:cNvGrpSpPr>
          <p:nvPr/>
        </p:nvGrpSpPr>
        <p:grpSpPr bwMode="auto">
          <a:xfrm>
            <a:off x="7831812" y="2771553"/>
            <a:ext cx="496887" cy="523875"/>
            <a:chOff x="1686" y="3521"/>
            <a:chExt cx="313" cy="330"/>
          </a:xfrm>
        </p:grpSpPr>
        <p:sp>
          <p:nvSpPr>
            <p:cNvPr id="130" name="AutoShape 30"/>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1" name="Rectangle 31"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Line 32"/>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Oval 33"/>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34" name="Group 34"/>
          <p:cNvGrpSpPr>
            <a:grpSpLocks/>
          </p:cNvGrpSpPr>
          <p:nvPr/>
        </p:nvGrpSpPr>
        <p:grpSpPr bwMode="auto">
          <a:xfrm>
            <a:off x="10474999" y="2769965"/>
            <a:ext cx="493713" cy="568325"/>
            <a:chOff x="3499" y="3511"/>
            <a:chExt cx="311" cy="358"/>
          </a:xfrm>
        </p:grpSpPr>
        <p:sp>
          <p:nvSpPr>
            <p:cNvPr id="135" name="Line 35"/>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7" name="Rectangle 36"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9" name="Line 37"/>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Oval 38"/>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Oval 39"/>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7" name="Text Box 41"/>
          <p:cNvSpPr txBox="1">
            <a:spLocks noChangeAspect="1" noChangeArrowheads="1"/>
          </p:cNvSpPr>
          <p:nvPr/>
        </p:nvSpPr>
        <p:spPr bwMode="auto">
          <a:xfrm>
            <a:off x="10690899" y="3403378"/>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68" name="Text Box 42"/>
          <p:cNvSpPr txBox="1">
            <a:spLocks noChangeAspect="1" noChangeArrowheads="1"/>
          </p:cNvSpPr>
          <p:nvPr/>
        </p:nvSpPr>
        <p:spPr bwMode="auto">
          <a:xfrm>
            <a:off x="7560349" y="3382740"/>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169" name="Line 43"/>
          <p:cNvSpPr>
            <a:spLocks noChangeAspect="1" noChangeShapeType="1"/>
          </p:cNvSpPr>
          <p:nvPr/>
        </p:nvSpPr>
        <p:spPr bwMode="auto">
          <a:xfrm flipV="1">
            <a:off x="8074699" y="2939828"/>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0" name="Line 44"/>
          <p:cNvSpPr>
            <a:spLocks noChangeAspect="1" noChangeShapeType="1"/>
          </p:cNvSpPr>
          <p:nvPr/>
        </p:nvSpPr>
        <p:spPr bwMode="auto">
          <a:xfrm flipV="1">
            <a:off x="10721062" y="2925540"/>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1" name="矩形 170">
            <a:extLst>
              <a:ext uri="{FF2B5EF4-FFF2-40B4-BE49-F238E27FC236}">
                <a16:creationId xmlns:a16="http://schemas.microsoft.com/office/drawing/2014/main" id="{54CF797A-3212-00F4-D82B-18FEE729BE7A}"/>
              </a:ext>
            </a:extLst>
          </p:cNvPr>
          <p:cNvSpPr/>
          <p:nvPr/>
        </p:nvSpPr>
        <p:spPr>
          <a:xfrm>
            <a:off x="211184" y="5221880"/>
            <a:ext cx="10952790" cy="1052596"/>
          </a:xfrm>
          <a:prstGeom prst="rect">
            <a:avLst/>
          </a:prstGeom>
        </p:spPr>
        <p:txBody>
          <a:bodyPr wrap="square">
            <a:spAutoFit/>
          </a:bodyPr>
          <a:lstStyle/>
          <a:p>
            <a:pPr eaLnBrk="1" hangingPunct="1">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标值。计算各区段边界各截面之剪力与弯矩值，将结果标注在剪力图与弯矩图上的相应位置上。截面上的剪力和弯矩值可按下述进行简化计算：</a:t>
            </a:r>
          </a:p>
        </p:txBody>
      </p:sp>
    </p:spTree>
    <p:extLst>
      <p:ext uri="{BB962C8B-B14F-4D97-AF65-F5344CB8AC3E}">
        <p14:creationId xmlns:p14="http://schemas.microsoft.com/office/powerpoint/2010/main" val="9265284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72"/>
                                        </p:tgtEl>
                                        <p:attrNameLst>
                                          <p:attrName>style.visibility</p:attrName>
                                        </p:attrNameLst>
                                      </p:cBhvr>
                                      <p:to>
                                        <p:strVal val="visible"/>
                                      </p:to>
                                    </p:set>
                                    <p:animEffect transition="in" filter="box(in)">
                                      <p:cBhvr>
                                        <p:cTn id="9" dur="5000"/>
                                        <p:tgtEl>
                                          <p:spTgt spid="72"/>
                                        </p:tgtEl>
                                      </p:cBhvr>
                                    </p:animEffect>
                                  </p:childTnLst>
                                </p:cTn>
                              </p:par>
                              <p:par>
                                <p:cTn id="10" presetID="8" presetClass="entr" presetSubtype="32" fill="hold" nodeType="withEffect">
                                  <p:stCondLst>
                                    <p:cond delay="2500"/>
                                  </p:stCondLst>
                                  <p:childTnLst>
                                    <p:set>
                                      <p:cBhvr>
                                        <p:cTn id="11" dur="1" fill="hold">
                                          <p:stCondLst>
                                            <p:cond delay="0"/>
                                          </p:stCondLst>
                                        </p:cTn>
                                        <p:tgtEl>
                                          <p:spTgt spid="129"/>
                                        </p:tgtEl>
                                        <p:attrNameLst>
                                          <p:attrName>style.visibility</p:attrName>
                                        </p:attrNameLst>
                                      </p:cBhvr>
                                      <p:to>
                                        <p:strVal val="visible"/>
                                      </p:to>
                                    </p:set>
                                    <p:animEffect transition="in" filter="diamond(out)">
                                      <p:cBhvr>
                                        <p:cTn id="12" dur="5000"/>
                                        <p:tgtEl>
                                          <p:spTgt spid="129"/>
                                        </p:tgtEl>
                                      </p:cBhvr>
                                    </p:animEffect>
                                  </p:childTnLst>
                                </p:cTn>
                              </p:par>
                              <p:par>
                                <p:cTn id="13" presetID="8" presetClass="entr" presetSubtype="32" fill="hold" nodeType="withEffect">
                                  <p:stCondLst>
                                    <p:cond delay="2500"/>
                                  </p:stCondLst>
                                  <p:childTnLst>
                                    <p:set>
                                      <p:cBhvr>
                                        <p:cTn id="14" dur="1" fill="hold">
                                          <p:stCondLst>
                                            <p:cond delay="0"/>
                                          </p:stCondLst>
                                        </p:cTn>
                                        <p:tgtEl>
                                          <p:spTgt spid="134"/>
                                        </p:tgtEl>
                                        <p:attrNameLst>
                                          <p:attrName>style.visibility</p:attrName>
                                        </p:attrNameLst>
                                      </p:cBhvr>
                                      <p:to>
                                        <p:strVal val="visible"/>
                                      </p:to>
                                    </p:set>
                                    <p:animEffect transition="in" filter="diamond(out)">
                                      <p:cBhvr>
                                        <p:cTn id="15" dur="5000"/>
                                        <p:tgtEl>
                                          <p:spTgt spid="134"/>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69"/>
                                        </p:tgtEl>
                                        <p:attrNameLst>
                                          <p:attrName>style.visibility</p:attrName>
                                        </p:attrNameLst>
                                      </p:cBhvr>
                                      <p:to>
                                        <p:strVal val="visible"/>
                                      </p:to>
                                    </p:set>
                                    <p:animEffect transition="in" filter="slide(fromBottom)">
                                      <p:cBhvr>
                                        <p:cTn id="20" dur="5000"/>
                                        <p:tgtEl>
                                          <p:spTgt spid="169"/>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70"/>
                                        </p:tgtEl>
                                        <p:attrNameLst>
                                          <p:attrName>style.visibility</p:attrName>
                                        </p:attrNameLst>
                                      </p:cBhvr>
                                      <p:to>
                                        <p:strVal val="visible"/>
                                      </p:to>
                                    </p:set>
                                    <p:animEffect transition="in" filter="slide(fromBottom)">
                                      <p:cBhvr>
                                        <p:cTn id="23" dur="5000"/>
                                        <p:tgtEl>
                                          <p:spTgt spid="170"/>
                                        </p:tgtEl>
                                      </p:cBhvr>
                                    </p:animEffect>
                                  </p:childTnLst>
                                </p:cTn>
                              </p:par>
                            </p:childTnLst>
                          </p:cTn>
                        </p:par>
                        <p:par>
                          <p:cTn id="24" fill="hold">
                            <p:stCondLst>
                              <p:cond delay="5000"/>
                            </p:stCondLst>
                            <p:childTnLst>
                              <p:par>
                                <p:cTn id="25" presetID="9" presetClass="emph" presetSubtype="0" nodeType="afterEffect">
                                  <p:stCondLst>
                                    <p:cond delay="0"/>
                                  </p:stCondLst>
                                  <p:childTnLst>
                                    <p:set>
                                      <p:cBhvr rctx="PPT">
                                        <p:cTn id="26" dur="indefinite"/>
                                        <p:tgtEl>
                                          <p:spTgt spid="129"/>
                                        </p:tgtEl>
                                        <p:attrNameLst>
                                          <p:attrName>style.opacity</p:attrName>
                                        </p:attrNameLst>
                                      </p:cBhvr>
                                      <p:to>
                                        <p:strVal val="0.5"/>
                                      </p:to>
                                    </p:set>
                                    <p:animEffect filter="image" prLst="opacity: 0.5">
                                      <p:cBhvr rctx="IE">
                                        <p:cTn id="27" dur="indefinite"/>
                                        <p:tgtEl>
                                          <p:spTgt spid="129"/>
                                        </p:tgtEl>
                                      </p:cBhvr>
                                    </p:animEffect>
                                  </p:childTnLst>
                                </p:cTn>
                              </p:par>
                              <p:par>
                                <p:cTn id="28" presetID="9" presetClass="emph" presetSubtype="0" nodeType="withEffect">
                                  <p:stCondLst>
                                    <p:cond delay="0"/>
                                  </p:stCondLst>
                                  <p:childTnLst>
                                    <p:set>
                                      <p:cBhvr rctx="PPT">
                                        <p:cTn id="29" dur="indefinite"/>
                                        <p:tgtEl>
                                          <p:spTgt spid="134"/>
                                        </p:tgtEl>
                                        <p:attrNameLst>
                                          <p:attrName>style.opacity</p:attrName>
                                        </p:attrNameLst>
                                      </p:cBhvr>
                                      <p:to>
                                        <p:strVal val="0.5"/>
                                      </p:to>
                                    </p:set>
                                    <p:animEffect filter="image" prLst="opacity: 0.5">
                                      <p:cBhvr rctx="IE">
                                        <p:cTn id="30" dur="indefinite"/>
                                        <p:tgtEl>
                                          <p:spTgt spid="134"/>
                                        </p:tgtEl>
                                      </p:cBhvr>
                                    </p:animEffect>
                                  </p:childTnLst>
                                </p:cTn>
                              </p:par>
                            </p:childTnLst>
                          </p:cTn>
                        </p:par>
                        <p:par>
                          <p:cTn id="31" fill="hold">
                            <p:stCondLst>
                              <p:cond delay="5000"/>
                            </p:stCondLst>
                            <p:childTnLst>
                              <p:par>
                                <p:cTn id="32" presetID="19" presetClass="entr" presetSubtype="10" fill="hold" grpId="0" nodeType="afterEffect">
                                  <p:stCondLst>
                                    <p:cond delay="0"/>
                                  </p:stCondLst>
                                  <p:childTnLst>
                                    <p:set>
                                      <p:cBhvr>
                                        <p:cTn id="33" dur="1" fill="hold">
                                          <p:stCondLst>
                                            <p:cond delay="0"/>
                                          </p:stCondLst>
                                        </p:cTn>
                                        <p:tgtEl>
                                          <p:spTgt spid="167"/>
                                        </p:tgtEl>
                                        <p:attrNameLst>
                                          <p:attrName>style.visibility</p:attrName>
                                        </p:attrNameLst>
                                      </p:cBhvr>
                                      <p:to>
                                        <p:strVal val="visible"/>
                                      </p:to>
                                    </p:set>
                                    <p:anim calcmode="lin" valueType="num">
                                      <p:cBhvr>
                                        <p:cTn id="34" dur="5000" fill="hold"/>
                                        <p:tgtEl>
                                          <p:spTgt spid="167"/>
                                        </p:tgtEl>
                                        <p:attrNameLst>
                                          <p:attrName>ppt_w</p:attrName>
                                        </p:attrNameLst>
                                      </p:cBhvr>
                                      <p:tavLst>
                                        <p:tav tm="0" fmla="#ppt_w*sin(2.5*pi*$)">
                                          <p:val>
                                            <p:fltVal val="0"/>
                                          </p:val>
                                        </p:tav>
                                        <p:tav tm="100000">
                                          <p:val>
                                            <p:fltVal val="1"/>
                                          </p:val>
                                        </p:tav>
                                      </p:tavLst>
                                    </p:anim>
                                    <p:anim calcmode="lin" valueType="num">
                                      <p:cBhvr>
                                        <p:cTn id="35" dur="5000" fill="hold"/>
                                        <p:tgtEl>
                                          <p:spTgt spid="167"/>
                                        </p:tgtEl>
                                        <p:attrNameLst>
                                          <p:attrName>ppt_h</p:attrName>
                                        </p:attrNameLst>
                                      </p:cBhvr>
                                      <p:tavLst>
                                        <p:tav tm="0">
                                          <p:val>
                                            <p:strVal val="#ppt_h"/>
                                          </p:val>
                                        </p:tav>
                                        <p:tav tm="100000">
                                          <p:val>
                                            <p:strVal val="#ppt_h"/>
                                          </p:val>
                                        </p:tav>
                                      </p:tavLst>
                                    </p:anim>
                                  </p:childTnLst>
                                </p:cTn>
                              </p:par>
                              <p:par>
                                <p:cTn id="36" presetID="19" presetClass="entr" presetSubtype="10" fill="hold" grpId="0" nodeType="withEffect">
                                  <p:stCondLst>
                                    <p:cond delay="0"/>
                                  </p:stCondLst>
                                  <p:childTnLst>
                                    <p:set>
                                      <p:cBhvr>
                                        <p:cTn id="37" dur="1" fill="hold">
                                          <p:stCondLst>
                                            <p:cond delay="0"/>
                                          </p:stCondLst>
                                        </p:cTn>
                                        <p:tgtEl>
                                          <p:spTgt spid="168"/>
                                        </p:tgtEl>
                                        <p:attrNameLst>
                                          <p:attrName>style.visibility</p:attrName>
                                        </p:attrNameLst>
                                      </p:cBhvr>
                                      <p:to>
                                        <p:strVal val="visible"/>
                                      </p:to>
                                    </p:set>
                                    <p:anim calcmode="lin" valueType="num">
                                      <p:cBhvr>
                                        <p:cTn id="38" dur="5000" fill="hold"/>
                                        <p:tgtEl>
                                          <p:spTgt spid="168"/>
                                        </p:tgtEl>
                                        <p:attrNameLst>
                                          <p:attrName>ppt_w</p:attrName>
                                        </p:attrNameLst>
                                      </p:cBhvr>
                                      <p:tavLst>
                                        <p:tav tm="0" fmla="#ppt_w*sin(2.5*pi*$)">
                                          <p:val>
                                            <p:fltVal val="0"/>
                                          </p:val>
                                        </p:tav>
                                        <p:tav tm="100000">
                                          <p:val>
                                            <p:fltVal val="1"/>
                                          </p:val>
                                        </p:tav>
                                      </p:tavLst>
                                    </p:anim>
                                    <p:anim calcmode="lin" valueType="num">
                                      <p:cBhvr>
                                        <p:cTn id="39" dur="5000" fill="hold"/>
                                        <p:tgtEl>
                                          <p:spTgt spid="168"/>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wipe(left)">
                                      <p:cBhvr>
                                        <p:cTn id="48" dur="30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animEffect transition="in" filter="wipe(left)">
                                      <p:cBhvr>
                                        <p:cTn id="53" dur="3000"/>
                                        <p:tgtEl>
                                          <p:spTgt spid="7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67" grpId="0"/>
      <p:bldP spid="168" grpId="0"/>
      <p:bldP spid="169" grpId="0" animBg="1"/>
      <p:bldP spid="170" grpId="0" animBg="1"/>
      <p:bldP spid="17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420850" y="901744"/>
            <a:ext cx="4730549" cy="5363197"/>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779791"/>
            <a:ext cx="6898315" cy="278845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2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 </a:t>
            </a:r>
            <a:r>
              <a:rPr lang="zh-CN" altLang="en-US" i="0" dirty="0">
                <a:solidFill>
                  <a:schemeClr val="tx1"/>
                </a:solidFill>
              </a:rPr>
              <a:t>②</a:t>
            </a:r>
            <a:r>
              <a:rPr lang="zh-CN" altLang="en-US" i="0" dirty="0">
                <a:solidFill>
                  <a:schemeClr val="tx1"/>
                </a:solidFill>
                <a:latin typeface="黑体" panose="02010609060101010101" pitchFamily="49" charset="-122"/>
                <a:ea typeface="黑体" panose="02010609060101010101" pitchFamily="49" charset="-122"/>
              </a:rPr>
              <a:t>标值。</a:t>
            </a:r>
            <a:endParaRPr lang="en-US" altLang="zh-CN" i="0" dirty="0">
              <a:solidFill>
                <a:schemeClr val="tx1"/>
              </a:solidFill>
              <a:latin typeface="黑体" panose="02010609060101010101" pitchFamily="49" charset="-122"/>
              <a:ea typeface="黑体" panose="02010609060101010101" pitchFamily="49" charset="-122"/>
            </a:endParaRPr>
          </a:p>
          <a:p>
            <a:pPr eaLnBrk="1" hangingPunct="1">
              <a:lnSpc>
                <a:spcPct val="120000"/>
              </a:lnSpc>
            </a:pPr>
            <a:r>
              <a:rPr lang="en-US" altLang="zh-CN" dirty="0"/>
              <a:t>       </a:t>
            </a:r>
            <a:r>
              <a:rPr kumimoji="1" lang="en-US" altLang="zh-CN" i="0" dirty="0">
                <a:solidFill>
                  <a:schemeClr val="tx1"/>
                </a:solidFill>
                <a:latin typeface="+mn-lt"/>
                <a:ea typeface="黑体" panose="02010609060101010101" pitchFamily="49" charset="-122"/>
              </a:rPr>
              <a:t>a)</a:t>
            </a:r>
            <a:r>
              <a:rPr kumimoji="1" lang="zh-CN" altLang="en-US" i="0" dirty="0">
                <a:solidFill>
                  <a:schemeClr val="tx1"/>
                </a:solidFill>
                <a:latin typeface="+mn-lt"/>
                <a:ea typeface="黑体" panose="02010609060101010101" pitchFamily="49" charset="-122"/>
              </a:rPr>
              <a:t>截面上的剪力等于截面任一侧外力的总和。</a:t>
            </a:r>
          </a:p>
          <a:p>
            <a:pPr eaLnBrk="1" hangingPunct="1">
              <a:lnSpc>
                <a:spcPct val="120000"/>
              </a:lnSpc>
            </a:pPr>
            <a:r>
              <a:rPr kumimoji="1" lang="zh-CN" altLang="en-US" i="0" dirty="0">
                <a:solidFill>
                  <a:schemeClr val="tx1"/>
                </a:solidFill>
                <a:latin typeface="+mn-lt"/>
                <a:ea typeface="黑体" panose="02010609060101010101" pitchFamily="49" charset="-122"/>
              </a:rPr>
              <a:t>       </a:t>
            </a:r>
            <a:r>
              <a:rPr kumimoji="1" lang="en-US" altLang="zh-CN" i="0" dirty="0">
                <a:solidFill>
                  <a:schemeClr val="tx1"/>
                </a:solidFill>
                <a:latin typeface="+mn-lt"/>
                <a:ea typeface="黑体" panose="02010609060101010101" pitchFamily="49" charset="-122"/>
              </a:rPr>
              <a:t>b)</a:t>
            </a:r>
            <a:r>
              <a:rPr kumimoji="1" lang="zh-CN" altLang="en-US" i="0" dirty="0">
                <a:solidFill>
                  <a:schemeClr val="tx1"/>
                </a:solidFill>
                <a:latin typeface="+mn-lt"/>
                <a:ea typeface="黑体" panose="02010609060101010101" pitchFamily="49" charset="-122"/>
              </a:rPr>
              <a:t>截面上的弯矩等于截面任一侧外力对截面形心力矩的总和。</a:t>
            </a:r>
          </a:p>
          <a:p>
            <a:pPr eaLnBrk="1" hangingPunct="1">
              <a:lnSpc>
                <a:spcPct val="120000"/>
              </a:lnSpc>
            </a:pPr>
            <a:r>
              <a:rPr kumimoji="1" lang="zh-CN" altLang="en-US" i="0" dirty="0">
                <a:solidFill>
                  <a:schemeClr val="tx1"/>
                </a:solidFill>
                <a:latin typeface="+mn-lt"/>
                <a:ea typeface="黑体" panose="02010609060101010101" pitchFamily="49" charset="-122"/>
              </a:rPr>
              <a:t>      本题算得结果如下：  </a:t>
            </a:r>
          </a:p>
        </p:txBody>
      </p:sp>
      <p:sp>
        <p:nvSpPr>
          <p:cNvPr id="171" name="矩形 170">
            <a:extLst>
              <a:ext uri="{FF2B5EF4-FFF2-40B4-BE49-F238E27FC236}">
                <a16:creationId xmlns:a16="http://schemas.microsoft.com/office/drawing/2014/main" id="{54CF797A-3212-00F4-D82B-18FEE729BE7A}"/>
              </a:ext>
            </a:extLst>
          </p:cNvPr>
          <p:cNvSpPr/>
          <p:nvPr/>
        </p:nvSpPr>
        <p:spPr>
          <a:xfrm>
            <a:off x="211184" y="3430014"/>
            <a:ext cx="7044366" cy="1052596"/>
          </a:xfrm>
          <a:prstGeom prst="rect">
            <a:avLst/>
          </a:prstGeom>
        </p:spPr>
        <p:txBody>
          <a:bodyPr wrap="square">
            <a:spAutoFit/>
          </a:bodyPr>
          <a:lstStyle/>
          <a:p>
            <a:pPr lvl="0">
              <a:lnSpc>
                <a:spcPct val="130000"/>
              </a:lnSpc>
            </a:pPr>
            <a:r>
              <a:rPr kumimoji="1" lang="en-US" altLang="zh-CN" b="0" i="0" dirty="0">
                <a:solidFill>
                  <a:srgbClr val="FFFFFF"/>
                </a:solidFill>
                <a:ea typeface="黑体" panose="02010609060101010101" pitchFamily="49" charset="-122"/>
              </a:rPr>
              <a:t> ③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zh-CN" altLang="en-US"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 </a:t>
            </a:r>
          </a:p>
          <a:p>
            <a:pPr lvl="0">
              <a:lnSpc>
                <a:spcPct val="13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C</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 </a:t>
            </a:r>
          </a:p>
        </p:txBody>
      </p:sp>
      <p:sp>
        <p:nvSpPr>
          <p:cNvPr id="45" name="矩形 44">
            <a:extLst>
              <a:ext uri="{FF2B5EF4-FFF2-40B4-BE49-F238E27FC236}">
                <a16:creationId xmlns:a16="http://schemas.microsoft.com/office/drawing/2014/main" id="{54CF797A-3212-00F4-D82B-18FEE729BE7A}"/>
              </a:ext>
            </a:extLst>
          </p:cNvPr>
          <p:cNvSpPr/>
          <p:nvPr/>
        </p:nvSpPr>
        <p:spPr>
          <a:xfrm>
            <a:off x="211184" y="4473755"/>
            <a:ext cx="6898315" cy="1421928"/>
          </a:xfrm>
          <a:prstGeom prst="rect">
            <a:avLst/>
          </a:prstGeom>
        </p:spPr>
        <p:txBody>
          <a:bodyPr wrap="square">
            <a:spAutoFit/>
          </a:bodyPr>
          <a:lstStyle/>
          <a:p>
            <a:pPr algn="just">
              <a:lnSpc>
                <a:spcPct val="120000"/>
              </a:lnSpc>
            </a:pPr>
            <a:r>
              <a:rPr lang="en-US" altLang="zh-CN" i="0" dirty="0">
                <a:solidFill>
                  <a:schemeClr val="tx1"/>
                </a:solidFill>
                <a:latin typeface="黑体" panose="02010609060101010101" pitchFamily="49" charset="-122"/>
                <a:ea typeface="黑体" panose="02010609060101010101" pitchFamily="49" charset="-122"/>
              </a:rPr>
              <a:t>    </a:t>
            </a:r>
            <a:r>
              <a:rPr lang="en-US" altLang="zh-CN" i="0" dirty="0">
                <a:solidFill>
                  <a:schemeClr val="tx1"/>
                </a:solidFill>
                <a:latin typeface="+mj-lt"/>
                <a:ea typeface="黑体" panose="02010609060101010101" pitchFamily="49" charset="-122"/>
              </a:rPr>
              <a:t>③</a:t>
            </a:r>
            <a:r>
              <a:rPr lang="zh-CN" altLang="en-US" i="0" dirty="0">
                <a:solidFill>
                  <a:schemeClr val="tx1"/>
                </a:solidFill>
                <a:latin typeface="+mj-lt"/>
                <a:ea typeface="黑体" panose="02010609060101010101" pitchFamily="49" charset="-122"/>
              </a:rPr>
              <a:t>连线。按各区段有无分布载荷，连接相邻两点，即得剪力图和弯矩图。本题无分布载荷，故</a:t>
            </a:r>
            <a:r>
              <a:rPr lang="en-US" altLang="zh-CN" b="0" dirty="0">
                <a:solidFill>
                  <a:schemeClr val="tx1"/>
                </a:solidFill>
                <a:latin typeface="+mj-lt"/>
                <a:ea typeface="黑体" panose="02010609060101010101" pitchFamily="49" charset="-122"/>
              </a:rPr>
              <a:t>F</a:t>
            </a:r>
            <a:r>
              <a:rPr lang="en-US" altLang="zh-CN" b="0" i="0" baseline="-25000" dirty="0">
                <a:solidFill>
                  <a:schemeClr val="tx1"/>
                </a:solidFill>
                <a:latin typeface="+mj-lt"/>
                <a:ea typeface="黑体" panose="02010609060101010101" pitchFamily="49" charset="-122"/>
              </a:rPr>
              <a:t>Q</a:t>
            </a:r>
            <a:r>
              <a:rPr lang="zh-CN" altLang="en-US" i="0" dirty="0">
                <a:solidFill>
                  <a:schemeClr val="tx1"/>
                </a:solidFill>
                <a:latin typeface="+mj-lt"/>
                <a:ea typeface="黑体" panose="02010609060101010101" pitchFamily="49" charset="-122"/>
              </a:rPr>
              <a:t>图与</a:t>
            </a:r>
            <a:r>
              <a:rPr lang="en-US" altLang="zh-CN" b="0" dirty="0">
                <a:solidFill>
                  <a:schemeClr val="tx1"/>
                </a:solidFill>
                <a:latin typeface="+mj-lt"/>
                <a:ea typeface="黑体" panose="02010609060101010101" pitchFamily="49" charset="-122"/>
              </a:rPr>
              <a:t>M</a:t>
            </a:r>
            <a:r>
              <a:rPr lang="zh-CN" altLang="en-US" i="0" dirty="0">
                <a:solidFill>
                  <a:schemeClr val="tx1"/>
                </a:solidFill>
                <a:latin typeface="+mj-lt"/>
                <a:ea typeface="黑体" panose="02010609060101010101" pitchFamily="49" charset="-122"/>
              </a:rPr>
              <a:t>图皆连直线。 </a:t>
            </a:r>
            <a:r>
              <a:rPr kumimoji="1" lang="zh-CN" altLang="en-US" i="0" dirty="0">
                <a:solidFill>
                  <a:schemeClr val="tx1"/>
                </a:solidFill>
                <a:latin typeface="+mj-lt"/>
                <a:ea typeface="黑体" panose="02010609060101010101" pitchFamily="49" charset="-122"/>
              </a:rPr>
              <a:t>  </a:t>
            </a:r>
          </a:p>
        </p:txBody>
      </p:sp>
      <p:grpSp>
        <p:nvGrpSpPr>
          <p:cNvPr id="146" name="Group 3"/>
          <p:cNvGrpSpPr>
            <a:grpSpLocks/>
          </p:cNvGrpSpPr>
          <p:nvPr/>
        </p:nvGrpSpPr>
        <p:grpSpPr bwMode="auto">
          <a:xfrm>
            <a:off x="7827463" y="906080"/>
            <a:ext cx="3529012" cy="1793875"/>
            <a:chOff x="3415" y="571"/>
            <a:chExt cx="2223" cy="1130"/>
          </a:xfrm>
        </p:grpSpPr>
        <p:grpSp>
          <p:nvGrpSpPr>
            <p:cNvPr id="147" name="Group 4"/>
            <p:cNvGrpSpPr>
              <a:grpSpLocks/>
            </p:cNvGrpSpPr>
            <p:nvPr/>
          </p:nvGrpSpPr>
          <p:grpSpPr bwMode="auto">
            <a:xfrm>
              <a:off x="3415" y="571"/>
              <a:ext cx="2223" cy="1130"/>
              <a:chOff x="3415" y="571"/>
              <a:chExt cx="2223" cy="1130"/>
            </a:xfrm>
          </p:grpSpPr>
          <p:grpSp>
            <p:nvGrpSpPr>
              <p:cNvPr id="149" name="Group 5"/>
              <p:cNvGrpSpPr>
                <a:grpSpLocks/>
              </p:cNvGrpSpPr>
              <p:nvPr/>
            </p:nvGrpSpPr>
            <p:grpSpPr bwMode="auto">
              <a:xfrm>
                <a:off x="3415" y="836"/>
                <a:ext cx="2223" cy="865"/>
                <a:chOff x="3415" y="836"/>
                <a:chExt cx="2223" cy="865"/>
              </a:xfrm>
            </p:grpSpPr>
            <p:sp>
              <p:nvSpPr>
                <p:cNvPr id="159" name="Text Box 6"/>
                <p:cNvSpPr txBox="1">
                  <a:spLocks noChangeAspect="1" noChangeArrowheads="1"/>
                </p:cNvSpPr>
                <p:nvPr/>
              </p:nvSpPr>
              <p:spPr bwMode="auto">
                <a:xfrm flipH="1">
                  <a:off x="4452" y="13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160" name="Text Box 7"/>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61" name="Text Box 8"/>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62" name="Line 9"/>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3" name="Line 10"/>
                <p:cNvSpPr>
                  <a:spLocks noChangeAspect="1" noChangeShapeType="1"/>
                </p:cNvSpPr>
                <p:nvPr/>
              </p:nvSpPr>
              <p:spPr bwMode="auto">
                <a:xfrm flipH="1">
                  <a:off x="3695" y="1666"/>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4" name="Line 11"/>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5" name="Freeform 12"/>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50" name="Text Box 13"/>
              <p:cNvSpPr txBox="1">
                <a:spLocks noChangeAspect="1" noChangeArrowheads="1"/>
              </p:cNvSpPr>
              <p:nvPr/>
            </p:nvSpPr>
            <p:spPr bwMode="auto">
              <a:xfrm>
                <a:off x="4782" y="571"/>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endParaRPr kumimoji="1" lang="en-US" altLang="zh-CN" sz="3200" b="0" u="none" strike="noStrike" kern="0" cap="none" spc="0" normalizeH="0" baseline="-25000" noProof="0" dirty="0">
                  <a:ln>
                    <a:noFill/>
                  </a:ln>
                  <a:solidFill>
                    <a:srgbClr val="FF0000"/>
                  </a:solidFill>
                  <a:effectLst/>
                  <a:uLnTx/>
                  <a:uFillTx/>
                  <a:latin typeface="Times New Roman" panose="02020603050405020304" pitchFamily="18" charset="0"/>
                </a:endParaRPr>
              </a:p>
            </p:txBody>
          </p:sp>
          <p:sp>
            <p:nvSpPr>
              <p:cNvPr id="151" name="Text Box 14"/>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152" name="Line 15"/>
              <p:cNvSpPr>
                <a:spLocks noChangeAspect="1" noChangeShapeType="1"/>
              </p:cNvSpPr>
              <p:nvPr/>
            </p:nvSpPr>
            <p:spPr bwMode="auto">
              <a:xfrm flipH="1">
                <a:off x="3703" y="133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Line 16"/>
              <p:cNvSpPr>
                <a:spLocks noChangeAspect="1" noChangeShapeType="1"/>
              </p:cNvSpPr>
              <p:nvPr/>
            </p:nvSpPr>
            <p:spPr bwMode="auto">
              <a:xfrm flipH="1">
                <a:off x="3697" y="1405"/>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4" name="Line 17"/>
              <p:cNvSpPr>
                <a:spLocks noChangeAspect="1" noChangeShapeType="1"/>
              </p:cNvSpPr>
              <p:nvPr/>
            </p:nvSpPr>
            <p:spPr bwMode="auto">
              <a:xfrm flipH="1">
                <a:off x="5345" y="1333"/>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18"/>
              <p:cNvSpPr>
                <a:spLocks noChangeAspect="1" noChangeShapeType="1"/>
              </p:cNvSpPr>
              <p:nvPr/>
            </p:nvSpPr>
            <p:spPr bwMode="auto">
              <a:xfrm flipH="1">
                <a:off x="4789" y="1405"/>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Text Box 19"/>
              <p:cNvSpPr txBox="1">
                <a:spLocks noChangeAspect="1" noChangeArrowheads="1"/>
              </p:cNvSpPr>
              <p:nvPr/>
            </p:nvSpPr>
            <p:spPr bwMode="auto">
              <a:xfrm flipH="1">
                <a:off x="4904" y="1095"/>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57" name="Line 20"/>
              <p:cNvSpPr>
                <a:spLocks noChangeAspect="1" noChangeShapeType="1"/>
              </p:cNvSpPr>
              <p:nvPr/>
            </p:nvSpPr>
            <p:spPr bwMode="auto">
              <a:xfrm flipH="1">
                <a:off x="4795" y="1326"/>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Text Box 21"/>
              <p:cNvSpPr txBox="1">
                <a:spLocks noChangeAspect="1" noChangeArrowheads="1"/>
              </p:cNvSpPr>
              <p:nvPr/>
            </p:nvSpPr>
            <p:spPr bwMode="auto">
              <a:xfrm flipH="1">
                <a:off x="4052" y="1090"/>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sp>
          <p:nvSpPr>
            <p:cNvPr id="148" name="Line 22"/>
            <p:cNvSpPr>
              <a:spLocks noChangeAspect="1" noChangeShapeType="1"/>
            </p:cNvSpPr>
            <p:nvPr/>
          </p:nvSpPr>
          <p:spPr bwMode="auto">
            <a:xfrm>
              <a:off x="4803" y="618"/>
              <a:ext cx="0" cy="35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72" name="Group 26"/>
          <p:cNvGrpSpPr>
            <a:grpSpLocks/>
          </p:cNvGrpSpPr>
          <p:nvPr/>
        </p:nvGrpSpPr>
        <p:grpSpPr bwMode="auto">
          <a:xfrm>
            <a:off x="8024313" y="1544256"/>
            <a:ext cx="496887" cy="523875"/>
            <a:chOff x="1686" y="3521"/>
            <a:chExt cx="313" cy="330"/>
          </a:xfrm>
        </p:grpSpPr>
        <p:sp>
          <p:nvSpPr>
            <p:cNvPr id="173"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4"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6"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77" name="Group 31"/>
          <p:cNvGrpSpPr>
            <a:grpSpLocks/>
          </p:cNvGrpSpPr>
          <p:nvPr/>
        </p:nvGrpSpPr>
        <p:grpSpPr bwMode="auto">
          <a:xfrm>
            <a:off x="10667500" y="1542668"/>
            <a:ext cx="493713" cy="568325"/>
            <a:chOff x="3499" y="3511"/>
            <a:chExt cx="311" cy="358"/>
          </a:xfrm>
        </p:grpSpPr>
        <p:sp>
          <p:nvSpPr>
            <p:cNvPr id="178"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9"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0"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1"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2"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83" name="Text Box 38"/>
          <p:cNvSpPr txBox="1">
            <a:spLocks noChangeAspect="1" noChangeArrowheads="1"/>
          </p:cNvSpPr>
          <p:nvPr/>
        </p:nvSpPr>
        <p:spPr bwMode="auto">
          <a:xfrm>
            <a:off x="10883400" y="217608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84" name="Text Box 39"/>
          <p:cNvSpPr txBox="1">
            <a:spLocks noChangeAspect="1" noChangeArrowheads="1"/>
          </p:cNvSpPr>
          <p:nvPr/>
        </p:nvSpPr>
        <p:spPr bwMode="auto">
          <a:xfrm>
            <a:off x="7752850" y="2155443"/>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185" name="Line 40"/>
          <p:cNvSpPr>
            <a:spLocks noChangeAspect="1" noChangeShapeType="1"/>
          </p:cNvSpPr>
          <p:nvPr/>
        </p:nvSpPr>
        <p:spPr bwMode="auto">
          <a:xfrm flipV="1">
            <a:off x="8267200" y="1712531"/>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6" name="Line 41"/>
          <p:cNvSpPr>
            <a:spLocks noChangeAspect="1" noChangeShapeType="1"/>
          </p:cNvSpPr>
          <p:nvPr/>
        </p:nvSpPr>
        <p:spPr bwMode="auto">
          <a:xfrm flipV="1">
            <a:off x="10913563" y="1698243"/>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7" name="Line 51"/>
          <p:cNvSpPr>
            <a:spLocks noChangeShapeType="1"/>
          </p:cNvSpPr>
          <p:nvPr/>
        </p:nvSpPr>
        <p:spPr bwMode="auto">
          <a:xfrm rot="16200000">
            <a:off x="7675856" y="5504210"/>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8" name="Text Box 52"/>
          <p:cNvSpPr txBox="1">
            <a:spLocks noChangeAspect="1" noChangeArrowheads="1"/>
          </p:cNvSpPr>
          <p:nvPr/>
        </p:nvSpPr>
        <p:spPr bwMode="auto">
          <a:xfrm flipH="1">
            <a:off x="8235450" y="479221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9" name="Line 55"/>
          <p:cNvSpPr>
            <a:spLocks noChangeShapeType="1"/>
          </p:cNvSpPr>
          <p:nvPr/>
        </p:nvSpPr>
        <p:spPr bwMode="auto">
          <a:xfrm rot="16200000">
            <a:off x="7680618" y="3399250"/>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0" name="Text Box 56"/>
          <p:cNvSpPr txBox="1">
            <a:spLocks noChangeAspect="1" noChangeArrowheads="1"/>
          </p:cNvSpPr>
          <p:nvPr/>
        </p:nvSpPr>
        <p:spPr bwMode="auto">
          <a:xfrm flipH="1">
            <a:off x="8252913" y="266185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91" name="Text Box 58"/>
          <p:cNvSpPr txBox="1">
            <a:spLocks noChangeAspect="1" noChangeArrowheads="1"/>
          </p:cNvSpPr>
          <p:nvPr/>
        </p:nvSpPr>
        <p:spPr bwMode="auto">
          <a:xfrm>
            <a:off x="7944938" y="3763581"/>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92" name="Text Box 59"/>
          <p:cNvSpPr txBox="1">
            <a:spLocks noChangeAspect="1" noChangeArrowheads="1"/>
          </p:cNvSpPr>
          <p:nvPr/>
        </p:nvSpPr>
        <p:spPr bwMode="auto">
          <a:xfrm>
            <a:off x="7856038" y="5790753"/>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93" name="AutoShape 63" descr="浅色竖线"/>
          <p:cNvSpPr>
            <a:spLocks noChangeArrowheads="1"/>
          </p:cNvSpPr>
          <p:nvPr/>
        </p:nvSpPr>
        <p:spPr bwMode="auto">
          <a:xfrm>
            <a:off x="8265613" y="5584378"/>
            <a:ext cx="2703512" cy="496888"/>
          </a:xfrm>
          <a:prstGeom prst="triangle">
            <a:avLst>
              <a:gd name="adj" fmla="val 65296"/>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4" name="Rectangle 64" descr="浅色竖线"/>
          <p:cNvSpPr>
            <a:spLocks noChangeArrowheads="1"/>
          </p:cNvSpPr>
          <p:nvPr/>
        </p:nvSpPr>
        <p:spPr bwMode="auto">
          <a:xfrm>
            <a:off x="10035675" y="3947731"/>
            <a:ext cx="906463" cy="698500"/>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Rectangle 65" descr="浅色竖线"/>
          <p:cNvSpPr>
            <a:spLocks noChangeArrowheads="1"/>
          </p:cNvSpPr>
          <p:nvPr/>
        </p:nvSpPr>
        <p:spPr bwMode="auto">
          <a:xfrm>
            <a:off x="8289425" y="3561968"/>
            <a:ext cx="1747838" cy="382588"/>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6" name="Text Box 67"/>
          <p:cNvSpPr txBox="1">
            <a:spLocks noChangeAspect="1" noChangeArrowheads="1"/>
          </p:cNvSpPr>
          <p:nvPr/>
        </p:nvSpPr>
        <p:spPr bwMode="auto">
          <a:xfrm>
            <a:off x="10051550" y="4608131"/>
            <a:ext cx="9747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Fa</a:t>
            </a:r>
            <a:r>
              <a:rPr lang="en-US" altLang="zh-CN" sz="2800" b="0" i="0">
                <a:solidFill>
                  <a:srgbClr val="000000"/>
                </a:solidFill>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197" name="Group 68"/>
          <p:cNvGrpSpPr>
            <a:grpSpLocks/>
          </p:cNvGrpSpPr>
          <p:nvPr/>
        </p:nvGrpSpPr>
        <p:grpSpPr bwMode="auto">
          <a:xfrm>
            <a:off x="10200775" y="4038218"/>
            <a:ext cx="569913" cy="468313"/>
            <a:chOff x="4503" y="2280"/>
            <a:chExt cx="269" cy="231"/>
          </a:xfrm>
        </p:grpSpPr>
        <p:sp>
          <p:nvSpPr>
            <p:cNvPr id="198" name="Oval 69"/>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9" name="Text Box 70"/>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00" name="Text Box 71"/>
          <p:cNvSpPr txBox="1">
            <a:spLocks noChangeAspect="1" noChangeArrowheads="1"/>
          </p:cNvSpPr>
          <p:nvPr/>
        </p:nvSpPr>
        <p:spPr bwMode="auto">
          <a:xfrm>
            <a:off x="10461125" y="5358953"/>
            <a:ext cx="10890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01" name="Text Box 72"/>
          <p:cNvSpPr txBox="1">
            <a:spLocks noChangeAspect="1" noChangeArrowheads="1"/>
          </p:cNvSpPr>
          <p:nvPr/>
        </p:nvSpPr>
        <p:spPr bwMode="auto">
          <a:xfrm>
            <a:off x="10508750" y="3360356"/>
            <a:ext cx="10414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02" name="Text Box 73"/>
          <p:cNvSpPr txBox="1">
            <a:spLocks noChangeAspect="1" noChangeArrowheads="1"/>
          </p:cNvSpPr>
          <p:nvPr/>
        </p:nvSpPr>
        <p:spPr bwMode="auto">
          <a:xfrm>
            <a:off x="8586288" y="3079368"/>
            <a:ext cx="1147762"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203" name="Oval 74"/>
          <p:cNvSpPr>
            <a:spLocks noChangeArrowheads="1"/>
          </p:cNvSpPr>
          <p:nvPr/>
        </p:nvSpPr>
        <p:spPr bwMode="auto">
          <a:xfrm>
            <a:off x="8254500" y="351434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4" name="Oval 75"/>
          <p:cNvSpPr>
            <a:spLocks noChangeArrowheads="1"/>
          </p:cNvSpPr>
          <p:nvPr/>
        </p:nvSpPr>
        <p:spPr bwMode="auto">
          <a:xfrm>
            <a:off x="9995988" y="352545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5" name="Oval 77"/>
          <p:cNvSpPr>
            <a:spLocks noChangeArrowheads="1"/>
          </p:cNvSpPr>
          <p:nvPr/>
        </p:nvSpPr>
        <p:spPr bwMode="auto">
          <a:xfrm>
            <a:off x="10889750" y="461289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6" name="Oval 78"/>
          <p:cNvSpPr>
            <a:spLocks noChangeArrowheads="1"/>
          </p:cNvSpPr>
          <p:nvPr/>
        </p:nvSpPr>
        <p:spPr bwMode="auto">
          <a:xfrm>
            <a:off x="10002338" y="4601781"/>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7" name="Oval 79"/>
          <p:cNvSpPr>
            <a:spLocks noChangeArrowheads="1"/>
          </p:cNvSpPr>
          <p:nvPr/>
        </p:nvSpPr>
        <p:spPr bwMode="auto">
          <a:xfrm>
            <a:off x="9989638" y="554151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208" name="Group 80"/>
          <p:cNvGrpSpPr>
            <a:grpSpLocks/>
          </p:cNvGrpSpPr>
          <p:nvPr/>
        </p:nvGrpSpPr>
        <p:grpSpPr bwMode="auto">
          <a:xfrm>
            <a:off x="9540375" y="5605016"/>
            <a:ext cx="592138" cy="523875"/>
            <a:chOff x="3767" y="1607"/>
            <a:chExt cx="373" cy="330"/>
          </a:xfrm>
        </p:grpSpPr>
        <p:sp>
          <p:nvSpPr>
            <p:cNvPr id="209" name="Oval 8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0" name="Text Box 8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11" name="Oval 83"/>
          <p:cNvSpPr>
            <a:spLocks noChangeArrowheads="1"/>
          </p:cNvSpPr>
          <p:nvPr/>
        </p:nvSpPr>
        <p:spPr bwMode="auto">
          <a:xfrm>
            <a:off x="10911975" y="601617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2" name="Text Box 84"/>
          <p:cNvSpPr txBox="1">
            <a:spLocks noChangeAspect="1" noChangeArrowheads="1"/>
          </p:cNvSpPr>
          <p:nvPr/>
        </p:nvSpPr>
        <p:spPr bwMode="auto">
          <a:xfrm>
            <a:off x="9145088" y="5100191"/>
            <a:ext cx="11684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Fab</a:t>
            </a:r>
            <a:r>
              <a:rPr lang="en-US" altLang="zh-CN" sz="2800" b="0" i="0">
                <a:solidFill>
                  <a:srgbClr val="000000"/>
                </a:solidFill>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213" name="Group 85"/>
          <p:cNvGrpSpPr>
            <a:grpSpLocks/>
          </p:cNvGrpSpPr>
          <p:nvPr/>
        </p:nvGrpSpPr>
        <p:grpSpPr bwMode="auto">
          <a:xfrm>
            <a:off x="8914900" y="3474656"/>
            <a:ext cx="592138" cy="523875"/>
            <a:chOff x="3767" y="1607"/>
            <a:chExt cx="373" cy="330"/>
          </a:xfrm>
        </p:grpSpPr>
        <p:sp>
          <p:nvSpPr>
            <p:cNvPr id="214" name="Oval 86"/>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5" name="Text Box 87"/>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16" name="Oval 88"/>
          <p:cNvSpPr>
            <a:spLocks noChangeArrowheads="1"/>
          </p:cNvSpPr>
          <p:nvPr/>
        </p:nvSpPr>
        <p:spPr bwMode="auto">
          <a:xfrm>
            <a:off x="8237038" y="6041578"/>
            <a:ext cx="74612"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7" name="Line 57"/>
          <p:cNvSpPr>
            <a:spLocks noChangeShapeType="1"/>
          </p:cNvSpPr>
          <p:nvPr/>
        </p:nvSpPr>
        <p:spPr bwMode="auto">
          <a:xfrm>
            <a:off x="8244975" y="395090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18" name="Line 53"/>
          <p:cNvSpPr>
            <a:spLocks noChangeShapeType="1"/>
          </p:cNvSpPr>
          <p:nvPr/>
        </p:nvSpPr>
        <p:spPr bwMode="auto">
          <a:xfrm>
            <a:off x="8227513" y="608126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19" name="矩形 218">
            <a:extLst>
              <a:ext uri="{FF2B5EF4-FFF2-40B4-BE49-F238E27FC236}">
                <a16:creationId xmlns:a16="http://schemas.microsoft.com/office/drawing/2014/main" id="{54CF797A-3212-00F4-D82B-18FEE729BE7A}"/>
              </a:ext>
            </a:extLst>
          </p:cNvPr>
          <p:cNvSpPr/>
          <p:nvPr/>
        </p:nvSpPr>
        <p:spPr>
          <a:xfrm>
            <a:off x="701305" y="5767252"/>
            <a:ext cx="6898315" cy="572464"/>
          </a:xfrm>
          <a:prstGeom prst="rect">
            <a:avLst/>
          </a:prstGeom>
        </p:spPr>
        <p:txBody>
          <a:bodyPr wrap="square">
            <a:spAutoFit/>
          </a:bodyPr>
          <a:lstStyle/>
          <a:p>
            <a:pPr algn="just">
              <a:lnSpc>
                <a:spcPct val="130000"/>
              </a:lnSpc>
            </a:pPr>
            <a:r>
              <a:rPr lang="en-US" altLang="zh-CN" i="0" dirty="0">
                <a:solidFill>
                  <a:schemeClr val="tx1"/>
                </a:solidFill>
                <a:latin typeface="+mj-lt"/>
                <a:ea typeface="黑体" panose="02010609060101010101" pitchFamily="49" charset="-122"/>
              </a:rPr>
              <a:t> ④</a:t>
            </a:r>
            <a:r>
              <a:rPr lang="zh-CN" altLang="en-US" i="0" dirty="0">
                <a:solidFill>
                  <a:schemeClr val="tx1"/>
                </a:solidFill>
                <a:latin typeface="+mj-lt"/>
                <a:ea typeface="黑体" panose="02010609060101010101" pitchFamily="49" charset="-122"/>
              </a:rPr>
              <a:t>复查。按本节所列</a:t>
            </a:r>
            <a:r>
              <a:rPr lang="en-US" altLang="zh-CN" b="0" dirty="0">
                <a:solidFill>
                  <a:schemeClr val="tx1"/>
                </a:solidFill>
                <a:latin typeface="+mj-lt"/>
                <a:ea typeface="黑体" panose="02010609060101010101" pitchFamily="49" charset="-122"/>
              </a:rPr>
              <a:t>F</a:t>
            </a:r>
            <a:r>
              <a:rPr lang="en-US" altLang="zh-CN" b="0" i="0" baseline="-25000" dirty="0">
                <a:solidFill>
                  <a:schemeClr val="tx1"/>
                </a:solidFill>
                <a:latin typeface="+mj-lt"/>
                <a:ea typeface="黑体" panose="02010609060101010101" pitchFamily="49" charset="-122"/>
              </a:rPr>
              <a:t>Q</a:t>
            </a:r>
            <a:r>
              <a:rPr lang="zh-CN" altLang="en-US" i="0" dirty="0">
                <a:solidFill>
                  <a:schemeClr val="tx1"/>
                </a:solidFill>
                <a:latin typeface="+mj-lt"/>
                <a:ea typeface="黑体" panose="02010609060101010101" pitchFamily="49" charset="-122"/>
              </a:rPr>
              <a:t>、</a:t>
            </a:r>
            <a:r>
              <a:rPr lang="en-US" altLang="zh-CN" b="0" dirty="0">
                <a:solidFill>
                  <a:schemeClr val="tx1"/>
                </a:solidFill>
                <a:latin typeface="+mj-lt"/>
                <a:ea typeface="黑体" panose="02010609060101010101" pitchFamily="49" charset="-122"/>
              </a:rPr>
              <a:t>M</a:t>
            </a:r>
            <a:r>
              <a:rPr lang="zh-CN" altLang="en-US" i="0" dirty="0">
                <a:solidFill>
                  <a:schemeClr val="tx1"/>
                </a:solidFill>
                <a:latin typeface="+mj-lt"/>
                <a:ea typeface="黑体" panose="02010609060101010101" pitchFamily="49" charset="-122"/>
              </a:rPr>
              <a:t>图特征表进行复核</a:t>
            </a:r>
            <a:r>
              <a:rPr lang="zh-CN" altLang="en-US" i="0" dirty="0">
                <a:solidFill>
                  <a:schemeClr val="tx1"/>
                </a:solidFill>
                <a:ea typeface="黑体" panose="02010609060101010101" pitchFamily="49" charset="-122"/>
              </a:rPr>
              <a:t>。</a:t>
            </a:r>
            <a:endParaRPr kumimoji="1" lang="zh-CN" altLang="en-US" i="0" dirty="0">
              <a:solidFill>
                <a:schemeClr val="tx1"/>
              </a:solidFill>
              <a:latin typeface="+mj-lt"/>
              <a:ea typeface="黑体" panose="02010609060101010101" pitchFamily="49" charset="-122"/>
            </a:endParaRPr>
          </a:p>
        </p:txBody>
      </p:sp>
    </p:spTree>
    <p:extLst>
      <p:ext uri="{BB962C8B-B14F-4D97-AF65-F5344CB8AC3E}">
        <p14:creationId xmlns:p14="http://schemas.microsoft.com/office/powerpoint/2010/main" val="21980042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par>
                          <p:cTn id="19" fill="hold">
                            <p:stCondLst>
                              <p:cond delay="0"/>
                            </p:stCondLst>
                            <p:childTnLst>
                              <p:par>
                                <p:cTn id="20" presetID="9" presetClass="emph" presetSubtype="0" nodeType="afterEffect">
                                  <p:stCondLst>
                                    <p:cond delay="0"/>
                                  </p:stCondLst>
                                  <p:childTnLst>
                                    <p:set>
                                      <p:cBhvr rctx="PPT">
                                        <p:cTn id="21" dur="indefinite"/>
                                        <p:tgtEl>
                                          <p:spTgt spid="172"/>
                                        </p:tgtEl>
                                        <p:attrNameLst>
                                          <p:attrName>style.opacity</p:attrName>
                                        </p:attrNameLst>
                                      </p:cBhvr>
                                      <p:to>
                                        <p:strVal val="0.5"/>
                                      </p:to>
                                    </p:set>
                                    <p:animEffect filter="image" prLst="opacity: 0.5">
                                      <p:cBhvr rctx="IE">
                                        <p:cTn id="22" dur="indefinite"/>
                                        <p:tgtEl>
                                          <p:spTgt spid="172"/>
                                        </p:tgtEl>
                                      </p:cBhvr>
                                    </p:animEffect>
                                  </p:childTnLst>
                                </p:cTn>
                              </p:par>
                              <p:par>
                                <p:cTn id="23" presetID="9" presetClass="emph" presetSubtype="0" nodeType="withEffect">
                                  <p:stCondLst>
                                    <p:cond delay="0"/>
                                  </p:stCondLst>
                                  <p:childTnLst>
                                    <p:set>
                                      <p:cBhvr rctx="PPT">
                                        <p:cTn id="24" dur="indefinite"/>
                                        <p:tgtEl>
                                          <p:spTgt spid="177"/>
                                        </p:tgtEl>
                                        <p:attrNameLst>
                                          <p:attrName>style.opacity</p:attrName>
                                        </p:attrNameLst>
                                      </p:cBhvr>
                                      <p:to>
                                        <p:strVal val="0.5"/>
                                      </p:to>
                                    </p:set>
                                    <p:animEffect filter="image" prLst="opacity: 0.5">
                                      <p:cBhvr rctx="IE">
                                        <p:cTn id="25" dur="indefinite"/>
                                        <p:tgtEl>
                                          <p:spTgt spid="17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218"/>
                                        </p:tgtEl>
                                        <p:attrNameLst>
                                          <p:attrName>style.visibility</p:attrName>
                                        </p:attrNameLst>
                                      </p:cBhvr>
                                      <p:to>
                                        <p:strVal val="visible"/>
                                      </p:to>
                                    </p:set>
                                    <p:animEffect transition="in" filter="slide(fromLeft)">
                                      <p:cBhvr>
                                        <p:cTn id="30" dur="5000"/>
                                        <p:tgtEl>
                                          <p:spTgt spid="218"/>
                                        </p:tgtEl>
                                      </p:cBhvr>
                                    </p:animEffect>
                                  </p:childTnLst>
                                </p:cTn>
                              </p:par>
                              <p:par>
                                <p:cTn id="31" presetID="12" presetClass="entr" presetSubtype="4" fill="hold" grpId="0" nodeType="withEffect">
                                  <p:stCondLst>
                                    <p:cond delay="500"/>
                                  </p:stCondLst>
                                  <p:childTnLst>
                                    <p:set>
                                      <p:cBhvr>
                                        <p:cTn id="32" dur="1" fill="hold">
                                          <p:stCondLst>
                                            <p:cond delay="0"/>
                                          </p:stCondLst>
                                        </p:cTn>
                                        <p:tgtEl>
                                          <p:spTgt spid="187"/>
                                        </p:tgtEl>
                                        <p:attrNameLst>
                                          <p:attrName>style.visibility</p:attrName>
                                        </p:attrNameLst>
                                      </p:cBhvr>
                                      <p:to>
                                        <p:strVal val="visible"/>
                                      </p:to>
                                    </p:set>
                                    <p:animEffect transition="in" filter="slide(fromBottom)">
                                      <p:cBhvr>
                                        <p:cTn id="33" dur="5000"/>
                                        <p:tgtEl>
                                          <p:spTgt spid="187"/>
                                        </p:tgtEl>
                                      </p:cBhvr>
                                    </p:animEffect>
                                  </p:childTnLst>
                                </p:cTn>
                              </p:par>
                              <p:par>
                                <p:cTn id="34" presetID="19" presetClass="entr" presetSubtype="10" fill="hold" nodeType="withEffect">
                                  <p:stCondLst>
                                    <p:cond delay="500"/>
                                  </p:stCondLst>
                                  <p:childTnLst>
                                    <p:set>
                                      <p:cBhvr>
                                        <p:cTn id="35" dur="1" fill="hold">
                                          <p:stCondLst>
                                            <p:cond delay="0"/>
                                          </p:stCondLst>
                                        </p:cTn>
                                        <p:tgtEl>
                                          <p:spTgt spid="188"/>
                                        </p:tgtEl>
                                        <p:attrNameLst>
                                          <p:attrName>style.visibility</p:attrName>
                                        </p:attrNameLst>
                                      </p:cBhvr>
                                      <p:to>
                                        <p:strVal val="visible"/>
                                      </p:to>
                                    </p:set>
                                    <p:anim calcmode="lin" valueType="num">
                                      <p:cBhvr>
                                        <p:cTn id="36" dur="5000" fill="hold"/>
                                        <p:tgtEl>
                                          <p:spTgt spid="188"/>
                                        </p:tgtEl>
                                        <p:attrNameLst>
                                          <p:attrName>ppt_w</p:attrName>
                                        </p:attrNameLst>
                                      </p:cBhvr>
                                      <p:tavLst>
                                        <p:tav tm="0" fmla="#ppt_w*sin(2.5*pi*$)">
                                          <p:val>
                                            <p:fltVal val="0"/>
                                          </p:val>
                                        </p:tav>
                                        <p:tav tm="100000">
                                          <p:val>
                                            <p:fltVal val="1"/>
                                          </p:val>
                                        </p:tav>
                                      </p:tavLst>
                                    </p:anim>
                                    <p:anim calcmode="lin" valueType="num">
                                      <p:cBhvr>
                                        <p:cTn id="37" dur="5000" fill="hold"/>
                                        <p:tgtEl>
                                          <p:spTgt spid="188"/>
                                        </p:tgtEl>
                                        <p:attrNameLst>
                                          <p:attrName>ppt_h</p:attrName>
                                        </p:attrNameLst>
                                      </p:cBhvr>
                                      <p:tavLst>
                                        <p:tav tm="0">
                                          <p:val>
                                            <p:strVal val="#ppt_h"/>
                                          </p:val>
                                        </p:tav>
                                        <p:tav tm="100000">
                                          <p:val>
                                            <p:strVal val="#ppt_h"/>
                                          </p:val>
                                        </p:tav>
                                      </p:tavLst>
                                    </p:anim>
                                  </p:childTnLst>
                                </p:cTn>
                              </p:par>
                              <p:par>
                                <p:cTn id="38" presetID="12" presetClass="entr" presetSubtype="8" fill="hold" grpId="0" nodeType="withEffect">
                                  <p:stCondLst>
                                    <p:cond delay="500"/>
                                  </p:stCondLst>
                                  <p:childTnLst>
                                    <p:set>
                                      <p:cBhvr>
                                        <p:cTn id="39" dur="1" fill="hold">
                                          <p:stCondLst>
                                            <p:cond delay="0"/>
                                          </p:stCondLst>
                                        </p:cTn>
                                        <p:tgtEl>
                                          <p:spTgt spid="217"/>
                                        </p:tgtEl>
                                        <p:attrNameLst>
                                          <p:attrName>style.visibility</p:attrName>
                                        </p:attrNameLst>
                                      </p:cBhvr>
                                      <p:to>
                                        <p:strVal val="visible"/>
                                      </p:to>
                                    </p:set>
                                    <p:animEffect transition="in" filter="slide(fromLeft)">
                                      <p:cBhvr>
                                        <p:cTn id="40" dur="5000"/>
                                        <p:tgtEl>
                                          <p:spTgt spid="217"/>
                                        </p:tgtEl>
                                      </p:cBhvr>
                                    </p:animEffect>
                                  </p:childTnLst>
                                </p:cTn>
                              </p:par>
                              <p:par>
                                <p:cTn id="41" presetID="12" presetClass="entr" presetSubtype="4" fill="hold" grpId="0" nodeType="withEffect">
                                  <p:stCondLst>
                                    <p:cond delay="500"/>
                                  </p:stCondLst>
                                  <p:childTnLst>
                                    <p:set>
                                      <p:cBhvr>
                                        <p:cTn id="42" dur="1" fill="hold">
                                          <p:stCondLst>
                                            <p:cond delay="0"/>
                                          </p:stCondLst>
                                        </p:cTn>
                                        <p:tgtEl>
                                          <p:spTgt spid="189"/>
                                        </p:tgtEl>
                                        <p:attrNameLst>
                                          <p:attrName>style.visibility</p:attrName>
                                        </p:attrNameLst>
                                      </p:cBhvr>
                                      <p:to>
                                        <p:strVal val="visible"/>
                                      </p:to>
                                    </p:set>
                                    <p:animEffect transition="in" filter="slide(fromBottom)">
                                      <p:cBhvr>
                                        <p:cTn id="43" dur="5000"/>
                                        <p:tgtEl>
                                          <p:spTgt spid="189"/>
                                        </p:tgtEl>
                                      </p:cBhvr>
                                    </p:animEffect>
                                  </p:childTnLst>
                                </p:cTn>
                              </p:par>
                              <p:par>
                                <p:cTn id="44" presetID="19" presetClass="entr" presetSubtype="10" fill="hold" grpId="0" nodeType="withEffect">
                                  <p:stCondLst>
                                    <p:cond delay="500"/>
                                  </p:stCondLst>
                                  <p:childTnLst>
                                    <p:set>
                                      <p:cBhvr>
                                        <p:cTn id="45" dur="1" fill="hold">
                                          <p:stCondLst>
                                            <p:cond delay="0"/>
                                          </p:stCondLst>
                                        </p:cTn>
                                        <p:tgtEl>
                                          <p:spTgt spid="190"/>
                                        </p:tgtEl>
                                        <p:attrNameLst>
                                          <p:attrName>style.visibility</p:attrName>
                                        </p:attrNameLst>
                                      </p:cBhvr>
                                      <p:to>
                                        <p:strVal val="visible"/>
                                      </p:to>
                                    </p:set>
                                    <p:anim calcmode="lin" valueType="num">
                                      <p:cBhvr>
                                        <p:cTn id="46" dur="5000" fill="hold"/>
                                        <p:tgtEl>
                                          <p:spTgt spid="190"/>
                                        </p:tgtEl>
                                        <p:attrNameLst>
                                          <p:attrName>ppt_w</p:attrName>
                                        </p:attrNameLst>
                                      </p:cBhvr>
                                      <p:tavLst>
                                        <p:tav tm="0" fmla="#ppt_w*sin(2.5*pi*$)">
                                          <p:val>
                                            <p:fltVal val="0"/>
                                          </p:val>
                                        </p:tav>
                                        <p:tav tm="100000">
                                          <p:val>
                                            <p:fltVal val="1"/>
                                          </p:val>
                                        </p:tav>
                                      </p:tavLst>
                                    </p:anim>
                                    <p:anim calcmode="lin" valueType="num">
                                      <p:cBhvr>
                                        <p:cTn id="47" dur="5000" fill="hold"/>
                                        <p:tgtEl>
                                          <p:spTgt spid="190"/>
                                        </p:tgtEl>
                                        <p:attrNameLst>
                                          <p:attrName>ppt_h</p:attrName>
                                        </p:attrNameLst>
                                      </p:cBhvr>
                                      <p:tavLst>
                                        <p:tav tm="0">
                                          <p:val>
                                            <p:strVal val="#ppt_h"/>
                                          </p:val>
                                        </p:tav>
                                        <p:tav tm="100000">
                                          <p:val>
                                            <p:strVal val="#ppt_h"/>
                                          </p:val>
                                        </p:tav>
                                      </p:tavLst>
                                    </p:anim>
                                  </p:childTnLst>
                                </p:cTn>
                              </p:par>
                              <p:par>
                                <p:cTn id="48" presetID="19" presetClass="entr" presetSubtype="10" fill="hold" grpId="0" nodeType="withEffect">
                                  <p:stCondLst>
                                    <p:cond delay="500"/>
                                  </p:stCondLst>
                                  <p:childTnLst>
                                    <p:set>
                                      <p:cBhvr>
                                        <p:cTn id="49" dur="1" fill="hold">
                                          <p:stCondLst>
                                            <p:cond delay="0"/>
                                          </p:stCondLst>
                                        </p:cTn>
                                        <p:tgtEl>
                                          <p:spTgt spid="191"/>
                                        </p:tgtEl>
                                        <p:attrNameLst>
                                          <p:attrName>style.visibility</p:attrName>
                                        </p:attrNameLst>
                                      </p:cBhvr>
                                      <p:to>
                                        <p:strVal val="visible"/>
                                      </p:to>
                                    </p:set>
                                    <p:anim calcmode="lin" valueType="num">
                                      <p:cBhvr>
                                        <p:cTn id="50" dur="5000" fill="hold"/>
                                        <p:tgtEl>
                                          <p:spTgt spid="191"/>
                                        </p:tgtEl>
                                        <p:attrNameLst>
                                          <p:attrName>ppt_w</p:attrName>
                                        </p:attrNameLst>
                                      </p:cBhvr>
                                      <p:tavLst>
                                        <p:tav tm="0" fmla="#ppt_w*sin(2.5*pi*$)">
                                          <p:val>
                                            <p:fltVal val="0"/>
                                          </p:val>
                                        </p:tav>
                                        <p:tav tm="100000">
                                          <p:val>
                                            <p:fltVal val="1"/>
                                          </p:val>
                                        </p:tav>
                                      </p:tavLst>
                                    </p:anim>
                                    <p:anim calcmode="lin" valueType="num">
                                      <p:cBhvr>
                                        <p:cTn id="51" dur="5000" fill="hold"/>
                                        <p:tgtEl>
                                          <p:spTgt spid="1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par>
                                <p:cTn id="52" presetID="19" presetClass="entr" presetSubtype="10" fill="hold" grpId="0" nodeType="withEffect">
                                  <p:stCondLst>
                                    <p:cond delay="500"/>
                                  </p:stCondLst>
                                  <p:childTnLst>
                                    <p:set>
                                      <p:cBhvr>
                                        <p:cTn id="53" dur="1" fill="hold">
                                          <p:stCondLst>
                                            <p:cond delay="0"/>
                                          </p:stCondLst>
                                        </p:cTn>
                                        <p:tgtEl>
                                          <p:spTgt spid="192"/>
                                        </p:tgtEl>
                                        <p:attrNameLst>
                                          <p:attrName>style.visibility</p:attrName>
                                        </p:attrNameLst>
                                      </p:cBhvr>
                                      <p:to>
                                        <p:strVal val="visible"/>
                                      </p:to>
                                    </p:set>
                                    <p:anim calcmode="lin" valueType="num">
                                      <p:cBhvr>
                                        <p:cTn id="54" dur="5000" fill="hold"/>
                                        <p:tgtEl>
                                          <p:spTgt spid="192"/>
                                        </p:tgtEl>
                                        <p:attrNameLst>
                                          <p:attrName>ppt_w</p:attrName>
                                        </p:attrNameLst>
                                      </p:cBhvr>
                                      <p:tavLst>
                                        <p:tav tm="0" fmla="#ppt_w*sin(2.5*pi*$)">
                                          <p:val>
                                            <p:fltVal val="0"/>
                                          </p:val>
                                        </p:tav>
                                        <p:tav tm="100000">
                                          <p:val>
                                            <p:fltVal val="1"/>
                                          </p:val>
                                        </p:tav>
                                      </p:tavLst>
                                    </p:anim>
                                    <p:anim calcmode="lin" valueType="num">
                                      <p:cBhvr>
                                        <p:cTn id="55" dur="5000" fill="hold"/>
                                        <p:tgtEl>
                                          <p:spTgt spid="19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par>
                                <p:cTn id="56" presetID="15" presetClass="entr" presetSubtype="0" fill="hold" grpId="0" nodeType="withEffect">
                                  <p:stCondLst>
                                    <p:cond delay="0"/>
                                  </p:stCondLst>
                                  <p:childTnLst>
                                    <p:set>
                                      <p:cBhvr>
                                        <p:cTn id="57" dur="1" fill="hold">
                                          <p:stCondLst>
                                            <p:cond delay="0"/>
                                          </p:stCondLst>
                                        </p:cTn>
                                        <p:tgtEl>
                                          <p:spTgt spid="203"/>
                                        </p:tgtEl>
                                        <p:attrNameLst>
                                          <p:attrName>style.visibility</p:attrName>
                                        </p:attrNameLst>
                                      </p:cBhvr>
                                      <p:to>
                                        <p:strVal val="visible"/>
                                      </p:to>
                                    </p:set>
                                    <p:anim calcmode="lin" valueType="num">
                                      <p:cBhvr>
                                        <p:cTn id="58" dur="2000" fill="hold"/>
                                        <p:tgtEl>
                                          <p:spTgt spid="203"/>
                                        </p:tgtEl>
                                        <p:attrNameLst>
                                          <p:attrName>ppt_w</p:attrName>
                                        </p:attrNameLst>
                                      </p:cBhvr>
                                      <p:tavLst>
                                        <p:tav tm="0">
                                          <p:val>
                                            <p:fltVal val="0"/>
                                          </p:val>
                                        </p:tav>
                                        <p:tav tm="100000">
                                          <p:val>
                                            <p:strVal val="#ppt_w"/>
                                          </p:val>
                                        </p:tav>
                                      </p:tavLst>
                                    </p:anim>
                                    <p:anim calcmode="lin" valueType="num">
                                      <p:cBhvr>
                                        <p:cTn id="59" dur="2000" fill="hold"/>
                                        <p:tgtEl>
                                          <p:spTgt spid="203"/>
                                        </p:tgtEl>
                                        <p:attrNameLst>
                                          <p:attrName>ppt_h</p:attrName>
                                        </p:attrNameLst>
                                      </p:cBhvr>
                                      <p:tavLst>
                                        <p:tav tm="0">
                                          <p:val>
                                            <p:fltVal val="0"/>
                                          </p:val>
                                        </p:tav>
                                        <p:tav tm="100000">
                                          <p:val>
                                            <p:strVal val="#ppt_h"/>
                                          </p:val>
                                        </p:tav>
                                      </p:tavLst>
                                    </p:anim>
                                    <p:anim calcmode="lin" valueType="num">
                                      <p:cBhvr>
                                        <p:cTn id="60" dur="2000" fill="hold"/>
                                        <p:tgtEl>
                                          <p:spTgt spid="203"/>
                                        </p:tgtEl>
                                        <p:attrNameLst>
                                          <p:attrName>ppt_x</p:attrName>
                                        </p:attrNameLst>
                                      </p:cBhvr>
                                      <p:tavLst>
                                        <p:tav tm="0" fmla="#ppt_x+(cos(-2*pi*(1-$))*-#ppt_x-sin(-2*pi*(1-$))*(1-#ppt_y))*(1-$)">
                                          <p:val>
                                            <p:fltVal val="0"/>
                                          </p:val>
                                        </p:tav>
                                        <p:tav tm="100000">
                                          <p:val>
                                            <p:fltVal val="1"/>
                                          </p:val>
                                        </p:tav>
                                      </p:tavLst>
                                    </p:anim>
                                    <p:anim calcmode="lin" valueType="num">
                                      <p:cBhvr>
                                        <p:cTn id="61" dur="2000" fill="hold"/>
                                        <p:tgtEl>
                                          <p:spTgt spid="20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par>
                                <p:cTn id="62" presetID="19" presetClass="entr" presetSubtype="10" fill="hold" grpId="0" nodeType="withEffect">
                                  <p:stCondLst>
                                    <p:cond delay="0"/>
                                  </p:stCondLst>
                                  <p:childTnLst>
                                    <p:set>
                                      <p:cBhvr>
                                        <p:cTn id="63" dur="1" fill="hold">
                                          <p:stCondLst>
                                            <p:cond delay="0"/>
                                          </p:stCondLst>
                                        </p:cTn>
                                        <p:tgtEl>
                                          <p:spTgt spid="202"/>
                                        </p:tgtEl>
                                        <p:attrNameLst>
                                          <p:attrName>style.visibility</p:attrName>
                                        </p:attrNameLst>
                                      </p:cBhvr>
                                      <p:to>
                                        <p:strVal val="visible"/>
                                      </p:to>
                                    </p:set>
                                    <p:anim calcmode="lin" valueType="num">
                                      <p:cBhvr>
                                        <p:cTn id="64" dur="5000" fill="hold"/>
                                        <p:tgtEl>
                                          <p:spTgt spid="202"/>
                                        </p:tgtEl>
                                        <p:attrNameLst>
                                          <p:attrName>ppt_w</p:attrName>
                                        </p:attrNameLst>
                                      </p:cBhvr>
                                      <p:tavLst>
                                        <p:tav tm="0" fmla="#ppt_w*sin(2.5*pi*$)">
                                          <p:val>
                                            <p:fltVal val="0"/>
                                          </p:val>
                                        </p:tav>
                                        <p:tav tm="100000">
                                          <p:val>
                                            <p:fltVal val="1"/>
                                          </p:val>
                                        </p:tav>
                                      </p:tavLst>
                                    </p:anim>
                                    <p:anim calcmode="lin" valueType="num">
                                      <p:cBhvr>
                                        <p:cTn id="65"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6" fill="hold">
                            <p:stCondLst>
                              <p:cond delay="5500"/>
                            </p:stCondLst>
                            <p:childTnLst>
                              <p:par>
                                <p:cTn id="67" presetID="15" presetClass="entr" presetSubtype="0" fill="hold" grpId="0" nodeType="afterEffect">
                                  <p:stCondLst>
                                    <p:cond delay="0"/>
                                  </p:stCondLst>
                                  <p:childTnLst>
                                    <p:set>
                                      <p:cBhvr>
                                        <p:cTn id="68" dur="1" fill="hold">
                                          <p:stCondLst>
                                            <p:cond delay="0"/>
                                          </p:stCondLst>
                                        </p:cTn>
                                        <p:tgtEl>
                                          <p:spTgt spid="205"/>
                                        </p:tgtEl>
                                        <p:attrNameLst>
                                          <p:attrName>style.visibility</p:attrName>
                                        </p:attrNameLst>
                                      </p:cBhvr>
                                      <p:to>
                                        <p:strVal val="visible"/>
                                      </p:to>
                                    </p:set>
                                    <p:anim calcmode="lin" valueType="num">
                                      <p:cBhvr>
                                        <p:cTn id="69" dur="3000" fill="hold"/>
                                        <p:tgtEl>
                                          <p:spTgt spid="205"/>
                                        </p:tgtEl>
                                        <p:attrNameLst>
                                          <p:attrName>ppt_w</p:attrName>
                                        </p:attrNameLst>
                                      </p:cBhvr>
                                      <p:tavLst>
                                        <p:tav tm="0">
                                          <p:val>
                                            <p:fltVal val="0"/>
                                          </p:val>
                                        </p:tav>
                                        <p:tav tm="100000">
                                          <p:val>
                                            <p:strVal val="#ppt_w"/>
                                          </p:val>
                                        </p:tav>
                                      </p:tavLst>
                                    </p:anim>
                                    <p:anim calcmode="lin" valueType="num">
                                      <p:cBhvr>
                                        <p:cTn id="70" dur="3000" fill="hold"/>
                                        <p:tgtEl>
                                          <p:spTgt spid="205"/>
                                        </p:tgtEl>
                                        <p:attrNameLst>
                                          <p:attrName>ppt_h</p:attrName>
                                        </p:attrNameLst>
                                      </p:cBhvr>
                                      <p:tavLst>
                                        <p:tav tm="0">
                                          <p:val>
                                            <p:fltVal val="0"/>
                                          </p:val>
                                        </p:tav>
                                        <p:tav tm="100000">
                                          <p:val>
                                            <p:strVal val="#ppt_h"/>
                                          </p:val>
                                        </p:tav>
                                      </p:tavLst>
                                    </p:anim>
                                    <p:anim calcmode="lin" valueType="num">
                                      <p:cBhvr>
                                        <p:cTn id="71" dur="3000" fill="hold"/>
                                        <p:tgtEl>
                                          <p:spTgt spid="205"/>
                                        </p:tgtEl>
                                        <p:attrNameLst>
                                          <p:attrName>ppt_x</p:attrName>
                                        </p:attrNameLst>
                                      </p:cBhvr>
                                      <p:tavLst>
                                        <p:tav tm="0" fmla="#ppt_x+(cos(-2*pi*(1-$))*-#ppt_x-sin(-2*pi*(1-$))*(1-#ppt_y))*(1-$)">
                                          <p:val>
                                            <p:fltVal val="0"/>
                                          </p:val>
                                        </p:tav>
                                        <p:tav tm="100000">
                                          <p:val>
                                            <p:fltVal val="1"/>
                                          </p:val>
                                        </p:tav>
                                      </p:tavLst>
                                    </p:anim>
                                    <p:anim calcmode="lin" valueType="num">
                                      <p:cBhvr>
                                        <p:cTn id="72" dur="3000" fill="hold"/>
                                        <p:tgtEl>
                                          <p:spTgt spid="20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7"/>
                                            </p:cond>
                                          </p:stCondLst>
                                          <p:endCondLst>
                                            <p:cond evt="onStopAudio" delay="0">
                                              <p:tgtEl>
                                                <p:sldTgt/>
                                              </p:tgtEl>
                                            </p:cond>
                                          </p:endCondLst>
                                        </p:cTn>
                                        <p:tgtEl>
                                          <p:sndTgt r:embed="rId4" name="CHIMES.WAV"/>
                                        </p:tgtEl>
                                      </p:cMediaNode>
                                    </p:audio>
                                  </p:subTnLst>
                                </p:cTn>
                              </p:par>
                              <p:par>
                                <p:cTn id="73" presetID="19" presetClass="entr" presetSubtype="10" fill="hold" grpId="0" nodeType="withEffect">
                                  <p:stCondLst>
                                    <p:cond delay="0"/>
                                  </p:stCondLst>
                                  <p:childTnLst>
                                    <p:set>
                                      <p:cBhvr>
                                        <p:cTn id="74" dur="1" fill="hold">
                                          <p:stCondLst>
                                            <p:cond delay="0"/>
                                          </p:stCondLst>
                                        </p:cTn>
                                        <p:tgtEl>
                                          <p:spTgt spid="196"/>
                                        </p:tgtEl>
                                        <p:attrNameLst>
                                          <p:attrName>style.visibility</p:attrName>
                                        </p:attrNameLst>
                                      </p:cBhvr>
                                      <p:to>
                                        <p:strVal val="visible"/>
                                      </p:to>
                                    </p:set>
                                    <p:anim calcmode="lin" valueType="num">
                                      <p:cBhvr>
                                        <p:cTn id="75" dur="5000" fill="hold"/>
                                        <p:tgtEl>
                                          <p:spTgt spid="196"/>
                                        </p:tgtEl>
                                        <p:attrNameLst>
                                          <p:attrName>ppt_w</p:attrName>
                                        </p:attrNameLst>
                                      </p:cBhvr>
                                      <p:tavLst>
                                        <p:tav tm="0" fmla="#ppt_w*sin(2.5*pi*$)">
                                          <p:val>
                                            <p:fltVal val="0"/>
                                          </p:val>
                                        </p:tav>
                                        <p:tav tm="100000">
                                          <p:val>
                                            <p:fltVal val="1"/>
                                          </p:val>
                                        </p:tav>
                                      </p:tavLst>
                                    </p:anim>
                                    <p:anim calcmode="lin" valueType="num">
                                      <p:cBhvr>
                                        <p:cTn id="76" dur="5000" fill="hold"/>
                                        <p:tgtEl>
                                          <p:spTgt spid="19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3"/>
                                            </p:cond>
                                          </p:stCondLst>
                                          <p:endCondLst>
                                            <p:cond evt="onStopAudio" delay="0">
                                              <p:tgtEl>
                                                <p:sldTgt/>
                                              </p:tgtEl>
                                            </p:cond>
                                          </p:endCondLst>
                                        </p:cTn>
                                        <p:tgtEl>
                                          <p:sndTgt r:embed="rId4" name="CHIMES.WAV"/>
                                        </p:tgtEl>
                                      </p:cMediaNode>
                                    </p:audio>
                                  </p:subTnLst>
                                </p:cTn>
                              </p:par>
                              <p:par>
                                <p:cTn id="77" presetID="15" presetClass="entr" presetSubtype="0" fill="hold" grpId="0" nodeType="withEffect">
                                  <p:stCondLst>
                                    <p:cond delay="0"/>
                                  </p:stCondLst>
                                  <p:childTnLst>
                                    <p:set>
                                      <p:cBhvr>
                                        <p:cTn id="78" dur="1" fill="hold">
                                          <p:stCondLst>
                                            <p:cond delay="0"/>
                                          </p:stCondLst>
                                        </p:cTn>
                                        <p:tgtEl>
                                          <p:spTgt spid="216"/>
                                        </p:tgtEl>
                                        <p:attrNameLst>
                                          <p:attrName>style.visibility</p:attrName>
                                        </p:attrNameLst>
                                      </p:cBhvr>
                                      <p:to>
                                        <p:strVal val="visible"/>
                                      </p:to>
                                    </p:set>
                                    <p:anim calcmode="lin" valueType="num">
                                      <p:cBhvr>
                                        <p:cTn id="79" dur="3000" fill="hold"/>
                                        <p:tgtEl>
                                          <p:spTgt spid="216"/>
                                        </p:tgtEl>
                                        <p:attrNameLst>
                                          <p:attrName>ppt_w</p:attrName>
                                        </p:attrNameLst>
                                      </p:cBhvr>
                                      <p:tavLst>
                                        <p:tav tm="0">
                                          <p:val>
                                            <p:fltVal val="0"/>
                                          </p:val>
                                        </p:tav>
                                        <p:tav tm="100000">
                                          <p:val>
                                            <p:strVal val="#ppt_w"/>
                                          </p:val>
                                        </p:tav>
                                      </p:tavLst>
                                    </p:anim>
                                    <p:anim calcmode="lin" valueType="num">
                                      <p:cBhvr>
                                        <p:cTn id="80" dur="3000" fill="hold"/>
                                        <p:tgtEl>
                                          <p:spTgt spid="216"/>
                                        </p:tgtEl>
                                        <p:attrNameLst>
                                          <p:attrName>ppt_h</p:attrName>
                                        </p:attrNameLst>
                                      </p:cBhvr>
                                      <p:tavLst>
                                        <p:tav tm="0">
                                          <p:val>
                                            <p:fltVal val="0"/>
                                          </p:val>
                                        </p:tav>
                                        <p:tav tm="100000">
                                          <p:val>
                                            <p:strVal val="#ppt_h"/>
                                          </p:val>
                                        </p:tav>
                                      </p:tavLst>
                                    </p:anim>
                                    <p:anim calcmode="lin" valueType="num">
                                      <p:cBhvr>
                                        <p:cTn id="81" dur="3000" fill="hold"/>
                                        <p:tgtEl>
                                          <p:spTgt spid="216"/>
                                        </p:tgtEl>
                                        <p:attrNameLst>
                                          <p:attrName>ppt_x</p:attrName>
                                        </p:attrNameLst>
                                      </p:cBhvr>
                                      <p:tavLst>
                                        <p:tav tm="0" fmla="#ppt_x+(cos(-2*pi*(1-$))*-#ppt_x-sin(-2*pi*(1-$))*(1-#ppt_y))*(1-$)">
                                          <p:val>
                                            <p:fltVal val="0"/>
                                          </p:val>
                                        </p:tav>
                                        <p:tav tm="100000">
                                          <p:val>
                                            <p:fltVal val="1"/>
                                          </p:val>
                                        </p:tav>
                                      </p:tavLst>
                                    </p:anim>
                                    <p:anim calcmode="lin" valueType="num">
                                      <p:cBhvr>
                                        <p:cTn id="82" dur="3000" fill="hold"/>
                                        <p:tgtEl>
                                          <p:spTgt spid="21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7"/>
                                            </p:cond>
                                          </p:stCondLst>
                                          <p:endCondLst>
                                            <p:cond evt="onStopAudio" delay="0">
                                              <p:tgtEl>
                                                <p:sldTgt/>
                                              </p:tgtEl>
                                            </p:cond>
                                          </p:endCondLst>
                                        </p:cTn>
                                        <p:tgtEl>
                                          <p:sndTgt r:embed="rId4" name="CHIMES.WAV"/>
                                        </p:tgtEl>
                                      </p:cMediaNode>
                                    </p:audio>
                                  </p:subTnLst>
                                </p:cTn>
                              </p:par>
                            </p:childTnLst>
                          </p:cTn>
                        </p:par>
                        <p:par>
                          <p:cTn id="83" fill="hold">
                            <p:stCondLst>
                              <p:cond delay="10500"/>
                            </p:stCondLst>
                            <p:childTnLst>
                              <p:par>
                                <p:cTn id="84" presetID="15" presetClass="entr" presetSubtype="0" fill="hold" grpId="0" nodeType="afterEffect">
                                  <p:stCondLst>
                                    <p:cond delay="0"/>
                                  </p:stCondLst>
                                  <p:childTnLst>
                                    <p:set>
                                      <p:cBhvr>
                                        <p:cTn id="85" dur="1" fill="hold">
                                          <p:stCondLst>
                                            <p:cond delay="0"/>
                                          </p:stCondLst>
                                        </p:cTn>
                                        <p:tgtEl>
                                          <p:spTgt spid="211"/>
                                        </p:tgtEl>
                                        <p:attrNameLst>
                                          <p:attrName>style.visibility</p:attrName>
                                        </p:attrNameLst>
                                      </p:cBhvr>
                                      <p:to>
                                        <p:strVal val="visible"/>
                                      </p:to>
                                    </p:set>
                                    <p:anim calcmode="lin" valueType="num">
                                      <p:cBhvr>
                                        <p:cTn id="86" dur="3000" fill="hold"/>
                                        <p:tgtEl>
                                          <p:spTgt spid="211"/>
                                        </p:tgtEl>
                                        <p:attrNameLst>
                                          <p:attrName>ppt_w</p:attrName>
                                        </p:attrNameLst>
                                      </p:cBhvr>
                                      <p:tavLst>
                                        <p:tav tm="0">
                                          <p:val>
                                            <p:fltVal val="0"/>
                                          </p:val>
                                        </p:tav>
                                        <p:tav tm="100000">
                                          <p:val>
                                            <p:strVal val="#ppt_w"/>
                                          </p:val>
                                        </p:tav>
                                      </p:tavLst>
                                    </p:anim>
                                    <p:anim calcmode="lin" valueType="num">
                                      <p:cBhvr>
                                        <p:cTn id="87" dur="3000" fill="hold"/>
                                        <p:tgtEl>
                                          <p:spTgt spid="211"/>
                                        </p:tgtEl>
                                        <p:attrNameLst>
                                          <p:attrName>ppt_h</p:attrName>
                                        </p:attrNameLst>
                                      </p:cBhvr>
                                      <p:tavLst>
                                        <p:tav tm="0">
                                          <p:val>
                                            <p:fltVal val="0"/>
                                          </p:val>
                                        </p:tav>
                                        <p:tav tm="100000">
                                          <p:val>
                                            <p:strVal val="#ppt_h"/>
                                          </p:val>
                                        </p:tav>
                                      </p:tavLst>
                                    </p:anim>
                                    <p:anim calcmode="lin" valueType="num">
                                      <p:cBhvr>
                                        <p:cTn id="88" dur="3000" fill="hold"/>
                                        <p:tgtEl>
                                          <p:spTgt spid="211"/>
                                        </p:tgtEl>
                                        <p:attrNameLst>
                                          <p:attrName>ppt_x</p:attrName>
                                        </p:attrNameLst>
                                      </p:cBhvr>
                                      <p:tavLst>
                                        <p:tav tm="0" fmla="#ppt_x+(cos(-2*pi*(1-$))*-#ppt_x-sin(-2*pi*(1-$))*(1-#ppt_y))*(1-$)">
                                          <p:val>
                                            <p:fltVal val="0"/>
                                          </p:val>
                                        </p:tav>
                                        <p:tav tm="100000">
                                          <p:val>
                                            <p:fltVal val="1"/>
                                          </p:val>
                                        </p:tav>
                                      </p:tavLst>
                                    </p:anim>
                                    <p:anim calcmode="lin" valueType="num">
                                      <p:cBhvr>
                                        <p:cTn id="89" dur="3000" fill="hold"/>
                                        <p:tgtEl>
                                          <p:spTgt spid="21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par>
                                <p:cTn id="90" presetID="15" presetClass="entr" presetSubtype="0" fill="hold" grpId="0" nodeType="withEffect">
                                  <p:stCondLst>
                                    <p:cond delay="0"/>
                                  </p:stCondLst>
                                  <p:childTnLst>
                                    <p:set>
                                      <p:cBhvr>
                                        <p:cTn id="91" dur="1" fill="hold">
                                          <p:stCondLst>
                                            <p:cond delay="0"/>
                                          </p:stCondLst>
                                        </p:cTn>
                                        <p:tgtEl>
                                          <p:spTgt spid="204"/>
                                        </p:tgtEl>
                                        <p:attrNameLst>
                                          <p:attrName>style.visibility</p:attrName>
                                        </p:attrNameLst>
                                      </p:cBhvr>
                                      <p:to>
                                        <p:strVal val="visible"/>
                                      </p:to>
                                    </p:set>
                                    <p:anim calcmode="lin" valueType="num">
                                      <p:cBhvr>
                                        <p:cTn id="92" dur="2000" fill="hold"/>
                                        <p:tgtEl>
                                          <p:spTgt spid="204"/>
                                        </p:tgtEl>
                                        <p:attrNameLst>
                                          <p:attrName>ppt_w</p:attrName>
                                        </p:attrNameLst>
                                      </p:cBhvr>
                                      <p:tavLst>
                                        <p:tav tm="0">
                                          <p:val>
                                            <p:fltVal val="0"/>
                                          </p:val>
                                        </p:tav>
                                        <p:tav tm="100000">
                                          <p:val>
                                            <p:strVal val="#ppt_w"/>
                                          </p:val>
                                        </p:tav>
                                      </p:tavLst>
                                    </p:anim>
                                    <p:anim calcmode="lin" valueType="num">
                                      <p:cBhvr>
                                        <p:cTn id="93" dur="2000" fill="hold"/>
                                        <p:tgtEl>
                                          <p:spTgt spid="204"/>
                                        </p:tgtEl>
                                        <p:attrNameLst>
                                          <p:attrName>ppt_h</p:attrName>
                                        </p:attrNameLst>
                                      </p:cBhvr>
                                      <p:tavLst>
                                        <p:tav tm="0">
                                          <p:val>
                                            <p:fltVal val="0"/>
                                          </p:val>
                                        </p:tav>
                                        <p:tav tm="100000">
                                          <p:val>
                                            <p:strVal val="#ppt_h"/>
                                          </p:val>
                                        </p:tav>
                                      </p:tavLst>
                                    </p:anim>
                                    <p:anim calcmode="lin" valueType="num">
                                      <p:cBhvr>
                                        <p:cTn id="94" dur="2000" fill="hold"/>
                                        <p:tgtEl>
                                          <p:spTgt spid="204"/>
                                        </p:tgtEl>
                                        <p:attrNameLst>
                                          <p:attrName>ppt_x</p:attrName>
                                        </p:attrNameLst>
                                      </p:cBhvr>
                                      <p:tavLst>
                                        <p:tav tm="0" fmla="#ppt_x+(cos(-2*pi*(1-$))*-#ppt_x-sin(-2*pi*(1-$))*(1-#ppt_y))*(1-$)">
                                          <p:val>
                                            <p:fltVal val="0"/>
                                          </p:val>
                                        </p:tav>
                                        <p:tav tm="100000">
                                          <p:val>
                                            <p:fltVal val="1"/>
                                          </p:val>
                                        </p:tav>
                                      </p:tavLst>
                                    </p:anim>
                                    <p:anim calcmode="lin" valueType="num">
                                      <p:cBhvr>
                                        <p:cTn id="95" dur="2000" fill="hold"/>
                                        <p:tgtEl>
                                          <p:spTgt spid="20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par>
                          <p:cTn id="96" fill="hold">
                            <p:stCondLst>
                              <p:cond delay="13500"/>
                            </p:stCondLst>
                            <p:childTnLst>
                              <p:par>
                                <p:cTn id="97" presetID="15" presetClass="entr" presetSubtype="0" fill="hold" grpId="0" nodeType="afterEffect">
                                  <p:stCondLst>
                                    <p:cond delay="0"/>
                                  </p:stCondLst>
                                  <p:childTnLst>
                                    <p:set>
                                      <p:cBhvr>
                                        <p:cTn id="98" dur="1" fill="hold">
                                          <p:stCondLst>
                                            <p:cond delay="0"/>
                                          </p:stCondLst>
                                        </p:cTn>
                                        <p:tgtEl>
                                          <p:spTgt spid="206"/>
                                        </p:tgtEl>
                                        <p:attrNameLst>
                                          <p:attrName>style.visibility</p:attrName>
                                        </p:attrNameLst>
                                      </p:cBhvr>
                                      <p:to>
                                        <p:strVal val="visible"/>
                                      </p:to>
                                    </p:set>
                                    <p:anim calcmode="lin" valueType="num">
                                      <p:cBhvr>
                                        <p:cTn id="99" dur="3000" fill="hold"/>
                                        <p:tgtEl>
                                          <p:spTgt spid="206"/>
                                        </p:tgtEl>
                                        <p:attrNameLst>
                                          <p:attrName>ppt_w</p:attrName>
                                        </p:attrNameLst>
                                      </p:cBhvr>
                                      <p:tavLst>
                                        <p:tav tm="0">
                                          <p:val>
                                            <p:fltVal val="0"/>
                                          </p:val>
                                        </p:tav>
                                        <p:tav tm="100000">
                                          <p:val>
                                            <p:strVal val="#ppt_w"/>
                                          </p:val>
                                        </p:tav>
                                      </p:tavLst>
                                    </p:anim>
                                    <p:anim calcmode="lin" valueType="num">
                                      <p:cBhvr>
                                        <p:cTn id="100" dur="3000" fill="hold"/>
                                        <p:tgtEl>
                                          <p:spTgt spid="206"/>
                                        </p:tgtEl>
                                        <p:attrNameLst>
                                          <p:attrName>ppt_h</p:attrName>
                                        </p:attrNameLst>
                                      </p:cBhvr>
                                      <p:tavLst>
                                        <p:tav tm="0">
                                          <p:val>
                                            <p:fltVal val="0"/>
                                          </p:val>
                                        </p:tav>
                                        <p:tav tm="100000">
                                          <p:val>
                                            <p:strVal val="#ppt_h"/>
                                          </p:val>
                                        </p:tav>
                                      </p:tavLst>
                                    </p:anim>
                                    <p:anim calcmode="lin" valueType="num">
                                      <p:cBhvr>
                                        <p:cTn id="101" dur="3000" fill="hold"/>
                                        <p:tgtEl>
                                          <p:spTgt spid="206"/>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20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7"/>
                                            </p:cond>
                                          </p:stCondLst>
                                          <p:endCondLst>
                                            <p:cond evt="onStopAudio" delay="0">
                                              <p:tgtEl>
                                                <p:sldTgt/>
                                              </p:tgtEl>
                                            </p:cond>
                                          </p:endCondLst>
                                        </p:cTn>
                                        <p:tgtEl>
                                          <p:sndTgt r:embed="rId4" name="CHIMES.WAV"/>
                                        </p:tgtEl>
                                      </p:cMediaNode>
                                    </p:audio>
                                  </p:subTnLst>
                                </p:cTn>
                              </p:par>
                            </p:childTnLst>
                          </p:cTn>
                        </p:par>
                        <p:par>
                          <p:cTn id="103" fill="hold">
                            <p:stCondLst>
                              <p:cond delay="16500"/>
                            </p:stCondLst>
                            <p:childTnLst>
                              <p:par>
                                <p:cTn id="104" presetID="15" presetClass="entr" presetSubtype="0" fill="hold" grpId="0" nodeType="afterEffect">
                                  <p:stCondLst>
                                    <p:cond delay="0"/>
                                  </p:stCondLst>
                                  <p:childTnLst>
                                    <p:set>
                                      <p:cBhvr>
                                        <p:cTn id="105" dur="1" fill="hold">
                                          <p:stCondLst>
                                            <p:cond delay="0"/>
                                          </p:stCondLst>
                                        </p:cTn>
                                        <p:tgtEl>
                                          <p:spTgt spid="207"/>
                                        </p:tgtEl>
                                        <p:attrNameLst>
                                          <p:attrName>style.visibility</p:attrName>
                                        </p:attrNameLst>
                                      </p:cBhvr>
                                      <p:to>
                                        <p:strVal val="visible"/>
                                      </p:to>
                                    </p:set>
                                    <p:anim calcmode="lin" valueType="num">
                                      <p:cBhvr>
                                        <p:cTn id="106" dur="3000" fill="hold"/>
                                        <p:tgtEl>
                                          <p:spTgt spid="207"/>
                                        </p:tgtEl>
                                        <p:attrNameLst>
                                          <p:attrName>ppt_w</p:attrName>
                                        </p:attrNameLst>
                                      </p:cBhvr>
                                      <p:tavLst>
                                        <p:tav tm="0">
                                          <p:val>
                                            <p:fltVal val="0"/>
                                          </p:val>
                                        </p:tav>
                                        <p:tav tm="100000">
                                          <p:val>
                                            <p:strVal val="#ppt_w"/>
                                          </p:val>
                                        </p:tav>
                                      </p:tavLst>
                                    </p:anim>
                                    <p:anim calcmode="lin" valueType="num">
                                      <p:cBhvr>
                                        <p:cTn id="107" dur="3000" fill="hold"/>
                                        <p:tgtEl>
                                          <p:spTgt spid="207"/>
                                        </p:tgtEl>
                                        <p:attrNameLst>
                                          <p:attrName>ppt_h</p:attrName>
                                        </p:attrNameLst>
                                      </p:cBhvr>
                                      <p:tavLst>
                                        <p:tav tm="0">
                                          <p:val>
                                            <p:fltVal val="0"/>
                                          </p:val>
                                        </p:tav>
                                        <p:tav tm="100000">
                                          <p:val>
                                            <p:strVal val="#ppt_h"/>
                                          </p:val>
                                        </p:tav>
                                      </p:tavLst>
                                    </p:anim>
                                    <p:anim calcmode="lin" valueType="num">
                                      <p:cBhvr>
                                        <p:cTn id="108" dur="3000" fill="hold"/>
                                        <p:tgtEl>
                                          <p:spTgt spid="207"/>
                                        </p:tgtEl>
                                        <p:attrNameLst>
                                          <p:attrName>ppt_x</p:attrName>
                                        </p:attrNameLst>
                                      </p:cBhvr>
                                      <p:tavLst>
                                        <p:tav tm="0" fmla="#ppt_x+(cos(-2*pi*(1-$))*-#ppt_x-sin(-2*pi*(1-$))*(1-#ppt_y))*(1-$)">
                                          <p:val>
                                            <p:fltVal val="0"/>
                                          </p:val>
                                        </p:tav>
                                        <p:tav tm="100000">
                                          <p:val>
                                            <p:fltVal val="1"/>
                                          </p:val>
                                        </p:tav>
                                      </p:tavLst>
                                    </p:anim>
                                    <p:anim calcmode="lin" valueType="num">
                                      <p:cBhvr>
                                        <p:cTn id="109" dur="3000" fill="hold"/>
                                        <p:tgtEl>
                                          <p:spTgt spid="20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10" fill="hold">
                            <p:stCondLst>
                              <p:cond delay="19500"/>
                            </p:stCondLst>
                            <p:childTnLst>
                              <p:par>
                                <p:cTn id="111" presetID="19" presetClass="entr" presetSubtype="10" fill="hold" grpId="0" nodeType="afterEffect">
                                  <p:stCondLst>
                                    <p:cond delay="0"/>
                                  </p:stCondLst>
                                  <p:childTnLst>
                                    <p:set>
                                      <p:cBhvr>
                                        <p:cTn id="112" dur="1" fill="hold">
                                          <p:stCondLst>
                                            <p:cond delay="0"/>
                                          </p:stCondLst>
                                        </p:cTn>
                                        <p:tgtEl>
                                          <p:spTgt spid="212"/>
                                        </p:tgtEl>
                                        <p:attrNameLst>
                                          <p:attrName>style.visibility</p:attrName>
                                        </p:attrNameLst>
                                      </p:cBhvr>
                                      <p:to>
                                        <p:strVal val="visible"/>
                                      </p:to>
                                    </p:set>
                                    <p:anim calcmode="lin" valueType="num">
                                      <p:cBhvr>
                                        <p:cTn id="113" dur="5000" fill="hold"/>
                                        <p:tgtEl>
                                          <p:spTgt spid="212"/>
                                        </p:tgtEl>
                                        <p:attrNameLst>
                                          <p:attrName>ppt_w</p:attrName>
                                        </p:attrNameLst>
                                      </p:cBhvr>
                                      <p:tavLst>
                                        <p:tav tm="0" fmla="#ppt_w*sin(2.5*pi*$)">
                                          <p:val>
                                            <p:fltVal val="0"/>
                                          </p:val>
                                        </p:tav>
                                        <p:tav tm="100000">
                                          <p:val>
                                            <p:fltVal val="1"/>
                                          </p:val>
                                        </p:tav>
                                      </p:tavLst>
                                    </p:anim>
                                    <p:anim calcmode="lin" valueType="num">
                                      <p:cBhvr>
                                        <p:cTn id="114" dur="5000" fill="hold"/>
                                        <p:tgtEl>
                                          <p:spTgt spid="21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1"/>
                                            </p:cond>
                                          </p:stCondLst>
                                          <p:endCondLst>
                                            <p:cond evt="onStopAudio" delay="0">
                                              <p:tgtEl>
                                                <p:sldTgt/>
                                              </p:tgtEl>
                                            </p:cond>
                                          </p:endCondLst>
                                        </p:cTn>
                                        <p:tgtEl>
                                          <p:sndTgt r:embed="rId4" name="CHIMES.WAV"/>
                                        </p:tgtEl>
                                      </p:cMediaNode>
                                    </p:audio>
                                  </p:subTnLst>
                                </p:cTn>
                              </p:par>
                            </p:childTnLst>
                          </p:cTn>
                        </p:par>
                        <p:par>
                          <p:cTn id="115" fill="hold">
                            <p:stCondLst>
                              <p:cond delay="24500"/>
                            </p:stCondLst>
                            <p:childTnLst>
                              <p:par>
                                <p:cTn id="116" presetID="22" presetClass="entr" presetSubtype="8" fill="hold" grpId="0" nodeType="afterEffect">
                                  <p:stCondLst>
                                    <p:cond delay="0"/>
                                  </p:stCondLst>
                                  <p:childTnLst>
                                    <p:set>
                                      <p:cBhvr>
                                        <p:cTn id="117" dur="1" fill="hold">
                                          <p:stCondLst>
                                            <p:cond delay="0"/>
                                          </p:stCondLst>
                                        </p:cTn>
                                        <p:tgtEl>
                                          <p:spTgt spid="195"/>
                                        </p:tgtEl>
                                        <p:attrNameLst>
                                          <p:attrName>style.visibility</p:attrName>
                                        </p:attrNameLst>
                                      </p:cBhvr>
                                      <p:to>
                                        <p:strVal val="visible"/>
                                      </p:to>
                                    </p:set>
                                    <p:animEffect transition="in" filter="wipe(left)">
                                      <p:cBhvr>
                                        <p:cTn id="118" dur="5000"/>
                                        <p:tgtEl>
                                          <p:spTgt spid="195"/>
                                        </p:tgtEl>
                                      </p:cBhvr>
                                    </p:animEffect>
                                  </p:childTnLst>
                                </p:cTn>
                              </p:par>
                            </p:childTnLst>
                          </p:cTn>
                        </p:par>
                        <p:par>
                          <p:cTn id="119" fill="hold">
                            <p:stCondLst>
                              <p:cond delay="29500"/>
                            </p:stCondLst>
                            <p:childTnLst>
                              <p:par>
                                <p:cTn id="120" presetID="22" presetClass="entr" presetSubtype="8" fill="hold" grpId="0" nodeType="afterEffect">
                                  <p:stCondLst>
                                    <p:cond delay="0"/>
                                  </p:stCondLst>
                                  <p:childTnLst>
                                    <p:set>
                                      <p:cBhvr>
                                        <p:cTn id="121" dur="1" fill="hold">
                                          <p:stCondLst>
                                            <p:cond delay="0"/>
                                          </p:stCondLst>
                                        </p:cTn>
                                        <p:tgtEl>
                                          <p:spTgt spid="194"/>
                                        </p:tgtEl>
                                        <p:attrNameLst>
                                          <p:attrName>style.visibility</p:attrName>
                                        </p:attrNameLst>
                                      </p:cBhvr>
                                      <p:to>
                                        <p:strVal val="visible"/>
                                      </p:to>
                                    </p:set>
                                    <p:animEffect transition="in" filter="wipe(left)">
                                      <p:cBhvr>
                                        <p:cTn id="122" dur="5000"/>
                                        <p:tgtEl>
                                          <p:spTgt spid="194"/>
                                        </p:tgtEl>
                                      </p:cBhvr>
                                    </p:animEffect>
                                  </p:childTnLst>
                                </p:cTn>
                              </p:par>
                            </p:childTnLst>
                          </p:cTn>
                        </p:par>
                        <p:par>
                          <p:cTn id="123" fill="hold">
                            <p:stCondLst>
                              <p:cond delay="34500"/>
                            </p:stCondLst>
                            <p:childTnLst>
                              <p:par>
                                <p:cTn id="124" presetID="15" presetClass="entr" presetSubtype="0" fill="hold" nodeType="afterEffect">
                                  <p:stCondLst>
                                    <p:cond delay="0"/>
                                  </p:stCondLst>
                                  <p:childTnLst>
                                    <p:set>
                                      <p:cBhvr>
                                        <p:cTn id="125" dur="1" fill="hold">
                                          <p:stCondLst>
                                            <p:cond delay="0"/>
                                          </p:stCondLst>
                                        </p:cTn>
                                        <p:tgtEl>
                                          <p:spTgt spid="213"/>
                                        </p:tgtEl>
                                        <p:attrNameLst>
                                          <p:attrName>style.visibility</p:attrName>
                                        </p:attrNameLst>
                                      </p:cBhvr>
                                      <p:to>
                                        <p:strVal val="visible"/>
                                      </p:to>
                                    </p:set>
                                    <p:anim calcmode="lin" valueType="num">
                                      <p:cBhvr>
                                        <p:cTn id="126" dur="3000" fill="hold"/>
                                        <p:tgtEl>
                                          <p:spTgt spid="213"/>
                                        </p:tgtEl>
                                        <p:attrNameLst>
                                          <p:attrName>ppt_w</p:attrName>
                                        </p:attrNameLst>
                                      </p:cBhvr>
                                      <p:tavLst>
                                        <p:tav tm="0">
                                          <p:val>
                                            <p:fltVal val="0"/>
                                          </p:val>
                                        </p:tav>
                                        <p:tav tm="100000">
                                          <p:val>
                                            <p:strVal val="#ppt_w"/>
                                          </p:val>
                                        </p:tav>
                                      </p:tavLst>
                                    </p:anim>
                                    <p:anim calcmode="lin" valueType="num">
                                      <p:cBhvr>
                                        <p:cTn id="127" dur="3000" fill="hold"/>
                                        <p:tgtEl>
                                          <p:spTgt spid="213"/>
                                        </p:tgtEl>
                                        <p:attrNameLst>
                                          <p:attrName>ppt_h</p:attrName>
                                        </p:attrNameLst>
                                      </p:cBhvr>
                                      <p:tavLst>
                                        <p:tav tm="0">
                                          <p:val>
                                            <p:fltVal val="0"/>
                                          </p:val>
                                        </p:tav>
                                        <p:tav tm="100000">
                                          <p:val>
                                            <p:strVal val="#ppt_h"/>
                                          </p:val>
                                        </p:tav>
                                      </p:tavLst>
                                    </p:anim>
                                    <p:anim calcmode="lin" valueType="num">
                                      <p:cBhvr>
                                        <p:cTn id="128" dur="3000" fill="hold"/>
                                        <p:tgtEl>
                                          <p:spTgt spid="213"/>
                                        </p:tgtEl>
                                        <p:attrNameLst>
                                          <p:attrName>ppt_x</p:attrName>
                                        </p:attrNameLst>
                                      </p:cBhvr>
                                      <p:tavLst>
                                        <p:tav tm="0" fmla="#ppt_x+(cos(-2*pi*(1-$))*-#ppt_x-sin(-2*pi*(1-$))*(1-#ppt_y))*(1-$)">
                                          <p:val>
                                            <p:fltVal val="0"/>
                                          </p:val>
                                        </p:tav>
                                        <p:tav tm="100000">
                                          <p:val>
                                            <p:fltVal val="1"/>
                                          </p:val>
                                        </p:tav>
                                      </p:tavLst>
                                    </p:anim>
                                    <p:anim calcmode="lin" valueType="num">
                                      <p:cBhvr>
                                        <p:cTn id="129" dur="3000" fill="hold"/>
                                        <p:tgtEl>
                                          <p:spTgt spid="213"/>
                                        </p:tgtEl>
                                        <p:attrNameLst>
                                          <p:attrName>ppt_y</p:attrName>
                                        </p:attrNameLst>
                                      </p:cBhvr>
                                      <p:tavLst>
                                        <p:tav tm="0" fmla="#ppt_y+(sin(-2*pi*(1-$))*-#ppt_x+cos(-2*pi*(1-$))*(1-#ppt_y))*(1-$)">
                                          <p:val>
                                            <p:fltVal val="0"/>
                                          </p:val>
                                        </p:tav>
                                        <p:tav tm="100000">
                                          <p:val>
                                            <p:fltVal val="1"/>
                                          </p:val>
                                        </p:tav>
                                      </p:tavLst>
                                    </p:anim>
                                  </p:childTnLst>
                                </p:cTn>
                              </p:par>
                            </p:childTnLst>
                          </p:cTn>
                        </p:par>
                        <p:par>
                          <p:cTn id="130" fill="hold">
                            <p:stCondLst>
                              <p:cond delay="37500"/>
                            </p:stCondLst>
                            <p:childTnLst>
                              <p:par>
                                <p:cTn id="131" presetID="15" presetClass="entr" presetSubtype="0" fill="hold" nodeType="afterEffect">
                                  <p:stCondLst>
                                    <p:cond delay="0"/>
                                  </p:stCondLst>
                                  <p:childTnLst>
                                    <p:set>
                                      <p:cBhvr>
                                        <p:cTn id="132" dur="1" fill="hold">
                                          <p:stCondLst>
                                            <p:cond delay="0"/>
                                          </p:stCondLst>
                                        </p:cTn>
                                        <p:tgtEl>
                                          <p:spTgt spid="197"/>
                                        </p:tgtEl>
                                        <p:attrNameLst>
                                          <p:attrName>style.visibility</p:attrName>
                                        </p:attrNameLst>
                                      </p:cBhvr>
                                      <p:to>
                                        <p:strVal val="visible"/>
                                      </p:to>
                                    </p:set>
                                    <p:anim calcmode="lin" valueType="num">
                                      <p:cBhvr>
                                        <p:cTn id="133" dur="3000" fill="hold"/>
                                        <p:tgtEl>
                                          <p:spTgt spid="197"/>
                                        </p:tgtEl>
                                        <p:attrNameLst>
                                          <p:attrName>ppt_w</p:attrName>
                                        </p:attrNameLst>
                                      </p:cBhvr>
                                      <p:tavLst>
                                        <p:tav tm="0">
                                          <p:val>
                                            <p:fltVal val="0"/>
                                          </p:val>
                                        </p:tav>
                                        <p:tav tm="100000">
                                          <p:val>
                                            <p:strVal val="#ppt_w"/>
                                          </p:val>
                                        </p:tav>
                                      </p:tavLst>
                                    </p:anim>
                                    <p:anim calcmode="lin" valueType="num">
                                      <p:cBhvr>
                                        <p:cTn id="134" dur="3000" fill="hold"/>
                                        <p:tgtEl>
                                          <p:spTgt spid="197"/>
                                        </p:tgtEl>
                                        <p:attrNameLst>
                                          <p:attrName>ppt_h</p:attrName>
                                        </p:attrNameLst>
                                      </p:cBhvr>
                                      <p:tavLst>
                                        <p:tav tm="0">
                                          <p:val>
                                            <p:fltVal val="0"/>
                                          </p:val>
                                        </p:tav>
                                        <p:tav tm="100000">
                                          <p:val>
                                            <p:strVal val="#ppt_h"/>
                                          </p:val>
                                        </p:tav>
                                      </p:tavLst>
                                    </p:anim>
                                    <p:anim calcmode="lin" valueType="num">
                                      <p:cBhvr>
                                        <p:cTn id="135" dur="3000" fill="hold"/>
                                        <p:tgtEl>
                                          <p:spTgt spid="197"/>
                                        </p:tgtEl>
                                        <p:attrNameLst>
                                          <p:attrName>ppt_x</p:attrName>
                                        </p:attrNameLst>
                                      </p:cBhvr>
                                      <p:tavLst>
                                        <p:tav tm="0" fmla="#ppt_x+(cos(-2*pi*(1-$))*-#ppt_x-sin(-2*pi*(1-$))*(1-#ppt_y))*(1-$)">
                                          <p:val>
                                            <p:fltVal val="0"/>
                                          </p:val>
                                        </p:tav>
                                        <p:tav tm="100000">
                                          <p:val>
                                            <p:fltVal val="1"/>
                                          </p:val>
                                        </p:tav>
                                      </p:tavLst>
                                    </p:anim>
                                    <p:anim calcmode="lin" valueType="num">
                                      <p:cBhvr>
                                        <p:cTn id="136" dur="3000" fill="hold"/>
                                        <p:tgtEl>
                                          <p:spTgt spid="19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1"/>
                                            </p:cond>
                                          </p:stCondLst>
                                          <p:endCondLst>
                                            <p:cond evt="onStopAudio" delay="0">
                                              <p:tgtEl>
                                                <p:sldTgt/>
                                              </p:tgtEl>
                                            </p:cond>
                                          </p:endCondLst>
                                        </p:cTn>
                                        <p:tgtEl>
                                          <p:sndTgt r:embed="rId4" name="CHIMES.WAV"/>
                                        </p:tgtEl>
                                      </p:cMediaNode>
                                    </p:audio>
                                  </p:subTnLst>
                                </p:cTn>
                              </p:par>
                            </p:childTnLst>
                          </p:cTn>
                        </p:par>
                        <p:par>
                          <p:cTn id="137" fill="hold">
                            <p:stCondLst>
                              <p:cond delay="40500"/>
                            </p:stCondLst>
                            <p:childTnLst>
                              <p:par>
                                <p:cTn id="138" presetID="22" presetClass="entr" presetSubtype="8" fill="hold" grpId="0" nodeType="afterEffect">
                                  <p:stCondLst>
                                    <p:cond delay="0"/>
                                  </p:stCondLst>
                                  <p:childTnLst>
                                    <p:set>
                                      <p:cBhvr>
                                        <p:cTn id="139" dur="1" fill="hold">
                                          <p:stCondLst>
                                            <p:cond delay="0"/>
                                          </p:stCondLst>
                                        </p:cTn>
                                        <p:tgtEl>
                                          <p:spTgt spid="193"/>
                                        </p:tgtEl>
                                        <p:attrNameLst>
                                          <p:attrName>style.visibility</p:attrName>
                                        </p:attrNameLst>
                                      </p:cBhvr>
                                      <p:to>
                                        <p:strVal val="visible"/>
                                      </p:to>
                                    </p:set>
                                    <p:animEffect transition="in" filter="wipe(left)">
                                      <p:cBhvr>
                                        <p:cTn id="140" dur="5000"/>
                                        <p:tgtEl>
                                          <p:spTgt spid="193"/>
                                        </p:tgtEl>
                                      </p:cBhvr>
                                    </p:animEffect>
                                  </p:childTnLst>
                                </p:cTn>
                              </p:par>
                            </p:childTnLst>
                          </p:cTn>
                        </p:par>
                        <p:par>
                          <p:cTn id="141" fill="hold">
                            <p:stCondLst>
                              <p:cond delay="45500"/>
                            </p:stCondLst>
                            <p:childTnLst>
                              <p:par>
                                <p:cTn id="142" presetID="15" presetClass="entr" presetSubtype="0" fill="hold" nodeType="afterEffect">
                                  <p:stCondLst>
                                    <p:cond delay="0"/>
                                  </p:stCondLst>
                                  <p:childTnLst>
                                    <p:set>
                                      <p:cBhvr>
                                        <p:cTn id="143" dur="1" fill="hold">
                                          <p:stCondLst>
                                            <p:cond delay="0"/>
                                          </p:stCondLst>
                                        </p:cTn>
                                        <p:tgtEl>
                                          <p:spTgt spid="208"/>
                                        </p:tgtEl>
                                        <p:attrNameLst>
                                          <p:attrName>style.visibility</p:attrName>
                                        </p:attrNameLst>
                                      </p:cBhvr>
                                      <p:to>
                                        <p:strVal val="visible"/>
                                      </p:to>
                                    </p:set>
                                    <p:anim calcmode="lin" valueType="num">
                                      <p:cBhvr>
                                        <p:cTn id="144" dur="3000" fill="hold"/>
                                        <p:tgtEl>
                                          <p:spTgt spid="208"/>
                                        </p:tgtEl>
                                        <p:attrNameLst>
                                          <p:attrName>ppt_w</p:attrName>
                                        </p:attrNameLst>
                                      </p:cBhvr>
                                      <p:tavLst>
                                        <p:tav tm="0">
                                          <p:val>
                                            <p:fltVal val="0"/>
                                          </p:val>
                                        </p:tav>
                                        <p:tav tm="100000">
                                          <p:val>
                                            <p:strVal val="#ppt_w"/>
                                          </p:val>
                                        </p:tav>
                                      </p:tavLst>
                                    </p:anim>
                                    <p:anim calcmode="lin" valueType="num">
                                      <p:cBhvr>
                                        <p:cTn id="145" dur="3000" fill="hold"/>
                                        <p:tgtEl>
                                          <p:spTgt spid="208"/>
                                        </p:tgtEl>
                                        <p:attrNameLst>
                                          <p:attrName>ppt_h</p:attrName>
                                        </p:attrNameLst>
                                      </p:cBhvr>
                                      <p:tavLst>
                                        <p:tav tm="0">
                                          <p:val>
                                            <p:fltVal val="0"/>
                                          </p:val>
                                        </p:tav>
                                        <p:tav tm="100000">
                                          <p:val>
                                            <p:strVal val="#ppt_h"/>
                                          </p:val>
                                        </p:tav>
                                      </p:tavLst>
                                    </p:anim>
                                    <p:anim calcmode="lin" valueType="num">
                                      <p:cBhvr>
                                        <p:cTn id="146" dur="3000" fill="hold"/>
                                        <p:tgtEl>
                                          <p:spTgt spid="208"/>
                                        </p:tgtEl>
                                        <p:attrNameLst>
                                          <p:attrName>ppt_x</p:attrName>
                                        </p:attrNameLst>
                                      </p:cBhvr>
                                      <p:tavLst>
                                        <p:tav tm="0" fmla="#ppt_x+(cos(-2*pi*(1-$))*-#ppt_x-sin(-2*pi*(1-$))*(1-#ppt_y))*(1-$)">
                                          <p:val>
                                            <p:fltVal val="0"/>
                                          </p:val>
                                        </p:tav>
                                        <p:tav tm="100000">
                                          <p:val>
                                            <p:fltVal val="1"/>
                                          </p:val>
                                        </p:tav>
                                      </p:tavLst>
                                    </p:anim>
                                    <p:anim calcmode="lin" valueType="num">
                                      <p:cBhvr>
                                        <p:cTn id="147" dur="3000" fill="hold"/>
                                        <p:tgtEl>
                                          <p:spTgt spid="208"/>
                                        </p:tgtEl>
                                        <p:attrNameLst>
                                          <p:attrName>ppt_y</p:attrName>
                                        </p:attrNameLst>
                                      </p:cBhvr>
                                      <p:tavLst>
                                        <p:tav tm="0" fmla="#ppt_y+(sin(-2*pi*(1-$))*-#ppt_x+cos(-2*pi*(1-$))*(1-#ppt_y))*(1-$)">
                                          <p:val>
                                            <p:fltVal val="0"/>
                                          </p:val>
                                        </p:tav>
                                        <p:tav tm="100000">
                                          <p:val>
                                            <p:fltVal val="1"/>
                                          </p:val>
                                        </p:tav>
                                      </p:tavLst>
                                    </p:anim>
                                  </p:childTnLst>
                                </p:cTn>
                              </p:par>
                            </p:childTnLst>
                          </p:cTn>
                        </p:par>
                        <p:par>
                          <p:cTn id="148" fill="hold">
                            <p:stCondLst>
                              <p:cond delay="48500"/>
                            </p:stCondLst>
                            <p:childTnLst>
                              <p:par>
                                <p:cTn id="149" presetID="19" presetClass="entr" presetSubtype="10" fill="hold" grpId="0" nodeType="afterEffect">
                                  <p:stCondLst>
                                    <p:cond delay="0"/>
                                  </p:stCondLst>
                                  <p:childTnLst>
                                    <p:set>
                                      <p:cBhvr>
                                        <p:cTn id="150" dur="1" fill="hold">
                                          <p:stCondLst>
                                            <p:cond delay="0"/>
                                          </p:stCondLst>
                                        </p:cTn>
                                        <p:tgtEl>
                                          <p:spTgt spid="200"/>
                                        </p:tgtEl>
                                        <p:attrNameLst>
                                          <p:attrName>style.visibility</p:attrName>
                                        </p:attrNameLst>
                                      </p:cBhvr>
                                      <p:to>
                                        <p:strVal val="visible"/>
                                      </p:to>
                                    </p:set>
                                    <p:anim calcmode="lin" valueType="num">
                                      <p:cBhvr>
                                        <p:cTn id="151" dur="5000" fill="hold"/>
                                        <p:tgtEl>
                                          <p:spTgt spid="200"/>
                                        </p:tgtEl>
                                        <p:attrNameLst>
                                          <p:attrName>ppt_w</p:attrName>
                                        </p:attrNameLst>
                                      </p:cBhvr>
                                      <p:tavLst>
                                        <p:tav tm="0" fmla="#ppt_w*sin(2.5*pi*$)">
                                          <p:val>
                                            <p:fltVal val="0"/>
                                          </p:val>
                                        </p:tav>
                                        <p:tav tm="100000">
                                          <p:val>
                                            <p:fltVal val="1"/>
                                          </p:val>
                                        </p:tav>
                                      </p:tavLst>
                                    </p:anim>
                                    <p:anim calcmode="lin" valueType="num">
                                      <p:cBhvr>
                                        <p:cTn id="152"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9"/>
                                            </p:cond>
                                          </p:stCondLst>
                                          <p:endCondLst>
                                            <p:cond evt="onStopAudio" delay="0">
                                              <p:tgtEl>
                                                <p:sldTgt/>
                                              </p:tgtEl>
                                            </p:cond>
                                          </p:endCondLst>
                                        </p:cTn>
                                        <p:tgtEl>
                                          <p:sndTgt r:embed="rId4" name="CHIMES.WAV"/>
                                        </p:tgtEl>
                                      </p:cMediaNode>
                                    </p:audio>
                                  </p:subTnLst>
                                </p:cTn>
                              </p:par>
                            </p:childTnLst>
                          </p:cTn>
                        </p:par>
                        <p:par>
                          <p:cTn id="153" fill="hold">
                            <p:stCondLst>
                              <p:cond delay="53500"/>
                            </p:stCondLst>
                            <p:childTnLst>
                              <p:par>
                                <p:cTn id="154" presetID="22" presetClass="entr" presetSubtype="8" fill="hold" grpId="0" nodeType="afterEffect">
                                  <p:stCondLst>
                                    <p:cond delay="0"/>
                                  </p:stCondLst>
                                  <p:childTnLst>
                                    <p:set>
                                      <p:cBhvr>
                                        <p:cTn id="155" dur="1" fill="hold">
                                          <p:stCondLst>
                                            <p:cond delay="0"/>
                                          </p:stCondLst>
                                        </p:cTn>
                                        <p:tgtEl>
                                          <p:spTgt spid="201"/>
                                        </p:tgtEl>
                                        <p:attrNameLst>
                                          <p:attrName>style.visibility</p:attrName>
                                        </p:attrNameLst>
                                      </p:cBhvr>
                                      <p:to>
                                        <p:strVal val="visible"/>
                                      </p:to>
                                    </p:set>
                                    <p:animEffect transition="in" filter="wipe(left)">
                                      <p:cBhvr>
                                        <p:cTn id="156" dur="5000"/>
                                        <p:tgtEl>
                                          <p:spTgt spid="201"/>
                                        </p:tgtEl>
                                      </p:cBhvr>
                                    </p:animEffect>
                                  </p:childTnLst>
                                  <p:subTnLst>
                                    <p:audio>
                                      <p:cMediaNode>
                                        <p:cTn display="0" masterRel="sameClick">
                                          <p:stCondLst>
                                            <p:cond evt="begin" delay="0">
                                              <p:tn val="154"/>
                                            </p:cond>
                                          </p:stCondLst>
                                          <p:endCondLst>
                                            <p:cond evt="onStopAudio" delay="0">
                                              <p:tgtEl>
                                                <p:sldTgt/>
                                              </p:tgtEl>
                                            </p:cond>
                                          </p:endCondLst>
                                        </p:cTn>
                                        <p:tgtEl>
                                          <p:sndTgt r:embed="rId4" name="CHIMES.WAV"/>
                                        </p:tgtEl>
                                      </p:cMediaNode>
                                    </p:audio>
                                  </p:sub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6" grpId="0"/>
      <p:bldP spid="171" grpId="0"/>
      <p:bldP spid="45" grpId="0"/>
      <p:bldP spid="187" grpId="0" animBg="1"/>
      <p:bldP spid="189" grpId="0" animBg="1"/>
      <p:bldP spid="190" grpId="0"/>
      <p:bldP spid="191" grpId="0" autoUpdateAnimBg="0"/>
      <p:bldP spid="192" grpId="0" autoUpdateAnimBg="0"/>
      <p:bldP spid="193" grpId="0" animBg="1"/>
      <p:bldP spid="194" grpId="0" animBg="1"/>
      <p:bldP spid="195" grpId="0" animBg="1"/>
      <p:bldP spid="196" grpId="0" autoUpdateAnimBg="0"/>
      <p:bldP spid="200" grpId="0" autoUpdateAnimBg="0"/>
      <p:bldP spid="201" grpId="0" autoUpdateAnimBg="0"/>
      <p:bldP spid="202" grpId="0" autoUpdateAnimBg="0"/>
      <p:bldP spid="203" grpId="0" animBg="1"/>
      <p:bldP spid="204" grpId="0" animBg="1"/>
      <p:bldP spid="205" grpId="0" animBg="1"/>
      <p:bldP spid="206" grpId="0" animBg="1"/>
      <p:bldP spid="207" grpId="0" animBg="1"/>
      <p:bldP spid="211" grpId="0" animBg="1"/>
      <p:bldP spid="212" grpId="0" autoUpdateAnimBg="0"/>
      <p:bldP spid="216" grpId="0" animBg="1"/>
      <p:bldP spid="217" grpId="0" animBg="1"/>
      <p:bldP spid="218" grpId="0" animBg="1"/>
      <p:bldP spid="2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6889596"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简支梁受载如图所示。若已知</a:t>
            </a:r>
            <a:r>
              <a:rPr lang="en-US" altLang="zh-CN" b="0" dirty="0">
                <a:solidFill>
                  <a:schemeClr val="tx1"/>
                </a:solidFill>
                <a:latin typeface="+mn-lt"/>
                <a:ea typeface="黑体" panose="02010609060101010101" pitchFamily="49" charset="-122"/>
              </a:rPr>
              <a:t>M</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a</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，试作梁的剪力图与弯矩图 。 </a:t>
            </a: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求支座反力。以整体为研究对象，由平衡方程可得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0940" y="820392"/>
            <a:ext cx="4991724" cy="5440836"/>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98315" cy="105259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j-lt"/>
                <a:ea typeface="黑体" panose="02010609060101010101" pitchFamily="49" charset="-122"/>
              </a:rPr>
              <a:t>分为</a:t>
            </a:r>
            <a:r>
              <a:rPr lang="en-US" altLang="zh-CN" b="0" dirty="0">
                <a:solidFill>
                  <a:schemeClr val="tx1"/>
                </a:solidFill>
                <a:latin typeface="+mj-lt"/>
                <a:ea typeface="黑体" panose="02010609060101010101" pitchFamily="49" charset="-122"/>
              </a:rPr>
              <a:t>AC</a:t>
            </a:r>
            <a:r>
              <a:rPr lang="zh-CN" altLang="en-US" i="0" dirty="0">
                <a:solidFill>
                  <a:schemeClr val="tx1"/>
                </a:solidFill>
                <a:latin typeface="+mj-lt"/>
                <a:ea typeface="黑体" panose="02010609060101010101" pitchFamily="49" charset="-122"/>
              </a:rPr>
              <a:t>与</a:t>
            </a:r>
            <a:r>
              <a:rPr lang="en-US" altLang="zh-CN" b="0" dirty="0">
                <a:solidFill>
                  <a:schemeClr val="tx1"/>
                </a:solidFill>
                <a:latin typeface="+mj-lt"/>
                <a:ea typeface="黑体" panose="02010609060101010101" pitchFamily="49" charset="-122"/>
              </a:rPr>
              <a:t>CB</a:t>
            </a:r>
            <a:r>
              <a:rPr lang="zh-CN" altLang="en-US" i="0" dirty="0">
                <a:solidFill>
                  <a:schemeClr val="tx1"/>
                </a:solidFill>
                <a:latin typeface="+mj-lt"/>
                <a:ea typeface="黑体" panose="02010609060101010101" pitchFamily="49" charset="-122"/>
              </a:rPr>
              <a:t>两段研究。</a:t>
            </a:r>
          </a:p>
        </p:txBody>
      </p:sp>
      <p:graphicFrame>
        <p:nvGraphicFramePr>
          <p:cNvPr id="70" name="Object 52"/>
          <p:cNvGraphicFramePr>
            <a:graphicFrameLocks noChangeAspect="1"/>
          </p:cNvGraphicFramePr>
          <p:nvPr>
            <p:extLst>
              <p:ext uri="{D42A27DB-BD31-4B8C-83A1-F6EECF244321}">
                <p14:modId xmlns:p14="http://schemas.microsoft.com/office/powerpoint/2010/main" val="103755176"/>
              </p:ext>
            </p:extLst>
          </p:nvPr>
        </p:nvGraphicFramePr>
        <p:xfrm>
          <a:off x="2235200" y="2089150"/>
          <a:ext cx="1784350" cy="823913"/>
        </p:xfrm>
        <a:graphic>
          <a:graphicData uri="http://schemas.openxmlformats.org/presentationml/2006/ole">
            <mc:AlternateContent xmlns:mc="http://schemas.openxmlformats.org/markup-compatibility/2006">
              <mc:Choice xmlns:v="urn:schemas-microsoft-com:vml" Requires="v">
                <p:oleObj spid="_x0000_s7226" name="Equation" r:id="rId6" imgW="850680" imgH="393480" progId="Equation.DSMT4">
                  <p:embed/>
                </p:oleObj>
              </mc:Choice>
              <mc:Fallback>
                <p:oleObj name="Equation" r:id="rId6" imgW="850680" imgH="393480" progId="Equation.DSMT4">
                  <p:embed/>
                  <p:pic>
                    <p:nvPicPr>
                      <p:cNvPr id="0" name=""/>
                      <p:cNvPicPr>
                        <a:picLocks noChangeAspect="1" noChangeArrowheads="1"/>
                      </p:cNvPicPr>
                      <p:nvPr/>
                    </p:nvPicPr>
                    <p:blipFill>
                      <a:blip r:embed="rId7"/>
                      <a:srcRect/>
                      <a:stretch>
                        <a:fillRect/>
                      </a:stretch>
                    </p:blipFill>
                    <p:spPr bwMode="auto">
                      <a:xfrm>
                        <a:off x="2235200" y="2089150"/>
                        <a:ext cx="178435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2398850935"/>
              </p:ext>
            </p:extLst>
          </p:nvPr>
        </p:nvGraphicFramePr>
        <p:xfrm>
          <a:off x="4391025" y="2105025"/>
          <a:ext cx="1573213" cy="823913"/>
        </p:xfrm>
        <a:graphic>
          <a:graphicData uri="http://schemas.openxmlformats.org/presentationml/2006/ole">
            <mc:AlternateContent xmlns:mc="http://schemas.openxmlformats.org/markup-compatibility/2006">
              <mc:Choice xmlns:v="urn:schemas-microsoft-com:vml" Requires="v">
                <p:oleObj spid="_x0000_s7227" name="Equation" r:id="rId8" imgW="749160" imgH="393480" progId="Equation.DSMT4">
                  <p:embed/>
                </p:oleObj>
              </mc:Choice>
              <mc:Fallback>
                <p:oleObj name="Equation" r:id="rId8" imgW="749160" imgH="393480" progId="Equation.DSMT4">
                  <p:embed/>
                  <p:pic>
                    <p:nvPicPr>
                      <p:cNvPr id="0" name=""/>
                      <p:cNvPicPr>
                        <a:picLocks noChangeAspect="1" noChangeArrowheads="1"/>
                      </p:cNvPicPr>
                      <p:nvPr/>
                    </p:nvPicPr>
                    <p:blipFill>
                      <a:blip r:embed="rId9"/>
                      <a:srcRect/>
                      <a:stretch>
                        <a:fillRect/>
                      </a:stretch>
                    </p:blipFill>
                    <p:spPr bwMode="auto">
                      <a:xfrm>
                        <a:off x="4391025" y="2105025"/>
                        <a:ext cx="1573213"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1" name="矩形 170">
            <a:extLst>
              <a:ext uri="{FF2B5EF4-FFF2-40B4-BE49-F238E27FC236}">
                <a16:creationId xmlns:a16="http://schemas.microsoft.com/office/drawing/2014/main" id="{54CF797A-3212-00F4-D82B-18FEE729BE7A}"/>
              </a:ext>
            </a:extLst>
          </p:cNvPr>
          <p:cNvSpPr/>
          <p:nvPr/>
        </p:nvSpPr>
        <p:spPr>
          <a:xfrm>
            <a:off x="211184" y="5221880"/>
            <a:ext cx="10952790" cy="520848"/>
          </a:xfrm>
          <a:prstGeom prst="rect">
            <a:avLst/>
          </a:prstGeom>
        </p:spPr>
        <p:txBody>
          <a:bodyPr wrap="square">
            <a:spAutoFit/>
          </a:bodyPr>
          <a:lstStyle/>
          <a:p>
            <a:pPr>
              <a:lnSpc>
                <a:spcPct val="130000"/>
              </a:lnSpc>
            </a:pPr>
            <a:r>
              <a:rPr lang="en-US" altLang="zh-CN" i="0" dirty="0">
                <a:solidFill>
                  <a:schemeClr val="tx1"/>
                </a:solidFill>
                <a:ea typeface="黑体" panose="02010609060101010101" pitchFamily="49" charset="-122"/>
              </a:rPr>
              <a:t>      ③</a:t>
            </a:r>
            <a:r>
              <a:rPr lang="zh-CN" altLang="en-US" i="0" dirty="0">
                <a:solidFill>
                  <a:schemeClr val="tx1"/>
                </a:solidFill>
                <a:ea typeface="黑体" panose="02010609060101010101" pitchFamily="49" charset="-122"/>
              </a:rPr>
              <a:t>连线。故</a:t>
            </a:r>
            <a:r>
              <a:rPr lang="en-US" altLang="zh-CN" b="0" dirty="0">
                <a:solidFill>
                  <a:schemeClr val="tx1"/>
                </a:solidFill>
                <a:ea typeface="黑体" panose="02010609060101010101" pitchFamily="49" charset="-122"/>
              </a:rPr>
              <a:t>F</a:t>
            </a:r>
            <a:r>
              <a:rPr lang="en-US" altLang="zh-CN" b="0" i="0" baseline="-25000" dirty="0">
                <a:solidFill>
                  <a:schemeClr val="tx1"/>
                </a:solidFill>
                <a:ea typeface="黑体" panose="02010609060101010101" pitchFamily="49" charset="-122"/>
              </a:rPr>
              <a:t>Q</a:t>
            </a:r>
            <a:r>
              <a:rPr lang="zh-CN" altLang="en-US" i="0" dirty="0">
                <a:solidFill>
                  <a:schemeClr val="tx1"/>
                </a:solidFill>
                <a:ea typeface="黑体" panose="02010609060101010101" pitchFamily="49" charset="-122"/>
              </a:rPr>
              <a:t>图与</a:t>
            </a:r>
            <a:r>
              <a:rPr lang="en-US" altLang="zh-CN" b="0" dirty="0">
                <a:solidFill>
                  <a:schemeClr val="tx1"/>
                </a:solidFill>
                <a:ea typeface="黑体" panose="02010609060101010101" pitchFamily="49" charset="-122"/>
              </a:rPr>
              <a:t>M</a:t>
            </a:r>
            <a:r>
              <a:rPr lang="zh-CN" altLang="en-US" i="0" dirty="0">
                <a:solidFill>
                  <a:schemeClr val="tx1"/>
                </a:solidFill>
                <a:ea typeface="黑体" panose="02010609060101010101" pitchFamily="49" charset="-122"/>
              </a:rPr>
              <a:t>图相邻两点皆连直线。</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45" name="矩形 44">
            <a:extLst>
              <a:ext uri="{FF2B5EF4-FFF2-40B4-BE49-F238E27FC236}">
                <a16:creationId xmlns:a16="http://schemas.microsoft.com/office/drawing/2014/main" id="{54CF797A-3212-00F4-D82B-18FEE729BE7A}"/>
              </a:ext>
            </a:extLst>
          </p:cNvPr>
          <p:cNvSpPr/>
          <p:nvPr/>
        </p:nvSpPr>
        <p:spPr>
          <a:xfrm>
            <a:off x="211184" y="3762289"/>
            <a:ext cx="10952790" cy="1532727"/>
          </a:xfrm>
          <a:prstGeom prst="rect">
            <a:avLst/>
          </a:prstGeom>
        </p:spPr>
        <p:txBody>
          <a:bodyPr wrap="square">
            <a:spAutoFit/>
          </a:bodyPr>
          <a:lstStyle/>
          <a:p>
            <a:pPr lvl="0">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a:t>
            </a:r>
            <a:r>
              <a:rPr kumimoji="1" lang="zh-CN" altLang="en-US" b="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baseline="-2500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 </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  </a:t>
            </a:r>
          </a:p>
          <a:p>
            <a:pPr lvl="0">
              <a:lnSpc>
                <a:spcPct val="13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 </a:t>
            </a:r>
            <a:r>
              <a:rPr kumimoji="1" lang="en-US" altLang="zh-CN" b="0" i="0" dirty="0">
                <a:solidFill>
                  <a:schemeClr val="tx1"/>
                </a:solidFill>
                <a:ea typeface="黑体" panose="02010609060101010101" pitchFamily="49" charset="-122"/>
              </a:rPr>
              <a:t>                                  </a:t>
            </a:r>
            <a:endParaRPr kumimoji="1" lang="en-US" altLang="zh-CN" b="0" dirty="0">
              <a:solidFill>
                <a:schemeClr val="tx1"/>
              </a:solidFill>
              <a:ea typeface="黑体" panose="02010609060101010101" pitchFamily="49" charset="-122"/>
            </a:endParaRPr>
          </a:p>
          <a:p>
            <a:pPr lvl="0">
              <a:lnSpc>
                <a:spcPct val="130000"/>
              </a:lnSpc>
            </a:pP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C</a:t>
            </a:r>
            <a:r>
              <a:rPr kumimoji="1" lang="en-US" altLang="zh-CN" b="0" i="0" baseline="-2500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46" name="矩形 45">
            <a:extLst>
              <a:ext uri="{FF2B5EF4-FFF2-40B4-BE49-F238E27FC236}">
                <a16:creationId xmlns:a16="http://schemas.microsoft.com/office/drawing/2014/main" id="{54CF797A-3212-00F4-D82B-18FEE729BE7A}"/>
              </a:ext>
            </a:extLst>
          </p:cNvPr>
          <p:cNvSpPr/>
          <p:nvPr/>
        </p:nvSpPr>
        <p:spPr>
          <a:xfrm>
            <a:off x="211184" y="5688764"/>
            <a:ext cx="6676904" cy="572464"/>
          </a:xfrm>
          <a:prstGeom prst="rect">
            <a:avLst/>
          </a:prstGeom>
        </p:spPr>
        <p:txBody>
          <a:bodyPr wrap="square">
            <a:spAutoFit/>
          </a:bodyPr>
          <a:lstStyle/>
          <a:p>
            <a:pPr>
              <a:lnSpc>
                <a:spcPct val="130000"/>
              </a:lnSpc>
            </a:pPr>
            <a:r>
              <a:rPr lang="en-US" altLang="zh-CN" i="0" dirty="0">
                <a:solidFill>
                  <a:schemeClr val="tx1"/>
                </a:solidFill>
                <a:ea typeface="黑体" panose="02010609060101010101" pitchFamily="49" charset="-122"/>
              </a:rPr>
              <a:t>      ④</a:t>
            </a:r>
            <a:r>
              <a:rPr lang="zh-CN" altLang="en-US" i="0" dirty="0">
                <a:solidFill>
                  <a:schemeClr val="tx1"/>
                </a:solidFill>
                <a:ea typeface="黑体" panose="02010609060101010101" pitchFamily="49" charset="-122"/>
              </a:rPr>
              <a:t>复查。检查</a:t>
            </a:r>
            <a:r>
              <a:rPr lang="en-US" altLang="zh-CN" b="0" dirty="0">
                <a:solidFill>
                  <a:schemeClr val="tx1"/>
                </a:solidFill>
                <a:ea typeface="黑体" panose="02010609060101010101" pitchFamily="49" charset="-122"/>
              </a:rPr>
              <a:t>C</a:t>
            </a:r>
            <a:r>
              <a:rPr lang="zh-CN" altLang="en-US" i="0" dirty="0">
                <a:solidFill>
                  <a:schemeClr val="tx1"/>
                </a:solidFill>
                <a:ea typeface="黑体" panose="02010609060101010101" pitchFamily="49" charset="-122"/>
              </a:rPr>
              <a:t>点弯矩图的变化。 </a:t>
            </a:r>
          </a:p>
        </p:txBody>
      </p:sp>
      <p:grpSp>
        <p:nvGrpSpPr>
          <p:cNvPr id="47" name="Group 71"/>
          <p:cNvGrpSpPr>
            <a:grpSpLocks/>
          </p:cNvGrpSpPr>
          <p:nvPr/>
        </p:nvGrpSpPr>
        <p:grpSpPr bwMode="auto">
          <a:xfrm>
            <a:off x="7782659" y="676468"/>
            <a:ext cx="3529012" cy="2608263"/>
            <a:chOff x="3415" y="58"/>
            <a:chExt cx="2223" cy="1643"/>
          </a:xfrm>
        </p:grpSpPr>
        <p:grpSp>
          <p:nvGrpSpPr>
            <p:cNvPr id="48" name="Group 4"/>
            <p:cNvGrpSpPr>
              <a:grpSpLocks/>
            </p:cNvGrpSpPr>
            <p:nvPr/>
          </p:nvGrpSpPr>
          <p:grpSpPr bwMode="auto">
            <a:xfrm>
              <a:off x="3415" y="836"/>
              <a:ext cx="2223" cy="865"/>
              <a:chOff x="3415" y="836"/>
              <a:chExt cx="2223" cy="865"/>
            </a:xfrm>
          </p:grpSpPr>
          <p:sp>
            <p:nvSpPr>
              <p:cNvPr id="62" name="Text Box 5"/>
              <p:cNvSpPr txBox="1">
                <a:spLocks noChangeAspect="1" noChangeArrowheads="1"/>
              </p:cNvSpPr>
              <p:nvPr/>
            </p:nvSpPr>
            <p:spPr bwMode="auto">
              <a:xfrm flipH="1">
                <a:off x="4452" y="130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63" name="Text Box 6"/>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64" name="Text Box 7"/>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65" name="Line 8"/>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6" name="Line 9"/>
              <p:cNvSpPr>
                <a:spLocks noChangeAspect="1" noChangeShapeType="1"/>
              </p:cNvSpPr>
              <p:nvPr/>
            </p:nvSpPr>
            <p:spPr bwMode="auto">
              <a:xfrm flipH="1">
                <a:off x="3695" y="158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7" name="Line 10"/>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8" name="Freeform 11"/>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49" name="Group 12"/>
            <p:cNvGrpSpPr>
              <a:grpSpLocks/>
            </p:cNvGrpSpPr>
            <p:nvPr/>
          </p:nvGrpSpPr>
          <p:grpSpPr bwMode="auto">
            <a:xfrm>
              <a:off x="4644" y="713"/>
              <a:ext cx="360" cy="554"/>
              <a:chOff x="4644" y="713"/>
              <a:chExt cx="360" cy="554"/>
            </a:xfrm>
          </p:grpSpPr>
          <p:sp>
            <p:nvSpPr>
              <p:cNvPr id="59" name="Line 13"/>
              <p:cNvSpPr>
                <a:spLocks noChangeAspect="1" noChangeShapeType="1"/>
              </p:cNvSpPr>
              <p:nvPr/>
            </p:nvSpPr>
            <p:spPr bwMode="auto">
              <a:xfrm>
                <a:off x="4817" y="713"/>
                <a:ext cx="0" cy="554"/>
              </a:xfrm>
              <a:prstGeom prst="line">
                <a:avLst/>
              </a:prstGeom>
              <a:noFill/>
              <a:ln w="22225">
                <a:solidFill>
                  <a:srgbClr val="FF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Line 14"/>
              <p:cNvSpPr>
                <a:spLocks noChangeAspect="1" noChangeShapeType="1"/>
              </p:cNvSpPr>
              <p:nvPr/>
            </p:nvSpPr>
            <p:spPr bwMode="auto">
              <a:xfrm>
                <a:off x="4805" y="713"/>
                <a:ext cx="199"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1" name="Line 15"/>
              <p:cNvSpPr>
                <a:spLocks noChangeAspect="1" noChangeShapeType="1"/>
              </p:cNvSpPr>
              <p:nvPr/>
            </p:nvSpPr>
            <p:spPr bwMode="auto">
              <a:xfrm flipH="1">
                <a:off x="4644" y="1267"/>
                <a:ext cx="173"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0" name="Text Box 16"/>
            <p:cNvSpPr txBox="1">
              <a:spLocks noChangeAspect="1" noChangeArrowheads="1"/>
            </p:cNvSpPr>
            <p:nvPr/>
          </p:nvSpPr>
          <p:spPr bwMode="auto">
            <a:xfrm>
              <a:off x="4756" y="384"/>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3200" b="0" u="none" strike="noStrike" kern="0" cap="none" spc="0" normalizeH="0" baseline="-25000" noProof="0" dirty="0">
                <a:ln>
                  <a:noFill/>
                </a:ln>
                <a:solidFill>
                  <a:srgbClr val="FF0000"/>
                </a:solidFill>
                <a:effectLst/>
                <a:uLnTx/>
                <a:uFillTx/>
                <a:latin typeface="Times New Roman" panose="02020603050405020304" pitchFamily="18" charset="0"/>
              </a:endParaRPr>
            </a:p>
          </p:txBody>
        </p:sp>
        <p:sp>
          <p:nvSpPr>
            <p:cNvPr id="51" name="Text Box 17"/>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52" name="Line 18"/>
            <p:cNvSpPr>
              <a:spLocks noChangeAspect="1" noChangeShapeType="1"/>
            </p:cNvSpPr>
            <p:nvPr/>
          </p:nvSpPr>
          <p:spPr bwMode="auto">
            <a:xfrm flipH="1">
              <a:off x="3703" y="29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3" name="Line 19"/>
            <p:cNvSpPr>
              <a:spLocks noChangeAspect="1" noChangeShapeType="1"/>
            </p:cNvSpPr>
            <p:nvPr/>
          </p:nvSpPr>
          <p:spPr bwMode="auto">
            <a:xfrm flipH="1">
              <a:off x="3697" y="373"/>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Line 20"/>
            <p:cNvSpPr>
              <a:spLocks noChangeAspect="1" noChangeShapeType="1"/>
            </p:cNvSpPr>
            <p:nvPr/>
          </p:nvSpPr>
          <p:spPr bwMode="auto">
            <a:xfrm flipH="1">
              <a:off x="5345" y="3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5" name="Line 21"/>
            <p:cNvSpPr>
              <a:spLocks noChangeAspect="1" noChangeShapeType="1"/>
            </p:cNvSpPr>
            <p:nvPr/>
          </p:nvSpPr>
          <p:spPr bwMode="auto">
            <a:xfrm flipH="1">
              <a:off x="4789" y="374"/>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6" name="Text Box 22"/>
            <p:cNvSpPr txBox="1">
              <a:spLocks noChangeAspect="1" noChangeArrowheads="1"/>
            </p:cNvSpPr>
            <p:nvPr/>
          </p:nvSpPr>
          <p:spPr bwMode="auto">
            <a:xfrm flipH="1">
              <a:off x="4904" y="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57" name="Line 23"/>
            <p:cNvSpPr>
              <a:spLocks noChangeAspect="1" noChangeShapeType="1"/>
            </p:cNvSpPr>
            <p:nvPr/>
          </p:nvSpPr>
          <p:spPr bwMode="auto">
            <a:xfrm flipH="1">
              <a:off x="4795" y="294"/>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8" name="Text Box 24"/>
            <p:cNvSpPr txBox="1">
              <a:spLocks noChangeAspect="1" noChangeArrowheads="1"/>
            </p:cNvSpPr>
            <p:nvPr/>
          </p:nvSpPr>
          <p:spPr bwMode="auto">
            <a:xfrm flipH="1">
              <a:off x="4052" y="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grpSp>
        <p:nvGrpSpPr>
          <p:cNvPr id="69" name="Group 31"/>
          <p:cNvGrpSpPr>
            <a:grpSpLocks/>
          </p:cNvGrpSpPr>
          <p:nvPr/>
        </p:nvGrpSpPr>
        <p:grpSpPr bwMode="auto">
          <a:xfrm>
            <a:off x="7979509" y="2129031"/>
            <a:ext cx="496887" cy="523875"/>
            <a:chOff x="1686" y="3521"/>
            <a:chExt cx="313" cy="330"/>
          </a:xfrm>
        </p:grpSpPr>
        <p:sp>
          <p:nvSpPr>
            <p:cNvPr id="79" name="AutoShape 32"/>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0"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1"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2" name="Oval 35"/>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83" name="Group 36"/>
          <p:cNvGrpSpPr>
            <a:grpSpLocks/>
          </p:cNvGrpSpPr>
          <p:nvPr/>
        </p:nvGrpSpPr>
        <p:grpSpPr bwMode="auto">
          <a:xfrm>
            <a:off x="10622696" y="2127443"/>
            <a:ext cx="493713" cy="568325"/>
            <a:chOff x="3499" y="3511"/>
            <a:chExt cx="311" cy="358"/>
          </a:xfrm>
        </p:grpSpPr>
        <p:sp>
          <p:nvSpPr>
            <p:cNvPr id="84"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6"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Oval 40"/>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8" name="Oval 41"/>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89" name="Text Box 43"/>
          <p:cNvSpPr txBox="1">
            <a:spLocks noChangeAspect="1" noChangeArrowheads="1"/>
          </p:cNvSpPr>
          <p:nvPr/>
        </p:nvSpPr>
        <p:spPr bwMode="auto">
          <a:xfrm>
            <a:off x="10838596" y="2760856"/>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90" name="Text Box 44"/>
          <p:cNvSpPr txBox="1">
            <a:spLocks noChangeAspect="1" noChangeArrowheads="1"/>
          </p:cNvSpPr>
          <p:nvPr/>
        </p:nvSpPr>
        <p:spPr bwMode="auto">
          <a:xfrm>
            <a:off x="7708046" y="2740218"/>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91" name="Line 45"/>
          <p:cNvSpPr>
            <a:spLocks noChangeAspect="1" noChangeShapeType="1"/>
          </p:cNvSpPr>
          <p:nvPr/>
        </p:nvSpPr>
        <p:spPr bwMode="auto">
          <a:xfrm flipV="1">
            <a:off x="8222396" y="2297306"/>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46"/>
          <p:cNvSpPr>
            <a:spLocks noChangeAspect="1" noChangeShapeType="1"/>
          </p:cNvSpPr>
          <p:nvPr/>
        </p:nvSpPr>
        <p:spPr bwMode="auto">
          <a:xfrm flipV="1">
            <a:off x="10868759" y="2283018"/>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Text Box 72"/>
          <p:cNvSpPr txBox="1">
            <a:spLocks noChangeAspect="1" noChangeArrowheads="1"/>
          </p:cNvSpPr>
          <p:nvPr/>
        </p:nvSpPr>
        <p:spPr bwMode="auto">
          <a:xfrm flipH="1">
            <a:off x="10914796" y="548183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94" name="Line 73"/>
          <p:cNvSpPr>
            <a:spLocks noChangeShapeType="1"/>
          </p:cNvSpPr>
          <p:nvPr/>
        </p:nvSpPr>
        <p:spPr bwMode="auto">
          <a:xfrm rot="16200000">
            <a:off x="7631053" y="5163537"/>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Text Box 75"/>
          <p:cNvSpPr txBox="1">
            <a:spLocks noChangeAspect="1" noChangeArrowheads="1"/>
          </p:cNvSpPr>
          <p:nvPr/>
        </p:nvSpPr>
        <p:spPr bwMode="auto">
          <a:xfrm flipH="1">
            <a:off x="10914796" y="3905443"/>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96" name="Text Box 77"/>
          <p:cNvSpPr txBox="1">
            <a:spLocks noChangeAspect="1" noChangeArrowheads="1"/>
          </p:cNvSpPr>
          <p:nvPr/>
        </p:nvSpPr>
        <p:spPr bwMode="auto">
          <a:xfrm flipH="1">
            <a:off x="8208109" y="324663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97" name="Text Box 78"/>
          <p:cNvSpPr txBox="1">
            <a:spLocks noChangeAspect="1" noChangeArrowheads="1"/>
          </p:cNvSpPr>
          <p:nvPr/>
        </p:nvSpPr>
        <p:spPr bwMode="auto">
          <a:xfrm>
            <a:off x="7900134" y="3811781"/>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98" name="AutoShape 82" descr="浅色竖线"/>
          <p:cNvSpPr>
            <a:spLocks noChangeArrowheads="1"/>
          </p:cNvSpPr>
          <p:nvPr/>
        </p:nvSpPr>
        <p:spPr bwMode="auto">
          <a:xfrm flipH="1" flipV="1">
            <a:off x="8203346" y="5605656"/>
            <a:ext cx="1733550" cy="628650"/>
          </a:xfrm>
          <a:prstGeom prst="rtTriangle">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9" name="AutoShape 83" descr="浅色竖线"/>
          <p:cNvSpPr>
            <a:spLocks noChangeArrowheads="1"/>
          </p:cNvSpPr>
          <p:nvPr/>
        </p:nvSpPr>
        <p:spPr bwMode="auto">
          <a:xfrm rot="10800000" flipH="1" flipV="1">
            <a:off x="9936896" y="5256406"/>
            <a:ext cx="942975" cy="342900"/>
          </a:xfrm>
          <a:prstGeom prst="rtTriangle">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0" name="Rectangle 84" descr="浅色竖线"/>
          <p:cNvSpPr>
            <a:spLocks noChangeArrowheads="1"/>
          </p:cNvSpPr>
          <p:nvPr/>
        </p:nvSpPr>
        <p:spPr bwMode="auto">
          <a:xfrm>
            <a:off x="8231921" y="3991168"/>
            <a:ext cx="2660650" cy="368300"/>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01" name="Group 87"/>
          <p:cNvGrpSpPr>
            <a:grpSpLocks/>
          </p:cNvGrpSpPr>
          <p:nvPr/>
        </p:nvGrpSpPr>
        <p:grpSpPr bwMode="auto">
          <a:xfrm>
            <a:off x="9368571" y="3919731"/>
            <a:ext cx="569913" cy="468312"/>
            <a:chOff x="4503" y="2280"/>
            <a:chExt cx="269" cy="231"/>
          </a:xfrm>
        </p:grpSpPr>
        <p:sp>
          <p:nvSpPr>
            <p:cNvPr id="102" name="Oval 88"/>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3" name="Text Box 89"/>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04" name="Text Box 90"/>
          <p:cNvSpPr txBox="1">
            <a:spLocks noChangeAspect="1" noChangeArrowheads="1"/>
          </p:cNvSpPr>
          <p:nvPr/>
        </p:nvSpPr>
        <p:spPr bwMode="auto">
          <a:xfrm>
            <a:off x="10544909" y="4865881"/>
            <a:ext cx="960437"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05" name="Text Box 92"/>
          <p:cNvSpPr txBox="1">
            <a:spLocks noChangeAspect="1" noChangeArrowheads="1"/>
          </p:cNvSpPr>
          <p:nvPr/>
        </p:nvSpPr>
        <p:spPr bwMode="auto">
          <a:xfrm>
            <a:off x="8958996" y="4332481"/>
            <a:ext cx="11477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M</a:t>
            </a:r>
            <a:r>
              <a:rPr lang="en-US" altLang="zh-CN" sz="2800" b="0" i="0">
                <a:solidFill>
                  <a:srgbClr val="000000"/>
                </a:solidFill>
                <a:latin typeface="黑体" panose="02010609060101010101" pitchFamily="49"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sp>
        <p:nvSpPr>
          <p:cNvPr id="106" name="Oval 96"/>
          <p:cNvSpPr>
            <a:spLocks noChangeArrowheads="1"/>
          </p:cNvSpPr>
          <p:nvPr/>
        </p:nvSpPr>
        <p:spPr bwMode="auto">
          <a:xfrm>
            <a:off x="9900384" y="6199381"/>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Oval 97"/>
          <p:cNvSpPr>
            <a:spLocks noChangeArrowheads="1"/>
          </p:cNvSpPr>
          <p:nvPr/>
        </p:nvSpPr>
        <p:spPr bwMode="auto">
          <a:xfrm>
            <a:off x="8177946" y="5567556"/>
            <a:ext cx="74613"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Oval 98"/>
          <p:cNvSpPr>
            <a:spLocks noChangeArrowheads="1"/>
          </p:cNvSpPr>
          <p:nvPr/>
        </p:nvSpPr>
        <p:spPr bwMode="auto">
          <a:xfrm>
            <a:off x="9900384" y="521195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13" name="Group 99"/>
          <p:cNvGrpSpPr>
            <a:grpSpLocks/>
          </p:cNvGrpSpPr>
          <p:nvPr/>
        </p:nvGrpSpPr>
        <p:grpSpPr bwMode="auto">
          <a:xfrm>
            <a:off x="9303484" y="5592956"/>
            <a:ext cx="592137" cy="523875"/>
            <a:chOff x="3767" y="1607"/>
            <a:chExt cx="373" cy="330"/>
          </a:xfrm>
        </p:grpSpPr>
        <p:sp>
          <p:nvSpPr>
            <p:cNvPr id="118" name="Oval 100"/>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9" name="Text Box 101"/>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20" name="Oval 102"/>
          <p:cNvSpPr>
            <a:spLocks noChangeArrowheads="1"/>
          </p:cNvSpPr>
          <p:nvPr/>
        </p:nvSpPr>
        <p:spPr bwMode="auto">
          <a:xfrm>
            <a:off x="10854471" y="555009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Text Box 103"/>
          <p:cNvSpPr txBox="1">
            <a:spLocks noChangeAspect="1" noChangeArrowheads="1"/>
          </p:cNvSpPr>
          <p:nvPr/>
        </p:nvSpPr>
        <p:spPr bwMode="auto">
          <a:xfrm>
            <a:off x="9538434" y="4784918"/>
            <a:ext cx="974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Mb</a:t>
            </a:r>
            <a:r>
              <a:rPr lang="en-US" altLang="zh-CN" sz="2800" b="0" i="0">
                <a:solidFill>
                  <a:srgbClr val="000000"/>
                </a:solidFill>
                <a:latin typeface="宋体" panose="02010600030101010101" pitchFamily="2" charset="-122"/>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124" name="Group 104"/>
          <p:cNvGrpSpPr>
            <a:grpSpLocks/>
          </p:cNvGrpSpPr>
          <p:nvPr/>
        </p:nvGrpSpPr>
        <p:grpSpPr bwMode="auto">
          <a:xfrm>
            <a:off x="9859109" y="5208781"/>
            <a:ext cx="569912" cy="441325"/>
            <a:chOff x="4503" y="2280"/>
            <a:chExt cx="269" cy="231"/>
          </a:xfrm>
        </p:grpSpPr>
        <p:sp>
          <p:nvSpPr>
            <p:cNvPr id="125" name="Oval 105"/>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8" name="Text Box 106"/>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1" name="Text Box 74"/>
          <p:cNvSpPr txBox="1">
            <a:spLocks noChangeAspect="1" noChangeArrowheads="1"/>
          </p:cNvSpPr>
          <p:nvPr/>
        </p:nvSpPr>
        <p:spPr bwMode="auto">
          <a:xfrm flipH="1">
            <a:off x="8190646" y="4451543"/>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42" name="Line 76"/>
          <p:cNvSpPr>
            <a:spLocks noChangeShapeType="1"/>
          </p:cNvSpPr>
          <p:nvPr/>
        </p:nvSpPr>
        <p:spPr bwMode="auto">
          <a:xfrm rot="16200000">
            <a:off x="7635814" y="3984025"/>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79"/>
          <p:cNvSpPr txBox="1">
            <a:spLocks noChangeAspect="1" noChangeArrowheads="1"/>
          </p:cNvSpPr>
          <p:nvPr/>
        </p:nvSpPr>
        <p:spPr bwMode="auto">
          <a:xfrm>
            <a:off x="7811234" y="5277043"/>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44" name="Line 80"/>
          <p:cNvSpPr>
            <a:spLocks noChangeShapeType="1"/>
          </p:cNvSpPr>
          <p:nvPr/>
        </p:nvSpPr>
        <p:spPr bwMode="auto">
          <a:xfrm>
            <a:off x="8200171" y="399910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5" name="Line 81"/>
          <p:cNvSpPr>
            <a:spLocks noChangeShapeType="1"/>
          </p:cNvSpPr>
          <p:nvPr/>
        </p:nvSpPr>
        <p:spPr bwMode="auto">
          <a:xfrm>
            <a:off x="8182709" y="5591368"/>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6" name="Text Box 91"/>
          <p:cNvSpPr txBox="1">
            <a:spLocks noChangeAspect="1" noChangeArrowheads="1"/>
          </p:cNvSpPr>
          <p:nvPr/>
        </p:nvSpPr>
        <p:spPr bwMode="auto">
          <a:xfrm>
            <a:off x="10463946" y="3392681"/>
            <a:ext cx="10414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47" name="Oval 93"/>
          <p:cNvSpPr>
            <a:spLocks noChangeArrowheads="1"/>
          </p:cNvSpPr>
          <p:nvPr/>
        </p:nvSpPr>
        <p:spPr bwMode="auto">
          <a:xfrm>
            <a:off x="8212871" y="430231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Oval 94"/>
          <p:cNvSpPr>
            <a:spLocks noChangeArrowheads="1"/>
          </p:cNvSpPr>
          <p:nvPr/>
        </p:nvSpPr>
        <p:spPr bwMode="auto">
          <a:xfrm>
            <a:off x="10851296" y="4303906"/>
            <a:ext cx="74613"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576455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47"/>
                                        </p:tgtEl>
                                        <p:attrNameLst>
                                          <p:attrName>style.visibility</p:attrName>
                                        </p:attrNameLst>
                                      </p:cBhvr>
                                      <p:to>
                                        <p:strVal val="visible"/>
                                      </p:to>
                                    </p:set>
                                    <p:animEffect transition="in" filter="box(in)">
                                      <p:cBhvr>
                                        <p:cTn id="9" dur="5000"/>
                                        <p:tgtEl>
                                          <p:spTgt spid="47"/>
                                        </p:tgtEl>
                                      </p:cBhvr>
                                    </p:animEffect>
                                  </p:childTnLst>
                                </p:cTn>
                              </p:par>
                              <p:par>
                                <p:cTn id="10" presetID="8" presetClass="entr" presetSubtype="32" fill="hold" nodeType="withEffect">
                                  <p:stCondLst>
                                    <p:cond delay="2500"/>
                                  </p:stCondLst>
                                  <p:childTnLst>
                                    <p:set>
                                      <p:cBhvr>
                                        <p:cTn id="11" dur="1" fill="hold">
                                          <p:stCondLst>
                                            <p:cond delay="0"/>
                                          </p:stCondLst>
                                        </p:cTn>
                                        <p:tgtEl>
                                          <p:spTgt spid="69"/>
                                        </p:tgtEl>
                                        <p:attrNameLst>
                                          <p:attrName>style.visibility</p:attrName>
                                        </p:attrNameLst>
                                      </p:cBhvr>
                                      <p:to>
                                        <p:strVal val="visible"/>
                                      </p:to>
                                    </p:set>
                                    <p:animEffect transition="in" filter="diamond(out)">
                                      <p:cBhvr>
                                        <p:cTn id="12" dur="5000"/>
                                        <p:tgtEl>
                                          <p:spTgt spid="69"/>
                                        </p:tgtEl>
                                      </p:cBhvr>
                                    </p:animEffect>
                                  </p:childTnLst>
                                </p:cTn>
                              </p:par>
                              <p:par>
                                <p:cTn id="13" presetID="8" presetClass="entr" presetSubtype="32" fill="hold" nodeType="withEffect">
                                  <p:stCondLst>
                                    <p:cond delay="2500"/>
                                  </p:stCondLst>
                                  <p:childTnLst>
                                    <p:set>
                                      <p:cBhvr>
                                        <p:cTn id="14" dur="1" fill="hold">
                                          <p:stCondLst>
                                            <p:cond delay="0"/>
                                          </p:stCondLst>
                                        </p:cTn>
                                        <p:tgtEl>
                                          <p:spTgt spid="83"/>
                                        </p:tgtEl>
                                        <p:attrNameLst>
                                          <p:attrName>style.visibility</p:attrName>
                                        </p:attrNameLst>
                                      </p:cBhvr>
                                      <p:to>
                                        <p:strVal val="visible"/>
                                      </p:to>
                                    </p:set>
                                    <p:animEffect transition="in" filter="diamond(out)">
                                      <p:cBhvr>
                                        <p:cTn id="15" dur="5000"/>
                                        <p:tgtEl>
                                          <p:spTgt spid="83"/>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91"/>
                                        </p:tgtEl>
                                        <p:attrNameLst>
                                          <p:attrName>style.visibility</p:attrName>
                                        </p:attrNameLst>
                                      </p:cBhvr>
                                      <p:to>
                                        <p:strVal val="visible"/>
                                      </p:to>
                                    </p:set>
                                    <p:animEffect transition="in" filter="slide(fromBottom)">
                                      <p:cBhvr>
                                        <p:cTn id="20" dur="5000"/>
                                        <p:tgtEl>
                                          <p:spTgt spid="91"/>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slide(fromBottom)">
                                      <p:cBhvr>
                                        <p:cTn id="23" dur="5000"/>
                                        <p:tgtEl>
                                          <p:spTgt spid="92"/>
                                        </p:tgtEl>
                                      </p:cBhvr>
                                    </p:animEffect>
                                  </p:childTnLst>
                                </p:cTn>
                              </p:par>
                            </p:childTnLst>
                          </p:cTn>
                        </p:par>
                        <p:par>
                          <p:cTn id="24" fill="hold">
                            <p:stCondLst>
                              <p:cond delay="5000"/>
                            </p:stCondLst>
                            <p:childTnLst>
                              <p:par>
                                <p:cTn id="25" presetID="9" presetClass="emph" presetSubtype="0" nodeType="afterEffect">
                                  <p:stCondLst>
                                    <p:cond delay="0"/>
                                  </p:stCondLst>
                                  <p:childTnLst>
                                    <p:set>
                                      <p:cBhvr rctx="PPT">
                                        <p:cTn id="26" dur="indefinite"/>
                                        <p:tgtEl>
                                          <p:spTgt spid="69"/>
                                        </p:tgtEl>
                                        <p:attrNameLst>
                                          <p:attrName>style.opacity</p:attrName>
                                        </p:attrNameLst>
                                      </p:cBhvr>
                                      <p:to>
                                        <p:strVal val="0.5"/>
                                      </p:to>
                                    </p:set>
                                    <p:animEffect filter="image" prLst="opacity: 0.5">
                                      <p:cBhvr rctx="IE">
                                        <p:cTn id="27" dur="indefinite"/>
                                        <p:tgtEl>
                                          <p:spTgt spid="69"/>
                                        </p:tgtEl>
                                      </p:cBhvr>
                                    </p:animEffect>
                                  </p:childTnLst>
                                </p:cTn>
                              </p:par>
                              <p:par>
                                <p:cTn id="28" presetID="9" presetClass="emph" presetSubtype="0" nodeType="withEffect">
                                  <p:stCondLst>
                                    <p:cond delay="0"/>
                                  </p:stCondLst>
                                  <p:childTnLst>
                                    <p:set>
                                      <p:cBhvr rctx="PPT">
                                        <p:cTn id="29" dur="indefinite"/>
                                        <p:tgtEl>
                                          <p:spTgt spid="83"/>
                                        </p:tgtEl>
                                        <p:attrNameLst>
                                          <p:attrName>style.opacity</p:attrName>
                                        </p:attrNameLst>
                                      </p:cBhvr>
                                      <p:to>
                                        <p:strVal val="0.5"/>
                                      </p:to>
                                    </p:set>
                                    <p:animEffect filter="image" prLst="opacity: 0.5">
                                      <p:cBhvr rctx="IE">
                                        <p:cTn id="30" dur="indefinite"/>
                                        <p:tgtEl>
                                          <p:spTgt spid="83"/>
                                        </p:tgtEl>
                                      </p:cBhvr>
                                    </p:animEffect>
                                  </p:childTnLst>
                                </p:cTn>
                              </p:par>
                            </p:childTnLst>
                          </p:cTn>
                        </p:par>
                        <p:par>
                          <p:cTn id="31" fill="hold">
                            <p:stCondLst>
                              <p:cond delay="5000"/>
                            </p:stCondLst>
                            <p:childTnLst>
                              <p:par>
                                <p:cTn id="32" presetID="19" presetClass="entr" presetSubtype="10" fill="hold" grpId="0" nodeType="afterEffect">
                                  <p:stCondLst>
                                    <p:cond delay="0"/>
                                  </p:stCondLst>
                                  <p:childTnLst>
                                    <p:set>
                                      <p:cBhvr>
                                        <p:cTn id="33" dur="1" fill="hold">
                                          <p:stCondLst>
                                            <p:cond delay="0"/>
                                          </p:stCondLst>
                                        </p:cTn>
                                        <p:tgtEl>
                                          <p:spTgt spid="89"/>
                                        </p:tgtEl>
                                        <p:attrNameLst>
                                          <p:attrName>style.visibility</p:attrName>
                                        </p:attrNameLst>
                                      </p:cBhvr>
                                      <p:to>
                                        <p:strVal val="visible"/>
                                      </p:to>
                                    </p:set>
                                    <p:anim calcmode="lin" valueType="num">
                                      <p:cBhvr>
                                        <p:cTn id="34" dur="5000" fill="hold"/>
                                        <p:tgtEl>
                                          <p:spTgt spid="89"/>
                                        </p:tgtEl>
                                        <p:attrNameLst>
                                          <p:attrName>ppt_w</p:attrName>
                                        </p:attrNameLst>
                                      </p:cBhvr>
                                      <p:tavLst>
                                        <p:tav tm="0" fmla="#ppt_w*sin(2.5*pi*$)">
                                          <p:val>
                                            <p:fltVal val="0"/>
                                          </p:val>
                                        </p:tav>
                                        <p:tav tm="100000">
                                          <p:val>
                                            <p:fltVal val="1"/>
                                          </p:val>
                                        </p:tav>
                                      </p:tavLst>
                                    </p:anim>
                                    <p:anim calcmode="lin" valueType="num">
                                      <p:cBhvr>
                                        <p:cTn id="35" dur="5000" fill="hold"/>
                                        <p:tgtEl>
                                          <p:spTgt spid="89"/>
                                        </p:tgtEl>
                                        <p:attrNameLst>
                                          <p:attrName>ppt_h</p:attrName>
                                        </p:attrNameLst>
                                      </p:cBhvr>
                                      <p:tavLst>
                                        <p:tav tm="0">
                                          <p:val>
                                            <p:strVal val="#ppt_h"/>
                                          </p:val>
                                        </p:tav>
                                        <p:tav tm="100000">
                                          <p:val>
                                            <p:strVal val="#ppt_h"/>
                                          </p:val>
                                        </p:tav>
                                      </p:tavLst>
                                    </p:anim>
                                  </p:childTnLst>
                                </p:cTn>
                              </p:par>
                              <p:par>
                                <p:cTn id="36" presetID="19" presetClass="entr" presetSubtype="1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 calcmode="lin" valueType="num">
                                      <p:cBhvr>
                                        <p:cTn id="38" dur="5000" fill="hold"/>
                                        <p:tgtEl>
                                          <p:spTgt spid="90"/>
                                        </p:tgtEl>
                                        <p:attrNameLst>
                                          <p:attrName>ppt_w</p:attrName>
                                        </p:attrNameLst>
                                      </p:cBhvr>
                                      <p:tavLst>
                                        <p:tav tm="0" fmla="#ppt_w*sin(2.5*pi*$)">
                                          <p:val>
                                            <p:fltVal val="0"/>
                                          </p:val>
                                        </p:tav>
                                        <p:tav tm="100000">
                                          <p:val>
                                            <p:fltVal val="1"/>
                                          </p:val>
                                        </p:tav>
                                      </p:tavLst>
                                    </p:anim>
                                    <p:anim calcmode="lin" valueType="num">
                                      <p:cBhvr>
                                        <p:cTn id="39" dur="5000" fill="hold"/>
                                        <p:tgtEl>
                                          <p:spTgt spid="90"/>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wipe(left)">
                                      <p:cBhvr>
                                        <p:cTn id="48" dur="30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animEffect transition="in" filter="wipe(left)">
                                      <p:cBhvr>
                                        <p:cTn id="53" dur="3000"/>
                                        <p:tgtEl>
                                          <p:spTgt spid="7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145"/>
                                        </p:tgtEl>
                                        <p:attrNameLst>
                                          <p:attrName>style.visibility</p:attrName>
                                        </p:attrNameLst>
                                      </p:cBhvr>
                                      <p:to>
                                        <p:strVal val="visible"/>
                                      </p:to>
                                    </p:set>
                                    <p:animEffect transition="in" filter="slide(fromLeft)">
                                      <p:cBhvr>
                                        <p:cTn id="66" dur="5000"/>
                                        <p:tgtEl>
                                          <p:spTgt spid="145"/>
                                        </p:tgtEl>
                                      </p:cBhvr>
                                    </p:animEffect>
                                  </p:childTnLst>
                                </p:cTn>
                              </p:par>
                              <p:par>
                                <p:cTn id="67" presetID="19" presetClass="entr" presetSubtype="10" fill="hold" nodeType="withEffect">
                                  <p:stCondLst>
                                    <p:cond delay="500"/>
                                  </p:stCondLst>
                                  <p:childTnLst>
                                    <p:set>
                                      <p:cBhvr>
                                        <p:cTn id="68" dur="1" fill="hold">
                                          <p:stCondLst>
                                            <p:cond delay="0"/>
                                          </p:stCondLst>
                                        </p:cTn>
                                        <p:tgtEl>
                                          <p:spTgt spid="93"/>
                                        </p:tgtEl>
                                        <p:attrNameLst>
                                          <p:attrName>style.visibility</p:attrName>
                                        </p:attrNameLst>
                                      </p:cBhvr>
                                      <p:to>
                                        <p:strVal val="visible"/>
                                      </p:to>
                                    </p:set>
                                    <p:anim calcmode="lin" valueType="num">
                                      <p:cBhvr>
                                        <p:cTn id="69" dur="5000" fill="hold"/>
                                        <p:tgtEl>
                                          <p:spTgt spid="93"/>
                                        </p:tgtEl>
                                        <p:attrNameLst>
                                          <p:attrName>ppt_w</p:attrName>
                                        </p:attrNameLst>
                                      </p:cBhvr>
                                      <p:tavLst>
                                        <p:tav tm="0" fmla="#ppt_w*sin(2.5*pi*$)">
                                          <p:val>
                                            <p:fltVal val="0"/>
                                          </p:val>
                                        </p:tav>
                                        <p:tav tm="100000">
                                          <p:val>
                                            <p:fltVal val="1"/>
                                          </p:val>
                                        </p:tav>
                                      </p:tavLst>
                                    </p:anim>
                                    <p:anim calcmode="lin" valueType="num">
                                      <p:cBhvr>
                                        <p:cTn id="70" dur="5000" fill="hold"/>
                                        <p:tgtEl>
                                          <p:spTgt spid="93"/>
                                        </p:tgtEl>
                                        <p:attrNameLst>
                                          <p:attrName>ppt_h</p:attrName>
                                        </p:attrNameLst>
                                      </p:cBhvr>
                                      <p:tavLst>
                                        <p:tav tm="0">
                                          <p:val>
                                            <p:strVal val="#ppt_h"/>
                                          </p:val>
                                        </p:tav>
                                        <p:tav tm="100000">
                                          <p:val>
                                            <p:strVal val="#ppt_h"/>
                                          </p:val>
                                        </p:tav>
                                      </p:tavLst>
                                    </p:anim>
                                  </p:childTnLst>
                                </p:cTn>
                              </p:par>
                              <p:par>
                                <p:cTn id="71" presetID="12" presetClass="entr" presetSubtype="4" fill="hold" grpId="0" nodeType="withEffect">
                                  <p:stCondLst>
                                    <p:cond delay="500"/>
                                  </p:stCondLst>
                                  <p:childTnLst>
                                    <p:set>
                                      <p:cBhvr>
                                        <p:cTn id="72" dur="1" fill="hold">
                                          <p:stCondLst>
                                            <p:cond delay="0"/>
                                          </p:stCondLst>
                                        </p:cTn>
                                        <p:tgtEl>
                                          <p:spTgt spid="94"/>
                                        </p:tgtEl>
                                        <p:attrNameLst>
                                          <p:attrName>style.visibility</p:attrName>
                                        </p:attrNameLst>
                                      </p:cBhvr>
                                      <p:to>
                                        <p:strVal val="visible"/>
                                      </p:to>
                                    </p:set>
                                    <p:animEffect transition="in" filter="slide(fromBottom)">
                                      <p:cBhvr>
                                        <p:cTn id="73" dur="5000"/>
                                        <p:tgtEl>
                                          <p:spTgt spid="94"/>
                                        </p:tgtEl>
                                      </p:cBhvr>
                                    </p:animEffect>
                                  </p:childTnLst>
                                </p:cTn>
                              </p:par>
                              <p:par>
                                <p:cTn id="74" presetID="19" presetClass="entr" presetSubtype="10" fill="hold" nodeType="withEffect">
                                  <p:stCondLst>
                                    <p:cond delay="500"/>
                                  </p:stCondLst>
                                  <p:childTnLst>
                                    <p:set>
                                      <p:cBhvr>
                                        <p:cTn id="75" dur="1" fill="hold">
                                          <p:stCondLst>
                                            <p:cond delay="0"/>
                                          </p:stCondLst>
                                        </p:cTn>
                                        <p:tgtEl>
                                          <p:spTgt spid="141"/>
                                        </p:tgtEl>
                                        <p:attrNameLst>
                                          <p:attrName>style.visibility</p:attrName>
                                        </p:attrNameLst>
                                      </p:cBhvr>
                                      <p:to>
                                        <p:strVal val="visible"/>
                                      </p:to>
                                    </p:set>
                                    <p:anim calcmode="lin" valueType="num">
                                      <p:cBhvr>
                                        <p:cTn id="76" dur="5000" fill="hold"/>
                                        <p:tgtEl>
                                          <p:spTgt spid="141"/>
                                        </p:tgtEl>
                                        <p:attrNameLst>
                                          <p:attrName>ppt_w</p:attrName>
                                        </p:attrNameLst>
                                      </p:cBhvr>
                                      <p:tavLst>
                                        <p:tav tm="0" fmla="#ppt_w*sin(2.5*pi*$)">
                                          <p:val>
                                            <p:fltVal val="0"/>
                                          </p:val>
                                        </p:tav>
                                        <p:tav tm="100000">
                                          <p:val>
                                            <p:fltVal val="1"/>
                                          </p:val>
                                        </p:tav>
                                      </p:tavLst>
                                    </p:anim>
                                    <p:anim calcmode="lin" valueType="num">
                                      <p:cBhvr>
                                        <p:cTn id="77" dur="5000" fill="hold"/>
                                        <p:tgtEl>
                                          <p:spTgt spid="141"/>
                                        </p:tgtEl>
                                        <p:attrNameLst>
                                          <p:attrName>ppt_h</p:attrName>
                                        </p:attrNameLst>
                                      </p:cBhvr>
                                      <p:tavLst>
                                        <p:tav tm="0">
                                          <p:val>
                                            <p:strVal val="#ppt_h"/>
                                          </p:val>
                                        </p:tav>
                                        <p:tav tm="100000">
                                          <p:val>
                                            <p:strVal val="#ppt_h"/>
                                          </p:val>
                                        </p:tav>
                                      </p:tavLst>
                                    </p:anim>
                                  </p:childTnLst>
                                </p:cTn>
                              </p:par>
                              <p:par>
                                <p:cTn id="78" presetID="12" presetClass="entr" presetSubtype="8" fill="hold" grpId="0" nodeType="withEffect">
                                  <p:stCondLst>
                                    <p:cond delay="500"/>
                                  </p:stCondLst>
                                  <p:childTnLst>
                                    <p:set>
                                      <p:cBhvr>
                                        <p:cTn id="79" dur="1" fill="hold">
                                          <p:stCondLst>
                                            <p:cond delay="0"/>
                                          </p:stCondLst>
                                        </p:cTn>
                                        <p:tgtEl>
                                          <p:spTgt spid="144"/>
                                        </p:tgtEl>
                                        <p:attrNameLst>
                                          <p:attrName>style.visibility</p:attrName>
                                        </p:attrNameLst>
                                      </p:cBhvr>
                                      <p:to>
                                        <p:strVal val="visible"/>
                                      </p:to>
                                    </p:set>
                                    <p:animEffect transition="in" filter="slide(fromLeft)">
                                      <p:cBhvr>
                                        <p:cTn id="80" dur="5000"/>
                                        <p:tgtEl>
                                          <p:spTgt spid="144"/>
                                        </p:tgtEl>
                                      </p:cBhvr>
                                    </p:animEffect>
                                  </p:childTnLst>
                                </p:cTn>
                              </p:par>
                              <p:par>
                                <p:cTn id="81" presetID="19" presetClass="entr" presetSubtype="10" fill="hold" grpId="0" nodeType="withEffect">
                                  <p:stCondLst>
                                    <p:cond delay="500"/>
                                  </p:stCondLst>
                                  <p:childTnLst>
                                    <p:set>
                                      <p:cBhvr>
                                        <p:cTn id="82" dur="1" fill="hold">
                                          <p:stCondLst>
                                            <p:cond delay="0"/>
                                          </p:stCondLst>
                                        </p:cTn>
                                        <p:tgtEl>
                                          <p:spTgt spid="95"/>
                                        </p:tgtEl>
                                        <p:attrNameLst>
                                          <p:attrName>style.visibility</p:attrName>
                                        </p:attrNameLst>
                                      </p:cBhvr>
                                      <p:to>
                                        <p:strVal val="visible"/>
                                      </p:to>
                                    </p:set>
                                    <p:anim calcmode="lin" valueType="num">
                                      <p:cBhvr>
                                        <p:cTn id="83" dur="5000" fill="hold"/>
                                        <p:tgtEl>
                                          <p:spTgt spid="95"/>
                                        </p:tgtEl>
                                        <p:attrNameLst>
                                          <p:attrName>ppt_w</p:attrName>
                                        </p:attrNameLst>
                                      </p:cBhvr>
                                      <p:tavLst>
                                        <p:tav tm="0" fmla="#ppt_w*sin(2.5*pi*$)">
                                          <p:val>
                                            <p:fltVal val="0"/>
                                          </p:val>
                                        </p:tav>
                                        <p:tav tm="100000">
                                          <p:val>
                                            <p:fltVal val="1"/>
                                          </p:val>
                                        </p:tav>
                                      </p:tavLst>
                                    </p:anim>
                                    <p:anim calcmode="lin" valueType="num">
                                      <p:cBhvr>
                                        <p:cTn id="84" dur="5000" fill="hold"/>
                                        <p:tgtEl>
                                          <p:spTgt spid="95"/>
                                        </p:tgtEl>
                                        <p:attrNameLst>
                                          <p:attrName>ppt_h</p:attrName>
                                        </p:attrNameLst>
                                      </p:cBhvr>
                                      <p:tavLst>
                                        <p:tav tm="0">
                                          <p:val>
                                            <p:strVal val="#ppt_h"/>
                                          </p:val>
                                        </p:tav>
                                        <p:tav tm="100000">
                                          <p:val>
                                            <p:strVal val="#ppt_h"/>
                                          </p:val>
                                        </p:tav>
                                      </p:tavLst>
                                    </p:anim>
                                  </p:childTnLst>
                                </p:cTn>
                              </p:par>
                              <p:par>
                                <p:cTn id="85" presetID="12" presetClass="entr" presetSubtype="4" fill="hold" grpId="0" nodeType="withEffect">
                                  <p:stCondLst>
                                    <p:cond delay="500"/>
                                  </p:stCondLst>
                                  <p:childTnLst>
                                    <p:set>
                                      <p:cBhvr>
                                        <p:cTn id="86" dur="1" fill="hold">
                                          <p:stCondLst>
                                            <p:cond delay="0"/>
                                          </p:stCondLst>
                                        </p:cTn>
                                        <p:tgtEl>
                                          <p:spTgt spid="142"/>
                                        </p:tgtEl>
                                        <p:attrNameLst>
                                          <p:attrName>style.visibility</p:attrName>
                                        </p:attrNameLst>
                                      </p:cBhvr>
                                      <p:to>
                                        <p:strVal val="visible"/>
                                      </p:to>
                                    </p:set>
                                    <p:animEffect transition="in" filter="slide(fromBottom)">
                                      <p:cBhvr>
                                        <p:cTn id="87" dur="5000"/>
                                        <p:tgtEl>
                                          <p:spTgt spid="142"/>
                                        </p:tgtEl>
                                      </p:cBhvr>
                                    </p:animEffect>
                                  </p:childTnLst>
                                </p:cTn>
                              </p:par>
                              <p:par>
                                <p:cTn id="88" presetID="19" presetClass="entr" presetSubtype="10" fill="hold" grpId="0" nodeType="withEffect">
                                  <p:stCondLst>
                                    <p:cond delay="500"/>
                                  </p:stCondLst>
                                  <p:childTnLst>
                                    <p:set>
                                      <p:cBhvr>
                                        <p:cTn id="89" dur="1" fill="hold">
                                          <p:stCondLst>
                                            <p:cond delay="0"/>
                                          </p:stCondLst>
                                        </p:cTn>
                                        <p:tgtEl>
                                          <p:spTgt spid="96"/>
                                        </p:tgtEl>
                                        <p:attrNameLst>
                                          <p:attrName>style.visibility</p:attrName>
                                        </p:attrNameLst>
                                      </p:cBhvr>
                                      <p:to>
                                        <p:strVal val="visible"/>
                                      </p:to>
                                    </p:set>
                                    <p:anim calcmode="lin" valueType="num">
                                      <p:cBhvr>
                                        <p:cTn id="90" dur="5000" fill="hold"/>
                                        <p:tgtEl>
                                          <p:spTgt spid="96"/>
                                        </p:tgtEl>
                                        <p:attrNameLst>
                                          <p:attrName>ppt_w</p:attrName>
                                        </p:attrNameLst>
                                      </p:cBhvr>
                                      <p:tavLst>
                                        <p:tav tm="0" fmla="#ppt_w*sin(2.5*pi*$)">
                                          <p:val>
                                            <p:fltVal val="0"/>
                                          </p:val>
                                        </p:tav>
                                        <p:tav tm="100000">
                                          <p:val>
                                            <p:fltVal val="1"/>
                                          </p:val>
                                        </p:tav>
                                      </p:tavLst>
                                    </p:anim>
                                    <p:anim calcmode="lin" valueType="num">
                                      <p:cBhvr>
                                        <p:cTn id="91" dur="5000" fill="hold"/>
                                        <p:tgtEl>
                                          <p:spTgt spid="96"/>
                                        </p:tgtEl>
                                        <p:attrNameLst>
                                          <p:attrName>ppt_h</p:attrName>
                                        </p:attrNameLst>
                                      </p:cBhvr>
                                      <p:tavLst>
                                        <p:tav tm="0">
                                          <p:val>
                                            <p:strVal val="#ppt_h"/>
                                          </p:val>
                                        </p:tav>
                                        <p:tav tm="100000">
                                          <p:val>
                                            <p:strVal val="#ppt_h"/>
                                          </p:val>
                                        </p:tav>
                                      </p:tavLst>
                                    </p:anim>
                                  </p:childTnLst>
                                </p:cTn>
                              </p:par>
                              <p:par>
                                <p:cTn id="92" presetID="19" presetClass="entr" presetSubtype="10" fill="hold" grpId="0" nodeType="withEffect">
                                  <p:stCondLst>
                                    <p:cond delay="500"/>
                                  </p:stCondLst>
                                  <p:childTnLst>
                                    <p:set>
                                      <p:cBhvr>
                                        <p:cTn id="93" dur="1" fill="hold">
                                          <p:stCondLst>
                                            <p:cond delay="0"/>
                                          </p:stCondLst>
                                        </p:cTn>
                                        <p:tgtEl>
                                          <p:spTgt spid="97"/>
                                        </p:tgtEl>
                                        <p:attrNameLst>
                                          <p:attrName>style.visibility</p:attrName>
                                        </p:attrNameLst>
                                      </p:cBhvr>
                                      <p:to>
                                        <p:strVal val="visible"/>
                                      </p:to>
                                    </p:set>
                                    <p:anim calcmode="lin" valueType="num">
                                      <p:cBhvr>
                                        <p:cTn id="94" dur="5000" fill="hold"/>
                                        <p:tgtEl>
                                          <p:spTgt spid="97"/>
                                        </p:tgtEl>
                                        <p:attrNameLst>
                                          <p:attrName>ppt_w</p:attrName>
                                        </p:attrNameLst>
                                      </p:cBhvr>
                                      <p:tavLst>
                                        <p:tav tm="0" fmla="#ppt_w*sin(2.5*pi*$)">
                                          <p:val>
                                            <p:fltVal val="0"/>
                                          </p:val>
                                        </p:tav>
                                        <p:tav tm="100000">
                                          <p:val>
                                            <p:fltVal val="1"/>
                                          </p:val>
                                        </p:tav>
                                      </p:tavLst>
                                    </p:anim>
                                    <p:anim calcmode="lin" valueType="num">
                                      <p:cBhvr>
                                        <p:cTn id="95" dur="5000" fill="hold"/>
                                        <p:tgtEl>
                                          <p:spTgt spid="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4" name="CAMERA.WAV"/>
                                        </p:tgtEl>
                                      </p:cMediaNode>
                                    </p:audio>
                                  </p:subTnLst>
                                </p:cTn>
                              </p:par>
                              <p:par>
                                <p:cTn id="96" presetID="19" presetClass="entr" presetSubtype="10" fill="hold" grpId="0" nodeType="withEffect">
                                  <p:stCondLst>
                                    <p:cond delay="500"/>
                                  </p:stCondLst>
                                  <p:childTnLst>
                                    <p:set>
                                      <p:cBhvr>
                                        <p:cTn id="97" dur="1" fill="hold">
                                          <p:stCondLst>
                                            <p:cond delay="0"/>
                                          </p:stCondLst>
                                        </p:cTn>
                                        <p:tgtEl>
                                          <p:spTgt spid="143"/>
                                        </p:tgtEl>
                                        <p:attrNameLst>
                                          <p:attrName>style.visibility</p:attrName>
                                        </p:attrNameLst>
                                      </p:cBhvr>
                                      <p:to>
                                        <p:strVal val="visible"/>
                                      </p:to>
                                    </p:set>
                                    <p:anim calcmode="lin" valueType="num">
                                      <p:cBhvr>
                                        <p:cTn id="98" dur="5000" fill="hold"/>
                                        <p:tgtEl>
                                          <p:spTgt spid="143"/>
                                        </p:tgtEl>
                                        <p:attrNameLst>
                                          <p:attrName>ppt_w</p:attrName>
                                        </p:attrNameLst>
                                      </p:cBhvr>
                                      <p:tavLst>
                                        <p:tav tm="0" fmla="#ppt_w*sin(2.5*pi*$)">
                                          <p:val>
                                            <p:fltVal val="0"/>
                                          </p:val>
                                        </p:tav>
                                        <p:tav tm="100000">
                                          <p:val>
                                            <p:fltVal val="1"/>
                                          </p:val>
                                        </p:tav>
                                      </p:tavLst>
                                    </p:anim>
                                    <p:anim calcmode="lin" valueType="num">
                                      <p:cBhvr>
                                        <p:cTn id="99" dur="5000" fill="hold"/>
                                        <p:tgtEl>
                                          <p:spTgt spid="14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4"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15" presetClass="entr" presetSubtype="0" fill="hold" grpId="0" nodeType="clickEffect">
                                  <p:stCondLst>
                                    <p:cond delay="0"/>
                                  </p:stCondLst>
                                  <p:childTnLst>
                                    <p:set>
                                      <p:cBhvr>
                                        <p:cTn id="103" dur="1" fill="hold">
                                          <p:stCondLst>
                                            <p:cond delay="0"/>
                                          </p:stCondLst>
                                        </p:cTn>
                                        <p:tgtEl>
                                          <p:spTgt spid="147"/>
                                        </p:tgtEl>
                                        <p:attrNameLst>
                                          <p:attrName>style.visibility</p:attrName>
                                        </p:attrNameLst>
                                      </p:cBhvr>
                                      <p:to>
                                        <p:strVal val="visible"/>
                                      </p:to>
                                    </p:set>
                                    <p:anim calcmode="lin" valueType="num">
                                      <p:cBhvr>
                                        <p:cTn id="104" dur="2000" fill="hold"/>
                                        <p:tgtEl>
                                          <p:spTgt spid="147"/>
                                        </p:tgtEl>
                                        <p:attrNameLst>
                                          <p:attrName>ppt_w</p:attrName>
                                        </p:attrNameLst>
                                      </p:cBhvr>
                                      <p:tavLst>
                                        <p:tav tm="0">
                                          <p:val>
                                            <p:fltVal val="0"/>
                                          </p:val>
                                        </p:tav>
                                        <p:tav tm="100000">
                                          <p:val>
                                            <p:strVal val="#ppt_w"/>
                                          </p:val>
                                        </p:tav>
                                      </p:tavLst>
                                    </p:anim>
                                    <p:anim calcmode="lin" valueType="num">
                                      <p:cBhvr>
                                        <p:cTn id="105" dur="2000" fill="hold"/>
                                        <p:tgtEl>
                                          <p:spTgt spid="147"/>
                                        </p:tgtEl>
                                        <p:attrNameLst>
                                          <p:attrName>ppt_h</p:attrName>
                                        </p:attrNameLst>
                                      </p:cBhvr>
                                      <p:tavLst>
                                        <p:tav tm="0">
                                          <p:val>
                                            <p:fltVal val="0"/>
                                          </p:val>
                                        </p:tav>
                                        <p:tav tm="100000">
                                          <p:val>
                                            <p:strVal val="#ppt_h"/>
                                          </p:val>
                                        </p:tav>
                                      </p:tavLst>
                                    </p:anim>
                                    <p:anim calcmode="lin" valueType="num">
                                      <p:cBhvr>
                                        <p:cTn id="106" dur="2000" fill="hold"/>
                                        <p:tgtEl>
                                          <p:spTgt spid="147"/>
                                        </p:tgtEl>
                                        <p:attrNameLst>
                                          <p:attrName>ppt_x</p:attrName>
                                        </p:attrNameLst>
                                      </p:cBhvr>
                                      <p:tavLst>
                                        <p:tav tm="0" fmla="#ppt_x+(cos(-2*pi*(1-$))*-#ppt_x-sin(-2*pi*(1-$))*(1-#ppt_y))*(1-$)">
                                          <p:val>
                                            <p:fltVal val="0"/>
                                          </p:val>
                                        </p:tav>
                                        <p:tav tm="100000">
                                          <p:val>
                                            <p:fltVal val="1"/>
                                          </p:val>
                                        </p:tav>
                                      </p:tavLst>
                                    </p:anim>
                                    <p:anim calcmode="lin" valueType="num">
                                      <p:cBhvr>
                                        <p:cTn id="107" dur="2000" fill="hold"/>
                                        <p:tgtEl>
                                          <p:spTgt spid="14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2"/>
                                            </p:cond>
                                          </p:stCondLst>
                                          <p:endCondLst>
                                            <p:cond evt="onStopAudio" delay="0">
                                              <p:tgtEl>
                                                <p:sldTgt/>
                                              </p:tgtEl>
                                            </p:cond>
                                          </p:endCondLst>
                                        </p:cTn>
                                        <p:tgtEl>
                                          <p:sndTgt r:embed="rId5" name="CHIMES.WAV"/>
                                        </p:tgtEl>
                                      </p:cMediaNode>
                                    </p:audio>
                                  </p:subTnLst>
                                </p:cTn>
                              </p:par>
                            </p:childTnLst>
                          </p:cTn>
                        </p:par>
                        <p:par>
                          <p:cTn id="108" fill="hold">
                            <p:stCondLst>
                              <p:cond delay="2000"/>
                            </p:stCondLst>
                            <p:childTnLst>
                              <p:par>
                                <p:cTn id="109" presetID="15" presetClass="entr" presetSubtype="0" fill="hold" grpId="0" nodeType="afterEffect">
                                  <p:stCondLst>
                                    <p:cond delay="0"/>
                                  </p:stCondLst>
                                  <p:childTnLst>
                                    <p:set>
                                      <p:cBhvr>
                                        <p:cTn id="110" dur="1" fill="hold">
                                          <p:stCondLst>
                                            <p:cond delay="0"/>
                                          </p:stCondLst>
                                        </p:cTn>
                                        <p:tgtEl>
                                          <p:spTgt spid="148"/>
                                        </p:tgtEl>
                                        <p:attrNameLst>
                                          <p:attrName>style.visibility</p:attrName>
                                        </p:attrNameLst>
                                      </p:cBhvr>
                                      <p:to>
                                        <p:strVal val="visible"/>
                                      </p:to>
                                    </p:set>
                                    <p:anim calcmode="lin" valueType="num">
                                      <p:cBhvr>
                                        <p:cTn id="111" dur="2000" fill="hold"/>
                                        <p:tgtEl>
                                          <p:spTgt spid="148"/>
                                        </p:tgtEl>
                                        <p:attrNameLst>
                                          <p:attrName>ppt_w</p:attrName>
                                        </p:attrNameLst>
                                      </p:cBhvr>
                                      <p:tavLst>
                                        <p:tav tm="0">
                                          <p:val>
                                            <p:fltVal val="0"/>
                                          </p:val>
                                        </p:tav>
                                        <p:tav tm="100000">
                                          <p:val>
                                            <p:strVal val="#ppt_w"/>
                                          </p:val>
                                        </p:tav>
                                      </p:tavLst>
                                    </p:anim>
                                    <p:anim calcmode="lin" valueType="num">
                                      <p:cBhvr>
                                        <p:cTn id="112" dur="2000" fill="hold"/>
                                        <p:tgtEl>
                                          <p:spTgt spid="148"/>
                                        </p:tgtEl>
                                        <p:attrNameLst>
                                          <p:attrName>ppt_h</p:attrName>
                                        </p:attrNameLst>
                                      </p:cBhvr>
                                      <p:tavLst>
                                        <p:tav tm="0">
                                          <p:val>
                                            <p:fltVal val="0"/>
                                          </p:val>
                                        </p:tav>
                                        <p:tav tm="100000">
                                          <p:val>
                                            <p:strVal val="#ppt_h"/>
                                          </p:val>
                                        </p:tav>
                                      </p:tavLst>
                                    </p:anim>
                                    <p:anim calcmode="lin" valueType="num">
                                      <p:cBhvr>
                                        <p:cTn id="113" dur="2000" fill="hold"/>
                                        <p:tgtEl>
                                          <p:spTgt spid="148"/>
                                        </p:tgtEl>
                                        <p:attrNameLst>
                                          <p:attrName>ppt_x</p:attrName>
                                        </p:attrNameLst>
                                      </p:cBhvr>
                                      <p:tavLst>
                                        <p:tav tm="0" fmla="#ppt_x+(cos(-2*pi*(1-$))*-#ppt_x-sin(-2*pi*(1-$))*(1-#ppt_y))*(1-$)">
                                          <p:val>
                                            <p:fltVal val="0"/>
                                          </p:val>
                                        </p:tav>
                                        <p:tav tm="100000">
                                          <p:val>
                                            <p:fltVal val="1"/>
                                          </p:val>
                                        </p:tav>
                                      </p:tavLst>
                                    </p:anim>
                                    <p:anim calcmode="lin" valueType="num">
                                      <p:cBhvr>
                                        <p:cTn id="114" dur="2000" fill="hold"/>
                                        <p:tgtEl>
                                          <p:spTgt spid="14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9"/>
                                            </p:cond>
                                          </p:stCondLst>
                                          <p:endCondLst>
                                            <p:cond evt="onStopAudio" delay="0">
                                              <p:tgtEl>
                                                <p:sldTgt/>
                                              </p:tgtEl>
                                            </p:cond>
                                          </p:endCondLst>
                                        </p:cTn>
                                        <p:tgtEl>
                                          <p:sndTgt r:embed="rId5" name="CHIMES.WAV"/>
                                        </p:tgtEl>
                                      </p:cMediaNode>
                                    </p:audio>
                                  </p:subTnLst>
                                </p:cTn>
                              </p:par>
                            </p:childTnLst>
                          </p:cTn>
                        </p:par>
                        <p:par>
                          <p:cTn id="115" fill="hold">
                            <p:stCondLst>
                              <p:cond delay="4000"/>
                            </p:stCondLst>
                            <p:childTnLst>
                              <p:par>
                                <p:cTn id="116" presetID="19" presetClass="entr" presetSubtype="10" fill="hold" grpId="0" nodeType="afterEffect">
                                  <p:stCondLst>
                                    <p:cond delay="0"/>
                                  </p:stCondLst>
                                  <p:childTnLst>
                                    <p:set>
                                      <p:cBhvr>
                                        <p:cTn id="117" dur="1" fill="hold">
                                          <p:stCondLst>
                                            <p:cond delay="0"/>
                                          </p:stCondLst>
                                        </p:cTn>
                                        <p:tgtEl>
                                          <p:spTgt spid="105"/>
                                        </p:tgtEl>
                                        <p:attrNameLst>
                                          <p:attrName>style.visibility</p:attrName>
                                        </p:attrNameLst>
                                      </p:cBhvr>
                                      <p:to>
                                        <p:strVal val="visible"/>
                                      </p:to>
                                    </p:set>
                                    <p:anim calcmode="lin" valueType="num">
                                      <p:cBhvr>
                                        <p:cTn id="118" dur="5000" fill="hold"/>
                                        <p:tgtEl>
                                          <p:spTgt spid="105"/>
                                        </p:tgtEl>
                                        <p:attrNameLst>
                                          <p:attrName>ppt_w</p:attrName>
                                        </p:attrNameLst>
                                      </p:cBhvr>
                                      <p:tavLst>
                                        <p:tav tm="0" fmla="#ppt_w*sin(2.5*pi*$)">
                                          <p:val>
                                            <p:fltVal val="0"/>
                                          </p:val>
                                        </p:tav>
                                        <p:tav tm="100000">
                                          <p:val>
                                            <p:fltVal val="1"/>
                                          </p:val>
                                        </p:tav>
                                      </p:tavLst>
                                    </p:anim>
                                    <p:anim calcmode="lin" valueType="num">
                                      <p:cBhvr>
                                        <p:cTn id="119" dur="5000" fill="hold"/>
                                        <p:tgtEl>
                                          <p:spTgt spid="1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5" name="CHIMES.WAV"/>
                                        </p:tgtEl>
                                      </p:cMediaNode>
                                    </p:audio>
                                  </p:subTnLst>
                                </p:cTn>
                              </p:par>
                            </p:childTnLst>
                          </p:cTn>
                        </p:par>
                        <p:par>
                          <p:cTn id="120" fill="hold">
                            <p:stCondLst>
                              <p:cond delay="9000"/>
                            </p:stCondLst>
                            <p:childTnLst>
                              <p:par>
                                <p:cTn id="121" presetID="15" presetClass="entr" presetSubtype="0" fill="hold" grpId="0" nodeType="afterEffect">
                                  <p:stCondLst>
                                    <p:cond delay="0"/>
                                  </p:stCondLst>
                                  <p:childTnLst>
                                    <p:set>
                                      <p:cBhvr>
                                        <p:cTn id="122" dur="1" fill="hold">
                                          <p:stCondLst>
                                            <p:cond delay="0"/>
                                          </p:stCondLst>
                                        </p:cTn>
                                        <p:tgtEl>
                                          <p:spTgt spid="109"/>
                                        </p:tgtEl>
                                        <p:attrNameLst>
                                          <p:attrName>style.visibility</p:attrName>
                                        </p:attrNameLst>
                                      </p:cBhvr>
                                      <p:to>
                                        <p:strVal val="visible"/>
                                      </p:to>
                                    </p:set>
                                    <p:anim calcmode="lin" valueType="num">
                                      <p:cBhvr>
                                        <p:cTn id="123" dur="3000" fill="hold"/>
                                        <p:tgtEl>
                                          <p:spTgt spid="109"/>
                                        </p:tgtEl>
                                        <p:attrNameLst>
                                          <p:attrName>ppt_w</p:attrName>
                                        </p:attrNameLst>
                                      </p:cBhvr>
                                      <p:tavLst>
                                        <p:tav tm="0">
                                          <p:val>
                                            <p:fltVal val="0"/>
                                          </p:val>
                                        </p:tav>
                                        <p:tav tm="100000">
                                          <p:val>
                                            <p:strVal val="#ppt_w"/>
                                          </p:val>
                                        </p:tav>
                                      </p:tavLst>
                                    </p:anim>
                                    <p:anim calcmode="lin" valueType="num">
                                      <p:cBhvr>
                                        <p:cTn id="124" dur="3000" fill="hold"/>
                                        <p:tgtEl>
                                          <p:spTgt spid="109"/>
                                        </p:tgtEl>
                                        <p:attrNameLst>
                                          <p:attrName>ppt_h</p:attrName>
                                        </p:attrNameLst>
                                      </p:cBhvr>
                                      <p:tavLst>
                                        <p:tav tm="0">
                                          <p:val>
                                            <p:fltVal val="0"/>
                                          </p:val>
                                        </p:tav>
                                        <p:tav tm="100000">
                                          <p:val>
                                            <p:strVal val="#ppt_h"/>
                                          </p:val>
                                        </p:tav>
                                      </p:tavLst>
                                    </p:anim>
                                    <p:anim calcmode="lin" valueType="num">
                                      <p:cBhvr>
                                        <p:cTn id="125" dur="3000" fill="hold"/>
                                        <p:tgtEl>
                                          <p:spTgt spid="109"/>
                                        </p:tgtEl>
                                        <p:attrNameLst>
                                          <p:attrName>ppt_x</p:attrName>
                                        </p:attrNameLst>
                                      </p:cBhvr>
                                      <p:tavLst>
                                        <p:tav tm="0" fmla="#ppt_x+(cos(-2*pi*(1-$))*-#ppt_x-sin(-2*pi*(1-$))*(1-#ppt_y))*(1-$)">
                                          <p:val>
                                            <p:fltVal val="0"/>
                                          </p:val>
                                        </p:tav>
                                        <p:tav tm="100000">
                                          <p:val>
                                            <p:fltVal val="1"/>
                                          </p:val>
                                        </p:tav>
                                      </p:tavLst>
                                    </p:anim>
                                    <p:anim calcmode="lin" valueType="num">
                                      <p:cBhvr>
                                        <p:cTn id="126" dur="3000" fill="hold"/>
                                        <p:tgtEl>
                                          <p:spTgt spid="10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1"/>
                                            </p:cond>
                                          </p:stCondLst>
                                          <p:endCondLst>
                                            <p:cond evt="onStopAudio" delay="0">
                                              <p:tgtEl>
                                                <p:sldTgt/>
                                              </p:tgtEl>
                                            </p:cond>
                                          </p:endCondLst>
                                        </p:cTn>
                                        <p:tgtEl>
                                          <p:sndTgt r:embed="rId5" name="CHIMES.WAV"/>
                                        </p:tgtEl>
                                      </p:cMediaNode>
                                    </p:audio>
                                  </p:subTnLst>
                                </p:cTn>
                              </p:par>
                            </p:childTnLst>
                          </p:cTn>
                        </p:par>
                        <p:par>
                          <p:cTn id="127" fill="hold">
                            <p:stCondLst>
                              <p:cond delay="12000"/>
                            </p:stCondLst>
                            <p:childTnLst>
                              <p:par>
                                <p:cTn id="128" presetID="15" presetClass="entr" presetSubtype="0" fill="hold" grpId="0" nodeType="afterEffect">
                                  <p:stCondLst>
                                    <p:cond delay="0"/>
                                  </p:stCondLst>
                                  <p:childTnLst>
                                    <p:set>
                                      <p:cBhvr>
                                        <p:cTn id="129" dur="1" fill="hold">
                                          <p:stCondLst>
                                            <p:cond delay="0"/>
                                          </p:stCondLst>
                                        </p:cTn>
                                        <p:tgtEl>
                                          <p:spTgt spid="106"/>
                                        </p:tgtEl>
                                        <p:attrNameLst>
                                          <p:attrName>style.visibility</p:attrName>
                                        </p:attrNameLst>
                                      </p:cBhvr>
                                      <p:to>
                                        <p:strVal val="visible"/>
                                      </p:to>
                                    </p:set>
                                    <p:anim calcmode="lin" valueType="num">
                                      <p:cBhvr>
                                        <p:cTn id="130" dur="3000" fill="hold"/>
                                        <p:tgtEl>
                                          <p:spTgt spid="106"/>
                                        </p:tgtEl>
                                        <p:attrNameLst>
                                          <p:attrName>ppt_w</p:attrName>
                                        </p:attrNameLst>
                                      </p:cBhvr>
                                      <p:tavLst>
                                        <p:tav tm="0">
                                          <p:val>
                                            <p:fltVal val="0"/>
                                          </p:val>
                                        </p:tav>
                                        <p:tav tm="100000">
                                          <p:val>
                                            <p:strVal val="#ppt_w"/>
                                          </p:val>
                                        </p:tav>
                                      </p:tavLst>
                                    </p:anim>
                                    <p:anim calcmode="lin" valueType="num">
                                      <p:cBhvr>
                                        <p:cTn id="131" dur="3000" fill="hold"/>
                                        <p:tgtEl>
                                          <p:spTgt spid="106"/>
                                        </p:tgtEl>
                                        <p:attrNameLst>
                                          <p:attrName>ppt_h</p:attrName>
                                        </p:attrNameLst>
                                      </p:cBhvr>
                                      <p:tavLst>
                                        <p:tav tm="0">
                                          <p:val>
                                            <p:fltVal val="0"/>
                                          </p:val>
                                        </p:tav>
                                        <p:tav tm="100000">
                                          <p:val>
                                            <p:strVal val="#ppt_h"/>
                                          </p:val>
                                        </p:tav>
                                      </p:tavLst>
                                    </p:anim>
                                    <p:anim calcmode="lin" valueType="num">
                                      <p:cBhvr>
                                        <p:cTn id="132" dur="3000" fill="hold"/>
                                        <p:tgtEl>
                                          <p:spTgt spid="106"/>
                                        </p:tgtEl>
                                        <p:attrNameLst>
                                          <p:attrName>ppt_x</p:attrName>
                                        </p:attrNameLst>
                                      </p:cBhvr>
                                      <p:tavLst>
                                        <p:tav tm="0" fmla="#ppt_x+(cos(-2*pi*(1-$))*-#ppt_x-sin(-2*pi*(1-$))*(1-#ppt_y))*(1-$)">
                                          <p:val>
                                            <p:fltVal val="0"/>
                                          </p:val>
                                        </p:tav>
                                        <p:tav tm="100000">
                                          <p:val>
                                            <p:fltVal val="1"/>
                                          </p:val>
                                        </p:tav>
                                      </p:tavLst>
                                    </p:anim>
                                    <p:anim calcmode="lin" valueType="num">
                                      <p:cBhvr>
                                        <p:cTn id="133" dur="3000" fill="hold"/>
                                        <p:tgtEl>
                                          <p:spTgt spid="10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8"/>
                                            </p:cond>
                                          </p:stCondLst>
                                          <p:endCondLst>
                                            <p:cond evt="onStopAudio" delay="0">
                                              <p:tgtEl>
                                                <p:sldTgt/>
                                              </p:tgtEl>
                                            </p:cond>
                                          </p:endCondLst>
                                        </p:cTn>
                                        <p:tgtEl>
                                          <p:sndTgt r:embed="rId5" name="CHIMES.WAV"/>
                                        </p:tgtEl>
                                      </p:cMediaNode>
                                    </p:audio>
                                  </p:subTnLst>
                                </p:cTn>
                              </p:par>
                            </p:childTnLst>
                          </p:cTn>
                        </p:par>
                        <p:par>
                          <p:cTn id="134" fill="hold">
                            <p:stCondLst>
                              <p:cond delay="15000"/>
                            </p:stCondLst>
                            <p:childTnLst>
                              <p:par>
                                <p:cTn id="135" presetID="15" presetClass="entr" presetSubtype="0" fill="hold" grpId="0" nodeType="afterEffect">
                                  <p:stCondLst>
                                    <p:cond delay="0"/>
                                  </p:stCondLst>
                                  <p:childTnLst>
                                    <p:set>
                                      <p:cBhvr>
                                        <p:cTn id="136" dur="1" fill="hold">
                                          <p:stCondLst>
                                            <p:cond delay="0"/>
                                          </p:stCondLst>
                                        </p:cTn>
                                        <p:tgtEl>
                                          <p:spTgt spid="112"/>
                                        </p:tgtEl>
                                        <p:attrNameLst>
                                          <p:attrName>style.visibility</p:attrName>
                                        </p:attrNameLst>
                                      </p:cBhvr>
                                      <p:to>
                                        <p:strVal val="visible"/>
                                      </p:to>
                                    </p:set>
                                    <p:anim calcmode="lin" valueType="num">
                                      <p:cBhvr>
                                        <p:cTn id="137" dur="3000" fill="hold"/>
                                        <p:tgtEl>
                                          <p:spTgt spid="112"/>
                                        </p:tgtEl>
                                        <p:attrNameLst>
                                          <p:attrName>ppt_w</p:attrName>
                                        </p:attrNameLst>
                                      </p:cBhvr>
                                      <p:tavLst>
                                        <p:tav tm="0">
                                          <p:val>
                                            <p:fltVal val="0"/>
                                          </p:val>
                                        </p:tav>
                                        <p:tav tm="100000">
                                          <p:val>
                                            <p:strVal val="#ppt_w"/>
                                          </p:val>
                                        </p:tav>
                                      </p:tavLst>
                                    </p:anim>
                                    <p:anim calcmode="lin" valueType="num">
                                      <p:cBhvr>
                                        <p:cTn id="138" dur="3000" fill="hold"/>
                                        <p:tgtEl>
                                          <p:spTgt spid="112"/>
                                        </p:tgtEl>
                                        <p:attrNameLst>
                                          <p:attrName>ppt_h</p:attrName>
                                        </p:attrNameLst>
                                      </p:cBhvr>
                                      <p:tavLst>
                                        <p:tav tm="0">
                                          <p:val>
                                            <p:fltVal val="0"/>
                                          </p:val>
                                        </p:tav>
                                        <p:tav tm="100000">
                                          <p:val>
                                            <p:strVal val="#ppt_h"/>
                                          </p:val>
                                        </p:tav>
                                      </p:tavLst>
                                    </p:anim>
                                    <p:anim calcmode="lin" valueType="num">
                                      <p:cBhvr>
                                        <p:cTn id="139" dur="3000" fill="hold"/>
                                        <p:tgtEl>
                                          <p:spTgt spid="112"/>
                                        </p:tgtEl>
                                        <p:attrNameLst>
                                          <p:attrName>ppt_x</p:attrName>
                                        </p:attrNameLst>
                                      </p:cBhvr>
                                      <p:tavLst>
                                        <p:tav tm="0" fmla="#ppt_x+(cos(-2*pi*(1-$))*-#ppt_x-sin(-2*pi*(1-$))*(1-#ppt_y))*(1-$)">
                                          <p:val>
                                            <p:fltVal val="0"/>
                                          </p:val>
                                        </p:tav>
                                        <p:tav tm="100000">
                                          <p:val>
                                            <p:fltVal val="1"/>
                                          </p:val>
                                        </p:tav>
                                      </p:tavLst>
                                    </p:anim>
                                    <p:anim calcmode="lin" valueType="num">
                                      <p:cBhvr>
                                        <p:cTn id="140" dur="3000" fill="hold"/>
                                        <p:tgtEl>
                                          <p:spTgt spid="11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5"/>
                                            </p:cond>
                                          </p:stCondLst>
                                          <p:endCondLst>
                                            <p:cond evt="onStopAudio" delay="0">
                                              <p:tgtEl>
                                                <p:sldTgt/>
                                              </p:tgtEl>
                                            </p:cond>
                                          </p:endCondLst>
                                        </p:cTn>
                                        <p:tgtEl>
                                          <p:sndTgt r:embed="rId5" name="CHIMES.WAV"/>
                                        </p:tgtEl>
                                      </p:cMediaNode>
                                    </p:audio>
                                  </p:subTnLst>
                                </p:cTn>
                              </p:par>
                            </p:childTnLst>
                          </p:cTn>
                        </p:par>
                        <p:par>
                          <p:cTn id="141" fill="hold">
                            <p:stCondLst>
                              <p:cond delay="18000"/>
                            </p:stCondLst>
                            <p:childTnLst>
                              <p:par>
                                <p:cTn id="142" presetID="19" presetClass="entr" presetSubtype="10" fill="hold" grpId="0" nodeType="afterEffect">
                                  <p:stCondLst>
                                    <p:cond delay="0"/>
                                  </p:stCondLst>
                                  <p:childTnLst>
                                    <p:set>
                                      <p:cBhvr>
                                        <p:cTn id="143" dur="1" fill="hold">
                                          <p:stCondLst>
                                            <p:cond delay="0"/>
                                          </p:stCondLst>
                                        </p:cTn>
                                        <p:tgtEl>
                                          <p:spTgt spid="121"/>
                                        </p:tgtEl>
                                        <p:attrNameLst>
                                          <p:attrName>style.visibility</p:attrName>
                                        </p:attrNameLst>
                                      </p:cBhvr>
                                      <p:to>
                                        <p:strVal val="visible"/>
                                      </p:to>
                                    </p:set>
                                    <p:anim calcmode="lin" valueType="num">
                                      <p:cBhvr>
                                        <p:cTn id="144" dur="5000" fill="hold"/>
                                        <p:tgtEl>
                                          <p:spTgt spid="121"/>
                                        </p:tgtEl>
                                        <p:attrNameLst>
                                          <p:attrName>ppt_w</p:attrName>
                                        </p:attrNameLst>
                                      </p:cBhvr>
                                      <p:tavLst>
                                        <p:tav tm="0" fmla="#ppt_w*sin(2.5*pi*$)">
                                          <p:val>
                                            <p:fltVal val="0"/>
                                          </p:val>
                                        </p:tav>
                                        <p:tav tm="100000">
                                          <p:val>
                                            <p:fltVal val="1"/>
                                          </p:val>
                                        </p:tav>
                                      </p:tavLst>
                                    </p:anim>
                                    <p:anim calcmode="lin" valueType="num">
                                      <p:cBhvr>
                                        <p:cTn id="145" dur="5000" fill="hold"/>
                                        <p:tgtEl>
                                          <p:spTgt spid="1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2"/>
                                            </p:cond>
                                          </p:stCondLst>
                                          <p:endCondLst>
                                            <p:cond evt="onStopAudio" delay="0">
                                              <p:tgtEl>
                                                <p:sldTgt/>
                                              </p:tgtEl>
                                            </p:cond>
                                          </p:endCondLst>
                                        </p:cTn>
                                        <p:tgtEl>
                                          <p:sndTgt r:embed="rId5" name="CHIMES.WAV"/>
                                        </p:tgtEl>
                                      </p:cMediaNode>
                                    </p:audio>
                                  </p:subTnLst>
                                </p:cTn>
                              </p:par>
                            </p:childTnLst>
                          </p:cTn>
                        </p:par>
                        <p:par>
                          <p:cTn id="146" fill="hold">
                            <p:stCondLst>
                              <p:cond delay="23000"/>
                            </p:stCondLst>
                            <p:childTnLst>
                              <p:par>
                                <p:cTn id="147" presetID="15" presetClass="entr" presetSubtype="0" fill="hold" grpId="0" nodeType="afterEffect">
                                  <p:stCondLst>
                                    <p:cond delay="0"/>
                                  </p:stCondLst>
                                  <p:childTnLst>
                                    <p:set>
                                      <p:cBhvr>
                                        <p:cTn id="148" dur="1" fill="hold">
                                          <p:stCondLst>
                                            <p:cond delay="0"/>
                                          </p:stCondLst>
                                        </p:cTn>
                                        <p:tgtEl>
                                          <p:spTgt spid="120"/>
                                        </p:tgtEl>
                                        <p:attrNameLst>
                                          <p:attrName>style.visibility</p:attrName>
                                        </p:attrNameLst>
                                      </p:cBhvr>
                                      <p:to>
                                        <p:strVal val="visible"/>
                                      </p:to>
                                    </p:set>
                                    <p:anim calcmode="lin" valueType="num">
                                      <p:cBhvr>
                                        <p:cTn id="149" dur="3000" fill="hold"/>
                                        <p:tgtEl>
                                          <p:spTgt spid="120"/>
                                        </p:tgtEl>
                                        <p:attrNameLst>
                                          <p:attrName>ppt_w</p:attrName>
                                        </p:attrNameLst>
                                      </p:cBhvr>
                                      <p:tavLst>
                                        <p:tav tm="0">
                                          <p:val>
                                            <p:fltVal val="0"/>
                                          </p:val>
                                        </p:tav>
                                        <p:tav tm="100000">
                                          <p:val>
                                            <p:strVal val="#ppt_w"/>
                                          </p:val>
                                        </p:tav>
                                      </p:tavLst>
                                    </p:anim>
                                    <p:anim calcmode="lin" valueType="num">
                                      <p:cBhvr>
                                        <p:cTn id="150" dur="3000" fill="hold"/>
                                        <p:tgtEl>
                                          <p:spTgt spid="120"/>
                                        </p:tgtEl>
                                        <p:attrNameLst>
                                          <p:attrName>ppt_h</p:attrName>
                                        </p:attrNameLst>
                                      </p:cBhvr>
                                      <p:tavLst>
                                        <p:tav tm="0">
                                          <p:val>
                                            <p:fltVal val="0"/>
                                          </p:val>
                                        </p:tav>
                                        <p:tav tm="100000">
                                          <p:val>
                                            <p:strVal val="#ppt_h"/>
                                          </p:val>
                                        </p:tav>
                                      </p:tavLst>
                                    </p:anim>
                                    <p:anim calcmode="lin" valueType="num">
                                      <p:cBhvr>
                                        <p:cTn id="151" dur="3000" fill="hold"/>
                                        <p:tgtEl>
                                          <p:spTgt spid="120"/>
                                        </p:tgtEl>
                                        <p:attrNameLst>
                                          <p:attrName>ppt_x</p:attrName>
                                        </p:attrNameLst>
                                      </p:cBhvr>
                                      <p:tavLst>
                                        <p:tav tm="0" fmla="#ppt_x+(cos(-2*pi*(1-$))*-#ppt_x-sin(-2*pi*(1-$))*(1-#ppt_y))*(1-$)">
                                          <p:val>
                                            <p:fltVal val="0"/>
                                          </p:val>
                                        </p:tav>
                                        <p:tav tm="100000">
                                          <p:val>
                                            <p:fltVal val="1"/>
                                          </p:val>
                                        </p:tav>
                                      </p:tavLst>
                                    </p:anim>
                                    <p:anim calcmode="lin" valueType="num">
                                      <p:cBhvr>
                                        <p:cTn id="152" dur="3000" fill="hold"/>
                                        <p:tgtEl>
                                          <p:spTgt spid="12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47"/>
                                            </p:cond>
                                          </p:stCondLst>
                                          <p:endCondLst>
                                            <p:cond evt="onStopAudio" delay="0">
                                              <p:tgtEl>
                                                <p:sldTgt/>
                                              </p:tgtEl>
                                            </p:cond>
                                          </p:endCondLst>
                                        </p:cTn>
                                        <p:tgtEl>
                                          <p:sndTgt r:embed="rId5" name="CHIMES.WAV"/>
                                        </p:tgtEl>
                                      </p:cMediaNode>
                                    </p:audio>
                                  </p:subTnLst>
                                </p:cTn>
                              </p:par>
                            </p:childTnLst>
                          </p:cTn>
                        </p:par>
                        <p:par>
                          <p:cTn id="153" fill="hold">
                            <p:stCondLst>
                              <p:cond delay="26000"/>
                            </p:stCondLst>
                            <p:childTnLst>
                              <p:par>
                                <p:cTn id="154" presetID="22" presetClass="entr" presetSubtype="8" fill="hold" grpId="0" nodeType="afterEffect">
                                  <p:stCondLst>
                                    <p:cond delay="0"/>
                                  </p:stCondLst>
                                  <p:childTnLst>
                                    <p:set>
                                      <p:cBhvr>
                                        <p:cTn id="155" dur="1" fill="hold">
                                          <p:stCondLst>
                                            <p:cond delay="0"/>
                                          </p:stCondLst>
                                        </p:cTn>
                                        <p:tgtEl>
                                          <p:spTgt spid="100"/>
                                        </p:tgtEl>
                                        <p:attrNameLst>
                                          <p:attrName>style.visibility</p:attrName>
                                        </p:attrNameLst>
                                      </p:cBhvr>
                                      <p:to>
                                        <p:strVal val="visible"/>
                                      </p:to>
                                    </p:set>
                                    <p:animEffect transition="in" filter="wipe(left)">
                                      <p:cBhvr>
                                        <p:cTn id="156" dur="5000"/>
                                        <p:tgtEl>
                                          <p:spTgt spid="100"/>
                                        </p:tgtEl>
                                      </p:cBhvr>
                                    </p:animEffect>
                                  </p:childTnLst>
                                </p:cTn>
                              </p:par>
                            </p:childTnLst>
                          </p:cTn>
                        </p:par>
                        <p:par>
                          <p:cTn id="157" fill="hold">
                            <p:stCondLst>
                              <p:cond delay="31000"/>
                            </p:stCondLst>
                            <p:childTnLst>
                              <p:par>
                                <p:cTn id="158" presetID="15" presetClass="entr" presetSubtype="0" fill="hold" nodeType="afterEffect">
                                  <p:stCondLst>
                                    <p:cond delay="0"/>
                                  </p:stCondLst>
                                  <p:childTnLst>
                                    <p:set>
                                      <p:cBhvr>
                                        <p:cTn id="159" dur="1" fill="hold">
                                          <p:stCondLst>
                                            <p:cond delay="0"/>
                                          </p:stCondLst>
                                        </p:cTn>
                                        <p:tgtEl>
                                          <p:spTgt spid="101"/>
                                        </p:tgtEl>
                                        <p:attrNameLst>
                                          <p:attrName>style.visibility</p:attrName>
                                        </p:attrNameLst>
                                      </p:cBhvr>
                                      <p:to>
                                        <p:strVal val="visible"/>
                                      </p:to>
                                    </p:set>
                                    <p:anim calcmode="lin" valueType="num">
                                      <p:cBhvr>
                                        <p:cTn id="160" dur="3000" fill="hold"/>
                                        <p:tgtEl>
                                          <p:spTgt spid="101"/>
                                        </p:tgtEl>
                                        <p:attrNameLst>
                                          <p:attrName>ppt_w</p:attrName>
                                        </p:attrNameLst>
                                      </p:cBhvr>
                                      <p:tavLst>
                                        <p:tav tm="0">
                                          <p:val>
                                            <p:fltVal val="0"/>
                                          </p:val>
                                        </p:tav>
                                        <p:tav tm="100000">
                                          <p:val>
                                            <p:strVal val="#ppt_w"/>
                                          </p:val>
                                        </p:tav>
                                      </p:tavLst>
                                    </p:anim>
                                    <p:anim calcmode="lin" valueType="num">
                                      <p:cBhvr>
                                        <p:cTn id="161" dur="3000" fill="hold"/>
                                        <p:tgtEl>
                                          <p:spTgt spid="101"/>
                                        </p:tgtEl>
                                        <p:attrNameLst>
                                          <p:attrName>ppt_h</p:attrName>
                                        </p:attrNameLst>
                                      </p:cBhvr>
                                      <p:tavLst>
                                        <p:tav tm="0">
                                          <p:val>
                                            <p:fltVal val="0"/>
                                          </p:val>
                                        </p:tav>
                                        <p:tav tm="100000">
                                          <p:val>
                                            <p:strVal val="#ppt_h"/>
                                          </p:val>
                                        </p:tav>
                                      </p:tavLst>
                                    </p:anim>
                                    <p:anim calcmode="lin" valueType="num">
                                      <p:cBhvr>
                                        <p:cTn id="162" dur="3000" fill="hold"/>
                                        <p:tgtEl>
                                          <p:spTgt spid="101"/>
                                        </p:tgtEl>
                                        <p:attrNameLst>
                                          <p:attrName>ppt_x</p:attrName>
                                        </p:attrNameLst>
                                      </p:cBhvr>
                                      <p:tavLst>
                                        <p:tav tm="0" fmla="#ppt_x+(cos(-2*pi*(1-$))*-#ppt_x-sin(-2*pi*(1-$))*(1-#ppt_y))*(1-$)">
                                          <p:val>
                                            <p:fltVal val="0"/>
                                          </p:val>
                                        </p:tav>
                                        <p:tav tm="100000">
                                          <p:val>
                                            <p:fltVal val="1"/>
                                          </p:val>
                                        </p:tav>
                                      </p:tavLst>
                                    </p:anim>
                                    <p:anim calcmode="lin" valueType="num">
                                      <p:cBhvr>
                                        <p:cTn id="163" dur="3000" fill="hold"/>
                                        <p:tgtEl>
                                          <p:spTgt spid="10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58"/>
                                            </p:cond>
                                          </p:stCondLst>
                                          <p:endCondLst>
                                            <p:cond evt="onStopAudio" delay="0">
                                              <p:tgtEl>
                                                <p:sldTgt/>
                                              </p:tgtEl>
                                            </p:cond>
                                          </p:endCondLst>
                                        </p:cTn>
                                        <p:tgtEl>
                                          <p:sndTgt r:embed="rId5" name="CHIMES.WAV"/>
                                        </p:tgtEl>
                                      </p:cMediaNode>
                                    </p:audio>
                                  </p:subTnLst>
                                </p:cTn>
                              </p:par>
                            </p:childTnLst>
                          </p:cTn>
                        </p:par>
                        <p:par>
                          <p:cTn id="164" fill="hold">
                            <p:stCondLst>
                              <p:cond delay="34000"/>
                            </p:stCondLst>
                            <p:childTnLst>
                              <p:par>
                                <p:cTn id="165" presetID="22" presetClass="entr" presetSubtype="8" fill="hold" grpId="0" nodeType="afterEffect">
                                  <p:stCondLst>
                                    <p:cond delay="0"/>
                                  </p:stCondLst>
                                  <p:childTnLst>
                                    <p:set>
                                      <p:cBhvr>
                                        <p:cTn id="166" dur="1" fill="hold">
                                          <p:stCondLst>
                                            <p:cond delay="0"/>
                                          </p:stCondLst>
                                        </p:cTn>
                                        <p:tgtEl>
                                          <p:spTgt spid="98"/>
                                        </p:tgtEl>
                                        <p:attrNameLst>
                                          <p:attrName>style.visibility</p:attrName>
                                        </p:attrNameLst>
                                      </p:cBhvr>
                                      <p:to>
                                        <p:strVal val="visible"/>
                                      </p:to>
                                    </p:set>
                                    <p:animEffect transition="in" filter="wipe(left)">
                                      <p:cBhvr>
                                        <p:cTn id="167" dur="5000"/>
                                        <p:tgtEl>
                                          <p:spTgt spid="98"/>
                                        </p:tgtEl>
                                      </p:cBhvr>
                                    </p:animEffect>
                                  </p:childTnLst>
                                </p:cTn>
                              </p:par>
                            </p:childTnLst>
                          </p:cTn>
                        </p:par>
                        <p:par>
                          <p:cTn id="168" fill="hold">
                            <p:stCondLst>
                              <p:cond delay="39000"/>
                            </p:stCondLst>
                            <p:childTnLst>
                              <p:par>
                                <p:cTn id="169" presetID="22" presetClass="entr" presetSubtype="8" fill="hold" grpId="0" nodeType="afterEffect">
                                  <p:stCondLst>
                                    <p:cond delay="0"/>
                                  </p:stCondLst>
                                  <p:childTnLst>
                                    <p:set>
                                      <p:cBhvr>
                                        <p:cTn id="170" dur="1" fill="hold">
                                          <p:stCondLst>
                                            <p:cond delay="0"/>
                                          </p:stCondLst>
                                        </p:cTn>
                                        <p:tgtEl>
                                          <p:spTgt spid="99"/>
                                        </p:tgtEl>
                                        <p:attrNameLst>
                                          <p:attrName>style.visibility</p:attrName>
                                        </p:attrNameLst>
                                      </p:cBhvr>
                                      <p:to>
                                        <p:strVal val="visible"/>
                                      </p:to>
                                    </p:set>
                                    <p:animEffect transition="in" filter="wipe(left)">
                                      <p:cBhvr>
                                        <p:cTn id="171" dur="5000"/>
                                        <p:tgtEl>
                                          <p:spTgt spid="99"/>
                                        </p:tgtEl>
                                      </p:cBhvr>
                                    </p:animEffect>
                                  </p:childTnLst>
                                </p:cTn>
                              </p:par>
                            </p:childTnLst>
                          </p:cTn>
                        </p:par>
                        <p:par>
                          <p:cTn id="172" fill="hold">
                            <p:stCondLst>
                              <p:cond delay="44000"/>
                            </p:stCondLst>
                            <p:childTnLst>
                              <p:par>
                                <p:cTn id="173" presetID="15" presetClass="entr" presetSubtype="0" fill="hold" nodeType="afterEffect">
                                  <p:stCondLst>
                                    <p:cond delay="0"/>
                                  </p:stCondLst>
                                  <p:childTnLst>
                                    <p:set>
                                      <p:cBhvr>
                                        <p:cTn id="174" dur="1" fill="hold">
                                          <p:stCondLst>
                                            <p:cond delay="0"/>
                                          </p:stCondLst>
                                        </p:cTn>
                                        <p:tgtEl>
                                          <p:spTgt spid="113"/>
                                        </p:tgtEl>
                                        <p:attrNameLst>
                                          <p:attrName>style.visibility</p:attrName>
                                        </p:attrNameLst>
                                      </p:cBhvr>
                                      <p:to>
                                        <p:strVal val="visible"/>
                                      </p:to>
                                    </p:set>
                                    <p:anim calcmode="lin" valueType="num">
                                      <p:cBhvr>
                                        <p:cTn id="175" dur="3000" fill="hold"/>
                                        <p:tgtEl>
                                          <p:spTgt spid="113"/>
                                        </p:tgtEl>
                                        <p:attrNameLst>
                                          <p:attrName>ppt_w</p:attrName>
                                        </p:attrNameLst>
                                      </p:cBhvr>
                                      <p:tavLst>
                                        <p:tav tm="0">
                                          <p:val>
                                            <p:fltVal val="0"/>
                                          </p:val>
                                        </p:tav>
                                        <p:tav tm="100000">
                                          <p:val>
                                            <p:strVal val="#ppt_w"/>
                                          </p:val>
                                        </p:tav>
                                      </p:tavLst>
                                    </p:anim>
                                    <p:anim calcmode="lin" valueType="num">
                                      <p:cBhvr>
                                        <p:cTn id="176" dur="3000" fill="hold"/>
                                        <p:tgtEl>
                                          <p:spTgt spid="113"/>
                                        </p:tgtEl>
                                        <p:attrNameLst>
                                          <p:attrName>ppt_h</p:attrName>
                                        </p:attrNameLst>
                                      </p:cBhvr>
                                      <p:tavLst>
                                        <p:tav tm="0">
                                          <p:val>
                                            <p:fltVal val="0"/>
                                          </p:val>
                                        </p:tav>
                                        <p:tav tm="100000">
                                          <p:val>
                                            <p:strVal val="#ppt_h"/>
                                          </p:val>
                                        </p:tav>
                                      </p:tavLst>
                                    </p:anim>
                                    <p:anim calcmode="lin" valueType="num">
                                      <p:cBhvr>
                                        <p:cTn id="177" dur="3000" fill="hold"/>
                                        <p:tgtEl>
                                          <p:spTgt spid="113"/>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13"/>
                                        </p:tgtEl>
                                        <p:attrNameLst>
                                          <p:attrName>ppt_y</p:attrName>
                                        </p:attrNameLst>
                                      </p:cBhvr>
                                      <p:tavLst>
                                        <p:tav tm="0" fmla="#ppt_y+(sin(-2*pi*(1-$))*-#ppt_x+cos(-2*pi*(1-$))*(1-#ppt_y))*(1-$)">
                                          <p:val>
                                            <p:fltVal val="0"/>
                                          </p:val>
                                        </p:tav>
                                        <p:tav tm="100000">
                                          <p:val>
                                            <p:fltVal val="1"/>
                                          </p:val>
                                        </p:tav>
                                      </p:tavLst>
                                    </p:anim>
                                  </p:childTnLst>
                                </p:cTn>
                              </p:par>
                            </p:childTnLst>
                          </p:cTn>
                        </p:par>
                        <p:par>
                          <p:cTn id="179" fill="hold">
                            <p:stCondLst>
                              <p:cond delay="47000"/>
                            </p:stCondLst>
                            <p:childTnLst>
                              <p:par>
                                <p:cTn id="180" presetID="15" presetClass="entr" presetSubtype="0" fill="hold" nodeType="afterEffect">
                                  <p:stCondLst>
                                    <p:cond delay="0"/>
                                  </p:stCondLst>
                                  <p:childTnLst>
                                    <p:set>
                                      <p:cBhvr>
                                        <p:cTn id="181" dur="1" fill="hold">
                                          <p:stCondLst>
                                            <p:cond delay="0"/>
                                          </p:stCondLst>
                                        </p:cTn>
                                        <p:tgtEl>
                                          <p:spTgt spid="124"/>
                                        </p:tgtEl>
                                        <p:attrNameLst>
                                          <p:attrName>style.visibility</p:attrName>
                                        </p:attrNameLst>
                                      </p:cBhvr>
                                      <p:to>
                                        <p:strVal val="visible"/>
                                      </p:to>
                                    </p:set>
                                    <p:anim calcmode="lin" valueType="num">
                                      <p:cBhvr>
                                        <p:cTn id="182" dur="3000" fill="hold"/>
                                        <p:tgtEl>
                                          <p:spTgt spid="124"/>
                                        </p:tgtEl>
                                        <p:attrNameLst>
                                          <p:attrName>ppt_w</p:attrName>
                                        </p:attrNameLst>
                                      </p:cBhvr>
                                      <p:tavLst>
                                        <p:tav tm="0">
                                          <p:val>
                                            <p:fltVal val="0"/>
                                          </p:val>
                                        </p:tav>
                                        <p:tav tm="100000">
                                          <p:val>
                                            <p:strVal val="#ppt_w"/>
                                          </p:val>
                                        </p:tav>
                                      </p:tavLst>
                                    </p:anim>
                                    <p:anim calcmode="lin" valueType="num">
                                      <p:cBhvr>
                                        <p:cTn id="183" dur="3000" fill="hold"/>
                                        <p:tgtEl>
                                          <p:spTgt spid="124"/>
                                        </p:tgtEl>
                                        <p:attrNameLst>
                                          <p:attrName>ppt_h</p:attrName>
                                        </p:attrNameLst>
                                      </p:cBhvr>
                                      <p:tavLst>
                                        <p:tav tm="0">
                                          <p:val>
                                            <p:fltVal val="0"/>
                                          </p:val>
                                        </p:tav>
                                        <p:tav tm="100000">
                                          <p:val>
                                            <p:strVal val="#ppt_h"/>
                                          </p:val>
                                        </p:tav>
                                      </p:tavLst>
                                    </p:anim>
                                    <p:anim calcmode="lin" valueType="num">
                                      <p:cBhvr>
                                        <p:cTn id="184" dur="3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85" dur="3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80"/>
                                            </p:cond>
                                          </p:stCondLst>
                                          <p:endCondLst>
                                            <p:cond evt="onStopAudio" delay="0">
                                              <p:tgtEl>
                                                <p:sldTgt/>
                                              </p:tgtEl>
                                            </p:cond>
                                          </p:endCondLst>
                                        </p:cTn>
                                        <p:tgtEl>
                                          <p:sndTgt r:embed="rId5" name="CHIMES.WAV"/>
                                        </p:tgtEl>
                                      </p:cMediaNode>
                                    </p:audio>
                                  </p:subTnLst>
                                </p:cTn>
                              </p:par>
                            </p:childTnLst>
                          </p:cTn>
                        </p:par>
                        <p:par>
                          <p:cTn id="186" fill="hold">
                            <p:stCondLst>
                              <p:cond delay="50000"/>
                            </p:stCondLst>
                            <p:childTnLst>
                              <p:par>
                                <p:cTn id="187" presetID="22" presetClass="entr" presetSubtype="8" fill="hold" grpId="0" nodeType="afterEffect">
                                  <p:stCondLst>
                                    <p:cond delay="0"/>
                                  </p:stCondLst>
                                  <p:childTnLst>
                                    <p:set>
                                      <p:cBhvr>
                                        <p:cTn id="188" dur="1" fill="hold">
                                          <p:stCondLst>
                                            <p:cond delay="0"/>
                                          </p:stCondLst>
                                        </p:cTn>
                                        <p:tgtEl>
                                          <p:spTgt spid="146"/>
                                        </p:tgtEl>
                                        <p:attrNameLst>
                                          <p:attrName>style.visibility</p:attrName>
                                        </p:attrNameLst>
                                      </p:cBhvr>
                                      <p:to>
                                        <p:strVal val="visible"/>
                                      </p:to>
                                    </p:set>
                                    <p:animEffect transition="in" filter="wipe(left)">
                                      <p:cBhvr>
                                        <p:cTn id="189" dur="5000"/>
                                        <p:tgtEl>
                                          <p:spTgt spid="146"/>
                                        </p:tgtEl>
                                      </p:cBhvr>
                                    </p:animEffect>
                                  </p:childTnLst>
                                  <p:subTnLst>
                                    <p:audio>
                                      <p:cMediaNode>
                                        <p:cTn display="0" masterRel="sameClick">
                                          <p:stCondLst>
                                            <p:cond evt="begin" delay="0">
                                              <p:tn val="187"/>
                                            </p:cond>
                                          </p:stCondLst>
                                          <p:endCondLst>
                                            <p:cond evt="onStopAudio" delay="0">
                                              <p:tgtEl>
                                                <p:sldTgt/>
                                              </p:tgtEl>
                                            </p:cond>
                                          </p:endCondLst>
                                        </p:cTn>
                                        <p:tgtEl>
                                          <p:sndTgt r:embed="rId5" name="CHIMES.WAV"/>
                                        </p:tgtEl>
                                      </p:cMediaNode>
                                    </p:audio>
                                  </p:subTnLst>
                                </p:cTn>
                              </p:par>
                            </p:childTnLst>
                          </p:cTn>
                        </p:par>
                        <p:par>
                          <p:cTn id="190" fill="hold">
                            <p:stCondLst>
                              <p:cond delay="55000"/>
                            </p:stCondLst>
                            <p:childTnLst>
                              <p:par>
                                <p:cTn id="191" presetID="19" presetClass="entr" presetSubtype="10" fill="hold" grpId="0" nodeType="afterEffect">
                                  <p:stCondLst>
                                    <p:cond delay="0"/>
                                  </p:stCondLst>
                                  <p:childTnLst>
                                    <p:set>
                                      <p:cBhvr>
                                        <p:cTn id="192" dur="1" fill="hold">
                                          <p:stCondLst>
                                            <p:cond delay="0"/>
                                          </p:stCondLst>
                                        </p:cTn>
                                        <p:tgtEl>
                                          <p:spTgt spid="104"/>
                                        </p:tgtEl>
                                        <p:attrNameLst>
                                          <p:attrName>style.visibility</p:attrName>
                                        </p:attrNameLst>
                                      </p:cBhvr>
                                      <p:to>
                                        <p:strVal val="visible"/>
                                      </p:to>
                                    </p:set>
                                    <p:anim calcmode="lin" valueType="num">
                                      <p:cBhvr>
                                        <p:cTn id="193" dur="5000" fill="hold"/>
                                        <p:tgtEl>
                                          <p:spTgt spid="104"/>
                                        </p:tgtEl>
                                        <p:attrNameLst>
                                          <p:attrName>ppt_w</p:attrName>
                                        </p:attrNameLst>
                                      </p:cBhvr>
                                      <p:tavLst>
                                        <p:tav tm="0" fmla="#ppt_w*sin(2.5*pi*$)">
                                          <p:val>
                                            <p:fltVal val="0"/>
                                          </p:val>
                                        </p:tav>
                                        <p:tav tm="100000">
                                          <p:val>
                                            <p:fltVal val="1"/>
                                          </p:val>
                                        </p:tav>
                                      </p:tavLst>
                                    </p:anim>
                                    <p:anim calcmode="lin" valueType="num">
                                      <p:cBhvr>
                                        <p:cTn id="194" dur="5000" fill="hold"/>
                                        <p:tgtEl>
                                          <p:spTgt spid="1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1"/>
                                            </p:cond>
                                          </p:stCondLst>
                                          <p:endCondLst>
                                            <p:cond evt="onStopAudio" delay="0">
                                              <p:tgtEl>
                                                <p:sldTgt/>
                                              </p:tgtEl>
                                            </p:cond>
                                          </p:endCondLst>
                                        </p:cTn>
                                        <p:tgtEl>
                                          <p:sndTgt r:embed="rId5" name="CHIMES.WAV"/>
                                        </p:tgtEl>
                                      </p:cMediaNode>
                                    </p:audio>
                                  </p:sub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71"/>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71" grpId="0"/>
      <p:bldP spid="45" grpId="0"/>
      <p:bldP spid="46" grpId="0"/>
      <p:bldP spid="89" grpId="0"/>
      <p:bldP spid="90" grpId="0"/>
      <p:bldP spid="91" grpId="0" animBg="1"/>
      <p:bldP spid="92" grpId="0" animBg="1"/>
      <p:bldP spid="94" grpId="0" animBg="1"/>
      <p:bldP spid="95" grpId="0"/>
      <p:bldP spid="96" grpId="0"/>
      <p:bldP spid="97" grpId="0" autoUpdateAnimBg="0"/>
      <p:bldP spid="98" grpId="0" animBg="1"/>
      <p:bldP spid="99" grpId="0" animBg="1"/>
      <p:bldP spid="100" grpId="0" animBg="1"/>
      <p:bldP spid="104" grpId="0" autoUpdateAnimBg="0"/>
      <p:bldP spid="105" grpId="0" autoUpdateAnimBg="0"/>
      <p:bldP spid="106" grpId="0" animBg="1"/>
      <p:bldP spid="109" grpId="0" animBg="1"/>
      <p:bldP spid="112" grpId="0" animBg="1"/>
      <p:bldP spid="120" grpId="0" animBg="1"/>
      <p:bldP spid="121" grpId="0" autoUpdateAnimBg="0"/>
      <p:bldP spid="142" grpId="0" animBg="1"/>
      <p:bldP spid="143" grpId="0" autoUpdateAnimBg="0"/>
      <p:bldP spid="144" grpId="0" animBg="1"/>
      <p:bldP spid="145" grpId="0" animBg="1"/>
      <p:bldP spid="146" grpId="0" autoUpdateAnimBg="0"/>
      <p:bldP spid="147" grpId="0" animBg="1"/>
      <p:bldP spid="14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6889596"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外伸梁受载荷如图。试求其梁的剪力图和弯矩图 。 </a:t>
            </a: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1421928"/>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lang="zh-CN" altLang="en-US" i="0" dirty="0">
                <a:solidFill>
                  <a:schemeClr val="tx1"/>
                </a:solidFill>
                <a:latin typeface="黑体" panose="02010609060101010101" pitchFamily="49" charset="-122"/>
                <a:ea typeface="黑体" panose="02010609060101010101" pitchFamily="49" charset="-122"/>
              </a:rPr>
              <a:t>求支座</a:t>
            </a:r>
            <a:r>
              <a:rPr lang="en-US" altLang="zh-CN" b="0" dirty="0">
                <a:solidFill>
                  <a:schemeClr val="tx1"/>
                </a:solidFill>
                <a:latin typeface="+mj-lt"/>
                <a:ea typeface="黑体" panose="02010609060101010101" pitchFamily="49" charset="-122"/>
              </a:rPr>
              <a:t>A</a:t>
            </a:r>
            <a:r>
              <a:rPr lang="zh-CN" altLang="en-US" b="0" dirty="0">
                <a:solidFill>
                  <a:schemeClr val="tx1"/>
                </a:solidFill>
                <a:latin typeface="+mj-lt"/>
                <a:ea typeface="黑体" panose="02010609060101010101" pitchFamily="49" charset="-122"/>
              </a:rPr>
              <a:t>、</a:t>
            </a:r>
            <a:r>
              <a:rPr lang="en-US" altLang="zh-CN" b="0" dirty="0">
                <a:solidFill>
                  <a:schemeClr val="tx1"/>
                </a:solidFill>
                <a:latin typeface="+mj-lt"/>
                <a:ea typeface="黑体" panose="02010609060101010101" pitchFamily="49" charset="-122"/>
              </a:rPr>
              <a:t>B</a:t>
            </a:r>
            <a:r>
              <a:rPr lang="zh-CN" altLang="en-US" i="0" dirty="0">
                <a:solidFill>
                  <a:schemeClr val="tx1"/>
                </a:solidFill>
                <a:latin typeface="黑体" panose="02010609060101010101" pitchFamily="49" charset="-122"/>
                <a:ea typeface="黑体" panose="02010609060101010101" pitchFamily="49" charset="-122"/>
              </a:rPr>
              <a:t>的约束力。由列平衡方程可解得 </a:t>
            </a:r>
          </a:p>
          <a:p>
            <a:pPr lvl="0">
              <a:lnSpc>
                <a:spcPct val="120000"/>
              </a:lnSpc>
            </a:pPr>
            <a:endParaRPr kumimoji="1"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2"/>
            <a:ext cx="4514874" cy="2585906"/>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11645456" cy="105259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n-lt"/>
                <a:ea typeface="黑体" panose="02010609060101010101" pitchFamily="49" charset="-122"/>
              </a:rPr>
              <a:t>根据受载情况将梁分为</a:t>
            </a:r>
            <a:r>
              <a:rPr lang="en-US" altLang="zh-CN" b="0" dirty="0">
                <a:solidFill>
                  <a:schemeClr val="tx1"/>
                </a:solidFill>
                <a:latin typeface="+mn-lt"/>
                <a:ea typeface="黑体" panose="02010609060101010101" pitchFamily="49" charset="-122"/>
              </a:rPr>
              <a:t>AC</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CD</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DB</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BE</a:t>
            </a:r>
            <a:r>
              <a:rPr lang="zh-CN" altLang="en-US" i="0" dirty="0">
                <a:solidFill>
                  <a:schemeClr val="tx1"/>
                </a:solidFill>
                <a:latin typeface="+mn-lt"/>
                <a:ea typeface="黑体" panose="02010609060101010101" pitchFamily="49" charset="-122"/>
              </a:rPr>
              <a:t>四段。</a:t>
            </a:r>
          </a:p>
        </p:txBody>
      </p:sp>
      <p:graphicFrame>
        <p:nvGraphicFramePr>
          <p:cNvPr id="70" name="Object 52"/>
          <p:cNvGraphicFramePr>
            <a:graphicFrameLocks noChangeAspect="1"/>
          </p:cNvGraphicFramePr>
          <p:nvPr>
            <p:extLst>
              <p:ext uri="{D42A27DB-BD31-4B8C-83A1-F6EECF244321}">
                <p14:modId xmlns:p14="http://schemas.microsoft.com/office/powerpoint/2010/main" val="4116609504"/>
              </p:ext>
            </p:extLst>
          </p:nvPr>
        </p:nvGraphicFramePr>
        <p:xfrm>
          <a:off x="1863814" y="2247900"/>
          <a:ext cx="1731963" cy="504825"/>
        </p:xfrm>
        <a:graphic>
          <a:graphicData uri="http://schemas.openxmlformats.org/presentationml/2006/ole">
            <mc:AlternateContent xmlns:mc="http://schemas.openxmlformats.org/markup-compatibility/2006">
              <mc:Choice xmlns:v="urn:schemas-microsoft-com:vml" Requires="v">
                <p:oleObj spid="_x0000_s8250" name="Equation" r:id="rId5" imgW="825480" imgH="241200" progId="Equation.DSMT4">
                  <p:embed/>
                </p:oleObj>
              </mc:Choice>
              <mc:Fallback>
                <p:oleObj name="Equation" r:id="rId5" imgW="825480" imgH="241200" progId="Equation.DSMT4">
                  <p:embed/>
                  <p:pic>
                    <p:nvPicPr>
                      <p:cNvPr id="0" name=""/>
                      <p:cNvPicPr>
                        <a:picLocks noChangeAspect="1" noChangeArrowheads="1"/>
                      </p:cNvPicPr>
                      <p:nvPr/>
                    </p:nvPicPr>
                    <p:blipFill>
                      <a:blip r:embed="rId6"/>
                      <a:srcRect/>
                      <a:stretch>
                        <a:fillRect/>
                      </a:stretch>
                    </p:blipFill>
                    <p:spPr bwMode="auto">
                      <a:xfrm>
                        <a:off x="1863814" y="2247900"/>
                        <a:ext cx="173196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1999410067"/>
              </p:ext>
            </p:extLst>
          </p:nvPr>
        </p:nvGraphicFramePr>
        <p:xfrm>
          <a:off x="4072627" y="2263775"/>
          <a:ext cx="1706563" cy="504825"/>
        </p:xfrm>
        <a:graphic>
          <a:graphicData uri="http://schemas.openxmlformats.org/presentationml/2006/ole">
            <mc:AlternateContent xmlns:mc="http://schemas.openxmlformats.org/markup-compatibility/2006">
              <mc:Choice xmlns:v="urn:schemas-microsoft-com:vml" Requires="v">
                <p:oleObj spid="_x0000_s8251" name="Equation" r:id="rId7" imgW="812520" imgH="241200" progId="Equation.DSMT4">
                  <p:embed/>
                </p:oleObj>
              </mc:Choice>
              <mc:Fallback>
                <p:oleObj name="Equation" r:id="rId7" imgW="812520" imgH="241200" progId="Equation.DSMT4">
                  <p:embed/>
                  <p:pic>
                    <p:nvPicPr>
                      <p:cNvPr id="0" name=""/>
                      <p:cNvPicPr>
                        <a:picLocks noChangeAspect="1" noChangeArrowheads="1"/>
                      </p:cNvPicPr>
                      <p:nvPr/>
                    </p:nvPicPr>
                    <p:blipFill>
                      <a:blip r:embed="rId8"/>
                      <a:srcRect/>
                      <a:stretch>
                        <a:fillRect/>
                      </a:stretch>
                    </p:blipFill>
                    <p:spPr bwMode="auto">
                      <a:xfrm>
                        <a:off x="4072627" y="2263775"/>
                        <a:ext cx="170656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标值。计算各段起点和终点的剪力值和弯矩值。列表如下： </a:t>
            </a:r>
          </a:p>
        </p:txBody>
      </p:sp>
      <p:grpSp>
        <p:nvGrpSpPr>
          <p:cNvPr id="107" name="Group 78"/>
          <p:cNvGrpSpPr>
            <a:grpSpLocks/>
          </p:cNvGrpSpPr>
          <p:nvPr/>
        </p:nvGrpSpPr>
        <p:grpSpPr bwMode="auto">
          <a:xfrm>
            <a:off x="7655569" y="906259"/>
            <a:ext cx="4168775" cy="2058988"/>
            <a:chOff x="3134" y="215"/>
            <a:chExt cx="2626" cy="1297"/>
          </a:xfrm>
        </p:grpSpPr>
        <p:sp>
          <p:nvSpPr>
            <p:cNvPr id="108" name="Text Box 77"/>
            <p:cNvSpPr txBox="1">
              <a:spLocks noChangeAspect="1" noChangeArrowheads="1"/>
            </p:cNvSpPr>
            <p:nvPr/>
          </p:nvSpPr>
          <p:spPr bwMode="auto">
            <a:xfrm>
              <a:off x="3778" y="879"/>
              <a:ext cx="1982"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E</a:t>
              </a:r>
            </a:p>
          </p:txBody>
        </p:sp>
        <p:sp>
          <p:nvSpPr>
            <p:cNvPr id="110" name="Text Box 4"/>
            <p:cNvSpPr txBox="1">
              <a:spLocks noChangeAspect="1" noChangeArrowheads="1"/>
            </p:cNvSpPr>
            <p:nvPr/>
          </p:nvSpPr>
          <p:spPr bwMode="auto">
            <a:xfrm>
              <a:off x="3472" y="1205"/>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111" name="Text Box 5"/>
            <p:cNvSpPr txBox="1">
              <a:spLocks noChangeAspect="1" noChangeArrowheads="1"/>
            </p:cNvSpPr>
            <p:nvPr/>
          </p:nvSpPr>
          <p:spPr bwMode="auto">
            <a:xfrm>
              <a:off x="3278" y="494"/>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114" name="Text Box 6"/>
            <p:cNvSpPr txBox="1">
              <a:spLocks noChangeAspect="1" noChangeArrowheads="1"/>
            </p:cNvSpPr>
            <p:nvPr/>
          </p:nvSpPr>
          <p:spPr bwMode="auto">
            <a:xfrm>
              <a:off x="3769" y="226"/>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15" name="Line 7"/>
            <p:cNvSpPr>
              <a:spLocks noChangeAspect="1" noChangeShapeType="1"/>
            </p:cNvSpPr>
            <p:nvPr/>
          </p:nvSpPr>
          <p:spPr bwMode="auto">
            <a:xfrm flipV="1">
              <a:off x="3381" y="934"/>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6" name="Text Box 8"/>
            <p:cNvSpPr txBox="1">
              <a:spLocks noChangeAspect="1" noChangeArrowheads="1"/>
            </p:cNvSpPr>
            <p:nvPr/>
          </p:nvSpPr>
          <p:spPr bwMode="auto">
            <a:xfrm>
              <a:off x="3134" y="819"/>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117" name="Group 74"/>
            <p:cNvGrpSpPr>
              <a:grpSpLocks/>
            </p:cNvGrpSpPr>
            <p:nvPr/>
          </p:nvGrpSpPr>
          <p:grpSpPr bwMode="auto">
            <a:xfrm>
              <a:off x="4265" y="665"/>
              <a:ext cx="282" cy="458"/>
              <a:chOff x="4310" y="298"/>
              <a:chExt cx="282" cy="458"/>
            </a:xfrm>
          </p:grpSpPr>
          <p:sp>
            <p:nvSpPr>
              <p:cNvPr id="156" name="Line 15"/>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7" name="Line 16"/>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8" name="Line 17"/>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2" name="Line 18"/>
            <p:cNvSpPr>
              <a:spLocks noChangeAspect="1" noChangeShapeType="1"/>
            </p:cNvSpPr>
            <p:nvPr/>
          </p:nvSpPr>
          <p:spPr bwMode="auto">
            <a:xfrm>
              <a:off x="3890" y="467"/>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3" name="Line 19"/>
            <p:cNvSpPr>
              <a:spLocks noChangeAspect="1" noChangeShapeType="1"/>
            </p:cNvSpPr>
            <p:nvPr/>
          </p:nvSpPr>
          <p:spPr bwMode="auto">
            <a:xfrm>
              <a:off x="3393"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6" name="Line 20"/>
            <p:cNvSpPr>
              <a:spLocks noChangeAspect="1" noChangeShapeType="1"/>
            </p:cNvSpPr>
            <p:nvPr/>
          </p:nvSpPr>
          <p:spPr bwMode="auto">
            <a:xfrm>
              <a:off x="3899"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7" name="Line 21"/>
            <p:cNvSpPr>
              <a:spLocks noChangeAspect="1" noChangeShapeType="1"/>
            </p:cNvSpPr>
            <p:nvPr/>
          </p:nvSpPr>
          <p:spPr bwMode="auto">
            <a:xfrm>
              <a:off x="4398"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8" name="Line 22"/>
            <p:cNvSpPr>
              <a:spLocks noChangeAspect="1" noChangeShapeType="1"/>
            </p:cNvSpPr>
            <p:nvPr/>
          </p:nvSpPr>
          <p:spPr bwMode="auto">
            <a:xfrm>
              <a:off x="4893"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9" name="Line 23"/>
            <p:cNvSpPr>
              <a:spLocks noChangeAspect="1" noChangeShapeType="1"/>
            </p:cNvSpPr>
            <p:nvPr/>
          </p:nvSpPr>
          <p:spPr bwMode="auto">
            <a:xfrm>
              <a:off x="5396" y="1259"/>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0" name="Line 24"/>
            <p:cNvSpPr>
              <a:spLocks noChangeAspect="1" noChangeShapeType="1"/>
            </p:cNvSpPr>
            <p:nvPr/>
          </p:nvSpPr>
          <p:spPr bwMode="auto">
            <a:xfrm>
              <a:off x="3393" y="1436"/>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1" name="Line 25"/>
            <p:cNvSpPr>
              <a:spLocks noChangeAspect="1" noChangeShapeType="1"/>
            </p:cNvSpPr>
            <p:nvPr/>
          </p:nvSpPr>
          <p:spPr bwMode="auto">
            <a:xfrm flipV="1">
              <a:off x="3898" y="1436"/>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2" name="Line 26"/>
            <p:cNvSpPr>
              <a:spLocks noChangeAspect="1" noChangeShapeType="1"/>
            </p:cNvSpPr>
            <p:nvPr/>
          </p:nvSpPr>
          <p:spPr bwMode="auto">
            <a:xfrm>
              <a:off x="4398" y="1436"/>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3" name="Line 27"/>
            <p:cNvSpPr>
              <a:spLocks noChangeAspect="1" noChangeShapeType="1"/>
            </p:cNvSpPr>
            <p:nvPr/>
          </p:nvSpPr>
          <p:spPr bwMode="auto">
            <a:xfrm>
              <a:off x="4892" y="1436"/>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34" name="Group 73"/>
            <p:cNvGrpSpPr>
              <a:grpSpLocks/>
            </p:cNvGrpSpPr>
            <p:nvPr/>
          </p:nvGrpSpPr>
          <p:grpSpPr bwMode="auto">
            <a:xfrm>
              <a:off x="3397" y="734"/>
              <a:ext cx="1000" cy="193"/>
              <a:chOff x="4840" y="327"/>
              <a:chExt cx="796" cy="193"/>
            </a:xfrm>
          </p:grpSpPr>
          <p:sp>
            <p:nvSpPr>
              <p:cNvPr id="149" name="Line 9"/>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0" name="Line 10"/>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1" name="Line 11"/>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2" name="Line 12"/>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3" name="Line 13"/>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4" name="Line 14"/>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5" name="Line 28"/>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35" name="Text Box 29"/>
            <p:cNvSpPr txBox="1">
              <a:spLocks noChangeAspect="1" noChangeArrowheads="1"/>
            </p:cNvSpPr>
            <p:nvPr/>
          </p:nvSpPr>
          <p:spPr bwMode="auto">
            <a:xfrm>
              <a:off x="4950" y="1203"/>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3m</a:t>
              </a:r>
            </a:p>
          </p:txBody>
        </p:sp>
        <p:sp>
          <p:nvSpPr>
            <p:cNvPr id="137" name="Rectangle 30"/>
            <p:cNvSpPr>
              <a:spLocks noChangeArrowheads="1"/>
            </p:cNvSpPr>
            <p:nvPr/>
          </p:nvSpPr>
          <p:spPr bwMode="auto">
            <a:xfrm>
              <a:off x="4052" y="415"/>
              <a:ext cx="7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10kN·m</a:t>
              </a:r>
            </a:p>
          </p:txBody>
        </p:sp>
        <p:sp>
          <p:nvSpPr>
            <p:cNvPr id="139" name="Text Box 75"/>
            <p:cNvSpPr txBox="1">
              <a:spLocks noChangeAspect="1" noChangeArrowheads="1"/>
            </p:cNvSpPr>
            <p:nvPr/>
          </p:nvSpPr>
          <p:spPr bwMode="auto">
            <a:xfrm>
              <a:off x="5279" y="215"/>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40" name="Line 76"/>
            <p:cNvSpPr>
              <a:spLocks noChangeAspect="1" noChangeShapeType="1"/>
            </p:cNvSpPr>
            <p:nvPr/>
          </p:nvSpPr>
          <p:spPr bwMode="auto">
            <a:xfrm>
              <a:off x="5391" y="467"/>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59" name="Text Box 36"/>
          <p:cNvSpPr txBox="1">
            <a:spLocks noChangeAspect="1" noChangeArrowheads="1"/>
          </p:cNvSpPr>
          <p:nvPr/>
        </p:nvSpPr>
        <p:spPr bwMode="auto">
          <a:xfrm>
            <a:off x="10379719" y="2749347"/>
            <a:ext cx="5191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60" name="Text Box 37"/>
          <p:cNvSpPr txBox="1">
            <a:spLocks noChangeAspect="1" noChangeArrowheads="1"/>
          </p:cNvSpPr>
          <p:nvPr/>
        </p:nvSpPr>
        <p:spPr bwMode="auto">
          <a:xfrm>
            <a:off x="7698432" y="2666797"/>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61" name="Group 38"/>
          <p:cNvGrpSpPr>
            <a:grpSpLocks noChangeAspect="1"/>
          </p:cNvGrpSpPr>
          <p:nvPr/>
        </p:nvGrpSpPr>
        <p:grpSpPr bwMode="auto">
          <a:xfrm>
            <a:off x="7876232" y="2006397"/>
            <a:ext cx="371475" cy="392112"/>
            <a:chOff x="1686" y="3521"/>
            <a:chExt cx="313" cy="330"/>
          </a:xfrm>
        </p:grpSpPr>
        <p:sp>
          <p:nvSpPr>
            <p:cNvPr id="162" name="AutoShape 39"/>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63" name="Rectangle 40"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4" name="Line 41"/>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5" name="Oval 42"/>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66" name="Group 43"/>
          <p:cNvGrpSpPr>
            <a:grpSpLocks noChangeAspect="1"/>
          </p:cNvGrpSpPr>
          <p:nvPr/>
        </p:nvGrpSpPr>
        <p:grpSpPr bwMode="auto">
          <a:xfrm>
            <a:off x="10267007" y="2042909"/>
            <a:ext cx="371475" cy="427038"/>
            <a:chOff x="3499" y="3511"/>
            <a:chExt cx="311" cy="358"/>
          </a:xfrm>
        </p:grpSpPr>
        <p:sp>
          <p:nvSpPr>
            <p:cNvPr id="167" name="Line 44"/>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8" name="Rectangle 45"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9" name="Line 46"/>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0" name="Oval 47"/>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2" name="Oval 48"/>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73" name="Line 49"/>
          <p:cNvSpPr>
            <a:spLocks noChangeAspect="1" noChangeShapeType="1"/>
          </p:cNvSpPr>
          <p:nvPr/>
        </p:nvSpPr>
        <p:spPr bwMode="auto">
          <a:xfrm flipV="1">
            <a:off x="8065144" y="2107997"/>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74" name="Line 50"/>
          <p:cNvSpPr>
            <a:spLocks noChangeAspect="1" noChangeShapeType="1"/>
          </p:cNvSpPr>
          <p:nvPr/>
        </p:nvSpPr>
        <p:spPr bwMode="auto">
          <a:xfrm flipV="1">
            <a:off x="10449569" y="2141334"/>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aphicFrame>
        <p:nvGraphicFramePr>
          <p:cNvPr id="175" name="Group 553"/>
          <p:cNvGraphicFramePr>
            <a:graphicFrameLocks/>
          </p:cNvGraphicFramePr>
          <p:nvPr>
            <p:extLst>
              <p:ext uri="{D42A27DB-BD31-4B8C-83A1-F6EECF244321}">
                <p14:modId xmlns:p14="http://schemas.microsoft.com/office/powerpoint/2010/main" val="2752689302"/>
              </p:ext>
            </p:extLst>
          </p:nvPr>
        </p:nvGraphicFramePr>
        <p:xfrm>
          <a:off x="1081752" y="4369126"/>
          <a:ext cx="5544617" cy="1872208"/>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1" lang="en-US" altLang="zh-CN" sz="2400" b="0" i="0" u="none" strike="noStrike" cap="none" normalizeH="0" baseline="-3000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Q</a:t>
                      </a: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7</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3</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44848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
        <p:nvSpPr>
          <p:cNvPr id="176" name="矩形 175">
            <a:extLst>
              <a:ext uri="{FF2B5EF4-FFF2-40B4-BE49-F238E27FC236}">
                <a16:creationId xmlns:a16="http://schemas.microsoft.com/office/drawing/2014/main" id="{54CF797A-3212-00F4-D82B-18FEE729BE7A}"/>
              </a:ext>
            </a:extLst>
          </p:cNvPr>
          <p:cNvSpPr/>
          <p:nvPr/>
        </p:nvSpPr>
        <p:spPr>
          <a:xfrm>
            <a:off x="6891711" y="4645898"/>
            <a:ext cx="5180953" cy="1532727"/>
          </a:xfrm>
          <a:prstGeom prst="rect">
            <a:avLst/>
          </a:prstGeom>
        </p:spPr>
        <p:txBody>
          <a:bodyPr wrap="square">
            <a:spAutoFit/>
          </a:bodyPr>
          <a:lstStyle/>
          <a:p>
            <a:pPr lvl="0">
              <a:lnSpc>
                <a:spcPct val="130000"/>
              </a:lnSpc>
            </a:pPr>
            <a:r>
              <a:rPr kumimoji="1" lang="en-US" altLang="zh-CN" b="0" dirty="0">
                <a:latin typeface="+mn-lt"/>
                <a:ea typeface="黑体" panose="02010609060101010101" pitchFamily="49" charset="-122"/>
              </a:rPr>
              <a:t>C</a:t>
            </a:r>
            <a:r>
              <a:rPr kumimoji="1" lang="zh-CN" altLang="en-US" b="0" baseline="-25000" dirty="0">
                <a:latin typeface="+mn-lt"/>
                <a:ea typeface="黑体" panose="02010609060101010101" pitchFamily="49" charset="-122"/>
              </a:rPr>
              <a:t>－</a:t>
            </a:r>
            <a:r>
              <a:rPr lang="zh-CN" altLang="en-US" i="0" dirty="0">
                <a:solidFill>
                  <a:schemeClr val="tx1"/>
                </a:solidFill>
                <a:latin typeface="黑体" panose="02010609060101010101" pitchFamily="49" charset="-122"/>
                <a:ea typeface="黑体" panose="02010609060101010101" pitchFamily="49" charset="-122"/>
              </a:rPr>
              <a:t>代表离截面</a:t>
            </a:r>
            <a:r>
              <a:rPr kumimoji="1" lang="en-US" altLang="zh-CN" b="0" dirty="0">
                <a:solidFill>
                  <a:schemeClr val="tx1"/>
                </a:solidFill>
                <a:ea typeface="黑体" panose="02010609060101010101" pitchFamily="49" charset="-122"/>
              </a:rPr>
              <a:t>C</a:t>
            </a:r>
            <a:r>
              <a:rPr lang="zh-CN" altLang="en-US" i="0" dirty="0">
                <a:solidFill>
                  <a:schemeClr val="tx1"/>
                </a:solidFill>
                <a:latin typeface="黑体" panose="02010609060101010101" pitchFamily="49" charset="-122"/>
                <a:ea typeface="黑体" panose="02010609060101010101" pitchFamily="49" charset="-122"/>
              </a:rPr>
              <a:t>无限近并位于其</a:t>
            </a:r>
            <a:r>
              <a:rPr lang="zh-CN" altLang="en-US" i="0" dirty="0">
                <a:latin typeface="黑体" panose="02010609060101010101" pitchFamily="49" charset="-122"/>
                <a:ea typeface="黑体" panose="02010609060101010101" pitchFamily="49" charset="-122"/>
              </a:rPr>
              <a:t>左侧</a:t>
            </a:r>
            <a:r>
              <a:rPr lang="zh-CN" altLang="en-US" i="0" dirty="0">
                <a:solidFill>
                  <a:schemeClr val="tx1"/>
                </a:solidFill>
                <a:latin typeface="黑体" panose="02010609060101010101" pitchFamily="49" charset="-122"/>
                <a:ea typeface="黑体" panose="02010609060101010101" pitchFamily="49" charset="-122"/>
              </a:rPr>
              <a:t>的横截面，</a:t>
            </a:r>
            <a:r>
              <a:rPr kumimoji="1" lang="en-US" altLang="zh-CN" b="0" dirty="0">
                <a:solidFill>
                  <a:schemeClr val="tx1"/>
                </a:solidFill>
                <a:ea typeface="黑体" panose="02010609060101010101" pitchFamily="49" charset="-122"/>
              </a:rPr>
              <a:t> </a:t>
            </a:r>
            <a:r>
              <a:rPr kumimoji="1" lang="en-US" altLang="zh-CN" b="0" dirty="0">
                <a:ea typeface="黑体" panose="02010609060101010101" pitchFamily="49" charset="-122"/>
              </a:rPr>
              <a:t>C</a:t>
            </a:r>
            <a:r>
              <a:rPr lang="en-US" altLang="zh-CN" baseline="-25000" dirty="0"/>
              <a:t> +</a:t>
            </a:r>
            <a:r>
              <a:rPr lang="zh-CN" altLang="en-US" i="0" dirty="0">
                <a:solidFill>
                  <a:schemeClr val="tx1"/>
                </a:solidFill>
                <a:latin typeface="黑体" panose="02010609060101010101" pitchFamily="49" charset="-122"/>
                <a:ea typeface="黑体" panose="02010609060101010101" pitchFamily="49" charset="-122"/>
              </a:rPr>
              <a:t>代表离截面</a:t>
            </a:r>
            <a:r>
              <a:rPr kumimoji="1" lang="en-US" altLang="zh-CN" b="0" dirty="0">
                <a:solidFill>
                  <a:schemeClr val="tx1"/>
                </a:solidFill>
                <a:ea typeface="黑体" panose="02010609060101010101" pitchFamily="49" charset="-122"/>
              </a:rPr>
              <a:t>C</a:t>
            </a:r>
            <a:r>
              <a:rPr lang="zh-CN" altLang="en-US" i="0" dirty="0">
                <a:solidFill>
                  <a:schemeClr val="tx1"/>
                </a:solidFill>
                <a:latin typeface="黑体" panose="02010609060101010101" pitchFamily="49" charset="-122"/>
                <a:ea typeface="黑体" panose="02010609060101010101" pitchFamily="49" charset="-122"/>
              </a:rPr>
              <a:t>无限近并位于其</a:t>
            </a:r>
            <a:r>
              <a:rPr lang="zh-CN" altLang="en-US" i="0" dirty="0">
                <a:latin typeface="黑体" panose="02010609060101010101" pitchFamily="49" charset="-122"/>
                <a:ea typeface="黑体" panose="02010609060101010101" pitchFamily="49" charset="-122"/>
              </a:rPr>
              <a:t>右侧</a:t>
            </a:r>
            <a:r>
              <a:rPr lang="zh-CN" altLang="en-US" i="0" dirty="0">
                <a:solidFill>
                  <a:schemeClr val="tx1"/>
                </a:solidFill>
                <a:latin typeface="黑体" panose="02010609060101010101" pitchFamily="49" charset="-122"/>
                <a:ea typeface="黑体" panose="02010609060101010101" pitchFamily="49" charset="-122"/>
              </a:rPr>
              <a:t>的横截面其余类同。</a:t>
            </a:r>
          </a:p>
        </p:txBody>
      </p:sp>
    </p:spTree>
    <p:extLst>
      <p:ext uri="{BB962C8B-B14F-4D97-AF65-F5344CB8AC3E}">
        <p14:creationId xmlns:p14="http://schemas.microsoft.com/office/powerpoint/2010/main" val="36871065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107"/>
                                        </p:tgtEl>
                                        <p:attrNameLst>
                                          <p:attrName>style.visibility</p:attrName>
                                        </p:attrNameLst>
                                      </p:cBhvr>
                                      <p:to>
                                        <p:strVal val="visible"/>
                                      </p:to>
                                    </p:set>
                                    <p:animEffect transition="in" filter="box(in)">
                                      <p:cBhvr>
                                        <p:cTn id="9" dur="3000"/>
                                        <p:tgtEl>
                                          <p:spTgt spid="107"/>
                                        </p:tgtEl>
                                      </p:cBhvr>
                                    </p:animEffect>
                                  </p:childTnLst>
                                </p:cTn>
                              </p:par>
                              <p:par>
                                <p:cTn id="10" presetID="8" presetClass="entr" presetSubtype="32" fill="hold" nodeType="withEffect">
                                  <p:stCondLst>
                                    <p:cond delay="2500"/>
                                  </p:stCondLst>
                                  <p:childTnLst>
                                    <p:set>
                                      <p:cBhvr>
                                        <p:cTn id="11" dur="1" fill="hold">
                                          <p:stCondLst>
                                            <p:cond delay="0"/>
                                          </p:stCondLst>
                                        </p:cTn>
                                        <p:tgtEl>
                                          <p:spTgt spid="166"/>
                                        </p:tgtEl>
                                        <p:attrNameLst>
                                          <p:attrName>style.visibility</p:attrName>
                                        </p:attrNameLst>
                                      </p:cBhvr>
                                      <p:to>
                                        <p:strVal val="visible"/>
                                      </p:to>
                                    </p:set>
                                    <p:animEffect transition="in" filter="diamond(out)">
                                      <p:cBhvr>
                                        <p:cTn id="12" dur="3000"/>
                                        <p:tgtEl>
                                          <p:spTgt spid="166"/>
                                        </p:tgtEl>
                                      </p:cBhvr>
                                    </p:animEffect>
                                  </p:childTnLst>
                                </p:cTn>
                              </p:par>
                              <p:par>
                                <p:cTn id="13" presetID="8" presetClass="entr" presetSubtype="32" fill="hold" nodeType="withEffect">
                                  <p:stCondLst>
                                    <p:cond delay="2500"/>
                                  </p:stCondLst>
                                  <p:childTnLst>
                                    <p:set>
                                      <p:cBhvr>
                                        <p:cTn id="14" dur="1" fill="hold">
                                          <p:stCondLst>
                                            <p:cond delay="0"/>
                                          </p:stCondLst>
                                        </p:cTn>
                                        <p:tgtEl>
                                          <p:spTgt spid="161"/>
                                        </p:tgtEl>
                                        <p:attrNameLst>
                                          <p:attrName>style.visibility</p:attrName>
                                        </p:attrNameLst>
                                      </p:cBhvr>
                                      <p:to>
                                        <p:strVal val="visible"/>
                                      </p:to>
                                    </p:set>
                                    <p:animEffect transition="in" filter="diamond(out)">
                                      <p:cBhvr>
                                        <p:cTn id="15" dur="3000"/>
                                        <p:tgtEl>
                                          <p:spTgt spid="161"/>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74"/>
                                        </p:tgtEl>
                                        <p:attrNameLst>
                                          <p:attrName>style.visibility</p:attrName>
                                        </p:attrNameLst>
                                      </p:cBhvr>
                                      <p:to>
                                        <p:strVal val="visible"/>
                                      </p:to>
                                    </p:set>
                                    <p:animEffect transition="in" filter="slide(fromBottom)">
                                      <p:cBhvr>
                                        <p:cTn id="20" dur="5000"/>
                                        <p:tgtEl>
                                          <p:spTgt spid="174"/>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9" presetClass="emph" presetSubtype="0" nodeType="withEffect">
                                  <p:stCondLst>
                                    <p:cond delay="0"/>
                                  </p:stCondLst>
                                  <p:childTnLst>
                                    <p:set>
                                      <p:cBhvr rctx="PPT">
                                        <p:cTn id="22" dur="indefinite"/>
                                        <p:tgtEl>
                                          <p:spTgt spid="166"/>
                                        </p:tgtEl>
                                        <p:attrNameLst>
                                          <p:attrName>style.opacity</p:attrName>
                                        </p:attrNameLst>
                                      </p:cBhvr>
                                      <p:to>
                                        <p:strVal val="0.5"/>
                                      </p:to>
                                    </p:set>
                                    <p:animEffect filter="image" prLst="opacity: 0.5">
                                      <p:cBhvr rctx="IE">
                                        <p:cTn id="23" dur="indefinite"/>
                                        <p:tgtEl>
                                          <p:spTgt spid="166"/>
                                        </p:tgtEl>
                                      </p:cBhvr>
                                    </p:animEffect>
                                  </p:childTnLst>
                                </p:cTn>
                              </p:par>
                              <p:par>
                                <p:cTn id="24" presetID="19" presetClass="entr" presetSubtype="10" fill="hold" grpId="0" nodeType="withEffect">
                                  <p:stCondLst>
                                    <p:cond delay="0"/>
                                  </p:stCondLst>
                                  <p:childTnLst>
                                    <p:set>
                                      <p:cBhvr>
                                        <p:cTn id="25" dur="1" fill="hold">
                                          <p:stCondLst>
                                            <p:cond delay="0"/>
                                          </p:stCondLst>
                                        </p:cTn>
                                        <p:tgtEl>
                                          <p:spTgt spid="159"/>
                                        </p:tgtEl>
                                        <p:attrNameLst>
                                          <p:attrName>style.visibility</p:attrName>
                                        </p:attrNameLst>
                                      </p:cBhvr>
                                      <p:to>
                                        <p:strVal val="visible"/>
                                      </p:to>
                                    </p:set>
                                    <p:anim calcmode="lin" valueType="num">
                                      <p:cBhvr>
                                        <p:cTn id="26" dur="5000" fill="hold"/>
                                        <p:tgtEl>
                                          <p:spTgt spid="159"/>
                                        </p:tgtEl>
                                        <p:attrNameLst>
                                          <p:attrName>ppt_w</p:attrName>
                                        </p:attrNameLst>
                                      </p:cBhvr>
                                      <p:tavLst>
                                        <p:tav tm="0" fmla="#ppt_w*sin(2.5*pi*$)">
                                          <p:val>
                                            <p:fltVal val="0"/>
                                          </p:val>
                                        </p:tav>
                                        <p:tav tm="100000">
                                          <p:val>
                                            <p:fltVal val="1"/>
                                          </p:val>
                                        </p:tav>
                                      </p:tavLst>
                                    </p:anim>
                                    <p:anim calcmode="lin" valueType="num">
                                      <p:cBhvr>
                                        <p:cTn id="27" dur="5000" fill="hold"/>
                                        <p:tgtEl>
                                          <p:spTgt spid="15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2" presetClass="entr" presetSubtype="4" fill="hold" grpId="0" nodeType="afterEffect">
                                  <p:stCondLst>
                                    <p:cond delay="300"/>
                                  </p:stCondLst>
                                  <p:childTnLst>
                                    <p:set>
                                      <p:cBhvr>
                                        <p:cTn id="30" dur="1" fill="hold">
                                          <p:stCondLst>
                                            <p:cond delay="0"/>
                                          </p:stCondLst>
                                        </p:cTn>
                                        <p:tgtEl>
                                          <p:spTgt spid="173"/>
                                        </p:tgtEl>
                                        <p:attrNameLst>
                                          <p:attrName>style.visibility</p:attrName>
                                        </p:attrNameLst>
                                      </p:cBhvr>
                                      <p:to>
                                        <p:strVal val="visible"/>
                                      </p:to>
                                    </p:set>
                                    <p:animEffect transition="in" filter="slide(fromBottom)">
                                      <p:cBhvr>
                                        <p:cTn id="31" dur="5000"/>
                                        <p:tgtEl>
                                          <p:spTgt spid="173"/>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2" presetID="9" presetClass="emph" presetSubtype="0" nodeType="withEffect">
                                  <p:stCondLst>
                                    <p:cond delay="0"/>
                                  </p:stCondLst>
                                  <p:childTnLst>
                                    <p:set>
                                      <p:cBhvr rctx="PPT">
                                        <p:cTn id="33" dur="indefinite"/>
                                        <p:tgtEl>
                                          <p:spTgt spid="161"/>
                                        </p:tgtEl>
                                        <p:attrNameLst>
                                          <p:attrName>style.opacity</p:attrName>
                                        </p:attrNameLst>
                                      </p:cBhvr>
                                      <p:to>
                                        <p:strVal val="0.5"/>
                                      </p:to>
                                    </p:set>
                                    <p:animEffect filter="image" prLst="opacity: 0.5">
                                      <p:cBhvr rctx="IE">
                                        <p:cTn id="34" dur="indefinite"/>
                                        <p:tgtEl>
                                          <p:spTgt spid="161"/>
                                        </p:tgtEl>
                                      </p:cBhvr>
                                    </p:animEffect>
                                  </p:childTnLst>
                                </p:cTn>
                              </p:par>
                              <p:par>
                                <p:cTn id="35" presetID="19" presetClass="entr" presetSubtype="10" fill="hold" grpId="0" nodeType="withEffect">
                                  <p:stCondLst>
                                    <p:cond delay="300"/>
                                  </p:stCondLst>
                                  <p:childTnLst>
                                    <p:set>
                                      <p:cBhvr>
                                        <p:cTn id="36" dur="1" fill="hold">
                                          <p:stCondLst>
                                            <p:cond delay="0"/>
                                          </p:stCondLst>
                                        </p:cTn>
                                        <p:tgtEl>
                                          <p:spTgt spid="160"/>
                                        </p:tgtEl>
                                        <p:attrNameLst>
                                          <p:attrName>style.visibility</p:attrName>
                                        </p:attrNameLst>
                                      </p:cBhvr>
                                      <p:to>
                                        <p:strVal val="visible"/>
                                      </p:to>
                                    </p:set>
                                    <p:anim calcmode="lin" valueType="num">
                                      <p:cBhvr>
                                        <p:cTn id="37" dur="5000" fill="hold"/>
                                        <p:tgtEl>
                                          <p:spTgt spid="160"/>
                                        </p:tgtEl>
                                        <p:attrNameLst>
                                          <p:attrName>ppt_w</p:attrName>
                                        </p:attrNameLst>
                                      </p:cBhvr>
                                      <p:tavLst>
                                        <p:tav tm="0" fmla="#ppt_w*sin(2.5*pi*$)">
                                          <p:val>
                                            <p:fltVal val="0"/>
                                          </p:val>
                                        </p:tav>
                                        <p:tav tm="100000">
                                          <p:val>
                                            <p:fltVal val="1"/>
                                          </p:val>
                                        </p:tav>
                                      </p:tavLst>
                                    </p:anim>
                                    <p:anim calcmode="lin" valueType="num">
                                      <p:cBhvr>
                                        <p:cTn id="38" dur="5000" fill="hold"/>
                                        <p:tgtEl>
                                          <p:spTgt spid="16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3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wipe(left)">
                                      <p:cBhvr>
                                        <p:cTn id="52" dur="3000"/>
                                        <p:tgtEl>
                                          <p:spTgt spid="7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75"/>
                                        </p:tgtEl>
                                        <p:attrNameLst>
                                          <p:attrName>style.visibility</p:attrName>
                                        </p:attrNameLst>
                                      </p:cBhvr>
                                      <p:to>
                                        <p:strVal val="visible"/>
                                      </p:to>
                                    </p:set>
                                    <p:animEffect transition="in" filter="wipe(up)">
                                      <p:cBhvr>
                                        <p:cTn id="65" dur="5000"/>
                                        <p:tgtEl>
                                          <p:spTgt spid="17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45" grpId="0"/>
      <p:bldP spid="159" grpId="0" autoUpdateAnimBg="0"/>
      <p:bldP spid="160" grpId="0" autoUpdateAnimBg="0"/>
      <p:bldP spid="173" grpId="0" animBg="1"/>
      <p:bldP spid="174" grpId="0" animBg="1"/>
      <p:bldP spid="17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2"/>
            <a:ext cx="4514874" cy="5488928"/>
          </a:xfrm>
          <a:prstGeom prst="rect">
            <a:avLst/>
          </a:prstGeom>
          <a:solidFill>
            <a:srgbClr val="B9CDE5"/>
          </a:solidFill>
          <a:ln>
            <a:noFill/>
          </a:ln>
          <a:effectLst/>
        </p:spPr>
        <p:txBody>
          <a:bodyPr wrap="none" anchor="ctr"/>
          <a:lstStyle/>
          <a:p>
            <a:endParaRPr lang="zh-CN" altLang="en-US"/>
          </a:p>
        </p:txBody>
      </p:sp>
      <p:sp>
        <p:nvSpPr>
          <p:cNvPr id="62" name="矩形 61">
            <a:extLst>
              <a:ext uri="{FF2B5EF4-FFF2-40B4-BE49-F238E27FC236}">
                <a16:creationId xmlns:a16="http://schemas.microsoft.com/office/drawing/2014/main" id="{54CF797A-3212-00F4-D82B-18FEE729BE7A}"/>
              </a:ext>
            </a:extLst>
          </p:cNvPr>
          <p:cNvSpPr/>
          <p:nvPr/>
        </p:nvSpPr>
        <p:spPr>
          <a:xfrm>
            <a:off x="927732" y="5813872"/>
            <a:ext cx="6930953" cy="520848"/>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由上表各段剪力的数值可画出</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zh-CN" altLang="en-US" i="0" dirty="0">
                <a:solidFill>
                  <a:schemeClr val="tx1"/>
                </a:solidFill>
                <a:latin typeface="+mn-lt"/>
                <a:ea typeface="黑体" panose="02010609060101010101" pitchFamily="49" charset="-122"/>
              </a:rPr>
              <a:t>图。 </a:t>
            </a:r>
          </a:p>
        </p:txBody>
      </p:sp>
      <p:sp>
        <p:nvSpPr>
          <p:cNvPr id="63" name="Freeform 517" descr="浅色竖线"/>
          <p:cNvSpPr>
            <a:spLocks/>
          </p:cNvSpPr>
          <p:nvPr/>
        </p:nvSpPr>
        <p:spPr bwMode="auto">
          <a:xfrm>
            <a:off x="8092926" y="4142599"/>
            <a:ext cx="3200400" cy="1009650"/>
          </a:xfrm>
          <a:custGeom>
            <a:avLst/>
            <a:gdLst>
              <a:gd name="T0" fmla="*/ 0 w 2016"/>
              <a:gd name="T1" fmla="*/ 1171871810 h 636"/>
              <a:gd name="T2" fmla="*/ 0 w 2016"/>
              <a:gd name="T3" fmla="*/ 0 h 636"/>
              <a:gd name="T4" fmla="*/ 1262599166 w 2016"/>
              <a:gd name="T5" fmla="*/ 619958398 h 636"/>
              <a:gd name="T6" fmla="*/ 1262599166 w 2016"/>
              <a:gd name="T7" fmla="*/ 990420629 h 636"/>
              <a:gd name="T8" fmla="*/ 2147483647 w 2016"/>
              <a:gd name="T9" fmla="*/ 1602819157 h 636"/>
              <a:gd name="T10" fmla="*/ 2147483647 w 2016"/>
              <a:gd name="T11" fmla="*/ 1602819157 h 636"/>
              <a:gd name="T12" fmla="*/ 2147483647 w 2016"/>
              <a:gd name="T13" fmla="*/ 778728975 h 636"/>
              <a:gd name="T14" fmla="*/ 2147483647 w 2016"/>
              <a:gd name="T15" fmla="*/ 778728975 h 636"/>
              <a:gd name="T16" fmla="*/ 2147483647 w 2016"/>
              <a:gd name="T17" fmla="*/ 1171871810 h 636"/>
              <a:gd name="T18" fmla="*/ 0 w 2016"/>
              <a:gd name="T19" fmla="*/ 1171871810 h 6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16"/>
              <a:gd name="T31" fmla="*/ 0 h 636"/>
              <a:gd name="T32" fmla="*/ 2016 w 2016"/>
              <a:gd name="T33" fmla="*/ 636 h 6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16" h="636">
                <a:moveTo>
                  <a:pt x="0" y="465"/>
                </a:moveTo>
                <a:lnTo>
                  <a:pt x="0" y="0"/>
                </a:lnTo>
                <a:lnTo>
                  <a:pt x="501" y="246"/>
                </a:lnTo>
                <a:lnTo>
                  <a:pt x="501" y="393"/>
                </a:lnTo>
                <a:lnTo>
                  <a:pt x="996" y="636"/>
                </a:lnTo>
                <a:lnTo>
                  <a:pt x="1515" y="636"/>
                </a:lnTo>
                <a:lnTo>
                  <a:pt x="1515" y="309"/>
                </a:lnTo>
                <a:lnTo>
                  <a:pt x="2016" y="309"/>
                </a:lnTo>
                <a:lnTo>
                  <a:pt x="2016" y="465"/>
                </a:lnTo>
                <a:lnTo>
                  <a:pt x="0" y="465"/>
                </a:lnTo>
                <a:close/>
              </a:path>
            </a:pathLst>
          </a:custGeom>
          <a:pattFill prst="ltVert">
            <a:fgClr>
              <a:srgbClr val="000000"/>
            </a:fgClr>
            <a:bgClr>
              <a:srgbClr val="FFFF99"/>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64" name="Group 149"/>
          <p:cNvGrpSpPr>
            <a:grpSpLocks/>
          </p:cNvGrpSpPr>
          <p:nvPr/>
        </p:nvGrpSpPr>
        <p:grpSpPr bwMode="auto">
          <a:xfrm>
            <a:off x="7680176" y="887629"/>
            <a:ext cx="3952875" cy="2041525"/>
            <a:chOff x="3134" y="73"/>
            <a:chExt cx="2490" cy="1286"/>
          </a:xfrm>
        </p:grpSpPr>
        <p:sp>
          <p:nvSpPr>
            <p:cNvPr id="65" name="Text Box 4"/>
            <p:cNvSpPr txBox="1">
              <a:spLocks noChangeAspect="1" noChangeArrowheads="1"/>
            </p:cNvSpPr>
            <p:nvPr/>
          </p:nvSpPr>
          <p:spPr bwMode="auto">
            <a:xfrm>
              <a:off x="3778" y="726"/>
              <a:ext cx="184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          D        B      E</a:t>
              </a:r>
            </a:p>
          </p:txBody>
        </p:sp>
        <p:sp>
          <p:nvSpPr>
            <p:cNvPr id="66" name="Text Box 5"/>
            <p:cNvSpPr txBox="1">
              <a:spLocks noChangeAspect="1" noChangeArrowheads="1"/>
            </p:cNvSpPr>
            <p:nvPr/>
          </p:nvSpPr>
          <p:spPr bwMode="auto">
            <a:xfrm>
              <a:off x="3472" y="1052"/>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67" name="Text Box 6"/>
            <p:cNvSpPr txBox="1">
              <a:spLocks noChangeAspect="1" noChangeArrowheads="1"/>
            </p:cNvSpPr>
            <p:nvPr/>
          </p:nvSpPr>
          <p:spPr bwMode="auto">
            <a:xfrm>
              <a:off x="3278" y="341"/>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68" name="Text Box 7"/>
            <p:cNvSpPr txBox="1">
              <a:spLocks noChangeAspect="1" noChangeArrowheads="1"/>
            </p:cNvSpPr>
            <p:nvPr/>
          </p:nvSpPr>
          <p:spPr bwMode="auto">
            <a:xfrm>
              <a:off x="3769" y="73"/>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69" name="Line 8"/>
            <p:cNvSpPr>
              <a:spLocks noChangeAspect="1" noChangeShapeType="1"/>
            </p:cNvSpPr>
            <p:nvPr/>
          </p:nvSpPr>
          <p:spPr bwMode="auto">
            <a:xfrm flipV="1">
              <a:off x="3381" y="781"/>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Text Box 9"/>
            <p:cNvSpPr txBox="1">
              <a:spLocks noChangeAspect="1" noChangeArrowheads="1"/>
            </p:cNvSpPr>
            <p:nvPr/>
          </p:nvSpPr>
          <p:spPr bwMode="auto">
            <a:xfrm>
              <a:off x="3134" y="666"/>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73" name="Group 10"/>
            <p:cNvGrpSpPr>
              <a:grpSpLocks/>
            </p:cNvGrpSpPr>
            <p:nvPr/>
          </p:nvGrpSpPr>
          <p:grpSpPr bwMode="auto">
            <a:xfrm>
              <a:off x="4265" y="512"/>
              <a:ext cx="282" cy="458"/>
              <a:chOff x="4310" y="298"/>
              <a:chExt cx="282" cy="458"/>
            </a:xfrm>
          </p:grpSpPr>
          <p:sp>
            <p:nvSpPr>
              <p:cNvPr id="96" name="Line 11"/>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7" name="Line 12"/>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8" name="Line 13"/>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4" name="Line 14"/>
            <p:cNvSpPr>
              <a:spLocks noChangeAspect="1" noChangeShapeType="1"/>
            </p:cNvSpPr>
            <p:nvPr/>
          </p:nvSpPr>
          <p:spPr bwMode="auto">
            <a:xfrm>
              <a:off x="3890"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5" name="Line 15"/>
            <p:cNvSpPr>
              <a:spLocks noChangeAspect="1" noChangeShapeType="1"/>
            </p:cNvSpPr>
            <p:nvPr/>
          </p:nvSpPr>
          <p:spPr bwMode="auto">
            <a:xfrm>
              <a:off x="33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6" name="Line 16"/>
            <p:cNvSpPr>
              <a:spLocks noChangeAspect="1" noChangeShapeType="1"/>
            </p:cNvSpPr>
            <p:nvPr/>
          </p:nvSpPr>
          <p:spPr bwMode="auto">
            <a:xfrm>
              <a:off x="3899"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7" name="Line 17"/>
            <p:cNvSpPr>
              <a:spLocks noChangeAspect="1" noChangeShapeType="1"/>
            </p:cNvSpPr>
            <p:nvPr/>
          </p:nvSpPr>
          <p:spPr bwMode="auto">
            <a:xfrm>
              <a:off x="4398"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Line 18"/>
            <p:cNvSpPr>
              <a:spLocks noChangeAspect="1" noChangeShapeType="1"/>
            </p:cNvSpPr>
            <p:nvPr/>
          </p:nvSpPr>
          <p:spPr bwMode="auto">
            <a:xfrm>
              <a:off x="48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9" name="Line 19"/>
            <p:cNvSpPr>
              <a:spLocks noChangeAspect="1" noChangeShapeType="1"/>
            </p:cNvSpPr>
            <p:nvPr/>
          </p:nvSpPr>
          <p:spPr bwMode="auto">
            <a:xfrm>
              <a:off x="5396" y="1106"/>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0" name="Line 20"/>
            <p:cNvSpPr>
              <a:spLocks noChangeAspect="1" noChangeShapeType="1"/>
            </p:cNvSpPr>
            <p:nvPr/>
          </p:nvSpPr>
          <p:spPr bwMode="auto">
            <a:xfrm>
              <a:off x="3393" y="1283"/>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21"/>
            <p:cNvSpPr>
              <a:spLocks noChangeAspect="1" noChangeShapeType="1"/>
            </p:cNvSpPr>
            <p:nvPr/>
          </p:nvSpPr>
          <p:spPr bwMode="auto">
            <a:xfrm flipV="1">
              <a:off x="3898" y="1283"/>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2" name="Line 22"/>
            <p:cNvSpPr>
              <a:spLocks noChangeAspect="1" noChangeShapeType="1"/>
            </p:cNvSpPr>
            <p:nvPr/>
          </p:nvSpPr>
          <p:spPr bwMode="auto">
            <a:xfrm>
              <a:off x="4398" y="1283"/>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23"/>
            <p:cNvSpPr>
              <a:spLocks noChangeAspect="1" noChangeShapeType="1"/>
            </p:cNvSpPr>
            <p:nvPr/>
          </p:nvSpPr>
          <p:spPr bwMode="auto">
            <a:xfrm>
              <a:off x="4892" y="1283"/>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84" name="Group 24"/>
            <p:cNvGrpSpPr>
              <a:grpSpLocks/>
            </p:cNvGrpSpPr>
            <p:nvPr/>
          </p:nvGrpSpPr>
          <p:grpSpPr bwMode="auto">
            <a:xfrm>
              <a:off x="3397" y="581"/>
              <a:ext cx="1000" cy="193"/>
              <a:chOff x="4840" y="327"/>
              <a:chExt cx="796" cy="193"/>
            </a:xfrm>
          </p:grpSpPr>
          <p:sp>
            <p:nvSpPr>
              <p:cNvPr id="89" name="Line 25"/>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Line 26"/>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1" name="Line 27"/>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2" name="Line 28"/>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3" name="Line 29"/>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4" name="Line 30"/>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5" name="Line 31"/>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85" name="Text Box 32"/>
            <p:cNvSpPr txBox="1">
              <a:spLocks noChangeAspect="1" noChangeArrowheads="1"/>
            </p:cNvSpPr>
            <p:nvPr/>
          </p:nvSpPr>
          <p:spPr bwMode="auto">
            <a:xfrm>
              <a:off x="4950" y="1050"/>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3m</a:t>
              </a:r>
            </a:p>
          </p:txBody>
        </p:sp>
        <p:sp>
          <p:nvSpPr>
            <p:cNvPr id="86" name="Rectangle 33"/>
            <p:cNvSpPr>
              <a:spLocks noChangeArrowheads="1"/>
            </p:cNvSpPr>
            <p:nvPr/>
          </p:nvSpPr>
          <p:spPr bwMode="auto">
            <a:xfrm>
              <a:off x="4041" y="262"/>
              <a:ext cx="7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12kN·m</a:t>
              </a:r>
            </a:p>
          </p:txBody>
        </p:sp>
        <p:sp>
          <p:nvSpPr>
            <p:cNvPr id="87" name="Text Box 34"/>
            <p:cNvSpPr txBox="1">
              <a:spLocks noChangeAspect="1" noChangeArrowheads="1"/>
            </p:cNvSpPr>
            <p:nvPr/>
          </p:nvSpPr>
          <p:spPr bwMode="auto">
            <a:xfrm>
              <a:off x="4998" y="96"/>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88" name="Line 35"/>
            <p:cNvSpPr>
              <a:spLocks noChangeAspect="1" noChangeShapeType="1"/>
            </p:cNvSpPr>
            <p:nvPr/>
          </p:nvSpPr>
          <p:spPr bwMode="auto">
            <a:xfrm>
              <a:off x="5391"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99" name="Text Box 38"/>
          <p:cNvSpPr txBox="1">
            <a:spLocks noChangeAspect="1" noChangeArrowheads="1"/>
          </p:cNvSpPr>
          <p:nvPr/>
        </p:nvSpPr>
        <p:spPr bwMode="auto">
          <a:xfrm>
            <a:off x="10404326" y="2713254"/>
            <a:ext cx="5191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00" name="Text Box 39"/>
          <p:cNvSpPr txBox="1">
            <a:spLocks noChangeAspect="1" noChangeArrowheads="1"/>
          </p:cNvSpPr>
          <p:nvPr/>
        </p:nvSpPr>
        <p:spPr bwMode="auto">
          <a:xfrm>
            <a:off x="7723038" y="2630704"/>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01" name="Group 40"/>
          <p:cNvGrpSpPr>
            <a:grpSpLocks noChangeAspect="1"/>
          </p:cNvGrpSpPr>
          <p:nvPr/>
        </p:nvGrpSpPr>
        <p:grpSpPr bwMode="auto">
          <a:xfrm>
            <a:off x="7900838" y="1970304"/>
            <a:ext cx="371475" cy="392112"/>
            <a:chOff x="1686" y="3521"/>
            <a:chExt cx="313" cy="330"/>
          </a:xfrm>
        </p:grpSpPr>
        <p:sp>
          <p:nvSpPr>
            <p:cNvPr id="102" name="AutoShape 41"/>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03" name="Rectangle 42"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04" name="Line 43"/>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05" name="Oval 44"/>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06" name="Group 45"/>
          <p:cNvGrpSpPr>
            <a:grpSpLocks noChangeAspect="1"/>
          </p:cNvGrpSpPr>
          <p:nvPr/>
        </p:nvGrpSpPr>
        <p:grpSpPr bwMode="auto">
          <a:xfrm>
            <a:off x="10291613" y="2006816"/>
            <a:ext cx="371475" cy="427038"/>
            <a:chOff x="3499" y="3511"/>
            <a:chExt cx="311" cy="358"/>
          </a:xfrm>
        </p:grpSpPr>
        <p:sp>
          <p:nvSpPr>
            <p:cNvPr id="109" name="Line 46"/>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2" name="Rectangle 47"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3" name="Line 48"/>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8" name="Oval 49"/>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9" name="Oval 50"/>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20" name="Line 51"/>
          <p:cNvSpPr>
            <a:spLocks noChangeAspect="1" noChangeShapeType="1"/>
          </p:cNvSpPr>
          <p:nvPr/>
        </p:nvSpPr>
        <p:spPr bwMode="auto">
          <a:xfrm flipV="1">
            <a:off x="8089751" y="2071904"/>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21" name="Line 52"/>
          <p:cNvSpPr>
            <a:spLocks noChangeAspect="1" noChangeShapeType="1"/>
          </p:cNvSpPr>
          <p:nvPr/>
        </p:nvSpPr>
        <p:spPr bwMode="auto">
          <a:xfrm flipV="1">
            <a:off x="10474176" y="2105241"/>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24" name="Text Box 224"/>
          <p:cNvSpPr txBox="1">
            <a:spLocks noChangeAspect="1" noChangeArrowheads="1"/>
          </p:cNvSpPr>
          <p:nvPr/>
        </p:nvSpPr>
        <p:spPr bwMode="auto">
          <a:xfrm flipH="1">
            <a:off x="11031388" y="4755374"/>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25" name="Line 225"/>
          <p:cNvSpPr>
            <a:spLocks noChangeShapeType="1"/>
          </p:cNvSpPr>
          <p:nvPr/>
        </p:nvSpPr>
        <p:spPr bwMode="auto">
          <a:xfrm rot="16200000">
            <a:off x="7570638" y="4383899"/>
            <a:ext cx="105727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38" name="Text Box 226"/>
          <p:cNvSpPr txBox="1">
            <a:spLocks noChangeAspect="1" noChangeArrowheads="1"/>
          </p:cNvSpPr>
          <p:nvPr/>
        </p:nvSpPr>
        <p:spPr bwMode="auto">
          <a:xfrm flipH="1">
            <a:off x="7664301" y="3437749"/>
            <a:ext cx="993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r>
              <a:rPr lang="en-US" altLang="zh-CN" b="0" i="0">
                <a:solidFill>
                  <a:srgbClr val="CC00FF"/>
                </a:solidFill>
                <a:ea typeface="宋体" panose="02010600030101010101" pitchFamily="2" charset="-122"/>
              </a:rPr>
              <a:t>/kN</a:t>
            </a:r>
          </a:p>
        </p:txBody>
      </p:sp>
      <p:sp>
        <p:nvSpPr>
          <p:cNvPr id="141" name="Text Box 227"/>
          <p:cNvSpPr txBox="1">
            <a:spLocks noChangeAspect="1" noChangeArrowheads="1"/>
          </p:cNvSpPr>
          <p:nvPr/>
        </p:nvSpPr>
        <p:spPr bwMode="auto">
          <a:xfrm>
            <a:off x="7773838" y="4687111"/>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42" name="Line 229"/>
          <p:cNvSpPr>
            <a:spLocks noChangeShapeType="1"/>
          </p:cNvSpPr>
          <p:nvPr/>
        </p:nvSpPr>
        <p:spPr bwMode="auto">
          <a:xfrm>
            <a:off x="8073876" y="4874436"/>
            <a:ext cx="354806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43" name="Text Box 232"/>
          <p:cNvSpPr txBox="1">
            <a:spLocks noChangeAspect="1" noChangeArrowheads="1"/>
          </p:cNvSpPr>
          <p:nvPr/>
        </p:nvSpPr>
        <p:spPr bwMode="auto">
          <a:xfrm>
            <a:off x="7797651" y="388066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7</a:t>
            </a:r>
          </a:p>
        </p:txBody>
      </p:sp>
      <p:sp>
        <p:nvSpPr>
          <p:cNvPr id="144" name="Text Box 234"/>
          <p:cNvSpPr txBox="1">
            <a:spLocks noChangeAspect="1" noChangeArrowheads="1"/>
          </p:cNvSpPr>
          <p:nvPr/>
        </p:nvSpPr>
        <p:spPr bwMode="auto">
          <a:xfrm>
            <a:off x="8743801" y="4142599"/>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45" name="Text Box 236"/>
          <p:cNvSpPr txBox="1">
            <a:spLocks noChangeAspect="1" noChangeArrowheads="1"/>
          </p:cNvSpPr>
          <p:nvPr/>
        </p:nvSpPr>
        <p:spPr bwMode="auto">
          <a:xfrm>
            <a:off x="8843813" y="44061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a:t>
            </a:r>
          </a:p>
        </p:txBody>
      </p:sp>
      <p:sp>
        <p:nvSpPr>
          <p:cNvPr id="146" name="Text Box 238"/>
          <p:cNvSpPr txBox="1">
            <a:spLocks noChangeAspect="1" noChangeArrowheads="1"/>
          </p:cNvSpPr>
          <p:nvPr/>
        </p:nvSpPr>
        <p:spPr bwMode="auto">
          <a:xfrm>
            <a:off x="9520088" y="51046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47" name="Text Box 242"/>
          <p:cNvSpPr txBox="1">
            <a:spLocks noChangeAspect="1" noChangeArrowheads="1"/>
          </p:cNvSpPr>
          <p:nvPr/>
        </p:nvSpPr>
        <p:spPr bwMode="auto">
          <a:xfrm>
            <a:off x="10275738" y="414736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a:t>
            </a:r>
          </a:p>
        </p:txBody>
      </p:sp>
      <p:sp>
        <p:nvSpPr>
          <p:cNvPr id="148" name="Text Box 507"/>
          <p:cNvSpPr txBox="1">
            <a:spLocks noChangeAspect="1" noChangeArrowheads="1"/>
          </p:cNvSpPr>
          <p:nvPr/>
        </p:nvSpPr>
        <p:spPr bwMode="auto">
          <a:xfrm>
            <a:off x="10421788" y="50665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71" name="Line 508"/>
          <p:cNvSpPr>
            <a:spLocks noChangeShapeType="1"/>
          </p:cNvSpPr>
          <p:nvPr/>
        </p:nvSpPr>
        <p:spPr bwMode="auto">
          <a:xfrm flipV="1">
            <a:off x="8100863" y="4150536"/>
            <a:ext cx="0" cy="7254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7" name="Line 509"/>
          <p:cNvSpPr>
            <a:spLocks noChangeShapeType="1"/>
          </p:cNvSpPr>
          <p:nvPr/>
        </p:nvSpPr>
        <p:spPr bwMode="auto">
          <a:xfrm>
            <a:off x="8111976" y="4148949"/>
            <a:ext cx="766762"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8" name="Line 510"/>
          <p:cNvSpPr>
            <a:spLocks noChangeShapeType="1"/>
          </p:cNvSpPr>
          <p:nvPr/>
        </p:nvSpPr>
        <p:spPr bwMode="auto">
          <a:xfrm>
            <a:off x="8886676" y="4553761"/>
            <a:ext cx="0" cy="214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9" name="Oval 233"/>
          <p:cNvSpPr>
            <a:spLocks noChangeArrowheads="1"/>
          </p:cNvSpPr>
          <p:nvPr/>
        </p:nvSpPr>
        <p:spPr bwMode="auto">
          <a:xfrm>
            <a:off x="8851751" y="4496611"/>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0" name="Line 512"/>
          <p:cNvSpPr>
            <a:spLocks noChangeShapeType="1"/>
          </p:cNvSpPr>
          <p:nvPr/>
        </p:nvSpPr>
        <p:spPr bwMode="auto">
          <a:xfrm>
            <a:off x="8891438" y="4768074"/>
            <a:ext cx="766763"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1" name="Line 513"/>
          <p:cNvSpPr>
            <a:spLocks noChangeShapeType="1"/>
          </p:cNvSpPr>
          <p:nvPr/>
        </p:nvSpPr>
        <p:spPr bwMode="auto">
          <a:xfrm>
            <a:off x="9658201" y="5153836"/>
            <a:ext cx="8318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2" name="Line 514"/>
          <p:cNvSpPr>
            <a:spLocks noChangeShapeType="1"/>
          </p:cNvSpPr>
          <p:nvPr/>
        </p:nvSpPr>
        <p:spPr bwMode="auto">
          <a:xfrm flipV="1">
            <a:off x="10491638" y="4634724"/>
            <a:ext cx="0" cy="52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3" name="Line 515"/>
          <p:cNvSpPr>
            <a:spLocks noChangeShapeType="1"/>
          </p:cNvSpPr>
          <p:nvPr/>
        </p:nvSpPr>
        <p:spPr bwMode="auto">
          <a:xfrm>
            <a:off x="10480526" y="4634724"/>
            <a:ext cx="8207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4" name="Line 516"/>
          <p:cNvSpPr>
            <a:spLocks noChangeShapeType="1"/>
          </p:cNvSpPr>
          <p:nvPr/>
        </p:nvSpPr>
        <p:spPr bwMode="auto">
          <a:xfrm>
            <a:off x="11291738" y="4647424"/>
            <a:ext cx="0" cy="214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5" name="Oval 241"/>
          <p:cNvSpPr>
            <a:spLocks noChangeArrowheads="1"/>
          </p:cNvSpPr>
          <p:nvPr/>
        </p:nvSpPr>
        <p:spPr bwMode="auto">
          <a:xfrm>
            <a:off x="10451951" y="4595036"/>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6" name="Oval 243"/>
          <p:cNvSpPr>
            <a:spLocks noChangeArrowheads="1"/>
          </p:cNvSpPr>
          <p:nvPr/>
        </p:nvSpPr>
        <p:spPr bwMode="auto">
          <a:xfrm>
            <a:off x="11255226" y="4590274"/>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7" name="Oval 239"/>
          <p:cNvSpPr>
            <a:spLocks noChangeArrowheads="1"/>
          </p:cNvSpPr>
          <p:nvPr/>
        </p:nvSpPr>
        <p:spPr bwMode="auto">
          <a:xfrm>
            <a:off x="10453538" y="5115736"/>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8" name="Oval 237"/>
          <p:cNvSpPr>
            <a:spLocks noChangeArrowheads="1"/>
          </p:cNvSpPr>
          <p:nvPr/>
        </p:nvSpPr>
        <p:spPr bwMode="auto">
          <a:xfrm>
            <a:off x="9624863" y="5117324"/>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9" name="Oval 235"/>
          <p:cNvSpPr>
            <a:spLocks noChangeArrowheads="1"/>
          </p:cNvSpPr>
          <p:nvPr/>
        </p:nvSpPr>
        <p:spPr bwMode="auto">
          <a:xfrm>
            <a:off x="8848576" y="4720449"/>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0" name="Oval 231"/>
          <p:cNvSpPr>
            <a:spLocks noChangeArrowheads="1"/>
          </p:cNvSpPr>
          <p:nvPr/>
        </p:nvSpPr>
        <p:spPr bwMode="auto">
          <a:xfrm>
            <a:off x="8072288" y="4114024"/>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191" name="Group 518"/>
          <p:cNvGrpSpPr>
            <a:grpSpLocks/>
          </p:cNvGrpSpPr>
          <p:nvPr/>
        </p:nvGrpSpPr>
        <p:grpSpPr bwMode="auto">
          <a:xfrm>
            <a:off x="8183413" y="4329924"/>
            <a:ext cx="592138" cy="523875"/>
            <a:chOff x="3767" y="1607"/>
            <a:chExt cx="373" cy="330"/>
          </a:xfrm>
        </p:grpSpPr>
        <p:sp>
          <p:nvSpPr>
            <p:cNvPr id="192" name="Oval 519"/>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3" name="Text Box 520"/>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194" name="Group 521"/>
          <p:cNvGrpSpPr>
            <a:grpSpLocks/>
          </p:cNvGrpSpPr>
          <p:nvPr/>
        </p:nvGrpSpPr>
        <p:grpSpPr bwMode="auto">
          <a:xfrm>
            <a:off x="9799488" y="4779186"/>
            <a:ext cx="569913" cy="441325"/>
            <a:chOff x="4503" y="2280"/>
            <a:chExt cx="269" cy="231"/>
          </a:xfrm>
        </p:grpSpPr>
        <p:sp>
          <p:nvSpPr>
            <p:cNvPr id="195" name="Oval 522"/>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6" name="Text Box 523"/>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197" name="Group 524"/>
          <p:cNvGrpSpPr>
            <a:grpSpLocks/>
          </p:cNvGrpSpPr>
          <p:nvPr/>
        </p:nvGrpSpPr>
        <p:grpSpPr bwMode="auto">
          <a:xfrm>
            <a:off x="10656738" y="4529949"/>
            <a:ext cx="498475" cy="441325"/>
            <a:chOff x="3767" y="1607"/>
            <a:chExt cx="373" cy="330"/>
          </a:xfrm>
        </p:grpSpPr>
        <p:sp>
          <p:nvSpPr>
            <p:cNvPr id="198" name="Oval 525"/>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9" name="Text Box 526"/>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95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aphicFrame>
        <p:nvGraphicFramePr>
          <p:cNvPr id="200" name="Group 553"/>
          <p:cNvGraphicFramePr>
            <a:graphicFrameLocks/>
          </p:cNvGraphicFramePr>
          <p:nvPr>
            <p:extLst>
              <p:ext uri="{D42A27DB-BD31-4B8C-83A1-F6EECF244321}">
                <p14:modId xmlns:p14="http://schemas.microsoft.com/office/powerpoint/2010/main" val="2905481560"/>
              </p:ext>
            </p:extLst>
          </p:nvPr>
        </p:nvGraphicFramePr>
        <p:xfrm>
          <a:off x="927732" y="898769"/>
          <a:ext cx="5544617" cy="1872208"/>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1" lang="en-US" altLang="zh-CN" sz="2400" b="0" i="0" u="none" strike="noStrike" cap="none" normalizeH="0" baseline="-3000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Q</a:t>
                      </a: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7</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3</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44848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
        <p:nvSpPr>
          <p:cNvPr id="201" name="矩形 200">
            <a:extLst>
              <a:ext uri="{FF2B5EF4-FFF2-40B4-BE49-F238E27FC236}">
                <a16:creationId xmlns:a16="http://schemas.microsoft.com/office/drawing/2014/main" id="{54CF797A-3212-00F4-D82B-18FEE729BE7A}"/>
              </a:ext>
            </a:extLst>
          </p:cNvPr>
          <p:cNvSpPr/>
          <p:nvPr/>
        </p:nvSpPr>
        <p:spPr>
          <a:xfrm>
            <a:off x="830956" y="2741659"/>
            <a:ext cx="6930953"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再列出各段</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Q</a:t>
            </a:r>
            <a:r>
              <a:rPr kumimoji="1" lang="zh-CN" altLang="en-US" i="0" dirty="0">
                <a:solidFill>
                  <a:schemeClr val="tx1"/>
                </a:solidFill>
                <a:latin typeface="+mn-lt"/>
                <a:ea typeface="黑体" panose="02010609060101010101" pitchFamily="49" charset="-122"/>
              </a:rPr>
              <a:t>图和</a:t>
            </a:r>
            <a:r>
              <a:rPr kumimoji="1" lang="en-US" altLang="zh-CN" b="0" dirty="0">
                <a:solidFill>
                  <a:schemeClr val="tx1"/>
                </a:solidFill>
                <a:latin typeface="+mn-lt"/>
                <a:ea typeface="黑体" panose="02010609060101010101" pitchFamily="49" charset="-122"/>
              </a:rPr>
              <a:t>M</a:t>
            </a:r>
            <a:r>
              <a:rPr kumimoji="1" lang="zh-CN" altLang="en-US" i="0" dirty="0">
                <a:solidFill>
                  <a:schemeClr val="tx1"/>
                </a:solidFill>
                <a:latin typeface="+mn-lt"/>
                <a:ea typeface="黑体" panose="02010609060101010101" pitchFamily="49" charset="-122"/>
              </a:rPr>
              <a:t>图的特征表。</a:t>
            </a:r>
            <a:endParaRPr lang="zh-CN" altLang="en-US" i="0" dirty="0">
              <a:solidFill>
                <a:schemeClr val="tx1"/>
              </a:solidFill>
              <a:latin typeface="+mn-lt"/>
              <a:ea typeface="黑体" panose="02010609060101010101" pitchFamily="49" charset="-122"/>
            </a:endParaRPr>
          </a:p>
        </p:txBody>
      </p:sp>
      <p:graphicFrame>
        <p:nvGraphicFramePr>
          <p:cNvPr id="202" name="Group 492"/>
          <p:cNvGraphicFramePr>
            <a:graphicFrameLocks/>
          </p:cNvGraphicFramePr>
          <p:nvPr>
            <p:extLst>
              <p:ext uri="{D42A27DB-BD31-4B8C-83A1-F6EECF244321}">
                <p14:modId xmlns:p14="http://schemas.microsoft.com/office/powerpoint/2010/main" val="4011275167"/>
              </p:ext>
            </p:extLst>
          </p:nvPr>
        </p:nvGraphicFramePr>
        <p:xfrm>
          <a:off x="994272" y="3355330"/>
          <a:ext cx="4697412" cy="2482588"/>
        </p:xfrm>
        <a:graphic>
          <a:graphicData uri="http://schemas.openxmlformats.org/drawingml/2006/table">
            <a:tbl>
              <a:tblPr/>
              <a:tblGrid>
                <a:gridCol w="842962">
                  <a:extLst>
                    <a:ext uri="{9D8B030D-6E8A-4147-A177-3AD203B41FA5}">
                      <a16:colId xmlns:a16="http://schemas.microsoft.com/office/drawing/2014/main" val="20000"/>
                    </a:ext>
                  </a:extLst>
                </a:gridCol>
                <a:gridCol w="957263">
                  <a:extLst>
                    <a:ext uri="{9D8B030D-6E8A-4147-A177-3AD203B41FA5}">
                      <a16:colId xmlns:a16="http://schemas.microsoft.com/office/drawing/2014/main" val="20001"/>
                    </a:ext>
                  </a:extLst>
                </a:gridCol>
                <a:gridCol w="41275">
                  <a:extLst>
                    <a:ext uri="{9D8B030D-6E8A-4147-A177-3AD203B41FA5}">
                      <a16:colId xmlns:a16="http://schemas.microsoft.com/office/drawing/2014/main" val="20002"/>
                    </a:ext>
                  </a:extLst>
                </a:gridCol>
                <a:gridCol w="985837">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55675">
                  <a:extLst>
                    <a:ext uri="{9D8B030D-6E8A-4147-A177-3AD203B41FA5}">
                      <a16:colId xmlns:a16="http://schemas.microsoft.com/office/drawing/2014/main" val="20005"/>
                    </a:ext>
                  </a:extLst>
                </a:gridCol>
              </a:tblGrid>
              <a:tr h="387350">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AC</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CD</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DB</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BE</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2275">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外力</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3">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a:t>
                      </a: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常数＜</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808867">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F</a:t>
                      </a:r>
                      <a:r>
                        <a:rPr kumimoji="1" lang="en-US" altLang="zh-CN" sz="2400" b="0" i="0" u="none" strike="noStrike" cap="none" normalizeH="0" baseline="-30000" dirty="0">
                          <a:ln>
                            <a:noFill/>
                          </a:ln>
                          <a:solidFill>
                            <a:schemeClr val="bg1"/>
                          </a:solidFill>
                          <a:effectLst/>
                          <a:latin typeface="Times New Roman" pitchFamily="18" charset="0"/>
                          <a:ea typeface="黑体" pitchFamily="2" charset="-122"/>
                          <a:cs typeface="Times New Roman" pitchFamily="18" charset="0"/>
                        </a:rPr>
                        <a:t>Q</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下斜</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下斜</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水平</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水平</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864096">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M</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72066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9" presetClass="emph" presetSubtype="0" nodeType="withEffect">
                                  <p:stCondLst>
                                    <p:cond delay="0"/>
                                  </p:stCondLst>
                                  <p:childTnLst>
                                    <p:set>
                                      <p:cBhvr rctx="PPT">
                                        <p:cTn id="8" dur="indefinite"/>
                                        <p:tgtEl>
                                          <p:spTgt spid="106"/>
                                        </p:tgtEl>
                                        <p:attrNameLst>
                                          <p:attrName>style.opacity</p:attrName>
                                        </p:attrNameLst>
                                      </p:cBhvr>
                                      <p:to>
                                        <p:strVal val="0.5"/>
                                      </p:to>
                                    </p:set>
                                    <p:animEffect filter="image" prLst="opacity: 0.5">
                                      <p:cBhvr rctx="IE">
                                        <p:cTn id="9" dur="indefinite"/>
                                        <p:tgtEl>
                                          <p:spTgt spid="106"/>
                                        </p:tgtEl>
                                      </p:cBhvr>
                                    </p:animEffect>
                                  </p:childTnLst>
                                </p:cTn>
                              </p:par>
                              <p:par>
                                <p:cTn id="10" presetID="9" presetClass="emph" presetSubtype="0" nodeType="withEffect">
                                  <p:stCondLst>
                                    <p:cond delay="0"/>
                                  </p:stCondLst>
                                  <p:childTnLst>
                                    <p:set>
                                      <p:cBhvr rctx="PPT">
                                        <p:cTn id="11" dur="indefinite"/>
                                        <p:tgtEl>
                                          <p:spTgt spid="101"/>
                                        </p:tgtEl>
                                        <p:attrNameLst>
                                          <p:attrName>style.opacity</p:attrName>
                                        </p:attrNameLst>
                                      </p:cBhvr>
                                      <p:to>
                                        <p:strVal val="0.5"/>
                                      </p:to>
                                    </p:set>
                                    <p:animEffect filter="image" prLst="opacity: 0.5">
                                      <p:cBhvr rctx="IE">
                                        <p:cTn id="12" dur="indefinite"/>
                                        <p:tgtEl>
                                          <p:spTgt spid="101"/>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142"/>
                                        </p:tgtEl>
                                        <p:attrNameLst>
                                          <p:attrName>style.visibility</p:attrName>
                                        </p:attrNameLst>
                                      </p:cBhvr>
                                      <p:to>
                                        <p:strVal val="visible"/>
                                      </p:to>
                                    </p:set>
                                    <p:animEffect transition="in" filter="slide(fromLeft)">
                                      <p:cBhvr>
                                        <p:cTn id="15" dur="5000"/>
                                        <p:tgtEl>
                                          <p:spTgt spid="142"/>
                                        </p:tgtEl>
                                      </p:cBhvr>
                                    </p:animEffect>
                                  </p:childTnLst>
                                </p:cTn>
                              </p:par>
                              <p:par>
                                <p:cTn id="16" presetID="19" presetClass="entr" presetSubtype="10" fill="hold" grpId="0" nodeType="withEffect">
                                  <p:stCondLst>
                                    <p:cond delay="500"/>
                                  </p:stCondLst>
                                  <p:childTnLst>
                                    <p:set>
                                      <p:cBhvr>
                                        <p:cTn id="17" dur="1" fill="hold">
                                          <p:stCondLst>
                                            <p:cond delay="0"/>
                                          </p:stCondLst>
                                        </p:cTn>
                                        <p:tgtEl>
                                          <p:spTgt spid="124"/>
                                        </p:tgtEl>
                                        <p:attrNameLst>
                                          <p:attrName>style.visibility</p:attrName>
                                        </p:attrNameLst>
                                      </p:cBhvr>
                                      <p:to>
                                        <p:strVal val="visible"/>
                                      </p:to>
                                    </p:set>
                                    <p:anim calcmode="lin" valueType="num">
                                      <p:cBhvr>
                                        <p:cTn id="18" dur="5000" fill="hold"/>
                                        <p:tgtEl>
                                          <p:spTgt spid="124"/>
                                        </p:tgtEl>
                                        <p:attrNameLst>
                                          <p:attrName>ppt_w</p:attrName>
                                        </p:attrNameLst>
                                      </p:cBhvr>
                                      <p:tavLst>
                                        <p:tav tm="0" fmla="#ppt_w*sin(2.5*pi*$)">
                                          <p:val>
                                            <p:fltVal val="0"/>
                                          </p:val>
                                        </p:tav>
                                        <p:tav tm="100000">
                                          <p:val>
                                            <p:fltVal val="1"/>
                                          </p:val>
                                        </p:tav>
                                      </p:tavLst>
                                    </p:anim>
                                    <p:anim calcmode="lin" valueType="num">
                                      <p:cBhvr>
                                        <p:cTn id="19" dur="5000" fill="hold"/>
                                        <p:tgtEl>
                                          <p:spTgt spid="124"/>
                                        </p:tgtEl>
                                        <p:attrNameLst>
                                          <p:attrName>ppt_h</p:attrName>
                                        </p:attrNameLst>
                                      </p:cBhvr>
                                      <p:tavLst>
                                        <p:tav tm="0">
                                          <p:val>
                                            <p:strVal val="#ppt_h"/>
                                          </p:val>
                                        </p:tav>
                                        <p:tav tm="100000">
                                          <p:val>
                                            <p:strVal val="#ppt_h"/>
                                          </p:val>
                                        </p:tav>
                                      </p:tavLst>
                                    </p:anim>
                                  </p:childTnLst>
                                </p:cTn>
                              </p:par>
                              <p:par>
                                <p:cTn id="20" presetID="12" presetClass="entr" presetSubtype="4" fill="hold" grpId="0" nodeType="withEffect">
                                  <p:stCondLst>
                                    <p:cond delay="500"/>
                                  </p:stCondLst>
                                  <p:childTnLst>
                                    <p:set>
                                      <p:cBhvr>
                                        <p:cTn id="21" dur="1" fill="hold">
                                          <p:stCondLst>
                                            <p:cond delay="0"/>
                                          </p:stCondLst>
                                        </p:cTn>
                                        <p:tgtEl>
                                          <p:spTgt spid="125"/>
                                        </p:tgtEl>
                                        <p:attrNameLst>
                                          <p:attrName>style.visibility</p:attrName>
                                        </p:attrNameLst>
                                      </p:cBhvr>
                                      <p:to>
                                        <p:strVal val="visible"/>
                                      </p:to>
                                    </p:set>
                                    <p:animEffect transition="in" filter="slide(fromBottom)">
                                      <p:cBhvr>
                                        <p:cTn id="22" dur="5000"/>
                                        <p:tgtEl>
                                          <p:spTgt spid="125"/>
                                        </p:tgtEl>
                                      </p:cBhvr>
                                    </p:animEffect>
                                  </p:childTnLst>
                                </p:cTn>
                              </p:par>
                              <p:par>
                                <p:cTn id="23" presetID="19" presetClass="entr" presetSubtype="10" fill="hold" grpId="0" nodeType="withEffect">
                                  <p:stCondLst>
                                    <p:cond delay="500"/>
                                  </p:stCondLst>
                                  <p:childTnLst>
                                    <p:set>
                                      <p:cBhvr>
                                        <p:cTn id="24" dur="1" fill="hold">
                                          <p:stCondLst>
                                            <p:cond delay="0"/>
                                          </p:stCondLst>
                                        </p:cTn>
                                        <p:tgtEl>
                                          <p:spTgt spid="138"/>
                                        </p:tgtEl>
                                        <p:attrNameLst>
                                          <p:attrName>style.visibility</p:attrName>
                                        </p:attrNameLst>
                                      </p:cBhvr>
                                      <p:to>
                                        <p:strVal val="visible"/>
                                      </p:to>
                                    </p:set>
                                    <p:anim calcmode="lin" valueType="num">
                                      <p:cBhvr>
                                        <p:cTn id="25" dur="5000" fill="hold"/>
                                        <p:tgtEl>
                                          <p:spTgt spid="138"/>
                                        </p:tgtEl>
                                        <p:attrNameLst>
                                          <p:attrName>ppt_w</p:attrName>
                                        </p:attrNameLst>
                                      </p:cBhvr>
                                      <p:tavLst>
                                        <p:tav tm="0" fmla="#ppt_w*sin(2.5*pi*$)">
                                          <p:val>
                                            <p:fltVal val="0"/>
                                          </p:val>
                                        </p:tav>
                                        <p:tav tm="100000">
                                          <p:val>
                                            <p:fltVal val="1"/>
                                          </p:val>
                                        </p:tav>
                                      </p:tavLst>
                                    </p:anim>
                                    <p:anim calcmode="lin" valueType="num">
                                      <p:cBhvr>
                                        <p:cTn id="26" dur="5000" fill="hold"/>
                                        <p:tgtEl>
                                          <p:spTgt spid="138"/>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00"/>
                                        </p:tgtEl>
                                        <p:attrNameLst>
                                          <p:attrName>style.visibility</p:attrName>
                                        </p:attrNameLst>
                                      </p:cBhvr>
                                      <p:to>
                                        <p:strVal val="visible"/>
                                      </p:to>
                                    </p:set>
                                    <p:animEffect transition="in" filter="wipe(up)">
                                      <p:cBhvr>
                                        <p:cTn id="31" dur="5000"/>
                                        <p:tgtEl>
                                          <p:spTgt spid="200"/>
                                        </p:tgtEl>
                                      </p:cBhvr>
                                    </p:animEffect>
                                  </p:childTnLst>
                                </p:cTn>
                              </p:par>
                              <p:par>
                                <p:cTn id="32" presetID="19" presetClass="entr" presetSubtype="10" fill="hold" grpId="0" nodeType="withEffect">
                                  <p:stCondLst>
                                    <p:cond delay="500"/>
                                  </p:stCondLst>
                                  <p:childTnLst>
                                    <p:set>
                                      <p:cBhvr>
                                        <p:cTn id="33" dur="1" fill="hold">
                                          <p:stCondLst>
                                            <p:cond delay="0"/>
                                          </p:stCondLst>
                                        </p:cTn>
                                        <p:tgtEl>
                                          <p:spTgt spid="141"/>
                                        </p:tgtEl>
                                        <p:attrNameLst>
                                          <p:attrName>style.visibility</p:attrName>
                                        </p:attrNameLst>
                                      </p:cBhvr>
                                      <p:to>
                                        <p:strVal val="visible"/>
                                      </p:to>
                                    </p:set>
                                    <p:anim calcmode="lin" valueType="num">
                                      <p:cBhvr>
                                        <p:cTn id="34" dur="5000" fill="hold"/>
                                        <p:tgtEl>
                                          <p:spTgt spid="141"/>
                                        </p:tgtEl>
                                        <p:attrNameLst>
                                          <p:attrName>ppt_w</p:attrName>
                                        </p:attrNameLst>
                                      </p:cBhvr>
                                      <p:tavLst>
                                        <p:tav tm="0" fmla="#ppt_w*sin(2.5*pi*$)">
                                          <p:val>
                                            <p:fltVal val="0"/>
                                          </p:val>
                                        </p:tav>
                                        <p:tav tm="100000">
                                          <p:val>
                                            <p:fltVal val="1"/>
                                          </p:val>
                                        </p:tav>
                                      </p:tavLst>
                                    </p:anim>
                                    <p:anim calcmode="lin" valueType="num">
                                      <p:cBhvr>
                                        <p:cTn id="35" dur="5000" fill="hold"/>
                                        <p:tgtEl>
                                          <p:spTgt spid="14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90"/>
                                        </p:tgtEl>
                                        <p:attrNameLst>
                                          <p:attrName>style.visibility</p:attrName>
                                        </p:attrNameLst>
                                      </p:cBhvr>
                                      <p:to>
                                        <p:strVal val="visible"/>
                                      </p:to>
                                    </p:set>
                                    <p:anim calcmode="lin" valueType="num">
                                      <p:cBhvr>
                                        <p:cTn id="40" dur="2000" fill="hold"/>
                                        <p:tgtEl>
                                          <p:spTgt spid="190"/>
                                        </p:tgtEl>
                                        <p:attrNameLst>
                                          <p:attrName>ppt_w</p:attrName>
                                        </p:attrNameLst>
                                      </p:cBhvr>
                                      <p:tavLst>
                                        <p:tav tm="0">
                                          <p:val>
                                            <p:fltVal val="0"/>
                                          </p:val>
                                        </p:tav>
                                        <p:tav tm="100000">
                                          <p:val>
                                            <p:strVal val="#ppt_w"/>
                                          </p:val>
                                        </p:tav>
                                      </p:tavLst>
                                    </p:anim>
                                    <p:anim calcmode="lin" valueType="num">
                                      <p:cBhvr>
                                        <p:cTn id="41" dur="2000" fill="hold"/>
                                        <p:tgtEl>
                                          <p:spTgt spid="190"/>
                                        </p:tgtEl>
                                        <p:attrNameLst>
                                          <p:attrName>ppt_h</p:attrName>
                                        </p:attrNameLst>
                                      </p:cBhvr>
                                      <p:tavLst>
                                        <p:tav tm="0">
                                          <p:val>
                                            <p:fltVal val="0"/>
                                          </p:val>
                                        </p:tav>
                                        <p:tav tm="100000">
                                          <p:val>
                                            <p:strVal val="#ppt_h"/>
                                          </p:val>
                                        </p:tav>
                                      </p:tavLst>
                                    </p:anim>
                                    <p:anim calcmode="lin" valueType="num">
                                      <p:cBhvr>
                                        <p:cTn id="42" dur="2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43" dur="2000" fill="hold"/>
                                        <p:tgtEl>
                                          <p:spTgt spid="19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par>
                                <p:cTn id="44" presetID="19" presetClass="entr" presetSubtype="10" fill="hold" grpId="0" nodeType="withEffect">
                                  <p:stCondLst>
                                    <p:cond delay="0"/>
                                  </p:stCondLst>
                                  <p:childTnLst>
                                    <p:set>
                                      <p:cBhvr>
                                        <p:cTn id="45" dur="1" fill="hold">
                                          <p:stCondLst>
                                            <p:cond delay="0"/>
                                          </p:stCondLst>
                                        </p:cTn>
                                        <p:tgtEl>
                                          <p:spTgt spid="143"/>
                                        </p:tgtEl>
                                        <p:attrNameLst>
                                          <p:attrName>style.visibility</p:attrName>
                                        </p:attrNameLst>
                                      </p:cBhvr>
                                      <p:to>
                                        <p:strVal val="visible"/>
                                      </p:to>
                                    </p:set>
                                    <p:anim calcmode="lin" valueType="num">
                                      <p:cBhvr>
                                        <p:cTn id="46" dur="5000" fill="hold"/>
                                        <p:tgtEl>
                                          <p:spTgt spid="143"/>
                                        </p:tgtEl>
                                        <p:attrNameLst>
                                          <p:attrName>ppt_w</p:attrName>
                                        </p:attrNameLst>
                                      </p:cBhvr>
                                      <p:tavLst>
                                        <p:tav tm="0" fmla="#ppt_w*sin(2.5*pi*$)">
                                          <p:val>
                                            <p:fltVal val="0"/>
                                          </p:val>
                                        </p:tav>
                                        <p:tav tm="100000">
                                          <p:val>
                                            <p:fltVal val="1"/>
                                          </p:val>
                                        </p:tav>
                                      </p:tavLst>
                                    </p:anim>
                                    <p:anim calcmode="lin" valueType="num">
                                      <p:cBhvr>
                                        <p:cTn id="47" dur="5000" fill="hold"/>
                                        <p:tgtEl>
                                          <p:spTgt spid="14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8" fill="hold">
                      <p:stCondLst>
                        <p:cond delay="indefinite"/>
                      </p:stCondLst>
                      <p:childTnLst>
                        <p:par>
                          <p:cTn id="49" fill="hold">
                            <p:stCondLst>
                              <p:cond delay="0"/>
                            </p:stCondLst>
                            <p:childTnLst>
                              <p:par>
                                <p:cTn id="50" presetID="15" presetClass="entr" presetSubtype="0" fill="hold" grpId="0" nodeType="clickEffect">
                                  <p:stCondLst>
                                    <p:cond delay="0"/>
                                  </p:stCondLst>
                                  <p:childTnLst>
                                    <p:set>
                                      <p:cBhvr>
                                        <p:cTn id="51" dur="1" fill="hold">
                                          <p:stCondLst>
                                            <p:cond delay="0"/>
                                          </p:stCondLst>
                                        </p:cTn>
                                        <p:tgtEl>
                                          <p:spTgt spid="179"/>
                                        </p:tgtEl>
                                        <p:attrNameLst>
                                          <p:attrName>style.visibility</p:attrName>
                                        </p:attrNameLst>
                                      </p:cBhvr>
                                      <p:to>
                                        <p:strVal val="visible"/>
                                      </p:to>
                                    </p:set>
                                    <p:anim calcmode="lin" valueType="num">
                                      <p:cBhvr>
                                        <p:cTn id="52" dur="2000" fill="hold"/>
                                        <p:tgtEl>
                                          <p:spTgt spid="179"/>
                                        </p:tgtEl>
                                        <p:attrNameLst>
                                          <p:attrName>ppt_w</p:attrName>
                                        </p:attrNameLst>
                                      </p:cBhvr>
                                      <p:tavLst>
                                        <p:tav tm="0">
                                          <p:val>
                                            <p:fltVal val="0"/>
                                          </p:val>
                                        </p:tav>
                                        <p:tav tm="100000">
                                          <p:val>
                                            <p:strVal val="#ppt_w"/>
                                          </p:val>
                                        </p:tav>
                                      </p:tavLst>
                                    </p:anim>
                                    <p:anim calcmode="lin" valueType="num">
                                      <p:cBhvr>
                                        <p:cTn id="53" dur="2000" fill="hold"/>
                                        <p:tgtEl>
                                          <p:spTgt spid="179"/>
                                        </p:tgtEl>
                                        <p:attrNameLst>
                                          <p:attrName>ppt_h</p:attrName>
                                        </p:attrNameLst>
                                      </p:cBhvr>
                                      <p:tavLst>
                                        <p:tav tm="0">
                                          <p:val>
                                            <p:fltVal val="0"/>
                                          </p:val>
                                        </p:tav>
                                        <p:tav tm="100000">
                                          <p:val>
                                            <p:strVal val="#ppt_h"/>
                                          </p:val>
                                        </p:tav>
                                      </p:tavLst>
                                    </p:anim>
                                    <p:anim calcmode="lin" valueType="num">
                                      <p:cBhvr>
                                        <p:cTn id="54" dur="2000" fill="hold"/>
                                        <p:tgtEl>
                                          <p:spTgt spid="179"/>
                                        </p:tgtEl>
                                        <p:attrNameLst>
                                          <p:attrName>ppt_x</p:attrName>
                                        </p:attrNameLst>
                                      </p:cBhvr>
                                      <p:tavLst>
                                        <p:tav tm="0" fmla="#ppt_x+(cos(-2*pi*(1-$))*-#ppt_x-sin(-2*pi*(1-$))*(1-#ppt_y))*(1-$)">
                                          <p:val>
                                            <p:fltVal val="0"/>
                                          </p:val>
                                        </p:tav>
                                        <p:tav tm="100000">
                                          <p:val>
                                            <p:fltVal val="1"/>
                                          </p:val>
                                        </p:tav>
                                      </p:tavLst>
                                    </p:anim>
                                    <p:anim calcmode="lin" valueType="num">
                                      <p:cBhvr>
                                        <p:cTn id="55" dur="2000" fill="hold"/>
                                        <p:tgtEl>
                                          <p:spTgt spid="17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44"/>
                                        </p:tgtEl>
                                        <p:attrNameLst>
                                          <p:attrName>style.visibility</p:attrName>
                                        </p:attrNameLst>
                                      </p:cBhvr>
                                      <p:to>
                                        <p:strVal val="visible"/>
                                      </p:to>
                                    </p:set>
                                    <p:anim calcmode="lin" valueType="num">
                                      <p:cBhvr>
                                        <p:cTn id="58" dur="5000" fill="hold"/>
                                        <p:tgtEl>
                                          <p:spTgt spid="144"/>
                                        </p:tgtEl>
                                        <p:attrNameLst>
                                          <p:attrName>ppt_w</p:attrName>
                                        </p:attrNameLst>
                                      </p:cBhvr>
                                      <p:tavLst>
                                        <p:tav tm="0" fmla="#ppt_w*sin(2.5*pi*$)">
                                          <p:val>
                                            <p:fltVal val="0"/>
                                          </p:val>
                                        </p:tav>
                                        <p:tav tm="100000">
                                          <p:val>
                                            <p:fltVal val="1"/>
                                          </p:val>
                                        </p:tav>
                                      </p:tavLst>
                                    </p:anim>
                                    <p:anim calcmode="lin" valueType="num">
                                      <p:cBhvr>
                                        <p:cTn id="59" dur="5000" fill="hold"/>
                                        <p:tgtEl>
                                          <p:spTgt spid="14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60" fill="hold">
                      <p:stCondLst>
                        <p:cond delay="indefinite"/>
                      </p:stCondLst>
                      <p:childTnLst>
                        <p:par>
                          <p:cTn id="61" fill="hold">
                            <p:stCondLst>
                              <p:cond delay="0"/>
                            </p:stCondLst>
                            <p:childTnLst>
                              <p:par>
                                <p:cTn id="62" presetID="15" presetClass="entr" presetSubtype="0" fill="hold" grpId="0" nodeType="clickEffect">
                                  <p:stCondLst>
                                    <p:cond delay="0"/>
                                  </p:stCondLst>
                                  <p:childTnLst>
                                    <p:set>
                                      <p:cBhvr>
                                        <p:cTn id="63" dur="1" fill="hold">
                                          <p:stCondLst>
                                            <p:cond delay="0"/>
                                          </p:stCondLst>
                                        </p:cTn>
                                        <p:tgtEl>
                                          <p:spTgt spid="189"/>
                                        </p:tgtEl>
                                        <p:attrNameLst>
                                          <p:attrName>style.visibility</p:attrName>
                                        </p:attrNameLst>
                                      </p:cBhvr>
                                      <p:to>
                                        <p:strVal val="visible"/>
                                      </p:to>
                                    </p:set>
                                    <p:anim calcmode="lin" valueType="num">
                                      <p:cBhvr>
                                        <p:cTn id="64" dur="2000" fill="hold"/>
                                        <p:tgtEl>
                                          <p:spTgt spid="189"/>
                                        </p:tgtEl>
                                        <p:attrNameLst>
                                          <p:attrName>ppt_w</p:attrName>
                                        </p:attrNameLst>
                                      </p:cBhvr>
                                      <p:tavLst>
                                        <p:tav tm="0">
                                          <p:val>
                                            <p:fltVal val="0"/>
                                          </p:val>
                                        </p:tav>
                                        <p:tav tm="100000">
                                          <p:val>
                                            <p:strVal val="#ppt_w"/>
                                          </p:val>
                                        </p:tav>
                                      </p:tavLst>
                                    </p:anim>
                                    <p:anim calcmode="lin" valueType="num">
                                      <p:cBhvr>
                                        <p:cTn id="65" dur="2000" fill="hold"/>
                                        <p:tgtEl>
                                          <p:spTgt spid="189"/>
                                        </p:tgtEl>
                                        <p:attrNameLst>
                                          <p:attrName>ppt_h</p:attrName>
                                        </p:attrNameLst>
                                      </p:cBhvr>
                                      <p:tavLst>
                                        <p:tav tm="0">
                                          <p:val>
                                            <p:fltVal val="0"/>
                                          </p:val>
                                        </p:tav>
                                        <p:tav tm="100000">
                                          <p:val>
                                            <p:strVal val="#ppt_h"/>
                                          </p:val>
                                        </p:tav>
                                      </p:tavLst>
                                    </p:anim>
                                    <p:anim calcmode="lin" valueType="num">
                                      <p:cBhvr>
                                        <p:cTn id="66" dur="2000" fill="hold"/>
                                        <p:tgtEl>
                                          <p:spTgt spid="189"/>
                                        </p:tgtEl>
                                        <p:attrNameLst>
                                          <p:attrName>ppt_x</p:attrName>
                                        </p:attrNameLst>
                                      </p:cBhvr>
                                      <p:tavLst>
                                        <p:tav tm="0" fmla="#ppt_x+(cos(-2*pi*(1-$))*-#ppt_x-sin(-2*pi*(1-$))*(1-#ppt_y))*(1-$)">
                                          <p:val>
                                            <p:fltVal val="0"/>
                                          </p:val>
                                        </p:tav>
                                        <p:tav tm="100000">
                                          <p:val>
                                            <p:fltVal val="1"/>
                                          </p:val>
                                        </p:tav>
                                      </p:tavLst>
                                    </p:anim>
                                    <p:anim calcmode="lin" valueType="num">
                                      <p:cBhvr>
                                        <p:cTn id="67" dur="2000" fill="hold"/>
                                        <p:tgtEl>
                                          <p:spTgt spid="18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8" presetID="19" presetClass="entr" presetSubtype="10" fill="hold" grpId="0" nodeType="withEffect">
                                  <p:stCondLst>
                                    <p:cond delay="0"/>
                                  </p:stCondLst>
                                  <p:childTnLst>
                                    <p:set>
                                      <p:cBhvr>
                                        <p:cTn id="69" dur="1" fill="hold">
                                          <p:stCondLst>
                                            <p:cond delay="0"/>
                                          </p:stCondLst>
                                        </p:cTn>
                                        <p:tgtEl>
                                          <p:spTgt spid="145"/>
                                        </p:tgtEl>
                                        <p:attrNameLst>
                                          <p:attrName>style.visibility</p:attrName>
                                        </p:attrNameLst>
                                      </p:cBhvr>
                                      <p:to>
                                        <p:strVal val="visible"/>
                                      </p:to>
                                    </p:set>
                                    <p:anim calcmode="lin" valueType="num">
                                      <p:cBhvr>
                                        <p:cTn id="70" dur="5000" fill="hold"/>
                                        <p:tgtEl>
                                          <p:spTgt spid="145"/>
                                        </p:tgtEl>
                                        <p:attrNameLst>
                                          <p:attrName>ppt_w</p:attrName>
                                        </p:attrNameLst>
                                      </p:cBhvr>
                                      <p:tavLst>
                                        <p:tav tm="0" fmla="#ppt_w*sin(2.5*pi*$)">
                                          <p:val>
                                            <p:fltVal val="0"/>
                                          </p:val>
                                        </p:tav>
                                        <p:tav tm="100000">
                                          <p:val>
                                            <p:fltVal val="1"/>
                                          </p:val>
                                        </p:tav>
                                      </p:tavLst>
                                    </p:anim>
                                    <p:anim calcmode="lin" valueType="num">
                                      <p:cBhvr>
                                        <p:cTn id="71"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4" name="CHIMES.WAV"/>
                                        </p:tgtEl>
                                      </p:cMediaNode>
                                    </p:audio>
                                  </p:subTnLst>
                                </p:cTn>
                              </p:par>
                            </p:childTnLst>
                          </p:cTn>
                        </p:par>
                      </p:childTnLst>
                    </p:cTn>
                  </p:par>
                  <p:par>
                    <p:cTn id="72" fill="hold">
                      <p:stCondLst>
                        <p:cond delay="indefinite"/>
                      </p:stCondLst>
                      <p:childTnLst>
                        <p:par>
                          <p:cTn id="73" fill="hold">
                            <p:stCondLst>
                              <p:cond delay="0"/>
                            </p:stCondLst>
                            <p:childTnLst>
                              <p:par>
                                <p:cTn id="74" presetID="15" presetClass="entr" presetSubtype="0" fill="hold" grpId="0" nodeType="clickEffect">
                                  <p:stCondLst>
                                    <p:cond delay="0"/>
                                  </p:stCondLst>
                                  <p:childTnLst>
                                    <p:set>
                                      <p:cBhvr>
                                        <p:cTn id="75" dur="1" fill="hold">
                                          <p:stCondLst>
                                            <p:cond delay="0"/>
                                          </p:stCondLst>
                                        </p:cTn>
                                        <p:tgtEl>
                                          <p:spTgt spid="188"/>
                                        </p:tgtEl>
                                        <p:attrNameLst>
                                          <p:attrName>style.visibility</p:attrName>
                                        </p:attrNameLst>
                                      </p:cBhvr>
                                      <p:to>
                                        <p:strVal val="visible"/>
                                      </p:to>
                                    </p:set>
                                    <p:anim calcmode="lin" valueType="num">
                                      <p:cBhvr>
                                        <p:cTn id="76" dur="2000" fill="hold"/>
                                        <p:tgtEl>
                                          <p:spTgt spid="188"/>
                                        </p:tgtEl>
                                        <p:attrNameLst>
                                          <p:attrName>ppt_w</p:attrName>
                                        </p:attrNameLst>
                                      </p:cBhvr>
                                      <p:tavLst>
                                        <p:tav tm="0">
                                          <p:val>
                                            <p:fltVal val="0"/>
                                          </p:val>
                                        </p:tav>
                                        <p:tav tm="100000">
                                          <p:val>
                                            <p:strVal val="#ppt_w"/>
                                          </p:val>
                                        </p:tav>
                                      </p:tavLst>
                                    </p:anim>
                                    <p:anim calcmode="lin" valueType="num">
                                      <p:cBhvr>
                                        <p:cTn id="77" dur="2000" fill="hold"/>
                                        <p:tgtEl>
                                          <p:spTgt spid="188"/>
                                        </p:tgtEl>
                                        <p:attrNameLst>
                                          <p:attrName>ppt_h</p:attrName>
                                        </p:attrNameLst>
                                      </p:cBhvr>
                                      <p:tavLst>
                                        <p:tav tm="0">
                                          <p:val>
                                            <p:fltVal val="0"/>
                                          </p:val>
                                        </p:tav>
                                        <p:tav tm="100000">
                                          <p:val>
                                            <p:strVal val="#ppt_h"/>
                                          </p:val>
                                        </p:tav>
                                      </p:tavLst>
                                    </p:anim>
                                    <p:anim calcmode="lin" valueType="num">
                                      <p:cBhvr>
                                        <p:cTn id="78" dur="2000" fill="hold"/>
                                        <p:tgtEl>
                                          <p:spTgt spid="188"/>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8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par>
                                <p:cTn id="80" presetID="19" presetClass="entr" presetSubtype="10" fill="hold" grpId="0" nodeType="withEffect">
                                  <p:stCondLst>
                                    <p:cond delay="0"/>
                                  </p:stCondLst>
                                  <p:childTnLst>
                                    <p:set>
                                      <p:cBhvr>
                                        <p:cTn id="81" dur="1" fill="hold">
                                          <p:stCondLst>
                                            <p:cond delay="0"/>
                                          </p:stCondLst>
                                        </p:cTn>
                                        <p:tgtEl>
                                          <p:spTgt spid="146"/>
                                        </p:tgtEl>
                                        <p:attrNameLst>
                                          <p:attrName>style.visibility</p:attrName>
                                        </p:attrNameLst>
                                      </p:cBhvr>
                                      <p:to>
                                        <p:strVal val="visible"/>
                                      </p:to>
                                    </p:set>
                                    <p:anim calcmode="lin" valueType="num">
                                      <p:cBhvr>
                                        <p:cTn id="82" dur="5000" fill="hold"/>
                                        <p:tgtEl>
                                          <p:spTgt spid="146"/>
                                        </p:tgtEl>
                                        <p:attrNameLst>
                                          <p:attrName>ppt_w</p:attrName>
                                        </p:attrNameLst>
                                      </p:cBhvr>
                                      <p:tavLst>
                                        <p:tav tm="0" fmla="#ppt_w*sin(2.5*pi*$)">
                                          <p:val>
                                            <p:fltVal val="0"/>
                                          </p:val>
                                        </p:tav>
                                        <p:tav tm="100000">
                                          <p:val>
                                            <p:fltVal val="1"/>
                                          </p:val>
                                        </p:tav>
                                      </p:tavLst>
                                    </p:anim>
                                    <p:anim calcmode="lin" valueType="num">
                                      <p:cBhvr>
                                        <p:cTn id="83" dur="5000" fill="hold"/>
                                        <p:tgtEl>
                                          <p:spTgt spid="14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0"/>
                                            </p:cond>
                                          </p:stCondLst>
                                          <p:endCondLst>
                                            <p:cond evt="onStopAudio" delay="0">
                                              <p:tgtEl>
                                                <p:sldTgt/>
                                              </p:tgtEl>
                                            </p:cond>
                                          </p:endCondLst>
                                        </p:cTn>
                                        <p:tgtEl>
                                          <p:sndTgt r:embed="rId4" name="CHIMES.WAV"/>
                                        </p:tgtEl>
                                      </p:cMediaNode>
                                    </p:audio>
                                  </p:subTnLst>
                                </p:cTn>
                              </p:par>
                            </p:childTnLst>
                          </p:cTn>
                        </p:par>
                      </p:childTnLst>
                    </p:cTn>
                  </p:par>
                  <p:par>
                    <p:cTn id="84" fill="hold">
                      <p:stCondLst>
                        <p:cond delay="indefinite"/>
                      </p:stCondLst>
                      <p:childTnLst>
                        <p:par>
                          <p:cTn id="85" fill="hold">
                            <p:stCondLst>
                              <p:cond delay="0"/>
                            </p:stCondLst>
                            <p:childTnLst>
                              <p:par>
                                <p:cTn id="86" presetID="15" presetClass="entr" presetSubtype="0" fill="hold" grpId="0" nodeType="clickEffect">
                                  <p:stCondLst>
                                    <p:cond delay="0"/>
                                  </p:stCondLst>
                                  <p:childTnLst>
                                    <p:set>
                                      <p:cBhvr>
                                        <p:cTn id="87" dur="1" fill="hold">
                                          <p:stCondLst>
                                            <p:cond delay="0"/>
                                          </p:stCondLst>
                                        </p:cTn>
                                        <p:tgtEl>
                                          <p:spTgt spid="187"/>
                                        </p:tgtEl>
                                        <p:attrNameLst>
                                          <p:attrName>style.visibility</p:attrName>
                                        </p:attrNameLst>
                                      </p:cBhvr>
                                      <p:to>
                                        <p:strVal val="visible"/>
                                      </p:to>
                                    </p:set>
                                    <p:anim calcmode="lin" valueType="num">
                                      <p:cBhvr>
                                        <p:cTn id="88" dur="2000" fill="hold"/>
                                        <p:tgtEl>
                                          <p:spTgt spid="187"/>
                                        </p:tgtEl>
                                        <p:attrNameLst>
                                          <p:attrName>ppt_w</p:attrName>
                                        </p:attrNameLst>
                                      </p:cBhvr>
                                      <p:tavLst>
                                        <p:tav tm="0">
                                          <p:val>
                                            <p:fltVal val="0"/>
                                          </p:val>
                                        </p:tav>
                                        <p:tav tm="100000">
                                          <p:val>
                                            <p:strVal val="#ppt_w"/>
                                          </p:val>
                                        </p:tav>
                                      </p:tavLst>
                                    </p:anim>
                                    <p:anim calcmode="lin" valueType="num">
                                      <p:cBhvr>
                                        <p:cTn id="89" dur="2000" fill="hold"/>
                                        <p:tgtEl>
                                          <p:spTgt spid="187"/>
                                        </p:tgtEl>
                                        <p:attrNameLst>
                                          <p:attrName>ppt_h</p:attrName>
                                        </p:attrNameLst>
                                      </p:cBhvr>
                                      <p:tavLst>
                                        <p:tav tm="0">
                                          <p:val>
                                            <p:fltVal val="0"/>
                                          </p:val>
                                        </p:tav>
                                        <p:tav tm="100000">
                                          <p:val>
                                            <p:strVal val="#ppt_h"/>
                                          </p:val>
                                        </p:tav>
                                      </p:tavLst>
                                    </p:anim>
                                    <p:anim calcmode="lin" valueType="num">
                                      <p:cBhvr>
                                        <p:cTn id="90" dur="2000" fill="hold"/>
                                        <p:tgtEl>
                                          <p:spTgt spid="187"/>
                                        </p:tgtEl>
                                        <p:attrNameLst>
                                          <p:attrName>ppt_x</p:attrName>
                                        </p:attrNameLst>
                                      </p:cBhvr>
                                      <p:tavLst>
                                        <p:tav tm="0" fmla="#ppt_x+(cos(-2*pi*(1-$))*-#ppt_x-sin(-2*pi*(1-$))*(1-#ppt_y))*(1-$)">
                                          <p:val>
                                            <p:fltVal val="0"/>
                                          </p:val>
                                        </p:tav>
                                        <p:tav tm="100000">
                                          <p:val>
                                            <p:fltVal val="1"/>
                                          </p:val>
                                        </p:tav>
                                      </p:tavLst>
                                    </p:anim>
                                    <p:anim calcmode="lin" valueType="num">
                                      <p:cBhvr>
                                        <p:cTn id="91" dur="2000" fill="hold"/>
                                        <p:tgtEl>
                                          <p:spTgt spid="18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48"/>
                                        </p:tgtEl>
                                        <p:attrNameLst>
                                          <p:attrName>style.visibility</p:attrName>
                                        </p:attrNameLst>
                                      </p:cBhvr>
                                      <p:to>
                                        <p:strVal val="visible"/>
                                      </p:to>
                                    </p:set>
                                    <p:anim calcmode="lin" valueType="num">
                                      <p:cBhvr>
                                        <p:cTn id="94" dur="5000" fill="hold"/>
                                        <p:tgtEl>
                                          <p:spTgt spid="148"/>
                                        </p:tgtEl>
                                        <p:attrNameLst>
                                          <p:attrName>ppt_w</p:attrName>
                                        </p:attrNameLst>
                                      </p:cBhvr>
                                      <p:tavLst>
                                        <p:tav tm="0" fmla="#ppt_w*sin(2.5*pi*$)">
                                          <p:val>
                                            <p:fltVal val="0"/>
                                          </p:val>
                                        </p:tav>
                                        <p:tav tm="100000">
                                          <p:val>
                                            <p:fltVal val="1"/>
                                          </p:val>
                                        </p:tav>
                                      </p:tavLst>
                                    </p:anim>
                                    <p:anim calcmode="lin" valueType="num">
                                      <p:cBhvr>
                                        <p:cTn id="95" dur="5000" fill="hold"/>
                                        <p:tgtEl>
                                          <p:spTgt spid="14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4" name="CHIMES.WAV"/>
                                        </p:tgtEl>
                                      </p:cMediaNode>
                                    </p:audio>
                                  </p:subTnLst>
                                </p:cTn>
                              </p:par>
                            </p:childTnLst>
                          </p:cTn>
                        </p:par>
                      </p:childTnLst>
                    </p:cTn>
                  </p:par>
                  <p:par>
                    <p:cTn id="96" fill="hold">
                      <p:stCondLst>
                        <p:cond delay="indefinite"/>
                      </p:stCondLst>
                      <p:childTnLst>
                        <p:par>
                          <p:cTn id="97" fill="hold">
                            <p:stCondLst>
                              <p:cond delay="0"/>
                            </p:stCondLst>
                            <p:childTnLst>
                              <p:par>
                                <p:cTn id="98" presetID="15" presetClass="entr" presetSubtype="0" fill="hold" grpId="0" nodeType="clickEffect">
                                  <p:stCondLst>
                                    <p:cond delay="0"/>
                                  </p:stCondLst>
                                  <p:childTnLst>
                                    <p:set>
                                      <p:cBhvr>
                                        <p:cTn id="99" dur="1" fill="hold">
                                          <p:stCondLst>
                                            <p:cond delay="0"/>
                                          </p:stCondLst>
                                        </p:cTn>
                                        <p:tgtEl>
                                          <p:spTgt spid="185"/>
                                        </p:tgtEl>
                                        <p:attrNameLst>
                                          <p:attrName>style.visibility</p:attrName>
                                        </p:attrNameLst>
                                      </p:cBhvr>
                                      <p:to>
                                        <p:strVal val="visible"/>
                                      </p:to>
                                    </p:set>
                                    <p:anim calcmode="lin" valueType="num">
                                      <p:cBhvr>
                                        <p:cTn id="100" dur="2000" fill="hold"/>
                                        <p:tgtEl>
                                          <p:spTgt spid="185"/>
                                        </p:tgtEl>
                                        <p:attrNameLst>
                                          <p:attrName>ppt_w</p:attrName>
                                        </p:attrNameLst>
                                      </p:cBhvr>
                                      <p:tavLst>
                                        <p:tav tm="0">
                                          <p:val>
                                            <p:fltVal val="0"/>
                                          </p:val>
                                        </p:tav>
                                        <p:tav tm="100000">
                                          <p:val>
                                            <p:strVal val="#ppt_w"/>
                                          </p:val>
                                        </p:tav>
                                      </p:tavLst>
                                    </p:anim>
                                    <p:anim calcmode="lin" valueType="num">
                                      <p:cBhvr>
                                        <p:cTn id="101" dur="2000" fill="hold"/>
                                        <p:tgtEl>
                                          <p:spTgt spid="185"/>
                                        </p:tgtEl>
                                        <p:attrNameLst>
                                          <p:attrName>ppt_h</p:attrName>
                                        </p:attrNameLst>
                                      </p:cBhvr>
                                      <p:tavLst>
                                        <p:tav tm="0">
                                          <p:val>
                                            <p:fltVal val="0"/>
                                          </p:val>
                                        </p:tav>
                                        <p:tav tm="100000">
                                          <p:val>
                                            <p:strVal val="#ppt_h"/>
                                          </p:val>
                                        </p:tav>
                                      </p:tavLst>
                                    </p:anim>
                                    <p:anim calcmode="lin" valueType="num">
                                      <p:cBhvr>
                                        <p:cTn id="102" dur="2000" fill="hold"/>
                                        <p:tgtEl>
                                          <p:spTgt spid="185"/>
                                        </p:tgtEl>
                                        <p:attrNameLst>
                                          <p:attrName>ppt_x</p:attrName>
                                        </p:attrNameLst>
                                      </p:cBhvr>
                                      <p:tavLst>
                                        <p:tav tm="0" fmla="#ppt_x+(cos(-2*pi*(1-$))*-#ppt_x-sin(-2*pi*(1-$))*(1-#ppt_y))*(1-$)">
                                          <p:val>
                                            <p:fltVal val="0"/>
                                          </p:val>
                                        </p:tav>
                                        <p:tav tm="100000">
                                          <p:val>
                                            <p:fltVal val="1"/>
                                          </p:val>
                                        </p:tav>
                                      </p:tavLst>
                                    </p:anim>
                                    <p:anim calcmode="lin" valueType="num">
                                      <p:cBhvr>
                                        <p:cTn id="103" dur="2000" fill="hold"/>
                                        <p:tgtEl>
                                          <p:spTgt spid="18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8"/>
                                            </p:cond>
                                          </p:stCondLst>
                                          <p:endCondLst>
                                            <p:cond evt="onStopAudio" delay="0">
                                              <p:tgtEl>
                                                <p:sldTgt/>
                                              </p:tgtEl>
                                            </p:cond>
                                          </p:endCondLst>
                                        </p:cTn>
                                        <p:tgtEl>
                                          <p:sndTgt r:embed="rId4" name="CHIMES.WAV"/>
                                        </p:tgtEl>
                                      </p:cMediaNode>
                                    </p:audio>
                                  </p:subTnLst>
                                </p:cTn>
                              </p:par>
                              <p:par>
                                <p:cTn id="104" presetID="19" presetClass="entr" presetSubtype="10" fill="hold" grpId="0" nodeType="withEffect">
                                  <p:stCondLst>
                                    <p:cond delay="0"/>
                                  </p:stCondLst>
                                  <p:childTnLst>
                                    <p:set>
                                      <p:cBhvr>
                                        <p:cTn id="105" dur="1" fill="hold">
                                          <p:stCondLst>
                                            <p:cond delay="0"/>
                                          </p:stCondLst>
                                        </p:cTn>
                                        <p:tgtEl>
                                          <p:spTgt spid="147"/>
                                        </p:tgtEl>
                                        <p:attrNameLst>
                                          <p:attrName>style.visibility</p:attrName>
                                        </p:attrNameLst>
                                      </p:cBhvr>
                                      <p:to>
                                        <p:strVal val="visible"/>
                                      </p:to>
                                    </p:set>
                                    <p:anim calcmode="lin" valueType="num">
                                      <p:cBhvr>
                                        <p:cTn id="106" dur="5000" fill="hold"/>
                                        <p:tgtEl>
                                          <p:spTgt spid="147"/>
                                        </p:tgtEl>
                                        <p:attrNameLst>
                                          <p:attrName>ppt_w</p:attrName>
                                        </p:attrNameLst>
                                      </p:cBhvr>
                                      <p:tavLst>
                                        <p:tav tm="0" fmla="#ppt_w*sin(2.5*pi*$)">
                                          <p:val>
                                            <p:fltVal val="0"/>
                                          </p:val>
                                        </p:tav>
                                        <p:tav tm="100000">
                                          <p:val>
                                            <p:fltVal val="1"/>
                                          </p:val>
                                        </p:tav>
                                      </p:tavLst>
                                    </p:anim>
                                    <p:anim calcmode="lin" valueType="num">
                                      <p:cBhvr>
                                        <p:cTn id="107" dur="5000" fill="hold"/>
                                        <p:tgtEl>
                                          <p:spTgt spid="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08" fill="hold">
                            <p:stCondLst>
                              <p:cond delay="5000"/>
                            </p:stCondLst>
                            <p:childTnLst>
                              <p:par>
                                <p:cTn id="109" presetID="15" presetClass="entr" presetSubtype="0" fill="hold" grpId="0" nodeType="afterEffect">
                                  <p:stCondLst>
                                    <p:cond delay="0"/>
                                  </p:stCondLst>
                                  <p:childTnLst>
                                    <p:set>
                                      <p:cBhvr>
                                        <p:cTn id="110" dur="1" fill="hold">
                                          <p:stCondLst>
                                            <p:cond delay="0"/>
                                          </p:stCondLst>
                                        </p:cTn>
                                        <p:tgtEl>
                                          <p:spTgt spid="186"/>
                                        </p:tgtEl>
                                        <p:attrNameLst>
                                          <p:attrName>style.visibility</p:attrName>
                                        </p:attrNameLst>
                                      </p:cBhvr>
                                      <p:to>
                                        <p:strVal val="visible"/>
                                      </p:to>
                                    </p:set>
                                    <p:anim calcmode="lin" valueType="num">
                                      <p:cBhvr>
                                        <p:cTn id="111" dur="2000" fill="hold"/>
                                        <p:tgtEl>
                                          <p:spTgt spid="186"/>
                                        </p:tgtEl>
                                        <p:attrNameLst>
                                          <p:attrName>ppt_w</p:attrName>
                                        </p:attrNameLst>
                                      </p:cBhvr>
                                      <p:tavLst>
                                        <p:tav tm="0">
                                          <p:val>
                                            <p:fltVal val="0"/>
                                          </p:val>
                                        </p:tav>
                                        <p:tav tm="100000">
                                          <p:val>
                                            <p:strVal val="#ppt_w"/>
                                          </p:val>
                                        </p:tav>
                                      </p:tavLst>
                                    </p:anim>
                                    <p:anim calcmode="lin" valueType="num">
                                      <p:cBhvr>
                                        <p:cTn id="112" dur="2000" fill="hold"/>
                                        <p:tgtEl>
                                          <p:spTgt spid="186"/>
                                        </p:tgtEl>
                                        <p:attrNameLst>
                                          <p:attrName>ppt_h</p:attrName>
                                        </p:attrNameLst>
                                      </p:cBhvr>
                                      <p:tavLst>
                                        <p:tav tm="0">
                                          <p:val>
                                            <p:fltVal val="0"/>
                                          </p:val>
                                        </p:tav>
                                        <p:tav tm="100000">
                                          <p:val>
                                            <p:strVal val="#ppt_h"/>
                                          </p:val>
                                        </p:tav>
                                      </p:tavLst>
                                    </p:anim>
                                    <p:anim calcmode="lin" valueType="num">
                                      <p:cBhvr>
                                        <p:cTn id="113" dur="2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114" dur="2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9"/>
                                            </p:cond>
                                          </p:stCondLst>
                                          <p:endCondLst>
                                            <p:cond evt="onStopAudio" delay="0">
                                              <p:tgtEl>
                                                <p:sldTgt/>
                                              </p:tgtEl>
                                            </p:cond>
                                          </p:endCondLst>
                                        </p:cTn>
                                        <p:tgtEl>
                                          <p:sndTgt r:embed="rId4" name="CHIMES.WAV"/>
                                        </p:tgtEl>
                                      </p:cMediaNode>
                                    </p:audio>
                                  </p:sub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0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nodeType="clickEffect">
                                  <p:stCondLst>
                                    <p:cond delay="0"/>
                                  </p:stCondLst>
                                  <p:childTnLst>
                                    <p:set>
                                      <p:cBhvr>
                                        <p:cTn id="122" dur="1" fill="hold">
                                          <p:stCondLst>
                                            <p:cond delay="0"/>
                                          </p:stCondLst>
                                        </p:cTn>
                                        <p:tgtEl>
                                          <p:spTgt spid="202"/>
                                        </p:tgtEl>
                                        <p:attrNameLst>
                                          <p:attrName>style.visibility</p:attrName>
                                        </p:attrNameLst>
                                      </p:cBhvr>
                                      <p:to>
                                        <p:strVal val="visible"/>
                                      </p:to>
                                    </p:set>
                                    <p:animEffect transition="in" filter="wipe(up)">
                                      <p:cBhvr>
                                        <p:cTn id="123" dur="5000"/>
                                        <p:tgtEl>
                                          <p:spTgt spid="202"/>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6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171"/>
                                        </p:tgtEl>
                                        <p:attrNameLst>
                                          <p:attrName>style.visibility</p:attrName>
                                        </p:attrNameLst>
                                      </p:cBhvr>
                                      <p:to>
                                        <p:strVal val="visible"/>
                                      </p:to>
                                    </p:set>
                                    <p:animEffect transition="in" filter="wipe(down)">
                                      <p:cBhvr>
                                        <p:cTn id="132" dur="3000"/>
                                        <p:tgtEl>
                                          <p:spTgt spid="171"/>
                                        </p:tgtEl>
                                      </p:cBhvr>
                                    </p:animEffect>
                                  </p:childTnLst>
                                </p:cTn>
                              </p:par>
                            </p:childTnLst>
                          </p:cTn>
                        </p:par>
                        <p:par>
                          <p:cTn id="133" fill="hold">
                            <p:stCondLst>
                              <p:cond delay="3000"/>
                            </p:stCondLst>
                            <p:childTnLst>
                              <p:par>
                                <p:cTn id="134" presetID="22" presetClass="entr" presetSubtype="8" fill="hold" grpId="0" nodeType="afterEffect">
                                  <p:stCondLst>
                                    <p:cond delay="0"/>
                                  </p:stCondLst>
                                  <p:childTnLst>
                                    <p:set>
                                      <p:cBhvr>
                                        <p:cTn id="135" dur="1" fill="hold">
                                          <p:stCondLst>
                                            <p:cond delay="0"/>
                                          </p:stCondLst>
                                        </p:cTn>
                                        <p:tgtEl>
                                          <p:spTgt spid="177"/>
                                        </p:tgtEl>
                                        <p:attrNameLst>
                                          <p:attrName>style.visibility</p:attrName>
                                        </p:attrNameLst>
                                      </p:cBhvr>
                                      <p:to>
                                        <p:strVal val="visible"/>
                                      </p:to>
                                    </p:set>
                                    <p:animEffect transition="in" filter="wipe(left)">
                                      <p:cBhvr>
                                        <p:cTn id="136" dur="3000"/>
                                        <p:tgtEl>
                                          <p:spTgt spid="177"/>
                                        </p:tgtEl>
                                      </p:cBhvr>
                                    </p:animEffect>
                                  </p:childTnLst>
                                </p:cTn>
                              </p:par>
                            </p:childTnLst>
                          </p:cTn>
                        </p:par>
                        <p:par>
                          <p:cTn id="137" fill="hold">
                            <p:stCondLst>
                              <p:cond delay="6000"/>
                            </p:stCondLst>
                            <p:childTnLst>
                              <p:par>
                                <p:cTn id="138" presetID="22" presetClass="entr" presetSubtype="1" fill="hold" grpId="0" nodeType="afterEffect">
                                  <p:stCondLst>
                                    <p:cond delay="0"/>
                                  </p:stCondLst>
                                  <p:childTnLst>
                                    <p:set>
                                      <p:cBhvr>
                                        <p:cTn id="139" dur="1" fill="hold">
                                          <p:stCondLst>
                                            <p:cond delay="0"/>
                                          </p:stCondLst>
                                        </p:cTn>
                                        <p:tgtEl>
                                          <p:spTgt spid="178"/>
                                        </p:tgtEl>
                                        <p:attrNameLst>
                                          <p:attrName>style.visibility</p:attrName>
                                        </p:attrNameLst>
                                      </p:cBhvr>
                                      <p:to>
                                        <p:strVal val="visible"/>
                                      </p:to>
                                    </p:set>
                                    <p:animEffect transition="in" filter="wipe(up)">
                                      <p:cBhvr>
                                        <p:cTn id="140" dur="2000"/>
                                        <p:tgtEl>
                                          <p:spTgt spid="178"/>
                                        </p:tgtEl>
                                      </p:cBhvr>
                                    </p:animEffect>
                                  </p:childTnLst>
                                </p:cTn>
                              </p:par>
                            </p:childTnLst>
                          </p:cTn>
                        </p:par>
                        <p:par>
                          <p:cTn id="141" fill="hold">
                            <p:stCondLst>
                              <p:cond delay="8000"/>
                            </p:stCondLst>
                            <p:childTnLst>
                              <p:par>
                                <p:cTn id="142" presetID="22" presetClass="entr" presetSubtype="8" fill="hold" grpId="0" nodeType="afterEffect">
                                  <p:stCondLst>
                                    <p:cond delay="0"/>
                                  </p:stCondLst>
                                  <p:childTnLst>
                                    <p:set>
                                      <p:cBhvr>
                                        <p:cTn id="143" dur="1" fill="hold">
                                          <p:stCondLst>
                                            <p:cond delay="0"/>
                                          </p:stCondLst>
                                        </p:cTn>
                                        <p:tgtEl>
                                          <p:spTgt spid="180"/>
                                        </p:tgtEl>
                                        <p:attrNameLst>
                                          <p:attrName>style.visibility</p:attrName>
                                        </p:attrNameLst>
                                      </p:cBhvr>
                                      <p:to>
                                        <p:strVal val="visible"/>
                                      </p:to>
                                    </p:set>
                                    <p:animEffect transition="in" filter="wipe(left)">
                                      <p:cBhvr>
                                        <p:cTn id="144" dur="3000"/>
                                        <p:tgtEl>
                                          <p:spTgt spid="180"/>
                                        </p:tgtEl>
                                      </p:cBhvr>
                                    </p:animEffect>
                                  </p:childTnLst>
                                </p:cTn>
                              </p:par>
                            </p:childTnLst>
                          </p:cTn>
                        </p:par>
                        <p:par>
                          <p:cTn id="145" fill="hold">
                            <p:stCondLst>
                              <p:cond delay="11000"/>
                            </p:stCondLst>
                            <p:childTnLst>
                              <p:par>
                                <p:cTn id="146" presetID="22" presetClass="entr" presetSubtype="8" fill="hold" grpId="0" nodeType="afterEffect">
                                  <p:stCondLst>
                                    <p:cond delay="0"/>
                                  </p:stCondLst>
                                  <p:childTnLst>
                                    <p:set>
                                      <p:cBhvr>
                                        <p:cTn id="147" dur="1" fill="hold">
                                          <p:stCondLst>
                                            <p:cond delay="0"/>
                                          </p:stCondLst>
                                        </p:cTn>
                                        <p:tgtEl>
                                          <p:spTgt spid="181"/>
                                        </p:tgtEl>
                                        <p:attrNameLst>
                                          <p:attrName>style.visibility</p:attrName>
                                        </p:attrNameLst>
                                      </p:cBhvr>
                                      <p:to>
                                        <p:strVal val="visible"/>
                                      </p:to>
                                    </p:set>
                                    <p:animEffect transition="in" filter="wipe(left)">
                                      <p:cBhvr>
                                        <p:cTn id="148" dur="3000"/>
                                        <p:tgtEl>
                                          <p:spTgt spid="181"/>
                                        </p:tgtEl>
                                      </p:cBhvr>
                                    </p:animEffect>
                                  </p:childTnLst>
                                </p:cTn>
                              </p:par>
                            </p:childTnLst>
                          </p:cTn>
                        </p:par>
                        <p:par>
                          <p:cTn id="149" fill="hold">
                            <p:stCondLst>
                              <p:cond delay="14000"/>
                            </p:stCondLst>
                            <p:childTnLst>
                              <p:par>
                                <p:cTn id="150" presetID="22" presetClass="entr" presetSubtype="4" fill="hold" grpId="0" nodeType="afterEffect">
                                  <p:stCondLst>
                                    <p:cond delay="0"/>
                                  </p:stCondLst>
                                  <p:childTnLst>
                                    <p:set>
                                      <p:cBhvr>
                                        <p:cTn id="151" dur="1" fill="hold">
                                          <p:stCondLst>
                                            <p:cond delay="0"/>
                                          </p:stCondLst>
                                        </p:cTn>
                                        <p:tgtEl>
                                          <p:spTgt spid="182"/>
                                        </p:tgtEl>
                                        <p:attrNameLst>
                                          <p:attrName>style.visibility</p:attrName>
                                        </p:attrNameLst>
                                      </p:cBhvr>
                                      <p:to>
                                        <p:strVal val="visible"/>
                                      </p:to>
                                    </p:set>
                                    <p:animEffect transition="in" filter="wipe(down)">
                                      <p:cBhvr>
                                        <p:cTn id="152" dur="3000"/>
                                        <p:tgtEl>
                                          <p:spTgt spid="182"/>
                                        </p:tgtEl>
                                      </p:cBhvr>
                                    </p:animEffect>
                                  </p:childTnLst>
                                </p:cTn>
                              </p:par>
                            </p:childTnLst>
                          </p:cTn>
                        </p:par>
                        <p:par>
                          <p:cTn id="153" fill="hold">
                            <p:stCondLst>
                              <p:cond delay="17000"/>
                            </p:stCondLst>
                            <p:childTnLst>
                              <p:par>
                                <p:cTn id="154" presetID="22" presetClass="entr" presetSubtype="8" fill="hold" grpId="0" nodeType="afterEffect">
                                  <p:stCondLst>
                                    <p:cond delay="0"/>
                                  </p:stCondLst>
                                  <p:childTnLst>
                                    <p:set>
                                      <p:cBhvr>
                                        <p:cTn id="155" dur="1" fill="hold">
                                          <p:stCondLst>
                                            <p:cond delay="0"/>
                                          </p:stCondLst>
                                        </p:cTn>
                                        <p:tgtEl>
                                          <p:spTgt spid="183"/>
                                        </p:tgtEl>
                                        <p:attrNameLst>
                                          <p:attrName>style.visibility</p:attrName>
                                        </p:attrNameLst>
                                      </p:cBhvr>
                                      <p:to>
                                        <p:strVal val="visible"/>
                                      </p:to>
                                    </p:set>
                                    <p:animEffect transition="in" filter="wipe(left)">
                                      <p:cBhvr>
                                        <p:cTn id="156" dur="3000"/>
                                        <p:tgtEl>
                                          <p:spTgt spid="183"/>
                                        </p:tgtEl>
                                      </p:cBhvr>
                                    </p:animEffect>
                                  </p:childTnLst>
                                </p:cTn>
                              </p:par>
                            </p:childTnLst>
                          </p:cTn>
                        </p:par>
                        <p:par>
                          <p:cTn id="157" fill="hold">
                            <p:stCondLst>
                              <p:cond delay="20000"/>
                            </p:stCondLst>
                            <p:childTnLst>
                              <p:par>
                                <p:cTn id="158" presetID="22" presetClass="entr" presetSubtype="1" fill="hold" grpId="0" nodeType="afterEffect">
                                  <p:stCondLst>
                                    <p:cond delay="0"/>
                                  </p:stCondLst>
                                  <p:childTnLst>
                                    <p:set>
                                      <p:cBhvr>
                                        <p:cTn id="159" dur="1" fill="hold">
                                          <p:stCondLst>
                                            <p:cond delay="0"/>
                                          </p:stCondLst>
                                        </p:cTn>
                                        <p:tgtEl>
                                          <p:spTgt spid="184"/>
                                        </p:tgtEl>
                                        <p:attrNameLst>
                                          <p:attrName>style.visibility</p:attrName>
                                        </p:attrNameLst>
                                      </p:cBhvr>
                                      <p:to>
                                        <p:strVal val="visible"/>
                                      </p:to>
                                    </p:set>
                                    <p:animEffect transition="in" filter="wipe(up)">
                                      <p:cBhvr>
                                        <p:cTn id="160" dur="2000"/>
                                        <p:tgtEl>
                                          <p:spTgt spid="184"/>
                                        </p:tgtEl>
                                      </p:cBhvr>
                                    </p:animEffect>
                                  </p:childTnLst>
                                </p:cTn>
                              </p:par>
                            </p:childTnLst>
                          </p:cTn>
                        </p:par>
                        <p:par>
                          <p:cTn id="161" fill="hold">
                            <p:stCondLst>
                              <p:cond delay="22000"/>
                            </p:stCondLst>
                            <p:childTnLst>
                              <p:par>
                                <p:cTn id="162" presetID="22" presetClass="entr" presetSubtype="8" fill="hold" grpId="0" nodeType="after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wipe(left)">
                                      <p:cBhvr>
                                        <p:cTn id="164" dur="5000"/>
                                        <p:tgtEl>
                                          <p:spTgt spid="63"/>
                                        </p:tgtEl>
                                      </p:cBhvr>
                                    </p:animEffect>
                                  </p:childTnLst>
                                </p:cTn>
                              </p:par>
                            </p:childTnLst>
                          </p:cTn>
                        </p:par>
                        <p:par>
                          <p:cTn id="165" fill="hold">
                            <p:stCondLst>
                              <p:cond delay="27000"/>
                            </p:stCondLst>
                            <p:childTnLst>
                              <p:par>
                                <p:cTn id="166" presetID="15" presetClass="entr" presetSubtype="0" fill="hold" nodeType="afterEffect">
                                  <p:stCondLst>
                                    <p:cond delay="0"/>
                                  </p:stCondLst>
                                  <p:childTnLst>
                                    <p:set>
                                      <p:cBhvr>
                                        <p:cTn id="167" dur="1" fill="hold">
                                          <p:stCondLst>
                                            <p:cond delay="0"/>
                                          </p:stCondLst>
                                        </p:cTn>
                                        <p:tgtEl>
                                          <p:spTgt spid="191"/>
                                        </p:tgtEl>
                                        <p:attrNameLst>
                                          <p:attrName>style.visibility</p:attrName>
                                        </p:attrNameLst>
                                      </p:cBhvr>
                                      <p:to>
                                        <p:strVal val="visible"/>
                                      </p:to>
                                    </p:set>
                                    <p:anim calcmode="lin" valueType="num">
                                      <p:cBhvr>
                                        <p:cTn id="168" dur="3000" fill="hold"/>
                                        <p:tgtEl>
                                          <p:spTgt spid="191"/>
                                        </p:tgtEl>
                                        <p:attrNameLst>
                                          <p:attrName>ppt_w</p:attrName>
                                        </p:attrNameLst>
                                      </p:cBhvr>
                                      <p:tavLst>
                                        <p:tav tm="0">
                                          <p:val>
                                            <p:fltVal val="0"/>
                                          </p:val>
                                        </p:tav>
                                        <p:tav tm="100000">
                                          <p:val>
                                            <p:strVal val="#ppt_w"/>
                                          </p:val>
                                        </p:tav>
                                      </p:tavLst>
                                    </p:anim>
                                    <p:anim calcmode="lin" valueType="num">
                                      <p:cBhvr>
                                        <p:cTn id="169" dur="3000" fill="hold"/>
                                        <p:tgtEl>
                                          <p:spTgt spid="191"/>
                                        </p:tgtEl>
                                        <p:attrNameLst>
                                          <p:attrName>ppt_h</p:attrName>
                                        </p:attrNameLst>
                                      </p:cBhvr>
                                      <p:tavLst>
                                        <p:tav tm="0">
                                          <p:val>
                                            <p:fltVal val="0"/>
                                          </p:val>
                                        </p:tav>
                                        <p:tav tm="100000">
                                          <p:val>
                                            <p:strVal val="#ppt_h"/>
                                          </p:val>
                                        </p:tav>
                                      </p:tavLst>
                                    </p:anim>
                                    <p:anim calcmode="lin" valueType="num">
                                      <p:cBhvr>
                                        <p:cTn id="170" dur="3000" fill="hold"/>
                                        <p:tgtEl>
                                          <p:spTgt spid="191"/>
                                        </p:tgtEl>
                                        <p:attrNameLst>
                                          <p:attrName>ppt_x</p:attrName>
                                        </p:attrNameLst>
                                      </p:cBhvr>
                                      <p:tavLst>
                                        <p:tav tm="0" fmla="#ppt_x+(cos(-2*pi*(1-$))*-#ppt_x-sin(-2*pi*(1-$))*(1-#ppt_y))*(1-$)">
                                          <p:val>
                                            <p:fltVal val="0"/>
                                          </p:val>
                                        </p:tav>
                                        <p:tav tm="100000">
                                          <p:val>
                                            <p:fltVal val="1"/>
                                          </p:val>
                                        </p:tav>
                                      </p:tavLst>
                                    </p:anim>
                                    <p:anim calcmode="lin" valueType="num">
                                      <p:cBhvr>
                                        <p:cTn id="171" dur="3000" fill="hold"/>
                                        <p:tgtEl>
                                          <p:spTgt spid="191"/>
                                        </p:tgtEl>
                                        <p:attrNameLst>
                                          <p:attrName>ppt_y</p:attrName>
                                        </p:attrNameLst>
                                      </p:cBhvr>
                                      <p:tavLst>
                                        <p:tav tm="0" fmla="#ppt_y+(sin(-2*pi*(1-$))*-#ppt_x+cos(-2*pi*(1-$))*(1-#ppt_y))*(1-$)">
                                          <p:val>
                                            <p:fltVal val="0"/>
                                          </p:val>
                                        </p:tav>
                                        <p:tav tm="100000">
                                          <p:val>
                                            <p:fltVal val="1"/>
                                          </p:val>
                                        </p:tav>
                                      </p:tavLst>
                                    </p:anim>
                                  </p:childTnLst>
                                </p:cTn>
                              </p:par>
                            </p:childTnLst>
                          </p:cTn>
                        </p:par>
                        <p:par>
                          <p:cTn id="172" fill="hold">
                            <p:stCondLst>
                              <p:cond delay="30000"/>
                            </p:stCondLst>
                            <p:childTnLst>
                              <p:par>
                                <p:cTn id="173" presetID="15" presetClass="entr" presetSubtype="0" fill="hold" nodeType="afterEffect">
                                  <p:stCondLst>
                                    <p:cond delay="0"/>
                                  </p:stCondLst>
                                  <p:childTnLst>
                                    <p:set>
                                      <p:cBhvr>
                                        <p:cTn id="174" dur="1" fill="hold">
                                          <p:stCondLst>
                                            <p:cond delay="0"/>
                                          </p:stCondLst>
                                        </p:cTn>
                                        <p:tgtEl>
                                          <p:spTgt spid="194"/>
                                        </p:tgtEl>
                                        <p:attrNameLst>
                                          <p:attrName>style.visibility</p:attrName>
                                        </p:attrNameLst>
                                      </p:cBhvr>
                                      <p:to>
                                        <p:strVal val="visible"/>
                                      </p:to>
                                    </p:set>
                                    <p:anim calcmode="lin" valueType="num">
                                      <p:cBhvr>
                                        <p:cTn id="175" dur="3000" fill="hold"/>
                                        <p:tgtEl>
                                          <p:spTgt spid="194"/>
                                        </p:tgtEl>
                                        <p:attrNameLst>
                                          <p:attrName>ppt_w</p:attrName>
                                        </p:attrNameLst>
                                      </p:cBhvr>
                                      <p:tavLst>
                                        <p:tav tm="0">
                                          <p:val>
                                            <p:fltVal val="0"/>
                                          </p:val>
                                        </p:tav>
                                        <p:tav tm="100000">
                                          <p:val>
                                            <p:strVal val="#ppt_w"/>
                                          </p:val>
                                        </p:tav>
                                      </p:tavLst>
                                    </p:anim>
                                    <p:anim calcmode="lin" valueType="num">
                                      <p:cBhvr>
                                        <p:cTn id="176" dur="3000" fill="hold"/>
                                        <p:tgtEl>
                                          <p:spTgt spid="194"/>
                                        </p:tgtEl>
                                        <p:attrNameLst>
                                          <p:attrName>ppt_h</p:attrName>
                                        </p:attrNameLst>
                                      </p:cBhvr>
                                      <p:tavLst>
                                        <p:tav tm="0">
                                          <p:val>
                                            <p:fltVal val="0"/>
                                          </p:val>
                                        </p:tav>
                                        <p:tav tm="100000">
                                          <p:val>
                                            <p:strVal val="#ppt_h"/>
                                          </p:val>
                                        </p:tav>
                                      </p:tavLst>
                                    </p:anim>
                                    <p:anim calcmode="lin" valueType="num">
                                      <p:cBhvr>
                                        <p:cTn id="177" dur="3000" fill="hold"/>
                                        <p:tgtEl>
                                          <p:spTgt spid="194"/>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9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73"/>
                                            </p:cond>
                                          </p:stCondLst>
                                          <p:endCondLst>
                                            <p:cond evt="onStopAudio" delay="0">
                                              <p:tgtEl>
                                                <p:sldTgt/>
                                              </p:tgtEl>
                                            </p:cond>
                                          </p:endCondLst>
                                        </p:cTn>
                                        <p:tgtEl>
                                          <p:sndTgt r:embed="rId4" name="CHIMES.WAV"/>
                                        </p:tgtEl>
                                      </p:cMediaNode>
                                    </p:audio>
                                  </p:subTnLst>
                                </p:cTn>
                              </p:par>
                            </p:childTnLst>
                          </p:cTn>
                        </p:par>
                        <p:par>
                          <p:cTn id="179" fill="hold">
                            <p:stCondLst>
                              <p:cond delay="33000"/>
                            </p:stCondLst>
                            <p:childTnLst>
                              <p:par>
                                <p:cTn id="180" presetID="15" presetClass="entr" presetSubtype="0" fill="hold" nodeType="afterEffect">
                                  <p:stCondLst>
                                    <p:cond delay="0"/>
                                  </p:stCondLst>
                                  <p:childTnLst>
                                    <p:set>
                                      <p:cBhvr>
                                        <p:cTn id="181" dur="1" fill="hold">
                                          <p:stCondLst>
                                            <p:cond delay="0"/>
                                          </p:stCondLst>
                                        </p:cTn>
                                        <p:tgtEl>
                                          <p:spTgt spid="197"/>
                                        </p:tgtEl>
                                        <p:attrNameLst>
                                          <p:attrName>style.visibility</p:attrName>
                                        </p:attrNameLst>
                                      </p:cBhvr>
                                      <p:to>
                                        <p:strVal val="visible"/>
                                      </p:to>
                                    </p:set>
                                    <p:anim calcmode="lin" valueType="num">
                                      <p:cBhvr>
                                        <p:cTn id="182" dur="3000" fill="hold"/>
                                        <p:tgtEl>
                                          <p:spTgt spid="197"/>
                                        </p:tgtEl>
                                        <p:attrNameLst>
                                          <p:attrName>ppt_w</p:attrName>
                                        </p:attrNameLst>
                                      </p:cBhvr>
                                      <p:tavLst>
                                        <p:tav tm="0">
                                          <p:val>
                                            <p:fltVal val="0"/>
                                          </p:val>
                                        </p:tav>
                                        <p:tav tm="100000">
                                          <p:val>
                                            <p:strVal val="#ppt_w"/>
                                          </p:val>
                                        </p:tav>
                                      </p:tavLst>
                                    </p:anim>
                                    <p:anim calcmode="lin" valueType="num">
                                      <p:cBhvr>
                                        <p:cTn id="183" dur="3000" fill="hold"/>
                                        <p:tgtEl>
                                          <p:spTgt spid="197"/>
                                        </p:tgtEl>
                                        <p:attrNameLst>
                                          <p:attrName>ppt_h</p:attrName>
                                        </p:attrNameLst>
                                      </p:cBhvr>
                                      <p:tavLst>
                                        <p:tav tm="0">
                                          <p:val>
                                            <p:fltVal val="0"/>
                                          </p:val>
                                        </p:tav>
                                        <p:tav tm="100000">
                                          <p:val>
                                            <p:strVal val="#ppt_h"/>
                                          </p:val>
                                        </p:tav>
                                      </p:tavLst>
                                    </p:anim>
                                    <p:anim calcmode="lin" valueType="num">
                                      <p:cBhvr>
                                        <p:cTn id="184" dur="3000" fill="hold"/>
                                        <p:tgtEl>
                                          <p:spTgt spid="197"/>
                                        </p:tgtEl>
                                        <p:attrNameLst>
                                          <p:attrName>ppt_x</p:attrName>
                                        </p:attrNameLst>
                                      </p:cBhvr>
                                      <p:tavLst>
                                        <p:tav tm="0" fmla="#ppt_x+(cos(-2*pi*(1-$))*-#ppt_x-sin(-2*pi*(1-$))*(1-#ppt_y))*(1-$)">
                                          <p:val>
                                            <p:fltVal val="0"/>
                                          </p:val>
                                        </p:tav>
                                        <p:tav tm="100000">
                                          <p:val>
                                            <p:fltVal val="1"/>
                                          </p:val>
                                        </p:tav>
                                      </p:tavLst>
                                    </p:anim>
                                    <p:anim calcmode="lin" valueType="num">
                                      <p:cBhvr>
                                        <p:cTn id="185" dur="3000" fill="hold"/>
                                        <p:tgtEl>
                                          <p:spTgt spid="19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2" grpId="0"/>
      <p:bldP spid="63" grpId="0" animBg="1"/>
      <p:bldP spid="124" grpId="0"/>
      <p:bldP spid="125" grpId="0" animBg="1"/>
      <p:bldP spid="138" grpId="0"/>
      <p:bldP spid="141" grpId="0" autoUpdateAnimBg="0"/>
      <p:bldP spid="142" grpId="0" animBg="1"/>
      <p:bldP spid="143" grpId="0" autoUpdateAnimBg="0"/>
      <p:bldP spid="144" grpId="0" autoUpdateAnimBg="0"/>
      <p:bldP spid="145" grpId="0" autoUpdateAnimBg="0"/>
      <p:bldP spid="146" grpId="0" autoUpdateAnimBg="0"/>
      <p:bldP spid="147" grpId="0" autoUpdateAnimBg="0"/>
      <p:bldP spid="148" grpId="0" autoUpdateAnimBg="0"/>
      <p:bldP spid="171"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20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1"/>
            <a:ext cx="4514874" cy="5581937"/>
          </a:xfrm>
          <a:prstGeom prst="rect">
            <a:avLst/>
          </a:prstGeom>
          <a:solidFill>
            <a:srgbClr val="B9CDE5"/>
          </a:solidFill>
          <a:ln>
            <a:noFill/>
          </a:ln>
          <a:effectLst/>
        </p:spPr>
        <p:txBody>
          <a:bodyPr wrap="none" anchor="ctr"/>
          <a:lstStyle/>
          <a:p>
            <a:endParaRPr lang="zh-CN" altLang="en-US"/>
          </a:p>
        </p:txBody>
      </p:sp>
      <p:sp>
        <p:nvSpPr>
          <p:cNvPr id="62" name="矩形 61">
            <a:extLst>
              <a:ext uri="{FF2B5EF4-FFF2-40B4-BE49-F238E27FC236}">
                <a16:creationId xmlns:a16="http://schemas.microsoft.com/office/drawing/2014/main" id="{54CF797A-3212-00F4-D82B-18FEE729BE7A}"/>
              </a:ext>
            </a:extLst>
          </p:cNvPr>
          <p:cNvSpPr/>
          <p:nvPr/>
        </p:nvSpPr>
        <p:spPr>
          <a:xfrm>
            <a:off x="837157" y="4125218"/>
            <a:ext cx="7176307" cy="1421928"/>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弯矩最大处，剪力为零</a:t>
            </a:r>
            <a:endParaRPr kumimoji="1" lang="en-US" altLang="zh-CN" i="0" dirty="0">
              <a:solidFill>
                <a:schemeClr val="tx1"/>
              </a:solidFill>
              <a:latin typeface="+mn-lt"/>
              <a:ea typeface="黑体" panose="02010609060101010101" pitchFamily="49" charset="-122"/>
            </a:endParaRPr>
          </a:p>
          <a:p>
            <a:pPr>
              <a:lnSpc>
                <a:spcPct val="120000"/>
              </a:lnSpc>
            </a:pP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:(4-</a:t>
            </a: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1:3     </a:t>
            </a:r>
            <a:r>
              <a:rPr lang="en-US" altLang="zh-CN" b="0" dirty="0">
                <a:solidFill>
                  <a:schemeClr val="tx1"/>
                </a:solidFill>
                <a:latin typeface="+mn-lt"/>
                <a:ea typeface="黑体" panose="02010609060101010101" pitchFamily="49" charset="-122"/>
              </a:rPr>
              <a:t>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1m     </a:t>
            </a:r>
            <a:r>
              <a:rPr lang="en-US" altLang="zh-CN" b="0" dirty="0">
                <a:latin typeface="+mn-lt"/>
                <a:ea typeface="黑体" panose="02010609060101010101" pitchFamily="49" charset="-122"/>
              </a:rPr>
              <a:t>H</a:t>
            </a:r>
            <a:r>
              <a:rPr lang="zh-CN" altLang="en-US" b="0" i="0" dirty="0">
                <a:latin typeface="+mn-lt"/>
                <a:ea typeface="黑体" panose="02010609060101010101" pitchFamily="49" charset="-122"/>
              </a:rPr>
              <a:t>处</a:t>
            </a:r>
            <a:endParaRPr lang="en-US" altLang="zh-CN" b="0" i="0" dirty="0">
              <a:latin typeface="+mn-lt"/>
              <a:ea typeface="黑体" panose="02010609060101010101" pitchFamily="49" charset="-122"/>
            </a:endParaRPr>
          </a:p>
          <a:p>
            <a:pPr eaLnBrk="1" hangingPunct="1">
              <a:lnSpc>
                <a:spcPct val="120000"/>
              </a:lnSpc>
            </a:pPr>
            <a:r>
              <a:rPr lang="zh-CN" altLang="en-US" i="0" dirty="0">
                <a:solidFill>
                  <a:schemeClr val="tx1"/>
                </a:solidFill>
                <a:latin typeface="+mn-lt"/>
                <a:ea typeface="黑体" panose="02010609060101010101" pitchFamily="49" charset="-122"/>
              </a:rPr>
              <a:t>再计算截面</a:t>
            </a:r>
            <a:r>
              <a:rPr lang="en-US" altLang="zh-CN" b="0" dirty="0">
                <a:solidFill>
                  <a:schemeClr val="tx1"/>
                </a:solidFill>
                <a:latin typeface="+mn-lt"/>
                <a:ea typeface="黑体" panose="02010609060101010101" pitchFamily="49" charset="-122"/>
              </a:rPr>
              <a:t>H</a:t>
            </a:r>
            <a:r>
              <a:rPr lang="zh-CN" altLang="en-US" i="0" dirty="0">
                <a:solidFill>
                  <a:schemeClr val="tx1"/>
                </a:solidFill>
                <a:latin typeface="+mn-lt"/>
                <a:ea typeface="黑体" panose="02010609060101010101" pitchFamily="49" charset="-122"/>
              </a:rPr>
              <a:t>处的弯矩 </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H</a:t>
            </a:r>
            <a:r>
              <a:rPr lang="en-US" altLang="zh-CN" b="0" i="0" dirty="0">
                <a:solidFill>
                  <a:schemeClr val="tx1"/>
                </a:solidFill>
                <a:latin typeface="+mn-lt"/>
                <a:ea typeface="黑体" panose="02010609060101010101" pitchFamily="49" charset="-122"/>
              </a:rPr>
              <a:t>=20.5 </a:t>
            </a:r>
            <a:r>
              <a:rPr lang="en-US" altLang="zh-CN" b="0" i="0" dirty="0" err="1">
                <a:solidFill>
                  <a:schemeClr val="tx1"/>
                </a:solidFill>
                <a:latin typeface="+mn-lt"/>
                <a:ea typeface="黑体" panose="02010609060101010101" pitchFamily="49" charset="-122"/>
              </a:rPr>
              <a:t>kN·m</a:t>
            </a:r>
            <a:endParaRPr kumimoji="1" lang="zh-CN" altLang="en-US" i="0" dirty="0">
              <a:solidFill>
                <a:schemeClr val="tx1"/>
              </a:solidFill>
              <a:latin typeface="+mn-lt"/>
              <a:ea typeface="黑体" panose="02010609060101010101" pitchFamily="49" charset="-122"/>
            </a:endParaRPr>
          </a:p>
        </p:txBody>
      </p:sp>
      <p:graphicFrame>
        <p:nvGraphicFramePr>
          <p:cNvPr id="200" name="Group 553"/>
          <p:cNvGraphicFramePr>
            <a:graphicFrameLocks/>
          </p:cNvGraphicFramePr>
          <p:nvPr>
            <p:extLst>
              <p:ext uri="{D42A27DB-BD31-4B8C-83A1-F6EECF244321}">
                <p14:modId xmlns:p14="http://schemas.microsoft.com/office/powerpoint/2010/main" val="3050183341"/>
              </p:ext>
            </p:extLst>
          </p:nvPr>
        </p:nvGraphicFramePr>
        <p:xfrm>
          <a:off x="927732" y="898769"/>
          <a:ext cx="5544617" cy="1423719"/>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bl>
          </a:graphicData>
        </a:graphic>
      </p:graphicFrame>
      <p:sp>
        <p:nvSpPr>
          <p:cNvPr id="201" name="矩形 200">
            <a:extLst>
              <a:ext uri="{FF2B5EF4-FFF2-40B4-BE49-F238E27FC236}">
                <a16:creationId xmlns:a16="http://schemas.microsoft.com/office/drawing/2014/main" id="{54CF797A-3212-00F4-D82B-18FEE729BE7A}"/>
              </a:ext>
            </a:extLst>
          </p:cNvPr>
          <p:cNvSpPr/>
          <p:nvPr/>
        </p:nvSpPr>
        <p:spPr>
          <a:xfrm>
            <a:off x="830956" y="2322488"/>
            <a:ext cx="6930953"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再列出各段</a:t>
            </a:r>
            <a:r>
              <a:rPr kumimoji="1" lang="en-US" altLang="zh-CN" b="0" dirty="0">
                <a:solidFill>
                  <a:schemeClr val="tx1"/>
                </a:solidFill>
                <a:latin typeface="+mn-lt"/>
                <a:ea typeface="黑体" panose="02010609060101010101" pitchFamily="49" charset="-122"/>
              </a:rPr>
              <a:t>M</a:t>
            </a:r>
            <a:r>
              <a:rPr kumimoji="1" lang="zh-CN" altLang="en-US" i="0" dirty="0">
                <a:solidFill>
                  <a:schemeClr val="tx1"/>
                </a:solidFill>
                <a:latin typeface="+mn-lt"/>
                <a:ea typeface="黑体" panose="02010609060101010101" pitchFamily="49" charset="-122"/>
              </a:rPr>
              <a:t>图的特征表。</a:t>
            </a:r>
            <a:endParaRPr lang="zh-CN" altLang="en-US" i="0" dirty="0">
              <a:solidFill>
                <a:schemeClr val="tx1"/>
              </a:solidFill>
              <a:latin typeface="+mn-lt"/>
              <a:ea typeface="黑体" panose="02010609060101010101" pitchFamily="49" charset="-122"/>
            </a:endParaRPr>
          </a:p>
        </p:txBody>
      </p:sp>
      <p:graphicFrame>
        <p:nvGraphicFramePr>
          <p:cNvPr id="202" name="Group 492"/>
          <p:cNvGraphicFramePr>
            <a:graphicFrameLocks/>
          </p:cNvGraphicFramePr>
          <p:nvPr>
            <p:extLst>
              <p:ext uri="{D42A27DB-BD31-4B8C-83A1-F6EECF244321}">
                <p14:modId xmlns:p14="http://schemas.microsoft.com/office/powerpoint/2010/main" val="183015477"/>
              </p:ext>
            </p:extLst>
          </p:nvPr>
        </p:nvGraphicFramePr>
        <p:xfrm>
          <a:off x="994272" y="2813234"/>
          <a:ext cx="6397872" cy="1335846"/>
        </p:xfrm>
        <a:graphic>
          <a:graphicData uri="http://schemas.openxmlformats.org/drawingml/2006/table">
            <a:tbl>
              <a:tblPr/>
              <a:tblGrid>
                <a:gridCol w="92526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87350">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AC</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CD</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DB</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BE</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2275">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外力</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a:t>
                      </a: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常数＜</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526221">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M</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bl>
          </a:graphicData>
        </a:graphic>
      </p:graphicFrame>
      <p:sp>
        <p:nvSpPr>
          <p:cNvPr id="107" name="矩形 106">
            <a:extLst>
              <a:ext uri="{FF2B5EF4-FFF2-40B4-BE49-F238E27FC236}">
                <a16:creationId xmlns:a16="http://schemas.microsoft.com/office/drawing/2014/main" id="{54CF797A-3212-00F4-D82B-18FEE729BE7A}"/>
              </a:ext>
            </a:extLst>
          </p:cNvPr>
          <p:cNvSpPr/>
          <p:nvPr/>
        </p:nvSpPr>
        <p:spPr>
          <a:xfrm>
            <a:off x="327885" y="5417829"/>
            <a:ext cx="7336416" cy="984500"/>
          </a:xfrm>
          <a:prstGeom prst="rect">
            <a:avLst/>
          </a:prstGeom>
        </p:spPr>
        <p:txBody>
          <a:bodyPr wrap="square">
            <a:spAutoFit/>
          </a:bodyPr>
          <a:lstStyle/>
          <a:p>
            <a:pPr>
              <a:lnSpc>
                <a:spcPct val="120000"/>
              </a:lnSpc>
            </a:pPr>
            <a:r>
              <a:rPr lang="en-US" altLang="zh-CN" i="0" dirty="0">
                <a:solidFill>
                  <a:schemeClr val="tx1"/>
                </a:solidFill>
                <a:ea typeface="黑体" panose="02010609060101010101" pitchFamily="49" charset="-122"/>
              </a:rPr>
              <a:t>      ③</a:t>
            </a:r>
            <a:r>
              <a:rPr lang="zh-CN" altLang="en-US" i="0" dirty="0">
                <a:solidFill>
                  <a:schemeClr val="tx1"/>
                </a:solidFill>
                <a:ea typeface="黑体" panose="02010609060101010101" pitchFamily="49" charset="-122"/>
              </a:rPr>
              <a:t>连线。</a:t>
            </a:r>
            <a:r>
              <a:rPr lang="zh-CN" altLang="en-US" i="0" dirty="0">
                <a:solidFill>
                  <a:schemeClr val="tx1"/>
                </a:solidFill>
                <a:latin typeface="+mn-lt"/>
                <a:ea typeface="黑体" panose="02010609060101010101" pitchFamily="49" charset="-122"/>
              </a:rPr>
              <a:t>区间</a:t>
            </a:r>
            <a:r>
              <a:rPr lang="en-US" altLang="zh-CN" b="0" dirty="0">
                <a:solidFill>
                  <a:schemeClr val="tx1"/>
                </a:solidFill>
                <a:latin typeface="+mn-lt"/>
                <a:ea typeface="黑体" panose="02010609060101010101" pitchFamily="49" charset="-122"/>
              </a:rPr>
              <a:t>AC</a:t>
            </a:r>
            <a:r>
              <a:rPr lang="zh-CN" altLang="en-US" i="0" dirty="0">
                <a:solidFill>
                  <a:schemeClr val="tx1"/>
                </a:solidFill>
                <a:latin typeface="+mn-lt"/>
                <a:ea typeface="黑体" panose="02010609060101010101" pitchFamily="49" charset="-122"/>
              </a:rPr>
              <a:t>段</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图为抛物线，并确定了抛物线的凸凹和极值点，得到弯矩图。</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108" name="Freeform 206" descr="浅色竖线"/>
          <p:cNvSpPr>
            <a:spLocks/>
          </p:cNvSpPr>
          <p:nvPr/>
        </p:nvSpPr>
        <p:spPr bwMode="auto">
          <a:xfrm>
            <a:off x="8081813" y="4996648"/>
            <a:ext cx="3305175" cy="1362075"/>
          </a:xfrm>
          <a:custGeom>
            <a:avLst/>
            <a:gdLst>
              <a:gd name="T0" fmla="*/ 0 w 2082"/>
              <a:gd name="T1" fmla="*/ 1648182115 h 858"/>
              <a:gd name="T2" fmla="*/ 37801545 w 2082"/>
              <a:gd name="T3" fmla="*/ 1406247184 h 858"/>
              <a:gd name="T4" fmla="*/ 90725607 w 2082"/>
              <a:gd name="T5" fmla="*/ 1141630060 h 858"/>
              <a:gd name="T6" fmla="*/ 113406234 w 2082"/>
              <a:gd name="T7" fmla="*/ 1035785115 h 858"/>
              <a:gd name="T8" fmla="*/ 211693125 w 2082"/>
              <a:gd name="T9" fmla="*/ 861893589 h 858"/>
              <a:gd name="T10" fmla="*/ 325100897 w 2082"/>
              <a:gd name="T11" fmla="*/ 650200326 h 858"/>
              <a:gd name="T12" fmla="*/ 483869971 w 2082"/>
              <a:gd name="T13" fmla="*/ 438507261 h 858"/>
              <a:gd name="T14" fmla="*/ 657759877 w 2082"/>
              <a:gd name="T15" fmla="*/ 294857503 h 858"/>
              <a:gd name="T16" fmla="*/ 816530440 w 2082"/>
              <a:gd name="T17" fmla="*/ 196572181 h 858"/>
              <a:gd name="T18" fmla="*/ 1013102734 w 2082"/>
              <a:gd name="T19" fmla="*/ 90725624 h 858"/>
              <a:gd name="T20" fmla="*/ 1164312038 w 2082"/>
              <a:gd name="T21" fmla="*/ 52924085 h 858"/>
              <a:gd name="T22" fmla="*/ 1330642273 w 2082"/>
              <a:gd name="T23" fmla="*/ 15120939 h 858"/>
              <a:gd name="T24" fmla="*/ 1731346532 w 2082"/>
              <a:gd name="T25" fmla="*/ 7561263 h 858"/>
              <a:gd name="T26" fmla="*/ 1920358956 w 2082"/>
              <a:gd name="T27" fmla="*/ 45362812 h 858"/>
              <a:gd name="T28" fmla="*/ 2147483647 w 2082"/>
              <a:gd name="T29" fmla="*/ 113407842 h 858"/>
              <a:gd name="T30" fmla="*/ 2147483647 w 2082"/>
              <a:gd name="T31" fmla="*/ 166330315 h 858"/>
              <a:gd name="T32" fmla="*/ 2147483647 w 2082"/>
              <a:gd name="T33" fmla="*/ 219254424 h 858"/>
              <a:gd name="T34" fmla="*/ 2147483647 w 2082"/>
              <a:gd name="T35" fmla="*/ 279736570 h 858"/>
              <a:gd name="T36" fmla="*/ 2147483647 w 2082"/>
              <a:gd name="T37" fmla="*/ 378023429 h 858"/>
              <a:gd name="T38" fmla="*/ 2147483647 w 2082"/>
              <a:gd name="T39" fmla="*/ 1141630060 h 858"/>
              <a:gd name="T40" fmla="*/ 2147483647 w 2082"/>
              <a:gd name="T41" fmla="*/ 2147483647 h 858"/>
              <a:gd name="T42" fmla="*/ 2147483647 w 2082"/>
              <a:gd name="T43" fmla="*/ 1648182115 h 858"/>
              <a:gd name="T44" fmla="*/ 0 w 2082"/>
              <a:gd name="T45" fmla="*/ 1648182115 h 8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82"/>
              <a:gd name="T70" fmla="*/ 0 h 858"/>
              <a:gd name="T71" fmla="*/ 2082 w 2082"/>
              <a:gd name="T72" fmla="*/ 858 h 8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82" h="858">
                <a:moveTo>
                  <a:pt x="0" y="654"/>
                </a:moveTo>
                <a:cubicBezTo>
                  <a:pt x="5" y="622"/>
                  <a:pt x="4" y="590"/>
                  <a:pt x="15" y="558"/>
                </a:cubicBezTo>
                <a:cubicBezTo>
                  <a:pt x="20" y="522"/>
                  <a:pt x="27" y="488"/>
                  <a:pt x="36" y="453"/>
                </a:cubicBezTo>
                <a:cubicBezTo>
                  <a:pt x="39" y="440"/>
                  <a:pt x="39" y="423"/>
                  <a:pt x="45" y="411"/>
                </a:cubicBezTo>
                <a:cubicBezTo>
                  <a:pt x="57" y="387"/>
                  <a:pt x="73" y="367"/>
                  <a:pt x="84" y="342"/>
                </a:cubicBezTo>
                <a:cubicBezTo>
                  <a:pt x="104" y="309"/>
                  <a:pt x="111" y="286"/>
                  <a:pt x="129" y="258"/>
                </a:cubicBezTo>
                <a:cubicBezTo>
                  <a:pt x="143" y="215"/>
                  <a:pt x="162" y="219"/>
                  <a:pt x="192" y="174"/>
                </a:cubicBezTo>
                <a:cubicBezTo>
                  <a:pt x="207" y="159"/>
                  <a:pt x="241" y="131"/>
                  <a:pt x="261" y="117"/>
                </a:cubicBezTo>
                <a:cubicBezTo>
                  <a:pt x="283" y="106"/>
                  <a:pt x="299" y="84"/>
                  <a:pt x="324" y="78"/>
                </a:cubicBezTo>
                <a:cubicBezTo>
                  <a:pt x="350" y="59"/>
                  <a:pt x="371" y="46"/>
                  <a:pt x="402" y="36"/>
                </a:cubicBezTo>
                <a:cubicBezTo>
                  <a:pt x="423" y="29"/>
                  <a:pt x="441" y="26"/>
                  <a:pt x="462" y="21"/>
                </a:cubicBezTo>
                <a:cubicBezTo>
                  <a:pt x="485" y="15"/>
                  <a:pt x="506" y="17"/>
                  <a:pt x="528" y="6"/>
                </a:cubicBezTo>
                <a:cubicBezTo>
                  <a:pt x="580" y="7"/>
                  <a:pt x="635" y="0"/>
                  <a:pt x="687" y="3"/>
                </a:cubicBezTo>
                <a:cubicBezTo>
                  <a:pt x="713" y="4"/>
                  <a:pt x="737" y="13"/>
                  <a:pt x="762" y="18"/>
                </a:cubicBezTo>
                <a:cubicBezTo>
                  <a:pt x="793" y="24"/>
                  <a:pt x="824" y="37"/>
                  <a:pt x="855" y="45"/>
                </a:cubicBezTo>
                <a:cubicBezTo>
                  <a:pt x="872" y="49"/>
                  <a:pt x="885" y="58"/>
                  <a:pt x="900" y="66"/>
                </a:cubicBezTo>
                <a:cubicBezTo>
                  <a:pt x="915" y="73"/>
                  <a:pt x="931" y="79"/>
                  <a:pt x="945" y="87"/>
                </a:cubicBezTo>
                <a:cubicBezTo>
                  <a:pt x="961" y="95"/>
                  <a:pt x="961" y="101"/>
                  <a:pt x="972" y="111"/>
                </a:cubicBezTo>
                <a:cubicBezTo>
                  <a:pt x="978" y="121"/>
                  <a:pt x="1003" y="142"/>
                  <a:pt x="1011" y="150"/>
                </a:cubicBezTo>
                <a:lnTo>
                  <a:pt x="1008" y="453"/>
                </a:lnTo>
                <a:lnTo>
                  <a:pt x="1551" y="858"/>
                </a:lnTo>
                <a:lnTo>
                  <a:pt x="2082" y="654"/>
                </a:lnTo>
                <a:lnTo>
                  <a:pt x="0" y="654"/>
                </a:lnTo>
                <a:close/>
              </a:path>
            </a:pathLst>
          </a:custGeom>
          <a:pattFill prst="ltVert">
            <a:fgClr>
              <a:srgbClr val="000000"/>
            </a:fgClr>
            <a:bgClr>
              <a:srgbClr val="99FFCC"/>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0" name="Arc 200"/>
          <p:cNvSpPr>
            <a:spLocks/>
          </p:cNvSpPr>
          <p:nvPr/>
        </p:nvSpPr>
        <p:spPr bwMode="auto">
          <a:xfrm rot="10800000" flipV="1">
            <a:off x="8088163" y="4990298"/>
            <a:ext cx="1604963" cy="1060450"/>
          </a:xfrm>
          <a:custGeom>
            <a:avLst/>
            <a:gdLst>
              <a:gd name="T0" fmla="*/ 0 w 35301"/>
              <a:gd name="T1" fmla="*/ 580072028 h 21600"/>
              <a:gd name="T2" fmla="*/ 2147483647 w 35301"/>
              <a:gd name="T3" fmla="*/ 2147483647 h 21600"/>
              <a:gd name="T4" fmla="*/ 1287614675 w 35301"/>
              <a:gd name="T5" fmla="*/ 2147483647 h 21600"/>
              <a:gd name="T6" fmla="*/ 0 60000 65536"/>
              <a:gd name="T7" fmla="*/ 0 60000 65536"/>
              <a:gd name="T8" fmla="*/ 0 60000 65536"/>
              <a:gd name="T9" fmla="*/ 0 w 35301"/>
              <a:gd name="T10" fmla="*/ 0 h 21600"/>
              <a:gd name="T11" fmla="*/ 35301 w 35301"/>
              <a:gd name="T12" fmla="*/ 21600 h 21600"/>
            </a:gdLst>
            <a:ahLst/>
            <a:cxnLst>
              <a:cxn ang="T6">
                <a:pos x="T0" y="T1"/>
              </a:cxn>
              <a:cxn ang="T7">
                <a:pos x="T2" y="T3"/>
              </a:cxn>
              <a:cxn ang="T8">
                <a:pos x="T4" y="T5"/>
              </a:cxn>
            </a:cxnLst>
            <a:rect l="T9" t="T10" r="T11" b="T12"/>
            <a:pathLst>
              <a:path w="35301" h="21600" fill="none" extrusionOk="0">
                <a:moveTo>
                  <a:pt x="-1" y="4901"/>
                </a:moveTo>
                <a:cubicBezTo>
                  <a:pt x="3862" y="1732"/>
                  <a:pt x="8704" y="-1"/>
                  <a:pt x="13701" y="0"/>
                </a:cubicBezTo>
                <a:cubicBezTo>
                  <a:pt x="25630" y="0"/>
                  <a:pt x="35301" y="9670"/>
                  <a:pt x="35301" y="21600"/>
                </a:cubicBezTo>
              </a:path>
              <a:path w="35301" h="21600" stroke="0" extrusionOk="0">
                <a:moveTo>
                  <a:pt x="-1" y="4901"/>
                </a:moveTo>
                <a:cubicBezTo>
                  <a:pt x="3862" y="1732"/>
                  <a:pt x="8704" y="-1"/>
                  <a:pt x="13701" y="0"/>
                </a:cubicBezTo>
                <a:cubicBezTo>
                  <a:pt x="25630" y="0"/>
                  <a:pt x="35301" y="9670"/>
                  <a:pt x="35301" y="21600"/>
                </a:cubicBezTo>
                <a:lnTo>
                  <a:pt x="13701"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1" name="Freeform 3" descr="浅色竖线"/>
          <p:cNvSpPr>
            <a:spLocks/>
          </p:cNvSpPr>
          <p:nvPr/>
        </p:nvSpPr>
        <p:spPr bwMode="auto">
          <a:xfrm>
            <a:off x="8077051" y="3426811"/>
            <a:ext cx="3200400" cy="1009650"/>
          </a:xfrm>
          <a:custGeom>
            <a:avLst/>
            <a:gdLst>
              <a:gd name="T0" fmla="*/ 0 w 2016"/>
              <a:gd name="T1" fmla="*/ 1171871810 h 636"/>
              <a:gd name="T2" fmla="*/ 0 w 2016"/>
              <a:gd name="T3" fmla="*/ 0 h 636"/>
              <a:gd name="T4" fmla="*/ 1262599166 w 2016"/>
              <a:gd name="T5" fmla="*/ 619958398 h 636"/>
              <a:gd name="T6" fmla="*/ 1262599166 w 2016"/>
              <a:gd name="T7" fmla="*/ 990420629 h 636"/>
              <a:gd name="T8" fmla="*/ 2147483647 w 2016"/>
              <a:gd name="T9" fmla="*/ 1602819157 h 636"/>
              <a:gd name="T10" fmla="*/ 2147483647 w 2016"/>
              <a:gd name="T11" fmla="*/ 1602819157 h 636"/>
              <a:gd name="T12" fmla="*/ 2147483647 w 2016"/>
              <a:gd name="T13" fmla="*/ 778728975 h 636"/>
              <a:gd name="T14" fmla="*/ 2147483647 w 2016"/>
              <a:gd name="T15" fmla="*/ 778728975 h 636"/>
              <a:gd name="T16" fmla="*/ 2147483647 w 2016"/>
              <a:gd name="T17" fmla="*/ 1171871810 h 636"/>
              <a:gd name="T18" fmla="*/ 0 w 2016"/>
              <a:gd name="T19" fmla="*/ 1171871810 h 6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16"/>
              <a:gd name="T31" fmla="*/ 0 h 636"/>
              <a:gd name="T32" fmla="*/ 2016 w 2016"/>
              <a:gd name="T33" fmla="*/ 636 h 6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16" h="636">
                <a:moveTo>
                  <a:pt x="0" y="465"/>
                </a:moveTo>
                <a:lnTo>
                  <a:pt x="0" y="0"/>
                </a:lnTo>
                <a:lnTo>
                  <a:pt x="501" y="246"/>
                </a:lnTo>
                <a:lnTo>
                  <a:pt x="501" y="393"/>
                </a:lnTo>
                <a:lnTo>
                  <a:pt x="996" y="636"/>
                </a:lnTo>
                <a:lnTo>
                  <a:pt x="1515" y="636"/>
                </a:lnTo>
                <a:lnTo>
                  <a:pt x="1515" y="309"/>
                </a:lnTo>
                <a:lnTo>
                  <a:pt x="2016" y="309"/>
                </a:lnTo>
                <a:lnTo>
                  <a:pt x="2016" y="465"/>
                </a:lnTo>
                <a:lnTo>
                  <a:pt x="0" y="465"/>
                </a:lnTo>
                <a:close/>
              </a:path>
            </a:pathLst>
          </a:custGeom>
          <a:pattFill prst="ltVert">
            <a:fgClr>
              <a:srgbClr val="000000"/>
            </a:fgClr>
            <a:bgClr>
              <a:srgbClr val="FFFF99"/>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14" name="Group 4"/>
          <p:cNvGrpSpPr>
            <a:grpSpLocks/>
          </p:cNvGrpSpPr>
          <p:nvPr/>
        </p:nvGrpSpPr>
        <p:grpSpPr bwMode="auto">
          <a:xfrm>
            <a:off x="7664301" y="676468"/>
            <a:ext cx="3952875" cy="2041525"/>
            <a:chOff x="3134" y="73"/>
            <a:chExt cx="2490" cy="1286"/>
          </a:xfrm>
        </p:grpSpPr>
        <p:sp>
          <p:nvSpPr>
            <p:cNvPr id="115" name="Text Box 5"/>
            <p:cNvSpPr txBox="1">
              <a:spLocks noChangeAspect="1" noChangeArrowheads="1"/>
            </p:cNvSpPr>
            <p:nvPr/>
          </p:nvSpPr>
          <p:spPr bwMode="auto">
            <a:xfrm>
              <a:off x="3778" y="726"/>
              <a:ext cx="184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E</a:t>
              </a:r>
            </a:p>
          </p:txBody>
        </p:sp>
        <p:sp>
          <p:nvSpPr>
            <p:cNvPr id="116" name="Text Box 6"/>
            <p:cNvSpPr txBox="1">
              <a:spLocks noChangeAspect="1" noChangeArrowheads="1"/>
            </p:cNvSpPr>
            <p:nvPr/>
          </p:nvSpPr>
          <p:spPr bwMode="auto">
            <a:xfrm>
              <a:off x="3472" y="1052"/>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117" name="Text Box 7"/>
            <p:cNvSpPr txBox="1">
              <a:spLocks noChangeAspect="1" noChangeArrowheads="1"/>
            </p:cNvSpPr>
            <p:nvPr/>
          </p:nvSpPr>
          <p:spPr bwMode="auto">
            <a:xfrm>
              <a:off x="3278" y="341"/>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122" name="Text Box 8"/>
            <p:cNvSpPr txBox="1">
              <a:spLocks noChangeAspect="1" noChangeArrowheads="1"/>
            </p:cNvSpPr>
            <p:nvPr/>
          </p:nvSpPr>
          <p:spPr bwMode="auto">
            <a:xfrm>
              <a:off x="3769" y="73"/>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23" name="Line 9"/>
            <p:cNvSpPr>
              <a:spLocks noChangeAspect="1" noChangeShapeType="1"/>
            </p:cNvSpPr>
            <p:nvPr/>
          </p:nvSpPr>
          <p:spPr bwMode="auto">
            <a:xfrm flipV="1">
              <a:off x="3381" y="781"/>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6" name="Text Box 10"/>
            <p:cNvSpPr txBox="1">
              <a:spLocks noChangeAspect="1" noChangeArrowheads="1"/>
            </p:cNvSpPr>
            <p:nvPr/>
          </p:nvSpPr>
          <p:spPr bwMode="auto">
            <a:xfrm>
              <a:off x="3134" y="666"/>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127" name="Group 11"/>
            <p:cNvGrpSpPr>
              <a:grpSpLocks/>
            </p:cNvGrpSpPr>
            <p:nvPr/>
          </p:nvGrpSpPr>
          <p:grpSpPr bwMode="auto">
            <a:xfrm>
              <a:off x="4265" y="512"/>
              <a:ext cx="282" cy="458"/>
              <a:chOff x="4310" y="298"/>
              <a:chExt cx="282" cy="458"/>
            </a:xfrm>
          </p:grpSpPr>
          <p:sp>
            <p:nvSpPr>
              <p:cNvPr id="159" name="Line 12"/>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0" name="Line 13"/>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1" name="Line 14"/>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8" name="Line 15"/>
            <p:cNvSpPr>
              <a:spLocks noChangeAspect="1" noChangeShapeType="1"/>
            </p:cNvSpPr>
            <p:nvPr/>
          </p:nvSpPr>
          <p:spPr bwMode="auto">
            <a:xfrm>
              <a:off x="3890"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9" name="Line 16"/>
            <p:cNvSpPr>
              <a:spLocks noChangeAspect="1" noChangeShapeType="1"/>
            </p:cNvSpPr>
            <p:nvPr/>
          </p:nvSpPr>
          <p:spPr bwMode="auto">
            <a:xfrm>
              <a:off x="33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0" name="Line 17"/>
            <p:cNvSpPr>
              <a:spLocks noChangeAspect="1" noChangeShapeType="1"/>
            </p:cNvSpPr>
            <p:nvPr/>
          </p:nvSpPr>
          <p:spPr bwMode="auto">
            <a:xfrm>
              <a:off x="3899"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1" name="Line 18"/>
            <p:cNvSpPr>
              <a:spLocks noChangeAspect="1" noChangeShapeType="1"/>
            </p:cNvSpPr>
            <p:nvPr/>
          </p:nvSpPr>
          <p:spPr bwMode="auto">
            <a:xfrm>
              <a:off x="4398"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2" name="Line 19"/>
            <p:cNvSpPr>
              <a:spLocks noChangeAspect="1" noChangeShapeType="1"/>
            </p:cNvSpPr>
            <p:nvPr/>
          </p:nvSpPr>
          <p:spPr bwMode="auto">
            <a:xfrm>
              <a:off x="48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3" name="Line 20"/>
            <p:cNvSpPr>
              <a:spLocks noChangeAspect="1" noChangeShapeType="1"/>
            </p:cNvSpPr>
            <p:nvPr/>
          </p:nvSpPr>
          <p:spPr bwMode="auto">
            <a:xfrm>
              <a:off x="5396" y="1106"/>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4" name="Line 21"/>
            <p:cNvSpPr>
              <a:spLocks noChangeAspect="1" noChangeShapeType="1"/>
            </p:cNvSpPr>
            <p:nvPr/>
          </p:nvSpPr>
          <p:spPr bwMode="auto">
            <a:xfrm>
              <a:off x="3393" y="1283"/>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5" name="Line 22"/>
            <p:cNvSpPr>
              <a:spLocks noChangeAspect="1" noChangeShapeType="1"/>
            </p:cNvSpPr>
            <p:nvPr/>
          </p:nvSpPr>
          <p:spPr bwMode="auto">
            <a:xfrm flipV="1">
              <a:off x="3898" y="1283"/>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6" name="Line 23"/>
            <p:cNvSpPr>
              <a:spLocks noChangeAspect="1" noChangeShapeType="1"/>
            </p:cNvSpPr>
            <p:nvPr/>
          </p:nvSpPr>
          <p:spPr bwMode="auto">
            <a:xfrm>
              <a:off x="4398" y="1283"/>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7" name="Line 24"/>
            <p:cNvSpPr>
              <a:spLocks noChangeAspect="1" noChangeShapeType="1"/>
            </p:cNvSpPr>
            <p:nvPr/>
          </p:nvSpPr>
          <p:spPr bwMode="auto">
            <a:xfrm>
              <a:off x="4892" y="1283"/>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39" name="Group 25"/>
            <p:cNvGrpSpPr>
              <a:grpSpLocks/>
            </p:cNvGrpSpPr>
            <p:nvPr/>
          </p:nvGrpSpPr>
          <p:grpSpPr bwMode="auto">
            <a:xfrm>
              <a:off x="3397" y="581"/>
              <a:ext cx="1000" cy="193"/>
              <a:chOff x="4840" y="327"/>
              <a:chExt cx="796" cy="193"/>
            </a:xfrm>
          </p:grpSpPr>
          <p:sp>
            <p:nvSpPr>
              <p:cNvPr id="152" name="Line 26"/>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3" name="Line 27"/>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4" name="Line 28"/>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5" name="Line 29"/>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6" name="Line 30"/>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7" name="Line 31"/>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8" name="Line 32"/>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40" name="Text Box 33"/>
            <p:cNvSpPr txBox="1">
              <a:spLocks noChangeAspect="1" noChangeArrowheads="1"/>
            </p:cNvSpPr>
            <p:nvPr/>
          </p:nvSpPr>
          <p:spPr bwMode="auto">
            <a:xfrm>
              <a:off x="4950" y="1050"/>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3m</a:t>
              </a:r>
            </a:p>
          </p:txBody>
        </p:sp>
        <p:sp>
          <p:nvSpPr>
            <p:cNvPr id="149" name="Rectangle 34"/>
            <p:cNvSpPr>
              <a:spLocks noChangeArrowheads="1"/>
            </p:cNvSpPr>
            <p:nvPr/>
          </p:nvSpPr>
          <p:spPr bwMode="auto">
            <a:xfrm>
              <a:off x="4052" y="262"/>
              <a:ext cx="7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10kN·m</a:t>
              </a:r>
            </a:p>
          </p:txBody>
        </p:sp>
        <p:sp>
          <p:nvSpPr>
            <p:cNvPr id="150" name="Text Box 35"/>
            <p:cNvSpPr txBox="1">
              <a:spLocks noChangeAspect="1" noChangeArrowheads="1"/>
            </p:cNvSpPr>
            <p:nvPr/>
          </p:nvSpPr>
          <p:spPr bwMode="auto">
            <a:xfrm>
              <a:off x="4998" y="96"/>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51" name="Line 36"/>
            <p:cNvSpPr>
              <a:spLocks noChangeAspect="1" noChangeShapeType="1"/>
            </p:cNvSpPr>
            <p:nvPr/>
          </p:nvSpPr>
          <p:spPr bwMode="auto">
            <a:xfrm>
              <a:off x="5391"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62" name="Text Box 38"/>
          <p:cNvSpPr txBox="1">
            <a:spLocks noChangeAspect="1" noChangeArrowheads="1"/>
          </p:cNvSpPr>
          <p:nvPr/>
        </p:nvSpPr>
        <p:spPr bwMode="auto">
          <a:xfrm>
            <a:off x="10388451" y="2502093"/>
            <a:ext cx="5191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63" name="Text Box 39"/>
          <p:cNvSpPr txBox="1">
            <a:spLocks noChangeAspect="1" noChangeArrowheads="1"/>
          </p:cNvSpPr>
          <p:nvPr/>
        </p:nvSpPr>
        <p:spPr bwMode="auto">
          <a:xfrm>
            <a:off x="7707163" y="2419543"/>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64" name="Group 40"/>
          <p:cNvGrpSpPr>
            <a:grpSpLocks noChangeAspect="1"/>
          </p:cNvGrpSpPr>
          <p:nvPr/>
        </p:nvGrpSpPr>
        <p:grpSpPr bwMode="auto">
          <a:xfrm>
            <a:off x="7884963" y="1759143"/>
            <a:ext cx="371475" cy="392112"/>
            <a:chOff x="1686" y="3521"/>
            <a:chExt cx="313" cy="330"/>
          </a:xfrm>
        </p:grpSpPr>
        <p:sp>
          <p:nvSpPr>
            <p:cNvPr id="165" name="AutoShape 41"/>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66" name="Rectangle 42"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7" name="Line 43"/>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8" name="Oval 44"/>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69" name="Group 45"/>
          <p:cNvGrpSpPr>
            <a:grpSpLocks noChangeAspect="1"/>
          </p:cNvGrpSpPr>
          <p:nvPr/>
        </p:nvGrpSpPr>
        <p:grpSpPr bwMode="auto">
          <a:xfrm>
            <a:off x="10275738" y="1795655"/>
            <a:ext cx="371475" cy="427038"/>
            <a:chOff x="3499" y="3511"/>
            <a:chExt cx="311" cy="358"/>
          </a:xfrm>
        </p:grpSpPr>
        <p:sp>
          <p:nvSpPr>
            <p:cNvPr id="170" name="Line 46"/>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2" name="Rectangle 47"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3" name="Line 48"/>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4" name="Oval 49"/>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5" name="Oval 50"/>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76" name="Line 51"/>
          <p:cNvSpPr>
            <a:spLocks noChangeAspect="1" noChangeShapeType="1"/>
          </p:cNvSpPr>
          <p:nvPr/>
        </p:nvSpPr>
        <p:spPr bwMode="auto">
          <a:xfrm flipV="1">
            <a:off x="8073876" y="1860743"/>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3" name="Line 52"/>
          <p:cNvSpPr>
            <a:spLocks noChangeAspect="1" noChangeShapeType="1"/>
          </p:cNvSpPr>
          <p:nvPr/>
        </p:nvSpPr>
        <p:spPr bwMode="auto">
          <a:xfrm flipV="1">
            <a:off x="10458301" y="1894080"/>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4" name="Text Box 104"/>
          <p:cNvSpPr txBox="1">
            <a:spLocks noChangeAspect="1" noChangeArrowheads="1"/>
          </p:cNvSpPr>
          <p:nvPr/>
        </p:nvSpPr>
        <p:spPr bwMode="auto">
          <a:xfrm flipH="1">
            <a:off x="11091713" y="5960260"/>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5" name="Line 105"/>
          <p:cNvSpPr>
            <a:spLocks noChangeShapeType="1"/>
          </p:cNvSpPr>
          <p:nvPr/>
        </p:nvSpPr>
        <p:spPr bwMode="auto">
          <a:xfrm rot="16200000">
            <a:off x="7488882" y="5462579"/>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6" name="Text Box 106"/>
          <p:cNvSpPr txBox="1">
            <a:spLocks noChangeAspect="1" noChangeArrowheads="1"/>
          </p:cNvSpPr>
          <p:nvPr/>
        </p:nvSpPr>
        <p:spPr bwMode="auto">
          <a:xfrm flipH="1">
            <a:off x="7551588" y="4337835"/>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CC00FF"/>
                </a:solidFill>
                <a:ea typeface="宋体" panose="02010600030101010101" pitchFamily="2" charset="-122"/>
              </a:rPr>
              <a:t>M</a:t>
            </a:r>
            <a:r>
              <a:rPr lang="en-US" altLang="zh-CN" b="0" i="0" dirty="0">
                <a:solidFill>
                  <a:srgbClr val="CC00FF"/>
                </a:solidFill>
                <a:ea typeface="宋体" panose="02010600030101010101" pitchFamily="2" charset="-122"/>
              </a:rPr>
              <a:t>/</a:t>
            </a:r>
            <a:r>
              <a:rPr lang="en-US" altLang="zh-CN" b="0" i="0" dirty="0" err="1">
                <a:solidFill>
                  <a:srgbClr val="CC00FF"/>
                </a:solidFill>
                <a:ea typeface="宋体" panose="02010600030101010101" pitchFamily="2" charset="-122"/>
              </a:rPr>
              <a:t>kN·m</a:t>
            </a:r>
            <a:endParaRPr lang="en-US" altLang="zh-CN" b="0" i="0" dirty="0">
              <a:solidFill>
                <a:srgbClr val="CC00FF"/>
              </a:solidFill>
              <a:ea typeface="宋体" panose="02010600030101010101" pitchFamily="2" charset="-122"/>
            </a:endParaRPr>
          </a:p>
        </p:txBody>
      </p:sp>
      <p:sp>
        <p:nvSpPr>
          <p:cNvPr id="207" name="Text Box 107"/>
          <p:cNvSpPr txBox="1">
            <a:spLocks noChangeAspect="1" noChangeArrowheads="1"/>
          </p:cNvSpPr>
          <p:nvPr/>
        </p:nvSpPr>
        <p:spPr bwMode="auto">
          <a:xfrm flipH="1">
            <a:off x="11015513" y="403958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8" name="Line 108"/>
          <p:cNvSpPr>
            <a:spLocks noChangeShapeType="1"/>
          </p:cNvSpPr>
          <p:nvPr/>
        </p:nvSpPr>
        <p:spPr bwMode="auto">
          <a:xfrm rot="16200000">
            <a:off x="7554763" y="3668111"/>
            <a:ext cx="105727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9" name="Text Box 109"/>
          <p:cNvSpPr txBox="1">
            <a:spLocks noChangeAspect="1" noChangeArrowheads="1"/>
          </p:cNvSpPr>
          <p:nvPr/>
        </p:nvSpPr>
        <p:spPr bwMode="auto">
          <a:xfrm flipH="1">
            <a:off x="7648426" y="2721961"/>
            <a:ext cx="993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CC00FF"/>
                </a:solidFill>
                <a:ea typeface="宋体" panose="02010600030101010101" pitchFamily="2" charset="-122"/>
              </a:rPr>
              <a:t>F</a:t>
            </a:r>
            <a:r>
              <a:rPr lang="en-US" altLang="zh-CN" b="0" i="0" baseline="-25000" dirty="0">
                <a:solidFill>
                  <a:srgbClr val="CC00FF"/>
                </a:solidFill>
                <a:ea typeface="宋体" panose="02010600030101010101" pitchFamily="2" charset="-122"/>
              </a:rPr>
              <a:t>Q</a:t>
            </a:r>
            <a:r>
              <a:rPr lang="en-US" altLang="zh-CN" b="0" i="0" dirty="0">
                <a:solidFill>
                  <a:srgbClr val="CC00FF"/>
                </a:solidFill>
                <a:ea typeface="宋体" panose="02010600030101010101" pitchFamily="2" charset="-122"/>
              </a:rPr>
              <a:t>/</a:t>
            </a:r>
            <a:r>
              <a:rPr lang="en-US" altLang="zh-CN" b="0" i="0" dirty="0" err="1">
                <a:solidFill>
                  <a:srgbClr val="CC00FF"/>
                </a:solidFill>
                <a:ea typeface="宋体" panose="02010600030101010101" pitchFamily="2" charset="-122"/>
              </a:rPr>
              <a:t>kN</a:t>
            </a:r>
            <a:endParaRPr lang="en-US" altLang="zh-CN" b="0" i="0" dirty="0">
              <a:solidFill>
                <a:srgbClr val="CC00FF"/>
              </a:solidFill>
              <a:ea typeface="宋体" panose="02010600030101010101" pitchFamily="2" charset="-122"/>
            </a:endParaRPr>
          </a:p>
        </p:txBody>
      </p:sp>
      <p:sp>
        <p:nvSpPr>
          <p:cNvPr id="210" name="Text Box 110"/>
          <p:cNvSpPr txBox="1">
            <a:spLocks noChangeAspect="1" noChangeArrowheads="1"/>
          </p:cNvSpPr>
          <p:nvPr/>
        </p:nvSpPr>
        <p:spPr bwMode="auto">
          <a:xfrm>
            <a:off x="7757963" y="3971323"/>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11" name="Text Box 111"/>
          <p:cNvSpPr txBox="1">
            <a:spLocks noChangeAspect="1" noChangeArrowheads="1"/>
          </p:cNvSpPr>
          <p:nvPr/>
        </p:nvSpPr>
        <p:spPr bwMode="auto">
          <a:xfrm>
            <a:off x="7669063" y="5749123"/>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12" name="Line 112"/>
          <p:cNvSpPr>
            <a:spLocks noChangeShapeType="1"/>
          </p:cNvSpPr>
          <p:nvPr/>
        </p:nvSpPr>
        <p:spPr bwMode="auto">
          <a:xfrm>
            <a:off x="8058001" y="4158648"/>
            <a:ext cx="354806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13" name="Line 113"/>
          <p:cNvSpPr>
            <a:spLocks noChangeShapeType="1"/>
          </p:cNvSpPr>
          <p:nvPr/>
        </p:nvSpPr>
        <p:spPr bwMode="auto">
          <a:xfrm>
            <a:off x="8040538" y="6039635"/>
            <a:ext cx="356552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14" name="Text Box 114"/>
          <p:cNvSpPr txBox="1">
            <a:spLocks noChangeAspect="1" noChangeArrowheads="1"/>
          </p:cNvSpPr>
          <p:nvPr/>
        </p:nvSpPr>
        <p:spPr bwMode="auto">
          <a:xfrm>
            <a:off x="7781776" y="31648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7</a:t>
            </a:r>
          </a:p>
        </p:txBody>
      </p:sp>
      <p:sp>
        <p:nvSpPr>
          <p:cNvPr id="215" name="Text Box 115"/>
          <p:cNvSpPr txBox="1">
            <a:spLocks noChangeAspect="1" noChangeArrowheads="1"/>
          </p:cNvSpPr>
          <p:nvPr/>
        </p:nvSpPr>
        <p:spPr bwMode="auto">
          <a:xfrm>
            <a:off x="8727926" y="342681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216" name="Text Box 116"/>
          <p:cNvSpPr txBox="1">
            <a:spLocks noChangeAspect="1" noChangeArrowheads="1"/>
          </p:cNvSpPr>
          <p:nvPr/>
        </p:nvSpPr>
        <p:spPr bwMode="auto">
          <a:xfrm>
            <a:off x="8827938" y="3690336"/>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a:t>
            </a:r>
          </a:p>
        </p:txBody>
      </p:sp>
      <p:sp>
        <p:nvSpPr>
          <p:cNvPr id="217" name="Text Box 117"/>
          <p:cNvSpPr txBox="1">
            <a:spLocks noChangeAspect="1" noChangeArrowheads="1"/>
          </p:cNvSpPr>
          <p:nvPr/>
        </p:nvSpPr>
        <p:spPr bwMode="auto">
          <a:xfrm>
            <a:off x="9150052" y="4160228"/>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3</a:t>
            </a:r>
          </a:p>
        </p:txBody>
      </p:sp>
      <p:sp>
        <p:nvSpPr>
          <p:cNvPr id="218" name="Text Box 118"/>
          <p:cNvSpPr txBox="1">
            <a:spLocks noChangeAspect="1" noChangeArrowheads="1"/>
          </p:cNvSpPr>
          <p:nvPr/>
        </p:nvSpPr>
        <p:spPr bwMode="auto">
          <a:xfrm>
            <a:off x="10259863" y="34315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a:t>
            </a:r>
          </a:p>
        </p:txBody>
      </p:sp>
      <p:sp>
        <p:nvSpPr>
          <p:cNvPr id="219" name="Oval 152"/>
          <p:cNvSpPr>
            <a:spLocks noChangeArrowheads="1"/>
          </p:cNvSpPr>
          <p:nvPr/>
        </p:nvSpPr>
        <p:spPr bwMode="auto">
          <a:xfrm>
            <a:off x="8042126" y="5999948"/>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0" name="Oval 154"/>
          <p:cNvSpPr>
            <a:spLocks noChangeArrowheads="1"/>
          </p:cNvSpPr>
          <p:nvPr/>
        </p:nvSpPr>
        <p:spPr bwMode="auto">
          <a:xfrm>
            <a:off x="8840638" y="4977598"/>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1" name="Text Box 155"/>
          <p:cNvSpPr txBox="1">
            <a:spLocks noChangeAspect="1" noChangeArrowheads="1"/>
          </p:cNvSpPr>
          <p:nvPr/>
        </p:nvSpPr>
        <p:spPr bwMode="auto">
          <a:xfrm>
            <a:off x="8526313" y="4580723"/>
            <a:ext cx="6238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20</a:t>
            </a:r>
          </a:p>
        </p:txBody>
      </p:sp>
      <p:sp>
        <p:nvSpPr>
          <p:cNvPr id="222" name="Text Box 157"/>
          <p:cNvSpPr txBox="1">
            <a:spLocks noChangeAspect="1" noChangeArrowheads="1"/>
          </p:cNvSpPr>
          <p:nvPr/>
        </p:nvSpPr>
        <p:spPr bwMode="auto">
          <a:xfrm>
            <a:off x="9548663" y="4661685"/>
            <a:ext cx="6381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16</a:t>
            </a:r>
          </a:p>
        </p:txBody>
      </p:sp>
      <p:sp>
        <p:nvSpPr>
          <p:cNvPr id="223" name="Text Box 159"/>
          <p:cNvSpPr txBox="1">
            <a:spLocks noChangeAspect="1" noChangeArrowheads="1"/>
          </p:cNvSpPr>
          <p:nvPr/>
        </p:nvSpPr>
        <p:spPr bwMode="auto">
          <a:xfrm>
            <a:off x="9667726" y="53617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6</a:t>
            </a:r>
          </a:p>
        </p:txBody>
      </p:sp>
      <p:sp>
        <p:nvSpPr>
          <p:cNvPr id="224" name="Text Box 162"/>
          <p:cNvSpPr txBox="1">
            <a:spLocks noChangeAspect="1" noChangeArrowheads="1"/>
          </p:cNvSpPr>
          <p:nvPr/>
        </p:nvSpPr>
        <p:spPr bwMode="auto">
          <a:xfrm>
            <a:off x="10405913" y="4350736"/>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225" name="Line 163"/>
          <p:cNvSpPr>
            <a:spLocks noChangeShapeType="1"/>
          </p:cNvSpPr>
          <p:nvPr/>
        </p:nvSpPr>
        <p:spPr bwMode="auto">
          <a:xfrm flipV="1">
            <a:off x="8084988" y="3434748"/>
            <a:ext cx="0" cy="7254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6" name="Line 164"/>
          <p:cNvSpPr>
            <a:spLocks noChangeShapeType="1"/>
          </p:cNvSpPr>
          <p:nvPr/>
        </p:nvSpPr>
        <p:spPr bwMode="auto">
          <a:xfrm>
            <a:off x="8096101" y="3433161"/>
            <a:ext cx="766762"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7" name="Line 165"/>
          <p:cNvSpPr>
            <a:spLocks noChangeShapeType="1"/>
          </p:cNvSpPr>
          <p:nvPr/>
        </p:nvSpPr>
        <p:spPr bwMode="auto">
          <a:xfrm>
            <a:off x="8870801" y="3837973"/>
            <a:ext cx="0" cy="214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8" name="Oval 166"/>
          <p:cNvSpPr>
            <a:spLocks noChangeArrowheads="1"/>
          </p:cNvSpPr>
          <p:nvPr/>
        </p:nvSpPr>
        <p:spPr bwMode="auto">
          <a:xfrm>
            <a:off x="8835876" y="3780823"/>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9" name="Line 167"/>
          <p:cNvSpPr>
            <a:spLocks noChangeShapeType="1"/>
          </p:cNvSpPr>
          <p:nvPr/>
        </p:nvSpPr>
        <p:spPr bwMode="auto">
          <a:xfrm>
            <a:off x="8875563" y="4052286"/>
            <a:ext cx="766763"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0" name="Line 168"/>
          <p:cNvSpPr>
            <a:spLocks noChangeShapeType="1"/>
          </p:cNvSpPr>
          <p:nvPr/>
        </p:nvSpPr>
        <p:spPr bwMode="auto">
          <a:xfrm>
            <a:off x="9642326" y="4438048"/>
            <a:ext cx="8318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1" name="Line 169"/>
          <p:cNvSpPr>
            <a:spLocks noChangeShapeType="1"/>
          </p:cNvSpPr>
          <p:nvPr/>
        </p:nvSpPr>
        <p:spPr bwMode="auto">
          <a:xfrm flipV="1">
            <a:off x="10475763" y="3918936"/>
            <a:ext cx="0" cy="52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2" name="Line 170"/>
          <p:cNvSpPr>
            <a:spLocks noChangeShapeType="1"/>
          </p:cNvSpPr>
          <p:nvPr/>
        </p:nvSpPr>
        <p:spPr bwMode="auto">
          <a:xfrm>
            <a:off x="10464651" y="3918936"/>
            <a:ext cx="8207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3" name="Line 171"/>
          <p:cNvSpPr>
            <a:spLocks noChangeShapeType="1"/>
          </p:cNvSpPr>
          <p:nvPr/>
        </p:nvSpPr>
        <p:spPr bwMode="auto">
          <a:xfrm>
            <a:off x="11275863" y="3931636"/>
            <a:ext cx="0" cy="214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4" name="Oval 172"/>
          <p:cNvSpPr>
            <a:spLocks noChangeArrowheads="1"/>
          </p:cNvSpPr>
          <p:nvPr/>
        </p:nvSpPr>
        <p:spPr bwMode="auto">
          <a:xfrm>
            <a:off x="10436076" y="3879248"/>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5" name="Oval 173"/>
          <p:cNvSpPr>
            <a:spLocks noChangeArrowheads="1"/>
          </p:cNvSpPr>
          <p:nvPr/>
        </p:nvSpPr>
        <p:spPr bwMode="auto">
          <a:xfrm>
            <a:off x="11239351" y="3874486"/>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6" name="Oval 174"/>
          <p:cNvSpPr>
            <a:spLocks noChangeArrowheads="1"/>
          </p:cNvSpPr>
          <p:nvPr/>
        </p:nvSpPr>
        <p:spPr bwMode="auto">
          <a:xfrm>
            <a:off x="10437663" y="4399948"/>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7" name="Oval 175"/>
          <p:cNvSpPr>
            <a:spLocks noChangeArrowheads="1"/>
          </p:cNvSpPr>
          <p:nvPr/>
        </p:nvSpPr>
        <p:spPr bwMode="auto">
          <a:xfrm>
            <a:off x="9608988" y="4401536"/>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8" name="Oval 176"/>
          <p:cNvSpPr>
            <a:spLocks noChangeArrowheads="1"/>
          </p:cNvSpPr>
          <p:nvPr/>
        </p:nvSpPr>
        <p:spPr bwMode="auto">
          <a:xfrm>
            <a:off x="8832701" y="4004661"/>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9" name="Oval 177"/>
          <p:cNvSpPr>
            <a:spLocks noChangeArrowheads="1"/>
          </p:cNvSpPr>
          <p:nvPr/>
        </p:nvSpPr>
        <p:spPr bwMode="auto">
          <a:xfrm>
            <a:off x="8056413" y="3398236"/>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240" name="Group 178"/>
          <p:cNvGrpSpPr>
            <a:grpSpLocks/>
          </p:cNvGrpSpPr>
          <p:nvPr/>
        </p:nvGrpSpPr>
        <p:grpSpPr bwMode="auto">
          <a:xfrm>
            <a:off x="8167538" y="3614136"/>
            <a:ext cx="592138" cy="523875"/>
            <a:chOff x="3767" y="1607"/>
            <a:chExt cx="373" cy="330"/>
          </a:xfrm>
        </p:grpSpPr>
        <p:sp>
          <p:nvSpPr>
            <p:cNvPr id="241" name="Oval 179"/>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2" name="Text Box 180"/>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43" name="Group 181"/>
          <p:cNvGrpSpPr>
            <a:grpSpLocks/>
          </p:cNvGrpSpPr>
          <p:nvPr/>
        </p:nvGrpSpPr>
        <p:grpSpPr bwMode="auto">
          <a:xfrm>
            <a:off x="9783613" y="4063398"/>
            <a:ext cx="569913" cy="441325"/>
            <a:chOff x="4503" y="2280"/>
            <a:chExt cx="269" cy="231"/>
          </a:xfrm>
        </p:grpSpPr>
        <p:sp>
          <p:nvSpPr>
            <p:cNvPr id="244" name="Oval 182"/>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5" name="Text Box 183"/>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46" name="Group 184"/>
          <p:cNvGrpSpPr>
            <a:grpSpLocks/>
          </p:cNvGrpSpPr>
          <p:nvPr/>
        </p:nvGrpSpPr>
        <p:grpSpPr bwMode="auto">
          <a:xfrm>
            <a:off x="10640863" y="3814161"/>
            <a:ext cx="498475" cy="441325"/>
            <a:chOff x="3767" y="1607"/>
            <a:chExt cx="373" cy="330"/>
          </a:xfrm>
        </p:grpSpPr>
        <p:sp>
          <p:nvSpPr>
            <p:cNvPr id="247" name="Oval 185"/>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8" name="Text Box 186"/>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95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sp>
        <p:nvSpPr>
          <p:cNvPr id="249" name="Line 193"/>
          <p:cNvSpPr>
            <a:spLocks noChangeAspect="1" noChangeShapeType="1"/>
          </p:cNvSpPr>
          <p:nvPr/>
        </p:nvSpPr>
        <p:spPr bwMode="auto">
          <a:xfrm>
            <a:off x="8881913" y="2760061"/>
            <a:ext cx="192088" cy="0"/>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0" name="Line 194"/>
          <p:cNvSpPr>
            <a:spLocks noChangeAspect="1" noChangeShapeType="1"/>
          </p:cNvSpPr>
          <p:nvPr/>
        </p:nvSpPr>
        <p:spPr bwMode="auto">
          <a:xfrm flipV="1">
            <a:off x="9072413" y="1767080"/>
            <a:ext cx="0" cy="3605213"/>
          </a:xfrm>
          <a:prstGeom prst="line">
            <a:avLst/>
          </a:prstGeom>
          <a:noFill/>
          <a:ln w="12700">
            <a:solidFill>
              <a:srgbClr val="000000"/>
            </a:solidFill>
            <a:prstDash val="lg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1" name="Text Box 195"/>
          <p:cNvSpPr txBox="1">
            <a:spLocks noChangeAspect="1" noChangeArrowheads="1"/>
          </p:cNvSpPr>
          <p:nvPr/>
        </p:nvSpPr>
        <p:spPr bwMode="auto">
          <a:xfrm>
            <a:off x="8785767" y="2635444"/>
            <a:ext cx="401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ea typeface="宋体" panose="02010600030101010101" pitchFamily="2" charset="-122"/>
              </a:rPr>
              <a:t>x</a:t>
            </a:r>
            <a:endParaRPr lang="en-US" altLang="zh-CN" b="0" i="0" dirty="0">
              <a:solidFill>
                <a:srgbClr val="000000"/>
              </a:solidFill>
              <a:ea typeface="宋体" panose="02010600030101010101" pitchFamily="2" charset="-122"/>
            </a:endParaRPr>
          </a:p>
        </p:txBody>
      </p:sp>
      <p:sp>
        <p:nvSpPr>
          <p:cNvPr id="252" name="Line 196"/>
          <p:cNvSpPr>
            <a:spLocks noChangeAspect="1" noChangeShapeType="1"/>
          </p:cNvSpPr>
          <p:nvPr/>
        </p:nvSpPr>
        <p:spPr bwMode="auto">
          <a:xfrm flipV="1">
            <a:off x="8885088" y="2600518"/>
            <a:ext cx="0" cy="4048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3" name="Text Box 197"/>
          <p:cNvSpPr txBox="1">
            <a:spLocks noChangeAspect="1" noChangeArrowheads="1"/>
          </p:cNvSpPr>
          <p:nvPr/>
        </p:nvSpPr>
        <p:spPr bwMode="auto">
          <a:xfrm>
            <a:off x="8952243" y="1717868"/>
            <a:ext cx="40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000000"/>
                </a:solidFill>
                <a:ea typeface="宋体" panose="02010600030101010101" pitchFamily="2" charset="-122"/>
              </a:rPr>
              <a:t>H</a:t>
            </a:r>
            <a:endParaRPr lang="en-US" altLang="zh-CN" b="0" i="0">
              <a:solidFill>
                <a:srgbClr val="000000"/>
              </a:solidFill>
              <a:ea typeface="宋体" panose="02010600030101010101" pitchFamily="2" charset="-122"/>
            </a:endParaRPr>
          </a:p>
        </p:txBody>
      </p:sp>
      <p:sp>
        <p:nvSpPr>
          <p:cNvPr id="254" name="AutoShape 199" descr="5%"/>
          <p:cNvSpPr>
            <a:spLocks noChangeAspect="1" noChangeArrowheads="1"/>
          </p:cNvSpPr>
          <p:nvPr/>
        </p:nvSpPr>
        <p:spPr bwMode="auto">
          <a:xfrm rot="10800000" flipH="1">
            <a:off x="9064476" y="1082868"/>
            <a:ext cx="2147887" cy="698500"/>
          </a:xfrm>
          <a:prstGeom prst="foldedCorner">
            <a:avLst>
              <a:gd name="adj" fmla="val 28259"/>
            </a:avLst>
          </a:prstGeom>
          <a:pattFill prst="pct5">
            <a:fgClr>
              <a:srgbClr val="000000"/>
            </a:fgClr>
            <a:bgClr>
              <a:srgbClr val="FF3399"/>
            </a:bgClr>
          </a:pattFill>
          <a:ln w="9525">
            <a:solidFill>
              <a:srgbClr val="80808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55" name="Text Box 201"/>
          <p:cNvSpPr txBox="1">
            <a:spLocks noChangeAspect="1" noChangeArrowheads="1"/>
          </p:cNvSpPr>
          <p:nvPr/>
        </p:nvSpPr>
        <p:spPr bwMode="auto">
          <a:xfrm>
            <a:off x="8956526" y="4510272"/>
            <a:ext cx="8921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20.5</a:t>
            </a:r>
          </a:p>
        </p:txBody>
      </p:sp>
      <p:sp>
        <p:nvSpPr>
          <p:cNvPr id="256" name="Oval 202"/>
          <p:cNvSpPr>
            <a:spLocks noChangeArrowheads="1"/>
          </p:cNvSpPr>
          <p:nvPr/>
        </p:nvSpPr>
        <p:spPr bwMode="auto">
          <a:xfrm>
            <a:off x="9037488" y="4955373"/>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57" name="Line 203"/>
          <p:cNvSpPr>
            <a:spLocks noChangeShapeType="1"/>
          </p:cNvSpPr>
          <p:nvPr/>
        </p:nvSpPr>
        <p:spPr bwMode="auto">
          <a:xfrm>
            <a:off x="9675663" y="5222073"/>
            <a:ext cx="0" cy="5048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8" name="Line 204"/>
          <p:cNvSpPr>
            <a:spLocks noChangeShapeType="1"/>
          </p:cNvSpPr>
          <p:nvPr/>
        </p:nvSpPr>
        <p:spPr bwMode="auto">
          <a:xfrm>
            <a:off x="9674076" y="5701498"/>
            <a:ext cx="858837" cy="6540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9" name="Line 205"/>
          <p:cNvSpPr>
            <a:spLocks noChangeShapeType="1"/>
          </p:cNvSpPr>
          <p:nvPr/>
        </p:nvSpPr>
        <p:spPr bwMode="auto">
          <a:xfrm flipV="1">
            <a:off x="10548788" y="6036460"/>
            <a:ext cx="858838" cy="3127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60" name="Oval 160"/>
          <p:cNvSpPr>
            <a:spLocks noChangeArrowheads="1"/>
          </p:cNvSpPr>
          <p:nvPr/>
        </p:nvSpPr>
        <p:spPr bwMode="auto">
          <a:xfrm>
            <a:off x="9643913" y="5666573"/>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1" name="Oval 158"/>
          <p:cNvSpPr>
            <a:spLocks noChangeArrowheads="1"/>
          </p:cNvSpPr>
          <p:nvPr/>
        </p:nvSpPr>
        <p:spPr bwMode="auto">
          <a:xfrm>
            <a:off x="10497988" y="6312685"/>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2" name="Oval 153"/>
          <p:cNvSpPr>
            <a:spLocks noChangeArrowheads="1"/>
          </p:cNvSpPr>
          <p:nvPr/>
        </p:nvSpPr>
        <p:spPr bwMode="auto">
          <a:xfrm>
            <a:off x="11339363" y="6012648"/>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3" name="Oval 156"/>
          <p:cNvSpPr>
            <a:spLocks noChangeArrowheads="1"/>
          </p:cNvSpPr>
          <p:nvPr/>
        </p:nvSpPr>
        <p:spPr bwMode="auto">
          <a:xfrm>
            <a:off x="9637563" y="5195085"/>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264" name="Group 207"/>
          <p:cNvGrpSpPr>
            <a:grpSpLocks/>
          </p:cNvGrpSpPr>
          <p:nvPr/>
        </p:nvGrpSpPr>
        <p:grpSpPr bwMode="auto">
          <a:xfrm>
            <a:off x="8807301" y="5249060"/>
            <a:ext cx="592137" cy="523875"/>
            <a:chOff x="3767" y="1607"/>
            <a:chExt cx="373" cy="330"/>
          </a:xfrm>
        </p:grpSpPr>
        <p:sp>
          <p:nvSpPr>
            <p:cNvPr id="265" name="Oval 20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6" name="Text Box 20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67" name="Group 210"/>
          <p:cNvGrpSpPr>
            <a:grpSpLocks/>
          </p:cNvGrpSpPr>
          <p:nvPr/>
        </p:nvGrpSpPr>
        <p:grpSpPr bwMode="auto">
          <a:xfrm>
            <a:off x="10342413" y="5936448"/>
            <a:ext cx="569913" cy="441325"/>
            <a:chOff x="4503" y="2280"/>
            <a:chExt cx="269" cy="231"/>
          </a:xfrm>
        </p:grpSpPr>
        <p:sp>
          <p:nvSpPr>
            <p:cNvPr id="268" name="Oval 211"/>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9" name="Text Box 212"/>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sp>
        <p:nvSpPr>
          <p:cNvPr id="138" name="Text Box 159"/>
          <p:cNvSpPr txBox="1">
            <a:spLocks noChangeAspect="1" noChangeArrowheads="1"/>
          </p:cNvSpPr>
          <p:nvPr/>
        </p:nvSpPr>
        <p:spPr bwMode="auto">
          <a:xfrm>
            <a:off x="10941528" y="6147585"/>
            <a:ext cx="553409"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-6</a:t>
            </a:r>
          </a:p>
        </p:txBody>
      </p:sp>
    </p:spTree>
    <p:extLst>
      <p:ext uri="{BB962C8B-B14F-4D97-AF65-F5344CB8AC3E}">
        <p14:creationId xmlns:p14="http://schemas.microsoft.com/office/powerpoint/2010/main" val="23618407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up)">
                                      <p:cBhvr>
                                        <p:cTn id="7" dur="5000"/>
                                        <p:tgtEl>
                                          <p:spTgt spid="2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wipe(up)">
                                      <p:cBhvr>
                                        <p:cTn id="16" dur="5000"/>
                                        <p:tgtEl>
                                          <p:spTgt spid="20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9" presetClass="emph" presetSubtype="0" nodeType="withEffect">
                                  <p:stCondLst>
                                    <p:cond delay="0"/>
                                  </p:stCondLst>
                                  <p:childTnLst>
                                    <p:set>
                                      <p:cBhvr rctx="PPT">
                                        <p:cTn id="22" dur="indefinite"/>
                                        <p:tgtEl>
                                          <p:spTgt spid="169"/>
                                        </p:tgtEl>
                                        <p:attrNameLst>
                                          <p:attrName>style.opacity</p:attrName>
                                        </p:attrNameLst>
                                      </p:cBhvr>
                                      <p:to>
                                        <p:strVal val="0.5"/>
                                      </p:to>
                                    </p:set>
                                    <p:animEffect filter="image" prLst="opacity: 0.5">
                                      <p:cBhvr rctx="IE">
                                        <p:cTn id="23" dur="indefinite"/>
                                        <p:tgtEl>
                                          <p:spTgt spid="169"/>
                                        </p:tgtEl>
                                      </p:cBhvr>
                                    </p:animEffect>
                                  </p:childTnLst>
                                </p:cTn>
                              </p:par>
                              <p:par>
                                <p:cTn id="24" presetID="9" presetClass="emph" presetSubtype="0" nodeType="withEffect">
                                  <p:stCondLst>
                                    <p:cond delay="0"/>
                                  </p:stCondLst>
                                  <p:childTnLst>
                                    <p:set>
                                      <p:cBhvr rctx="PPT">
                                        <p:cTn id="25" dur="indefinite"/>
                                        <p:tgtEl>
                                          <p:spTgt spid="164"/>
                                        </p:tgtEl>
                                        <p:attrNameLst>
                                          <p:attrName>style.opacity</p:attrName>
                                        </p:attrNameLst>
                                      </p:cBhvr>
                                      <p:to>
                                        <p:strVal val="0.5"/>
                                      </p:to>
                                    </p:set>
                                    <p:animEffect filter="image" prLst="opacity: 0.5">
                                      <p:cBhvr rctx="IE">
                                        <p:cTn id="26" dur="indefinite"/>
                                        <p:tgtEl>
                                          <p:spTgt spid="16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250"/>
                                        </p:tgtEl>
                                        <p:attrNameLst>
                                          <p:attrName>style.visibility</p:attrName>
                                        </p:attrNameLst>
                                      </p:cBhvr>
                                      <p:to>
                                        <p:strVal val="visible"/>
                                      </p:to>
                                    </p:set>
                                    <p:animEffect transition="in" filter="barn(outHorizontal)">
                                      <p:cBhvr>
                                        <p:cTn id="31" dur="5000"/>
                                        <p:tgtEl>
                                          <p:spTgt spid="250"/>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par>
                                <p:cTn id="32" presetID="16" presetClass="entr" presetSubtype="42" fill="hold" grpId="0" nodeType="withEffect">
                                  <p:stCondLst>
                                    <p:cond delay="0"/>
                                  </p:stCondLst>
                                  <p:childTnLst>
                                    <p:set>
                                      <p:cBhvr>
                                        <p:cTn id="33" dur="1" fill="hold">
                                          <p:stCondLst>
                                            <p:cond delay="0"/>
                                          </p:stCondLst>
                                        </p:cTn>
                                        <p:tgtEl>
                                          <p:spTgt spid="252"/>
                                        </p:tgtEl>
                                        <p:attrNameLst>
                                          <p:attrName>style.visibility</p:attrName>
                                        </p:attrNameLst>
                                      </p:cBhvr>
                                      <p:to>
                                        <p:strVal val="visible"/>
                                      </p:to>
                                    </p:set>
                                    <p:animEffect transition="in" filter="barn(outHorizontal)">
                                      <p:cBhvr>
                                        <p:cTn id="34" dur="5000"/>
                                        <p:tgtEl>
                                          <p:spTgt spid="252"/>
                                        </p:tgtEl>
                                      </p:cBhvr>
                                    </p:animEffect>
                                  </p:childTnLst>
                                  <p:subTnLst>
                                    <p:audio>
                                      <p:cMediaNode>
                                        <p:cTn display="0" masterRel="sameClick">
                                          <p:stCondLst>
                                            <p:cond evt="begin" delay="0">
                                              <p:tn val="32"/>
                                            </p:cond>
                                          </p:stCondLst>
                                          <p:endCondLst>
                                            <p:cond evt="onStopAudio" delay="0">
                                              <p:tgtEl>
                                                <p:sldTgt/>
                                              </p:tgtEl>
                                            </p:cond>
                                          </p:endCondLst>
                                        </p:cTn>
                                        <p:tgtEl>
                                          <p:sndTgt r:embed="rId3" name="CHIMES.WAV"/>
                                        </p:tgtEl>
                                      </p:cMediaNode>
                                    </p:audio>
                                  </p:subTnLst>
                                </p:cTn>
                              </p:par>
                            </p:childTnLst>
                          </p:cTn>
                        </p:par>
                        <p:par>
                          <p:cTn id="35" fill="hold">
                            <p:stCondLst>
                              <p:cond delay="5000"/>
                            </p:stCondLst>
                            <p:childTnLst>
                              <p:par>
                                <p:cTn id="36" presetID="16" presetClass="entr" presetSubtype="37" fill="hold" grpId="0" nodeType="afterEffect">
                                  <p:stCondLst>
                                    <p:cond delay="1000"/>
                                  </p:stCondLst>
                                  <p:childTnLst>
                                    <p:set>
                                      <p:cBhvr>
                                        <p:cTn id="37" dur="1" fill="hold">
                                          <p:stCondLst>
                                            <p:cond delay="0"/>
                                          </p:stCondLst>
                                        </p:cTn>
                                        <p:tgtEl>
                                          <p:spTgt spid="249"/>
                                        </p:tgtEl>
                                        <p:attrNameLst>
                                          <p:attrName>style.visibility</p:attrName>
                                        </p:attrNameLst>
                                      </p:cBhvr>
                                      <p:to>
                                        <p:strVal val="visible"/>
                                      </p:to>
                                    </p:set>
                                    <p:animEffect transition="in" filter="barn(outVertical)">
                                      <p:cBhvr>
                                        <p:cTn id="38" dur="2000"/>
                                        <p:tgtEl>
                                          <p:spTgt spid="249"/>
                                        </p:tgtEl>
                                      </p:cBhvr>
                                    </p:animEffect>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par>
                                <p:cTn id="39" presetID="19" presetClass="entr" presetSubtype="10" fill="hold" grpId="0" nodeType="withEffect">
                                  <p:stCondLst>
                                    <p:cond delay="1000"/>
                                  </p:stCondLst>
                                  <p:iterate type="wd">
                                    <p:tmPct val="100000"/>
                                  </p:iterate>
                                  <p:childTnLst>
                                    <p:set>
                                      <p:cBhvr>
                                        <p:cTn id="40" dur="1" fill="hold">
                                          <p:stCondLst>
                                            <p:cond delay="0"/>
                                          </p:stCondLst>
                                        </p:cTn>
                                        <p:tgtEl>
                                          <p:spTgt spid="251"/>
                                        </p:tgtEl>
                                        <p:attrNameLst>
                                          <p:attrName>style.visibility</p:attrName>
                                        </p:attrNameLst>
                                      </p:cBhvr>
                                      <p:to>
                                        <p:strVal val="visible"/>
                                      </p:to>
                                    </p:set>
                                    <p:anim calcmode="lin" valueType="num">
                                      <p:cBhvr>
                                        <p:cTn id="41" dur="3000" fill="hold"/>
                                        <p:tgtEl>
                                          <p:spTgt spid="251"/>
                                        </p:tgtEl>
                                        <p:attrNameLst>
                                          <p:attrName>ppt_w</p:attrName>
                                        </p:attrNameLst>
                                      </p:cBhvr>
                                      <p:tavLst>
                                        <p:tav tm="0" fmla="#ppt_w*sin(2.5*pi*$)">
                                          <p:val>
                                            <p:fltVal val="0"/>
                                          </p:val>
                                        </p:tav>
                                        <p:tav tm="100000">
                                          <p:val>
                                            <p:fltVal val="1"/>
                                          </p:val>
                                        </p:tav>
                                      </p:tavLst>
                                    </p:anim>
                                    <p:anim calcmode="lin" valueType="num">
                                      <p:cBhvr>
                                        <p:cTn id="42" dur="3000" fill="hold"/>
                                        <p:tgtEl>
                                          <p:spTgt spid="2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childTnLst>
                          </p:cTn>
                        </p:par>
                        <p:par>
                          <p:cTn id="43" fill="hold">
                            <p:stCondLst>
                              <p:cond delay="9000"/>
                            </p:stCondLst>
                            <p:childTnLst>
                              <p:par>
                                <p:cTn id="44" presetID="19" presetClass="entr" presetSubtype="10" fill="hold" grpId="0" nodeType="afterEffect">
                                  <p:stCondLst>
                                    <p:cond delay="0"/>
                                  </p:stCondLst>
                                  <p:iterate type="wd">
                                    <p:tmPct val="100000"/>
                                  </p:iterate>
                                  <p:childTnLst>
                                    <p:set>
                                      <p:cBhvr>
                                        <p:cTn id="45" dur="1" fill="hold">
                                          <p:stCondLst>
                                            <p:cond delay="0"/>
                                          </p:stCondLst>
                                        </p:cTn>
                                        <p:tgtEl>
                                          <p:spTgt spid="253"/>
                                        </p:tgtEl>
                                        <p:attrNameLst>
                                          <p:attrName>style.visibility</p:attrName>
                                        </p:attrNameLst>
                                      </p:cBhvr>
                                      <p:to>
                                        <p:strVal val="visible"/>
                                      </p:to>
                                    </p:set>
                                    <p:anim calcmode="lin" valueType="num">
                                      <p:cBhvr>
                                        <p:cTn id="46" dur="3000" fill="hold"/>
                                        <p:tgtEl>
                                          <p:spTgt spid="253"/>
                                        </p:tgtEl>
                                        <p:attrNameLst>
                                          <p:attrName>ppt_w</p:attrName>
                                        </p:attrNameLst>
                                      </p:cBhvr>
                                      <p:tavLst>
                                        <p:tav tm="0" fmla="#ppt_w*sin(2.5*pi*$)">
                                          <p:val>
                                            <p:fltVal val="0"/>
                                          </p:val>
                                        </p:tav>
                                        <p:tav tm="100000">
                                          <p:val>
                                            <p:fltVal val="1"/>
                                          </p:val>
                                        </p:tav>
                                      </p:tavLst>
                                    </p:anim>
                                    <p:anim calcmode="lin" valueType="num">
                                      <p:cBhvr>
                                        <p:cTn id="47" dur="3000" fill="hold"/>
                                        <p:tgtEl>
                                          <p:spTgt spid="25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par>
                          <p:cTn id="48" fill="hold">
                            <p:stCondLst>
                              <p:cond delay="12000"/>
                            </p:stCondLst>
                            <p:childTnLst>
                              <p:par>
                                <p:cTn id="49" presetID="17" presetClass="entr" presetSubtype="8" fill="hold" grpId="0" nodeType="afterEffect">
                                  <p:stCondLst>
                                    <p:cond delay="0"/>
                                  </p:stCondLst>
                                  <p:childTnLst>
                                    <p:set>
                                      <p:cBhvr>
                                        <p:cTn id="50" dur="1" fill="hold">
                                          <p:stCondLst>
                                            <p:cond delay="0"/>
                                          </p:stCondLst>
                                        </p:cTn>
                                        <p:tgtEl>
                                          <p:spTgt spid="254"/>
                                        </p:tgtEl>
                                        <p:attrNameLst>
                                          <p:attrName>style.visibility</p:attrName>
                                        </p:attrNameLst>
                                      </p:cBhvr>
                                      <p:to>
                                        <p:strVal val="visible"/>
                                      </p:to>
                                    </p:set>
                                    <p:anim calcmode="lin" valueType="num">
                                      <p:cBhvr>
                                        <p:cTn id="51" dur="5000" fill="hold"/>
                                        <p:tgtEl>
                                          <p:spTgt spid="254"/>
                                        </p:tgtEl>
                                        <p:attrNameLst>
                                          <p:attrName>ppt_x</p:attrName>
                                        </p:attrNameLst>
                                      </p:cBhvr>
                                      <p:tavLst>
                                        <p:tav tm="0">
                                          <p:val>
                                            <p:strVal val="#ppt_x-#ppt_w/2"/>
                                          </p:val>
                                        </p:tav>
                                        <p:tav tm="100000">
                                          <p:val>
                                            <p:strVal val="#ppt_x"/>
                                          </p:val>
                                        </p:tav>
                                      </p:tavLst>
                                    </p:anim>
                                    <p:anim calcmode="lin" valueType="num">
                                      <p:cBhvr>
                                        <p:cTn id="52" dur="5000" fill="hold"/>
                                        <p:tgtEl>
                                          <p:spTgt spid="254"/>
                                        </p:tgtEl>
                                        <p:attrNameLst>
                                          <p:attrName>ppt_y</p:attrName>
                                        </p:attrNameLst>
                                      </p:cBhvr>
                                      <p:tavLst>
                                        <p:tav tm="0">
                                          <p:val>
                                            <p:strVal val="#ppt_y"/>
                                          </p:val>
                                        </p:tav>
                                        <p:tav tm="100000">
                                          <p:val>
                                            <p:strVal val="#ppt_y"/>
                                          </p:val>
                                        </p:tav>
                                      </p:tavLst>
                                    </p:anim>
                                    <p:anim calcmode="lin" valueType="num">
                                      <p:cBhvr>
                                        <p:cTn id="53" dur="5000" fill="hold"/>
                                        <p:tgtEl>
                                          <p:spTgt spid="254"/>
                                        </p:tgtEl>
                                        <p:attrNameLst>
                                          <p:attrName>ppt_w</p:attrName>
                                        </p:attrNameLst>
                                      </p:cBhvr>
                                      <p:tavLst>
                                        <p:tav tm="0">
                                          <p:val>
                                            <p:fltVal val="0"/>
                                          </p:val>
                                        </p:tav>
                                        <p:tav tm="100000">
                                          <p:val>
                                            <p:strVal val="#ppt_w"/>
                                          </p:val>
                                        </p:tav>
                                      </p:tavLst>
                                    </p:anim>
                                    <p:anim calcmode="lin" valueType="num">
                                      <p:cBhvr>
                                        <p:cTn id="54" dur="5000" fill="hold"/>
                                        <p:tgtEl>
                                          <p:spTgt spid="2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4"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5" presetClass="entr" presetSubtype="0" fill="hold" grpId="0" nodeType="clickEffect">
                                  <p:stCondLst>
                                    <p:cond delay="0"/>
                                  </p:stCondLst>
                                  <p:childTnLst>
                                    <p:set>
                                      <p:cBhvr>
                                        <p:cTn id="58" dur="1" fill="hold">
                                          <p:stCondLst>
                                            <p:cond delay="0"/>
                                          </p:stCondLst>
                                        </p:cTn>
                                        <p:tgtEl>
                                          <p:spTgt spid="256"/>
                                        </p:tgtEl>
                                        <p:attrNameLst>
                                          <p:attrName>style.visibility</p:attrName>
                                        </p:attrNameLst>
                                      </p:cBhvr>
                                      <p:to>
                                        <p:strVal val="visible"/>
                                      </p:to>
                                    </p:set>
                                    <p:anim calcmode="lin" valueType="num">
                                      <p:cBhvr>
                                        <p:cTn id="59" dur="2000" fill="hold"/>
                                        <p:tgtEl>
                                          <p:spTgt spid="256"/>
                                        </p:tgtEl>
                                        <p:attrNameLst>
                                          <p:attrName>ppt_w</p:attrName>
                                        </p:attrNameLst>
                                      </p:cBhvr>
                                      <p:tavLst>
                                        <p:tav tm="0">
                                          <p:val>
                                            <p:fltVal val="0"/>
                                          </p:val>
                                        </p:tav>
                                        <p:tav tm="100000">
                                          <p:val>
                                            <p:strVal val="#ppt_w"/>
                                          </p:val>
                                        </p:tav>
                                      </p:tavLst>
                                    </p:anim>
                                    <p:anim calcmode="lin" valueType="num">
                                      <p:cBhvr>
                                        <p:cTn id="60" dur="2000" fill="hold"/>
                                        <p:tgtEl>
                                          <p:spTgt spid="256"/>
                                        </p:tgtEl>
                                        <p:attrNameLst>
                                          <p:attrName>ppt_h</p:attrName>
                                        </p:attrNameLst>
                                      </p:cBhvr>
                                      <p:tavLst>
                                        <p:tav tm="0">
                                          <p:val>
                                            <p:fltVal val="0"/>
                                          </p:val>
                                        </p:tav>
                                        <p:tav tm="100000">
                                          <p:val>
                                            <p:strVal val="#ppt_h"/>
                                          </p:val>
                                        </p:tav>
                                      </p:tavLst>
                                    </p:anim>
                                    <p:anim calcmode="lin" valueType="num">
                                      <p:cBhvr>
                                        <p:cTn id="61" dur="2000" fill="hold"/>
                                        <p:tgtEl>
                                          <p:spTgt spid="256"/>
                                        </p:tgtEl>
                                        <p:attrNameLst>
                                          <p:attrName>ppt_x</p:attrName>
                                        </p:attrNameLst>
                                      </p:cBhvr>
                                      <p:tavLst>
                                        <p:tav tm="0" fmla="#ppt_x+(cos(-2*pi*(1-$))*-#ppt_x-sin(-2*pi*(1-$))*(1-#ppt_y))*(1-$)">
                                          <p:val>
                                            <p:fltVal val="0"/>
                                          </p:val>
                                        </p:tav>
                                        <p:tav tm="100000">
                                          <p:val>
                                            <p:fltVal val="1"/>
                                          </p:val>
                                        </p:tav>
                                      </p:tavLst>
                                    </p:anim>
                                    <p:anim calcmode="lin" valueType="num">
                                      <p:cBhvr>
                                        <p:cTn id="62" dur="2000" fill="hold"/>
                                        <p:tgtEl>
                                          <p:spTgt spid="2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7"/>
                                            </p:cond>
                                          </p:stCondLst>
                                          <p:endCondLst>
                                            <p:cond evt="onStopAudio" delay="0">
                                              <p:tgtEl>
                                                <p:sldTgt/>
                                              </p:tgtEl>
                                            </p:cond>
                                          </p:endCondLst>
                                        </p:cTn>
                                        <p:tgtEl>
                                          <p:sndTgt r:embed="rId3" name="CHIMES.WAV"/>
                                        </p:tgtEl>
                                      </p:cMediaNode>
                                    </p:audio>
                                  </p:subTnLst>
                                </p:cTn>
                              </p:par>
                              <p:par>
                                <p:cTn id="63" presetID="19" presetClass="entr" presetSubtype="10" fill="hold" grpId="0" nodeType="withEffect">
                                  <p:stCondLst>
                                    <p:cond delay="0"/>
                                  </p:stCondLst>
                                  <p:childTnLst>
                                    <p:set>
                                      <p:cBhvr>
                                        <p:cTn id="64" dur="1" fill="hold">
                                          <p:stCondLst>
                                            <p:cond delay="0"/>
                                          </p:stCondLst>
                                        </p:cTn>
                                        <p:tgtEl>
                                          <p:spTgt spid="255"/>
                                        </p:tgtEl>
                                        <p:attrNameLst>
                                          <p:attrName>style.visibility</p:attrName>
                                        </p:attrNameLst>
                                      </p:cBhvr>
                                      <p:to>
                                        <p:strVal val="visible"/>
                                      </p:to>
                                    </p:set>
                                    <p:anim calcmode="lin" valueType="num">
                                      <p:cBhvr>
                                        <p:cTn id="65" dur="5000" fill="hold"/>
                                        <p:tgtEl>
                                          <p:spTgt spid="255"/>
                                        </p:tgtEl>
                                        <p:attrNameLst>
                                          <p:attrName>ppt_w</p:attrName>
                                        </p:attrNameLst>
                                      </p:cBhvr>
                                      <p:tavLst>
                                        <p:tav tm="0" fmla="#ppt_w*sin(2.5*pi*$)">
                                          <p:val>
                                            <p:fltVal val="0"/>
                                          </p:val>
                                        </p:tav>
                                        <p:tav tm="100000">
                                          <p:val>
                                            <p:fltVal val="1"/>
                                          </p:val>
                                        </p:tav>
                                      </p:tavLst>
                                    </p:anim>
                                    <p:anim calcmode="lin" valueType="num">
                                      <p:cBhvr>
                                        <p:cTn id="66" dur="5000" fill="hold"/>
                                        <p:tgtEl>
                                          <p:spTgt spid="2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3" name="CHIMES.WAV"/>
                                        </p:tgtEl>
                                      </p:cMediaNode>
                                    </p:audio>
                                  </p:subTnLst>
                                </p:cTn>
                              </p:par>
                            </p:childTnLst>
                          </p:cTn>
                        </p:par>
                        <p:par>
                          <p:cTn id="67" fill="hold">
                            <p:stCondLst>
                              <p:cond delay="5000"/>
                            </p:stCondLst>
                            <p:childTnLst>
                              <p:par>
                                <p:cTn id="68" presetID="55" presetClass="exit" presetSubtype="0" fill="hold" grpId="1" nodeType="afterEffect">
                                  <p:stCondLst>
                                    <p:cond delay="0"/>
                                  </p:stCondLst>
                                  <p:childTnLst>
                                    <p:anim calcmode="lin" valueType="num">
                                      <p:cBhvr>
                                        <p:cTn id="69" dur="5000"/>
                                        <p:tgtEl>
                                          <p:spTgt spid="254"/>
                                        </p:tgtEl>
                                        <p:attrNameLst>
                                          <p:attrName>ppt_w</p:attrName>
                                        </p:attrNameLst>
                                      </p:cBhvr>
                                      <p:tavLst>
                                        <p:tav tm="0">
                                          <p:val>
                                            <p:strVal val="ppt_w"/>
                                          </p:val>
                                        </p:tav>
                                        <p:tav tm="100000">
                                          <p:val>
                                            <p:strVal val="ppt_w*0.70"/>
                                          </p:val>
                                        </p:tav>
                                      </p:tavLst>
                                    </p:anim>
                                    <p:anim calcmode="lin" valueType="num">
                                      <p:cBhvr>
                                        <p:cTn id="70" dur="5000"/>
                                        <p:tgtEl>
                                          <p:spTgt spid="254"/>
                                        </p:tgtEl>
                                        <p:attrNameLst>
                                          <p:attrName>ppt_h</p:attrName>
                                        </p:attrNameLst>
                                      </p:cBhvr>
                                      <p:tavLst>
                                        <p:tav tm="0">
                                          <p:val>
                                            <p:strVal val="ppt_h"/>
                                          </p:val>
                                        </p:tav>
                                        <p:tav tm="100000">
                                          <p:val>
                                            <p:strVal val="ppt_h"/>
                                          </p:val>
                                        </p:tav>
                                      </p:tavLst>
                                    </p:anim>
                                    <p:animEffect transition="out" filter="fade">
                                      <p:cBhvr>
                                        <p:cTn id="71" dur="5000"/>
                                        <p:tgtEl>
                                          <p:spTgt spid="254"/>
                                        </p:tgtEl>
                                      </p:cBhvr>
                                    </p:animEffect>
                                    <p:set>
                                      <p:cBhvr>
                                        <p:cTn id="72" dur="1" fill="hold">
                                          <p:stCondLst>
                                            <p:cond delay="4999"/>
                                          </p:stCondLst>
                                        </p:cTn>
                                        <p:tgtEl>
                                          <p:spTgt spid="254"/>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10"/>
                                        </p:tgtEl>
                                        <p:attrNameLst>
                                          <p:attrName>style.visibility</p:attrName>
                                        </p:attrNameLst>
                                      </p:cBhvr>
                                      <p:to>
                                        <p:strVal val="visible"/>
                                      </p:to>
                                    </p:set>
                                    <p:animEffect transition="in" filter="wipe(left)">
                                      <p:cBhvr>
                                        <p:cTn id="81" dur="5000"/>
                                        <p:tgtEl>
                                          <p:spTgt spid="110"/>
                                        </p:tgtEl>
                                      </p:cBhvr>
                                    </p:animEffect>
                                  </p:childTnLst>
                                </p:cTn>
                              </p:par>
                            </p:childTnLst>
                          </p:cTn>
                        </p:par>
                        <p:par>
                          <p:cTn id="82" fill="hold">
                            <p:stCondLst>
                              <p:cond delay="5000"/>
                            </p:stCondLst>
                            <p:childTnLst>
                              <p:par>
                                <p:cTn id="83" presetID="22" presetClass="entr" presetSubtype="1" fill="hold" grpId="0" nodeType="afterEffect">
                                  <p:stCondLst>
                                    <p:cond delay="0"/>
                                  </p:stCondLst>
                                  <p:childTnLst>
                                    <p:set>
                                      <p:cBhvr>
                                        <p:cTn id="84" dur="1" fill="hold">
                                          <p:stCondLst>
                                            <p:cond delay="0"/>
                                          </p:stCondLst>
                                        </p:cTn>
                                        <p:tgtEl>
                                          <p:spTgt spid="257"/>
                                        </p:tgtEl>
                                        <p:attrNameLst>
                                          <p:attrName>style.visibility</p:attrName>
                                        </p:attrNameLst>
                                      </p:cBhvr>
                                      <p:to>
                                        <p:strVal val="visible"/>
                                      </p:to>
                                    </p:set>
                                    <p:animEffect transition="in" filter="wipe(up)">
                                      <p:cBhvr>
                                        <p:cTn id="85" dur="3000"/>
                                        <p:tgtEl>
                                          <p:spTgt spid="257"/>
                                        </p:tgtEl>
                                      </p:cBhvr>
                                    </p:animEffect>
                                  </p:childTnLst>
                                </p:cTn>
                              </p:par>
                            </p:childTnLst>
                          </p:cTn>
                        </p:par>
                        <p:par>
                          <p:cTn id="86" fill="hold">
                            <p:stCondLst>
                              <p:cond delay="8000"/>
                            </p:stCondLst>
                            <p:childTnLst>
                              <p:par>
                                <p:cTn id="87" presetID="22" presetClass="entr" presetSubtype="8" fill="hold" grpId="0" nodeType="afterEffect">
                                  <p:stCondLst>
                                    <p:cond delay="0"/>
                                  </p:stCondLst>
                                  <p:childTnLst>
                                    <p:set>
                                      <p:cBhvr>
                                        <p:cTn id="88" dur="1" fill="hold">
                                          <p:stCondLst>
                                            <p:cond delay="0"/>
                                          </p:stCondLst>
                                        </p:cTn>
                                        <p:tgtEl>
                                          <p:spTgt spid="258"/>
                                        </p:tgtEl>
                                        <p:attrNameLst>
                                          <p:attrName>style.visibility</p:attrName>
                                        </p:attrNameLst>
                                      </p:cBhvr>
                                      <p:to>
                                        <p:strVal val="visible"/>
                                      </p:to>
                                    </p:set>
                                    <p:animEffect transition="in" filter="wipe(left)">
                                      <p:cBhvr>
                                        <p:cTn id="89" dur="3000"/>
                                        <p:tgtEl>
                                          <p:spTgt spid="258"/>
                                        </p:tgtEl>
                                      </p:cBhvr>
                                    </p:animEffect>
                                  </p:childTnLst>
                                </p:cTn>
                              </p:par>
                            </p:childTnLst>
                          </p:cTn>
                        </p:par>
                        <p:par>
                          <p:cTn id="90" fill="hold">
                            <p:stCondLst>
                              <p:cond delay="11000"/>
                            </p:stCondLst>
                            <p:childTnLst>
                              <p:par>
                                <p:cTn id="91" presetID="22" presetClass="entr" presetSubtype="8" fill="hold" grpId="0" nodeType="afterEffect">
                                  <p:stCondLst>
                                    <p:cond delay="0"/>
                                  </p:stCondLst>
                                  <p:childTnLst>
                                    <p:set>
                                      <p:cBhvr>
                                        <p:cTn id="92" dur="1" fill="hold">
                                          <p:stCondLst>
                                            <p:cond delay="0"/>
                                          </p:stCondLst>
                                        </p:cTn>
                                        <p:tgtEl>
                                          <p:spTgt spid="259"/>
                                        </p:tgtEl>
                                        <p:attrNameLst>
                                          <p:attrName>style.visibility</p:attrName>
                                        </p:attrNameLst>
                                      </p:cBhvr>
                                      <p:to>
                                        <p:strVal val="visible"/>
                                      </p:to>
                                    </p:set>
                                    <p:animEffect transition="in" filter="wipe(left)">
                                      <p:cBhvr>
                                        <p:cTn id="93" dur="3000"/>
                                        <p:tgtEl>
                                          <p:spTgt spid="259"/>
                                        </p:tgtEl>
                                      </p:cBhvr>
                                    </p:animEffect>
                                  </p:childTnLst>
                                </p:cTn>
                              </p:par>
                            </p:childTnLst>
                          </p:cTn>
                        </p:par>
                        <p:par>
                          <p:cTn id="94" fill="hold">
                            <p:stCondLst>
                              <p:cond delay="14000"/>
                            </p:stCondLst>
                            <p:childTnLst>
                              <p:par>
                                <p:cTn id="95" presetID="22" presetClass="entr" presetSubtype="8" fill="hold" grpId="0" nodeType="afterEffect">
                                  <p:stCondLst>
                                    <p:cond delay="0"/>
                                  </p:stCondLst>
                                  <p:childTnLst>
                                    <p:set>
                                      <p:cBhvr>
                                        <p:cTn id="96" dur="1" fill="hold">
                                          <p:stCondLst>
                                            <p:cond delay="0"/>
                                          </p:stCondLst>
                                        </p:cTn>
                                        <p:tgtEl>
                                          <p:spTgt spid="108"/>
                                        </p:tgtEl>
                                        <p:attrNameLst>
                                          <p:attrName>style.visibility</p:attrName>
                                        </p:attrNameLst>
                                      </p:cBhvr>
                                      <p:to>
                                        <p:strVal val="visible"/>
                                      </p:to>
                                    </p:set>
                                    <p:animEffect transition="in" filter="wipe(left)">
                                      <p:cBhvr>
                                        <p:cTn id="97" dur="5000"/>
                                        <p:tgtEl>
                                          <p:spTgt spid="108"/>
                                        </p:tgtEl>
                                      </p:cBhvr>
                                    </p:animEffect>
                                  </p:childTnLst>
                                </p:cTn>
                              </p:par>
                            </p:childTnLst>
                          </p:cTn>
                        </p:par>
                        <p:par>
                          <p:cTn id="98" fill="hold">
                            <p:stCondLst>
                              <p:cond delay="19000"/>
                            </p:stCondLst>
                            <p:childTnLst>
                              <p:par>
                                <p:cTn id="99" presetID="15" presetClass="entr" presetSubtype="0" fill="hold" nodeType="afterEffect">
                                  <p:stCondLst>
                                    <p:cond delay="0"/>
                                  </p:stCondLst>
                                  <p:childTnLst>
                                    <p:set>
                                      <p:cBhvr>
                                        <p:cTn id="100" dur="1" fill="hold">
                                          <p:stCondLst>
                                            <p:cond delay="0"/>
                                          </p:stCondLst>
                                        </p:cTn>
                                        <p:tgtEl>
                                          <p:spTgt spid="264"/>
                                        </p:tgtEl>
                                        <p:attrNameLst>
                                          <p:attrName>style.visibility</p:attrName>
                                        </p:attrNameLst>
                                      </p:cBhvr>
                                      <p:to>
                                        <p:strVal val="visible"/>
                                      </p:to>
                                    </p:set>
                                    <p:anim calcmode="lin" valueType="num">
                                      <p:cBhvr>
                                        <p:cTn id="101" dur="3000" fill="hold"/>
                                        <p:tgtEl>
                                          <p:spTgt spid="264"/>
                                        </p:tgtEl>
                                        <p:attrNameLst>
                                          <p:attrName>ppt_w</p:attrName>
                                        </p:attrNameLst>
                                      </p:cBhvr>
                                      <p:tavLst>
                                        <p:tav tm="0">
                                          <p:val>
                                            <p:fltVal val="0"/>
                                          </p:val>
                                        </p:tav>
                                        <p:tav tm="100000">
                                          <p:val>
                                            <p:strVal val="#ppt_w"/>
                                          </p:val>
                                        </p:tav>
                                      </p:tavLst>
                                    </p:anim>
                                    <p:anim calcmode="lin" valueType="num">
                                      <p:cBhvr>
                                        <p:cTn id="102" dur="3000" fill="hold"/>
                                        <p:tgtEl>
                                          <p:spTgt spid="264"/>
                                        </p:tgtEl>
                                        <p:attrNameLst>
                                          <p:attrName>ppt_h</p:attrName>
                                        </p:attrNameLst>
                                      </p:cBhvr>
                                      <p:tavLst>
                                        <p:tav tm="0">
                                          <p:val>
                                            <p:fltVal val="0"/>
                                          </p:val>
                                        </p:tav>
                                        <p:tav tm="100000">
                                          <p:val>
                                            <p:strVal val="#ppt_h"/>
                                          </p:val>
                                        </p:tav>
                                      </p:tavLst>
                                    </p:anim>
                                    <p:anim calcmode="lin" valueType="num">
                                      <p:cBhvr>
                                        <p:cTn id="103" dur="3000" fill="hold"/>
                                        <p:tgtEl>
                                          <p:spTgt spid="264"/>
                                        </p:tgtEl>
                                        <p:attrNameLst>
                                          <p:attrName>ppt_x</p:attrName>
                                        </p:attrNameLst>
                                      </p:cBhvr>
                                      <p:tavLst>
                                        <p:tav tm="0" fmla="#ppt_x+(cos(-2*pi*(1-$))*-#ppt_x-sin(-2*pi*(1-$))*(1-#ppt_y))*(1-$)">
                                          <p:val>
                                            <p:fltVal val="0"/>
                                          </p:val>
                                        </p:tav>
                                        <p:tav tm="100000">
                                          <p:val>
                                            <p:fltVal val="1"/>
                                          </p:val>
                                        </p:tav>
                                      </p:tavLst>
                                    </p:anim>
                                    <p:anim calcmode="lin" valueType="num">
                                      <p:cBhvr>
                                        <p:cTn id="104" dur="3000" fill="hold"/>
                                        <p:tgtEl>
                                          <p:spTgt spid="264"/>
                                        </p:tgtEl>
                                        <p:attrNameLst>
                                          <p:attrName>ppt_y</p:attrName>
                                        </p:attrNameLst>
                                      </p:cBhvr>
                                      <p:tavLst>
                                        <p:tav tm="0" fmla="#ppt_y+(sin(-2*pi*(1-$))*-#ppt_x+cos(-2*pi*(1-$))*(1-#ppt_y))*(1-$)">
                                          <p:val>
                                            <p:fltVal val="0"/>
                                          </p:val>
                                        </p:tav>
                                        <p:tav tm="100000">
                                          <p:val>
                                            <p:fltVal val="1"/>
                                          </p:val>
                                        </p:tav>
                                      </p:tavLst>
                                    </p:anim>
                                  </p:childTnLst>
                                </p:cTn>
                              </p:par>
                            </p:childTnLst>
                          </p:cTn>
                        </p:par>
                        <p:par>
                          <p:cTn id="105" fill="hold">
                            <p:stCondLst>
                              <p:cond delay="22000"/>
                            </p:stCondLst>
                            <p:childTnLst>
                              <p:par>
                                <p:cTn id="106" presetID="15" presetClass="entr" presetSubtype="0" fill="hold" nodeType="afterEffect">
                                  <p:stCondLst>
                                    <p:cond delay="0"/>
                                  </p:stCondLst>
                                  <p:childTnLst>
                                    <p:set>
                                      <p:cBhvr>
                                        <p:cTn id="107" dur="1" fill="hold">
                                          <p:stCondLst>
                                            <p:cond delay="0"/>
                                          </p:stCondLst>
                                        </p:cTn>
                                        <p:tgtEl>
                                          <p:spTgt spid="267"/>
                                        </p:tgtEl>
                                        <p:attrNameLst>
                                          <p:attrName>style.visibility</p:attrName>
                                        </p:attrNameLst>
                                      </p:cBhvr>
                                      <p:to>
                                        <p:strVal val="visible"/>
                                      </p:to>
                                    </p:set>
                                    <p:anim calcmode="lin" valueType="num">
                                      <p:cBhvr>
                                        <p:cTn id="108" dur="3000" fill="hold"/>
                                        <p:tgtEl>
                                          <p:spTgt spid="267"/>
                                        </p:tgtEl>
                                        <p:attrNameLst>
                                          <p:attrName>ppt_w</p:attrName>
                                        </p:attrNameLst>
                                      </p:cBhvr>
                                      <p:tavLst>
                                        <p:tav tm="0">
                                          <p:val>
                                            <p:fltVal val="0"/>
                                          </p:val>
                                        </p:tav>
                                        <p:tav tm="100000">
                                          <p:val>
                                            <p:strVal val="#ppt_w"/>
                                          </p:val>
                                        </p:tav>
                                      </p:tavLst>
                                    </p:anim>
                                    <p:anim calcmode="lin" valueType="num">
                                      <p:cBhvr>
                                        <p:cTn id="109" dur="3000" fill="hold"/>
                                        <p:tgtEl>
                                          <p:spTgt spid="267"/>
                                        </p:tgtEl>
                                        <p:attrNameLst>
                                          <p:attrName>ppt_h</p:attrName>
                                        </p:attrNameLst>
                                      </p:cBhvr>
                                      <p:tavLst>
                                        <p:tav tm="0">
                                          <p:val>
                                            <p:fltVal val="0"/>
                                          </p:val>
                                        </p:tav>
                                        <p:tav tm="100000">
                                          <p:val>
                                            <p:strVal val="#ppt_h"/>
                                          </p:val>
                                        </p:tav>
                                      </p:tavLst>
                                    </p:anim>
                                    <p:anim calcmode="lin" valueType="num">
                                      <p:cBhvr>
                                        <p:cTn id="110" dur="3000" fill="hold"/>
                                        <p:tgtEl>
                                          <p:spTgt spid="267"/>
                                        </p:tgtEl>
                                        <p:attrNameLst>
                                          <p:attrName>ppt_x</p:attrName>
                                        </p:attrNameLst>
                                      </p:cBhvr>
                                      <p:tavLst>
                                        <p:tav tm="0" fmla="#ppt_x+(cos(-2*pi*(1-$))*-#ppt_x-sin(-2*pi*(1-$))*(1-#ppt_y))*(1-$)">
                                          <p:val>
                                            <p:fltVal val="0"/>
                                          </p:val>
                                        </p:tav>
                                        <p:tav tm="100000">
                                          <p:val>
                                            <p:fltVal val="1"/>
                                          </p:val>
                                        </p:tav>
                                      </p:tavLst>
                                    </p:anim>
                                    <p:anim calcmode="lin" valueType="num">
                                      <p:cBhvr>
                                        <p:cTn id="111" dur="3000" fill="hold"/>
                                        <p:tgtEl>
                                          <p:spTgt spid="26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201" grpId="0"/>
      <p:bldP spid="107" grpId="0"/>
      <p:bldP spid="108" grpId="0" animBg="1"/>
      <p:bldP spid="110" grpId="0" animBg="1"/>
      <p:bldP spid="249" grpId="0" animBg="1"/>
      <p:bldP spid="250" grpId="0" animBg="1"/>
      <p:bldP spid="251" grpId="0" autoUpdateAnimBg="0"/>
      <p:bldP spid="252" grpId="0" animBg="1"/>
      <p:bldP spid="253" grpId="0" autoUpdateAnimBg="0"/>
      <p:bldP spid="254" grpId="0" animBg="1"/>
      <p:bldP spid="254" grpId="1" animBg="1"/>
      <p:bldP spid="255" grpId="0" autoUpdateAnimBg="0"/>
      <p:bldP spid="256" grpId="0" animBg="1"/>
      <p:bldP spid="257" grpId="0" animBg="1"/>
      <p:bldP spid="258" grpId="0" animBg="1"/>
      <p:bldP spid="2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9865096" cy="498598"/>
          </a:xfrm>
          <a:prstGeom prst="rect">
            <a:avLst/>
          </a:prstGeom>
        </p:spPr>
        <p:txBody>
          <a:bodyPr wrap="square">
            <a:spAutoFit/>
          </a:bodyPr>
          <a:lstStyle/>
          <a:p>
            <a:pPr algn="just">
              <a:lnSpc>
                <a:spcPct val="110000"/>
              </a:lnSpc>
            </a:pPr>
            <a:r>
              <a:rPr kumimoji="1" lang="zh-CN" altLang="en-US" i="0" dirty="0">
                <a:solidFill>
                  <a:srgbClr val="0000FF"/>
                </a:solidFill>
                <a:latin typeface="+mn-lt"/>
                <a:ea typeface="黑体" panose="02010609060101010101" pitchFamily="49" charset="-122"/>
              </a:rPr>
              <a:t>习题</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绘制下图所示简支梁的剪力图和弯矩图。</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911424" y="1318990"/>
            <a:ext cx="10225136" cy="4922637"/>
          </a:xfrm>
          <a:prstGeom prst="rect">
            <a:avLst/>
          </a:prstGeom>
          <a:solidFill>
            <a:srgbClr val="B9CDE5"/>
          </a:solidFill>
          <a:ln>
            <a:noFill/>
          </a:ln>
          <a:effectLst/>
        </p:spPr>
        <p:txBody>
          <a:bodyPr wrap="none" anchor="ctr"/>
          <a:lstStyle/>
          <a:p>
            <a:endParaRPr lang="zh-CN" altLang="en-US"/>
          </a:p>
        </p:txBody>
      </p:sp>
      <p:sp>
        <p:nvSpPr>
          <p:cNvPr id="107" name="Rectangle 18"/>
          <p:cNvSpPr>
            <a:spLocks noChangeAspect="1" noChangeArrowheads="1"/>
          </p:cNvSpPr>
          <p:nvPr/>
        </p:nvSpPr>
        <p:spPr bwMode="auto">
          <a:xfrm>
            <a:off x="6884727" y="1301669"/>
            <a:ext cx="1127714" cy="279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q</a:t>
            </a:r>
            <a:r>
              <a:rPr lang="en-US" altLang="zh-CN" sz="1800" b="0" i="0" dirty="0">
                <a:latin typeface="Times New Roman" pitchFamily="18" charset="0"/>
                <a:ea typeface="宋体" pitchFamily="2" charset="-122"/>
              </a:rPr>
              <a:t>=12kN/m</a:t>
            </a:r>
          </a:p>
        </p:txBody>
      </p:sp>
      <p:sp>
        <p:nvSpPr>
          <p:cNvPr id="108" name="Rectangle 19"/>
          <p:cNvSpPr>
            <a:spLocks noChangeAspect="1" noChangeArrowheads="1"/>
          </p:cNvSpPr>
          <p:nvPr/>
        </p:nvSpPr>
        <p:spPr bwMode="auto">
          <a:xfrm>
            <a:off x="7090616" y="2697842"/>
            <a:ext cx="421138" cy="247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3m</a:t>
            </a:r>
          </a:p>
        </p:txBody>
      </p:sp>
      <p:sp>
        <p:nvSpPr>
          <p:cNvPr id="110" name="Line 20"/>
          <p:cNvSpPr>
            <a:spLocks noChangeAspect="1" noChangeShapeType="1"/>
          </p:cNvSpPr>
          <p:nvPr/>
        </p:nvSpPr>
        <p:spPr bwMode="auto">
          <a:xfrm>
            <a:off x="3220825" y="2138194"/>
            <a:ext cx="5438921" cy="1473"/>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1" name="Line 21"/>
          <p:cNvSpPr>
            <a:spLocks noChangeAspect="1" noChangeShapeType="1"/>
          </p:cNvSpPr>
          <p:nvPr/>
        </p:nvSpPr>
        <p:spPr bwMode="auto">
          <a:xfrm>
            <a:off x="5942625" y="1628621"/>
            <a:ext cx="2720240" cy="1473"/>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14" name="Group 22"/>
          <p:cNvGrpSpPr>
            <a:grpSpLocks noChangeAspect="1"/>
          </p:cNvGrpSpPr>
          <p:nvPr/>
        </p:nvGrpSpPr>
        <p:grpSpPr bwMode="auto">
          <a:xfrm>
            <a:off x="5955103" y="1637457"/>
            <a:ext cx="2698404" cy="518410"/>
            <a:chOff x="6111" y="10754"/>
            <a:chExt cx="1687" cy="398"/>
          </a:xfrm>
        </p:grpSpPr>
        <p:sp>
          <p:nvSpPr>
            <p:cNvPr id="115" name="Line 23"/>
            <p:cNvSpPr>
              <a:spLocks noChangeAspect="1" noChangeShapeType="1"/>
            </p:cNvSpPr>
            <p:nvPr/>
          </p:nvSpPr>
          <p:spPr bwMode="auto">
            <a:xfrm>
              <a:off x="7797"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6" name="Line 24"/>
            <p:cNvSpPr>
              <a:spLocks noChangeAspect="1" noChangeShapeType="1"/>
            </p:cNvSpPr>
            <p:nvPr/>
          </p:nvSpPr>
          <p:spPr bwMode="auto">
            <a:xfrm>
              <a:off x="6111"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7" name="Line 25"/>
            <p:cNvSpPr>
              <a:spLocks noChangeAspect="1" noChangeShapeType="1"/>
            </p:cNvSpPr>
            <p:nvPr/>
          </p:nvSpPr>
          <p:spPr bwMode="auto">
            <a:xfrm>
              <a:off x="6395"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2" name="Line 26"/>
            <p:cNvSpPr>
              <a:spLocks noChangeAspect="1" noChangeShapeType="1"/>
            </p:cNvSpPr>
            <p:nvPr/>
          </p:nvSpPr>
          <p:spPr bwMode="auto">
            <a:xfrm>
              <a:off x="6675" y="10756"/>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27"/>
            <p:cNvSpPr>
              <a:spLocks noChangeAspect="1" noChangeShapeType="1"/>
            </p:cNvSpPr>
            <p:nvPr/>
          </p:nvSpPr>
          <p:spPr bwMode="auto">
            <a:xfrm>
              <a:off x="6951" y="10756"/>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6" name="Line 28"/>
            <p:cNvSpPr>
              <a:spLocks noChangeAspect="1" noChangeShapeType="1"/>
            </p:cNvSpPr>
            <p:nvPr/>
          </p:nvSpPr>
          <p:spPr bwMode="auto">
            <a:xfrm>
              <a:off x="7231"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 name="Line 29"/>
            <p:cNvSpPr>
              <a:spLocks noChangeAspect="1" noChangeShapeType="1"/>
            </p:cNvSpPr>
            <p:nvPr/>
          </p:nvSpPr>
          <p:spPr bwMode="auto">
            <a:xfrm>
              <a:off x="7517"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28" name="Line 30"/>
          <p:cNvSpPr>
            <a:spLocks noChangeAspect="1" noChangeShapeType="1"/>
          </p:cNvSpPr>
          <p:nvPr/>
        </p:nvSpPr>
        <p:spPr bwMode="auto">
          <a:xfrm>
            <a:off x="4585624" y="2767061"/>
            <a:ext cx="1560" cy="388808"/>
          </a:xfrm>
          <a:prstGeom prst="line">
            <a:avLst/>
          </a:prstGeom>
          <a:noFill/>
          <a:ln w="635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 name="Line 31"/>
          <p:cNvSpPr>
            <a:spLocks noChangeAspect="1" noChangeShapeType="1"/>
          </p:cNvSpPr>
          <p:nvPr/>
        </p:nvSpPr>
        <p:spPr bwMode="auto">
          <a:xfrm>
            <a:off x="3239542" y="2961465"/>
            <a:ext cx="1332044"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0" name="Line 32"/>
          <p:cNvSpPr>
            <a:spLocks noChangeAspect="1" noChangeShapeType="1"/>
          </p:cNvSpPr>
          <p:nvPr/>
        </p:nvSpPr>
        <p:spPr bwMode="auto">
          <a:xfrm>
            <a:off x="4593423" y="2961465"/>
            <a:ext cx="1360120"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Line 33"/>
          <p:cNvSpPr>
            <a:spLocks noChangeAspect="1" noChangeShapeType="1"/>
          </p:cNvSpPr>
          <p:nvPr/>
        </p:nvSpPr>
        <p:spPr bwMode="auto">
          <a:xfrm>
            <a:off x="5951984" y="2961465"/>
            <a:ext cx="2717121"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Rectangle 34"/>
          <p:cNvSpPr>
            <a:spLocks noChangeAspect="1" noChangeArrowheads="1"/>
          </p:cNvSpPr>
          <p:nvPr/>
        </p:nvSpPr>
        <p:spPr bwMode="auto">
          <a:xfrm>
            <a:off x="3556175" y="2690478"/>
            <a:ext cx="728413" cy="24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1.5m</a:t>
            </a:r>
          </a:p>
        </p:txBody>
      </p:sp>
      <p:sp>
        <p:nvSpPr>
          <p:cNvPr id="133" name="Rectangle 35"/>
          <p:cNvSpPr>
            <a:spLocks noChangeAspect="1" noChangeArrowheads="1"/>
          </p:cNvSpPr>
          <p:nvPr/>
        </p:nvSpPr>
        <p:spPr bwMode="auto">
          <a:xfrm>
            <a:off x="4974007" y="2690478"/>
            <a:ext cx="726853" cy="234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1.5m</a:t>
            </a:r>
          </a:p>
        </p:txBody>
      </p:sp>
      <p:sp>
        <p:nvSpPr>
          <p:cNvPr id="134" name="Rectangle 36"/>
          <p:cNvSpPr>
            <a:spLocks noChangeAspect="1" noChangeArrowheads="1"/>
          </p:cNvSpPr>
          <p:nvPr/>
        </p:nvSpPr>
        <p:spPr bwMode="auto">
          <a:xfrm>
            <a:off x="3771424" y="1390034"/>
            <a:ext cx="812641" cy="30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i="0" dirty="0">
                <a:latin typeface="Times New Roman" pitchFamily="18" charset="0"/>
                <a:ea typeface="宋体" pitchFamily="2" charset="-122"/>
              </a:rPr>
              <a:t>=8kN</a:t>
            </a:r>
          </a:p>
        </p:txBody>
      </p:sp>
      <p:sp>
        <p:nvSpPr>
          <p:cNvPr id="135" name="Rectangle 37"/>
          <p:cNvSpPr>
            <a:spLocks noChangeAspect="1" noChangeArrowheads="1"/>
          </p:cNvSpPr>
          <p:nvPr/>
        </p:nvSpPr>
        <p:spPr bwMode="auto">
          <a:xfrm>
            <a:off x="2960343" y="1943791"/>
            <a:ext cx="269840" cy="2768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solidFill>
                  <a:schemeClr val="tx1"/>
                </a:solidFill>
                <a:latin typeface="Times New Roman" pitchFamily="18" charset="0"/>
                <a:ea typeface="宋体" pitchFamily="2" charset="-122"/>
              </a:rPr>
              <a:t>A</a:t>
            </a:r>
          </a:p>
        </p:txBody>
      </p:sp>
      <p:sp>
        <p:nvSpPr>
          <p:cNvPr id="137" name="Rectangle 38"/>
          <p:cNvSpPr>
            <a:spLocks noChangeAspect="1" noChangeArrowheads="1"/>
          </p:cNvSpPr>
          <p:nvPr/>
        </p:nvSpPr>
        <p:spPr bwMode="auto">
          <a:xfrm>
            <a:off x="8759571" y="1936427"/>
            <a:ext cx="272960" cy="278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solidFill>
                  <a:schemeClr val="tx1"/>
                </a:solidFill>
                <a:latin typeface="Times New Roman" pitchFamily="18" charset="0"/>
                <a:ea typeface="宋体" pitchFamily="2" charset="-122"/>
              </a:rPr>
              <a:t>B</a:t>
            </a:r>
            <a:endParaRPr lang="en-US" altLang="zh-CN" sz="1800" b="0" dirty="0">
              <a:solidFill>
                <a:srgbClr val="0000FF"/>
              </a:solidFill>
              <a:latin typeface="Times New Roman" pitchFamily="18" charset="0"/>
              <a:ea typeface="宋体" pitchFamily="2" charset="-122"/>
            </a:endParaRPr>
          </a:p>
        </p:txBody>
      </p:sp>
      <p:sp>
        <p:nvSpPr>
          <p:cNvPr id="139" name="Line 39"/>
          <p:cNvSpPr>
            <a:spLocks noChangeShapeType="1"/>
          </p:cNvSpPr>
          <p:nvPr/>
        </p:nvSpPr>
        <p:spPr bwMode="auto">
          <a:xfrm>
            <a:off x="3225504" y="2423909"/>
            <a:ext cx="0" cy="721651"/>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 name="Line 40"/>
          <p:cNvSpPr>
            <a:spLocks noChangeAspect="1" noChangeShapeType="1"/>
          </p:cNvSpPr>
          <p:nvPr/>
        </p:nvSpPr>
        <p:spPr bwMode="auto">
          <a:xfrm>
            <a:off x="4579385" y="1450417"/>
            <a:ext cx="1560" cy="690723"/>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9" name="Line 41"/>
          <p:cNvSpPr>
            <a:spLocks noChangeShapeType="1"/>
          </p:cNvSpPr>
          <p:nvPr/>
        </p:nvSpPr>
        <p:spPr bwMode="auto">
          <a:xfrm>
            <a:off x="8662865" y="2472510"/>
            <a:ext cx="0" cy="661268"/>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0" name="Line 65"/>
          <p:cNvSpPr>
            <a:spLocks noChangeShapeType="1"/>
          </p:cNvSpPr>
          <p:nvPr/>
        </p:nvSpPr>
        <p:spPr bwMode="auto">
          <a:xfrm>
            <a:off x="5967581" y="2472510"/>
            <a:ext cx="0" cy="683359"/>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1" name="Rectangle 67"/>
          <p:cNvSpPr>
            <a:spLocks noChangeAspect="1" noChangeArrowheads="1"/>
          </p:cNvSpPr>
          <p:nvPr/>
        </p:nvSpPr>
        <p:spPr bwMode="auto">
          <a:xfrm>
            <a:off x="2892079" y="2688802"/>
            <a:ext cx="307455" cy="3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baseline="-25000" dirty="0">
                <a:latin typeface="Times New Roman" pitchFamily="18" charset="0"/>
                <a:ea typeface="宋体" pitchFamily="2" charset="-122"/>
              </a:rPr>
              <a:t>A</a:t>
            </a:r>
            <a:endParaRPr lang="en-US" altLang="zh-CN" sz="1800" b="0" dirty="0">
              <a:latin typeface="Times New Roman" pitchFamily="18" charset="0"/>
              <a:ea typeface="宋体" pitchFamily="2" charset="-122"/>
            </a:endParaRPr>
          </a:p>
        </p:txBody>
      </p:sp>
      <p:sp>
        <p:nvSpPr>
          <p:cNvPr id="152" name="Rectangle 68"/>
          <p:cNvSpPr>
            <a:spLocks noChangeAspect="1" noChangeArrowheads="1"/>
          </p:cNvSpPr>
          <p:nvPr/>
        </p:nvSpPr>
        <p:spPr bwMode="auto">
          <a:xfrm>
            <a:off x="8683797" y="2597139"/>
            <a:ext cx="424507" cy="33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i="0" baseline="-25000" dirty="0">
                <a:latin typeface="Times New Roman" pitchFamily="18" charset="0"/>
                <a:ea typeface="宋体" pitchFamily="2" charset="-122"/>
              </a:rPr>
              <a:t>B</a:t>
            </a:r>
            <a:endParaRPr lang="en-US" altLang="zh-CN" sz="1800" b="0" i="0" dirty="0">
              <a:latin typeface="Times New Roman" pitchFamily="18" charset="0"/>
              <a:ea typeface="宋体" pitchFamily="2" charset="-122"/>
            </a:endParaRPr>
          </a:p>
        </p:txBody>
      </p:sp>
      <p:sp>
        <p:nvSpPr>
          <p:cNvPr id="153" name="Line 69"/>
          <p:cNvSpPr>
            <a:spLocks noChangeAspect="1" noChangeShapeType="1"/>
          </p:cNvSpPr>
          <p:nvPr/>
        </p:nvSpPr>
        <p:spPr bwMode="auto">
          <a:xfrm>
            <a:off x="3222028" y="2194944"/>
            <a:ext cx="1561" cy="862500"/>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4" name="Line 70"/>
          <p:cNvSpPr>
            <a:spLocks noChangeAspect="1" noChangeShapeType="1"/>
          </p:cNvSpPr>
          <p:nvPr/>
        </p:nvSpPr>
        <p:spPr bwMode="auto">
          <a:xfrm>
            <a:off x="8662583" y="2181144"/>
            <a:ext cx="1561" cy="828000"/>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55" name="组合 224"/>
          <p:cNvGrpSpPr>
            <a:grpSpLocks/>
          </p:cNvGrpSpPr>
          <p:nvPr/>
        </p:nvGrpSpPr>
        <p:grpSpPr bwMode="auto">
          <a:xfrm>
            <a:off x="8432832" y="2178097"/>
            <a:ext cx="438150" cy="396875"/>
            <a:chOff x="6199814" y="5094185"/>
            <a:chExt cx="473132" cy="428316"/>
          </a:xfrm>
        </p:grpSpPr>
        <p:grpSp>
          <p:nvGrpSpPr>
            <p:cNvPr id="156" name="组合 225"/>
            <p:cNvGrpSpPr>
              <a:grpSpLocks/>
            </p:cNvGrpSpPr>
            <p:nvPr/>
          </p:nvGrpSpPr>
          <p:grpSpPr bwMode="auto">
            <a:xfrm>
              <a:off x="6199814" y="5451033"/>
              <a:ext cx="473132" cy="71468"/>
              <a:chOff x="2321750" y="5453423"/>
              <a:chExt cx="473132" cy="71468"/>
            </a:xfrm>
          </p:grpSpPr>
          <p:cxnSp>
            <p:nvCxnSpPr>
              <p:cNvPr id="160"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7" name="等腰三角形 226"/>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8" name="椭圆 227"/>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9" name="椭圆 228"/>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68" name="组合 237"/>
          <p:cNvGrpSpPr>
            <a:grpSpLocks/>
          </p:cNvGrpSpPr>
          <p:nvPr/>
        </p:nvGrpSpPr>
        <p:grpSpPr bwMode="auto">
          <a:xfrm>
            <a:off x="3043818" y="2150486"/>
            <a:ext cx="354013" cy="317500"/>
            <a:chOff x="2312606" y="5094185"/>
            <a:chExt cx="473132" cy="424341"/>
          </a:xfrm>
        </p:grpSpPr>
        <p:sp>
          <p:nvSpPr>
            <p:cNvPr id="169" name="等腰三角形 238"/>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70" name="组合 239"/>
            <p:cNvGrpSpPr>
              <a:grpSpLocks/>
            </p:cNvGrpSpPr>
            <p:nvPr/>
          </p:nvGrpSpPr>
          <p:grpSpPr bwMode="auto">
            <a:xfrm>
              <a:off x="2312606" y="5447058"/>
              <a:ext cx="473132" cy="71468"/>
              <a:chOff x="2321750" y="5453423"/>
              <a:chExt cx="473132" cy="71468"/>
            </a:xfrm>
          </p:grpSpPr>
          <p:cxnSp>
            <p:nvCxnSpPr>
              <p:cNvPr id="172"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80" name="Line 17"/>
          <p:cNvSpPr>
            <a:spLocks noChangeShapeType="1"/>
          </p:cNvSpPr>
          <p:nvPr/>
        </p:nvSpPr>
        <p:spPr bwMode="auto">
          <a:xfrm>
            <a:off x="3241244" y="3539212"/>
            <a:ext cx="1355796" cy="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1" name="Line 16"/>
          <p:cNvSpPr>
            <a:spLocks noChangeShapeType="1"/>
          </p:cNvSpPr>
          <p:nvPr/>
        </p:nvSpPr>
        <p:spPr bwMode="auto">
          <a:xfrm flipV="1">
            <a:off x="3248053" y="3539212"/>
            <a:ext cx="0" cy="53513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82" name="组合 181"/>
          <p:cNvGrpSpPr/>
          <p:nvPr/>
        </p:nvGrpSpPr>
        <p:grpSpPr>
          <a:xfrm>
            <a:off x="2956344" y="3339964"/>
            <a:ext cx="6259625" cy="1389555"/>
            <a:chOff x="2722865" y="3023954"/>
            <a:chExt cx="6259625" cy="1389555"/>
          </a:xfrm>
        </p:grpSpPr>
        <p:sp>
          <p:nvSpPr>
            <p:cNvPr id="183" name="Rectangle 19"/>
            <p:cNvSpPr>
              <a:spLocks noChangeAspect="1" noChangeArrowheads="1"/>
            </p:cNvSpPr>
            <p:nvPr/>
          </p:nvSpPr>
          <p:spPr bwMode="auto">
            <a:xfrm>
              <a:off x="8630065" y="3392615"/>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i="1" dirty="0">
                  <a:solidFill>
                    <a:schemeClr val="tx1"/>
                  </a:solidFill>
                  <a:latin typeface="Times New Roman" pitchFamily="18" charset="0"/>
                  <a:ea typeface="宋体" pitchFamily="2" charset="-122"/>
                </a:rPr>
                <a:t>x</a:t>
              </a:r>
            </a:p>
          </p:txBody>
        </p:sp>
        <p:sp>
          <p:nvSpPr>
            <p:cNvPr id="184" name="Line 23"/>
            <p:cNvSpPr>
              <a:spLocks noChangeShapeType="1"/>
            </p:cNvSpPr>
            <p:nvPr/>
          </p:nvSpPr>
          <p:spPr bwMode="auto">
            <a:xfrm>
              <a:off x="3011079" y="3758332"/>
              <a:ext cx="5805628" cy="0"/>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5" name="Line 24"/>
            <p:cNvSpPr>
              <a:spLocks noChangeShapeType="1"/>
            </p:cNvSpPr>
            <p:nvPr/>
          </p:nvSpPr>
          <p:spPr bwMode="auto">
            <a:xfrm flipV="1">
              <a:off x="3011079" y="3023954"/>
              <a:ext cx="0" cy="1389555"/>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6" name="Rectangle 19"/>
            <p:cNvSpPr>
              <a:spLocks noChangeAspect="1" noChangeArrowheads="1"/>
            </p:cNvSpPr>
            <p:nvPr/>
          </p:nvSpPr>
          <p:spPr bwMode="auto">
            <a:xfrm>
              <a:off x="2722865" y="3223202"/>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1" dirty="0" err="1">
                  <a:latin typeface="Times New Roman" pitchFamily="18" charset="0"/>
                  <a:ea typeface="宋体" pitchFamily="2" charset="-122"/>
                </a:rPr>
                <a:t>F</a:t>
              </a:r>
              <a:r>
                <a:rPr lang="en-US" altLang="zh-CN" sz="1800" b="0" i="1" baseline="-25000" dirty="0" err="1">
                  <a:latin typeface="Times New Roman" pitchFamily="18" charset="0"/>
                  <a:ea typeface="宋体" pitchFamily="2" charset="-122"/>
                </a:rPr>
                <a:t>s</a:t>
              </a:r>
              <a:endParaRPr lang="en-US" altLang="zh-CN" sz="1800" b="0" i="1" baseline="-25000" dirty="0">
                <a:latin typeface="Times New Roman" pitchFamily="18" charset="0"/>
                <a:ea typeface="宋体" pitchFamily="2" charset="-122"/>
              </a:endParaRPr>
            </a:p>
          </p:txBody>
        </p:sp>
      </p:grpSp>
      <p:sp>
        <p:nvSpPr>
          <p:cNvPr id="187" name="Line 16"/>
          <p:cNvSpPr>
            <a:spLocks noChangeShapeType="1"/>
          </p:cNvSpPr>
          <p:nvPr/>
        </p:nvSpPr>
        <p:spPr bwMode="auto">
          <a:xfrm flipH="1" flipV="1">
            <a:off x="4604839" y="3529718"/>
            <a:ext cx="0" cy="312706"/>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8" name="Text Box 106"/>
          <p:cNvSpPr txBox="1">
            <a:spLocks noChangeArrowheads="1"/>
          </p:cNvSpPr>
          <p:nvPr/>
        </p:nvSpPr>
        <p:spPr bwMode="auto">
          <a:xfrm>
            <a:off x="3308769" y="3169880"/>
            <a:ext cx="878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15kN</a:t>
            </a:r>
            <a:endParaRPr lang="zh-CN" altLang="en-US" sz="1800" b="0" i="0" dirty="0">
              <a:solidFill>
                <a:srgbClr val="0000FF"/>
              </a:solidFill>
              <a:latin typeface="Times New Roman" pitchFamily="18" charset="0"/>
              <a:ea typeface="+mn-ea"/>
              <a:cs typeface="Times New Roman" pitchFamily="18" charset="0"/>
            </a:endParaRPr>
          </a:p>
        </p:txBody>
      </p:sp>
      <p:sp>
        <p:nvSpPr>
          <p:cNvPr id="189" name="Line 16"/>
          <p:cNvSpPr>
            <a:spLocks noChangeShapeType="1"/>
          </p:cNvSpPr>
          <p:nvPr/>
        </p:nvSpPr>
        <p:spPr bwMode="auto">
          <a:xfrm flipV="1">
            <a:off x="8669562" y="4070754"/>
            <a:ext cx="0" cy="752466"/>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cxnSp>
        <p:nvCxnSpPr>
          <p:cNvPr id="190" name="直接连接符 189"/>
          <p:cNvCxnSpPr/>
          <p:nvPr/>
        </p:nvCxnSpPr>
        <p:spPr bwMode="auto">
          <a:xfrm>
            <a:off x="5937838" y="4498197"/>
            <a:ext cx="734263" cy="0"/>
          </a:xfrm>
          <a:prstGeom prst="line">
            <a:avLst/>
          </a:prstGeom>
          <a:noFill/>
          <a:ln w="635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Text Box 106"/>
          <p:cNvSpPr txBox="1">
            <a:spLocks noChangeArrowheads="1"/>
          </p:cNvSpPr>
          <p:nvPr/>
        </p:nvSpPr>
        <p:spPr bwMode="auto">
          <a:xfrm>
            <a:off x="5850206" y="4128865"/>
            <a:ext cx="980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0.583m</a:t>
            </a:r>
            <a:endParaRPr lang="zh-CN" altLang="en-US" sz="1800" b="0" i="0" dirty="0">
              <a:solidFill>
                <a:srgbClr val="0000FF"/>
              </a:solidFill>
              <a:latin typeface="Times New Roman" pitchFamily="18" charset="0"/>
              <a:ea typeface="+mn-ea"/>
              <a:cs typeface="Times New Roman" pitchFamily="18" charset="0"/>
            </a:endParaRPr>
          </a:p>
        </p:txBody>
      </p:sp>
      <p:sp>
        <p:nvSpPr>
          <p:cNvPr id="192" name="Line 17"/>
          <p:cNvSpPr>
            <a:spLocks noChangeShapeType="1"/>
          </p:cNvSpPr>
          <p:nvPr/>
        </p:nvSpPr>
        <p:spPr bwMode="auto">
          <a:xfrm flipV="1">
            <a:off x="4601720" y="5368890"/>
            <a:ext cx="1336118" cy="239812"/>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3" name="Rectangle 19"/>
          <p:cNvSpPr>
            <a:spLocks noChangeAspect="1" noChangeArrowheads="1"/>
          </p:cNvSpPr>
          <p:nvPr/>
        </p:nvSpPr>
        <p:spPr bwMode="auto">
          <a:xfrm>
            <a:off x="2858561" y="5392472"/>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M</a:t>
            </a:r>
            <a:endParaRPr lang="en-US" altLang="zh-CN" sz="1800" b="0" baseline="-25000" dirty="0">
              <a:latin typeface="Times New Roman" pitchFamily="18" charset="0"/>
              <a:ea typeface="宋体" pitchFamily="2" charset="-122"/>
            </a:endParaRPr>
          </a:p>
        </p:txBody>
      </p:sp>
      <p:sp>
        <p:nvSpPr>
          <p:cNvPr id="194" name="Text Box 106"/>
          <p:cNvSpPr txBox="1">
            <a:spLocks noChangeArrowheads="1"/>
          </p:cNvSpPr>
          <p:nvPr/>
        </p:nvSpPr>
        <p:spPr bwMode="auto">
          <a:xfrm>
            <a:off x="3549912" y="5279524"/>
            <a:ext cx="12002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22.5kN</a:t>
            </a:r>
            <a:r>
              <a:rPr lang="en-US" altLang="zh-CN" sz="1800" b="0" i="0" dirty="0">
                <a:solidFill>
                  <a:srgbClr val="0000FF"/>
                </a:solidFill>
                <a:latin typeface="Times New Roman" pitchFamily="18" charset="0"/>
                <a:ea typeface="+mn-ea"/>
                <a:cs typeface="Times New Roman" pitchFamily="18" charset="0"/>
                <a:sym typeface="Symbol"/>
              </a:rPr>
              <a:t>m</a:t>
            </a:r>
            <a:endParaRPr lang="zh-CN" altLang="en-US" sz="1800" b="0" i="0" dirty="0">
              <a:solidFill>
                <a:srgbClr val="0000FF"/>
              </a:solidFill>
              <a:latin typeface="Times New Roman" pitchFamily="18" charset="0"/>
              <a:ea typeface="+mn-ea"/>
              <a:cs typeface="Times New Roman" pitchFamily="18" charset="0"/>
            </a:endParaRPr>
          </a:p>
        </p:txBody>
      </p:sp>
      <p:sp>
        <p:nvSpPr>
          <p:cNvPr id="195" name="Text Box 3"/>
          <p:cNvSpPr txBox="1">
            <a:spLocks noChangeArrowheads="1"/>
          </p:cNvSpPr>
          <p:nvPr/>
        </p:nvSpPr>
        <p:spPr bwMode="auto">
          <a:xfrm>
            <a:off x="6470980" y="3673147"/>
            <a:ext cx="105842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rgbClr val="FF0000"/>
                </a:solidFill>
                <a:latin typeface="楷体_GB2312" pitchFamily="49" charset="-122"/>
                <a:ea typeface="楷体_GB2312" pitchFamily="49" charset="-122"/>
              </a:defRPr>
            </a:lvl1pPr>
            <a:lvl2pPr marL="742950" indent="-285750" eaLnBrk="0" hangingPunct="0">
              <a:defRPr kumimoji="1" sz="2400" b="1">
                <a:solidFill>
                  <a:srgbClr val="FF0000"/>
                </a:solidFill>
                <a:latin typeface="楷体_GB2312" pitchFamily="49" charset="-122"/>
                <a:ea typeface="楷体_GB2312" pitchFamily="49" charset="-122"/>
              </a:defRPr>
            </a:lvl2pPr>
            <a:lvl3pPr marL="1143000" indent="-228600" eaLnBrk="0" hangingPunct="0">
              <a:defRPr kumimoji="1" sz="2400" b="1">
                <a:solidFill>
                  <a:srgbClr val="FF0000"/>
                </a:solidFill>
                <a:latin typeface="楷体_GB2312" pitchFamily="49" charset="-122"/>
                <a:ea typeface="楷体_GB2312" pitchFamily="49" charset="-122"/>
              </a:defRPr>
            </a:lvl3pPr>
            <a:lvl4pPr marL="1600200" indent="-228600" eaLnBrk="0" hangingPunct="0">
              <a:defRPr kumimoji="1" sz="2400" b="1">
                <a:solidFill>
                  <a:srgbClr val="FF0000"/>
                </a:solidFill>
                <a:latin typeface="楷体_GB2312" pitchFamily="49" charset="-122"/>
                <a:ea typeface="楷体_GB2312" pitchFamily="49" charset="-122"/>
              </a:defRPr>
            </a:lvl4pPr>
            <a:lvl5pPr marL="2057400" indent="-228600" eaLnBrk="0" hangingPunct="0">
              <a:defRPr kumimoji="1" sz="2400" b="1">
                <a:solidFill>
                  <a:srgbClr val="FF0000"/>
                </a:solidFill>
                <a:latin typeface="楷体_GB2312" pitchFamily="49" charset="-122"/>
                <a:ea typeface="楷体_GB2312" pitchFamily="49" charset="-122"/>
              </a:defRPr>
            </a:lvl5pPr>
            <a:lvl6pPr marL="25146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6pPr>
            <a:lvl7pPr marL="29718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7pPr>
            <a:lvl8pPr marL="34290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8pPr>
            <a:lvl9pPr marL="38862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9pPr>
          </a:lstStyle>
          <a:p>
            <a:pPr eaLnBrk="1" hangingPunct="1">
              <a:lnSpc>
                <a:spcPct val="100000"/>
              </a:lnSpc>
              <a:spcBef>
                <a:spcPct val="50000"/>
              </a:spcBef>
            </a:pPr>
            <a:r>
              <a:rPr lang="zh-CN" altLang="en-US" sz="1600" i="0" dirty="0">
                <a:solidFill>
                  <a:srgbClr val="0000FF"/>
                </a:solidFill>
                <a:latin typeface="Times New Roman" pitchFamily="18" charset="0"/>
                <a:ea typeface="宋体" pitchFamily="2" charset="-122"/>
              </a:rPr>
              <a:t>特征点</a:t>
            </a:r>
          </a:p>
        </p:txBody>
      </p:sp>
      <p:sp>
        <p:nvSpPr>
          <p:cNvPr id="196" name="Text Box 106"/>
          <p:cNvSpPr txBox="1">
            <a:spLocks noChangeArrowheads="1"/>
          </p:cNvSpPr>
          <p:nvPr/>
        </p:nvSpPr>
        <p:spPr bwMode="auto">
          <a:xfrm>
            <a:off x="6740694" y="4825873"/>
            <a:ext cx="13902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35.04kN</a:t>
            </a:r>
            <a:r>
              <a:rPr lang="en-US" altLang="zh-CN" sz="1800" b="0" i="0" dirty="0">
                <a:solidFill>
                  <a:srgbClr val="0000FF"/>
                </a:solidFill>
                <a:latin typeface="Times New Roman" pitchFamily="18" charset="0"/>
                <a:ea typeface="+mn-ea"/>
                <a:cs typeface="Times New Roman" pitchFamily="18" charset="0"/>
                <a:sym typeface="Symbol"/>
              </a:rPr>
              <a:t>m</a:t>
            </a:r>
            <a:endParaRPr lang="zh-CN" altLang="en-US" sz="1800" b="0" i="0" dirty="0">
              <a:solidFill>
                <a:srgbClr val="0000FF"/>
              </a:solidFill>
              <a:latin typeface="Times New Roman" pitchFamily="18" charset="0"/>
              <a:ea typeface="+mn-ea"/>
              <a:cs typeface="Times New Roman" pitchFamily="18" charset="0"/>
            </a:endParaRPr>
          </a:p>
        </p:txBody>
      </p:sp>
      <p:cxnSp>
        <p:nvCxnSpPr>
          <p:cNvPr id="197" name="直接连接符 196"/>
          <p:cNvCxnSpPr/>
          <p:nvPr/>
        </p:nvCxnSpPr>
        <p:spPr bwMode="auto">
          <a:xfrm>
            <a:off x="5937838" y="3860231"/>
            <a:ext cx="0" cy="66457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Text Box 106"/>
          <p:cNvSpPr txBox="1">
            <a:spLocks noChangeArrowheads="1"/>
          </p:cNvSpPr>
          <p:nvPr/>
        </p:nvSpPr>
        <p:spPr bwMode="auto">
          <a:xfrm>
            <a:off x="4718637" y="3316739"/>
            <a:ext cx="878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7kN</a:t>
            </a:r>
            <a:endParaRPr lang="zh-CN" altLang="en-US" sz="1800" b="0" i="0" dirty="0">
              <a:solidFill>
                <a:srgbClr val="0000FF"/>
              </a:solidFill>
              <a:latin typeface="Times New Roman" pitchFamily="18" charset="0"/>
              <a:ea typeface="+mn-ea"/>
              <a:cs typeface="Times New Roman" pitchFamily="18" charset="0"/>
            </a:endParaRPr>
          </a:p>
        </p:txBody>
      </p:sp>
      <p:cxnSp>
        <p:nvCxnSpPr>
          <p:cNvPr id="199" name="直接连接符 198"/>
          <p:cNvCxnSpPr>
            <a:endCxn id="187" idx="0"/>
          </p:cNvCxnSpPr>
          <p:nvPr/>
        </p:nvCxnSpPr>
        <p:spPr bwMode="auto">
          <a:xfrm flipH="1">
            <a:off x="4604839" y="3579705"/>
            <a:ext cx="290651" cy="26271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Line 17"/>
          <p:cNvSpPr>
            <a:spLocks noChangeShapeType="1"/>
          </p:cNvSpPr>
          <p:nvPr/>
        </p:nvSpPr>
        <p:spPr bwMode="auto">
          <a:xfrm>
            <a:off x="4589241" y="3838510"/>
            <a:ext cx="1355796" cy="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1" name="Line 16"/>
          <p:cNvSpPr>
            <a:spLocks noChangeShapeType="1"/>
          </p:cNvSpPr>
          <p:nvPr/>
        </p:nvSpPr>
        <p:spPr bwMode="auto">
          <a:xfrm flipH="1" flipV="1">
            <a:off x="5945239" y="3832580"/>
            <a:ext cx="2724323" cy="99064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cxnSp>
        <p:nvCxnSpPr>
          <p:cNvPr id="202" name="直接连接符 201"/>
          <p:cNvCxnSpPr>
            <a:endCxn id="209" idx="1"/>
          </p:cNvCxnSpPr>
          <p:nvPr/>
        </p:nvCxnSpPr>
        <p:spPr bwMode="auto">
          <a:xfrm>
            <a:off x="6639042" y="4034741"/>
            <a:ext cx="0" cy="112264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Line 17"/>
          <p:cNvSpPr>
            <a:spLocks noChangeShapeType="1"/>
          </p:cNvSpPr>
          <p:nvPr/>
        </p:nvSpPr>
        <p:spPr bwMode="auto">
          <a:xfrm flipV="1">
            <a:off x="3257196" y="5608702"/>
            <a:ext cx="1353882" cy="515972"/>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04" name="组合 203"/>
          <p:cNvGrpSpPr/>
          <p:nvPr/>
        </p:nvGrpSpPr>
        <p:grpSpPr>
          <a:xfrm>
            <a:off x="3250908" y="5368888"/>
            <a:ext cx="5965061" cy="788968"/>
            <a:chOff x="3011079" y="3573313"/>
            <a:chExt cx="5965061" cy="788968"/>
          </a:xfrm>
        </p:grpSpPr>
        <p:sp>
          <p:nvSpPr>
            <p:cNvPr id="205" name="Rectangle 19"/>
            <p:cNvSpPr>
              <a:spLocks noChangeAspect="1" noChangeArrowheads="1"/>
            </p:cNvSpPr>
            <p:nvPr/>
          </p:nvSpPr>
          <p:spPr bwMode="auto">
            <a:xfrm>
              <a:off x="8623715" y="4059069"/>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i="1" dirty="0">
                  <a:solidFill>
                    <a:schemeClr val="tx1"/>
                  </a:solidFill>
                  <a:latin typeface="Times New Roman" pitchFamily="18" charset="0"/>
                  <a:ea typeface="宋体" pitchFamily="2" charset="-122"/>
                </a:rPr>
                <a:t>x</a:t>
              </a:r>
            </a:p>
          </p:txBody>
        </p:sp>
        <p:sp>
          <p:nvSpPr>
            <p:cNvPr id="206" name="Line 23"/>
            <p:cNvSpPr>
              <a:spLocks noChangeShapeType="1"/>
            </p:cNvSpPr>
            <p:nvPr/>
          </p:nvSpPr>
          <p:spPr bwMode="auto">
            <a:xfrm>
              <a:off x="3011079" y="4329099"/>
              <a:ext cx="5805628" cy="0"/>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 name="Line 24"/>
            <p:cNvSpPr>
              <a:spLocks noChangeShapeType="1"/>
            </p:cNvSpPr>
            <p:nvPr/>
          </p:nvSpPr>
          <p:spPr bwMode="auto">
            <a:xfrm flipV="1">
              <a:off x="3017368" y="3573313"/>
              <a:ext cx="0" cy="788967"/>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08" name="Text Box 106"/>
          <p:cNvSpPr txBox="1">
            <a:spLocks noChangeArrowheads="1"/>
          </p:cNvSpPr>
          <p:nvPr/>
        </p:nvSpPr>
        <p:spPr bwMode="auto">
          <a:xfrm>
            <a:off x="4940494" y="5089051"/>
            <a:ext cx="113156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33kN</a:t>
            </a:r>
            <a:r>
              <a:rPr lang="en-US" altLang="zh-CN" sz="1800" b="0" i="0" dirty="0">
                <a:solidFill>
                  <a:srgbClr val="0000FF"/>
                </a:solidFill>
                <a:latin typeface="Times New Roman" pitchFamily="18" charset="0"/>
                <a:cs typeface="Times New Roman" pitchFamily="18" charset="0"/>
                <a:sym typeface="Symbol"/>
              </a:rPr>
              <a:t>m</a:t>
            </a:r>
            <a:endParaRPr lang="zh-CN" altLang="en-US" sz="1800" b="0" i="0" dirty="0">
              <a:solidFill>
                <a:srgbClr val="0000FF"/>
              </a:solidFill>
              <a:latin typeface="Times New Roman" pitchFamily="18" charset="0"/>
              <a:cs typeface="Times New Roman" pitchFamily="18" charset="0"/>
            </a:endParaRPr>
          </a:p>
          <a:p>
            <a:pPr algn="ctr">
              <a:lnSpc>
                <a:spcPct val="100000"/>
              </a:lnSpc>
              <a:spcBef>
                <a:spcPct val="50000"/>
              </a:spcBef>
              <a:defRPr/>
            </a:pPr>
            <a:endParaRPr lang="zh-CN" altLang="en-US" sz="1800" dirty="0">
              <a:solidFill>
                <a:srgbClr val="0000FF"/>
              </a:solidFill>
              <a:latin typeface="Times New Roman" pitchFamily="18" charset="0"/>
              <a:ea typeface="+mn-ea"/>
              <a:cs typeface="Times New Roman" pitchFamily="18" charset="0"/>
            </a:endParaRPr>
          </a:p>
        </p:txBody>
      </p:sp>
      <p:sp>
        <p:nvSpPr>
          <p:cNvPr id="209" name="任意多边形 208"/>
          <p:cNvSpPr/>
          <p:nvPr/>
        </p:nvSpPr>
        <p:spPr bwMode="auto">
          <a:xfrm>
            <a:off x="5938954" y="5157372"/>
            <a:ext cx="2726531" cy="957279"/>
          </a:xfrm>
          <a:custGeom>
            <a:avLst/>
            <a:gdLst>
              <a:gd name="connsiteX0" fmla="*/ 0 w 2726531"/>
              <a:gd name="connsiteY0" fmla="*/ 211948 h 957279"/>
              <a:gd name="connsiteX1" fmla="*/ 700088 w 2726531"/>
              <a:gd name="connsiteY1" fmla="*/ 17 h 957279"/>
              <a:gd name="connsiteX2" fmla="*/ 1669256 w 2726531"/>
              <a:gd name="connsiteY2" fmla="*/ 221473 h 957279"/>
              <a:gd name="connsiteX3" fmla="*/ 2726531 w 2726531"/>
              <a:gd name="connsiteY3" fmla="*/ 957279 h 957279"/>
            </a:gdLst>
            <a:ahLst/>
            <a:cxnLst>
              <a:cxn ang="0">
                <a:pos x="connsiteX0" y="connsiteY0"/>
              </a:cxn>
              <a:cxn ang="0">
                <a:pos x="connsiteX1" y="connsiteY1"/>
              </a:cxn>
              <a:cxn ang="0">
                <a:pos x="connsiteX2" y="connsiteY2"/>
              </a:cxn>
              <a:cxn ang="0">
                <a:pos x="connsiteX3" y="connsiteY3"/>
              </a:cxn>
            </a:cxnLst>
            <a:rect l="l" t="t" r="r" b="b"/>
            <a:pathLst>
              <a:path w="2726531" h="957279">
                <a:moveTo>
                  <a:pt x="0" y="211948"/>
                </a:moveTo>
                <a:cubicBezTo>
                  <a:pt x="210939" y="105189"/>
                  <a:pt x="421879" y="-1570"/>
                  <a:pt x="700088" y="17"/>
                </a:cubicBezTo>
                <a:cubicBezTo>
                  <a:pt x="978297" y="1604"/>
                  <a:pt x="1331515" y="61929"/>
                  <a:pt x="1669256" y="221473"/>
                </a:cubicBezTo>
                <a:cubicBezTo>
                  <a:pt x="2006997" y="381017"/>
                  <a:pt x="2366764" y="669148"/>
                  <a:pt x="2726531" y="957279"/>
                </a:cubicBezTo>
              </a:path>
            </a:pathLst>
          </a:custGeom>
          <a:noFill/>
          <a:ln w="2857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dirty="0">
              <a:ln>
                <a:noFill/>
              </a:ln>
              <a:solidFill>
                <a:srgbClr val="FF0000"/>
              </a:solidFill>
              <a:effectLst/>
              <a:latin typeface="楷体_GB2312" pitchFamily="49" charset="-122"/>
              <a:ea typeface="楷体_GB2312" pitchFamily="49" charset="-122"/>
            </a:endParaRPr>
          </a:p>
        </p:txBody>
      </p:sp>
    </p:spTree>
    <p:extLst>
      <p:ext uri="{BB962C8B-B14F-4D97-AF65-F5344CB8AC3E}">
        <p14:creationId xmlns:p14="http://schemas.microsoft.com/office/powerpoint/2010/main" val="30647841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6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0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0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0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1" grpId="0"/>
      <p:bldP spid="152" grpId="0"/>
      <p:bldP spid="153" grpId="0" animBg="1"/>
      <p:bldP spid="154" grpId="0" animBg="1"/>
      <p:bldP spid="180" grpId="0" animBg="1"/>
      <p:bldP spid="181" grpId="0" animBg="1"/>
      <p:bldP spid="187" grpId="0" animBg="1"/>
      <p:bldP spid="188" grpId="0"/>
      <p:bldP spid="189" grpId="0" animBg="1"/>
      <p:bldP spid="191" grpId="0"/>
      <p:bldP spid="192" grpId="0" animBg="1"/>
      <p:bldP spid="193" grpId="0"/>
      <p:bldP spid="194" grpId="0"/>
      <p:bldP spid="195" grpId="0"/>
      <p:bldP spid="196" grpId="0"/>
      <p:bldP spid="198" grpId="0"/>
      <p:bldP spid="200" grpId="0" animBg="1"/>
      <p:bldP spid="201" grpId="0" animBg="1"/>
      <p:bldP spid="203" grpId="0" animBg="1"/>
      <p:bldP spid="208" grpId="0"/>
      <p:bldP spid="20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695400" y="1700808"/>
            <a:ext cx="11017224" cy="609398"/>
          </a:xfrm>
          <a:prstGeom prst="rect">
            <a:avLst/>
          </a:prstGeom>
        </p:spPr>
        <p:txBody>
          <a:bodyPr wrap="square">
            <a:spAutoFit/>
          </a:bodyPr>
          <a:lstStyle/>
          <a:p>
            <a:pPr>
              <a:lnSpc>
                <a:spcPct val="120000"/>
              </a:lnSpc>
            </a:pPr>
            <a:r>
              <a:rPr kumimoji="1" lang="en-US" altLang="zh-CN" sz="2800" i="0" dirty="0">
                <a:solidFill>
                  <a:schemeClr val="tx1"/>
                </a:solidFill>
                <a:latin typeface="+mn-lt"/>
                <a:ea typeface="微软雅黑" panose="020B0503020204020204" pitchFamily="34" charset="-122"/>
              </a:rPr>
              <a:t>1)  </a:t>
            </a:r>
            <a:r>
              <a:rPr kumimoji="1" lang="zh-CN" altLang="en-US" sz="2800" i="0" dirty="0">
                <a:solidFill>
                  <a:schemeClr val="tx1"/>
                </a:solidFill>
                <a:latin typeface="微软雅黑" panose="020B0503020204020204" pitchFamily="34" charset="-122"/>
                <a:ea typeface="微软雅黑" panose="020B0503020204020204" pitchFamily="34" charset="-122"/>
              </a:rPr>
              <a:t>在某一段上若无载荷作用，剪力图为一水平线，弯矩图为一斜直线。</a:t>
            </a:r>
            <a:endParaRPr kumimoji="1" lang="en-US" altLang="zh-CN" i="0" dirty="0">
              <a:solidFill>
                <a:schemeClr val="tx1"/>
              </a:solidFill>
              <a:latin typeface="+mn-lt"/>
              <a:ea typeface="黑体" panose="02010609060101010101" pitchFamily="49" charset="-122"/>
            </a:endParaRPr>
          </a:p>
        </p:txBody>
      </p:sp>
      <p:sp>
        <p:nvSpPr>
          <p:cNvPr id="69" name="矩形 68">
            <a:extLst>
              <a:ext uri="{FF2B5EF4-FFF2-40B4-BE49-F238E27FC236}">
                <a16:creationId xmlns:a16="http://schemas.microsoft.com/office/drawing/2014/main" id="{E8DB0D0A-8BE9-6ADA-6C58-96049487BA32}"/>
              </a:ext>
            </a:extLst>
          </p:cNvPr>
          <p:cNvSpPr/>
          <p:nvPr/>
        </p:nvSpPr>
        <p:spPr>
          <a:xfrm>
            <a:off x="695400" y="2331051"/>
            <a:ext cx="10925375" cy="1384995"/>
          </a:xfrm>
          <a:prstGeom prst="rect">
            <a:avLst/>
          </a:prstGeom>
        </p:spPr>
        <p:txBody>
          <a:bodyPr wrap="square">
            <a:spAutoFit/>
          </a:bodyPr>
          <a:lstStyle/>
          <a:p>
            <a:pPr lvl="0">
              <a:lnSpc>
                <a:spcPct val="150000"/>
              </a:lnSpc>
              <a:buClr>
                <a:srgbClr val="FF3300"/>
              </a:buClr>
            </a:pPr>
            <a:r>
              <a:rPr kumimoji="1" lang="en-US" altLang="zh-CN" sz="2800" i="0" dirty="0">
                <a:solidFill>
                  <a:schemeClr val="tx1"/>
                </a:solidFill>
                <a:ea typeface="微软雅黑" panose="020B0503020204020204" pitchFamily="34" charset="-122"/>
              </a:rPr>
              <a:t>2)  </a:t>
            </a:r>
            <a:r>
              <a:rPr kumimoji="1" lang="zh-CN" altLang="en-US" sz="2800" i="0" dirty="0">
                <a:solidFill>
                  <a:srgbClr val="000000"/>
                </a:solidFill>
                <a:latin typeface="+mn-lt"/>
                <a:ea typeface="微软雅黑" panose="020B0503020204020204" pitchFamily="34" charset="-122"/>
              </a:rPr>
              <a:t>在某一段上作用分布载荷，剪力图为一斜直线，弯矩图为一抛物线。且弯矩</a:t>
            </a:r>
            <a:r>
              <a:rPr kumimoji="1" lang="en-US" altLang="zh-CN" sz="2800" b="0" dirty="0">
                <a:solidFill>
                  <a:srgbClr val="000000"/>
                </a:solidFill>
                <a:latin typeface="+mn-lt"/>
                <a:ea typeface="微软雅黑" panose="020B0503020204020204" pitchFamily="34" charset="-122"/>
              </a:rPr>
              <a:t>M</a:t>
            </a:r>
            <a:r>
              <a:rPr kumimoji="1" lang="zh-CN" altLang="en-US" sz="2800" i="0" dirty="0">
                <a:solidFill>
                  <a:srgbClr val="000000"/>
                </a:solidFill>
                <a:latin typeface="+mn-lt"/>
                <a:ea typeface="微软雅黑" panose="020B0503020204020204" pitchFamily="34" charset="-122"/>
              </a:rPr>
              <a:t>最大值发生于</a:t>
            </a:r>
            <a:r>
              <a:rPr kumimoji="1" lang="en-US" altLang="zh-CN" sz="2800" b="0" dirty="0">
                <a:solidFill>
                  <a:srgbClr val="000000"/>
                </a:solidFill>
                <a:latin typeface="+mn-lt"/>
                <a:ea typeface="微软雅黑" panose="020B0503020204020204" pitchFamily="34" charset="-122"/>
              </a:rPr>
              <a:t>F</a:t>
            </a:r>
            <a:r>
              <a:rPr kumimoji="1" lang="en-US" altLang="zh-CN" sz="2800" b="0" i="0" baseline="-25000" dirty="0">
                <a:solidFill>
                  <a:srgbClr val="000000"/>
                </a:solidFill>
                <a:latin typeface="+mn-lt"/>
                <a:ea typeface="微软雅黑" panose="020B0503020204020204" pitchFamily="34" charset="-122"/>
              </a:rPr>
              <a:t>Q</a:t>
            </a:r>
            <a:r>
              <a:rPr kumimoji="1" lang="en-US" altLang="zh-CN" sz="2800" b="0" i="0" dirty="0">
                <a:solidFill>
                  <a:srgbClr val="000000"/>
                </a:solidFill>
                <a:latin typeface="+mn-lt"/>
                <a:ea typeface="微软雅黑" panose="020B0503020204020204" pitchFamily="34" charset="-122"/>
              </a:rPr>
              <a:t>=0</a:t>
            </a:r>
            <a:r>
              <a:rPr kumimoji="1" lang="zh-CN" altLang="en-US" sz="2800" i="0" dirty="0">
                <a:solidFill>
                  <a:srgbClr val="000000"/>
                </a:solidFill>
                <a:latin typeface="+mn-lt"/>
                <a:ea typeface="微软雅黑" panose="020B0503020204020204" pitchFamily="34" charset="-122"/>
              </a:rPr>
              <a:t>处。</a:t>
            </a:r>
            <a:endParaRPr kumimoji="1" lang="en-US" altLang="zh-CN" i="0" dirty="0">
              <a:solidFill>
                <a:schemeClr val="tx1"/>
              </a:solidFill>
              <a:latin typeface="+mn-lt"/>
              <a:ea typeface="黑体" panose="02010609060101010101" pitchFamily="49" charset="-122"/>
            </a:endParaRPr>
          </a:p>
        </p:txBody>
      </p:sp>
      <p:sp>
        <p:nvSpPr>
          <p:cNvPr id="70" name="矩形 69">
            <a:extLst>
              <a:ext uri="{FF2B5EF4-FFF2-40B4-BE49-F238E27FC236}">
                <a16:creationId xmlns:a16="http://schemas.microsoft.com/office/drawing/2014/main" id="{E8DB0D0A-8BE9-6ADA-6C58-96049487BA32}"/>
              </a:ext>
            </a:extLst>
          </p:cNvPr>
          <p:cNvSpPr/>
          <p:nvPr/>
        </p:nvSpPr>
        <p:spPr>
          <a:xfrm>
            <a:off x="695400" y="3591018"/>
            <a:ext cx="10925375" cy="1384995"/>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3)  </a:t>
            </a:r>
            <a:r>
              <a:rPr kumimoji="1" lang="zh-CN" altLang="en-US" sz="2800" i="0" dirty="0">
                <a:solidFill>
                  <a:srgbClr val="000000"/>
                </a:solidFill>
                <a:latin typeface="+mn-lt"/>
                <a:ea typeface="微软雅黑" panose="020B0503020204020204" pitchFamily="34" charset="-122"/>
              </a:rPr>
              <a:t>集中力作用处剪力图有突变，变化值等于集中力的大小</a:t>
            </a:r>
            <a:r>
              <a:rPr kumimoji="1" lang="en-US" altLang="zh-CN" sz="2800" i="0" dirty="0">
                <a:solidFill>
                  <a:srgbClr val="000000"/>
                </a:solidFill>
                <a:latin typeface="+mn-lt"/>
                <a:ea typeface="微软雅黑" panose="020B0503020204020204" pitchFamily="34" charset="-122"/>
              </a:rPr>
              <a:t>;</a:t>
            </a:r>
            <a:r>
              <a:rPr kumimoji="1" lang="zh-CN" altLang="en-US" sz="2800" i="0" dirty="0">
                <a:solidFill>
                  <a:srgbClr val="000000"/>
                </a:solidFill>
                <a:latin typeface="+mn-lt"/>
                <a:ea typeface="微软雅黑" panose="020B0503020204020204" pitchFamily="34" charset="-122"/>
              </a:rPr>
              <a:t>弯矩图上无突变，但斜率发生突变，弯矩图为折角点。</a:t>
            </a:r>
            <a:endParaRPr kumimoji="1" lang="en-US" altLang="zh-CN" i="0" dirty="0">
              <a:solidFill>
                <a:schemeClr val="tx1"/>
              </a:solidFill>
              <a:latin typeface="+mn-lt"/>
              <a:ea typeface="黑体" panose="02010609060101010101" pitchFamily="49" charset="-122"/>
            </a:endParaRPr>
          </a:p>
        </p:txBody>
      </p:sp>
      <p:sp>
        <p:nvSpPr>
          <p:cNvPr id="75" name="矩形 74">
            <a:extLst>
              <a:ext uri="{FF2B5EF4-FFF2-40B4-BE49-F238E27FC236}">
                <a16:creationId xmlns:a16="http://schemas.microsoft.com/office/drawing/2014/main" id="{E8DB0D0A-8BE9-6ADA-6C58-96049487BA32}"/>
              </a:ext>
            </a:extLst>
          </p:cNvPr>
          <p:cNvSpPr/>
          <p:nvPr/>
        </p:nvSpPr>
        <p:spPr>
          <a:xfrm>
            <a:off x="695400" y="4850984"/>
            <a:ext cx="10925375" cy="1384995"/>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4)  </a:t>
            </a:r>
            <a:r>
              <a:rPr kumimoji="1" lang="zh-CN" altLang="en-US" sz="2800" i="0" dirty="0">
                <a:solidFill>
                  <a:srgbClr val="000000"/>
                </a:solidFill>
                <a:latin typeface="+mn-lt"/>
                <a:ea typeface="微软雅黑" panose="020B0503020204020204" pitchFamily="34" charset="-122"/>
              </a:rPr>
              <a:t>在集中力偶作用处，弯矩图上发生突变，突变值为该集中力偶的大小而剪力图无改变。</a:t>
            </a:r>
          </a:p>
        </p:txBody>
      </p:sp>
      <p:sp>
        <p:nvSpPr>
          <p:cNvPr id="76" name="矩形 75">
            <a:extLst>
              <a:ext uri="{FF2B5EF4-FFF2-40B4-BE49-F238E27FC236}">
                <a16:creationId xmlns:a16="http://schemas.microsoft.com/office/drawing/2014/main" id="{E8DB0D0A-8BE9-6ADA-6C58-96049487BA32}"/>
              </a:ext>
            </a:extLst>
          </p:cNvPr>
          <p:cNvSpPr/>
          <p:nvPr/>
        </p:nvSpPr>
        <p:spPr>
          <a:xfrm>
            <a:off x="5303912" y="1098984"/>
            <a:ext cx="1080120" cy="565348"/>
          </a:xfrm>
          <a:prstGeom prst="rect">
            <a:avLst/>
          </a:prstGeom>
        </p:spPr>
        <p:txBody>
          <a:bodyPr wrap="square">
            <a:spAutoFit/>
          </a:bodyPr>
          <a:lstStyle/>
          <a:p>
            <a:pPr>
              <a:lnSpc>
                <a:spcPct val="120000"/>
              </a:lnSpc>
            </a:pPr>
            <a:r>
              <a:rPr kumimoji="1" lang="zh-CN" altLang="en-US" sz="2800" i="0" dirty="0">
                <a:latin typeface="+mn-lt"/>
                <a:ea typeface="微软雅黑" panose="020B0503020204020204" pitchFamily="34" charset="-122"/>
              </a:rPr>
              <a:t>总结</a:t>
            </a:r>
            <a:endParaRPr kumimoji="1" lang="en-US" altLang="zh-CN" i="0" dirty="0">
              <a:latin typeface="+mn-lt"/>
              <a:ea typeface="黑体" panose="02010609060101010101" pitchFamily="49" charset="-122"/>
            </a:endParaRPr>
          </a:p>
        </p:txBody>
      </p:sp>
    </p:spTree>
    <p:extLst>
      <p:ext uri="{BB962C8B-B14F-4D97-AF65-F5344CB8AC3E}">
        <p14:creationId xmlns:p14="http://schemas.microsoft.com/office/powerpoint/2010/main" val="30115023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9" grpId="0"/>
      <p:bldP spid="70" grpId="0"/>
      <p:bldP spid="75" grpId="0"/>
      <p:bldP spid="7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§10-2  </a:t>
            </a:r>
            <a:r>
              <a:rPr lang="zh-CN" altLang="en-US" sz="3000" i="0" dirty="0">
                <a:solidFill>
                  <a:schemeClr val="accent6">
                    <a:lumMod val="75000"/>
                  </a:schemeClr>
                </a:solidFill>
                <a:latin typeface="+mn-lt"/>
                <a:ea typeface="微软雅黑" panose="020B0503020204020204" pitchFamily="34" charset="-122"/>
              </a:rPr>
              <a:t>梁弯曲时的强度计算</a:t>
            </a:r>
          </a:p>
        </p:txBody>
      </p:sp>
      <p:sp>
        <p:nvSpPr>
          <p:cNvPr id="9" name="Rectangle 61"/>
          <p:cNvSpPr>
            <a:spLocks noChangeArrowheads="1"/>
          </p:cNvSpPr>
          <p:nvPr/>
        </p:nvSpPr>
        <p:spPr bwMode="auto">
          <a:xfrm>
            <a:off x="695400" y="1970219"/>
            <a:ext cx="10945216" cy="4288002"/>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6434" y="1367131"/>
            <a:ext cx="2108269" cy="1153329"/>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回顾与比较</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15" name="Text Box 5"/>
          <p:cNvSpPr txBox="1">
            <a:spLocks noChangeArrowheads="1"/>
          </p:cNvSpPr>
          <p:nvPr/>
        </p:nvSpPr>
        <p:spPr bwMode="auto">
          <a:xfrm>
            <a:off x="5184109" y="2275191"/>
            <a:ext cx="1079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内力</a:t>
            </a:r>
          </a:p>
        </p:txBody>
      </p:sp>
      <p:sp>
        <p:nvSpPr>
          <p:cNvPr id="16" name="Text Box 7"/>
          <p:cNvSpPr txBox="1">
            <a:spLocks noChangeArrowheads="1"/>
          </p:cNvSpPr>
          <p:nvPr/>
        </p:nvSpPr>
        <p:spPr bwMode="auto">
          <a:xfrm>
            <a:off x="8964253" y="2275191"/>
            <a:ext cx="1079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eaLnBrk="1" hangingPunct="1">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应力</a:t>
            </a:r>
          </a:p>
        </p:txBody>
      </p:sp>
      <p:grpSp>
        <p:nvGrpSpPr>
          <p:cNvPr id="17" name="Group 7"/>
          <p:cNvGrpSpPr>
            <a:grpSpLocks/>
          </p:cNvGrpSpPr>
          <p:nvPr/>
        </p:nvGrpSpPr>
        <p:grpSpPr bwMode="auto">
          <a:xfrm>
            <a:off x="4454959" y="2868128"/>
            <a:ext cx="2893986" cy="721977"/>
            <a:chOff x="1632" y="1285"/>
            <a:chExt cx="2381" cy="594"/>
          </a:xfrm>
        </p:grpSpPr>
        <p:grpSp>
          <p:nvGrpSpPr>
            <p:cNvPr id="18" name="Group 8"/>
            <p:cNvGrpSpPr>
              <a:grpSpLocks/>
            </p:cNvGrpSpPr>
            <p:nvPr/>
          </p:nvGrpSpPr>
          <p:grpSpPr bwMode="auto">
            <a:xfrm>
              <a:off x="3035" y="1346"/>
              <a:ext cx="978" cy="533"/>
              <a:chOff x="3035" y="1346"/>
              <a:chExt cx="978" cy="533"/>
            </a:xfrm>
          </p:grpSpPr>
          <p:sp>
            <p:nvSpPr>
              <p:cNvPr id="22" name="Rectangle 9"/>
              <p:cNvSpPr>
                <a:spLocks noChangeArrowheads="1"/>
              </p:cNvSpPr>
              <p:nvPr/>
            </p:nvSpPr>
            <p:spPr bwMode="auto">
              <a:xfrm>
                <a:off x="3376" y="1469"/>
                <a:ext cx="18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kumimoji="1" lang="en-US" altLang="zh-CN" sz="2000" b="0" i="1" dirty="0">
                    <a:solidFill>
                      <a:srgbClr val="000000"/>
                    </a:solidFill>
                    <a:latin typeface="Symbol" pitchFamily="18" charset="2"/>
                  </a:rPr>
                  <a:t>s</a:t>
                </a:r>
                <a:endParaRPr kumimoji="1" lang="en-US" altLang="zh-CN" sz="2000" b="0" dirty="0"/>
              </a:p>
            </p:txBody>
          </p:sp>
          <p:grpSp>
            <p:nvGrpSpPr>
              <p:cNvPr id="23" name="Group 10"/>
              <p:cNvGrpSpPr>
                <a:grpSpLocks/>
              </p:cNvGrpSpPr>
              <p:nvPr/>
            </p:nvGrpSpPr>
            <p:grpSpPr bwMode="auto">
              <a:xfrm>
                <a:off x="3035" y="1346"/>
                <a:ext cx="360" cy="533"/>
                <a:chOff x="3035" y="1346"/>
                <a:chExt cx="360" cy="533"/>
              </a:xfrm>
            </p:grpSpPr>
            <p:grpSp>
              <p:nvGrpSpPr>
                <p:cNvPr id="26" name="Group 11"/>
                <p:cNvGrpSpPr>
                  <a:grpSpLocks/>
                </p:cNvGrpSpPr>
                <p:nvPr/>
              </p:nvGrpSpPr>
              <p:grpSpPr bwMode="auto">
                <a:xfrm>
                  <a:off x="3035" y="1346"/>
                  <a:ext cx="360" cy="77"/>
                  <a:chOff x="3035" y="1346"/>
                  <a:chExt cx="360" cy="77"/>
                </a:xfrm>
              </p:grpSpPr>
              <p:sp>
                <p:nvSpPr>
                  <p:cNvPr id="42" name="Rectangle 12"/>
                  <p:cNvSpPr>
                    <a:spLocks noChangeArrowheads="1"/>
                  </p:cNvSpPr>
                  <p:nvPr/>
                </p:nvSpPr>
                <p:spPr bwMode="auto">
                  <a:xfrm>
                    <a:off x="3035" y="1378"/>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43" name="Freeform 13"/>
                  <p:cNvSpPr>
                    <a:spLocks/>
                  </p:cNvSpPr>
                  <p:nvPr/>
                </p:nvSpPr>
                <p:spPr bwMode="auto">
                  <a:xfrm>
                    <a:off x="3318" y="1346"/>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Group 14"/>
                <p:cNvGrpSpPr>
                  <a:grpSpLocks/>
                </p:cNvGrpSpPr>
                <p:nvPr/>
              </p:nvGrpSpPr>
              <p:grpSpPr bwMode="auto">
                <a:xfrm>
                  <a:off x="3035" y="1442"/>
                  <a:ext cx="360" cy="77"/>
                  <a:chOff x="3035" y="1442"/>
                  <a:chExt cx="360" cy="77"/>
                </a:xfrm>
              </p:grpSpPr>
              <p:sp>
                <p:nvSpPr>
                  <p:cNvPr id="40" name="Rectangle 15"/>
                  <p:cNvSpPr>
                    <a:spLocks noChangeArrowheads="1"/>
                  </p:cNvSpPr>
                  <p:nvPr/>
                </p:nvSpPr>
                <p:spPr bwMode="auto">
                  <a:xfrm>
                    <a:off x="3035" y="147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41" name="Freeform 16"/>
                  <p:cNvSpPr>
                    <a:spLocks/>
                  </p:cNvSpPr>
                  <p:nvPr/>
                </p:nvSpPr>
                <p:spPr bwMode="auto">
                  <a:xfrm>
                    <a:off x="3318" y="144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8" name="Group 17"/>
                <p:cNvGrpSpPr>
                  <a:grpSpLocks/>
                </p:cNvGrpSpPr>
                <p:nvPr/>
              </p:nvGrpSpPr>
              <p:grpSpPr bwMode="auto">
                <a:xfrm>
                  <a:off x="3035" y="1622"/>
                  <a:ext cx="360" cy="77"/>
                  <a:chOff x="3035" y="1622"/>
                  <a:chExt cx="360" cy="77"/>
                </a:xfrm>
              </p:grpSpPr>
              <p:sp>
                <p:nvSpPr>
                  <p:cNvPr id="38" name="Rectangle 18"/>
                  <p:cNvSpPr>
                    <a:spLocks noChangeArrowheads="1"/>
                  </p:cNvSpPr>
                  <p:nvPr/>
                </p:nvSpPr>
                <p:spPr bwMode="auto">
                  <a:xfrm>
                    <a:off x="3035" y="165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9" name="Freeform 19"/>
                  <p:cNvSpPr>
                    <a:spLocks/>
                  </p:cNvSpPr>
                  <p:nvPr/>
                </p:nvSpPr>
                <p:spPr bwMode="auto">
                  <a:xfrm>
                    <a:off x="3318" y="162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 name="Group 20"/>
                <p:cNvGrpSpPr>
                  <a:grpSpLocks/>
                </p:cNvGrpSpPr>
                <p:nvPr/>
              </p:nvGrpSpPr>
              <p:grpSpPr bwMode="auto">
                <a:xfrm>
                  <a:off x="3035" y="1802"/>
                  <a:ext cx="360" cy="77"/>
                  <a:chOff x="3035" y="1802"/>
                  <a:chExt cx="360" cy="77"/>
                </a:xfrm>
              </p:grpSpPr>
              <p:sp>
                <p:nvSpPr>
                  <p:cNvPr id="36" name="Rectangle 21"/>
                  <p:cNvSpPr>
                    <a:spLocks noChangeArrowheads="1"/>
                  </p:cNvSpPr>
                  <p:nvPr/>
                </p:nvSpPr>
                <p:spPr bwMode="auto">
                  <a:xfrm>
                    <a:off x="3035" y="183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7" name="Freeform 22"/>
                  <p:cNvSpPr>
                    <a:spLocks/>
                  </p:cNvSpPr>
                  <p:nvPr/>
                </p:nvSpPr>
                <p:spPr bwMode="auto">
                  <a:xfrm>
                    <a:off x="3318" y="180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 name="Group 23"/>
                <p:cNvGrpSpPr>
                  <a:grpSpLocks/>
                </p:cNvGrpSpPr>
                <p:nvPr/>
              </p:nvGrpSpPr>
              <p:grpSpPr bwMode="auto">
                <a:xfrm>
                  <a:off x="3035" y="1538"/>
                  <a:ext cx="360" cy="77"/>
                  <a:chOff x="3035" y="1538"/>
                  <a:chExt cx="360" cy="77"/>
                </a:xfrm>
              </p:grpSpPr>
              <p:sp>
                <p:nvSpPr>
                  <p:cNvPr id="34" name="Rectangle 24"/>
                  <p:cNvSpPr>
                    <a:spLocks noChangeArrowheads="1"/>
                  </p:cNvSpPr>
                  <p:nvPr/>
                </p:nvSpPr>
                <p:spPr bwMode="auto">
                  <a:xfrm>
                    <a:off x="3035" y="1570"/>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5" name="Freeform 25"/>
                  <p:cNvSpPr>
                    <a:spLocks/>
                  </p:cNvSpPr>
                  <p:nvPr/>
                </p:nvSpPr>
                <p:spPr bwMode="auto">
                  <a:xfrm>
                    <a:off x="3318" y="1538"/>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 name="Group 26"/>
                <p:cNvGrpSpPr>
                  <a:grpSpLocks/>
                </p:cNvGrpSpPr>
                <p:nvPr/>
              </p:nvGrpSpPr>
              <p:grpSpPr bwMode="auto">
                <a:xfrm>
                  <a:off x="3035" y="1718"/>
                  <a:ext cx="360" cy="77"/>
                  <a:chOff x="3035" y="1718"/>
                  <a:chExt cx="360" cy="77"/>
                </a:xfrm>
              </p:grpSpPr>
              <p:sp>
                <p:nvSpPr>
                  <p:cNvPr id="32" name="Rectangle 27"/>
                  <p:cNvSpPr>
                    <a:spLocks noChangeArrowheads="1"/>
                  </p:cNvSpPr>
                  <p:nvPr/>
                </p:nvSpPr>
                <p:spPr bwMode="auto">
                  <a:xfrm>
                    <a:off x="3035" y="1750"/>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3" name="Freeform 28"/>
                  <p:cNvSpPr>
                    <a:spLocks/>
                  </p:cNvSpPr>
                  <p:nvPr/>
                </p:nvSpPr>
                <p:spPr bwMode="auto">
                  <a:xfrm>
                    <a:off x="3318" y="1718"/>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4" name="Freeform 29"/>
              <p:cNvSpPr>
                <a:spLocks/>
              </p:cNvSpPr>
              <p:nvPr/>
            </p:nvSpPr>
            <p:spPr bwMode="auto">
              <a:xfrm>
                <a:off x="3551" y="1372"/>
                <a:ext cx="179" cy="479"/>
              </a:xfrm>
              <a:custGeom>
                <a:avLst/>
                <a:gdLst>
                  <a:gd name="T0" fmla="*/ 0 w 179"/>
                  <a:gd name="T1" fmla="*/ 0 h 479"/>
                  <a:gd name="T2" fmla="*/ 18 w 179"/>
                  <a:gd name="T3" fmla="*/ 1 h 479"/>
                  <a:gd name="T4" fmla="*/ 35 w 179"/>
                  <a:gd name="T5" fmla="*/ 3 h 479"/>
                  <a:gd name="T6" fmla="*/ 50 w 179"/>
                  <a:gd name="T7" fmla="*/ 7 h 479"/>
                  <a:gd name="T8" fmla="*/ 63 w 179"/>
                  <a:gd name="T9" fmla="*/ 12 h 479"/>
                  <a:gd name="T10" fmla="*/ 74 w 179"/>
                  <a:gd name="T11" fmla="*/ 18 h 479"/>
                  <a:gd name="T12" fmla="*/ 82 w 179"/>
                  <a:gd name="T13" fmla="*/ 25 h 479"/>
                  <a:gd name="T14" fmla="*/ 87 w 179"/>
                  <a:gd name="T15" fmla="*/ 32 h 479"/>
                  <a:gd name="T16" fmla="*/ 89 w 179"/>
                  <a:gd name="T17" fmla="*/ 40 h 479"/>
                  <a:gd name="T18" fmla="*/ 89 w 179"/>
                  <a:gd name="T19" fmla="*/ 200 h 479"/>
                  <a:gd name="T20" fmla="*/ 91 w 179"/>
                  <a:gd name="T21" fmla="*/ 208 h 479"/>
                  <a:gd name="T22" fmla="*/ 96 w 179"/>
                  <a:gd name="T23" fmla="*/ 215 h 479"/>
                  <a:gd name="T24" fmla="*/ 105 w 179"/>
                  <a:gd name="T25" fmla="*/ 222 h 479"/>
                  <a:gd name="T26" fmla="*/ 116 w 179"/>
                  <a:gd name="T27" fmla="*/ 228 h 479"/>
                  <a:gd name="T28" fmla="*/ 129 w 179"/>
                  <a:gd name="T29" fmla="*/ 232 h 479"/>
                  <a:gd name="T30" fmla="*/ 144 w 179"/>
                  <a:gd name="T31" fmla="*/ 236 h 479"/>
                  <a:gd name="T32" fmla="*/ 161 w 179"/>
                  <a:gd name="T33" fmla="*/ 238 h 479"/>
                  <a:gd name="T34" fmla="*/ 179 w 179"/>
                  <a:gd name="T35" fmla="*/ 239 h 479"/>
                  <a:gd name="T36" fmla="*/ 161 w 179"/>
                  <a:gd name="T37" fmla="*/ 240 h 479"/>
                  <a:gd name="T38" fmla="*/ 144 w 179"/>
                  <a:gd name="T39" fmla="*/ 242 h 479"/>
                  <a:gd name="T40" fmla="*/ 129 w 179"/>
                  <a:gd name="T41" fmla="*/ 246 h 479"/>
                  <a:gd name="T42" fmla="*/ 116 w 179"/>
                  <a:gd name="T43" fmla="*/ 251 h 479"/>
                  <a:gd name="T44" fmla="*/ 105 w 179"/>
                  <a:gd name="T45" fmla="*/ 257 h 479"/>
                  <a:gd name="T46" fmla="*/ 96 w 179"/>
                  <a:gd name="T47" fmla="*/ 264 h 479"/>
                  <a:gd name="T48" fmla="*/ 91 w 179"/>
                  <a:gd name="T49" fmla="*/ 271 h 479"/>
                  <a:gd name="T50" fmla="*/ 89 w 179"/>
                  <a:gd name="T51" fmla="*/ 279 h 479"/>
                  <a:gd name="T52" fmla="*/ 89 w 179"/>
                  <a:gd name="T53" fmla="*/ 439 h 479"/>
                  <a:gd name="T54" fmla="*/ 87 w 179"/>
                  <a:gd name="T55" fmla="*/ 447 h 479"/>
                  <a:gd name="T56" fmla="*/ 82 w 179"/>
                  <a:gd name="T57" fmla="*/ 455 h 479"/>
                  <a:gd name="T58" fmla="*/ 74 w 179"/>
                  <a:gd name="T59" fmla="*/ 461 h 479"/>
                  <a:gd name="T60" fmla="*/ 63 w 179"/>
                  <a:gd name="T61" fmla="*/ 467 h 479"/>
                  <a:gd name="T62" fmla="*/ 50 w 179"/>
                  <a:gd name="T63" fmla="*/ 472 h 479"/>
                  <a:gd name="T64" fmla="*/ 35 w 179"/>
                  <a:gd name="T65" fmla="*/ 476 h 479"/>
                  <a:gd name="T66" fmla="*/ 18 w 179"/>
                  <a:gd name="T67" fmla="*/ 478 h 479"/>
                  <a:gd name="T68" fmla="*/ 0 w 179"/>
                  <a:gd name="T69" fmla="*/ 479 h 4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9"/>
                  <a:gd name="T106" fmla="*/ 0 h 479"/>
                  <a:gd name="T107" fmla="*/ 179 w 179"/>
                  <a:gd name="T108" fmla="*/ 479 h 4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9" h="479">
                    <a:moveTo>
                      <a:pt x="0" y="0"/>
                    </a:moveTo>
                    <a:lnTo>
                      <a:pt x="18" y="1"/>
                    </a:lnTo>
                    <a:lnTo>
                      <a:pt x="35" y="3"/>
                    </a:lnTo>
                    <a:lnTo>
                      <a:pt x="50" y="7"/>
                    </a:lnTo>
                    <a:lnTo>
                      <a:pt x="63" y="12"/>
                    </a:lnTo>
                    <a:lnTo>
                      <a:pt x="74" y="18"/>
                    </a:lnTo>
                    <a:lnTo>
                      <a:pt x="82" y="25"/>
                    </a:lnTo>
                    <a:lnTo>
                      <a:pt x="87" y="32"/>
                    </a:lnTo>
                    <a:lnTo>
                      <a:pt x="89" y="40"/>
                    </a:lnTo>
                    <a:lnTo>
                      <a:pt x="89" y="200"/>
                    </a:lnTo>
                    <a:lnTo>
                      <a:pt x="91" y="208"/>
                    </a:lnTo>
                    <a:lnTo>
                      <a:pt x="96" y="215"/>
                    </a:lnTo>
                    <a:lnTo>
                      <a:pt x="105" y="222"/>
                    </a:lnTo>
                    <a:lnTo>
                      <a:pt x="116" y="228"/>
                    </a:lnTo>
                    <a:lnTo>
                      <a:pt x="129" y="232"/>
                    </a:lnTo>
                    <a:lnTo>
                      <a:pt x="144" y="236"/>
                    </a:lnTo>
                    <a:lnTo>
                      <a:pt x="161" y="238"/>
                    </a:lnTo>
                    <a:lnTo>
                      <a:pt x="179" y="239"/>
                    </a:lnTo>
                    <a:lnTo>
                      <a:pt x="161" y="240"/>
                    </a:lnTo>
                    <a:lnTo>
                      <a:pt x="144" y="242"/>
                    </a:lnTo>
                    <a:lnTo>
                      <a:pt x="129" y="246"/>
                    </a:lnTo>
                    <a:lnTo>
                      <a:pt x="116" y="251"/>
                    </a:lnTo>
                    <a:lnTo>
                      <a:pt x="105" y="257"/>
                    </a:lnTo>
                    <a:lnTo>
                      <a:pt x="96" y="264"/>
                    </a:lnTo>
                    <a:lnTo>
                      <a:pt x="91" y="271"/>
                    </a:lnTo>
                    <a:lnTo>
                      <a:pt x="89" y="279"/>
                    </a:lnTo>
                    <a:lnTo>
                      <a:pt x="89" y="439"/>
                    </a:lnTo>
                    <a:lnTo>
                      <a:pt x="87" y="447"/>
                    </a:lnTo>
                    <a:lnTo>
                      <a:pt x="82" y="455"/>
                    </a:lnTo>
                    <a:lnTo>
                      <a:pt x="74" y="461"/>
                    </a:lnTo>
                    <a:lnTo>
                      <a:pt x="63" y="467"/>
                    </a:lnTo>
                    <a:lnTo>
                      <a:pt x="50" y="472"/>
                    </a:lnTo>
                    <a:lnTo>
                      <a:pt x="35" y="476"/>
                    </a:lnTo>
                    <a:lnTo>
                      <a:pt x="18" y="478"/>
                    </a:lnTo>
                    <a:lnTo>
                      <a:pt x="0" y="47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Rectangle 30"/>
              <p:cNvSpPr>
                <a:spLocks noChangeArrowheads="1"/>
              </p:cNvSpPr>
              <p:nvPr/>
            </p:nvSpPr>
            <p:spPr bwMode="auto">
              <a:xfrm>
                <a:off x="3782" y="1480"/>
                <a:ext cx="23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0" i="1" dirty="0">
                    <a:solidFill>
                      <a:srgbClr val="000000"/>
                    </a:solidFill>
                  </a:rPr>
                  <a:t>F</a:t>
                </a:r>
                <a:r>
                  <a:rPr kumimoji="1" lang="en-US" altLang="zh-CN" sz="2000" b="0" i="0" baseline="-25000" dirty="0">
                    <a:solidFill>
                      <a:srgbClr val="000000"/>
                    </a:solidFill>
                  </a:rPr>
                  <a:t>N</a:t>
                </a:r>
                <a:endParaRPr kumimoji="1" lang="en-US" altLang="zh-CN" sz="2000" b="0" i="0" dirty="0"/>
              </a:p>
            </p:txBody>
          </p:sp>
        </p:grpSp>
        <p:sp>
          <p:nvSpPr>
            <p:cNvPr id="19" name="Rectangle 31"/>
            <p:cNvSpPr>
              <a:spLocks noChangeArrowheads="1"/>
            </p:cNvSpPr>
            <p:nvPr/>
          </p:nvSpPr>
          <p:spPr bwMode="auto">
            <a:xfrm>
              <a:off x="2055" y="1369"/>
              <a:ext cx="985" cy="48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20" name="Rectangle 32"/>
            <p:cNvSpPr>
              <a:spLocks noChangeArrowheads="1"/>
            </p:cNvSpPr>
            <p:nvPr/>
          </p:nvSpPr>
          <p:spPr bwMode="auto">
            <a:xfrm>
              <a:off x="1635" y="1285"/>
              <a:ext cx="12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i="1" dirty="0">
                  <a:solidFill>
                    <a:srgbClr val="000000"/>
                  </a:solidFill>
                </a:rPr>
                <a:t>F</a:t>
              </a:r>
              <a:endParaRPr kumimoji="1" lang="en-US" altLang="zh-CN" sz="2000" b="0" dirty="0"/>
            </a:p>
          </p:txBody>
        </p:sp>
        <p:sp>
          <p:nvSpPr>
            <p:cNvPr id="21" name="Line 33"/>
            <p:cNvSpPr>
              <a:spLocks noChangeShapeType="1"/>
            </p:cNvSpPr>
            <p:nvPr/>
          </p:nvSpPr>
          <p:spPr bwMode="auto">
            <a:xfrm flipH="1">
              <a:off x="1632" y="1584"/>
              <a:ext cx="432"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44" name="Object 34"/>
          <p:cNvGraphicFramePr>
            <a:graphicFrameLocks noChangeAspect="1"/>
          </p:cNvGraphicFramePr>
          <p:nvPr>
            <p:extLst>
              <p:ext uri="{D42A27DB-BD31-4B8C-83A1-F6EECF244321}">
                <p14:modId xmlns:p14="http://schemas.microsoft.com/office/powerpoint/2010/main" val="1811636249"/>
              </p:ext>
            </p:extLst>
          </p:nvPr>
        </p:nvGraphicFramePr>
        <p:xfrm>
          <a:off x="8597900" y="2689225"/>
          <a:ext cx="1395413" cy="1004888"/>
        </p:xfrm>
        <a:graphic>
          <a:graphicData uri="http://schemas.openxmlformats.org/presentationml/2006/ole">
            <mc:AlternateContent xmlns:mc="http://schemas.openxmlformats.org/markup-compatibility/2006">
              <mc:Choice xmlns:v="urn:schemas-microsoft-com:vml" Requires="v">
                <p:oleObj spid="_x0000_s9302" name="Equation" r:id="rId4" imgW="545760" imgH="393480" progId="Equation.DSMT4">
                  <p:embed/>
                </p:oleObj>
              </mc:Choice>
              <mc:Fallback>
                <p:oleObj name="Equation" r:id="rId4" imgW="545760" imgH="393480" progId="Equation.DSMT4">
                  <p:embed/>
                  <p:pic>
                    <p:nvPicPr>
                      <p:cNvPr id="0" name=""/>
                      <p:cNvPicPr>
                        <a:picLocks noChangeAspect="1" noChangeArrowheads="1"/>
                      </p:cNvPicPr>
                      <p:nvPr/>
                    </p:nvPicPr>
                    <p:blipFill>
                      <a:blip r:embed="rId5"/>
                      <a:srcRect/>
                      <a:stretch>
                        <a:fillRect/>
                      </a:stretch>
                    </p:blipFill>
                    <p:spPr bwMode="auto">
                      <a:xfrm>
                        <a:off x="8597900" y="2689225"/>
                        <a:ext cx="1395413" cy="1004888"/>
                      </a:xfrm>
                      <a:prstGeom prst="rect">
                        <a:avLst/>
                      </a:prstGeom>
                      <a:noFill/>
                      <a:ln>
                        <a:noFill/>
                      </a:ln>
                    </p:spPr>
                  </p:pic>
                </p:oleObj>
              </mc:Fallback>
            </mc:AlternateContent>
          </a:graphicData>
        </a:graphic>
      </p:graphicFrame>
      <p:sp>
        <p:nvSpPr>
          <p:cNvPr id="45" name="Text Box 5"/>
          <p:cNvSpPr txBox="1">
            <a:spLocks noChangeArrowheads="1"/>
          </p:cNvSpPr>
          <p:nvPr/>
        </p:nvSpPr>
        <p:spPr bwMode="auto">
          <a:xfrm>
            <a:off x="2021312" y="2307196"/>
            <a:ext cx="14963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基本变形</a:t>
            </a:r>
          </a:p>
        </p:txBody>
      </p:sp>
      <p:sp>
        <p:nvSpPr>
          <p:cNvPr id="51" name="Text Box 5"/>
          <p:cNvSpPr txBox="1">
            <a:spLocks noChangeArrowheads="1"/>
          </p:cNvSpPr>
          <p:nvPr/>
        </p:nvSpPr>
        <p:spPr bwMode="auto">
          <a:xfrm>
            <a:off x="2034362" y="3036874"/>
            <a:ext cx="14832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轴向拉压</a:t>
            </a:r>
          </a:p>
        </p:txBody>
      </p:sp>
      <p:grpSp>
        <p:nvGrpSpPr>
          <p:cNvPr id="54" name="Group 10"/>
          <p:cNvGrpSpPr>
            <a:grpSpLocks/>
          </p:cNvGrpSpPr>
          <p:nvPr/>
        </p:nvGrpSpPr>
        <p:grpSpPr bwMode="auto">
          <a:xfrm>
            <a:off x="4814978" y="3704233"/>
            <a:ext cx="2029538" cy="1163313"/>
            <a:chOff x="3378" y="2065"/>
            <a:chExt cx="1442" cy="831"/>
          </a:xfrm>
        </p:grpSpPr>
        <p:sp>
          <p:nvSpPr>
            <p:cNvPr id="55" name="Rectangle 15"/>
            <p:cNvSpPr>
              <a:spLocks noChangeArrowheads="1"/>
            </p:cNvSpPr>
            <p:nvPr/>
          </p:nvSpPr>
          <p:spPr bwMode="auto">
            <a:xfrm>
              <a:off x="3409" y="2065"/>
              <a:ext cx="283" cy="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buFontTx/>
                <a:buNone/>
              </a:pPr>
              <a:r>
                <a:rPr kumimoji="1" lang="en-US" altLang="zh-CN" sz="2000" b="0" i="1" dirty="0">
                  <a:latin typeface="Times New Roman" pitchFamily="18" charset="0"/>
                </a:rPr>
                <a:t>M</a:t>
              </a:r>
              <a:endParaRPr kumimoji="1" lang="en-US" altLang="zh-CN" sz="2000" b="0" i="1" baseline="-25000" dirty="0">
                <a:latin typeface="Times New Roman" pitchFamily="18" charset="0"/>
              </a:endParaRPr>
            </a:p>
          </p:txBody>
        </p:sp>
        <p:grpSp>
          <p:nvGrpSpPr>
            <p:cNvPr id="56" name="Group 17"/>
            <p:cNvGrpSpPr>
              <a:grpSpLocks/>
            </p:cNvGrpSpPr>
            <p:nvPr/>
          </p:nvGrpSpPr>
          <p:grpSpPr bwMode="auto">
            <a:xfrm>
              <a:off x="3378" y="2155"/>
              <a:ext cx="1442" cy="741"/>
              <a:chOff x="3438" y="2251"/>
              <a:chExt cx="1442" cy="741"/>
            </a:xfrm>
          </p:grpSpPr>
          <p:sp>
            <p:nvSpPr>
              <p:cNvPr id="60" name="Oval 18"/>
              <p:cNvSpPr>
                <a:spLocks noChangeArrowheads="1"/>
              </p:cNvSpPr>
              <p:nvPr/>
            </p:nvSpPr>
            <p:spPr bwMode="auto">
              <a:xfrm>
                <a:off x="3888" y="2448"/>
                <a:ext cx="816" cy="544"/>
              </a:xfrm>
              <a:prstGeom prst="ellipse">
                <a:avLst/>
              </a:prstGeom>
              <a:gradFill rotWithShape="0">
                <a:gsLst>
                  <a:gs pos="0">
                    <a:srgbClr val="765E2F"/>
                  </a:gs>
                  <a:gs pos="100000">
                    <a:srgbClr val="FFCC66"/>
                  </a:gs>
                </a:gsLst>
                <a:lin ang="18900000" scaled="1"/>
              </a:gradFill>
              <a:ln w="9525">
                <a:round/>
                <a:headEnd/>
                <a:tailEnd/>
              </a:ln>
              <a:scene3d>
                <a:camera prst="legacyObliqueTopRight">
                  <a:rot lat="20099998" lon="16199997" rev="0"/>
                </a:camera>
                <a:lightRig rig="legacyFlat3" dir="b"/>
              </a:scene3d>
              <a:sp3d extrusionH="887400" prstMaterial="legacyMatte">
                <a:bevelT w="13500" h="13500" prst="angle"/>
                <a:bevelB w="13500" h="13500" prst="angle"/>
                <a:extrusionClr>
                  <a:srgbClr val="FFCC66"/>
                </a:extrusionClr>
              </a:sp3d>
            </p:spPr>
            <p:txBody>
              <a:bodyPr wrap="none" anchor="ctr">
                <a:flatTx/>
              </a:bodyPr>
              <a:lstStyle/>
              <a:p>
                <a:endParaRPr lang="zh-CN" altLang="en-US"/>
              </a:p>
            </p:txBody>
          </p:sp>
          <p:grpSp>
            <p:nvGrpSpPr>
              <p:cNvPr id="61" name="Group 19"/>
              <p:cNvGrpSpPr>
                <a:grpSpLocks/>
              </p:cNvGrpSpPr>
              <p:nvPr/>
            </p:nvGrpSpPr>
            <p:grpSpPr bwMode="auto">
              <a:xfrm>
                <a:off x="3438" y="2251"/>
                <a:ext cx="1442" cy="741"/>
                <a:chOff x="3342" y="2395"/>
                <a:chExt cx="1442" cy="741"/>
              </a:xfrm>
            </p:grpSpPr>
            <p:sp>
              <p:nvSpPr>
                <p:cNvPr id="62" name="Arc 21"/>
                <p:cNvSpPr>
                  <a:spLocks/>
                </p:cNvSpPr>
                <p:nvPr/>
              </p:nvSpPr>
              <p:spPr bwMode="auto">
                <a:xfrm flipH="1" flipV="1">
                  <a:off x="3342" y="2563"/>
                  <a:ext cx="288" cy="573"/>
                </a:xfrm>
                <a:custGeom>
                  <a:avLst/>
                  <a:gdLst>
                    <a:gd name="T0" fmla="*/ 210 w 21600"/>
                    <a:gd name="T1" fmla="*/ 0 h 31485"/>
                    <a:gd name="T2" fmla="*/ 182 w 21600"/>
                    <a:gd name="T3" fmla="*/ 573 h 31485"/>
                    <a:gd name="T4" fmla="*/ 0 w 21600"/>
                    <a:gd name="T5" fmla="*/ 269 h 31485"/>
                    <a:gd name="T6" fmla="*/ 0 60000 65536"/>
                    <a:gd name="T7" fmla="*/ 0 60000 65536"/>
                    <a:gd name="T8" fmla="*/ 0 60000 65536"/>
                  </a:gdLst>
                  <a:ahLst/>
                  <a:cxnLst>
                    <a:cxn ang="T6">
                      <a:pos x="T0" y="T1"/>
                    </a:cxn>
                    <a:cxn ang="T7">
                      <a:pos x="T2" y="T3"/>
                    </a:cxn>
                    <a:cxn ang="T8">
                      <a:pos x="T4" y="T5"/>
                    </a:cxn>
                  </a:cxnLst>
                  <a:rect l="0" t="0" r="r" b="b"/>
                  <a:pathLst>
                    <a:path w="21600" h="31485" fill="none" extrusionOk="0">
                      <a:moveTo>
                        <a:pt x="15758" y="-1"/>
                      </a:moveTo>
                      <a:cubicBezTo>
                        <a:pt x="19511" y="4003"/>
                        <a:pt x="21600" y="9285"/>
                        <a:pt x="21600" y="14773"/>
                      </a:cubicBezTo>
                      <a:cubicBezTo>
                        <a:pt x="21600" y="21248"/>
                        <a:pt x="18694" y="27382"/>
                        <a:pt x="13684" y="31485"/>
                      </a:cubicBezTo>
                    </a:path>
                    <a:path w="21600" h="31485" stroke="0" extrusionOk="0">
                      <a:moveTo>
                        <a:pt x="15758" y="-1"/>
                      </a:moveTo>
                      <a:cubicBezTo>
                        <a:pt x="19511" y="4003"/>
                        <a:pt x="21600" y="9285"/>
                        <a:pt x="21600" y="14773"/>
                      </a:cubicBezTo>
                      <a:cubicBezTo>
                        <a:pt x="21600" y="21248"/>
                        <a:pt x="18694" y="27382"/>
                        <a:pt x="13684" y="31485"/>
                      </a:cubicBezTo>
                      <a:lnTo>
                        <a:pt x="0" y="14773"/>
                      </a:lnTo>
                      <a:lnTo>
                        <a:pt x="15758" y="-1"/>
                      </a:lnTo>
                      <a:close/>
                    </a:path>
                  </a:pathLst>
                </a:custGeom>
                <a:noFill/>
                <a:ln w="38100">
                  <a:solidFill>
                    <a:srgbClr val="CC3300"/>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63" name="Text Box 23"/>
                <p:cNvSpPr txBox="1">
                  <a:spLocks noChangeArrowheads="1"/>
                </p:cNvSpPr>
                <p:nvPr/>
              </p:nvSpPr>
              <p:spPr bwMode="auto">
                <a:xfrm>
                  <a:off x="4272" y="2395"/>
                  <a:ext cx="512" cy="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eaLnBrk="0" fontAlgn="base" hangingPunct="0">
                    <a:spcBef>
                      <a:spcPct val="0"/>
                    </a:spcBef>
                    <a:spcAft>
                      <a:spcPct val="0"/>
                    </a:spcAft>
                    <a:buChar char="•"/>
                    <a:defRPr>
                      <a:solidFill>
                        <a:schemeClr val="tx1"/>
                      </a:solidFill>
                      <a:latin typeface="Arial" charset="0"/>
                      <a:ea typeface="宋体" pitchFamily="2" charset="-122"/>
                    </a:defRPr>
                  </a:lvl9pPr>
                </a:lstStyle>
                <a:p>
                  <a:pPr eaLnBrk="1" hangingPunct="1">
                    <a:spcBef>
                      <a:spcPct val="50000"/>
                    </a:spcBef>
                    <a:buFontTx/>
                    <a:buNone/>
                  </a:pPr>
                  <a:r>
                    <a:rPr kumimoji="1" lang="en-US" altLang="zh-CN" sz="2000" b="0" dirty="0" err="1">
                      <a:latin typeface="Times New Roman" pitchFamily="18" charset="0"/>
                    </a:rPr>
                    <a:t>M</a:t>
                  </a:r>
                  <a:r>
                    <a:rPr kumimoji="1" lang="en-US" altLang="zh-CN" sz="2000" b="0" i="0" baseline="-25000" dirty="0" err="1">
                      <a:latin typeface="Times New Roman" pitchFamily="18" charset="0"/>
                    </a:rPr>
                    <a:t>n</a:t>
                  </a:r>
                  <a:endParaRPr kumimoji="1" lang="en-US" altLang="zh-CN" sz="1800" i="0" dirty="0">
                    <a:latin typeface="Times New Roman" pitchFamily="18" charset="0"/>
                  </a:endParaRPr>
                </a:p>
              </p:txBody>
            </p:sp>
            <p:sp>
              <p:nvSpPr>
                <p:cNvPr id="64" name="Arc 24"/>
                <p:cNvSpPr>
                  <a:spLocks/>
                </p:cNvSpPr>
                <p:nvPr/>
              </p:nvSpPr>
              <p:spPr bwMode="auto">
                <a:xfrm flipH="1">
                  <a:off x="4128" y="2659"/>
                  <a:ext cx="288" cy="448"/>
                </a:xfrm>
                <a:custGeom>
                  <a:avLst/>
                  <a:gdLst>
                    <a:gd name="T0" fmla="*/ 210 w 21600"/>
                    <a:gd name="T1" fmla="*/ 0 h 30874"/>
                    <a:gd name="T2" fmla="*/ 192 w 21600"/>
                    <a:gd name="T3" fmla="*/ 352 h 30874"/>
                    <a:gd name="T4" fmla="*/ 0 w 21600"/>
                    <a:gd name="T5" fmla="*/ 168 h 30874"/>
                    <a:gd name="T6" fmla="*/ 0 60000 65536"/>
                    <a:gd name="T7" fmla="*/ 0 60000 65536"/>
                    <a:gd name="T8" fmla="*/ 0 60000 65536"/>
                  </a:gdLst>
                  <a:ahLst/>
                  <a:cxnLst>
                    <a:cxn ang="T6">
                      <a:pos x="T0" y="T1"/>
                    </a:cxn>
                    <a:cxn ang="T7">
                      <a:pos x="T2" y="T3"/>
                    </a:cxn>
                    <a:cxn ang="T8">
                      <a:pos x="T4" y="T5"/>
                    </a:cxn>
                  </a:cxnLst>
                  <a:rect l="0" t="0" r="r" b="b"/>
                  <a:pathLst>
                    <a:path w="21600" h="30874" fill="none" extrusionOk="0">
                      <a:moveTo>
                        <a:pt x="15758" y="-1"/>
                      </a:moveTo>
                      <a:cubicBezTo>
                        <a:pt x="19511" y="4003"/>
                        <a:pt x="21600" y="9285"/>
                        <a:pt x="21600" y="14773"/>
                      </a:cubicBezTo>
                      <a:cubicBezTo>
                        <a:pt x="21600" y="20920"/>
                        <a:pt x="18980" y="26776"/>
                        <a:pt x="14398" y="30873"/>
                      </a:cubicBezTo>
                    </a:path>
                    <a:path w="21600" h="30874" stroke="0" extrusionOk="0">
                      <a:moveTo>
                        <a:pt x="15758" y="-1"/>
                      </a:moveTo>
                      <a:cubicBezTo>
                        <a:pt x="19511" y="4003"/>
                        <a:pt x="21600" y="9285"/>
                        <a:pt x="21600" y="14773"/>
                      </a:cubicBezTo>
                      <a:cubicBezTo>
                        <a:pt x="21600" y="20920"/>
                        <a:pt x="18980" y="26776"/>
                        <a:pt x="14398" y="30873"/>
                      </a:cubicBezTo>
                      <a:lnTo>
                        <a:pt x="0" y="14773"/>
                      </a:lnTo>
                      <a:lnTo>
                        <a:pt x="15758" y="-1"/>
                      </a:lnTo>
                      <a:close/>
                    </a:path>
                  </a:pathLst>
                </a:custGeom>
                <a:noFill/>
                <a:ln w="38100">
                  <a:solidFill>
                    <a:schemeClr val="accent2"/>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grpSp>
          <p:nvGrpSpPr>
            <p:cNvPr id="57" name="Group 25"/>
            <p:cNvGrpSpPr>
              <a:grpSpLocks/>
            </p:cNvGrpSpPr>
            <p:nvPr/>
          </p:nvGrpSpPr>
          <p:grpSpPr bwMode="auto">
            <a:xfrm>
              <a:off x="4224" y="2543"/>
              <a:ext cx="500" cy="252"/>
              <a:chOff x="4224" y="2639"/>
              <a:chExt cx="500" cy="252"/>
            </a:xfrm>
          </p:grpSpPr>
          <p:sp>
            <p:nvSpPr>
              <p:cNvPr id="58" name="Line 26"/>
              <p:cNvSpPr>
                <a:spLocks noChangeShapeType="1"/>
              </p:cNvSpPr>
              <p:nvPr/>
            </p:nvSpPr>
            <p:spPr bwMode="auto">
              <a:xfrm>
                <a:off x="4224" y="2736"/>
                <a:ext cx="284" cy="0"/>
              </a:xfrm>
              <a:prstGeom prst="line">
                <a:avLst/>
              </a:prstGeom>
              <a:noFill/>
              <a:ln w="127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Text Box 27"/>
              <p:cNvSpPr txBox="1">
                <a:spLocks noChangeArrowheads="1"/>
              </p:cNvSpPr>
              <p:nvPr/>
            </p:nvSpPr>
            <p:spPr bwMode="auto">
              <a:xfrm>
                <a:off x="4292" y="2639"/>
                <a:ext cx="432"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eaLnBrk="0" fontAlgn="base" hangingPunct="0">
                  <a:spcBef>
                    <a:spcPct val="0"/>
                  </a:spcBef>
                  <a:spcAft>
                    <a:spcPct val="0"/>
                  </a:spcAft>
                  <a:buChar char="•"/>
                  <a:defRPr>
                    <a:solidFill>
                      <a:schemeClr val="tx1"/>
                    </a:solidFill>
                    <a:latin typeface="Arial" charset="0"/>
                    <a:ea typeface="宋体" pitchFamily="2" charset="-122"/>
                  </a:defRPr>
                </a:lvl9pPr>
              </a:lstStyle>
              <a:p>
                <a:pPr eaLnBrk="1" hangingPunct="1">
                  <a:spcBef>
                    <a:spcPct val="50000"/>
                  </a:spcBef>
                  <a:buFontTx/>
                  <a:buNone/>
                </a:pPr>
                <a:r>
                  <a:rPr kumimoji="1" lang="en-US" altLang="zh-CN" sz="2000" i="1" dirty="0">
                    <a:latin typeface="Times New Roman" pitchFamily="18" charset="0"/>
                  </a:rPr>
                  <a:t>x</a:t>
                </a:r>
              </a:p>
            </p:txBody>
          </p:sp>
        </p:grpSp>
      </p:grpSp>
      <p:graphicFrame>
        <p:nvGraphicFramePr>
          <p:cNvPr id="65" name="对象 64"/>
          <p:cNvGraphicFramePr>
            <a:graphicFrameLocks noChangeAspect="1"/>
          </p:cNvGraphicFramePr>
          <p:nvPr>
            <p:extLst>
              <p:ext uri="{D42A27DB-BD31-4B8C-83A1-F6EECF244321}">
                <p14:modId xmlns:p14="http://schemas.microsoft.com/office/powerpoint/2010/main" val="3392933816"/>
              </p:ext>
            </p:extLst>
          </p:nvPr>
        </p:nvGraphicFramePr>
        <p:xfrm>
          <a:off x="8355013" y="4021138"/>
          <a:ext cx="1751012" cy="1038225"/>
        </p:xfrm>
        <a:graphic>
          <a:graphicData uri="http://schemas.openxmlformats.org/presentationml/2006/ole">
            <mc:AlternateContent xmlns:mc="http://schemas.openxmlformats.org/markup-compatibility/2006">
              <mc:Choice xmlns:v="urn:schemas-microsoft-com:vml" Requires="v">
                <p:oleObj spid="_x0000_s9303" name="Equation" r:id="rId6" imgW="749160" imgH="444240" progId="Equation.DSMT4">
                  <p:embed/>
                </p:oleObj>
              </mc:Choice>
              <mc:Fallback>
                <p:oleObj name="Equation" r:id="rId6" imgW="749160" imgH="444240" progId="Equation.DSMT4">
                  <p:embed/>
                  <p:pic>
                    <p:nvPicPr>
                      <p:cNvPr id="0" name=""/>
                      <p:cNvPicPr>
                        <a:picLocks noChangeAspect="1" noChangeArrowheads="1"/>
                      </p:cNvPicPr>
                      <p:nvPr/>
                    </p:nvPicPr>
                    <p:blipFill>
                      <a:blip r:embed="rId7"/>
                      <a:srcRect/>
                      <a:stretch>
                        <a:fillRect/>
                      </a:stretch>
                    </p:blipFill>
                    <p:spPr bwMode="auto">
                      <a:xfrm>
                        <a:off x="8355013" y="4021138"/>
                        <a:ext cx="1751012" cy="1038225"/>
                      </a:xfrm>
                      <a:prstGeom prst="rect">
                        <a:avLst/>
                      </a:prstGeom>
                      <a:noFill/>
                      <a:ln>
                        <a:noFill/>
                      </a:ln>
                      <a:effectLst/>
                    </p:spPr>
                  </p:pic>
                </p:oleObj>
              </mc:Fallback>
            </mc:AlternateContent>
          </a:graphicData>
        </a:graphic>
      </p:graphicFrame>
      <p:sp>
        <p:nvSpPr>
          <p:cNvPr id="66" name="Text Box 5"/>
          <p:cNvSpPr txBox="1">
            <a:spLocks noChangeArrowheads="1"/>
          </p:cNvSpPr>
          <p:nvPr/>
        </p:nvSpPr>
        <p:spPr bwMode="auto">
          <a:xfrm>
            <a:off x="2017817" y="4199929"/>
            <a:ext cx="1259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扭转</a:t>
            </a:r>
          </a:p>
        </p:txBody>
      </p:sp>
      <p:graphicFrame>
        <p:nvGraphicFramePr>
          <p:cNvPr id="67" name="对象 66"/>
          <p:cNvGraphicFramePr>
            <a:graphicFrameLocks noChangeAspect="1"/>
          </p:cNvGraphicFramePr>
          <p:nvPr>
            <p:extLst>
              <p:ext uri="{D42A27DB-BD31-4B8C-83A1-F6EECF244321}">
                <p14:modId xmlns:p14="http://schemas.microsoft.com/office/powerpoint/2010/main" val="216768997"/>
              </p:ext>
            </p:extLst>
          </p:nvPr>
        </p:nvGraphicFramePr>
        <p:xfrm>
          <a:off x="8814541" y="5200265"/>
          <a:ext cx="926505" cy="1033409"/>
        </p:xfrm>
        <a:graphic>
          <a:graphicData uri="http://schemas.openxmlformats.org/presentationml/2006/ole">
            <mc:AlternateContent xmlns:mc="http://schemas.openxmlformats.org/markup-compatibility/2006">
              <mc:Choice xmlns:v="urn:schemas-microsoft-com:vml" Requires="v">
                <p:oleObj spid="_x0000_s9304" name="Equation" r:id="rId8" imgW="330120" imgH="368280" progId="Equation.DSMT4">
                  <p:embed/>
                </p:oleObj>
              </mc:Choice>
              <mc:Fallback>
                <p:oleObj name="Equation" r:id="rId8" imgW="330120" imgH="368280" progId="Equation.DSMT4">
                  <p:embed/>
                  <p:pic>
                    <p:nvPicPr>
                      <p:cNvPr id="0" name=""/>
                      <p:cNvPicPr>
                        <a:picLocks noChangeAspect="1" noChangeArrowheads="1"/>
                      </p:cNvPicPr>
                      <p:nvPr/>
                    </p:nvPicPr>
                    <p:blipFill>
                      <a:blip r:embed="rId9"/>
                      <a:srcRect/>
                      <a:stretch>
                        <a:fillRect/>
                      </a:stretch>
                    </p:blipFill>
                    <p:spPr bwMode="auto">
                      <a:xfrm>
                        <a:off x="8814541" y="5200265"/>
                        <a:ext cx="926505" cy="1033409"/>
                      </a:xfrm>
                      <a:prstGeom prst="rect">
                        <a:avLst/>
                      </a:prstGeom>
                      <a:noFill/>
                      <a:ln>
                        <a:noFill/>
                      </a:ln>
                      <a:effectLst/>
                    </p:spPr>
                  </p:pic>
                </p:oleObj>
              </mc:Fallback>
            </mc:AlternateContent>
          </a:graphicData>
        </a:graphic>
      </p:graphicFrame>
      <p:sp>
        <p:nvSpPr>
          <p:cNvPr id="68" name="Text Box 5"/>
          <p:cNvSpPr txBox="1">
            <a:spLocks noChangeArrowheads="1"/>
          </p:cNvSpPr>
          <p:nvPr/>
        </p:nvSpPr>
        <p:spPr bwMode="auto">
          <a:xfrm>
            <a:off x="2034362" y="5407608"/>
            <a:ext cx="1259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弯曲</a:t>
            </a:r>
          </a:p>
        </p:txBody>
      </p:sp>
      <p:grpSp>
        <p:nvGrpSpPr>
          <p:cNvPr id="69" name="组合 68"/>
          <p:cNvGrpSpPr/>
          <p:nvPr/>
        </p:nvGrpSpPr>
        <p:grpSpPr>
          <a:xfrm>
            <a:off x="4369395" y="4897360"/>
            <a:ext cx="2560142" cy="1222946"/>
            <a:chOff x="7715593" y="4158332"/>
            <a:chExt cx="2560142" cy="1222946"/>
          </a:xfrm>
        </p:grpSpPr>
        <p:cxnSp>
          <p:nvCxnSpPr>
            <p:cNvPr id="70" name="直接连接符 223"/>
            <p:cNvCxnSpPr>
              <a:cxnSpLocks noChangeShapeType="1"/>
              <a:stCxn id="89" idx="0"/>
              <a:endCxn id="100" idx="0"/>
            </p:cNvCxnSpPr>
            <p:nvPr/>
          </p:nvCxnSpPr>
          <p:spPr bwMode="auto">
            <a:xfrm>
              <a:off x="7907860" y="4984403"/>
              <a:ext cx="2145865"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 name="组合 224"/>
            <p:cNvGrpSpPr>
              <a:grpSpLocks/>
            </p:cNvGrpSpPr>
            <p:nvPr/>
          </p:nvGrpSpPr>
          <p:grpSpPr bwMode="auto">
            <a:xfrm>
              <a:off x="9837585" y="4984403"/>
              <a:ext cx="438150" cy="396875"/>
              <a:chOff x="6199814" y="5094185"/>
              <a:chExt cx="473132" cy="428316"/>
            </a:xfrm>
          </p:grpSpPr>
          <p:grpSp>
            <p:nvGrpSpPr>
              <p:cNvPr id="99" name="组合 225"/>
              <p:cNvGrpSpPr>
                <a:grpSpLocks/>
              </p:cNvGrpSpPr>
              <p:nvPr/>
            </p:nvGrpSpPr>
            <p:grpSpPr bwMode="auto">
              <a:xfrm>
                <a:off x="6199814" y="5451033"/>
                <a:ext cx="473132" cy="71468"/>
                <a:chOff x="2321750" y="5453423"/>
                <a:chExt cx="473132" cy="71468"/>
              </a:xfrm>
            </p:grpSpPr>
            <p:cxnSp>
              <p:nvCxnSpPr>
                <p:cNvPr id="103"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0" name="等腰三角形 226"/>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1" name="椭圆 227"/>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 name="椭圆 228"/>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2" name="组合 237"/>
            <p:cNvGrpSpPr>
              <a:grpSpLocks/>
            </p:cNvGrpSpPr>
            <p:nvPr/>
          </p:nvGrpSpPr>
          <p:grpSpPr bwMode="auto">
            <a:xfrm>
              <a:off x="7715593" y="4984403"/>
              <a:ext cx="354013" cy="317500"/>
              <a:chOff x="2312606" y="5094185"/>
              <a:chExt cx="473132" cy="424341"/>
            </a:xfrm>
          </p:grpSpPr>
          <p:sp>
            <p:nvSpPr>
              <p:cNvPr id="89" name="等腰三角形 238"/>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90" name="组合 239"/>
              <p:cNvGrpSpPr>
                <a:grpSpLocks/>
              </p:cNvGrpSpPr>
              <p:nvPr/>
            </p:nvGrpSpPr>
            <p:grpSpPr bwMode="auto">
              <a:xfrm>
                <a:off x="2312606" y="5447058"/>
                <a:ext cx="473132" cy="71468"/>
                <a:chOff x="2321750" y="5453423"/>
                <a:chExt cx="473132" cy="71468"/>
              </a:xfrm>
            </p:grpSpPr>
            <p:cxnSp>
              <p:nvCxnSpPr>
                <p:cNvPr id="91"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73" name="直接箭头连接符 250"/>
            <p:cNvCxnSpPr>
              <a:cxnSpLocks noChangeShapeType="1"/>
            </p:cNvCxnSpPr>
            <p:nvPr/>
          </p:nvCxnSpPr>
          <p:spPr bwMode="auto">
            <a:xfrm>
              <a:off x="8217405" y="452189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106"/>
            <p:cNvSpPr txBox="1">
              <a:spLocks noChangeArrowheads="1"/>
            </p:cNvSpPr>
            <p:nvPr/>
          </p:nvSpPr>
          <p:spPr bwMode="auto">
            <a:xfrm>
              <a:off x="8127395" y="4462508"/>
              <a:ext cx="481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F</a:t>
              </a:r>
              <a:endParaRPr lang="zh-CN" altLang="en-US" sz="2000" b="0" i="1" dirty="0">
                <a:latin typeface="Times New Roman" pitchFamily="18" charset="0"/>
                <a:ea typeface="+mn-ea"/>
                <a:cs typeface="Times New Roman" pitchFamily="18" charset="0"/>
              </a:endParaRPr>
            </a:p>
          </p:txBody>
        </p:sp>
        <p:grpSp>
          <p:nvGrpSpPr>
            <p:cNvPr id="75" name="组合 252"/>
            <p:cNvGrpSpPr>
              <a:grpSpLocks/>
            </p:cNvGrpSpPr>
            <p:nvPr/>
          </p:nvGrpSpPr>
          <p:grpSpPr bwMode="auto">
            <a:xfrm>
              <a:off x="9297525" y="4771307"/>
              <a:ext cx="519112" cy="411163"/>
              <a:chOff x="1206785" y="4804081"/>
              <a:chExt cx="519740" cy="411196"/>
            </a:xfrm>
          </p:grpSpPr>
          <p:cxnSp>
            <p:nvCxnSpPr>
              <p:cNvPr id="86" name="直接箭头连接符 253"/>
              <p:cNvCxnSpPr>
                <a:cxnSpLocks noChangeShapeType="1"/>
              </p:cNvCxnSpPr>
              <p:nvPr/>
            </p:nvCxnSpPr>
            <p:spPr bwMode="auto">
              <a:xfrm>
                <a:off x="1466655" y="4804081"/>
                <a:ext cx="259870" cy="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254"/>
              <p:cNvCxnSpPr>
                <a:cxnSpLocks noChangeShapeType="1"/>
              </p:cNvCxnSpPr>
              <p:nvPr/>
            </p:nvCxnSpPr>
            <p:spPr bwMode="auto">
              <a:xfrm>
                <a:off x="1466655" y="4806189"/>
                <a:ext cx="0" cy="409088"/>
              </a:xfrm>
              <a:prstGeom prst="straightConnector1">
                <a:avLst/>
              </a:prstGeom>
              <a:noFill/>
              <a:ln w="28575" cap="sq"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255"/>
              <p:cNvCxnSpPr>
                <a:cxnSpLocks noChangeShapeType="1"/>
              </p:cNvCxnSpPr>
              <p:nvPr/>
            </p:nvCxnSpPr>
            <p:spPr bwMode="auto">
              <a:xfrm flipH="1">
                <a:off x="1206785" y="5215277"/>
                <a:ext cx="259870" cy="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6" name="Text Box 106"/>
            <p:cNvSpPr txBox="1">
              <a:spLocks noChangeArrowheads="1"/>
            </p:cNvSpPr>
            <p:nvPr/>
          </p:nvSpPr>
          <p:spPr bwMode="auto">
            <a:xfrm>
              <a:off x="9509118" y="4422428"/>
              <a:ext cx="481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M</a:t>
              </a:r>
              <a:endParaRPr lang="zh-CN" altLang="en-US" sz="2000" b="0" i="1" dirty="0">
                <a:latin typeface="Times New Roman" pitchFamily="18" charset="0"/>
                <a:ea typeface="+mn-ea"/>
                <a:cs typeface="Times New Roman" pitchFamily="18" charset="0"/>
              </a:endParaRPr>
            </a:p>
          </p:txBody>
        </p:sp>
        <p:grpSp>
          <p:nvGrpSpPr>
            <p:cNvPr id="77" name="组合 23"/>
            <p:cNvGrpSpPr>
              <a:grpSpLocks/>
            </p:cNvGrpSpPr>
            <p:nvPr/>
          </p:nvGrpSpPr>
          <p:grpSpPr bwMode="auto">
            <a:xfrm>
              <a:off x="8587058" y="4492690"/>
              <a:ext cx="617314" cy="479245"/>
              <a:chOff x="5581650" y="2447596"/>
              <a:chExt cx="859131" cy="666369"/>
            </a:xfrm>
          </p:grpSpPr>
          <p:sp>
            <p:nvSpPr>
              <p:cNvPr id="79" name="任意多边形 13"/>
              <p:cNvSpPr>
                <a:spLocks/>
              </p:cNvSpPr>
              <p:nvPr/>
            </p:nvSpPr>
            <p:spPr bwMode="auto">
              <a:xfrm>
                <a:off x="5581650" y="2447596"/>
                <a:ext cx="856343" cy="216319"/>
              </a:xfrm>
              <a:custGeom>
                <a:avLst/>
                <a:gdLst>
                  <a:gd name="T0" fmla="*/ 0 w 856343"/>
                  <a:gd name="T1" fmla="*/ 216319 h 216319"/>
                  <a:gd name="T2" fmla="*/ 406400 w 856343"/>
                  <a:gd name="T3" fmla="*/ 13119 h 216319"/>
                  <a:gd name="T4" fmla="*/ 856343 w 856343"/>
                  <a:gd name="T5" fmla="*/ 13119 h 216319"/>
                  <a:gd name="T6" fmla="*/ 0 60000 65536"/>
                  <a:gd name="T7" fmla="*/ 0 60000 65536"/>
                  <a:gd name="T8" fmla="*/ 0 60000 65536"/>
                </a:gdLst>
                <a:ahLst/>
                <a:cxnLst>
                  <a:cxn ang="T6">
                    <a:pos x="T0" y="T1"/>
                  </a:cxn>
                  <a:cxn ang="T7">
                    <a:pos x="T2" y="T3"/>
                  </a:cxn>
                  <a:cxn ang="T8">
                    <a:pos x="T4" y="T5"/>
                  </a:cxn>
                </a:cxnLst>
                <a:rect l="0" t="0" r="r" b="b"/>
                <a:pathLst>
                  <a:path w="856343" h="216319">
                    <a:moveTo>
                      <a:pt x="0" y="216319"/>
                    </a:moveTo>
                    <a:cubicBezTo>
                      <a:pt x="131838" y="131652"/>
                      <a:pt x="263676" y="46986"/>
                      <a:pt x="406400" y="13119"/>
                    </a:cubicBezTo>
                    <a:cubicBezTo>
                      <a:pt x="549124" y="-20748"/>
                      <a:pt x="778934" y="22795"/>
                      <a:pt x="856343" y="13119"/>
                    </a:cubicBezTo>
                  </a:path>
                </a:pathLst>
              </a:custGeom>
              <a:noFill/>
              <a:ln w="9525" cap="sq"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cxnSp>
            <p:nvCxnSpPr>
              <p:cNvPr id="80" name="直接箭头连接符 260"/>
              <p:cNvCxnSpPr>
                <a:cxnSpLocks noChangeShapeType="1"/>
              </p:cNvCxnSpPr>
              <p:nvPr/>
            </p:nvCxnSpPr>
            <p:spPr bwMode="auto">
              <a:xfrm>
                <a:off x="5588497" y="2663915"/>
                <a:ext cx="0" cy="45005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261"/>
              <p:cNvCxnSpPr>
                <a:cxnSpLocks noChangeShapeType="1"/>
              </p:cNvCxnSpPr>
              <p:nvPr/>
            </p:nvCxnSpPr>
            <p:spPr bwMode="auto">
              <a:xfrm>
                <a:off x="5746892" y="2573905"/>
                <a:ext cx="0" cy="54006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264"/>
              <p:cNvCxnSpPr>
                <a:cxnSpLocks noChangeShapeType="1"/>
              </p:cNvCxnSpPr>
              <p:nvPr/>
            </p:nvCxnSpPr>
            <p:spPr bwMode="auto">
              <a:xfrm>
                <a:off x="5910542" y="2483895"/>
                <a:ext cx="2084" cy="62898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265"/>
              <p:cNvCxnSpPr>
                <a:cxnSpLocks noChangeShapeType="1"/>
              </p:cNvCxnSpPr>
              <p:nvPr/>
            </p:nvCxnSpPr>
            <p:spPr bwMode="auto">
              <a:xfrm>
                <a:off x="6073692" y="2460715"/>
                <a:ext cx="0" cy="65216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266"/>
              <p:cNvCxnSpPr>
                <a:cxnSpLocks noChangeShapeType="1"/>
              </p:cNvCxnSpPr>
              <p:nvPr/>
            </p:nvCxnSpPr>
            <p:spPr bwMode="auto">
              <a:xfrm>
                <a:off x="6253852" y="2460715"/>
                <a:ext cx="0" cy="648416"/>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267"/>
              <p:cNvCxnSpPr>
                <a:cxnSpLocks noChangeShapeType="1"/>
                <a:stCxn id="79" idx="2"/>
              </p:cNvCxnSpPr>
              <p:nvPr/>
            </p:nvCxnSpPr>
            <p:spPr bwMode="auto">
              <a:xfrm>
                <a:off x="6437993" y="2460715"/>
                <a:ext cx="2788" cy="648416"/>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Text Box 106"/>
            <p:cNvSpPr txBox="1">
              <a:spLocks noChangeArrowheads="1"/>
            </p:cNvSpPr>
            <p:nvPr/>
          </p:nvSpPr>
          <p:spPr bwMode="auto">
            <a:xfrm>
              <a:off x="8457212" y="4158332"/>
              <a:ext cx="96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q</a:t>
              </a:r>
              <a:r>
                <a:rPr lang="en-US" altLang="zh-CN" sz="2000" b="0" dirty="0">
                  <a:latin typeface="Times New Roman" pitchFamily="18" charset="0"/>
                  <a:ea typeface="+mn-ea"/>
                  <a:cs typeface="Times New Roman" pitchFamily="18" charset="0"/>
                </a:rPr>
                <a:t>(</a:t>
              </a:r>
              <a:r>
                <a:rPr lang="en-US" altLang="zh-CN" sz="2000" b="0" i="1" dirty="0">
                  <a:latin typeface="Times New Roman" pitchFamily="18" charset="0"/>
                  <a:ea typeface="+mn-ea"/>
                  <a:cs typeface="Times New Roman" pitchFamily="18" charset="0"/>
                </a:rPr>
                <a:t>x</a:t>
              </a:r>
              <a:r>
                <a:rPr lang="en-US" altLang="zh-CN" sz="2000" b="0" dirty="0">
                  <a:latin typeface="Times New Roman" pitchFamily="18" charset="0"/>
                  <a:ea typeface="+mn-ea"/>
                  <a:cs typeface="Times New Roman" pitchFamily="18" charset="0"/>
                </a:rPr>
                <a:t>)</a:t>
              </a:r>
              <a:endParaRPr lang="zh-CN" altLang="en-US" sz="2000" b="0" dirty="0">
                <a:latin typeface="Times New Roman" pitchFamily="18" charset="0"/>
                <a:ea typeface="+mn-ea"/>
                <a:cs typeface="Times New Roman" pitchFamily="18" charset="0"/>
              </a:endParaRPr>
            </a:p>
          </p:txBody>
        </p:sp>
      </p:grpSp>
    </p:spTree>
    <p:extLst>
      <p:ext uri="{BB962C8B-B14F-4D97-AF65-F5344CB8AC3E}">
        <p14:creationId xmlns:p14="http://schemas.microsoft.com/office/powerpoint/2010/main" val="37868569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p:bldP spid="16" grpId="0"/>
      <p:bldP spid="45" grpId="0"/>
      <p:bldP spid="51" grpId="0"/>
      <p:bldP spid="66" grpId="0"/>
      <p:bldP spid="6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392144" y="908720"/>
            <a:ext cx="4464496" cy="5277493"/>
          </a:xfrm>
          <a:prstGeom prst="rect">
            <a:avLst/>
          </a:prstGeom>
          <a:solidFill>
            <a:srgbClr val="B9CDE5"/>
          </a:solidFill>
          <a:ln>
            <a:noFill/>
          </a:ln>
          <a:effectLst/>
        </p:spPr>
        <p:txBody>
          <a:bodyPr wrap="none" anchor="ctr"/>
          <a:lstStyle/>
          <a:p>
            <a:endParaRPr lang="zh-CN" altLang="en-US" dirty="0"/>
          </a:p>
        </p:txBody>
      </p:sp>
      <p:sp>
        <p:nvSpPr>
          <p:cNvPr id="111" name="Text Box 1032"/>
          <p:cNvSpPr txBox="1">
            <a:spLocks noChangeArrowheads="1"/>
          </p:cNvSpPr>
          <p:nvPr/>
        </p:nvSpPr>
        <p:spPr bwMode="auto">
          <a:xfrm>
            <a:off x="335360" y="1019991"/>
            <a:ext cx="6624736"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当梁上有横向外力作用时</a:t>
            </a:r>
            <a:r>
              <a:rPr kumimoji="1" lang="zh-CN" altLang="en-US" sz="2800" i="0" dirty="0">
                <a:ea typeface="微软雅黑" panose="020B0503020204020204" pitchFamily="34" charset="-122"/>
              </a:rPr>
              <a:t>，</a:t>
            </a:r>
            <a:r>
              <a:rPr kumimoji="1" lang="zh-CN" altLang="en-US" sz="2800" i="0" dirty="0">
                <a:latin typeface="+mn-lt"/>
                <a:ea typeface="微软雅黑" panose="020B0503020204020204" pitchFamily="34" charset="-122"/>
              </a:rPr>
              <a:t>一般情况下</a:t>
            </a:r>
            <a:r>
              <a:rPr kumimoji="1" lang="zh-CN" altLang="en-US" sz="2800" i="0" dirty="0">
                <a:ea typeface="微软雅黑" panose="020B0503020204020204" pitchFamily="34" charset="-122"/>
              </a:rPr>
              <a:t>，</a:t>
            </a:r>
            <a:r>
              <a:rPr kumimoji="1" lang="zh-CN" altLang="en-US" sz="2800" i="0" dirty="0">
                <a:latin typeface="+mn-lt"/>
                <a:ea typeface="微软雅黑" panose="020B0503020204020204" pitchFamily="34" charset="-122"/>
              </a:rPr>
              <a:t>梁的横截面上既又弯矩</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，又有剪力</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 </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a:p>
            <a:pPr lvl="0" algn="just">
              <a:lnSpc>
                <a:spcPct val="120000"/>
              </a:lnSpc>
            </a:pPr>
            <a:endParaRPr lang="zh-CN" altLang="en-US" sz="2800" i="0" dirty="0">
              <a:latin typeface="+mj-lt"/>
              <a:ea typeface="微软雅黑" panose="020B0503020204020204" pitchFamily="34" charset="-122"/>
            </a:endParaRPr>
          </a:p>
        </p:txBody>
      </p:sp>
      <p:grpSp>
        <p:nvGrpSpPr>
          <p:cNvPr id="112" name="Group 83"/>
          <p:cNvGrpSpPr>
            <a:grpSpLocks/>
          </p:cNvGrpSpPr>
          <p:nvPr/>
        </p:nvGrpSpPr>
        <p:grpSpPr bwMode="auto">
          <a:xfrm>
            <a:off x="924819" y="2055204"/>
            <a:ext cx="4479926" cy="1206500"/>
            <a:chOff x="140" y="1735"/>
            <a:chExt cx="2822" cy="760"/>
          </a:xfrm>
        </p:grpSpPr>
        <p:sp>
          <p:nvSpPr>
            <p:cNvPr id="113" name="AutoShape 18"/>
            <p:cNvSpPr>
              <a:spLocks/>
            </p:cNvSpPr>
            <p:nvPr/>
          </p:nvSpPr>
          <p:spPr bwMode="auto">
            <a:xfrm>
              <a:off x="748" y="1900"/>
              <a:ext cx="91" cy="464"/>
            </a:xfrm>
            <a:prstGeom prst="leftBrace">
              <a:avLst>
                <a:gd name="adj1" fmla="val 42491"/>
                <a:gd name="adj2" fmla="val 50000"/>
              </a:avLst>
            </a:prstGeom>
            <a:noFill/>
            <a:ln w="28575">
              <a:solidFill>
                <a:srgbClr val="0066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kumimoji="1" lang="zh-CN" altLang="zh-CN" sz="2000">
                <a:latin typeface="+mn-lt"/>
                <a:ea typeface="+mn-ea"/>
              </a:endParaRPr>
            </a:p>
          </p:txBody>
        </p:sp>
        <p:sp>
          <p:nvSpPr>
            <p:cNvPr id="114" name="Text Box 19"/>
            <p:cNvSpPr txBox="1">
              <a:spLocks noChangeArrowheads="1"/>
            </p:cNvSpPr>
            <p:nvPr/>
          </p:nvSpPr>
          <p:spPr bwMode="auto">
            <a:xfrm>
              <a:off x="850" y="1735"/>
              <a:ext cx="211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spAutoFit/>
            </a:bodyPr>
            <a:lstStyle/>
            <a:p>
              <a:pPr algn="l" eaLnBrk="1" hangingPunct="1">
                <a:spcBef>
                  <a:spcPct val="50000"/>
                </a:spcBef>
                <a:defRPr/>
              </a:pPr>
              <a:r>
                <a:rPr kumimoji="1" lang="zh-CN" altLang="en-US" sz="2800" i="0" dirty="0">
                  <a:solidFill>
                    <a:schemeClr val="tx1"/>
                  </a:solidFill>
                  <a:latin typeface="+mn-lt"/>
                  <a:ea typeface="微软雅黑" panose="020B0503020204020204" pitchFamily="34" charset="-122"/>
                </a:rPr>
                <a:t>剪力</a:t>
              </a:r>
              <a:r>
                <a:rPr kumimoji="1" lang="en-US" altLang="zh-CN" sz="2800" b="0" dirty="0">
                  <a:solidFill>
                    <a:schemeClr val="tx1"/>
                  </a:solidFill>
                  <a:latin typeface="+mn-lt"/>
                  <a:ea typeface="微软雅黑" panose="020B0503020204020204" pitchFamily="34" charset="-122"/>
                </a:rPr>
                <a:t>F</a:t>
              </a:r>
              <a:r>
                <a:rPr kumimoji="1" lang="en-US" altLang="zh-CN" sz="2800" b="0" i="0" baseline="-25000" dirty="0">
                  <a:solidFill>
                    <a:schemeClr val="tx1"/>
                  </a:solidFill>
                  <a:latin typeface="+mn-lt"/>
                  <a:ea typeface="微软雅黑" panose="020B0503020204020204" pitchFamily="34" charset="-122"/>
                </a:rPr>
                <a:t>Q</a:t>
              </a:r>
              <a:r>
                <a:rPr kumimoji="1" lang="en-US" altLang="zh-CN" sz="2800" i="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切应力</a:t>
              </a:r>
              <a:r>
                <a:rPr kumimoji="1" lang="en-US" altLang="zh-CN" sz="2800" b="0" dirty="0">
                  <a:solidFill>
                    <a:schemeClr val="tx1"/>
                  </a:solidFill>
                  <a:latin typeface="+mn-lt"/>
                  <a:ea typeface="微软雅黑" panose="020B0503020204020204" pitchFamily="34" charset="-122"/>
                  <a:sym typeface="Symbol"/>
                </a:rPr>
                <a:t></a:t>
              </a:r>
              <a:endParaRPr kumimoji="1" lang="en-US" altLang="zh-CN" sz="2800" b="0" dirty="0">
                <a:solidFill>
                  <a:schemeClr val="tx1"/>
                </a:solidFill>
                <a:latin typeface="+mn-lt"/>
                <a:ea typeface="微软雅黑" panose="020B0503020204020204" pitchFamily="34" charset="-122"/>
              </a:endParaRPr>
            </a:p>
          </p:txBody>
        </p:sp>
        <p:sp>
          <p:nvSpPr>
            <p:cNvPr id="115" name="Line 20"/>
            <p:cNvSpPr>
              <a:spLocks noChangeShapeType="1"/>
            </p:cNvSpPr>
            <p:nvPr/>
          </p:nvSpPr>
          <p:spPr bwMode="auto">
            <a:xfrm>
              <a:off x="1654" y="1904"/>
              <a:ext cx="384" cy="0"/>
            </a:xfrm>
            <a:prstGeom prst="line">
              <a:avLst/>
            </a:prstGeom>
            <a:noFill/>
            <a:ln w="38100">
              <a:solidFill>
                <a:srgbClr val="0066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2000">
                <a:effectLst>
                  <a:outerShdw blurRad="38100" dist="38100" dir="2700000" algn="tl">
                    <a:srgbClr val="000000">
                      <a:alpha val="43137"/>
                    </a:srgbClr>
                  </a:outerShdw>
                </a:effectLst>
                <a:latin typeface="+mn-lt"/>
                <a:ea typeface="+mn-ea"/>
              </a:endParaRPr>
            </a:p>
          </p:txBody>
        </p:sp>
        <p:sp>
          <p:nvSpPr>
            <p:cNvPr id="116" name="Text Box 23"/>
            <p:cNvSpPr txBox="1">
              <a:spLocks noChangeArrowheads="1"/>
            </p:cNvSpPr>
            <p:nvPr/>
          </p:nvSpPr>
          <p:spPr bwMode="auto">
            <a:xfrm>
              <a:off x="140" y="1873"/>
              <a:ext cx="638"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a:lnSpc>
                  <a:spcPct val="150000"/>
                </a:lnSpc>
                <a:spcBef>
                  <a:spcPct val="50000"/>
                </a:spcBef>
                <a:defRPr kumimoji="1" sz="2000" b="1">
                  <a:latin typeface="+mn-ea"/>
                  <a:ea typeface="+mn-ea"/>
                </a:defRPr>
              </a:lvl1pPr>
            </a:lstStyle>
            <a:p>
              <a:r>
                <a:rPr lang="zh-CN" altLang="en-US" sz="2800" i="0" dirty="0">
                  <a:solidFill>
                    <a:schemeClr val="tx1"/>
                  </a:solidFill>
                  <a:latin typeface="+mn-lt"/>
                  <a:ea typeface="微软雅黑" panose="020B0503020204020204" pitchFamily="34" charset="-122"/>
                </a:rPr>
                <a:t>内力</a:t>
              </a:r>
            </a:p>
          </p:txBody>
        </p:sp>
        <p:sp>
          <p:nvSpPr>
            <p:cNvPr id="117" name="Text Box 19"/>
            <p:cNvSpPr txBox="1">
              <a:spLocks noChangeArrowheads="1"/>
            </p:cNvSpPr>
            <p:nvPr/>
          </p:nvSpPr>
          <p:spPr bwMode="auto">
            <a:xfrm>
              <a:off x="833" y="2165"/>
              <a:ext cx="211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spAutoFit/>
            </a:bodyPr>
            <a:lstStyle/>
            <a:p>
              <a:pPr algn="l" eaLnBrk="1" hangingPunct="1">
                <a:spcBef>
                  <a:spcPct val="50000"/>
                </a:spcBef>
                <a:defRPr/>
              </a:pPr>
              <a:r>
                <a:rPr kumimoji="1" lang="zh-CN" altLang="en-US" sz="2800" i="0" dirty="0">
                  <a:solidFill>
                    <a:schemeClr val="tx1"/>
                  </a:solidFill>
                  <a:latin typeface="+mn-lt"/>
                  <a:ea typeface="微软雅黑" panose="020B0503020204020204" pitchFamily="34" charset="-122"/>
                </a:rPr>
                <a:t>弯矩</a:t>
              </a:r>
              <a:r>
                <a:rPr kumimoji="1" lang="en-US" altLang="zh-CN" sz="2800" b="0" dirty="0">
                  <a:solidFill>
                    <a:schemeClr val="tx1"/>
                  </a:solidFill>
                  <a:latin typeface="+mn-lt"/>
                  <a:ea typeface="微软雅黑" panose="020B0503020204020204" pitchFamily="34" charset="-122"/>
                </a:rPr>
                <a:t>M </a:t>
              </a:r>
              <a:r>
                <a:rPr kumimoji="1" lang="en-US" altLang="zh-CN" sz="2800" i="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正应力</a:t>
              </a:r>
              <a:r>
                <a:rPr kumimoji="1" lang="en-US" altLang="zh-CN" sz="2800" b="0" dirty="0">
                  <a:solidFill>
                    <a:schemeClr val="tx1"/>
                  </a:solidFill>
                  <a:latin typeface="+mn-lt"/>
                  <a:ea typeface="微软雅黑" panose="020B0503020204020204" pitchFamily="34" charset="-122"/>
                  <a:sym typeface="Symbol"/>
                </a:rPr>
                <a:t></a:t>
              </a:r>
              <a:endParaRPr kumimoji="1" lang="en-US" altLang="zh-CN" sz="2800" b="0" dirty="0">
                <a:solidFill>
                  <a:schemeClr val="tx1"/>
                </a:solidFill>
                <a:latin typeface="+mn-lt"/>
                <a:ea typeface="微软雅黑" panose="020B0503020204020204" pitchFamily="34" charset="-122"/>
              </a:endParaRPr>
            </a:p>
          </p:txBody>
        </p:sp>
        <p:sp>
          <p:nvSpPr>
            <p:cNvPr id="118" name="Line 20"/>
            <p:cNvSpPr>
              <a:spLocks noChangeShapeType="1"/>
            </p:cNvSpPr>
            <p:nvPr/>
          </p:nvSpPr>
          <p:spPr bwMode="auto">
            <a:xfrm>
              <a:off x="1640" y="2330"/>
              <a:ext cx="384" cy="0"/>
            </a:xfrm>
            <a:prstGeom prst="line">
              <a:avLst/>
            </a:prstGeom>
            <a:noFill/>
            <a:ln w="38100">
              <a:solidFill>
                <a:srgbClr val="0066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2000">
                <a:effectLst>
                  <a:outerShdw blurRad="38100" dist="38100" dir="2700000" algn="tl">
                    <a:srgbClr val="000000">
                      <a:alpha val="43137"/>
                    </a:srgbClr>
                  </a:outerShdw>
                </a:effectLst>
                <a:latin typeface="+mn-lt"/>
                <a:ea typeface="+mn-ea"/>
              </a:endParaRPr>
            </a:p>
          </p:txBody>
        </p:sp>
      </p:grpSp>
      <p:sp>
        <p:nvSpPr>
          <p:cNvPr id="119" name="Rectangle 79"/>
          <p:cNvSpPr>
            <a:spLocks noChangeArrowheads="1"/>
          </p:cNvSpPr>
          <p:nvPr/>
        </p:nvSpPr>
        <p:spPr bwMode="auto">
          <a:xfrm>
            <a:off x="376117" y="3302233"/>
            <a:ext cx="589308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0"/>
              </a:spcBef>
            </a:pPr>
            <a:r>
              <a:rPr kumimoji="1" lang="zh-CN" altLang="en-US" sz="2800" i="0" dirty="0">
                <a:solidFill>
                  <a:schemeClr val="tx1"/>
                </a:solidFill>
                <a:latin typeface="+mn-lt"/>
                <a:ea typeface="微软雅黑" panose="020B0503020204020204" pitchFamily="34" charset="-122"/>
              </a:rPr>
              <a:t>只有与切应力有关的切向内力元素： </a:t>
            </a:r>
          </a:p>
          <a:p>
            <a:pPr algn="l">
              <a:lnSpc>
                <a:spcPct val="150000"/>
              </a:lnSpc>
              <a:spcBef>
                <a:spcPts val="0"/>
              </a:spcBef>
            </a:pPr>
            <a:r>
              <a:rPr kumimoji="1" lang="en-US" altLang="zh-CN" sz="2000" b="1" dirty="0">
                <a:latin typeface="+mn-lt"/>
                <a:ea typeface="+mn-ea"/>
              </a:rPr>
              <a:t>                           </a:t>
            </a:r>
            <a:r>
              <a:rPr kumimoji="1" lang="en-US" altLang="zh-CN" sz="2800" b="0" i="0" dirty="0" err="1">
                <a:solidFill>
                  <a:schemeClr val="tx1"/>
                </a:solidFill>
                <a:latin typeface="+mn-lt"/>
                <a:ea typeface="微软雅黑" panose="020B0503020204020204" pitchFamily="34" charset="-122"/>
              </a:rPr>
              <a:t>d</a:t>
            </a:r>
            <a:r>
              <a:rPr kumimoji="1" lang="en-US" altLang="zh-CN" sz="2800" b="0" dirty="0" err="1">
                <a:solidFill>
                  <a:schemeClr val="tx1"/>
                </a:solidFill>
                <a:latin typeface="+mn-lt"/>
                <a:ea typeface="微软雅黑" panose="020B0503020204020204" pitchFamily="34" charset="-122"/>
              </a:rPr>
              <a:t>F</a:t>
            </a:r>
            <a:r>
              <a:rPr kumimoji="1" lang="en-US" altLang="zh-CN" sz="2800" b="0" i="0" baseline="-25000" dirty="0" err="1">
                <a:solidFill>
                  <a:schemeClr val="tx1"/>
                </a:solidFill>
                <a:latin typeface="+mn-lt"/>
                <a:ea typeface="微软雅黑" panose="020B0503020204020204" pitchFamily="34" charset="-122"/>
              </a:rPr>
              <a:t>S</a:t>
            </a:r>
            <a:r>
              <a:rPr kumimoji="1" lang="en-US" altLang="zh-CN" sz="2800" b="0" i="0" dirty="0">
                <a:solidFill>
                  <a:schemeClr val="tx1"/>
                </a:solidFill>
                <a:latin typeface="+mn-lt"/>
                <a:ea typeface="微软雅黑" panose="020B0503020204020204" pitchFamily="34" charset="-122"/>
              </a:rPr>
              <a:t>=</a:t>
            </a:r>
            <a:r>
              <a:rPr kumimoji="1" lang="en-US" altLang="zh-CN" sz="2800" b="0" dirty="0">
                <a:solidFill>
                  <a:schemeClr val="tx1"/>
                </a:solidFill>
                <a:latin typeface="+mn-lt"/>
                <a:ea typeface="微软雅黑" panose="020B0503020204020204" pitchFamily="34" charset="-122"/>
                <a:sym typeface="Symbol" pitchFamily="18" charset="2"/>
              </a:rPr>
              <a:t> </a:t>
            </a:r>
            <a:r>
              <a:rPr kumimoji="1" lang="en-US" altLang="zh-CN" sz="2800" b="0" i="0" dirty="0" err="1">
                <a:solidFill>
                  <a:schemeClr val="tx1"/>
                </a:solidFill>
                <a:latin typeface="+mn-lt"/>
                <a:ea typeface="微软雅黑" panose="020B0503020204020204" pitchFamily="34" charset="-122"/>
                <a:sym typeface="Symbol" pitchFamily="18" charset="2"/>
              </a:rPr>
              <a:t>d</a:t>
            </a:r>
            <a:r>
              <a:rPr kumimoji="1" lang="en-US" altLang="zh-CN" sz="2800" b="0" dirty="0" err="1">
                <a:solidFill>
                  <a:schemeClr val="tx1"/>
                </a:solidFill>
                <a:latin typeface="+mn-lt"/>
                <a:ea typeface="微软雅黑" panose="020B0503020204020204" pitchFamily="34" charset="-122"/>
                <a:sym typeface="Symbol" pitchFamily="18" charset="2"/>
              </a:rPr>
              <a:t>A</a:t>
            </a:r>
            <a:r>
              <a:rPr kumimoji="1" lang="en-US" altLang="zh-CN" sz="2800" b="0" dirty="0">
                <a:solidFill>
                  <a:schemeClr val="tx1"/>
                </a:solidFill>
                <a:latin typeface="+mn-lt"/>
                <a:ea typeface="微软雅黑" panose="020B0503020204020204" pitchFamily="34" charset="-122"/>
                <a:sym typeface="Symbol" pitchFamily="18" charset="2"/>
              </a:rPr>
              <a:t> </a:t>
            </a:r>
            <a:r>
              <a:rPr kumimoji="1" lang="zh-CN" altLang="en-US" sz="2800" i="0" dirty="0">
                <a:solidFill>
                  <a:schemeClr val="tx1"/>
                </a:solidFill>
                <a:latin typeface="+mn-lt"/>
                <a:ea typeface="微软雅黑" panose="020B0503020204020204" pitchFamily="34" charset="-122"/>
                <a:sym typeface="Symbol" pitchFamily="18" charset="2"/>
              </a:rPr>
              <a:t>才能合成</a:t>
            </a:r>
            <a:r>
              <a:rPr kumimoji="1" lang="zh-CN" altLang="en-US" sz="2800" i="0" dirty="0">
                <a:solidFill>
                  <a:schemeClr val="tx1"/>
                </a:solidFill>
                <a:latin typeface="+mn-lt"/>
                <a:ea typeface="微软雅黑" panose="020B0503020204020204" pitchFamily="34" charset="-122"/>
              </a:rPr>
              <a:t>剪力；</a:t>
            </a:r>
            <a:endParaRPr kumimoji="1" lang="en-US" altLang="zh-CN" sz="2800" i="0" dirty="0">
              <a:solidFill>
                <a:schemeClr val="tx1"/>
              </a:solidFill>
              <a:latin typeface="+mn-lt"/>
              <a:ea typeface="微软雅黑" panose="020B0503020204020204" pitchFamily="34" charset="-122"/>
            </a:endParaRPr>
          </a:p>
        </p:txBody>
      </p:sp>
      <p:sp>
        <p:nvSpPr>
          <p:cNvPr id="120" name="Rectangle 79"/>
          <p:cNvSpPr>
            <a:spLocks noChangeArrowheads="1"/>
          </p:cNvSpPr>
          <p:nvPr/>
        </p:nvSpPr>
        <p:spPr bwMode="auto">
          <a:xfrm>
            <a:off x="463602" y="4690385"/>
            <a:ext cx="60371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0"/>
              </a:spcBef>
            </a:pPr>
            <a:r>
              <a:rPr kumimoji="1" lang="zh-CN" altLang="en-US" sz="2800" i="0" dirty="0">
                <a:solidFill>
                  <a:schemeClr val="tx1"/>
                </a:solidFill>
                <a:latin typeface="+mn-lt"/>
                <a:ea typeface="微软雅黑" panose="020B0503020204020204" pitchFamily="34" charset="-122"/>
              </a:rPr>
              <a:t>只有与正应力有关的法向内力元素： </a:t>
            </a:r>
          </a:p>
          <a:p>
            <a:pPr algn="l">
              <a:lnSpc>
                <a:spcPct val="150000"/>
              </a:lnSpc>
              <a:spcBef>
                <a:spcPts val="0"/>
              </a:spcBef>
            </a:pPr>
            <a:r>
              <a:rPr kumimoji="1" lang="en-US" altLang="zh-CN" sz="2800" i="0" dirty="0">
                <a:solidFill>
                  <a:schemeClr val="tx1"/>
                </a:solidFill>
                <a:latin typeface="+mn-lt"/>
                <a:ea typeface="微软雅黑" panose="020B0503020204020204" pitchFamily="34" charset="-122"/>
              </a:rPr>
              <a:t>                 </a:t>
            </a:r>
            <a:r>
              <a:rPr kumimoji="1" lang="en-US" altLang="zh-CN" sz="2800" b="0" i="0" dirty="0" err="1">
                <a:solidFill>
                  <a:schemeClr val="tx1"/>
                </a:solidFill>
                <a:latin typeface="+mn-lt"/>
                <a:ea typeface="微软雅黑" panose="020B0503020204020204" pitchFamily="34" charset="-122"/>
              </a:rPr>
              <a:t>d</a:t>
            </a:r>
            <a:r>
              <a:rPr kumimoji="1" lang="en-US" altLang="zh-CN" sz="2800" b="0" dirty="0" err="1">
                <a:solidFill>
                  <a:schemeClr val="tx1"/>
                </a:solidFill>
                <a:latin typeface="+mn-lt"/>
                <a:ea typeface="微软雅黑" panose="020B0503020204020204" pitchFamily="34" charset="-122"/>
              </a:rPr>
              <a:t>F</a:t>
            </a:r>
            <a:r>
              <a:rPr kumimoji="1" lang="en-US" altLang="zh-CN" sz="2800" b="0" i="0" baseline="-25000" dirty="0" err="1">
                <a:solidFill>
                  <a:schemeClr val="tx1"/>
                </a:solidFill>
                <a:latin typeface="+mn-lt"/>
                <a:ea typeface="微软雅黑" panose="020B0503020204020204" pitchFamily="34" charset="-122"/>
              </a:rPr>
              <a:t>N</a:t>
            </a:r>
            <a:r>
              <a:rPr kumimoji="1" lang="en-US" altLang="zh-CN" sz="2800" b="0" i="0" dirty="0">
                <a:solidFill>
                  <a:schemeClr val="tx1"/>
                </a:solidFill>
                <a:latin typeface="+mn-lt"/>
                <a:ea typeface="微软雅黑" panose="020B0503020204020204" pitchFamily="34" charset="-122"/>
              </a:rPr>
              <a:t>=</a:t>
            </a:r>
            <a:r>
              <a:rPr kumimoji="1" lang="en-US" altLang="zh-CN" sz="2800" b="0" dirty="0">
                <a:solidFill>
                  <a:schemeClr val="tx1"/>
                </a:solidFill>
                <a:latin typeface="+mn-lt"/>
                <a:ea typeface="微软雅黑" panose="020B0503020204020204" pitchFamily="34" charset="-122"/>
                <a:sym typeface="Symbol"/>
              </a:rPr>
              <a:t></a:t>
            </a:r>
            <a:r>
              <a:rPr kumimoji="1" lang="en-US" altLang="zh-CN" sz="2800" b="0" i="0" dirty="0">
                <a:solidFill>
                  <a:schemeClr val="tx1"/>
                </a:solidFill>
                <a:latin typeface="+mn-lt"/>
                <a:ea typeface="微软雅黑" panose="020B0503020204020204" pitchFamily="34" charset="-122"/>
                <a:sym typeface="Symbol"/>
              </a:rPr>
              <a:t> </a:t>
            </a:r>
            <a:r>
              <a:rPr kumimoji="1" lang="en-US" altLang="zh-CN" sz="2800" b="0" i="0" dirty="0" err="1">
                <a:solidFill>
                  <a:schemeClr val="tx1"/>
                </a:solidFill>
                <a:latin typeface="+mn-lt"/>
                <a:ea typeface="微软雅黑" panose="020B0503020204020204" pitchFamily="34" charset="-122"/>
                <a:sym typeface="Symbol" pitchFamily="18" charset="2"/>
              </a:rPr>
              <a:t>d</a:t>
            </a:r>
            <a:r>
              <a:rPr kumimoji="1" lang="en-US" altLang="zh-CN" sz="2800" b="0" dirty="0" err="1">
                <a:solidFill>
                  <a:schemeClr val="tx1"/>
                </a:solidFill>
                <a:latin typeface="+mn-lt"/>
                <a:ea typeface="微软雅黑" panose="020B0503020204020204" pitchFamily="34" charset="-122"/>
                <a:sym typeface="Symbol" pitchFamily="18" charset="2"/>
              </a:rPr>
              <a:t>A</a:t>
            </a:r>
            <a:r>
              <a:rPr kumimoji="1" lang="en-US" altLang="zh-CN" sz="2800" b="0" dirty="0">
                <a:solidFill>
                  <a:schemeClr val="tx1"/>
                </a:solidFill>
                <a:latin typeface="+mn-lt"/>
                <a:ea typeface="微软雅黑" panose="020B0503020204020204" pitchFamily="34" charset="-122"/>
                <a:sym typeface="Symbol" pitchFamily="18" charset="2"/>
              </a:rPr>
              <a:t> </a:t>
            </a:r>
            <a:r>
              <a:rPr kumimoji="1" lang="zh-CN" altLang="en-US" sz="2800" i="0" dirty="0">
                <a:solidFill>
                  <a:schemeClr val="tx1"/>
                </a:solidFill>
                <a:latin typeface="+mn-lt"/>
                <a:ea typeface="微软雅黑" panose="020B0503020204020204" pitchFamily="34" charset="-122"/>
                <a:sym typeface="Symbol" pitchFamily="18" charset="2"/>
              </a:rPr>
              <a:t>才能合成弯矩。</a:t>
            </a:r>
            <a:endParaRPr kumimoji="1" lang="en-US" altLang="zh-CN" sz="2800" i="0" dirty="0">
              <a:solidFill>
                <a:schemeClr val="tx1"/>
              </a:solidFill>
              <a:latin typeface="+mn-lt"/>
              <a:ea typeface="微软雅黑" panose="020B0503020204020204" pitchFamily="34" charset="-122"/>
            </a:endParaRPr>
          </a:p>
        </p:txBody>
      </p:sp>
      <p:grpSp>
        <p:nvGrpSpPr>
          <p:cNvPr id="121" name="Group 81"/>
          <p:cNvGrpSpPr>
            <a:grpSpLocks/>
          </p:cNvGrpSpPr>
          <p:nvPr/>
        </p:nvGrpSpPr>
        <p:grpSpPr bwMode="auto">
          <a:xfrm>
            <a:off x="8782794" y="1245858"/>
            <a:ext cx="1979613" cy="1522413"/>
            <a:chOff x="4267" y="1105"/>
            <a:chExt cx="1247" cy="959"/>
          </a:xfrm>
        </p:grpSpPr>
        <p:sp>
          <p:nvSpPr>
            <p:cNvPr id="122" name="Rectangle 4"/>
            <p:cNvSpPr>
              <a:spLocks noChangeArrowheads="1"/>
            </p:cNvSpPr>
            <p:nvPr/>
          </p:nvSpPr>
          <p:spPr bwMode="auto">
            <a:xfrm>
              <a:off x="4380" y="1336"/>
              <a:ext cx="688" cy="537"/>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23" name="Text Box 6"/>
            <p:cNvSpPr txBox="1">
              <a:spLocks noChangeArrowheads="1"/>
            </p:cNvSpPr>
            <p:nvPr/>
          </p:nvSpPr>
          <p:spPr bwMode="auto">
            <a:xfrm>
              <a:off x="4915" y="1105"/>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24" name="Text Box 7"/>
            <p:cNvSpPr txBox="1">
              <a:spLocks noChangeArrowheads="1"/>
            </p:cNvSpPr>
            <p:nvPr/>
          </p:nvSpPr>
          <p:spPr bwMode="auto">
            <a:xfrm>
              <a:off x="4905" y="181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25" name="Line 8"/>
            <p:cNvSpPr>
              <a:spLocks noChangeShapeType="1"/>
            </p:cNvSpPr>
            <p:nvPr/>
          </p:nvSpPr>
          <p:spPr bwMode="auto">
            <a:xfrm>
              <a:off x="4267" y="1605"/>
              <a:ext cx="897" cy="0"/>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26" name="Group 9"/>
            <p:cNvGrpSpPr>
              <a:grpSpLocks/>
            </p:cNvGrpSpPr>
            <p:nvPr/>
          </p:nvGrpSpPr>
          <p:grpSpPr bwMode="auto">
            <a:xfrm>
              <a:off x="5116" y="1326"/>
              <a:ext cx="336" cy="683"/>
              <a:chOff x="1776" y="2400"/>
              <a:chExt cx="336" cy="683"/>
            </a:xfrm>
          </p:grpSpPr>
          <p:sp>
            <p:nvSpPr>
              <p:cNvPr id="130" name="Line 10"/>
              <p:cNvSpPr>
                <a:spLocks noChangeShapeType="1"/>
              </p:cNvSpPr>
              <p:nvPr/>
            </p:nvSpPr>
            <p:spPr bwMode="auto">
              <a:xfrm>
                <a:off x="1806" y="2400"/>
                <a:ext cx="0" cy="52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31" name="Text Box 11"/>
              <p:cNvSpPr txBox="1">
                <a:spLocks noChangeArrowheads="1"/>
              </p:cNvSpPr>
              <p:nvPr/>
            </p:nvSpPr>
            <p:spPr bwMode="auto">
              <a:xfrm>
                <a:off x="1776" y="2831"/>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defRPr/>
                </a:pPr>
                <a:r>
                  <a:rPr kumimoji="1" lang="en-US" altLang="zh-CN" sz="2000" b="0" dirty="0">
                    <a:solidFill>
                      <a:srgbClr val="FF0000"/>
                    </a:solidFill>
                    <a:latin typeface="+mn-lt"/>
                    <a:ea typeface="+mn-ea"/>
                  </a:rPr>
                  <a:t>F</a:t>
                </a:r>
                <a:r>
                  <a:rPr kumimoji="1" lang="en-US" altLang="zh-CN" sz="2000" b="0" i="0" baseline="-25000" dirty="0">
                    <a:solidFill>
                      <a:srgbClr val="FF0000"/>
                    </a:solidFill>
                    <a:latin typeface="+mn-lt"/>
                    <a:ea typeface="+mn-ea"/>
                  </a:rPr>
                  <a:t>Q</a:t>
                </a:r>
              </a:p>
            </p:txBody>
          </p:sp>
        </p:grpSp>
        <p:grpSp>
          <p:nvGrpSpPr>
            <p:cNvPr id="127" name="Group 12"/>
            <p:cNvGrpSpPr>
              <a:grpSpLocks/>
            </p:cNvGrpSpPr>
            <p:nvPr/>
          </p:nvGrpSpPr>
          <p:grpSpPr bwMode="auto">
            <a:xfrm>
              <a:off x="5062" y="1190"/>
              <a:ext cx="452" cy="575"/>
              <a:chOff x="1674" y="2321"/>
              <a:chExt cx="452" cy="575"/>
            </a:xfrm>
          </p:grpSpPr>
          <p:sp>
            <p:nvSpPr>
              <p:cNvPr id="128" name="Arc 13"/>
              <p:cNvSpPr>
                <a:spLocks/>
              </p:cNvSpPr>
              <p:nvPr/>
            </p:nvSpPr>
            <p:spPr bwMode="auto">
              <a:xfrm rot="1887873">
                <a:off x="1674" y="2529"/>
                <a:ext cx="269" cy="36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29" name="Text Box 14"/>
              <p:cNvSpPr txBox="1">
                <a:spLocks noChangeArrowheads="1"/>
              </p:cNvSpPr>
              <p:nvPr/>
            </p:nvSpPr>
            <p:spPr bwMode="auto">
              <a:xfrm>
                <a:off x="1838" y="2321"/>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rPr>
                  <a:t>M</a:t>
                </a:r>
              </a:p>
            </p:txBody>
          </p:sp>
        </p:grpSp>
      </p:grpSp>
      <p:grpSp>
        <p:nvGrpSpPr>
          <p:cNvPr id="132" name="组合 131"/>
          <p:cNvGrpSpPr/>
          <p:nvPr/>
        </p:nvGrpSpPr>
        <p:grpSpPr>
          <a:xfrm>
            <a:off x="8784840" y="3050988"/>
            <a:ext cx="2063752" cy="1522414"/>
            <a:chOff x="6282196" y="3076718"/>
            <a:chExt cx="2063752" cy="1522414"/>
          </a:xfrm>
        </p:grpSpPr>
        <p:sp>
          <p:nvSpPr>
            <p:cNvPr id="133" name="Rectangle 4"/>
            <p:cNvSpPr>
              <a:spLocks noChangeArrowheads="1"/>
            </p:cNvSpPr>
            <p:nvPr/>
          </p:nvSpPr>
          <p:spPr bwMode="auto">
            <a:xfrm>
              <a:off x="6461584" y="3443431"/>
              <a:ext cx="1092201" cy="852488"/>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4" name="Text Box 6"/>
            <p:cNvSpPr txBox="1">
              <a:spLocks noChangeArrowheads="1"/>
            </p:cNvSpPr>
            <p:nvPr/>
          </p:nvSpPr>
          <p:spPr bwMode="auto">
            <a:xfrm>
              <a:off x="7310897" y="3076718"/>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35" name="Text Box 7"/>
            <p:cNvSpPr txBox="1">
              <a:spLocks noChangeArrowheads="1"/>
            </p:cNvSpPr>
            <p:nvPr/>
          </p:nvSpPr>
          <p:spPr bwMode="auto">
            <a:xfrm>
              <a:off x="7295022" y="4202257"/>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36" name="Line 8"/>
            <p:cNvSpPr>
              <a:spLocks noChangeShapeType="1"/>
            </p:cNvSpPr>
            <p:nvPr/>
          </p:nvSpPr>
          <p:spPr bwMode="auto">
            <a:xfrm>
              <a:off x="6282196" y="3870469"/>
              <a:ext cx="1423989" cy="0"/>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37" name="Group 9"/>
            <p:cNvGrpSpPr>
              <a:grpSpLocks/>
            </p:cNvGrpSpPr>
            <p:nvPr/>
          </p:nvGrpSpPr>
          <p:grpSpPr bwMode="auto">
            <a:xfrm>
              <a:off x="7628397" y="3233881"/>
              <a:ext cx="717551" cy="1050926"/>
              <a:chOff x="1775" y="2278"/>
              <a:chExt cx="452" cy="662"/>
            </a:xfrm>
          </p:grpSpPr>
          <p:sp>
            <p:nvSpPr>
              <p:cNvPr id="143" name="Line 10"/>
              <p:cNvSpPr>
                <a:spLocks noChangeShapeType="1"/>
              </p:cNvSpPr>
              <p:nvPr/>
            </p:nvSpPr>
            <p:spPr bwMode="auto">
              <a:xfrm>
                <a:off x="1891" y="2412"/>
                <a:ext cx="0" cy="52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4" name="Text Box 11"/>
              <p:cNvSpPr txBox="1">
                <a:spLocks noChangeArrowheads="1"/>
              </p:cNvSpPr>
              <p:nvPr/>
            </p:nvSpPr>
            <p:spPr bwMode="auto">
              <a:xfrm>
                <a:off x="1891" y="2278"/>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kumimoji="1" lang="en-US" altLang="zh-CN" sz="2000" b="0" dirty="0">
                    <a:solidFill>
                      <a:srgbClr val="FF0000"/>
                    </a:solidFill>
                  </a:rPr>
                  <a:t>F</a:t>
                </a:r>
                <a:r>
                  <a:rPr kumimoji="1" lang="en-US" altLang="zh-CN" sz="2000" b="0" i="0" baseline="-25000" dirty="0">
                    <a:solidFill>
                      <a:srgbClr val="FF0000"/>
                    </a:solidFill>
                  </a:rPr>
                  <a:t>Q</a:t>
                </a:r>
              </a:p>
            </p:txBody>
          </p:sp>
          <p:sp>
            <p:nvSpPr>
              <p:cNvPr id="145" name="Line 10"/>
              <p:cNvSpPr>
                <a:spLocks noChangeShapeType="1"/>
              </p:cNvSpPr>
              <p:nvPr/>
            </p:nvSpPr>
            <p:spPr bwMode="auto">
              <a:xfrm>
                <a:off x="1775" y="2427"/>
                <a:ext cx="2" cy="96"/>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sp>
          <p:nvSpPr>
            <p:cNvPr id="138" name="Text Box 7"/>
            <p:cNvSpPr txBox="1">
              <a:spLocks noChangeArrowheads="1"/>
            </p:cNvSpPr>
            <p:nvPr/>
          </p:nvSpPr>
          <p:spPr bwMode="auto">
            <a:xfrm>
              <a:off x="7566485" y="4119707"/>
              <a:ext cx="3778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sym typeface="Symbol"/>
                </a:rPr>
                <a:t></a:t>
              </a:r>
              <a:endParaRPr kumimoji="1" lang="en-US" altLang="zh-CN" sz="2000" b="0" i="1" dirty="0">
                <a:solidFill>
                  <a:srgbClr val="FF0000"/>
                </a:solidFill>
              </a:endParaRPr>
            </a:p>
          </p:txBody>
        </p:sp>
        <p:sp>
          <p:nvSpPr>
            <p:cNvPr id="139" name="Line 10"/>
            <p:cNvSpPr>
              <a:spLocks noChangeShapeType="1"/>
            </p:cNvSpPr>
            <p:nvPr/>
          </p:nvSpPr>
          <p:spPr bwMode="auto">
            <a:xfrm>
              <a:off x="7631570" y="363378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0" name="Line 10"/>
            <p:cNvSpPr>
              <a:spLocks noChangeShapeType="1"/>
            </p:cNvSpPr>
            <p:nvPr/>
          </p:nvSpPr>
          <p:spPr bwMode="auto">
            <a:xfrm>
              <a:off x="7634745" y="380333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1" name="Line 10"/>
            <p:cNvSpPr>
              <a:spLocks noChangeShapeType="1"/>
            </p:cNvSpPr>
            <p:nvPr/>
          </p:nvSpPr>
          <p:spPr bwMode="auto">
            <a:xfrm>
              <a:off x="7637920" y="397668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2" name="Line 10"/>
            <p:cNvSpPr>
              <a:spLocks noChangeShapeType="1"/>
            </p:cNvSpPr>
            <p:nvPr/>
          </p:nvSpPr>
          <p:spPr bwMode="auto">
            <a:xfrm>
              <a:off x="7637920" y="4151457"/>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grpSp>
        <p:nvGrpSpPr>
          <p:cNvPr id="146" name="组合 145"/>
          <p:cNvGrpSpPr/>
          <p:nvPr/>
        </p:nvGrpSpPr>
        <p:grpSpPr>
          <a:xfrm>
            <a:off x="8801955" y="4710576"/>
            <a:ext cx="2044166" cy="1522414"/>
            <a:chOff x="6299311" y="4736306"/>
            <a:chExt cx="2044166" cy="1522414"/>
          </a:xfrm>
        </p:grpSpPr>
        <p:sp>
          <p:nvSpPr>
            <p:cNvPr id="147" name="Rectangle 4"/>
            <p:cNvSpPr>
              <a:spLocks noChangeArrowheads="1"/>
            </p:cNvSpPr>
            <p:nvPr/>
          </p:nvSpPr>
          <p:spPr bwMode="auto">
            <a:xfrm>
              <a:off x="6478699" y="5103019"/>
              <a:ext cx="1092201" cy="852488"/>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48" name="Text Box 6"/>
            <p:cNvSpPr txBox="1">
              <a:spLocks noChangeArrowheads="1"/>
            </p:cNvSpPr>
            <p:nvPr/>
          </p:nvSpPr>
          <p:spPr bwMode="auto">
            <a:xfrm>
              <a:off x="7328012" y="4736306"/>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49" name="Text Box 7"/>
            <p:cNvSpPr txBox="1">
              <a:spLocks noChangeArrowheads="1"/>
            </p:cNvSpPr>
            <p:nvPr/>
          </p:nvSpPr>
          <p:spPr bwMode="auto">
            <a:xfrm>
              <a:off x="7312137" y="5861845"/>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50" name="Line 8"/>
            <p:cNvSpPr>
              <a:spLocks noChangeShapeType="1"/>
            </p:cNvSpPr>
            <p:nvPr/>
          </p:nvSpPr>
          <p:spPr bwMode="auto">
            <a:xfrm>
              <a:off x="6299311" y="5530056"/>
              <a:ext cx="1513236" cy="1"/>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1" name="Line 10"/>
            <p:cNvSpPr>
              <a:spLocks noChangeShapeType="1"/>
            </p:cNvSpPr>
            <p:nvPr/>
          </p:nvSpPr>
          <p:spPr bwMode="auto">
            <a:xfrm rot="5400000">
              <a:off x="7645508" y="524459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2" name="Text Box 7"/>
            <p:cNvSpPr txBox="1">
              <a:spLocks noChangeArrowheads="1"/>
            </p:cNvSpPr>
            <p:nvPr/>
          </p:nvSpPr>
          <p:spPr bwMode="auto">
            <a:xfrm flipH="1">
              <a:off x="7677345" y="5819426"/>
              <a:ext cx="3778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sym typeface="Symbol"/>
                </a:rPr>
                <a:t></a:t>
              </a:r>
              <a:endParaRPr kumimoji="1" lang="en-US" altLang="zh-CN" sz="2000" b="0" i="1" dirty="0">
                <a:solidFill>
                  <a:srgbClr val="FF0000"/>
                </a:solidFill>
              </a:endParaRPr>
            </a:p>
          </p:txBody>
        </p:sp>
        <p:sp>
          <p:nvSpPr>
            <p:cNvPr id="153" name="Arc 13"/>
            <p:cNvSpPr>
              <a:spLocks/>
            </p:cNvSpPr>
            <p:nvPr/>
          </p:nvSpPr>
          <p:spPr bwMode="auto">
            <a:xfrm rot="1800000">
              <a:off x="7677478" y="5216881"/>
              <a:ext cx="427038" cy="582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4" name="Text Box 14"/>
            <p:cNvSpPr txBox="1">
              <a:spLocks noChangeArrowheads="1"/>
            </p:cNvSpPr>
            <p:nvPr/>
          </p:nvSpPr>
          <p:spPr bwMode="auto">
            <a:xfrm>
              <a:off x="7886277" y="4914165"/>
              <a:ext cx="457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rPr>
                <a:t>M</a:t>
              </a:r>
            </a:p>
          </p:txBody>
        </p:sp>
        <p:cxnSp>
          <p:nvCxnSpPr>
            <p:cNvPr id="155" name="直接连接符 154"/>
            <p:cNvCxnSpPr/>
            <p:nvPr/>
          </p:nvCxnSpPr>
          <p:spPr bwMode="auto">
            <a:xfrm flipV="1">
              <a:off x="7583600" y="5094185"/>
              <a:ext cx="273765" cy="435873"/>
            </a:xfrm>
            <a:prstGeom prst="lin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56" name="Line 10"/>
            <p:cNvSpPr>
              <a:spLocks noChangeShapeType="1"/>
            </p:cNvSpPr>
            <p:nvPr/>
          </p:nvSpPr>
          <p:spPr bwMode="auto">
            <a:xfrm rot="5400000">
              <a:off x="7604408" y="5365926"/>
              <a:ext cx="0" cy="85375"/>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7" name="Line 10"/>
            <p:cNvSpPr>
              <a:spLocks noChangeShapeType="1"/>
            </p:cNvSpPr>
            <p:nvPr/>
          </p:nvSpPr>
          <p:spPr bwMode="auto">
            <a:xfrm rot="5400000">
              <a:off x="7671309" y="5128418"/>
              <a:ext cx="0" cy="192091"/>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8" name="Line 10"/>
            <p:cNvSpPr>
              <a:spLocks noChangeShapeType="1"/>
            </p:cNvSpPr>
            <p:nvPr/>
          </p:nvSpPr>
          <p:spPr bwMode="auto">
            <a:xfrm rot="5400000">
              <a:off x="7711924" y="4959169"/>
              <a:ext cx="0" cy="29088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9" name="Line 10"/>
            <p:cNvSpPr>
              <a:spLocks noChangeShapeType="1"/>
            </p:cNvSpPr>
            <p:nvPr/>
          </p:nvSpPr>
          <p:spPr bwMode="auto">
            <a:xfrm rot="5400000" flipH="1" flipV="1">
              <a:off x="7645508" y="5662323"/>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cxnSp>
          <p:nvCxnSpPr>
            <p:cNvPr id="160" name="直接连接符 159"/>
            <p:cNvCxnSpPr/>
            <p:nvPr/>
          </p:nvCxnSpPr>
          <p:spPr bwMode="auto">
            <a:xfrm>
              <a:off x="7583600" y="5529263"/>
              <a:ext cx="273765" cy="435873"/>
            </a:xfrm>
            <a:prstGeom prst="lin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1" name="Line 10"/>
            <p:cNvSpPr>
              <a:spLocks noChangeShapeType="1"/>
            </p:cNvSpPr>
            <p:nvPr/>
          </p:nvSpPr>
          <p:spPr bwMode="auto">
            <a:xfrm rot="5400000" flipH="1" flipV="1">
              <a:off x="7604408" y="5608020"/>
              <a:ext cx="0" cy="85375"/>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62" name="Line 10"/>
            <p:cNvSpPr>
              <a:spLocks noChangeShapeType="1"/>
            </p:cNvSpPr>
            <p:nvPr/>
          </p:nvSpPr>
          <p:spPr bwMode="auto">
            <a:xfrm rot="5400000" flipH="1" flipV="1">
              <a:off x="7671309" y="5738812"/>
              <a:ext cx="0" cy="192091"/>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63" name="Line 10"/>
            <p:cNvSpPr>
              <a:spLocks noChangeShapeType="1"/>
            </p:cNvSpPr>
            <p:nvPr/>
          </p:nvSpPr>
          <p:spPr bwMode="auto">
            <a:xfrm rot="5400000" flipH="1" flipV="1">
              <a:off x="7711924" y="5809272"/>
              <a:ext cx="0" cy="29088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004880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1" grpId="0" autoUpdateAnimBg="0"/>
      <p:bldP spid="119" grpId="0"/>
      <p:bldP spid="1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839416" y="3487785"/>
            <a:ext cx="10153128" cy="2770435"/>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6434" y="884653"/>
            <a:ext cx="2877711"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实验观察与假设</a:t>
            </a:r>
          </a:p>
        </p:txBody>
      </p:sp>
      <p:sp>
        <p:nvSpPr>
          <p:cNvPr id="111" name="Text Box 1032"/>
          <p:cNvSpPr txBox="1">
            <a:spLocks noChangeArrowheads="1"/>
          </p:cNvSpPr>
          <p:nvPr/>
        </p:nvSpPr>
        <p:spPr bwMode="auto">
          <a:xfrm>
            <a:off x="839416" y="1371244"/>
            <a:ext cx="10212704"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为了研究梁横截面上的正应力分布规律，可取一矩形截面等直梁，在表面画些平行于梁轴线的纵线和垂直于梁轴线的横线。在梁的两端施加一对位于梁纵向对称面内的力偶，这样梁上的内力只有弯矩而无剪力，称为</a:t>
            </a:r>
            <a:r>
              <a:rPr kumimoji="1" lang="zh-CN" altLang="en-US" sz="2800" i="0" dirty="0">
                <a:solidFill>
                  <a:srgbClr val="FF00FF"/>
                </a:solidFill>
                <a:latin typeface="+mn-lt"/>
                <a:ea typeface="微软雅黑" panose="020B0503020204020204" pitchFamily="34" charset="-122"/>
              </a:rPr>
              <a:t>纯弯曲梁 </a:t>
            </a:r>
            <a:r>
              <a:rPr kumimoji="1" lang="zh-CN" altLang="en-US" sz="2800" i="0" dirty="0">
                <a:latin typeface="+mn-lt"/>
                <a:ea typeface="微软雅黑" panose="020B0503020204020204" pitchFamily="34" charset="-122"/>
              </a:rPr>
              <a:t>。</a:t>
            </a:r>
            <a:endParaRPr lang="zh-CN" altLang="en-US" sz="2800" i="0" dirty="0">
              <a:latin typeface="+mj-lt"/>
              <a:ea typeface="微软雅黑" panose="020B0503020204020204" pitchFamily="34" charset="-122"/>
            </a:endParaRPr>
          </a:p>
        </p:txBody>
      </p:sp>
      <p:grpSp>
        <p:nvGrpSpPr>
          <p:cNvPr id="112" name="Group 4"/>
          <p:cNvGrpSpPr>
            <a:grpSpLocks/>
          </p:cNvGrpSpPr>
          <p:nvPr/>
        </p:nvGrpSpPr>
        <p:grpSpPr bwMode="auto">
          <a:xfrm>
            <a:off x="7176201" y="5015825"/>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7296851" y="3974425"/>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7106351" y="4291925"/>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8497001" y="3968075"/>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7715951" y="3977600"/>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7715951" y="4120475"/>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7715951" y="4463375"/>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9468551" y="3796625"/>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7554026" y="3606125"/>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7563551" y="4577675"/>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8344601" y="3593425"/>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8344601" y="4558625"/>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7487351" y="4244300"/>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p>
        </p:txBody>
      </p:sp>
      <p:sp>
        <p:nvSpPr>
          <p:cNvPr id="134" name="Text Box 26"/>
          <p:cNvSpPr txBox="1">
            <a:spLocks noChangeAspect="1" noChangeArrowheads="1"/>
          </p:cNvSpPr>
          <p:nvPr/>
        </p:nvSpPr>
        <p:spPr bwMode="auto">
          <a:xfrm>
            <a:off x="8449376" y="42538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p>
        </p:txBody>
      </p:sp>
      <p:sp>
        <p:nvSpPr>
          <p:cNvPr id="135" name="Text Box 27"/>
          <p:cNvSpPr txBox="1">
            <a:spLocks noChangeAspect="1" noChangeArrowheads="1"/>
          </p:cNvSpPr>
          <p:nvPr/>
        </p:nvSpPr>
        <p:spPr bwMode="auto">
          <a:xfrm>
            <a:off x="7465126" y="38744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p>
        </p:txBody>
      </p:sp>
      <p:sp>
        <p:nvSpPr>
          <p:cNvPr id="136" name="Text Box 28"/>
          <p:cNvSpPr txBox="1">
            <a:spLocks noChangeAspect="1" noChangeArrowheads="1"/>
          </p:cNvSpPr>
          <p:nvPr/>
        </p:nvSpPr>
        <p:spPr bwMode="auto">
          <a:xfrm>
            <a:off x="8449376" y="3910925"/>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j-lt"/>
                <a:ea typeface="宋体" panose="02010600030101010101" pitchFamily="2" charset="-122"/>
              </a:rPr>
              <a:t>d</a:t>
            </a:r>
          </a:p>
        </p:txBody>
      </p:sp>
      <p:sp>
        <p:nvSpPr>
          <p:cNvPr id="137" name="Line 29"/>
          <p:cNvSpPr>
            <a:spLocks noChangeAspect="1" noChangeShapeType="1"/>
          </p:cNvSpPr>
          <p:nvPr/>
        </p:nvSpPr>
        <p:spPr bwMode="auto">
          <a:xfrm>
            <a:off x="8368414" y="5287288"/>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7582601" y="5263475"/>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7811201" y="5358725"/>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7638164" y="5749250"/>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7735001" y="48951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7344476" y="58730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8179501" y="4882475"/>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8516051" y="5844500"/>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7466714" y="51745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r>
              <a:rPr lang="en-US" altLang="zh-CN" b="0" dirty="0">
                <a:solidFill>
                  <a:srgbClr val="000000"/>
                </a:solidFill>
                <a:latin typeface="" pitchFamily="18" charset="-52"/>
                <a:ea typeface="宋体" panose="02010600030101010101" pitchFamily="2" charset="-122"/>
              </a:rPr>
              <a:t>'</a:t>
            </a:r>
          </a:p>
        </p:txBody>
      </p:sp>
      <p:sp>
        <p:nvSpPr>
          <p:cNvPr id="146" name="Text Box 38"/>
          <p:cNvSpPr txBox="1">
            <a:spLocks noChangeAspect="1" noChangeArrowheads="1"/>
          </p:cNvSpPr>
          <p:nvPr/>
        </p:nvSpPr>
        <p:spPr bwMode="auto">
          <a:xfrm>
            <a:off x="7319076" y="54857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sp>
        <p:nvSpPr>
          <p:cNvPr id="147" name="Text Box 39"/>
          <p:cNvSpPr txBox="1">
            <a:spLocks noChangeAspect="1" noChangeArrowheads="1"/>
          </p:cNvSpPr>
          <p:nvPr/>
        </p:nvSpPr>
        <p:spPr bwMode="auto">
          <a:xfrm>
            <a:off x="8344601" y="51682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d</a:t>
            </a:r>
            <a:r>
              <a:rPr lang="en-US" altLang="zh-CN" b="0" dirty="0">
                <a:solidFill>
                  <a:srgbClr val="000000"/>
                </a:solidFill>
                <a:latin typeface="" pitchFamily="18" charset="-52"/>
                <a:ea typeface="宋体" panose="02010600030101010101" pitchFamily="2" charset="-122"/>
              </a:rPr>
              <a:t>'</a:t>
            </a:r>
          </a:p>
        </p:txBody>
      </p:sp>
      <p:sp>
        <p:nvSpPr>
          <p:cNvPr id="148" name="Text Box 40"/>
          <p:cNvSpPr txBox="1">
            <a:spLocks noChangeAspect="1" noChangeArrowheads="1"/>
          </p:cNvSpPr>
          <p:nvPr/>
        </p:nvSpPr>
        <p:spPr bwMode="auto">
          <a:xfrm>
            <a:off x="8458901" y="55111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r>
              <a:rPr lang="en-US" altLang="zh-CN" b="0" dirty="0">
                <a:solidFill>
                  <a:srgbClr val="000000"/>
                </a:solidFill>
                <a:latin typeface="" pitchFamily="18" charset="-52"/>
                <a:ea typeface="宋体" panose="02010600030101010101" pitchFamily="2" charset="-122"/>
              </a:rPr>
              <a:t>'</a:t>
            </a:r>
          </a:p>
        </p:txBody>
      </p:sp>
      <p:sp>
        <p:nvSpPr>
          <p:cNvPr id="149" name="Arc 41"/>
          <p:cNvSpPr>
            <a:spLocks noChangeAspect="1"/>
          </p:cNvSpPr>
          <p:nvPr/>
        </p:nvSpPr>
        <p:spPr bwMode="auto">
          <a:xfrm rot="4171949" flipH="1" flipV="1">
            <a:off x="7105558" y="5184894"/>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6749164" y="51714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9105014" y="52380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8848633" y="5213469"/>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9573326" y="4996775"/>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8838314" y="409031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7085714" y="409031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9063739" y="41220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6742814" y="40887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endParaRPr lang="en-US" altLang="zh-CN" b="0" dirty="0">
              <a:solidFill>
                <a:srgbClr val="000000"/>
              </a:solidFill>
              <a:latin typeface="+mn-lt"/>
              <a:ea typeface="宋体" panose="02010600030101010101" pitchFamily="2" charset="-122"/>
            </a:endParaRPr>
          </a:p>
        </p:txBody>
      </p:sp>
      <p:sp>
        <p:nvSpPr>
          <p:cNvPr id="165" name="Text Box 64"/>
          <p:cNvSpPr txBox="1">
            <a:spLocks noChangeAspect="1" noChangeArrowheads="1"/>
          </p:cNvSpPr>
          <p:nvPr/>
        </p:nvSpPr>
        <p:spPr bwMode="auto">
          <a:xfrm>
            <a:off x="7673089" y="3469600"/>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7696901" y="4060150"/>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pic>
        <p:nvPicPr>
          <p:cNvPr id="2" name="dh6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979283" y="3610551"/>
            <a:ext cx="3366536" cy="2524902"/>
          </a:xfrm>
          <a:prstGeom prst="rect">
            <a:avLst/>
          </a:prstGeom>
        </p:spPr>
      </p:pic>
    </p:spTree>
    <p:extLst>
      <p:ext uri="{BB962C8B-B14F-4D97-AF65-F5344CB8AC3E}">
        <p14:creationId xmlns:p14="http://schemas.microsoft.com/office/powerpoint/2010/main" val="1696858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6" presetClass="entr" presetSubtype="37"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barn(outVertical)">
                                      <p:cBhvr>
                                        <p:cTn id="15" dur="3000"/>
                                        <p:tgtEl>
                                          <p:spTgt spid="119"/>
                                        </p:tgtEl>
                                      </p:cBhvr>
                                    </p:animEffect>
                                  </p:childTnLst>
                                  <p:subTnLst>
                                    <p:audio>
                                      <p:cMediaNode>
                                        <p:cTn display="0" masterRel="sameClick">
                                          <p:stCondLst>
                                            <p:cond evt="begin" delay="0">
                                              <p:tn val="13"/>
                                            </p:cond>
                                          </p:stCondLst>
                                          <p:endCondLst>
                                            <p:cond evt="onStopAudio" delay="0">
                                              <p:tgtEl>
                                                <p:sldTgt/>
                                              </p:tgtEl>
                                            </p:cond>
                                          </p:endCondLst>
                                        </p:cTn>
                                        <p:tgtEl>
                                          <p:sndTgt r:embed="rId5" name="CAMERA.WAV"/>
                                        </p:tgtEl>
                                      </p:cMediaNode>
                                    </p:audio>
                                  </p:subTnLst>
                                </p:cTn>
                              </p:par>
                              <p:par>
                                <p:cTn id="16" presetID="16" presetClass="entr" presetSubtype="37" fill="hold" grpId="0" nodeType="with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barn(outVertical)">
                                      <p:cBhvr>
                                        <p:cTn id="18" dur="5000"/>
                                        <p:tgtEl>
                                          <p:spTgt spid="120"/>
                                        </p:tgtEl>
                                      </p:cBhvr>
                                    </p:animEffect>
                                  </p:childTnLst>
                                  <p:subTnLst>
                                    <p:audio>
                                      <p:cMediaNode>
                                        <p:cTn display="0" masterRel="sameClick">
                                          <p:stCondLst>
                                            <p:cond evt="begin" delay="0">
                                              <p:tn val="16"/>
                                            </p:cond>
                                          </p:stCondLst>
                                          <p:endCondLst>
                                            <p:cond evt="onStopAudio" delay="0">
                                              <p:tgtEl>
                                                <p:sldTgt/>
                                              </p:tgtEl>
                                            </p:cond>
                                          </p:endCondLst>
                                        </p:cTn>
                                        <p:tgtEl>
                                          <p:sndTgt r:embed="rId6" name="CHIMES.WAV"/>
                                        </p:tgtEl>
                                      </p:cMediaNode>
                                    </p:audio>
                                  </p:subTnLst>
                                </p:cTn>
                              </p:par>
                              <p:par>
                                <p:cTn id="19" presetID="10" presetClass="entr" presetSubtype="0" fill="hold" nodeType="with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fade">
                                      <p:cBhvr>
                                        <p:cTn id="21" dur="5000"/>
                                        <p:tgtEl>
                                          <p:spTgt spid="125"/>
                                        </p:tgtEl>
                                      </p:cBhvr>
                                    </p:animEffect>
                                  </p:childTnLst>
                                  <p:subTnLst>
                                    <p:audio>
                                      <p:cMediaNode>
                                        <p:cTn display="0" masterRel="sameClick">
                                          <p:stCondLst>
                                            <p:cond evt="begin" delay="0">
                                              <p:tn val="19"/>
                                            </p:cond>
                                          </p:stCondLst>
                                          <p:endCondLst>
                                            <p:cond evt="onStopAudio" delay="0">
                                              <p:tgtEl>
                                                <p:sldTgt/>
                                              </p:tgtEl>
                                            </p:cond>
                                          </p:endCondLst>
                                        </p:cTn>
                                        <p:tgtEl>
                                          <p:sndTgt r:embed="rId5"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barn(outHorizontal)">
                                      <p:cBhvr>
                                        <p:cTn id="26" dur="5000"/>
                                        <p:tgtEl>
                                          <p:spTgt spid="122"/>
                                        </p:tgtEl>
                                      </p:cBhvr>
                                    </p:animEffect>
                                  </p:childTnLst>
                                  <p:subTnLst>
                                    <p:audio>
                                      <p:cMediaNode>
                                        <p:cTn display="0" masterRel="sameClick">
                                          <p:stCondLst>
                                            <p:cond evt="begin" delay="0">
                                              <p:tn val="24"/>
                                            </p:cond>
                                          </p:stCondLst>
                                          <p:endCondLst>
                                            <p:cond evt="onStopAudio" delay="0">
                                              <p:tgtEl>
                                                <p:sldTgt/>
                                              </p:tgtEl>
                                            </p:cond>
                                          </p:endCondLst>
                                        </p:cTn>
                                        <p:tgtEl>
                                          <p:sndTgt r:embed="rId6" name="CHIMES.WAV"/>
                                        </p:tgtEl>
                                      </p:cMediaNode>
                                    </p:audio>
                                  </p:subTnLst>
                                </p:cTn>
                              </p:par>
                              <p:par>
                                <p:cTn id="27" presetID="19" presetClass="entr" presetSubtype="10"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anim calcmode="lin" valueType="num">
                                      <p:cBhvr>
                                        <p:cTn id="29" dur="5000" fill="hold"/>
                                        <p:tgtEl>
                                          <p:spTgt spid="165"/>
                                        </p:tgtEl>
                                        <p:attrNameLst>
                                          <p:attrName>ppt_w</p:attrName>
                                        </p:attrNameLst>
                                      </p:cBhvr>
                                      <p:tavLst>
                                        <p:tav tm="0" fmla="#ppt_w*sin(2.5*pi*$)">
                                          <p:val>
                                            <p:fltVal val="0"/>
                                          </p:val>
                                        </p:tav>
                                        <p:tav tm="100000">
                                          <p:val>
                                            <p:fltVal val="1"/>
                                          </p:val>
                                        </p:tav>
                                      </p:tavLst>
                                    </p:anim>
                                    <p:anim calcmode="lin" valueType="num">
                                      <p:cBhvr>
                                        <p:cTn id="30"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6" name="CHIMES.WAV"/>
                                        </p:tgtEl>
                                      </p:cMediaNode>
                                    </p:audio>
                                  </p:subTnLst>
                                </p:cTn>
                              </p:par>
                              <p:par>
                                <p:cTn id="31" presetID="16" presetClass="entr" presetSubtype="42"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barn(outHorizontal)">
                                      <p:cBhvr>
                                        <p:cTn id="33" dur="5000"/>
                                        <p:tgtEl>
                                          <p:spTgt spid="121"/>
                                        </p:tgtEl>
                                      </p:cBhvr>
                                    </p:animEffect>
                                  </p:childTnLst>
                                  <p:subTnLst>
                                    <p:audio>
                                      <p:cMediaNode>
                                        <p:cTn display="0" masterRel="sameClick">
                                          <p:stCondLst>
                                            <p:cond evt="begin" delay="0">
                                              <p:tn val="31"/>
                                            </p:cond>
                                          </p:stCondLst>
                                          <p:endCondLst>
                                            <p:cond evt="onStopAudio" delay="0">
                                              <p:tgtEl>
                                                <p:sldTgt/>
                                              </p:tgtEl>
                                            </p:cond>
                                          </p:endCondLst>
                                        </p:cTn>
                                        <p:tgtEl>
                                          <p:sndTgt r:embed="rId6" name="CHIMES.WAV"/>
                                        </p:tgtEl>
                                      </p:cMediaNode>
                                    </p:audio>
                                  </p:subTnLst>
                                </p:cTn>
                              </p:par>
                            </p:childTnLst>
                          </p:cTn>
                        </p:par>
                        <p:par>
                          <p:cTn id="34" fill="hold">
                            <p:stCondLst>
                              <p:cond delay="5000"/>
                            </p:stCondLst>
                            <p:childTnLst>
                              <p:par>
                                <p:cTn id="35" presetID="17" presetClass="entr" presetSubtype="10" fill="hold" grpId="0" nodeType="afterEffect">
                                  <p:stCondLst>
                                    <p:cond delay="300"/>
                                  </p:stCondLst>
                                  <p:childTnLst>
                                    <p:set>
                                      <p:cBhvr>
                                        <p:cTn id="36" dur="1" fill="hold">
                                          <p:stCondLst>
                                            <p:cond delay="0"/>
                                          </p:stCondLst>
                                        </p:cTn>
                                        <p:tgtEl>
                                          <p:spTgt spid="129"/>
                                        </p:tgtEl>
                                        <p:attrNameLst>
                                          <p:attrName>style.visibility</p:attrName>
                                        </p:attrNameLst>
                                      </p:cBhvr>
                                      <p:to>
                                        <p:strVal val="visible"/>
                                      </p:to>
                                    </p:set>
                                    <p:anim calcmode="lin" valueType="num">
                                      <p:cBhvr>
                                        <p:cTn id="37" dur="2000" fill="hold"/>
                                        <p:tgtEl>
                                          <p:spTgt spid="129"/>
                                        </p:tgtEl>
                                        <p:attrNameLst>
                                          <p:attrName>ppt_w</p:attrName>
                                        </p:attrNameLst>
                                      </p:cBhvr>
                                      <p:tavLst>
                                        <p:tav tm="0">
                                          <p:val>
                                            <p:fltVal val="0"/>
                                          </p:val>
                                        </p:tav>
                                        <p:tav tm="100000">
                                          <p:val>
                                            <p:strVal val="#ppt_w"/>
                                          </p:val>
                                        </p:tav>
                                      </p:tavLst>
                                    </p:anim>
                                    <p:anim calcmode="lin" valueType="num">
                                      <p:cBhvr>
                                        <p:cTn id="38"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par>
                                <p:cTn id="39" presetID="17" presetClass="entr" presetSubtype="10" fill="hold" grpId="0" nodeType="withEffect">
                                  <p:stCondLst>
                                    <p:cond delay="300"/>
                                  </p:stCondLst>
                                  <p:childTnLst>
                                    <p:set>
                                      <p:cBhvr>
                                        <p:cTn id="40" dur="1" fill="hold">
                                          <p:stCondLst>
                                            <p:cond delay="0"/>
                                          </p:stCondLst>
                                        </p:cTn>
                                        <p:tgtEl>
                                          <p:spTgt spid="130"/>
                                        </p:tgtEl>
                                        <p:attrNameLst>
                                          <p:attrName>style.visibility</p:attrName>
                                        </p:attrNameLst>
                                      </p:cBhvr>
                                      <p:to>
                                        <p:strVal val="visible"/>
                                      </p:to>
                                    </p:set>
                                    <p:anim calcmode="lin" valueType="num">
                                      <p:cBhvr>
                                        <p:cTn id="41" dur="2000" fill="hold"/>
                                        <p:tgtEl>
                                          <p:spTgt spid="130"/>
                                        </p:tgtEl>
                                        <p:attrNameLst>
                                          <p:attrName>ppt_w</p:attrName>
                                        </p:attrNameLst>
                                      </p:cBhvr>
                                      <p:tavLst>
                                        <p:tav tm="0">
                                          <p:val>
                                            <p:fltVal val="0"/>
                                          </p:val>
                                        </p:tav>
                                        <p:tav tm="100000">
                                          <p:val>
                                            <p:strVal val="#ppt_w"/>
                                          </p:val>
                                        </p:tav>
                                      </p:tavLst>
                                    </p:anim>
                                    <p:anim calcmode="lin" valueType="num">
                                      <p:cBhvr>
                                        <p:cTn id="42"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6" name="CHIMES.WAV"/>
                                        </p:tgtEl>
                                      </p:cMediaNode>
                                    </p:audio>
                                  </p:subTnLst>
                                </p:cTn>
                              </p:par>
                              <p:par>
                                <p:cTn id="43" presetID="17" presetClass="entr" presetSubtype="10" fill="hold" grpId="0" nodeType="withEffect">
                                  <p:stCondLst>
                                    <p:cond delay="300"/>
                                  </p:stCondLst>
                                  <p:childTnLst>
                                    <p:set>
                                      <p:cBhvr>
                                        <p:cTn id="44" dur="1" fill="hold">
                                          <p:stCondLst>
                                            <p:cond delay="0"/>
                                          </p:stCondLst>
                                        </p:cTn>
                                        <p:tgtEl>
                                          <p:spTgt spid="131"/>
                                        </p:tgtEl>
                                        <p:attrNameLst>
                                          <p:attrName>style.visibility</p:attrName>
                                        </p:attrNameLst>
                                      </p:cBhvr>
                                      <p:to>
                                        <p:strVal val="visible"/>
                                      </p:to>
                                    </p:set>
                                    <p:anim calcmode="lin" valueType="num">
                                      <p:cBhvr>
                                        <p:cTn id="45" dur="2000" fill="hold"/>
                                        <p:tgtEl>
                                          <p:spTgt spid="131"/>
                                        </p:tgtEl>
                                        <p:attrNameLst>
                                          <p:attrName>ppt_w</p:attrName>
                                        </p:attrNameLst>
                                      </p:cBhvr>
                                      <p:tavLst>
                                        <p:tav tm="0">
                                          <p:val>
                                            <p:fltVal val="0"/>
                                          </p:val>
                                        </p:tav>
                                        <p:tav tm="100000">
                                          <p:val>
                                            <p:strVal val="#ppt_w"/>
                                          </p:val>
                                        </p:tav>
                                      </p:tavLst>
                                    </p:anim>
                                    <p:anim calcmode="lin" valueType="num">
                                      <p:cBhvr>
                                        <p:cTn id="46"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6" name="CHIMES.WAV"/>
                                        </p:tgtEl>
                                      </p:cMediaNode>
                                    </p:audio>
                                  </p:subTnLst>
                                </p:cTn>
                              </p:par>
                              <p:par>
                                <p:cTn id="47" presetID="17" presetClass="entr" presetSubtype="10" fill="hold" grpId="0" nodeType="withEffect">
                                  <p:stCondLst>
                                    <p:cond delay="300"/>
                                  </p:stCondLst>
                                  <p:childTnLst>
                                    <p:set>
                                      <p:cBhvr>
                                        <p:cTn id="48" dur="1" fill="hold">
                                          <p:stCondLst>
                                            <p:cond delay="0"/>
                                          </p:stCondLst>
                                        </p:cTn>
                                        <p:tgtEl>
                                          <p:spTgt spid="132"/>
                                        </p:tgtEl>
                                        <p:attrNameLst>
                                          <p:attrName>style.visibility</p:attrName>
                                        </p:attrNameLst>
                                      </p:cBhvr>
                                      <p:to>
                                        <p:strVal val="visible"/>
                                      </p:to>
                                    </p:set>
                                    <p:anim calcmode="lin" valueType="num">
                                      <p:cBhvr>
                                        <p:cTn id="49" dur="2000" fill="hold"/>
                                        <p:tgtEl>
                                          <p:spTgt spid="132"/>
                                        </p:tgtEl>
                                        <p:attrNameLst>
                                          <p:attrName>ppt_w</p:attrName>
                                        </p:attrNameLst>
                                      </p:cBhvr>
                                      <p:tavLst>
                                        <p:tav tm="0">
                                          <p:val>
                                            <p:fltVal val="0"/>
                                          </p:val>
                                        </p:tav>
                                        <p:tav tm="100000">
                                          <p:val>
                                            <p:strVal val="#ppt_w"/>
                                          </p:val>
                                        </p:tav>
                                      </p:tavLst>
                                    </p:anim>
                                    <p:anim calcmode="lin" valueType="num">
                                      <p:cBhvr>
                                        <p:cTn id="50"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6" name="CHIMES.WAV"/>
                                        </p:tgtEl>
                                      </p:cMediaNode>
                                    </p:audio>
                                  </p:subTnLst>
                                </p:cTn>
                              </p:par>
                            </p:childTnLst>
                          </p:cTn>
                        </p:par>
                      </p:childTnLst>
                    </p:cTn>
                  </p:par>
                  <p:par>
                    <p:cTn id="51" fill="hold">
                      <p:stCondLst>
                        <p:cond delay="indefinite"/>
                      </p:stCondLst>
                      <p:childTnLst>
                        <p:par>
                          <p:cTn id="52" fill="hold">
                            <p:stCondLst>
                              <p:cond delay="0"/>
                            </p:stCondLst>
                            <p:childTnLst>
                              <p:par>
                                <p:cTn id="53" presetID="16" presetClass="entr" presetSubtype="37" fill="hold" grpId="0" nodeType="clickEffect">
                                  <p:stCondLst>
                                    <p:cond delay="0"/>
                                  </p:stCondLst>
                                  <p:childTnLst>
                                    <p:set>
                                      <p:cBhvr>
                                        <p:cTn id="54" dur="1" fill="hold">
                                          <p:stCondLst>
                                            <p:cond delay="0"/>
                                          </p:stCondLst>
                                        </p:cTn>
                                        <p:tgtEl>
                                          <p:spTgt spid="124"/>
                                        </p:tgtEl>
                                        <p:attrNameLst>
                                          <p:attrName>style.visibility</p:attrName>
                                        </p:attrNameLst>
                                      </p:cBhvr>
                                      <p:to>
                                        <p:strVal val="visible"/>
                                      </p:to>
                                    </p:set>
                                    <p:animEffect transition="in" filter="barn(outVertical)">
                                      <p:cBhvr>
                                        <p:cTn id="55" dur="5000"/>
                                        <p:tgtEl>
                                          <p:spTgt spid="124"/>
                                        </p:tgtEl>
                                      </p:cBhvr>
                                    </p:animEffect>
                                  </p:childTnLst>
                                  <p:subTnLst>
                                    <p:audio>
                                      <p:cMediaNode>
                                        <p:cTn display="0" masterRel="sameClick">
                                          <p:stCondLst>
                                            <p:cond evt="begin" delay="0">
                                              <p:tn val="53"/>
                                            </p:cond>
                                          </p:stCondLst>
                                          <p:endCondLst>
                                            <p:cond evt="onStopAudio" delay="0">
                                              <p:tgtEl>
                                                <p:sldTgt/>
                                              </p:tgtEl>
                                            </p:cond>
                                          </p:endCondLst>
                                        </p:cTn>
                                        <p:tgtEl>
                                          <p:sndTgt r:embed="rId6"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66"/>
                                        </p:tgtEl>
                                        <p:attrNameLst>
                                          <p:attrName>style.visibility</p:attrName>
                                        </p:attrNameLst>
                                      </p:cBhvr>
                                      <p:to>
                                        <p:strVal val="visible"/>
                                      </p:to>
                                    </p:set>
                                    <p:anim calcmode="lin" valueType="num">
                                      <p:cBhvr>
                                        <p:cTn id="58" dur="5000" fill="hold"/>
                                        <p:tgtEl>
                                          <p:spTgt spid="166"/>
                                        </p:tgtEl>
                                        <p:attrNameLst>
                                          <p:attrName>ppt_w</p:attrName>
                                        </p:attrNameLst>
                                      </p:cBhvr>
                                      <p:tavLst>
                                        <p:tav tm="0" fmla="#ppt_w*sin(2.5*pi*$)">
                                          <p:val>
                                            <p:fltVal val="0"/>
                                          </p:val>
                                        </p:tav>
                                        <p:tav tm="100000">
                                          <p:val>
                                            <p:fltVal val="1"/>
                                          </p:val>
                                        </p:tav>
                                      </p:tavLst>
                                    </p:anim>
                                    <p:anim calcmode="lin" valueType="num">
                                      <p:cBhvr>
                                        <p:cTn id="59"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6" name="CHIMES.WAV"/>
                                        </p:tgtEl>
                                      </p:cMediaNode>
                                    </p:audio>
                                  </p:subTnLst>
                                </p:cTn>
                              </p:par>
                              <p:par>
                                <p:cTn id="60" presetID="16" presetClass="entr" presetSubtype="37" fill="hold" grpId="0" nodeType="withEffect">
                                  <p:stCondLst>
                                    <p:cond delay="0"/>
                                  </p:stCondLst>
                                  <p:childTnLst>
                                    <p:set>
                                      <p:cBhvr>
                                        <p:cTn id="61" dur="1" fill="hold">
                                          <p:stCondLst>
                                            <p:cond delay="0"/>
                                          </p:stCondLst>
                                        </p:cTn>
                                        <p:tgtEl>
                                          <p:spTgt spid="123"/>
                                        </p:tgtEl>
                                        <p:attrNameLst>
                                          <p:attrName>style.visibility</p:attrName>
                                        </p:attrNameLst>
                                      </p:cBhvr>
                                      <p:to>
                                        <p:strVal val="visible"/>
                                      </p:to>
                                    </p:set>
                                    <p:animEffect transition="in" filter="barn(outVertical)">
                                      <p:cBhvr>
                                        <p:cTn id="62" dur="5000"/>
                                        <p:tgtEl>
                                          <p:spTgt spid="123"/>
                                        </p:tgtEl>
                                      </p:cBhvr>
                                    </p:animEffect>
                                  </p:childTnLst>
                                  <p:subTnLst>
                                    <p:audio>
                                      <p:cMediaNode>
                                        <p:cTn display="0" masterRel="sameClick">
                                          <p:stCondLst>
                                            <p:cond evt="begin" delay="0">
                                              <p:tn val="60"/>
                                            </p:cond>
                                          </p:stCondLst>
                                          <p:endCondLst>
                                            <p:cond evt="onStopAudio" delay="0">
                                              <p:tgtEl>
                                                <p:sldTgt/>
                                              </p:tgtEl>
                                            </p:cond>
                                          </p:endCondLst>
                                        </p:cTn>
                                        <p:tgtEl>
                                          <p:sndTgt r:embed="rId6" name="CHIMES.WAV"/>
                                        </p:tgtEl>
                                      </p:cMediaNode>
                                    </p:audio>
                                  </p:subTnLst>
                                </p:cTn>
                              </p:par>
                            </p:childTnLst>
                          </p:cTn>
                        </p:par>
                        <p:par>
                          <p:cTn id="63" fill="hold">
                            <p:stCondLst>
                              <p:cond delay="5000"/>
                            </p:stCondLst>
                            <p:childTnLst>
                              <p:par>
                                <p:cTn id="64" presetID="17" presetClass="entr" presetSubtype="10" fill="hold" grpId="0" nodeType="afterEffect">
                                  <p:stCondLst>
                                    <p:cond delay="300"/>
                                  </p:stCondLst>
                                  <p:childTnLst>
                                    <p:set>
                                      <p:cBhvr>
                                        <p:cTn id="65" dur="1" fill="hold">
                                          <p:stCondLst>
                                            <p:cond delay="0"/>
                                          </p:stCondLst>
                                        </p:cTn>
                                        <p:tgtEl>
                                          <p:spTgt spid="133"/>
                                        </p:tgtEl>
                                        <p:attrNameLst>
                                          <p:attrName>style.visibility</p:attrName>
                                        </p:attrNameLst>
                                      </p:cBhvr>
                                      <p:to>
                                        <p:strVal val="visible"/>
                                      </p:to>
                                    </p:set>
                                    <p:anim calcmode="lin" valueType="num">
                                      <p:cBhvr>
                                        <p:cTn id="66" dur="2000" fill="hold"/>
                                        <p:tgtEl>
                                          <p:spTgt spid="133"/>
                                        </p:tgtEl>
                                        <p:attrNameLst>
                                          <p:attrName>ppt_w</p:attrName>
                                        </p:attrNameLst>
                                      </p:cBhvr>
                                      <p:tavLst>
                                        <p:tav tm="0">
                                          <p:val>
                                            <p:fltVal val="0"/>
                                          </p:val>
                                        </p:tav>
                                        <p:tav tm="100000">
                                          <p:val>
                                            <p:strVal val="#ppt_w"/>
                                          </p:val>
                                        </p:tav>
                                      </p:tavLst>
                                    </p:anim>
                                    <p:anim calcmode="lin" valueType="num">
                                      <p:cBhvr>
                                        <p:cTn id="67"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6" name="CHIMES.WAV"/>
                                        </p:tgtEl>
                                      </p:cMediaNode>
                                    </p:audio>
                                  </p:subTnLst>
                                </p:cTn>
                              </p:par>
                              <p:par>
                                <p:cTn id="68" presetID="17" presetClass="entr" presetSubtype="10" fill="hold" grpId="0" nodeType="withEffect">
                                  <p:stCondLst>
                                    <p:cond delay="300"/>
                                  </p:stCondLst>
                                  <p:childTnLst>
                                    <p:set>
                                      <p:cBhvr>
                                        <p:cTn id="69" dur="1" fill="hold">
                                          <p:stCondLst>
                                            <p:cond delay="0"/>
                                          </p:stCondLst>
                                        </p:cTn>
                                        <p:tgtEl>
                                          <p:spTgt spid="134"/>
                                        </p:tgtEl>
                                        <p:attrNameLst>
                                          <p:attrName>style.visibility</p:attrName>
                                        </p:attrNameLst>
                                      </p:cBhvr>
                                      <p:to>
                                        <p:strVal val="visible"/>
                                      </p:to>
                                    </p:set>
                                    <p:anim calcmode="lin" valueType="num">
                                      <p:cBhvr>
                                        <p:cTn id="70" dur="2000" fill="hold"/>
                                        <p:tgtEl>
                                          <p:spTgt spid="134"/>
                                        </p:tgtEl>
                                        <p:attrNameLst>
                                          <p:attrName>ppt_w</p:attrName>
                                        </p:attrNameLst>
                                      </p:cBhvr>
                                      <p:tavLst>
                                        <p:tav tm="0">
                                          <p:val>
                                            <p:fltVal val="0"/>
                                          </p:val>
                                        </p:tav>
                                        <p:tav tm="100000">
                                          <p:val>
                                            <p:strVal val="#ppt_w"/>
                                          </p:val>
                                        </p:tav>
                                      </p:tavLst>
                                    </p:anim>
                                    <p:anim calcmode="lin" valueType="num">
                                      <p:cBhvr>
                                        <p:cTn id="71"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6" name="CHIMES.WAV"/>
                                        </p:tgtEl>
                                      </p:cMediaNode>
                                    </p:audio>
                                  </p:subTnLst>
                                </p:cTn>
                              </p:par>
                              <p:par>
                                <p:cTn id="72" presetID="17" presetClass="entr" presetSubtype="10" fill="hold" grpId="0" nodeType="withEffect">
                                  <p:stCondLst>
                                    <p:cond delay="300"/>
                                  </p:stCondLst>
                                  <p:childTnLst>
                                    <p:set>
                                      <p:cBhvr>
                                        <p:cTn id="73" dur="1" fill="hold">
                                          <p:stCondLst>
                                            <p:cond delay="0"/>
                                          </p:stCondLst>
                                        </p:cTn>
                                        <p:tgtEl>
                                          <p:spTgt spid="135"/>
                                        </p:tgtEl>
                                        <p:attrNameLst>
                                          <p:attrName>style.visibility</p:attrName>
                                        </p:attrNameLst>
                                      </p:cBhvr>
                                      <p:to>
                                        <p:strVal val="visible"/>
                                      </p:to>
                                    </p:set>
                                    <p:anim calcmode="lin" valueType="num">
                                      <p:cBhvr>
                                        <p:cTn id="74" dur="2000" fill="hold"/>
                                        <p:tgtEl>
                                          <p:spTgt spid="135"/>
                                        </p:tgtEl>
                                        <p:attrNameLst>
                                          <p:attrName>ppt_w</p:attrName>
                                        </p:attrNameLst>
                                      </p:cBhvr>
                                      <p:tavLst>
                                        <p:tav tm="0">
                                          <p:val>
                                            <p:fltVal val="0"/>
                                          </p:val>
                                        </p:tav>
                                        <p:tav tm="100000">
                                          <p:val>
                                            <p:strVal val="#ppt_w"/>
                                          </p:val>
                                        </p:tav>
                                      </p:tavLst>
                                    </p:anim>
                                    <p:anim calcmode="lin" valueType="num">
                                      <p:cBhvr>
                                        <p:cTn id="75"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6" name="CHIMES.WAV"/>
                                        </p:tgtEl>
                                      </p:cMediaNode>
                                    </p:audio>
                                  </p:subTnLst>
                                </p:cTn>
                              </p:par>
                              <p:par>
                                <p:cTn id="76" presetID="17" presetClass="entr" presetSubtype="10" fill="hold" grpId="0" nodeType="withEffect">
                                  <p:stCondLst>
                                    <p:cond delay="300"/>
                                  </p:stCondLst>
                                  <p:childTnLst>
                                    <p:set>
                                      <p:cBhvr>
                                        <p:cTn id="77" dur="1" fill="hold">
                                          <p:stCondLst>
                                            <p:cond delay="0"/>
                                          </p:stCondLst>
                                        </p:cTn>
                                        <p:tgtEl>
                                          <p:spTgt spid="136"/>
                                        </p:tgtEl>
                                        <p:attrNameLst>
                                          <p:attrName>style.visibility</p:attrName>
                                        </p:attrNameLst>
                                      </p:cBhvr>
                                      <p:to>
                                        <p:strVal val="visible"/>
                                      </p:to>
                                    </p:set>
                                    <p:anim calcmode="lin" valueType="num">
                                      <p:cBhvr>
                                        <p:cTn id="78" dur="2000" fill="hold"/>
                                        <p:tgtEl>
                                          <p:spTgt spid="136"/>
                                        </p:tgtEl>
                                        <p:attrNameLst>
                                          <p:attrName>ppt_w</p:attrName>
                                        </p:attrNameLst>
                                      </p:cBhvr>
                                      <p:tavLst>
                                        <p:tav tm="0">
                                          <p:val>
                                            <p:fltVal val="0"/>
                                          </p:val>
                                        </p:tav>
                                        <p:tav tm="100000">
                                          <p:val>
                                            <p:strVal val="#ppt_w"/>
                                          </p:val>
                                        </p:tav>
                                      </p:tavLst>
                                    </p:anim>
                                    <p:anim calcmode="lin" valueType="num">
                                      <p:cBhvr>
                                        <p:cTn id="79"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6" name="CHIMES.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61"/>
                                        </p:tgtEl>
                                        <p:attrNameLst>
                                          <p:attrName>style.visibility</p:attrName>
                                        </p:attrNameLst>
                                      </p:cBhvr>
                                      <p:to>
                                        <p:strVal val="visible"/>
                                      </p:to>
                                    </p:set>
                                    <p:animEffect transition="in" filter="wipe(down)">
                                      <p:cBhvr>
                                        <p:cTn id="84" dur="5000"/>
                                        <p:tgtEl>
                                          <p:spTgt spid="161"/>
                                        </p:tgtEl>
                                      </p:cBhvr>
                                    </p:animEffect>
                                  </p:childTnLst>
                                  <p:subTnLst>
                                    <p:audio>
                                      <p:cMediaNode>
                                        <p:cTn display="0" masterRel="sameClick">
                                          <p:stCondLst>
                                            <p:cond evt="begin" delay="0">
                                              <p:tn val="82"/>
                                            </p:cond>
                                          </p:stCondLst>
                                          <p:endCondLst>
                                            <p:cond evt="onStopAudio" delay="0">
                                              <p:tgtEl>
                                                <p:sldTgt/>
                                              </p:tgtEl>
                                            </p:cond>
                                          </p:endCondLst>
                                        </p:cTn>
                                        <p:tgtEl>
                                          <p:sndTgt r:embed="rId5" name="CAMERA.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wipe(down)">
                                      <p:cBhvr>
                                        <p:cTn id="87" dur="5000"/>
                                        <p:tgtEl>
                                          <p:spTgt spid="162"/>
                                        </p:tgtEl>
                                      </p:cBhvr>
                                    </p:animEffect>
                                  </p:childTnLst>
                                  <p:subTnLst>
                                    <p:audio>
                                      <p:cMediaNode>
                                        <p:cTn display="0" masterRel="sameClick">
                                          <p:stCondLst>
                                            <p:cond evt="begin" delay="0">
                                              <p:tn val="85"/>
                                            </p:cond>
                                          </p:stCondLst>
                                          <p:endCondLst>
                                            <p:cond evt="onStopAudio" delay="0">
                                              <p:tgtEl>
                                                <p:sldTgt/>
                                              </p:tgtEl>
                                            </p:cond>
                                          </p:endCondLst>
                                        </p:cTn>
                                        <p:tgtEl>
                                          <p:sndTgt r:embed="rId5" name="CAMERA.WAV"/>
                                        </p:tgtEl>
                                      </p:cMediaNode>
                                    </p:audio>
                                  </p:subTnLst>
                                </p:cTn>
                              </p:par>
                              <p:par>
                                <p:cTn id="88" presetID="19" presetClass="entr" presetSubtype="10" fill="hold" grpId="0" nodeType="withEffect">
                                  <p:stCondLst>
                                    <p:cond delay="0"/>
                                  </p:stCondLst>
                                  <p:childTnLst>
                                    <p:set>
                                      <p:cBhvr>
                                        <p:cTn id="89" dur="1" fill="hold">
                                          <p:stCondLst>
                                            <p:cond delay="0"/>
                                          </p:stCondLst>
                                        </p:cTn>
                                        <p:tgtEl>
                                          <p:spTgt spid="163"/>
                                        </p:tgtEl>
                                        <p:attrNameLst>
                                          <p:attrName>style.visibility</p:attrName>
                                        </p:attrNameLst>
                                      </p:cBhvr>
                                      <p:to>
                                        <p:strVal val="visible"/>
                                      </p:to>
                                    </p:set>
                                    <p:anim calcmode="lin" valueType="num">
                                      <p:cBhvr>
                                        <p:cTn id="90" dur="5000" fill="hold"/>
                                        <p:tgtEl>
                                          <p:spTgt spid="163"/>
                                        </p:tgtEl>
                                        <p:attrNameLst>
                                          <p:attrName>ppt_w</p:attrName>
                                        </p:attrNameLst>
                                      </p:cBhvr>
                                      <p:tavLst>
                                        <p:tav tm="0" fmla="#ppt_w*sin(2.5*pi*$)">
                                          <p:val>
                                            <p:fltVal val="0"/>
                                          </p:val>
                                        </p:tav>
                                        <p:tav tm="100000">
                                          <p:val>
                                            <p:fltVal val="1"/>
                                          </p:val>
                                        </p:tav>
                                      </p:tavLst>
                                    </p:anim>
                                    <p:anim calcmode="lin" valueType="num">
                                      <p:cBhvr>
                                        <p:cTn id="91"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5" name="CAMERA.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64"/>
                                        </p:tgtEl>
                                        <p:attrNameLst>
                                          <p:attrName>style.visibility</p:attrName>
                                        </p:attrNameLst>
                                      </p:cBhvr>
                                      <p:to>
                                        <p:strVal val="visible"/>
                                      </p:to>
                                    </p:set>
                                    <p:anim calcmode="lin" valueType="num">
                                      <p:cBhvr>
                                        <p:cTn id="94" dur="5000" fill="hold"/>
                                        <p:tgtEl>
                                          <p:spTgt spid="164"/>
                                        </p:tgtEl>
                                        <p:attrNameLst>
                                          <p:attrName>ppt_w</p:attrName>
                                        </p:attrNameLst>
                                      </p:cBhvr>
                                      <p:tavLst>
                                        <p:tav tm="0" fmla="#ppt_w*sin(2.5*pi*$)">
                                          <p:val>
                                            <p:fltVal val="0"/>
                                          </p:val>
                                        </p:tav>
                                        <p:tav tm="100000">
                                          <p:val>
                                            <p:fltVal val="1"/>
                                          </p:val>
                                        </p:tav>
                                      </p:tavLst>
                                    </p:anim>
                                    <p:anim calcmode="lin" valueType="num">
                                      <p:cBhvr>
                                        <p:cTn id="95"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5" name="CAMERA.WAV"/>
                                        </p:tgtEl>
                                      </p:cMediaNode>
                                    </p:audio>
                                  </p:subTnLst>
                                </p:cTn>
                              </p:par>
                            </p:childTnLst>
                          </p:cTn>
                        </p:par>
                        <p:par>
                          <p:cTn id="96" fill="hold">
                            <p:stCondLst>
                              <p:cond delay="5000"/>
                            </p:stCondLst>
                            <p:childTnLst>
                              <p:par>
                                <p:cTn id="97" presetID="17" presetClass="entr" presetSubtype="1" fill="hold" nodeType="afterEffect">
                                  <p:stCondLst>
                                    <p:cond delay="0"/>
                                  </p:stCondLst>
                                  <p:childTnLst>
                                    <p:set>
                                      <p:cBhvr>
                                        <p:cTn id="98" dur="1" fill="hold">
                                          <p:stCondLst>
                                            <p:cond delay="0"/>
                                          </p:stCondLst>
                                        </p:cTn>
                                        <p:tgtEl>
                                          <p:spTgt spid="112"/>
                                        </p:tgtEl>
                                        <p:attrNameLst>
                                          <p:attrName>style.visibility</p:attrName>
                                        </p:attrNameLst>
                                      </p:cBhvr>
                                      <p:to>
                                        <p:strVal val="visible"/>
                                      </p:to>
                                    </p:set>
                                    <p:anim calcmode="lin" valueType="num">
                                      <p:cBhvr>
                                        <p:cTn id="99" dur="500" fill="hold"/>
                                        <p:tgtEl>
                                          <p:spTgt spid="112"/>
                                        </p:tgtEl>
                                        <p:attrNameLst>
                                          <p:attrName>ppt_x</p:attrName>
                                        </p:attrNameLst>
                                      </p:cBhvr>
                                      <p:tavLst>
                                        <p:tav tm="0">
                                          <p:val>
                                            <p:strVal val="#ppt_x"/>
                                          </p:val>
                                        </p:tav>
                                        <p:tav tm="100000">
                                          <p:val>
                                            <p:strVal val="#ppt_x"/>
                                          </p:val>
                                        </p:tav>
                                      </p:tavLst>
                                    </p:anim>
                                    <p:anim calcmode="lin" valueType="num">
                                      <p:cBhvr>
                                        <p:cTn id="100" dur="500" fill="hold"/>
                                        <p:tgtEl>
                                          <p:spTgt spid="112"/>
                                        </p:tgtEl>
                                        <p:attrNameLst>
                                          <p:attrName>ppt_y</p:attrName>
                                        </p:attrNameLst>
                                      </p:cBhvr>
                                      <p:tavLst>
                                        <p:tav tm="0">
                                          <p:val>
                                            <p:strVal val="#ppt_y-#ppt_h/2"/>
                                          </p:val>
                                        </p:tav>
                                        <p:tav tm="100000">
                                          <p:val>
                                            <p:strVal val="#ppt_y"/>
                                          </p:val>
                                        </p:tav>
                                      </p:tavLst>
                                    </p:anim>
                                    <p:anim calcmode="lin" valueType="num">
                                      <p:cBhvr>
                                        <p:cTn id="101" dur="500" fill="hold"/>
                                        <p:tgtEl>
                                          <p:spTgt spid="112"/>
                                        </p:tgtEl>
                                        <p:attrNameLst>
                                          <p:attrName>ppt_w</p:attrName>
                                        </p:attrNameLst>
                                      </p:cBhvr>
                                      <p:tavLst>
                                        <p:tav tm="0">
                                          <p:val>
                                            <p:strVal val="#ppt_w"/>
                                          </p:val>
                                        </p:tav>
                                        <p:tav tm="100000">
                                          <p:val>
                                            <p:strVal val="#ppt_w"/>
                                          </p:val>
                                        </p:tav>
                                      </p:tavLst>
                                    </p:anim>
                                    <p:anim calcmode="lin" valueType="num">
                                      <p:cBhvr>
                                        <p:cTn id="102"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5" name="CAMERA.WAV"/>
                                        </p:tgtEl>
                                      </p:cMediaNode>
                                    </p:audio>
                                  </p:subTnLst>
                                </p:cTn>
                              </p:par>
                              <p:par>
                                <p:cTn id="103" presetID="10" presetClass="entr" presetSubtype="0" fill="hold" nodeType="withEffect">
                                  <p:stCondLst>
                                    <p:cond delay="0"/>
                                  </p:stCondLst>
                                  <p:childTnLst>
                                    <p:set>
                                      <p:cBhvr>
                                        <p:cTn id="104" dur="1" fill="hold">
                                          <p:stCondLst>
                                            <p:cond delay="0"/>
                                          </p:stCondLst>
                                        </p:cTn>
                                        <p:tgtEl>
                                          <p:spTgt spid="153"/>
                                        </p:tgtEl>
                                        <p:attrNameLst>
                                          <p:attrName>style.visibility</p:attrName>
                                        </p:attrNameLst>
                                      </p:cBhvr>
                                      <p:to>
                                        <p:strVal val="visible"/>
                                      </p:to>
                                    </p:set>
                                    <p:animEffect transition="in" filter="fade">
                                      <p:cBhvr>
                                        <p:cTn id="105" dur="2000"/>
                                        <p:tgtEl>
                                          <p:spTgt spid="153"/>
                                        </p:tgtEl>
                                      </p:cBhvr>
                                    </p:animEffect>
                                  </p:childTnLst>
                                  <p:subTnLst>
                                    <p:audio>
                                      <p:cMediaNode>
                                        <p:cTn display="0" masterRel="sameClick">
                                          <p:stCondLst>
                                            <p:cond evt="begin" delay="0">
                                              <p:tn val="103"/>
                                            </p:cond>
                                          </p:stCondLst>
                                          <p:endCondLst>
                                            <p:cond evt="onStopAudio" delay="0">
                                              <p:tgtEl>
                                                <p:sldTgt/>
                                              </p:tgtEl>
                                            </p:cond>
                                          </p:endCondLst>
                                        </p:cTn>
                                        <p:tgtEl>
                                          <p:sndTgt r:embed="rId5" name="CAMERA.WAV"/>
                                        </p:tgtEl>
                                      </p:cMediaNode>
                                    </p:audio>
                                  </p:subTnLst>
                                </p:cTn>
                              </p:par>
                              <p:par>
                                <p:cTn id="106" presetID="22" presetClass="entr" presetSubtype="4" fill="hold" grpId="0" nodeType="withEffect">
                                  <p:stCondLst>
                                    <p:cond delay="0"/>
                                  </p:stCondLst>
                                  <p:childTnLst>
                                    <p:set>
                                      <p:cBhvr>
                                        <p:cTn id="107" dur="1" fill="hold">
                                          <p:stCondLst>
                                            <p:cond delay="0"/>
                                          </p:stCondLst>
                                        </p:cTn>
                                        <p:tgtEl>
                                          <p:spTgt spid="149"/>
                                        </p:tgtEl>
                                        <p:attrNameLst>
                                          <p:attrName>style.visibility</p:attrName>
                                        </p:attrNameLst>
                                      </p:cBhvr>
                                      <p:to>
                                        <p:strVal val="visible"/>
                                      </p:to>
                                    </p:set>
                                    <p:animEffect transition="in" filter="wipe(down)">
                                      <p:cBhvr>
                                        <p:cTn id="108" dur="5000"/>
                                        <p:tgtEl>
                                          <p:spTgt spid="149"/>
                                        </p:tgtEl>
                                      </p:cBhvr>
                                    </p:animEffect>
                                  </p:childTnLst>
                                  <p:subTnLst>
                                    <p:audio>
                                      <p:cMediaNode>
                                        <p:cTn display="0" masterRel="sameClick">
                                          <p:stCondLst>
                                            <p:cond evt="begin" delay="0">
                                              <p:tn val="106"/>
                                            </p:cond>
                                          </p:stCondLst>
                                          <p:endCondLst>
                                            <p:cond evt="onStopAudio" delay="0">
                                              <p:tgtEl>
                                                <p:sldTgt/>
                                              </p:tgtEl>
                                            </p:cond>
                                          </p:endCondLst>
                                        </p:cTn>
                                        <p:tgtEl>
                                          <p:sndTgt r:embed="rId5" name="CAMERA.WAV"/>
                                        </p:tgtEl>
                                      </p:cMediaNode>
                                    </p:audio>
                                  </p:subTnLst>
                                </p:cTn>
                              </p:par>
                              <p:par>
                                <p:cTn id="109" presetID="55" presetClass="exit" presetSubtype="0" fill="hold" grpId="1" nodeType="withEffect">
                                  <p:stCondLst>
                                    <p:cond delay="0"/>
                                  </p:stCondLst>
                                  <p:childTnLst>
                                    <p:anim calcmode="lin" valueType="num">
                                      <p:cBhvr>
                                        <p:cTn id="110" dur="1000"/>
                                        <p:tgtEl>
                                          <p:spTgt spid="162"/>
                                        </p:tgtEl>
                                        <p:attrNameLst>
                                          <p:attrName>ppt_w</p:attrName>
                                        </p:attrNameLst>
                                      </p:cBhvr>
                                      <p:tavLst>
                                        <p:tav tm="0">
                                          <p:val>
                                            <p:strVal val="ppt_w"/>
                                          </p:val>
                                        </p:tav>
                                        <p:tav tm="100000">
                                          <p:val>
                                            <p:strVal val="ppt_w*0.70"/>
                                          </p:val>
                                        </p:tav>
                                      </p:tavLst>
                                    </p:anim>
                                    <p:anim calcmode="lin" valueType="num">
                                      <p:cBhvr>
                                        <p:cTn id="111" dur="1000"/>
                                        <p:tgtEl>
                                          <p:spTgt spid="162"/>
                                        </p:tgtEl>
                                        <p:attrNameLst>
                                          <p:attrName>ppt_h</p:attrName>
                                        </p:attrNameLst>
                                      </p:cBhvr>
                                      <p:tavLst>
                                        <p:tav tm="0">
                                          <p:val>
                                            <p:strVal val="ppt_h"/>
                                          </p:val>
                                        </p:tav>
                                        <p:tav tm="100000">
                                          <p:val>
                                            <p:strVal val="ppt_h"/>
                                          </p:val>
                                        </p:tav>
                                      </p:tavLst>
                                    </p:anim>
                                    <p:animEffect transition="out" filter="fade">
                                      <p:cBhvr>
                                        <p:cTn id="112" dur="1000"/>
                                        <p:tgtEl>
                                          <p:spTgt spid="162"/>
                                        </p:tgtEl>
                                      </p:cBhvr>
                                    </p:animEffect>
                                    <p:set>
                                      <p:cBhvr>
                                        <p:cTn id="113" dur="1" fill="hold">
                                          <p:stCondLst>
                                            <p:cond delay="999"/>
                                          </p:stCondLst>
                                        </p:cTn>
                                        <p:tgtEl>
                                          <p:spTgt spid="162"/>
                                        </p:tgtEl>
                                        <p:attrNameLst>
                                          <p:attrName>style.visibility</p:attrName>
                                        </p:attrNameLst>
                                      </p:cBhvr>
                                      <p:to>
                                        <p:strVal val="hidden"/>
                                      </p:to>
                                    </p:set>
                                  </p:childTnLst>
                                </p:cTn>
                              </p:par>
                              <p:par>
                                <p:cTn id="114" presetID="22" presetClass="entr" presetSubtype="4" fill="hold" grpId="0" nodeType="withEffect">
                                  <p:stCondLst>
                                    <p:cond delay="0"/>
                                  </p:stCondLst>
                                  <p:childTnLst>
                                    <p:set>
                                      <p:cBhvr>
                                        <p:cTn id="115" dur="1" fill="hold">
                                          <p:stCondLst>
                                            <p:cond delay="0"/>
                                          </p:stCondLst>
                                        </p:cTn>
                                        <p:tgtEl>
                                          <p:spTgt spid="152"/>
                                        </p:tgtEl>
                                        <p:attrNameLst>
                                          <p:attrName>style.visibility</p:attrName>
                                        </p:attrNameLst>
                                      </p:cBhvr>
                                      <p:to>
                                        <p:strVal val="visible"/>
                                      </p:to>
                                    </p:set>
                                    <p:animEffect transition="in" filter="wipe(down)">
                                      <p:cBhvr>
                                        <p:cTn id="116" dur="5000"/>
                                        <p:tgtEl>
                                          <p:spTgt spid="152"/>
                                        </p:tgtEl>
                                      </p:cBhvr>
                                    </p:animEffect>
                                  </p:childTnLst>
                                  <p:subTnLst>
                                    <p:audio>
                                      <p:cMediaNode>
                                        <p:cTn display="0" masterRel="sameClick">
                                          <p:stCondLst>
                                            <p:cond evt="begin" delay="0">
                                              <p:tn val="114"/>
                                            </p:cond>
                                          </p:stCondLst>
                                          <p:endCondLst>
                                            <p:cond evt="onStopAudio" delay="0">
                                              <p:tgtEl>
                                                <p:sldTgt/>
                                              </p:tgtEl>
                                            </p:cond>
                                          </p:endCondLst>
                                        </p:cTn>
                                        <p:tgtEl>
                                          <p:sndTgt r:embed="rId5" name="CAMERA.WAV"/>
                                        </p:tgtEl>
                                      </p:cMediaNode>
                                    </p:audio>
                                  </p:subTnLst>
                                </p:cTn>
                              </p:par>
                              <p:par>
                                <p:cTn id="117" presetID="55" presetClass="exit" presetSubtype="0" fill="hold" grpId="1" nodeType="withEffect">
                                  <p:stCondLst>
                                    <p:cond delay="0"/>
                                  </p:stCondLst>
                                  <p:childTnLst>
                                    <p:anim calcmode="lin" valueType="num">
                                      <p:cBhvr>
                                        <p:cTn id="118" dur="1000"/>
                                        <p:tgtEl>
                                          <p:spTgt spid="161"/>
                                        </p:tgtEl>
                                        <p:attrNameLst>
                                          <p:attrName>ppt_w</p:attrName>
                                        </p:attrNameLst>
                                      </p:cBhvr>
                                      <p:tavLst>
                                        <p:tav tm="0">
                                          <p:val>
                                            <p:strVal val="ppt_w"/>
                                          </p:val>
                                        </p:tav>
                                        <p:tav tm="100000">
                                          <p:val>
                                            <p:strVal val="ppt_w*0.70"/>
                                          </p:val>
                                        </p:tav>
                                      </p:tavLst>
                                    </p:anim>
                                    <p:anim calcmode="lin" valueType="num">
                                      <p:cBhvr>
                                        <p:cTn id="119" dur="1000"/>
                                        <p:tgtEl>
                                          <p:spTgt spid="161"/>
                                        </p:tgtEl>
                                        <p:attrNameLst>
                                          <p:attrName>ppt_h</p:attrName>
                                        </p:attrNameLst>
                                      </p:cBhvr>
                                      <p:tavLst>
                                        <p:tav tm="0">
                                          <p:val>
                                            <p:strVal val="ppt_h"/>
                                          </p:val>
                                        </p:tav>
                                        <p:tav tm="100000">
                                          <p:val>
                                            <p:strVal val="ppt_h"/>
                                          </p:val>
                                        </p:tav>
                                      </p:tavLst>
                                    </p:anim>
                                    <p:animEffect transition="out" filter="fade">
                                      <p:cBhvr>
                                        <p:cTn id="120" dur="1000"/>
                                        <p:tgtEl>
                                          <p:spTgt spid="161"/>
                                        </p:tgtEl>
                                      </p:cBhvr>
                                    </p:animEffect>
                                    <p:set>
                                      <p:cBhvr>
                                        <p:cTn id="121" dur="1" fill="hold">
                                          <p:stCondLst>
                                            <p:cond delay="999"/>
                                          </p:stCondLst>
                                        </p:cTn>
                                        <p:tgtEl>
                                          <p:spTgt spid="161"/>
                                        </p:tgtEl>
                                        <p:attrNameLst>
                                          <p:attrName>style.visibility</p:attrName>
                                        </p:attrNameLst>
                                      </p:cBhvr>
                                      <p:to>
                                        <p:strVal val="hidden"/>
                                      </p:to>
                                    </p:set>
                                  </p:childTnLst>
                                </p:cTn>
                              </p:par>
                              <p:par>
                                <p:cTn id="122" presetID="19" presetClass="entr" presetSubtype="10" fill="hold" grpId="0" nodeType="withEffect">
                                  <p:stCondLst>
                                    <p:cond delay="0"/>
                                  </p:stCondLst>
                                  <p:childTnLst>
                                    <p:set>
                                      <p:cBhvr>
                                        <p:cTn id="123" dur="1" fill="hold">
                                          <p:stCondLst>
                                            <p:cond delay="0"/>
                                          </p:stCondLst>
                                        </p:cTn>
                                        <p:tgtEl>
                                          <p:spTgt spid="150"/>
                                        </p:tgtEl>
                                        <p:attrNameLst>
                                          <p:attrName>style.visibility</p:attrName>
                                        </p:attrNameLst>
                                      </p:cBhvr>
                                      <p:to>
                                        <p:strVal val="visible"/>
                                      </p:to>
                                    </p:set>
                                    <p:anim calcmode="lin" valueType="num">
                                      <p:cBhvr>
                                        <p:cTn id="124" dur="5000" fill="hold"/>
                                        <p:tgtEl>
                                          <p:spTgt spid="150"/>
                                        </p:tgtEl>
                                        <p:attrNameLst>
                                          <p:attrName>ppt_w</p:attrName>
                                        </p:attrNameLst>
                                      </p:cBhvr>
                                      <p:tavLst>
                                        <p:tav tm="0" fmla="#ppt_w*sin(2.5*pi*$)">
                                          <p:val>
                                            <p:fltVal val="0"/>
                                          </p:val>
                                        </p:tav>
                                        <p:tav tm="100000">
                                          <p:val>
                                            <p:fltVal val="1"/>
                                          </p:val>
                                        </p:tav>
                                      </p:tavLst>
                                    </p:anim>
                                    <p:anim calcmode="lin" valueType="num">
                                      <p:cBhvr>
                                        <p:cTn id="125"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2"/>
                                            </p:cond>
                                          </p:stCondLst>
                                          <p:endCondLst>
                                            <p:cond evt="onStopAudio" delay="0">
                                              <p:tgtEl>
                                                <p:sldTgt/>
                                              </p:tgtEl>
                                            </p:cond>
                                          </p:endCondLst>
                                        </p:cTn>
                                        <p:tgtEl>
                                          <p:sndTgt r:embed="rId5" name="CAMERA.WAV"/>
                                        </p:tgtEl>
                                      </p:cMediaNode>
                                    </p:audio>
                                  </p:subTnLst>
                                </p:cTn>
                              </p:par>
                              <p:par>
                                <p:cTn id="126" presetID="55" presetClass="exit" presetSubtype="0" fill="hold" grpId="1" nodeType="withEffect">
                                  <p:stCondLst>
                                    <p:cond delay="0"/>
                                  </p:stCondLst>
                                  <p:childTnLst>
                                    <p:anim calcmode="lin" valueType="num">
                                      <p:cBhvr>
                                        <p:cTn id="127" dur="1000"/>
                                        <p:tgtEl>
                                          <p:spTgt spid="163"/>
                                        </p:tgtEl>
                                        <p:attrNameLst>
                                          <p:attrName>ppt_w</p:attrName>
                                        </p:attrNameLst>
                                      </p:cBhvr>
                                      <p:tavLst>
                                        <p:tav tm="0">
                                          <p:val>
                                            <p:strVal val="ppt_w"/>
                                          </p:val>
                                        </p:tav>
                                        <p:tav tm="100000">
                                          <p:val>
                                            <p:strVal val="ppt_w*0.70"/>
                                          </p:val>
                                        </p:tav>
                                      </p:tavLst>
                                    </p:anim>
                                    <p:anim calcmode="lin" valueType="num">
                                      <p:cBhvr>
                                        <p:cTn id="128" dur="1000"/>
                                        <p:tgtEl>
                                          <p:spTgt spid="163"/>
                                        </p:tgtEl>
                                        <p:attrNameLst>
                                          <p:attrName>ppt_h</p:attrName>
                                        </p:attrNameLst>
                                      </p:cBhvr>
                                      <p:tavLst>
                                        <p:tav tm="0">
                                          <p:val>
                                            <p:strVal val="ppt_h"/>
                                          </p:val>
                                        </p:tav>
                                        <p:tav tm="100000">
                                          <p:val>
                                            <p:strVal val="ppt_h"/>
                                          </p:val>
                                        </p:tav>
                                      </p:tavLst>
                                    </p:anim>
                                    <p:animEffect transition="out" filter="fade">
                                      <p:cBhvr>
                                        <p:cTn id="129" dur="1000"/>
                                        <p:tgtEl>
                                          <p:spTgt spid="163"/>
                                        </p:tgtEl>
                                      </p:cBhvr>
                                    </p:animEffect>
                                    <p:set>
                                      <p:cBhvr>
                                        <p:cTn id="130" dur="1" fill="hold">
                                          <p:stCondLst>
                                            <p:cond delay="999"/>
                                          </p:stCondLst>
                                        </p:cTn>
                                        <p:tgtEl>
                                          <p:spTgt spid="163"/>
                                        </p:tgtEl>
                                        <p:attrNameLst>
                                          <p:attrName>style.visibility</p:attrName>
                                        </p:attrNameLst>
                                      </p:cBhvr>
                                      <p:to>
                                        <p:strVal val="hidden"/>
                                      </p:to>
                                    </p:set>
                                  </p:childTnLst>
                                </p:cTn>
                              </p:par>
                              <p:par>
                                <p:cTn id="131" presetID="19" presetClass="entr" presetSubtype="10" fill="hold" grpId="0" nodeType="withEffect">
                                  <p:stCondLst>
                                    <p:cond delay="0"/>
                                  </p:stCondLst>
                                  <p:childTnLst>
                                    <p:set>
                                      <p:cBhvr>
                                        <p:cTn id="132" dur="1" fill="hold">
                                          <p:stCondLst>
                                            <p:cond delay="0"/>
                                          </p:stCondLst>
                                        </p:cTn>
                                        <p:tgtEl>
                                          <p:spTgt spid="151"/>
                                        </p:tgtEl>
                                        <p:attrNameLst>
                                          <p:attrName>style.visibility</p:attrName>
                                        </p:attrNameLst>
                                      </p:cBhvr>
                                      <p:to>
                                        <p:strVal val="visible"/>
                                      </p:to>
                                    </p:set>
                                    <p:anim calcmode="lin" valueType="num">
                                      <p:cBhvr>
                                        <p:cTn id="133" dur="5000" fill="hold"/>
                                        <p:tgtEl>
                                          <p:spTgt spid="151"/>
                                        </p:tgtEl>
                                        <p:attrNameLst>
                                          <p:attrName>ppt_w</p:attrName>
                                        </p:attrNameLst>
                                      </p:cBhvr>
                                      <p:tavLst>
                                        <p:tav tm="0" fmla="#ppt_w*sin(2.5*pi*$)">
                                          <p:val>
                                            <p:fltVal val="0"/>
                                          </p:val>
                                        </p:tav>
                                        <p:tav tm="100000">
                                          <p:val>
                                            <p:fltVal val="1"/>
                                          </p:val>
                                        </p:tav>
                                      </p:tavLst>
                                    </p:anim>
                                    <p:anim calcmode="lin" valueType="num">
                                      <p:cBhvr>
                                        <p:cTn id="13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1"/>
                                            </p:cond>
                                          </p:stCondLst>
                                          <p:endCondLst>
                                            <p:cond evt="onStopAudio" delay="0">
                                              <p:tgtEl>
                                                <p:sldTgt/>
                                              </p:tgtEl>
                                            </p:cond>
                                          </p:endCondLst>
                                        </p:cTn>
                                        <p:tgtEl>
                                          <p:sndTgt r:embed="rId5" name="CAMERA.WAV"/>
                                        </p:tgtEl>
                                      </p:cMediaNode>
                                    </p:audio>
                                  </p:subTnLst>
                                </p:cTn>
                              </p:par>
                              <p:par>
                                <p:cTn id="135" presetID="55" presetClass="exit" presetSubtype="0" fill="hold" grpId="1" nodeType="withEffect">
                                  <p:stCondLst>
                                    <p:cond delay="0"/>
                                  </p:stCondLst>
                                  <p:childTnLst>
                                    <p:anim calcmode="lin" valueType="num">
                                      <p:cBhvr>
                                        <p:cTn id="136" dur="1000"/>
                                        <p:tgtEl>
                                          <p:spTgt spid="164"/>
                                        </p:tgtEl>
                                        <p:attrNameLst>
                                          <p:attrName>ppt_w</p:attrName>
                                        </p:attrNameLst>
                                      </p:cBhvr>
                                      <p:tavLst>
                                        <p:tav tm="0">
                                          <p:val>
                                            <p:strVal val="ppt_w"/>
                                          </p:val>
                                        </p:tav>
                                        <p:tav tm="100000">
                                          <p:val>
                                            <p:strVal val="ppt_w*0.70"/>
                                          </p:val>
                                        </p:tav>
                                      </p:tavLst>
                                    </p:anim>
                                    <p:anim calcmode="lin" valueType="num">
                                      <p:cBhvr>
                                        <p:cTn id="137" dur="1000"/>
                                        <p:tgtEl>
                                          <p:spTgt spid="164"/>
                                        </p:tgtEl>
                                        <p:attrNameLst>
                                          <p:attrName>ppt_h</p:attrName>
                                        </p:attrNameLst>
                                      </p:cBhvr>
                                      <p:tavLst>
                                        <p:tav tm="0">
                                          <p:val>
                                            <p:strVal val="ppt_h"/>
                                          </p:val>
                                        </p:tav>
                                        <p:tav tm="100000">
                                          <p:val>
                                            <p:strVal val="ppt_h"/>
                                          </p:val>
                                        </p:tav>
                                      </p:tavLst>
                                    </p:anim>
                                    <p:animEffect transition="out" filter="fade">
                                      <p:cBhvr>
                                        <p:cTn id="138" dur="1000"/>
                                        <p:tgtEl>
                                          <p:spTgt spid="164"/>
                                        </p:tgtEl>
                                      </p:cBhvr>
                                    </p:animEffect>
                                    <p:set>
                                      <p:cBhvr>
                                        <p:cTn id="139" dur="1" fill="hold">
                                          <p:stCondLst>
                                            <p:cond delay="999"/>
                                          </p:stCondLst>
                                        </p:cTn>
                                        <p:tgtEl>
                                          <p:spTgt spid="164"/>
                                        </p:tgtEl>
                                        <p:attrNameLst>
                                          <p:attrName>style.visibility</p:attrName>
                                        </p:attrNameLst>
                                      </p:cBhvr>
                                      <p:to>
                                        <p:strVal val="hidden"/>
                                      </p:to>
                                    </p:set>
                                  </p:childTnLst>
                                </p:cTn>
                              </p:par>
                              <p:par>
                                <p:cTn id="140" presetID="18" presetClass="entr" presetSubtype="12" fill="hold" grpId="0" nodeType="withEffect">
                                  <p:stCondLst>
                                    <p:cond delay="0"/>
                                  </p:stCondLst>
                                  <p:childTnLst>
                                    <p:set>
                                      <p:cBhvr>
                                        <p:cTn id="141" dur="1" fill="hold">
                                          <p:stCondLst>
                                            <p:cond delay="0"/>
                                          </p:stCondLst>
                                        </p:cTn>
                                        <p:tgtEl>
                                          <p:spTgt spid="138"/>
                                        </p:tgtEl>
                                        <p:attrNameLst>
                                          <p:attrName>style.visibility</p:attrName>
                                        </p:attrNameLst>
                                      </p:cBhvr>
                                      <p:to>
                                        <p:strVal val="visible"/>
                                      </p:to>
                                    </p:set>
                                    <p:animEffect transition="in" filter="strips(downLeft)">
                                      <p:cBhvr>
                                        <p:cTn id="142" dur="5000"/>
                                        <p:tgtEl>
                                          <p:spTgt spid="138"/>
                                        </p:tgtEl>
                                      </p:cBhvr>
                                    </p:animEffect>
                                  </p:childTnLst>
                                  <p:subTnLst>
                                    <p:audio>
                                      <p:cMediaNode>
                                        <p:cTn display="0" masterRel="sameClick">
                                          <p:stCondLst>
                                            <p:cond evt="begin" delay="0">
                                              <p:tn val="140"/>
                                            </p:cond>
                                          </p:stCondLst>
                                          <p:endCondLst>
                                            <p:cond evt="onStopAudio" delay="0">
                                              <p:tgtEl>
                                                <p:sldTgt/>
                                              </p:tgtEl>
                                            </p:cond>
                                          </p:endCondLst>
                                        </p:cTn>
                                        <p:tgtEl>
                                          <p:sndTgt r:embed="rId6" name="CHIMES.WAV"/>
                                        </p:tgtEl>
                                      </p:cMediaNode>
                                    </p:audio>
                                  </p:subTnLst>
                                </p:cTn>
                              </p:par>
                              <p:par>
                                <p:cTn id="143" presetID="18" presetClass="entr" presetSubtype="6" fill="hold" grpId="0" nodeType="withEffect">
                                  <p:stCondLst>
                                    <p:cond delay="0"/>
                                  </p:stCondLst>
                                  <p:childTnLst>
                                    <p:set>
                                      <p:cBhvr>
                                        <p:cTn id="144" dur="1" fill="hold">
                                          <p:stCondLst>
                                            <p:cond delay="0"/>
                                          </p:stCondLst>
                                        </p:cTn>
                                        <p:tgtEl>
                                          <p:spTgt spid="137"/>
                                        </p:tgtEl>
                                        <p:attrNameLst>
                                          <p:attrName>style.visibility</p:attrName>
                                        </p:attrNameLst>
                                      </p:cBhvr>
                                      <p:to>
                                        <p:strVal val="visible"/>
                                      </p:to>
                                    </p:set>
                                    <p:animEffect transition="in" filter="strips(downRight)">
                                      <p:cBhvr>
                                        <p:cTn id="145" dur="5000"/>
                                        <p:tgtEl>
                                          <p:spTgt spid="137"/>
                                        </p:tgtEl>
                                      </p:cBhvr>
                                    </p:animEffect>
                                  </p:childTnLst>
                                  <p:subTnLst>
                                    <p:audio>
                                      <p:cMediaNode>
                                        <p:cTn display="0" masterRel="sameClick">
                                          <p:stCondLst>
                                            <p:cond evt="begin" delay="0">
                                              <p:tn val="143"/>
                                            </p:cond>
                                          </p:stCondLst>
                                          <p:endCondLst>
                                            <p:cond evt="onStopAudio" delay="0">
                                              <p:tgtEl>
                                                <p:sldTgt/>
                                              </p:tgtEl>
                                            </p:cond>
                                          </p:endCondLst>
                                        </p:cTn>
                                        <p:tgtEl>
                                          <p:sndTgt r:embed="rId6" name="CHIMES.WAV"/>
                                        </p:tgtEl>
                                      </p:cMediaNode>
                                    </p:audio>
                                  </p:subTnLst>
                                </p:cTn>
                              </p:par>
                              <p:par>
                                <p:cTn id="146" presetID="16" presetClass="entr" presetSubtype="37" fill="hold" grpId="0" nodeType="withEffect">
                                  <p:stCondLst>
                                    <p:cond delay="0"/>
                                  </p:stCondLst>
                                  <p:childTnLst>
                                    <p:set>
                                      <p:cBhvr>
                                        <p:cTn id="147" dur="1" fill="hold">
                                          <p:stCondLst>
                                            <p:cond delay="0"/>
                                          </p:stCondLst>
                                        </p:cTn>
                                        <p:tgtEl>
                                          <p:spTgt spid="140"/>
                                        </p:tgtEl>
                                        <p:attrNameLst>
                                          <p:attrName>style.visibility</p:attrName>
                                        </p:attrNameLst>
                                      </p:cBhvr>
                                      <p:to>
                                        <p:strVal val="visible"/>
                                      </p:to>
                                    </p:set>
                                    <p:animEffect transition="in" filter="barn(outVertical)">
                                      <p:cBhvr>
                                        <p:cTn id="148" dur="5000"/>
                                        <p:tgtEl>
                                          <p:spTgt spid="140"/>
                                        </p:tgtEl>
                                      </p:cBhvr>
                                    </p:animEffect>
                                  </p:childTnLst>
                                  <p:subTnLst>
                                    <p:audio>
                                      <p:cMediaNode>
                                        <p:cTn display="0" masterRel="sameClick">
                                          <p:stCondLst>
                                            <p:cond evt="begin" delay="0">
                                              <p:tn val="146"/>
                                            </p:cond>
                                          </p:stCondLst>
                                          <p:endCondLst>
                                            <p:cond evt="onStopAudio" delay="0">
                                              <p:tgtEl>
                                                <p:sldTgt/>
                                              </p:tgtEl>
                                            </p:cond>
                                          </p:endCondLst>
                                        </p:cTn>
                                        <p:tgtEl>
                                          <p:sndTgt r:embed="rId6" name="CHIMES.WAV"/>
                                        </p:tgtEl>
                                      </p:cMediaNode>
                                    </p:audio>
                                  </p:subTnLst>
                                </p:cTn>
                              </p:par>
                              <p:par>
                                <p:cTn id="149" presetID="16" presetClass="entr" presetSubtype="37" fill="hold" grpId="0" nodeType="withEffect">
                                  <p:stCondLst>
                                    <p:cond delay="0"/>
                                  </p:stCondLst>
                                  <p:childTnLst>
                                    <p:set>
                                      <p:cBhvr>
                                        <p:cTn id="150" dur="1" fill="hold">
                                          <p:stCondLst>
                                            <p:cond delay="0"/>
                                          </p:stCondLst>
                                        </p:cTn>
                                        <p:tgtEl>
                                          <p:spTgt spid="139"/>
                                        </p:tgtEl>
                                        <p:attrNameLst>
                                          <p:attrName>style.visibility</p:attrName>
                                        </p:attrNameLst>
                                      </p:cBhvr>
                                      <p:to>
                                        <p:strVal val="visible"/>
                                      </p:to>
                                    </p:set>
                                    <p:animEffect transition="in" filter="barn(outVertical)">
                                      <p:cBhvr>
                                        <p:cTn id="151" dur="5000"/>
                                        <p:tgtEl>
                                          <p:spTgt spid="139"/>
                                        </p:tgtEl>
                                      </p:cBhvr>
                                    </p:animEffect>
                                  </p:childTnLst>
                                  <p:subTnLst>
                                    <p:audio>
                                      <p:cMediaNode>
                                        <p:cTn display="0" masterRel="sameClick">
                                          <p:stCondLst>
                                            <p:cond evt="begin" delay="0">
                                              <p:tn val="149"/>
                                            </p:cond>
                                          </p:stCondLst>
                                          <p:endCondLst>
                                            <p:cond evt="onStopAudio" delay="0">
                                              <p:tgtEl>
                                                <p:sldTgt/>
                                              </p:tgtEl>
                                            </p:cond>
                                          </p:endCondLst>
                                        </p:cTn>
                                        <p:tgtEl>
                                          <p:sndTgt r:embed="rId6" name="CHIMES.WAV"/>
                                        </p:tgtEl>
                                      </p:cMediaNode>
                                    </p:audio>
                                  </p:subTnLst>
                                </p:cTn>
                              </p:par>
                            </p:childTnLst>
                          </p:cTn>
                        </p:par>
                        <p:par>
                          <p:cTn id="152" fill="hold">
                            <p:stCondLst>
                              <p:cond delay="10000"/>
                            </p:stCondLst>
                            <p:childTnLst>
                              <p:par>
                                <p:cTn id="153" presetID="20" presetClass="entr" presetSubtype="0" fill="hold" grpId="0" nodeType="afterEffect">
                                  <p:stCondLst>
                                    <p:cond delay="300"/>
                                  </p:stCondLst>
                                  <p:childTnLst>
                                    <p:set>
                                      <p:cBhvr>
                                        <p:cTn id="154" dur="1" fill="hold">
                                          <p:stCondLst>
                                            <p:cond delay="0"/>
                                          </p:stCondLst>
                                        </p:cTn>
                                        <p:tgtEl>
                                          <p:spTgt spid="141"/>
                                        </p:tgtEl>
                                        <p:attrNameLst>
                                          <p:attrName>style.visibility</p:attrName>
                                        </p:attrNameLst>
                                      </p:cBhvr>
                                      <p:to>
                                        <p:strVal val="visible"/>
                                      </p:to>
                                    </p:set>
                                    <p:animEffect transition="in" filter="wedge">
                                      <p:cBhvr>
                                        <p:cTn id="155" dur="2000"/>
                                        <p:tgtEl>
                                          <p:spTgt spid="141"/>
                                        </p:tgtEl>
                                      </p:cBhvr>
                                    </p:animEffect>
                                  </p:childTnLst>
                                  <p:subTnLst>
                                    <p:audio>
                                      <p:cMediaNode>
                                        <p:cTn display="0" masterRel="sameClick">
                                          <p:stCondLst>
                                            <p:cond evt="begin" delay="0">
                                              <p:tn val="153"/>
                                            </p:cond>
                                          </p:stCondLst>
                                          <p:endCondLst>
                                            <p:cond evt="onStopAudio" delay="0">
                                              <p:tgtEl>
                                                <p:sldTgt/>
                                              </p:tgtEl>
                                            </p:cond>
                                          </p:endCondLst>
                                        </p:cTn>
                                        <p:tgtEl>
                                          <p:sndTgt r:embed="rId6"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2"/>
                                        </p:tgtEl>
                                        <p:attrNameLst>
                                          <p:attrName>style.visibility</p:attrName>
                                        </p:attrNameLst>
                                      </p:cBhvr>
                                      <p:to>
                                        <p:strVal val="visible"/>
                                      </p:to>
                                    </p:set>
                                    <p:animEffect transition="in" filter="wedge">
                                      <p:cBhvr>
                                        <p:cTn id="158" dur="2000"/>
                                        <p:tgtEl>
                                          <p:spTgt spid="142"/>
                                        </p:tgtEl>
                                      </p:cBhvr>
                                    </p:animEffect>
                                  </p:childTnLst>
                                  <p:subTnLst>
                                    <p:audio>
                                      <p:cMediaNode>
                                        <p:cTn display="0" masterRel="sameClick">
                                          <p:stCondLst>
                                            <p:cond evt="begin" delay="0">
                                              <p:tn val="156"/>
                                            </p:cond>
                                          </p:stCondLst>
                                          <p:endCondLst>
                                            <p:cond evt="onStopAudio" delay="0">
                                              <p:tgtEl>
                                                <p:sldTgt/>
                                              </p:tgtEl>
                                            </p:cond>
                                          </p:endCondLst>
                                        </p:cTn>
                                        <p:tgtEl>
                                          <p:sndTgt r:embed="rId6" name="CHIMES.WAV"/>
                                        </p:tgtEl>
                                      </p:cMediaNode>
                                    </p:audio>
                                  </p:subTnLst>
                                </p:cTn>
                              </p:par>
                              <p:par>
                                <p:cTn id="159" presetID="20" presetClass="entr" presetSubtype="0" fill="hold" grpId="0" nodeType="withEffect">
                                  <p:stCondLst>
                                    <p:cond delay="300"/>
                                  </p:stCondLst>
                                  <p:childTnLst>
                                    <p:set>
                                      <p:cBhvr>
                                        <p:cTn id="160" dur="1" fill="hold">
                                          <p:stCondLst>
                                            <p:cond delay="0"/>
                                          </p:stCondLst>
                                        </p:cTn>
                                        <p:tgtEl>
                                          <p:spTgt spid="143"/>
                                        </p:tgtEl>
                                        <p:attrNameLst>
                                          <p:attrName>style.visibility</p:attrName>
                                        </p:attrNameLst>
                                      </p:cBhvr>
                                      <p:to>
                                        <p:strVal val="visible"/>
                                      </p:to>
                                    </p:set>
                                    <p:animEffect transition="in" filter="wedge">
                                      <p:cBhvr>
                                        <p:cTn id="161" dur="2000"/>
                                        <p:tgtEl>
                                          <p:spTgt spid="143"/>
                                        </p:tgtEl>
                                      </p:cBhvr>
                                    </p:animEffect>
                                  </p:childTnLst>
                                  <p:subTnLst>
                                    <p:audio>
                                      <p:cMediaNode>
                                        <p:cTn display="0" masterRel="sameClick">
                                          <p:stCondLst>
                                            <p:cond evt="begin" delay="0">
                                              <p:tn val="159"/>
                                            </p:cond>
                                          </p:stCondLst>
                                          <p:endCondLst>
                                            <p:cond evt="onStopAudio" delay="0">
                                              <p:tgtEl>
                                                <p:sldTgt/>
                                              </p:tgtEl>
                                            </p:cond>
                                          </p:endCondLst>
                                        </p:cTn>
                                        <p:tgtEl>
                                          <p:sndTgt r:embed="rId6" name="CHIMES.WAV"/>
                                        </p:tgtEl>
                                      </p:cMediaNode>
                                    </p:audio>
                                  </p:subTnLst>
                                </p:cTn>
                              </p:par>
                              <p:par>
                                <p:cTn id="162" presetID="20" presetClass="entr" presetSubtype="0" fill="hold" grpId="0" nodeType="withEffect">
                                  <p:stCondLst>
                                    <p:cond delay="300"/>
                                  </p:stCondLst>
                                  <p:childTnLst>
                                    <p:set>
                                      <p:cBhvr>
                                        <p:cTn id="163" dur="1" fill="hold">
                                          <p:stCondLst>
                                            <p:cond delay="0"/>
                                          </p:stCondLst>
                                        </p:cTn>
                                        <p:tgtEl>
                                          <p:spTgt spid="144"/>
                                        </p:tgtEl>
                                        <p:attrNameLst>
                                          <p:attrName>style.visibility</p:attrName>
                                        </p:attrNameLst>
                                      </p:cBhvr>
                                      <p:to>
                                        <p:strVal val="visible"/>
                                      </p:to>
                                    </p:set>
                                    <p:animEffect transition="in" filter="wedge">
                                      <p:cBhvr>
                                        <p:cTn id="164" dur="2000"/>
                                        <p:tgtEl>
                                          <p:spTgt spid="144"/>
                                        </p:tgtEl>
                                      </p:cBhvr>
                                    </p:animEffect>
                                  </p:childTnLst>
                                  <p:subTnLst>
                                    <p:audio>
                                      <p:cMediaNode>
                                        <p:cTn display="0" masterRel="sameClick">
                                          <p:stCondLst>
                                            <p:cond evt="begin" delay="0">
                                              <p:tn val="162"/>
                                            </p:cond>
                                          </p:stCondLst>
                                          <p:endCondLst>
                                            <p:cond evt="onStopAudio" delay="0">
                                              <p:tgtEl>
                                                <p:sldTgt/>
                                              </p:tgtEl>
                                            </p:cond>
                                          </p:endCondLst>
                                        </p:cTn>
                                        <p:tgtEl>
                                          <p:sndTgt r:embed="rId6" name="CHIMES.WAV"/>
                                        </p:tgtEl>
                                      </p:cMediaNode>
                                    </p:audio>
                                  </p:subTnLst>
                                </p:cTn>
                              </p:par>
                            </p:childTnLst>
                          </p:cTn>
                        </p:par>
                        <p:par>
                          <p:cTn id="165" fill="hold">
                            <p:stCondLst>
                              <p:cond delay="12300"/>
                            </p:stCondLst>
                            <p:childTnLst>
                              <p:par>
                                <p:cTn id="166" presetID="20" presetClass="entr" presetSubtype="0" fill="hold" grpId="0" nodeType="afterEffect">
                                  <p:stCondLst>
                                    <p:cond delay="300"/>
                                  </p:stCondLst>
                                  <p:childTnLst>
                                    <p:set>
                                      <p:cBhvr>
                                        <p:cTn id="167" dur="1" fill="hold">
                                          <p:stCondLst>
                                            <p:cond delay="0"/>
                                          </p:stCondLst>
                                        </p:cTn>
                                        <p:tgtEl>
                                          <p:spTgt spid="146"/>
                                        </p:tgtEl>
                                        <p:attrNameLst>
                                          <p:attrName>style.visibility</p:attrName>
                                        </p:attrNameLst>
                                      </p:cBhvr>
                                      <p:to>
                                        <p:strVal val="visible"/>
                                      </p:to>
                                    </p:set>
                                    <p:animEffect transition="in" filter="wedge">
                                      <p:cBhvr>
                                        <p:cTn id="168" dur="2000"/>
                                        <p:tgtEl>
                                          <p:spTgt spid="146"/>
                                        </p:tgtEl>
                                      </p:cBhvr>
                                    </p:animEffect>
                                  </p:childTnLst>
                                  <p:subTnLst>
                                    <p:audio>
                                      <p:cMediaNode>
                                        <p:cTn display="0" masterRel="sameClick">
                                          <p:stCondLst>
                                            <p:cond evt="begin" delay="0">
                                              <p:tn val="166"/>
                                            </p:cond>
                                          </p:stCondLst>
                                          <p:endCondLst>
                                            <p:cond evt="onStopAudio" delay="0">
                                              <p:tgtEl>
                                                <p:sldTgt/>
                                              </p:tgtEl>
                                            </p:cond>
                                          </p:endCondLst>
                                        </p:cTn>
                                        <p:tgtEl>
                                          <p:sndTgt r:embed="rId6"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8"/>
                                        </p:tgtEl>
                                        <p:attrNameLst>
                                          <p:attrName>style.visibility</p:attrName>
                                        </p:attrNameLst>
                                      </p:cBhvr>
                                      <p:to>
                                        <p:strVal val="visible"/>
                                      </p:to>
                                    </p:set>
                                    <p:animEffect transition="in" filter="wedge">
                                      <p:cBhvr>
                                        <p:cTn id="171" dur="2000"/>
                                        <p:tgtEl>
                                          <p:spTgt spid="148"/>
                                        </p:tgtEl>
                                      </p:cBhvr>
                                    </p:animEffect>
                                  </p:childTnLst>
                                  <p:subTnLst>
                                    <p:audio>
                                      <p:cMediaNode>
                                        <p:cTn display="0" masterRel="sameClick">
                                          <p:stCondLst>
                                            <p:cond evt="begin" delay="0">
                                              <p:tn val="169"/>
                                            </p:cond>
                                          </p:stCondLst>
                                          <p:endCondLst>
                                            <p:cond evt="onStopAudio" delay="0">
                                              <p:tgtEl>
                                                <p:sldTgt/>
                                              </p:tgtEl>
                                            </p:cond>
                                          </p:endCondLst>
                                        </p:cTn>
                                        <p:tgtEl>
                                          <p:sndTgt r:embed="rId6" name="CHIMES.WAV"/>
                                        </p:tgtEl>
                                      </p:cMediaNode>
                                    </p:audio>
                                  </p:subTnLst>
                                </p:cTn>
                              </p:par>
                              <p:par>
                                <p:cTn id="172" presetID="20" presetClass="entr" presetSubtype="0" fill="hold" grpId="0" nodeType="withEffect">
                                  <p:stCondLst>
                                    <p:cond delay="300"/>
                                  </p:stCondLst>
                                  <p:childTnLst>
                                    <p:set>
                                      <p:cBhvr>
                                        <p:cTn id="173" dur="1" fill="hold">
                                          <p:stCondLst>
                                            <p:cond delay="0"/>
                                          </p:stCondLst>
                                        </p:cTn>
                                        <p:tgtEl>
                                          <p:spTgt spid="145"/>
                                        </p:tgtEl>
                                        <p:attrNameLst>
                                          <p:attrName>style.visibility</p:attrName>
                                        </p:attrNameLst>
                                      </p:cBhvr>
                                      <p:to>
                                        <p:strVal val="visible"/>
                                      </p:to>
                                    </p:set>
                                    <p:animEffect transition="in" filter="wedge">
                                      <p:cBhvr>
                                        <p:cTn id="174" dur="2000"/>
                                        <p:tgtEl>
                                          <p:spTgt spid="145"/>
                                        </p:tgtEl>
                                      </p:cBhvr>
                                    </p:animEffect>
                                  </p:childTnLst>
                                  <p:subTnLst>
                                    <p:audio>
                                      <p:cMediaNode>
                                        <p:cTn display="0" masterRel="sameClick">
                                          <p:stCondLst>
                                            <p:cond evt="begin" delay="0">
                                              <p:tn val="172"/>
                                            </p:cond>
                                          </p:stCondLst>
                                          <p:endCondLst>
                                            <p:cond evt="onStopAudio" delay="0">
                                              <p:tgtEl>
                                                <p:sldTgt/>
                                              </p:tgtEl>
                                            </p:cond>
                                          </p:endCondLst>
                                        </p:cTn>
                                        <p:tgtEl>
                                          <p:sndTgt r:embed="rId6" name="CHIMES.WAV"/>
                                        </p:tgtEl>
                                      </p:cMediaNode>
                                    </p:audio>
                                  </p:subTnLst>
                                </p:cTn>
                              </p:par>
                              <p:par>
                                <p:cTn id="175" presetID="20" presetClass="entr" presetSubtype="0" fill="hold" grpId="0" nodeType="withEffect">
                                  <p:stCondLst>
                                    <p:cond delay="300"/>
                                  </p:stCondLst>
                                  <p:childTnLst>
                                    <p:set>
                                      <p:cBhvr>
                                        <p:cTn id="176" dur="1" fill="hold">
                                          <p:stCondLst>
                                            <p:cond delay="0"/>
                                          </p:stCondLst>
                                        </p:cTn>
                                        <p:tgtEl>
                                          <p:spTgt spid="147"/>
                                        </p:tgtEl>
                                        <p:attrNameLst>
                                          <p:attrName>style.visibility</p:attrName>
                                        </p:attrNameLst>
                                      </p:cBhvr>
                                      <p:to>
                                        <p:strVal val="visible"/>
                                      </p:to>
                                    </p:set>
                                    <p:animEffect transition="in" filter="wedge">
                                      <p:cBhvr>
                                        <p:cTn id="177" dur="2000"/>
                                        <p:tgtEl>
                                          <p:spTgt spid="147"/>
                                        </p:tgtEl>
                                      </p:cBhvr>
                                    </p:animEffect>
                                  </p:childTnLst>
                                  <p:subTnLst>
                                    <p:audio>
                                      <p:cMediaNode>
                                        <p:cTn display="0" masterRel="sameClick">
                                          <p:stCondLst>
                                            <p:cond evt="begin" delay="0">
                                              <p:tn val="17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seq concurrent="1" nextAc="seek">
              <p:cTn id="178" restart="whenNotActive" fill="hold" evtFilter="cancelBubble" nodeType="interactiveSeq">
                <p:stCondLst>
                  <p:cond evt="onClick" delay="0">
                    <p:tgtEl>
                      <p:spTgt spid="2"/>
                    </p:tgtEl>
                  </p:cond>
                </p:stCondLst>
                <p:endSync evt="end" delay="0">
                  <p:rtn val="all"/>
                </p:endSync>
                <p:childTnLst>
                  <p:par>
                    <p:cTn id="179" fill="hold">
                      <p:stCondLst>
                        <p:cond delay="0"/>
                      </p:stCondLst>
                      <p:childTnLst>
                        <p:par>
                          <p:cTn id="180" fill="hold">
                            <p:stCondLst>
                              <p:cond delay="0"/>
                            </p:stCondLst>
                            <p:childTnLst>
                              <p:par>
                                <p:cTn id="181" presetID="2" presetClass="mediacall" presetSubtype="0" fill="hold" nodeType="clickEffect">
                                  <p:stCondLst>
                                    <p:cond delay="0"/>
                                  </p:stCondLst>
                                  <p:childTnLst>
                                    <p:cmd type="call" cmd="togglePause">
                                      <p:cBhvr>
                                        <p:cTn id="182" dur="1" fill="hold"/>
                                        <p:tgtEl>
                                          <p:spTgt spid="2"/>
                                        </p:tgtEl>
                                      </p:cBhvr>
                                    </p:cmd>
                                  </p:childTnLst>
                                </p:cTn>
                              </p:par>
                            </p:childTnLst>
                          </p:cTn>
                        </p:par>
                      </p:childTnLst>
                    </p:cTn>
                  </p:par>
                </p:childTnLst>
              </p:cTn>
              <p:nextCondLst>
                <p:cond evt="onClick" delay="0">
                  <p:tgtEl>
                    <p:spTgt spid="2"/>
                  </p:tgtEl>
                </p:cond>
              </p:nextCondLst>
            </p:seq>
            <p:video>
              <p:cMediaNode vol="80000">
                <p:cTn id="183" fill="hold" display="0">
                  <p:stCondLst>
                    <p:cond delay="indefinite"/>
                  </p:stCondLst>
                </p:cTn>
                <p:tgtEl>
                  <p:spTgt spid="2"/>
                </p:tgtEl>
              </p:cMediaNode>
            </p:video>
          </p:childTnLst>
        </p:cTn>
      </p:par>
    </p:tnLst>
    <p:bldLst>
      <p:bldP spid="9" grpId="0" animBg="1"/>
      <p:bldP spid="111" grpId="0" autoUpdateAnimBg="0"/>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854102"/>
            <a:ext cx="4651988" cy="5417341"/>
          </a:xfrm>
          <a:prstGeom prst="rect">
            <a:avLst/>
          </a:prstGeom>
          <a:solidFill>
            <a:srgbClr val="B9CDE5"/>
          </a:solidFill>
          <a:ln>
            <a:noFill/>
          </a:ln>
          <a:effectLst/>
        </p:spPr>
        <p:txBody>
          <a:bodyPr wrap="none" anchor="ctr"/>
          <a:lstStyle/>
          <a:p>
            <a:endParaRPr lang="zh-CN" altLang="en-US" dirty="0"/>
          </a:p>
        </p:txBody>
      </p:sp>
      <p:sp>
        <p:nvSpPr>
          <p:cNvPr id="111" name="Text Box 1032"/>
          <p:cNvSpPr txBox="1">
            <a:spLocks noChangeArrowheads="1"/>
          </p:cNvSpPr>
          <p:nvPr/>
        </p:nvSpPr>
        <p:spPr bwMode="auto">
          <a:xfrm>
            <a:off x="20960" y="854102"/>
            <a:ext cx="7266366"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通过梁的纯弯曲实验观察到如下现象： </a:t>
            </a:r>
          </a:p>
          <a:p>
            <a:pPr lvl="0" algn="just">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latin typeface="+mn-lt"/>
                <a:ea typeface="微软雅黑" panose="020B0503020204020204" pitchFamily="34" charset="-122"/>
              </a:rPr>
              <a:t>纵向线弯曲成圆弧线，其间距不变。 </a:t>
            </a:r>
          </a:p>
          <a:p>
            <a:pPr lvl="0" algn="just">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latin typeface="+mn-lt"/>
                <a:ea typeface="微软雅黑" panose="020B0503020204020204" pitchFamily="34" charset="-122"/>
              </a:rPr>
              <a:t>横向线仍为直线，且与纵向线正交，横向线间只是相对地转过了一个微小的角度。 </a:t>
            </a:r>
          </a:p>
        </p:txBody>
      </p:sp>
      <p:grpSp>
        <p:nvGrpSpPr>
          <p:cNvPr id="112" name="Group 4"/>
          <p:cNvGrpSpPr>
            <a:grpSpLocks/>
          </p:cNvGrpSpPr>
          <p:nvPr/>
        </p:nvGrpSpPr>
        <p:grpSpPr bwMode="auto">
          <a:xfrm>
            <a:off x="8435283" y="5029048"/>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3987648"/>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4305148"/>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3981298"/>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3990823"/>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4133698"/>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4476598"/>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3809848"/>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3619348"/>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4590898"/>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360664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4571848"/>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425752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p>
        </p:txBody>
      </p:sp>
      <p:sp>
        <p:nvSpPr>
          <p:cNvPr id="134" name="Text Box 26"/>
          <p:cNvSpPr txBox="1">
            <a:spLocks noChangeAspect="1" noChangeArrowheads="1"/>
          </p:cNvSpPr>
          <p:nvPr/>
        </p:nvSpPr>
        <p:spPr bwMode="auto">
          <a:xfrm>
            <a:off x="9708458" y="42670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p>
        </p:txBody>
      </p:sp>
      <p:sp>
        <p:nvSpPr>
          <p:cNvPr id="135" name="Text Box 27"/>
          <p:cNvSpPr txBox="1">
            <a:spLocks noChangeAspect="1" noChangeArrowheads="1"/>
          </p:cNvSpPr>
          <p:nvPr/>
        </p:nvSpPr>
        <p:spPr bwMode="auto">
          <a:xfrm>
            <a:off x="8724208" y="388763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p>
        </p:txBody>
      </p:sp>
      <p:sp>
        <p:nvSpPr>
          <p:cNvPr id="136" name="Text Box 28"/>
          <p:cNvSpPr txBox="1">
            <a:spLocks noChangeAspect="1" noChangeArrowheads="1"/>
          </p:cNvSpPr>
          <p:nvPr/>
        </p:nvSpPr>
        <p:spPr bwMode="auto">
          <a:xfrm>
            <a:off x="9708458" y="392414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n-lt"/>
                <a:ea typeface="宋体" panose="02010600030101010101" pitchFamily="2" charset="-122"/>
              </a:rPr>
              <a:t>d</a:t>
            </a:r>
          </a:p>
        </p:txBody>
      </p:sp>
      <p:sp>
        <p:nvSpPr>
          <p:cNvPr id="137" name="Line 29"/>
          <p:cNvSpPr>
            <a:spLocks noChangeAspect="1" noChangeShapeType="1"/>
          </p:cNvSpPr>
          <p:nvPr/>
        </p:nvSpPr>
        <p:spPr bwMode="auto">
          <a:xfrm>
            <a:off x="9627496" y="5300511"/>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5276698"/>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5371948"/>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5762473"/>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490839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588629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489569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585772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518779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dirty="0">
                <a:solidFill>
                  <a:srgbClr val="000000"/>
                </a:solidFill>
                <a:latin typeface="" pitchFamily="18" charset="-52"/>
                <a:ea typeface="宋体" panose="02010600030101010101" pitchFamily="2" charset="-122"/>
              </a:rPr>
              <a:t>'</a:t>
            </a:r>
          </a:p>
        </p:txBody>
      </p:sp>
      <p:sp>
        <p:nvSpPr>
          <p:cNvPr id="146" name="Text Box 38"/>
          <p:cNvSpPr txBox="1">
            <a:spLocks noChangeAspect="1" noChangeArrowheads="1"/>
          </p:cNvSpPr>
          <p:nvPr/>
        </p:nvSpPr>
        <p:spPr bwMode="auto">
          <a:xfrm>
            <a:off x="8578158" y="54989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sp>
        <p:nvSpPr>
          <p:cNvPr id="147" name="Text Box 39"/>
          <p:cNvSpPr txBox="1">
            <a:spLocks noChangeAspect="1" noChangeArrowheads="1"/>
          </p:cNvSpPr>
          <p:nvPr/>
        </p:nvSpPr>
        <p:spPr bwMode="auto">
          <a:xfrm>
            <a:off x="9603683" y="51814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d</a:t>
            </a:r>
            <a:r>
              <a:rPr lang="en-US" altLang="zh-CN" b="0" dirty="0">
                <a:solidFill>
                  <a:srgbClr val="000000"/>
                </a:solidFill>
                <a:latin typeface="" pitchFamily="18" charset="-52"/>
                <a:ea typeface="宋体" panose="02010600030101010101" pitchFamily="2" charset="-122"/>
              </a:rPr>
              <a:t>'</a:t>
            </a:r>
          </a:p>
        </p:txBody>
      </p:sp>
      <p:sp>
        <p:nvSpPr>
          <p:cNvPr id="148" name="Text Box 40"/>
          <p:cNvSpPr txBox="1">
            <a:spLocks noChangeAspect="1" noChangeArrowheads="1"/>
          </p:cNvSpPr>
          <p:nvPr/>
        </p:nvSpPr>
        <p:spPr bwMode="auto">
          <a:xfrm>
            <a:off x="9717983" y="55243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r>
              <a:rPr lang="en-US" altLang="zh-CN" b="0" dirty="0">
                <a:solidFill>
                  <a:srgbClr val="000000"/>
                </a:solidFill>
                <a:latin typeface="" pitchFamily="18" charset="-52"/>
                <a:ea typeface="宋体" panose="02010600030101010101" pitchFamily="2" charset="-122"/>
              </a:rPr>
              <a:t>'</a:t>
            </a:r>
          </a:p>
        </p:txBody>
      </p:sp>
      <p:sp>
        <p:nvSpPr>
          <p:cNvPr id="149" name="Arc 41"/>
          <p:cNvSpPr>
            <a:spLocks noChangeAspect="1"/>
          </p:cNvSpPr>
          <p:nvPr/>
        </p:nvSpPr>
        <p:spPr bwMode="auto">
          <a:xfrm rot="4171949" flipH="1" flipV="1">
            <a:off x="8364640" y="519811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518462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10364096" y="525129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10107715" y="5226692"/>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5009998"/>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410353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410353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413528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8001896" y="410194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5" name="Text Box 64"/>
          <p:cNvSpPr txBox="1">
            <a:spLocks noChangeAspect="1" noChangeArrowheads="1"/>
          </p:cNvSpPr>
          <p:nvPr/>
        </p:nvSpPr>
        <p:spPr bwMode="auto">
          <a:xfrm>
            <a:off x="8932171" y="3482823"/>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4073373"/>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pic>
        <p:nvPicPr>
          <p:cNvPr id="2" name="dh6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91231" y="908533"/>
            <a:ext cx="3250353" cy="2437765"/>
          </a:xfrm>
          <a:prstGeom prst="rect">
            <a:avLst/>
          </a:prstGeom>
        </p:spPr>
      </p:pic>
      <p:sp>
        <p:nvSpPr>
          <p:cNvPr id="62" name="Text Box 1032"/>
          <p:cNvSpPr txBox="1">
            <a:spLocks noChangeArrowheads="1"/>
          </p:cNvSpPr>
          <p:nvPr/>
        </p:nvSpPr>
        <p:spPr bwMode="auto">
          <a:xfrm>
            <a:off x="20960" y="3126887"/>
            <a:ext cx="7266366"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zh-CN" altLang="en-US" sz="2800" i="0" dirty="0">
                <a:latin typeface="+mn-lt"/>
                <a:ea typeface="微软雅黑" panose="020B0503020204020204" pitchFamily="34" charset="-122"/>
              </a:rPr>
              <a:t>根据上述现象，可对梁的变形提出如下假设：       </a:t>
            </a:r>
          </a:p>
          <a:p>
            <a:pPr algn="just" eaLnBrk="1" hangingPunct="1">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solidFill>
                  <a:srgbClr val="FF00FF"/>
                </a:solidFill>
                <a:latin typeface="+mn-lt"/>
                <a:ea typeface="微软雅黑" panose="020B0503020204020204" pitchFamily="34" charset="-122"/>
              </a:rPr>
              <a:t>平面假设：</a:t>
            </a:r>
            <a:r>
              <a:rPr kumimoji="1" lang="zh-CN" altLang="en-US" sz="2800" i="0" dirty="0">
                <a:latin typeface="+mn-lt"/>
                <a:ea typeface="微软雅黑" panose="020B0503020204020204" pitchFamily="34" charset="-122"/>
              </a:rPr>
              <a:t>梁弯曲变形时，横截面仍保持平面，且绕某轴转过了一个微小的角度。</a:t>
            </a:r>
          </a:p>
          <a:p>
            <a:pPr algn="just" eaLnBrk="1" hangingPunct="1">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solidFill>
                  <a:srgbClr val="FF00FF"/>
                </a:solidFill>
                <a:latin typeface="+mn-lt"/>
                <a:ea typeface="微软雅黑" panose="020B0503020204020204" pitchFamily="34" charset="-122"/>
              </a:rPr>
              <a:t>单向受力假设：</a:t>
            </a:r>
            <a:r>
              <a:rPr kumimoji="1" lang="zh-CN" altLang="en-US" sz="2800" i="0" dirty="0">
                <a:latin typeface="+mn-lt"/>
                <a:ea typeface="微软雅黑" panose="020B0503020204020204" pitchFamily="34" charset="-122"/>
              </a:rPr>
              <a:t>设梁由无数纵向纤维组成，则这些纤维处于单向受拉或单向受压状态。</a:t>
            </a:r>
          </a:p>
        </p:txBody>
      </p:sp>
    </p:spTree>
    <p:extLst>
      <p:ext uri="{BB962C8B-B14F-4D97-AF65-F5344CB8AC3E}">
        <p14:creationId xmlns:p14="http://schemas.microsoft.com/office/powerpoint/2010/main" val="15857187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1"/>
                                        </p:tgtEl>
                                        <p:attrNameLst>
                                          <p:attrName>style.visibility</p:attrName>
                                        </p:attrNameLst>
                                      </p:cBhvr>
                                      <p:to>
                                        <p:strVal val="visible"/>
                                      </p:to>
                                    </p:set>
                                  </p:childTnLst>
                                </p:cTn>
                              </p:par>
                              <p:par>
                                <p:cTn id="13" presetID="16" presetClass="entr" presetSubtype="37"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barn(outVertical)">
                                      <p:cBhvr>
                                        <p:cTn id="15" dur="3000"/>
                                        <p:tgtEl>
                                          <p:spTgt spid="119"/>
                                        </p:tgtEl>
                                      </p:cBhvr>
                                    </p:animEffect>
                                  </p:childTnLst>
                                  <p:subTnLst>
                                    <p:audio>
                                      <p:cMediaNode>
                                        <p:cTn display="0" masterRel="sameClick">
                                          <p:stCondLst>
                                            <p:cond evt="begin" delay="0">
                                              <p:tn val="13"/>
                                            </p:cond>
                                          </p:stCondLst>
                                          <p:endCondLst>
                                            <p:cond evt="onStopAudio" delay="0">
                                              <p:tgtEl>
                                                <p:sldTgt/>
                                              </p:tgtEl>
                                            </p:cond>
                                          </p:endCondLst>
                                        </p:cTn>
                                        <p:tgtEl>
                                          <p:sndTgt r:embed="rId5" name="CAMERA.WAV"/>
                                        </p:tgtEl>
                                      </p:cMediaNode>
                                    </p:audio>
                                  </p:subTnLst>
                                </p:cTn>
                              </p:par>
                              <p:par>
                                <p:cTn id="16" presetID="16" presetClass="entr" presetSubtype="37" fill="hold" grpId="0" nodeType="with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barn(outVertical)">
                                      <p:cBhvr>
                                        <p:cTn id="18" dur="5000"/>
                                        <p:tgtEl>
                                          <p:spTgt spid="120"/>
                                        </p:tgtEl>
                                      </p:cBhvr>
                                    </p:animEffect>
                                  </p:childTnLst>
                                  <p:subTnLst>
                                    <p:audio>
                                      <p:cMediaNode>
                                        <p:cTn display="0" masterRel="sameClick">
                                          <p:stCondLst>
                                            <p:cond evt="begin" delay="0">
                                              <p:tn val="16"/>
                                            </p:cond>
                                          </p:stCondLst>
                                          <p:endCondLst>
                                            <p:cond evt="onStopAudio" delay="0">
                                              <p:tgtEl>
                                                <p:sldTgt/>
                                              </p:tgtEl>
                                            </p:cond>
                                          </p:endCondLst>
                                        </p:cTn>
                                        <p:tgtEl>
                                          <p:sndTgt r:embed="rId6" name="CHIMES.WAV"/>
                                        </p:tgtEl>
                                      </p:cMediaNode>
                                    </p:audio>
                                  </p:subTnLst>
                                </p:cTn>
                              </p:par>
                              <p:par>
                                <p:cTn id="19" presetID="10" presetClass="entr" presetSubtype="0" fill="hold" nodeType="with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fade">
                                      <p:cBhvr>
                                        <p:cTn id="21" dur="5000"/>
                                        <p:tgtEl>
                                          <p:spTgt spid="125"/>
                                        </p:tgtEl>
                                      </p:cBhvr>
                                    </p:animEffect>
                                  </p:childTnLst>
                                  <p:subTnLst>
                                    <p:audio>
                                      <p:cMediaNode>
                                        <p:cTn display="0" masterRel="sameClick">
                                          <p:stCondLst>
                                            <p:cond evt="begin" delay="0">
                                              <p:tn val="19"/>
                                            </p:cond>
                                          </p:stCondLst>
                                          <p:endCondLst>
                                            <p:cond evt="onStopAudio" delay="0">
                                              <p:tgtEl>
                                                <p:sldTgt/>
                                              </p:tgtEl>
                                            </p:cond>
                                          </p:endCondLst>
                                        </p:cTn>
                                        <p:tgtEl>
                                          <p:sndTgt r:embed="rId5"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barn(outHorizontal)">
                                      <p:cBhvr>
                                        <p:cTn id="26" dur="5000"/>
                                        <p:tgtEl>
                                          <p:spTgt spid="122"/>
                                        </p:tgtEl>
                                      </p:cBhvr>
                                    </p:animEffect>
                                  </p:childTnLst>
                                  <p:subTnLst>
                                    <p:audio>
                                      <p:cMediaNode>
                                        <p:cTn display="0" masterRel="sameClick">
                                          <p:stCondLst>
                                            <p:cond evt="begin" delay="0">
                                              <p:tn val="24"/>
                                            </p:cond>
                                          </p:stCondLst>
                                          <p:endCondLst>
                                            <p:cond evt="onStopAudio" delay="0">
                                              <p:tgtEl>
                                                <p:sldTgt/>
                                              </p:tgtEl>
                                            </p:cond>
                                          </p:endCondLst>
                                        </p:cTn>
                                        <p:tgtEl>
                                          <p:sndTgt r:embed="rId6" name="CHIMES.WAV"/>
                                        </p:tgtEl>
                                      </p:cMediaNode>
                                    </p:audio>
                                  </p:subTnLst>
                                </p:cTn>
                              </p:par>
                              <p:par>
                                <p:cTn id="27" presetID="19" presetClass="entr" presetSubtype="10"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anim calcmode="lin" valueType="num">
                                      <p:cBhvr>
                                        <p:cTn id="29" dur="5000" fill="hold"/>
                                        <p:tgtEl>
                                          <p:spTgt spid="165"/>
                                        </p:tgtEl>
                                        <p:attrNameLst>
                                          <p:attrName>ppt_w</p:attrName>
                                        </p:attrNameLst>
                                      </p:cBhvr>
                                      <p:tavLst>
                                        <p:tav tm="0" fmla="#ppt_w*sin(2.5*pi*$)">
                                          <p:val>
                                            <p:fltVal val="0"/>
                                          </p:val>
                                        </p:tav>
                                        <p:tav tm="100000">
                                          <p:val>
                                            <p:fltVal val="1"/>
                                          </p:val>
                                        </p:tav>
                                      </p:tavLst>
                                    </p:anim>
                                    <p:anim calcmode="lin" valueType="num">
                                      <p:cBhvr>
                                        <p:cTn id="30"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6" name="CHIMES.WAV"/>
                                        </p:tgtEl>
                                      </p:cMediaNode>
                                    </p:audio>
                                  </p:subTnLst>
                                </p:cTn>
                              </p:par>
                              <p:par>
                                <p:cTn id="31" presetID="16" presetClass="entr" presetSubtype="42"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barn(outHorizontal)">
                                      <p:cBhvr>
                                        <p:cTn id="33" dur="5000"/>
                                        <p:tgtEl>
                                          <p:spTgt spid="121"/>
                                        </p:tgtEl>
                                      </p:cBhvr>
                                    </p:animEffect>
                                  </p:childTnLst>
                                  <p:subTnLst>
                                    <p:audio>
                                      <p:cMediaNode>
                                        <p:cTn display="0" masterRel="sameClick">
                                          <p:stCondLst>
                                            <p:cond evt="begin" delay="0">
                                              <p:tn val="31"/>
                                            </p:cond>
                                          </p:stCondLst>
                                          <p:endCondLst>
                                            <p:cond evt="onStopAudio" delay="0">
                                              <p:tgtEl>
                                                <p:sldTgt/>
                                              </p:tgtEl>
                                            </p:cond>
                                          </p:endCondLst>
                                        </p:cTn>
                                        <p:tgtEl>
                                          <p:sndTgt r:embed="rId6" name="CHIMES.WAV"/>
                                        </p:tgtEl>
                                      </p:cMediaNode>
                                    </p:audio>
                                  </p:subTnLst>
                                </p:cTn>
                              </p:par>
                            </p:childTnLst>
                          </p:cTn>
                        </p:par>
                        <p:par>
                          <p:cTn id="34" fill="hold">
                            <p:stCondLst>
                              <p:cond delay="5000"/>
                            </p:stCondLst>
                            <p:childTnLst>
                              <p:par>
                                <p:cTn id="35" presetID="17" presetClass="entr" presetSubtype="10" fill="hold" grpId="0" nodeType="afterEffect">
                                  <p:stCondLst>
                                    <p:cond delay="300"/>
                                  </p:stCondLst>
                                  <p:childTnLst>
                                    <p:set>
                                      <p:cBhvr>
                                        <p:cTn id="36" dur="1" fill="hold">
                                          <p:stCondLst>
                                            <p:cond delay="0"/>
                                          </p:stCondLst>
                                        </p:cTn>
                                        <p:tgtEl>
                                          <p:spTgt spid="129"/>
                                        </p:tgtEl>
                                        <p:attrNameLst>
                                          <p:attrName>style.visibility</p:attrName>
                                        </p:attrNameLst>
                                      </p:cBhvr>
                                      <p:to>
                                        <p:strVal val="visible"/>
                                      </p:to>
                                    </p:set>
                                    <p:anim calcmode="lin" valueType="num">
                                      <p:cBhvr>
                                        <p:cTn id="37" dur="2000" fill="hold"/>
                                        <p:tgtEl>
                                          <p:spTgt spid="129"/>
                                        </p:tgtEl>
                                        <p:attrNameLst>
                                          <p:attrName>ppt_w</p:attrName>
                                        </p:attrNameLst>
                                      </p:cBhvr>
                                      <p:tavLst>
                                        <p:tav tm="0">
                                          <p:val>
                                            <p:fltVal val="0"/>
                                          </p:val>
                                        </p:tav>
                                        <p:tav tm="100000">
                                          <p:val>
                                            <p:strVal val="#ppt_w"/>
                                          </p:val>
                                        </p:tav>
                                      </p:tavLst>
                                    </p:anim>
                                    <p:anim calcmode="lin" valueType="num">
                                      <p:cBhvr>
                                        <p:cTn id="38"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par>
                                <p:cTn id="39" presetID="17" presetClass="entr" presetSubtype="10" fill="hold" grpId="0" nodeType="withEffect">
                                  <p:stCondLst>
                                    <p:cond delay="300"/>
                                  </p:stCondLst>
                                  <p:childTnLst>
                                    <p:set>
                                      <p:cBhvr>
                                        <p:cTn id="40" dur="1" fill="hold">
                                          <p:stCondLst>
                                            <p:cond delay="0"/>
                                          </p:stCondLst>
                                        </p:cTn>
                                        <p:tgtEl>
                                          <p:spTgt spid="130"/>
                                        </p:tgtEl>
                                        <p:attrNameLst>
                                          <p:attrName>style.visibility</p:attrName>
                                        </p:attrNameLst>
                                      </p:cBhvr>
                                      <p:to>
                                        <p:strVal val="visible"/>
                                      </p:to>
                                    </p:set>
                                    <p:anim calcmode="lin" valueType="num">
                                      <p:cBhvr>
                                        <p:cTn id="41" dur="2000" fill="hold"/>
                                        <p:tgtEl>
                                          <p:spTgt spid="130"/>
                                        </p:tgtEl>
                                        <p:attrNameLst>
                                          <p:attrName>ppt_w</p:attrName>
                                        </p:attrNameLst>
                                      </p:cBhvr>
                                      <p:tavLst>
                                        <p:tav tm="0">
                                          <p:val>
                                            <p:fltVal val="0"/>
                                          </p:val>
                                        </p:tav>
                                        <p:tav tm="100000">
                                          <p:val>
                                            <p:strVal val="#ppt_w"/>
                                          </p:val>
                                        </p:tav>
                                      </p:tavLst>
                                    </p:anim>
                                    <p:anim calcmode="lin" valueType="num">
                                      <p:cBhvr>
                                        <p:cTn id="42"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6" name="CHIMES.WAV"/>
                                        </p:tgtEl>
                                      </p:cMediaNode>
                                    </p:audio>
                                  </p:subTnLst>
                                </p:cTn>
                              </p:par>
                              <p:par>
                                <p:cTn id="43" presetID="17" presetClass="entr" presetSubtype="10" fill="hold" grpId="0" nodeType="withEffect">
                                  <p:stCondLst>
                                    <p:cond delay="300"/>
                                  </p:stCondLst>
                                  <p:childTnLst>
                                    <p:set>
                                      <p:cBhvr>
                                        <p:cTn id="44" dur="1" fill="hold">
                                          <p:stCondLst>
                                            <p:cond delay="0"/>
                                          </p:stCondLst>
                                        </p:cTn>
                                        <p:tgtEl>
                                          <p:spTgt spid="131"/>
                                        </p:tgtEl>
                                        <p:attrNameLst>
                                          <p:attrName>style.visibility</p:attrName>
                                        </p:attrNameLst>
                                      </p:cBhvr>
                                      <p:to>
                                        <p:strVal val="visible"/>
                                      </p:to>
                                    </p:set>
                                    <p:anim calcmode="lin" valueType="num">
                                      <p:cBhvr>
                                        <p:cTn id="45" dur="2000" fill="hold"/>
                                        <p:tgtEl>
                                          <p:spTgt spid="131"/>
                                        </p:tgtEl>
                                        <p:attrNameLst>
                                          <p:attrName>ppt_w</p:attrName>
                                        </p:attrNameLst>
                                      </p:cBhvr>
                                      <p:tavLst>
                                        <p:tav tm="0">
                                          <p:val>
                                            <p:fltVal val="0"/>
                                          </p:val>
                                        </p:tav>
                                        <p:tav tm="100000">
                                          <p:val>
                                            <p:strVal val="#ppt_w"/>
                                          </p:val>
                                        </p:tav>
                                      </p:tavLst>
                                    </p:anim>
                                    <p:anim calcmode="lin" valueType="num">
                                      <p:cBhvr>
                                        <p:cTn id="46"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6" name="CHIMES.WAV"/>
                                        </p:tgtEl>
                                      </p:cMediaNode>
                                    </p:audio>
                                  </p:subTnLst>
                                </p:cTn>
                              </p:par>
                              <p:par>
                                <p:cTn id="47" presetID="17" presetClass="entr" presetSubtype="10" fill="hold" grpId="0" nodeType="withEffect">
                                  <p:stCondLst>
                                    <p:cond delay="300"/>
                                  </p:stCondLst>
                                  <p:childTnLst>
                                    <p:set>
                                      <p:cBhvr>
                                        <p:cTn id="48" dur="1" fill="hold">
                                          <p:stCondLst>
                                            <p:cond delay="0"/>
                                          </p:stCondLst>
                                        </p:cTn>
                                        <p:tgtEl>
                                          <p:spTgt spid="132"/>
                                        </p:tgtEl>
                                        <p:attrNameLst>
                                          <p:attrName>style.visibility</p:attrName>
                                        </p:attrNameLst>
                                      </p:cBhvr>
                                      <p:to>
                                        <p:strVal val="visible"/>
                                      </p:to>
                                    </p:set>
                                    <p:anim calcmode="lin" valueType="num">
                                      <p:cBhvr>
                                        <p:cTn id="49" dur="2000" fill="hold"/>
                                        <p:tgtEl>
                                          <p:spTgt spid="132"/>
                                        </p:tgtEl>
                                        <p:attrNameLst>
                                          <p:attrName>ppt_w</p:attrName>
                                        </p:attrNameLst>
                                      </p:cBhvr>
                                      <p:tavLst>
                                        <p:tav tm="0">
                                          <p:val>
                                            <p:fltVal val="0"/>
                                          </p:val>
                                        </p:tav>
                                        <p:tav tm="100000">
                                          <p:val>
                                            <p:strVal val="#ppt_w"/>
                                          </p:val>
                                        </p:tav>
                                      </p:tavLst>
                                    </p:anim>
                                    <p:anim calcmode="lin" valueType="num">
                                      <p:cBhvr>
                                        <p:cTn id="50"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6" name="CHIMES.WAV"/>
                                        </p:tgtEl>
                                      </p:cMediaNode>
                                    </p:audio>
                                  </p:subTnLst>
                                </p:cTn>
                              </p:par>
                            </p:childTnLst>
                          </p:cTn>
                        </p:par>
                      </p:childTnLst>
                    </p:cTn>
                  </p:par>
                  <p:par>
                    <p:cTn id="51" fill="hold">
                      <p:stCondLst>
                        <p:cond delay="indefinite"/>
                      </p:stCondLst>
                      <p:childTnLst>
                        <p:par>
                          <p:cTn id="52" fill="hold">
                            <p:stCondLst>
                              <p:cond delay="0"/>
                            </p:stCondLst>
                            <p:childTnLst>
                              <p:par>
                                <p:cTn id="53" presetID="16" presetClass="entr" presetSubtype="37" fill="hold" grpId="0" nodeType="clickEffect">
                                  <p:stCondLst>
                                    <p:cond delay="0"/>
                                  </p:stCondLst>
                                  <p:childTnLst>
                                    <p:set>
                                      <p:cBhvr>
                                        <p:cTn id="54" dur="1" fill="hold">
                                          <p:stCondLst>
                                            <p:cond delay="0"/>
                                          </p:stCondLst>
                                        </p:cTn>
                                        <p:tgtEl>
                                          <p:spTgt spid="124"/>
                                        </p:tgtEl>
                                        <p:attrNameLst>
                                          <p:attrName>style.visibility</p:attrName>
                                        </p:attrNameLst>
                                      </p:cBhvr>
                                      <p:to>
                                        <p:strVal val="visible"/>
                                      </p:to>
                                    </p:set>
                                    <p:animEffect transition="in" filter="barn(outVertical)">
                                      <p:cBhvr>
                                        <p:cTn id="55" dur="5000"/>
                                        <p:tgtEl>
                                          <p:spTgt spid="124"/>
                                        </p:tgtEl>
                                      </p:cBhvr>
                                    </p:animEffect>
                                  </p:childTnLst>
                                  <p:subTnLst>
                                    <p:audio>
                                      <p:cMediaNode>
                                        <p:cTn display="0" masterRel="sameClick">
                                          <p:stCondLst>
                                            <p:cond evt="begin" delay="0">
                                              <p:tn val="53"/>
                                            </p:cond>
                                          </p:stCondLst>
                                          <p:endCondLst>
                                            <p:cond evt="onStopAudio" delay="0">
                                              <p:tgtEl>
                                                <p:sldTgt/>
                                              </p:tgtEl>
                                            </p:cond>
                                          </p:endCondLst>
                                        </p:cTn>
                                        <p:tgtEl>
                                          <p:sndTgt r:embed="rId6"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66"/>
                                        </p:tgtEl>
                                        <p:attrNameLst>
                                          <p:attrName>style.visibility</p:attrName>
                                        </p:attrNameLst>
                                      </p:cBhvr>
                                      <p:to>
                                        <p:strVal val="visible"/>
                                      </p:to>
                                    </p:set>
                                    <p:anim calcmode="lin" valueType="num">
                                      <p:cBhvr>
                                        <p:cTn id="58" dur="5000" fill="hold"/>
                                        <p:tgtEl>
                                          <p:spTgt spid="166"/>
                                        </p:tgtEl>
                                        <p:attrNameLst>
                                          <p:attrName>ppt_w</p:attrName>
                                        </p:attrNameLst>
                                      </p:cBhvr>
                                      <p:tavLst>
                                        <p:tav tm="0" fmla="#ppt_w*sin(2.5*pi*$)">
                                          <p:val>
                                            <p:fltVal val="0"/>
                                          </p:val>
                                        </p:tav>
                                        <p:tav tm="100000">
                                          <p:val>
                                            <p:fltVal val="1"/>
                                          </p:val>
                                        </p:tav>
                                      </p:tavLst>
                                    </p:anim>
                                    <p:anim calcmode="lin" valueType="num">
                                      <p:cBhvr>
                                        <p:cTn id="59"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6" name="CHIMES.WAV"/>
                                        </p:tgtEl>
                                      </p:cMediaNode>
                                    </p:audio>
                                  </p:subTnLst>
                                </p:cTn>
                              </p:par>
                              <p:par>
                                <p:cTn id="60" presetID="16" presetClass="entr" presetSubtype="37" fill="hold" grpId="0" nodeType="withEffect">
                                  <p:stCondLst>
                                    <p:cond delay="0"/>
                                  </p:stCondLst>
                                  <p:childTnLst>
                                    <p:set>
                                      <p:cBhvr>
                                        <p:cTn id="61" dur="1" fill="hold">
                                          <p:stCondLst>
                                            <p:cond delay="0"/>
                                          </p:stCondLst>
                                        </p:cTn>
                                        <p:tgtEl>
                                          <p:spTgt spid="123"/>
                                        </p:tgtEl>
                                        <p:attrNameLst>
                                          <p:attrName>style.visibility</p:attrName>
                                        </p:attrNameLst>
                                      </p:cBhvr>
                                      <p:to>
                                        <p:strVal val="visible"/>
                                      </p:to>
                                    </p:set>
                                    <p:animEffect transition="in" filter="barn(outVertical)">
                                      <p:cBhvr>
                                        <p:cTn id="62" dur="5000"/>
                                        <p:tgtEl>
                                          <p:spTgt spid="123"/>
                                        </p:tgtEl>
                                      </p:cBhvr>
                                    </p:animEffect>
                                  </p:childTnLst>
                                  <p:subTnLst>
                                    <p:audio>
                                      <p:cMediaNode>
                                        <p:cTn display="0" masterRel="sameClick">
                                          <p:stCondLst>
                                            <p:cond evt="begin" delay="0">
                                              <p:tn val="60"/>
                                            </p:cond>
                                          </p:stCondLst>
                                          <p:endCondLst>
                                            <p:cond evt="onStopAudio" delay="0">
                                              <p:tgtEl>
                                                <p:sldTgt/>
                                              </p:tgtEl>
                                            </p:cond>
                                          </p:endCondLst>
                                        </p:cTn>
                                        <p:tgtEl>
                                          <p:sndTgt r:embed="rId6" name="CHIMES.WAV"/>
                                        </p:tgtEl>
                                      </p:cMediaNode>
                                    </p:audio>
                                  </p:subTnLst>
                                </p:cTn>
                              </p:par>
                            </p:childTnLst>
                          </p:cTn>
                        </p:par>
                        <p:par>
                          <p:cTn id="63" fill="hold">
                            <p:stCondLst>
                              <p:cond delay="5000"/>
                            </p:stCondLst>
                            <p:childTnLst>
                              <p:par>
                                <p:cTn id="64" presetID="17" presetClass="entr" presetSubtype="10" fill="hold" grpId="0" nodeType="afterEffect">
                                  <p:stCondLst>
                                    <p:cond delay="300"/>
                                  </p:stCondLst>
                                  <p:childTnLst>
                                    <p:set>
                                      <p:cBhvr>
                                        <p:cTn id="65" dur="1" fill="hold">
                                          <p:stCondLst>
                                            <p:cond delay="0"/>
                                          </p:stCondLst>
                                        </p:cTn>
                                        <p:tgtEl>
                                          <p:spTgt spid="133"/>
                                        </p:tgtEl>
                                        <p:attrNameLst>
                                          <p:attrName>style.visibility</p:attrName>
                                        </p:attrNameLst>
                                      </p:cBhvr>
                                      <p:to>
                                        <p:strVal val="visible"/>
                                      </p:to>
                                    </p:set>
                                    <p:anim calcmode="lin" valueType="num">
                                      <p:cBhvr>
                                        <p:cTn id="66" dur="2000" fill="hold"/>
                                        <p:tgtEl>
                                          <p:spTgt spid="133"/>
                                        </p:tgtEl>
                                        <p:attrNameLst>
                                          <p:attrName>ppt_w</p:attrName>
                                        </p:attrNameLst>
                                      </p:cBhvr>
                                      <p:tavLst>
                                        <p:tav tm="0">
                                          <p:val>
                                            <p:fltVal val="0"/>
                                          </p:val>
                                        </p:tav>
                                        <p:tav tm="100000">
                                          <p:val>
                                            <p:strVal val="#ppt_w"/>
                                          </p:val>
                                        </p:tav>
                                      </p:tavLst>
                                    </p:anim>
                                    <p:anim calcmode="lin" valueType="num">
                                      <p:cBhvr>
                                        <p:cTn id="67"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6" name="CHIMES.WAV"/>
                                        </p:tgtEl>
                                      </p:cMediaNode>
                                    </p:audio>
                                  </p:subTnLst>
                                </p:cTn>
                              </p:par>
                              <p:par>
                                <p:cTn id="68" presetID="17" presetClass="entr" presetSubtype="10" fill="hold" grpId="0" nodeType="withEffect">
                                  <p:stCondLst>
                                    <p:cond delay="300"/>
                                  </p:stCondLst>
                                  <p:childTnLst>
                                    <p:set>
                                      <p:cBhvr>
                                        <p:cTn id="69" dur="1" fill="hold">
                                          <p:stCondLst>
                                            <p:cond delay="0"/>
                                          </p:stCondLst>
                                        </p:cTn>
                                        <p:tgtEl>
                                          <p:spTgt spid="134"/>
                                        </p:tgtEl>
                                        <p:attrNameLst>
                                          <p:attrName>style.visibility</p:attrName>
                                        </p:attrNameLst>
                                      </p:cBhvr>
                                      <p:to>
                                        <p:strVal val="visible"/>
                                      </p:to>
                                    </p:set>
                                    <p:anim calcmode="lin" valueType="num">
                                      <p:cBhvr>
                                        <p:cTn id="70" dur="2000" fill="hold"/>
                                        <p:tgtEl>
                                          <p:spTgt spid="134"/>
                                        </p:tgtEl>
                                        <p:attrNameLst>
                                          <p:attrName>ppt_w</p:attrName>
                                        </p:attrNameLst>
                                      </p:cBhvr>
                                      <p:tavLst>
                                        <p:tav tm="0">
                                          <p:val>
                                            <p:fltVal val="0"/>
                                          </p:val>
                                        </p:tav>
                                        <p:tav tm="100000">
                                          <p:val>
                                            <p:strVal val="#ppt_w"/>
                                          </p:val>
                                        </p:tav>
                                      </p:tavLst>
                                    </p:anim>
                                    <p:anim calcmode="lin" valueType="num">
                                      <p:cBhvr>
                                        <p:cTn id="71"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6" name="CHIMES.WAV"/>
                                        </p:tgtEl>
                                      </p:cMediaNode>
                                    </p:audio>
                                  </p:subTnLst>
                                </p:cTn>
                              </p:par>
                              <p:par>
                                <p:cTn id="72" presetID="17" presetClass="entr" presetSubtype="10" fill="hold" grpId="0" nodeType="withEffect">
                                  <p:stCondLst>
                                    <p:cond delay="300"/>
                                  </p:stCondLst>
                                  <p:childTnLst>
                                    <p:set>
                                      <p:cBhvr>
                                        <p:cTn id="73" dur="1" fill="hold">
                                          <p:stCondLst>
                                            <p:cond delay="0"/>
                                          </p:stCondLst>
                                        </p:cTn>
                                        <p:tgtEl>
                                          <p:spTgt spid="135"/>
                                        </p:tgtEl>
                                        <p:attrNameLst>
                                          <p:attrName>style.visibility</p:attrName>
                                        </p:attrNameLst>
                                      </p:cBhvr>
                                      <p:to>
                                        <p:strVal val="visible"/>
                                      </p:to>
                                    </p:set>
                                    <p:anim calcmode="lin" valueType="num">
                                      <p:cBhvr>
                                        <p:cTn id="74" dur="2000" fill="hold"/>
                                        <p:tgtEl>
                                          <p:spTgt spid="135"/>
                                        </p:tgtEl>
                                        <p:attrNameLst>
                                          <p:attrName>ppt_w</p:attrName>
                                        </p:attrNameLst>
                                      </p:cBhvr>
                                      <p:tavLst>
                                        <p:tav tm="0">
                                          <p:val>
                                            <p:fltVal val="0"/>
                                          </p:val>
                                        </p:tav>
                                        <p:tav tm="100000">
                                          <p:val>
                                            <p:strVal val="#ppt_w"/>
                                          </p:val>
                                        </p:tav>
                                      </p:tavLst>
                                    </p:anim>
                                    <p:anim calcmode="lin" valueType="num">
                                      <p:cBhvr>
                                        <p:cTn id="75"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6" name="CHIMES.WAV"/>
                                        </p:tgtEl>
                                      </p:cMediaNode>
                                    </p:audio>
                                  </p:subTnLst>
                                </p:cTn>
                              </p:par>
                              <p:par>
                                <p:cTn id="76" presetID="17" presetClass="entr" presetSubtype="10" fill="hold" grpId="0" nodeType="withEffect">
                                  <p:stCondLst>
                                    <p:cond delay="300"/>
                                  </p:stCondLst>
                                  <p:childTnLst>
                                    <p:set>
                                      <p:cBhvr>
                                        <p:cTn id="77" dur="1" fill="hold">
                                          <p:stCondLst>
                                            <p:cond delay="0"/>
                                          </p:stCondLst>
                                        </p:cTn>
                                        <p:tgtEl>
                                          <p:spTgt spid="136"/>
                                        </p:tgtEl>
                                        <p:attrNameLst>
                                          <p:attrName>style.visibility</p:attrName>
                                        </p:attrNameLst>
                                      </p:cBhvr>
                                      <p:to>
                                        <p:strVal val="visible"/>
                                      </p:to>
                                    </p:set>
                                    <p:anim calcmode="lin" valueType="num">
                                      <p:cBhvr>
                                        <p:cTn id="78" dur="2000" fill="hold"/>
                                        <p:tgtEl>
                                          <p:spTgt spid="136"/>
                                        </p:tgtEl>
                                        <p:attrNameLst>
                                          <p:attrName>ppt_w</p:attrName>
                                        </p:attrNameLst>
                                      </p:cBhvr>
                                      <p:tavLst>
                                        <p:tav tm="0">
                                          <p:val>
                                            <p:fltVal val="0"/>
                                          </p:val>
                                        </p:tav>
                                        <p:tav tm="100000">
                                          <p:val>
                                            <p:strVal val="#ppt_w"/>
                                          </p:val>
                                        </p:tav>
                                      </p:tavLst>
                                    </p:anim>
                                    <p:anim calcmode="lin" valueType="num">
                                      <p:cBhvr>
                                        <p:cTn id="79"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6" name="CHIMES.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61"/>
                                        </p:tgtEl>
                                        <p:attrNameLst>
                                          <p:attrName>style.visibility</p:attrName>
                                        </p:attrNameLst>
                                      </p:cBhvr>
                                      <p:to>
                                        <p:strVal val="visible"/>
                                      </p:to>
                                    </p:set>
                                    <p:animEffect transition="in" filter="wipe(down)">
                                      <p:cBhvr>
                                        <p:cTn id="84" dur="5000"/>
                                        <p:tgtEl>
                                          <p:spTgt spid="161"/>
                                        </p:tgtEl>
                                      </p:cBhvr>
                                    </p:animEffect>
                                  </p:childTnLst>
                                  <p:subTnLst>
                                    <p:audio>
                                      <p:cMediaNode>
                                        <p:cTn display="0" masterRel="sameClick">
                                          <p:stCondLst>
                                            <p:cond evt="begin" delay="0">
                                              <p:tn val="82"/>
                                            </p:cond>
                                          </p:stCondLst>
                                          <p:endCondLst>
                                            <p:cond evt="onStopAudio" delay="0">
                                              <p:tgtEl>
                                                <p:sldTgt/>
                                              </p:tgtEl>
                                            </p:cond>
                                          </p:endCondLst>
                                        </p:cTn>
                                        <p:tgtEl>
                                          <p:sndTgt r:embed="rId5" name="CAMERA.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wipe(down)">
                                      <p:cBhvr>
                                        <p:cTn id="87" dur="5000"/>
                                        <p:tgtEl>
                                          <p:spTgt spid="162"/>
                                        </p:tgtEl>
                                      </p:cBhvr>
                                    </p:animEffect>
                                  </p:childTnLst>
                                  <p:subTnLst>
                                    <p:audio>
                                      <p:cMediaNode>
                                        <p:cTn display="0" masterRel="sameClick">
                                          <p:stCondLst>
                                            <p:cond evt="begin" delay="0">
                                              <p:tn val="85"/>
                                            </p:cond>
                                          </p:stCondLst>
                                          <p:endCondLst>
                                            <p:cond evt="onStopAudio" delay="0">
                                              <p:tgtEl>
                                                <p:sldTgt/>
                                              </p:tgtEl>
                                            </p:cond>
                                          </p:endCondLst>
                                        </p:cTn>
                                        <p:tgtEl>
                                          <p:sndTgt r:embed="rId5" name="CAMERA.WAV"/>
                                        </p:tgtEl>
                                      </p:cMediaNode>
                                    </p:audio>
                                  </p:subTnLst>
                                </p:cTn>
                              </p:par>
                              <p:par>
                                <p:cTn id="88" presetID="19" presetClass="entr" presetSubtype="10" fill="hold" grpId="0" nodeType="withEffect">
                                  <p:stCondLst>
                                    <p:cond delay="0"/>
                                  </p:stCondLst>
                                  <p:childTnLst>
                                    <p:set>
                                      <p:cBhvr>
                                        <p:cTn id="89" dur="1" fill="hold">
                                          <p:stCondLst>
                                            <p:cond delay="0"/>
                                          </p:stCondLst>
                                        </p:cTn>
                                        <p:tgtEl>
                                          <p:spTgt spid="163"/>
                                        </p:tgtEl>
                                        <p:attrNameLst>
                                          <p:attrName>style.visibility</p:attrName>
                                        </p:attrNameLst>
                                      </p:cBhvr>
                                      <p:to>
                                        <p:strVal val="visible"/>
                                      </p:to>
                                    </p:set>
                                    <p:anim calcmode="lin" valueType="num">
                                      <p:cBhvr>
                                        <p:cTn id="90" dur="5000" fill="hold"/>
                                        <p:tgtEl>
                                          <p:spTgt spid="163"/>
                                        </p:tgtEl>
                                        <p:attrNameLst>
                                          <p:attrName>ppt_w</p:attrName>
                                        </p:attrNameLst>
                                      </p:cBhvr>
                                      <p:tavLst>
                                        <p:tav tm="0" fmla="#ppt_w*sin(2.5*pi*$)">
                                          <p:val>
                                            <p:fltVal val="0"/>
                                          </p:val>
                                        </p:tav>
                                        <p:tav tm="100000">
                                          <p:val>
                                            <p:fltVal val="1"/>
                                          </p:val>
                                        </p:tav>
                                      </p:tavLst>
                                    </p:anim>
                                    <p:anim calcmode="lin" valueType="num">
                                      <p:cBhvr>
                                        <p:cTn id="91"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5" name="CAMERA.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64"/>
                                        </p:tgtEl>
                                        <p:attrNameLst>
                                          <p:attrName>style.visibility</p:attrName>
                                        </p:attrNameLst>
                                      </p:cBhvr>
                                      <p:to>
                                        <p:strVal val="visible"/>
                                      </p:to>
                                    </p:set>
                                    <p:anim calcmode="lin" valueType="num">
                                      <p:cBhvr>
                                        <p:cTn id="94" dur="5000" fill="hold"/>
                                        <p:tgtEl>
                                          <p:spTgt spid="164"/>
                                        </p:tgtEl>
                                        <p:attrNameLst>
                                          <p:attrName>ppt_w</p:attrName>
                                        </p:attrNameLst>
                                      </p:cBhvr>
                                      <p:tavLst>
                                        <p:tav tm="0" fmla="#ppt_w*sin(2.5*pi*$)">
                                          <p:val>
                                            <p:fltVal val="0"/>
                                          </p:val>
                                        </p:tav>
                                        <p:tav tm="100000">
                                          <p:val>
                                            <p:fltVal val="1"/>
                                          </p:val>
                                        </p:tav>
                                      </p:tavLst>
                                    </p:anim>
                                    <p:anim calcmode="lin" valueType="num">
                                      <p:cBhvr>
                                        <p:cTn id="95"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5" name="CAMERA.WAV"/>
                                        </p:tgtEl>
                                      </p:cMediaNode>
                                    </p:audio>
                                  </p:subTnLst>
                                </p:cTn>
                              </p:par>
                            </p:childTnLst>
                          </p:cTn>
                        </p:par>
                        <p:par>
                          <p:cTn id="96" fill="hold">
                            <p:stCondLst>
                              <p:cond delay="5000"/>
                            </p:stCondLst>
                            <p:childTnLst>
                              <p:par>
                                <p:cTn id="97" presetID="17" presetClass="entr" presetSubtype="1" fill="hold" nodeType="afterEffect">
                                  <p:stCondLst>
                                    <p:cond delay="0"/>
                                  </p:stCondLst>
                                  <p:childTnLst>
                                    <p:set>
                                      <p:cBhvr>
                                        <p:cTn id="98" dur="1" fill="hold">
                                          <p:stCondLst>
                                            <p:cond delay="0"/>
                                          </p:stCondLst>
                                        </p:cTn>
                                        <p:tgtEl>
                                          <p:spTgt spid="112"/>
                                        </p:tgtEl>
                                        <p:attrNameLst>
                                          <p:attrName>style.visibility</p:attrName>
                                        </p:attrNameLst>
                                      </p:cBhvr>
                                      <p:to>
                                        <p:strVal val="visible"/>
                                      </p:to>
                                    </p:set>
                                    <p:anim calcmode="lin" valueType="num">
                                      <p:cBhvr>
                                        <p:cTn id="99" dur="500" fill="hold"/>
                                        <p:tgtEl>
                                          <p:spTgt spid="112"/>
                                        </p:tgtEl>
                                        <p:attrNameLst>
                                          <p:attrName>ppt_x</p:attrName>
                                        </p:attrNameLst>
                                      </p:cBhvr>
                                      <p:tavLst>
                                        <p:tav tm="0">
                                          <p:val>
                                            <p:strVal val="#ppt_x"/>
                                          </p:val>
                                        </p:tav>
                                        <p:tav tm="100000">
                                          <p:val>
                                            <p:strVal val="#ppt_x"/>
                                          </p:val>
                                        </p:tav>
                                      </p:tavLst>
                                    </p:anim>
                                    <p:anim calcmode="lin" valueType="num">
                                      <p:cBhvr>
                                        <p:cTn id="100" dur="500" fill="hold"/>
                                        <p:tgtEl>
                                          <p:spTgt spid="112"/>
                                        </p:tgtEl>
                                        <p:attrNameLst>
                                          <p:attrName>ppt_y</p:attrName>
                                        </p:attrNameLst>
                                      </p:cBhvr>
                                      <p:tavLst>
                                        <p:tav tm="0">
                                          <p:val>
                                            <p:strVal val="#ppt_y-#ppt_h/2"/>
                                          </p:val>
                                        </p:tav>
                                        <p:tav tm="100000">
                                          <p:val>
                                            <p:strVal val="#ppt_y"/>
                                          </p:val>
                                        </p:tav>
                                      </p:tavLst>
                                    </p:anim>
                                    <p:anim calcmode="lin" valueType="num">
                                      <p:cBhvr>
                                        <p:cTn id="101" dur="500" fill="hold"/>
                                        <p:tgtEl>
                                          <p:spTgt spid="112"/>
                                        </p:tgtEl>
                                        <p:attrNameLst>
                                          <p:attrName>ppt_w</p:attrName>
                                        </p:attrNameLst>
                                      </p:cBhvr>
                                      <p:tavLst>
                                        <p:tav tm="0">
                                          <p:val>
                                            <p:strVal val="#ppt_w"/>
                                          </p:val>
                                        </p:tav>
                                        <p:tav tm="100000">
                                          <p:val>
                                            <p:strVal val="#ppt_w"/>
                                          </p:val>
                                        </p:tav>
                                      </p:tavLst>
                                    </p:anim>
                                    <p:anim calcmode="lin" valueType="num">
                                      <p:cBhvr>
                                        <p:cTn id="102"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5" name="CAMERA.WAV"/>
                                        </p:tgtEl>
                                      </p:cMediaNode>
                                    </p:audio>
                                  </p:subTnLst>
                                </p:cTn>
                              </p:par>
                              <p:par>
                                <p:cTn id="103" presetID="10" presetClass="entr" presetSubtype="0" fill="hold" nodeType="withEffect">
                                  <p:stCondLst>
                                    <p:cond delay="0"/>
                                  </p:stCondLst>
                                  <p:childTnLst>
                                    <p:set>
                                      <p:cBhvr>
                                        <p:cTn id="104" dur="1" fill="hold">
                                          <p:stCondLst>
                                            <p:cond delay="0"/>
                                          </p:stCondLst>
                                        </p:cTn>
                                        <p:tgtEl>
                                          <p:spTgt spid="153"/>
                                        </p:tgtEl>
                                        <p:attrNameLst>
                                          <p:attrName>style.visibility</p:attrName>
                                        </p:attrNameLst>
                                      </p:cBhvr>
                                      <p:to>
                                        <p:strVal val="visible"/>
                                      </p:to>
                                    </p:set>
                                    <p:animEffect transition="in" filter="fade">
                                      <p:cBhvr>
                                        <p:cTn id="105" dur="2000"/>
                                        <p:tgtEl>
                                          <p:spTgt spid="153"/>
                                        </p:tgtEl>
                                      </p:cBhvr>
                                    </p:animEffect>
                                  </p:childTnLst>
                                  <p:subTnLst>
                                    <p:audio>
                                      <p:cMediaNode>
                                        <p:cTn display="0" masterRel="sameClick">
                                          <p:stCondLst>
                                            <p:cond evt="begin" delay="0">
                                              <p:tn val="103"/>
                                            </p:cond>
                                          </p:stCondLst>
                                          <p:endCondLst>
                                            <p:cond evt="onStopAudio" delay="0">
                                              <p:tgtEl>
                                                <p:sldTgt/>
                                              </p:tgtEl>
                                            </p:cond>
                                          </p:endCondLst>
                                        </p:cTn>
                                        <p:tgtEl>
                                          <p:sndTgt r:embed="rId5" name="CAMERA.WAV"/>
                                        </p:tgtEl>
                                      </p:cMediaNode>
                                    </p:audio>
                                  </p:subTnLst>
                                </p:cTn>
                              </p:par>
                              <p:par>
                                <p:cTn id="106" presetID="22" presetClass="entr" presetSubtype="4" fill="hold" grpId="0" nodeType="withEffect">
                                  <p:stCondLst>
                                    <p:cond delay="0"/>
                                  </p:stCondLst>
                                  <p:childTnLst>
                                    <p:set>
                                      <p:cBhvr>
                                        <p:cTn id="107" dur="1" fill="hold">
                                          <p:stCondLst>
                                            <p:cond delay="0"/>
                                          </p:stCondLst>
                                        </p:cTn>
                                        <p:tgtEl>
                                          <p:spTgt spid="149"/>
                                        </p:tgtEl>
                                        <p:attrNameLst>
                                          <p:attrName>style.visibility</p:attrName>
                                        </p:attrNameLst>
                                      </p:cBhvr>
                                      <p:to>
                                        <p:strVal val="visible"/>
                                      </p:to>
                                    </p:set>
                                    <p:animEffect transition="in" filter="wipe(down)">
                                      <p:cBhvr>
                                        <p:cTn id="108" dur="5000"/>
                                        <p:tgtEl>
                                          <p:spTgt spid="149"/>
                                        </p:tgtEl>
                                      </p:cBhvr>
                                    </p:animEffect>
                                  </p:childTnLst>
                                  <p:subTnLst>
                                    <p:audio>
                                      <p:cMediaNode>
                                        <p:cTn display="0" masterRel="sameClick">
                                          <p:stCondLst>
                                            <p:cond evt="begin" delay="0">
                                              <p:tn val="106"/>
                                            </p:cond>
                                          </p:stCondLst>
                                          <p:endCondLst>
                                            <p:cond evt="onStopAudio" delay="0">
                                              <p:tgtEl>
                                                <p:sldTgt/>
                                              </p:tgtEl>
                                            </p:cond>
                                          </p:endCondLst>
                                        </p:cTn>
                                        <p:tgtEl>
                                          <p:sndTgt r:embed="rId5" name="CAMERA.WAV"/>
                                        </p:tgtEl>
                                      </p:cMediaNode>
                                    </p:audio>
                                  </p:subTnLst>
                                </p:cTn>
                              </p:par>
                              <p:par>
                                <p:cTn id="109" presetID="55" presetClass="exit" presetSubtype="0" fill="hold" grpId="1" nodeType="withEffect">
                                  <p:stCondLst>
                                    <p:cond delay="0"/>
                                  </p:stCondLst>
                                  <p:childTnLst>
                                    <p:anim calcmode="lin" valueType="num">
                                      <p:cBhvr>
                                        <p:cTn id="110" dur="1000"/>
                                        <p:tgtEl>
                                          <p:spTgt spid="162"/>
                                        </p:tgtEl>
                                        <p:attrNameLst>
                                          <p:attrName>ppt_w</p:attrName>
                                        </p:attrNameLst>
                                      </p:cBhvr>
                                      <p:tavLst>
                                        <p:tav tm="0">
                                          <p:val>
                                            <p:strVal val="ppt_w"/>
                                          </p:val>
                                        </p:tav>
                                        <p:tav tm="100000">
                                          <p:val>
                                            <p:strVal val="ppt_w*0.70"/>
                                          </p:val>
                                        </p:tav>
                                      </p:tavLst>
                                    </p:anim>
                                    <p:anim calcmode="lin" valueType="num">
                                      <p:cBhvr>
                                        <p:cTn id="111" dur="1000"/>
                                        <p:tgtEl>
                                          <p:spTgt spid="162"/>
                                        </p:tgtEl>
                                        <p:attrNameLst>
                                          <p:attrName>ppt_h</p:attrName>
                                        </p:attrNameLst>
                                      </p:cBhvr>
                                      <p:tavLst>
                                        <p:tav tm="0">
                                          <p:val>
                                            <p:strVal val="ppt_h"/>
                                          </p:val>
                                        </p:tav>
                                        <p:tav tm="100000">
                                          <p:val>
                                            <p:strVal val="ppt_h"/>
                                          </p:val>
                                        </p:tav>
                                      </p:tavLst>
                                    </p:anim>
                                    <p:animEffect transition="out" filter="fade">
                                      <p:cBhvr>
                                        <p:cTn id="112" dur="1000"/>
                                        <p:tgtEl>
                                          <p:spTgt spid="162"/>
                                        </p:tgtEl>
                                      </p:cBhvr>
                                    </p:animEffect>
                                    <p:set>
                                      <p:cBhvr>
                                        <p:cTn id="113" dur="1" fill="hold">
                                          <p:stCondLst>
                                            <p:cond delay="999"/>
                                          </p:stCondLst>
                                        </p:cTn>
                                        <p:tgtEl>
                                          <p:spTgt spid="162"/>
                                        </p:tgtEl>
                                        <p:attrNameLst>
                                          <p:attrName>style.visibility</p:attrName>
                                        </p:attrNameLst>
                                      </p:cBhvr>
                                      <p:to>
                                        <p:strVal val="hidden"/>
                                      </p:to>
                                    </p:set>
                                  </p:childTnLst>
                                </p:cTn>
                              </p:par>
                              <p:par>
                                <p:cTn id="114" presetID="22" presetClass="entr" presetSubtype="4" fill="hold" grpId="0" nodeType="withEffect">
                                  <p:stCondLst>
                                    <p:cond delay="0"/>
                                  </p:stCondLst>
                                  <p:childTnLst>
                                    <p:set>
                                      <p:cBhvr>
                                        <p:cTn id="115" dur="1" fill="hold">
                                          <p:stCondLst>
                                            <p:cond delay="0"/>
                                          </p:stCondLst>
                                        </p:cTn>
                                        <p:tgtEl>
                                          <p:spTgt spid="152"/>
                                        </p:tgtEl>
                                        <p:attrNameLst>
                                          <p:attrName>style.visibility</p:attrName>
                                        </p:attrNameLst>
                                      </p:cBhvr>
                                      <p:to>
                                        <p:strVal val="visible"/>
                                      </p:to>
                                    </p:set>
                                    <p:animEffect transition="in" filter="wipe(down)">
                                      <p:cBhvr>
                                        <p:cTn id="116" dur="5000"/>
                                        <p:tgtEl>
                                          <p:spTgt spid="152"/>
                                        </p:tgtEl>
                                      </p:cBhvr>
                                    </p:animEffect>
                                  </p:childTnLst>
                                  <p:subTnLst>
                                    <p:audio>
                                      <p:cMediaNode>
                                        <p:cTn display="0" masterRel="sameClick">
                                          <p:stCondLst>
                                            <p:cond evt="begin" delay="0">
                                              <p:tn val="114"/>
                                            </p:cond>
                                          </p:stCondLst>
                                          <p:endCondLst>
                                            <p:cond evt="onStopAudio" delay="0">
                                              <p:tgtEl>
                                                <p:sldTgt/>
                                              </p:tgtEl>
                                            </p:cond>
                                          </p:endCondLst>
                                        </p:cTn>
                                        <p:tgtEl>
                                          <p:sndTgt r:embed="rId5" name="CAMERA.WAV"/>
                                        </p:tgtEl>
                                      </p:cMediaNode>
                                    </p:audio>
                                  </p:subTnLst>
                                </p:cTn>
                              </p:par>
                              <p:par>
                                <p:cTn id="117" presetID="55" presetClass="exit" presetSubtype="0" fill="hold" grpId="1" nodeType="withEffect">
                                  <p:stCondLst>
                                    <p:cond delay="0"/>
                                  </p:stCondLst>
                                  <p:childTnLst>
                                    <p:anim calcmode="lin" valueType="num">
                                      <p:cBhvr>
                                        <p:cTn id="118" dur="1000"/>
                                        <p:tgtEl>
                                          <p:spTgt spid="161"/>
                                        </p:tgtEl>
                                        <p:attrNameLst>
                                          <p:attrName>ppt_w</p:attrName>
                                        </p:attrNameLst>
                                      </p:cBhvr>
                                      <p:tavLst>
                                        <p:tav tm="0">
                                          <p:val>
                                            <p:strVal val="ppt_w"/>
                                          </p:val>
                                        </p:tav>
                                        <p:tav tm="100000">
                                          <p:val>
                                            <p:strVal val="ppt_w*0.70"/>
                                          </p:val>
                                        </p:tav>
                                      </p:tavLst>
                                    </p:anim>
                                    <p:anim calcmode="lin" valueType="num">
                                      <p:cBhvr>
                                        <p:cTn id="119" dur="1000"/>
                                        <p:tgtEl>
                                          <p:spTgt spid="161"/>
                                        </p:tgtEl>
                                        <p:attrNameLst>
                                          <p:attrName>ppt_h</p:attrName>
                                        </p:attrNameLst>
                                      </p:cBhvr>
                                      <p:tavLst>
                                        <p:tav tm="0">
                                          <p:val>
                                            <p:strVal val="ppt_h"/>
                                          </p:val>
                                        </p:tav>
                                        <p:tav tm="100000">
                                          <p:val>
                                            <p:strVal val="ppt_h"/>
                                          </p:val>
                                        </p:tav>
                                      </p:tavLst>
                                    </p:anim>
                                    <p:animEffect transition="out" filter="fade">
                                      <p:cBhvr>
                                        <p:cTn id="120" dur="1000"/>
                                        <p:tgtEl>
                                          <p:spTgt spid="161"/>
                                        </p:tgtEl>
                                      </p:cBhvr>
                                    </p:animEffect>
                                    <p:set>
                                      <p:cBhvr>
                                        <p:cTn id="121" dur="1" fill="hold">
                                          <p:stCondLst>
                                            <p:cond delay="999"/>
                                          </p:stCondLst>
                                        </p:cTn>
                                        <p:tgtEl>
                                          <p:spTgt spid="161"/>
                                        </p:tgtEl>
                                        <p:attrNameLst>
                                          <p:attrName>style.visibility</p:attrName>
                                        </p:attrNameLst>
                                      </p:cBhvr>
                                      <p:to>
                                        <p:strVal val="hidden"/>
                                      </p:to>
                                    </p:set>
                                  </p:childTnLst>
                                </p:cTn>
                              </p:par>
                              <p:par>
                                <p:cTn id="122" presetID="19" presetClass="entr" presetSubtype="10" fill="hold" grpId="0" nodeType="withEffect">
                                  <p:stCondLst>
                                    <p:cond delay="0"/>
                                  </p:stCondLst>
                                  <p:childTnLst>
                                    <p:set>
                                      <p:cBhvr>
                                        <p:cTn id="123" dur="1" fill="hold">
                                          <p:stCondLst>
                                            <p:cond delay="0"/>
                                          </p:stCondLst>
                                        </p:cTn>
                                        <p:tgtEl>
                                          <p:spTgt spid="150"/>
                                        </p:tgtEl>
                                        <p:attrNameLst>
                                          <p:attrName>style.visibility</p:attrName>
                                        </p:attrNameLst>
                                      </p:cBhvr>
                                      <p:to>
                                        <p:strVal val="visible"/>
                                      </p:to>
                                    </p:set>
                                    <p:anim calcmode="lin" valueType="num">
                                      <p:cBhvr>
                                        <p:cTn id="124" dur="5000" fill="hold"/>
                                        <p:tgtEl>
                                          <p:spTgt spid="150"/>
                                        </p:tgtEl>
                                        <p:attrNameLst>
                                          <p:attrName>ppt_w</p:attrName>
                                        </p:attrNameLst>
                                      </p:cBhvr>
                                      <p:tavLst>
                                        <p:tav tm="0" fmla="#ppt_w*sin(2.5*pi*$)">
                                          <p:val>
                                            <p:fltVal val="0"/>
                                          </p:val>
                                        </p:tav>
                                        <p:tav tm="100000">
                                          <p:val>
                                            <p:fltVal val="1"/>
                                          </p:val>
                                        </p:tav>
                                      </p:tavLst>
                                    </p:anim>
                                    <p:anim calcmode="lin" valueType="num">
                                      <p:cBhvr>
                                        <p:cTn id="125"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2"/>
                                            </p:cond>
                                          </p:stCondLst>
                                          <p:endCondLst>
                                            <p:cond evt="onStopAudio" delay="0">
                                              <p:tgtEl>
                                                <p:sldTgt/>
                                              </p:tgtEl>
                                            </p:cond>
                                          </p:endCondLst>
                                        </p:cTn>
                                        <p:tgtEl>
                                          <p:sndTgt r:embed="rId5" name="CAMERA.WAV"/>
                                        </p:tgtEl>
                                      </p:cMediaNode>
                                    </p:audio>
                                  </p:subTnLst>
                                </p:cTn>
                              </p:par>
                              <p:par>
                                <p:cTn id="126" presetID="55" presetClass="exit" presetSubtype="0" fill="hold" grpId="1" nodeType="withEffect">
                                  <p:stCondLst>
                                    <p:cond delay="0"/>
                                  </p:stCondLst>
                                  <p:childTnLst>
                                    <p:anim calcmode="lin" valueType="num">
                                      <p:cBhvr>
                                        <p:cTn id="127" dur="1000"/>
                                        <p:tgtEl>
                                          <p:spTgt spid="163"/>
                                        </p:tgtEl>
                                        <p:attrNameLst>
                                          <p:attrName>ppt_w</p:attrName>
                                        </p:attrNameLst>
                                      </p:cBhvr>
                                      <p:tavLst>
                                        <p:tav tm="0">
                                          <p:val>
                                            <p:strVal val="ppt_w"/>
                                          </p:val>
                                        </p:tav>
                                        <p:tav tm="100000">
                                          <p:val>
                                            <p:strVal val="ppt_w*0.70"/>
                                          </p:val>
                                        </p:tav>
                                      </p:tavLst>
                                    </p:anim>
                                    <p:anim calcmode="lin" valueType="num">
                                      <p:cBhvr>
                                        <p:cTn id="128" dur="1000"/>
                                        <p:tgtEl>
                                          <p:spTgt spid="163"/>
                                        </p:tgtEl>
                                        <p:attrNameLst>
                                          <p:attrName>ppt_h</p:attrName>
                                        </p:attrNameLst>
                                      </p:cBhvr>
                                      <p:tavLst>
                                        <p:tav tm="0">
                                          <p:val>
                                            <p:strVal val="ppt_h"/>
                                          </p:val>
                                        </p:tav>
                                        <p:tav tm="100000">
                                          <p:val>
                                            <p:strVal val="ppt_h"/>
                                          </p:val>
                                        </p:tav>
                                      </p:tavLst>
                                    </p:anim>
                                    <p:animEffect transition="out" filter="fade">
                                      <p:cBhvr>
                                        <p:cTn id="129" dur="1000"/>
                                        <p:tgtEl>
                                          <p:spTgt spid="163"/>
                                        </p:tgtEl>
                                      </p:cBhvr>
                                    </p:animEffect>
                                    <p:set>
                                      <p:cBhvr>
                                        <p:cTn id="130" dur="1" fill="hold">
                                          <p:stCondLst>
                                            <p:cond delay="999"/>
                                          </p:stCondLst>
                                        </p:cTn>
                                        <p:tgtEl>
                                          <p:spTgt spid="163"/>
                                        </p:tgtEl>
                                        <p:attrNameLst>
                                          <p:attrName>style.visibility</p:attrName>
                                        </p:attrNameLst>
                                      </p:cBhvr>
                                      <p:to>
                                        <p:strVal val="hidden"/>
                                      </p:to>
                                    </p:set>
                                  </p:childTnLst>
                                </p:cTn>
                              </p:par>
                              <p:par>
                                <p:cTn id="131" presetID="19" presetClass="entr" presetSubtype="10" fill="hold" grpId="0" nodeType="withEffect">
                                  <p:stCondLst>
                                    <p:cond delay="0"/>
                                  </p:stCondLst>
                                  <p:childTnLst>
                                    <p:set>
                                      <p:cBhvr>
                                        <p:cTn id="132" dur="1" fill="hold">
                                          <p:stCondLst>
                                            <p:cond delay="0"/>
                                          </p:stCondLst>
                                        </p:cTn>
                                        <p:tgtEl>
                                          <p:spTgt spid="151"/>
                                        </p:tgtEl>
                                        <p:attrNameLst>
                                          <p:attrName>style.visibility</p:attrName>
                                        </p:attrNameLst>
                                      </p:cBhvr>
                                      <p:to>
                                        <p:strVal val="visible"/>
                                      </p:to>
                                    </p:set>
                                    <p:anim calcmode="lin" valueType="num">
                                      <p:cBhvr>
                                        <p:cTn id="133" dur="5000" fill="hold"/>
                                        <p:tgtEl>
                                          <p:spTgt spid="151"/>
                                        </p:tgtEl>
                                        <p:attrNameLst>
                                          <p:attrName>ppt_w</p:attrName>
                                        </p:attrNameLst>
                                      </p:cBhvr>
                                      <p:tavLst>
                                        <p:tav tm="0" fmla="#ppt_w*sin(2.5*pi*$)">
                                          <p:val>
                                            <p:fltVal val="0"/>
                                          </p:val>
                                        </p:tav>
                                        <p:tav tm="100000">
                                          <p:val>
                                            <p:fltVal val="1"/>
                                          </p:val>
                                        </p:tav>
                                      </p:tavLst>
                                    </p:anim>
                                    <p:anim calcmode="lin" valueType="num">
                                      <p:cBhvr>
                                        <p:cTn id="13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1"/>
                                            </p:cond>
                                          </p:stCondLst>
                                          <p:endCondLst>
                                            <p:cond evt="onStopAudio" delay="0">
                                              <p:tgtEl>
                                                <p:sldTgt/>
                                              </p:tgtEl>
                                            </p:cond>
                                          </p:endCondLst>
                                        </p:cTn>
                                        <p:tgtEl>
                                          <p:sndTgt r:embed="rId5" name="CAMERA.WAV"/>
                                        </p:tgtEl>
                                      </p:cMediaNode>
                                    </p:audio>
                                  </p:subTnLst>
                                </p:cTn>
                              </p:par>
                              <p:par>
                                <p:cTn id="135" presetID="55" presetClass="exit" presetSubtype="0" fill="hold" grpId="1" nodeType="withEffect">
                                  <p:stCondLst>
                                    <p:cond delay="0"/>
                                  </p:stCondLst>
                                  <p:childTnLst>
                                    <p:anim calcmode="lin" valueType="num">
                                      <p:cBhvr>
                                        <p:cTn id="136" dur="1000"/>
                                        <p:tgtEl>
                                          <p:spTgt spid="164"/>
                                        </p:tgtEl>
                                        <p:attrNameLst>
                                          <p:attrName>ppt_w</p:attrName>
                                        </p:attrNameLst>
                                      </p:cBhvr>
                                      <p:tavLst>
                                        <p:tav tm="0">
                                          <p:val>
                                            <p:strVal val="ppt_w"/>
                                          </p:val>
                                        </p:tav>
                                        <p:tav tm="100000">
                                          <p:val>
                                            <p:strVal val="ppt_w*0.70"/>
                                          </p:val>
                                        </p:tav>
                                      </p:tavLst>
                                    </p:anim>
                                    <p:anim calcmode="lin" valueType="num">
                                      <p:cBhvr>
                                        <p:cTn id="137" dur="1000"/>
                                        <p:tgtEl>
                                          <p:spTgt spid="164"/>
                                        </p:tgtEl>
                                        <p:attrNameLst>
                                          <p:attrName>ppt_h</p:attrName>
                                        </p:attrNameLst>
                                      </p:cBhvr>
                                      <p:tavLst>
                                        <p:tav tm="0">
                                          <p:val>
                                            <p:strVal val="ppt_h"/>
                                          </p:val>
                                        </p:tav>
                                        <p:tav tm="100000">
                                          <p:val>
                                            <p:strVal val="ppt_h"/>
                                          </p:val>
                                        </p:tav>
                                      </p:tavLst>
                                    </p:anim>
                                    <p:animEffect transition="out" filter="fade">
                                      <p:cBhvr>
                                        <p:cTn id="138" dur="1000"/>
                                        <p:tgtEl>
                                          <p:spTgt spid="164"/>
                                        </p:tgtEl>
                                      </p:cBhvr>
                                    </p:animEffect>
                                    <p:set>
                                      <p:cBhvr>
                                        <p:cTn id="139" dur="1" fill="hold">
                                          <p:stCondLst>
                                            <p:cond delay="999"/>
                                          </p:stCondLst>
                                        </p:cTn>
                                        <p:tgtEl>
                                          <p:spTgt spid="164"/>
                                        </p:tgtEl>
                                        <p:attrNameLst>
                                          <p:attrName>style.visibility</p:attrName>
                                        </p:attrNameLst>
                                      </p:cBhvr>
                                      <p:to>
                                        <p:strVal val="hidden"/>
                                      </p:to>
                                    </p:set>
                                  </p:childTnLst>
                                </p:cTn>
                              </p:par>
                              <p:par>
                                <p:cTn id="140" presetID="18" presetClass="entr" presetSubtype="12" fill="hold" grpId="0" nodeType="withEffect">
                                  <p:stCondLst>
                                    <p:cond delay="0"/>
                                  </p:stCondLst>
                                  <p:childTnLst>
                                    <p:set>
                                      <p:cBhvr>
                                        <p:cTn id="141" dur="1" fill="hold">
                                          <p:stCondLst>
                                            <p:cond delay="0"/>
                                          </p:stCondLst>
                                        </p:cTn>
                                        <p:tgtEl>
                                          <p:spTgt spid="138"/>
                                        </p:tgtEl>
                                        <p:attrNameLst>
                                          <p:attrName>style.visibility</p:attrName>
                                        </p:attrNameLst>
                                      </p:cBhvr>
                                      <p:to>
                                        <p:strVal val="visible"/>
                                      </p:to>
                                    </p:set>
                                    <p:animEffect transition="in" filter="strips(downLeft)">
                                      <p:cBhvr>
                                        <p:cTn id="142" dur="5000"/>
                                        <p:tgtEl>
                                          <p:spTgt spid="138"/>
                                        </p:tgtEl>
                                      </p:cBhvr>
                                    </p:animEffect>
                                  </p:childTnLst>
                                  <p:subTnLst>
                                    <p:audio>
                                      <p:cMediaNode>
                                        <p:cTn display="0" masterRel="sameClick">
                                          <p:stCondLst>
                                            <p:cond evt="begin" delay="0">
                                              <p:tn val="140"/>
                                            </p:cond>
                                          </p:stCondLst>
                                          <p:endCondLst>
                                            <p:cond evt="onStopAudio" delay="0">
                                              <p:tgtEl>
                                                <p:sldTgt/>
                                              </p:tgtEl>
                                            </p:cond>
                                          </p:endCondLst>
                                        </p:cTn>
                                        <p:tgtEl>
                                          <p:sndTgt r:embed="rId6" name="CHIMES.WAV"/>
                                        </p:tgtEl>
                                      </p:cMediaNode>
                                    </p:audio>
                                  </p:subTnLst>
                                </p:cTn>
                              </p:par>
                              <p:par>
                                <p:cTn id="143" presetID="18" presetClass="entr" presetSubtype="6" fill="hold" grpId="0" nodeType="withEffect">
                                  <p:stCondLst>
                                    <p:cond delay="0"/>
                                  </p:stCondLst>
                                  <p:childTnLst>
                                    <p:set>
                                      <p:cBhvr>
                                        <p:cTn id="144" dur="1" fill="hold">
                                          <p:stCondLst>
                                            <p:cond delay="0"/>
                                          </p:stCondLst>
                                        </p:cTn>
                                        <p:tgtEl>
                                          <p:spTgt spid="137"/>
                                        </p:tgtEl>
                                        <p:attrNameLst>
                                          <p:attrName>style.visibility</p:attrName>
                                        </p:attrNameLst>
                                      </p:cBhvr>
                                      <p:to>
                                        <p:strVal val="visible"/>
                                      </p:to>
                                    </p:set>
                                    <p:animEffect transition="in" filter="strips(downRight)">
                                      <p:cBhvr>
                                        <p:cTn id="145" dur="5000"/>
                                        <p:tgtEl>
                                          <p:spTgt spid="137"/>
                                        </p:tgtEl>
                                      </p:cBhvr>
                                    </p:animEffect>
                                  </p:childTnLst>
                                  <p:subTnLst>
                                    <p:audio>
                                      <p:cMediaNode>
                                        <p:cTn display="0" masterRel="sameClick">
                                          <p:stCondLst>
                                            <p:cond evt="begin" delay="0">
                                              <p:tn val="143"/>
                                            </p:cond>
                                          </p:stCondLst>
                                          <p:endCondLst>
                                            <p:cond evt="onStopAudio" delay="0">
                                              <p:tgtEl>
                                                <p:sldTgt/>
                                              </p:tgtEl>
                                            </p:cond>
                                          </p:endCondLst>
                                        </p:cTn>
                                        <p:tgtEl>
                                          <p:sndTgt r:embed="rId6" name="CHIMES.WAV"/>
                                        </p:tgtEl>
                                      </p:cMediaNode>
                                    </p:audio>
                                  </p:subTnLst>
                                </p:cTn>
                              </p:par>
                              <p:par>
                                <p:cTn id="146" presetID="16" presetClass="entr" presetSubtype="37" fill="hold" grpId="0" nodeType="withEffect">
                                  <p:stCondLst>
                                    <p:cond delay="0"/>
                                  </p:stCondLst>
                                  <p:childTnLst>
                                    <p:set>
                                      <p:cBhvr>
                                        <p:cTn id="147" dur="1" fill="hold">
                                          <p:stCondLst>
                                            <p:cond delay="0"/>
                                          </p:stCondLst>
                                        </p:cTn>
                                        <p:tgtEl>
                                          <p:spTgt spid="140"/>
                                        </p:tgtEl>
                                        <p:attrNameLst>
                                          <p:attrName>style.visibility</p:attrName>
                                        </p:attrNameLst>
                                      </p:cBhvr>
                                      <p:to>
                                        <p:strVal val="visible"/>
                                      </p:to>
                                    </p:set>
                                    <p:animEffect transition="in" filter="barn(outVertical)">
                                      <p:cBhvr>
                                        <p:cTn id="148" dur="5000"/>
                                        <p:tgtEl>
                                          <p:spTgt spid="140"/>
                                        </p:tgtEl>
                                      </p:cBhvr>
                                    </p:animEffect>
                                  </p:childTnLst>
                                  <p:subTnLst>
                                    <p:audio>
                                      <p:cMediaNode>
                                        <p:cTn display="0" masterRel="sameClick">
                                          <p:stCondLst>
                                            <p:cond evt="begin" delay="0">
                                              <p:tn val="146"/>
                                            </p:cond>
                                          </p:stCondLst>
                                          <p:endCondLst>
                                            <p:cond evt="onStopAudio" delay="0">
                                              <p:tgtEl>
                                                <p:sldTgt/>
                                              </p:tgtEl>
                                            </p:cond>
                                          </p:endCondLst>
                                        </p:cTn>
                                        <p:tgtEl>
                                          <p:sndTgt r:embed="rId6" name="CHIMES.WAV"/>
                                        </p:tgtEl>
                                      </p:cMediaNode>
                                    </p:audio>
                                  </p:subTnLst>
                                </p:cTn>
                              </p:par>
                              <p:par>
                                <p:cTn id="149" presetID="16" presetClass="entr" presetSubtype="37" fill="hold" grpId="0" nodeType="withEffect">
                                  <p:stCondLst>
                                    <p:cond delay="0"/>
                                  </p:stCondLst>
                                  <p:childTnLst>
                                    <p:set>
                                      <p:cBhvr>
                                        <p:cTn id="150" dur="1" fill="hold">
                                          <p:stCondLst>
                                            <p:cond delay="0"/>
                                          </p:stCondLst>
                                        </p:cTn>
                                        <p:tgtEl>
                                          <p:spTgt spid="139"/>
                                        </p:tgtEl>
                                        <p:attrNameLst>
                                          <p:attrName>style.visibility</p:attrName>
                                        </p:attrNameLst>
                                      </p:cBhvr>
                                      <p:to>
                                        <p:strVal val="visible"/>
                                      </p:to>
                                    </p:set>
                                    <p:animEffect transition="in" filter="barn(outVertical)">
                                      <p:cBhvr>
                                        <p:cTn id="151" dur="5000"/>
                                        <p:tgtEl>
                                          <p:spTgt spid="139"/>
                                        </p:tgtEl>
                                      </p:cBhvr>
                                    </p:animEffect>
                                  </p:childTnLst>
                                  <p:subTnLst>
                                    <p:audio>
                                      <p:cMediaNode>
                                        <p:cTn display="0" masterRel="sameClick">
                                          <p:stCondLst>
                                            <p:cond evt="begin" delay="0">
                                              <p:tn val="149"/>
                                            </p:cond>
                                          </p:stCondLst>
                                          <p:endCondLst>
                                            <p:cond evt="onStopAudio" delay="0">
                                              <p:tgtEl>
                                                <p:sldTgt/>
                                              </p:tgtEl>
                                            </p:cond>
                                          </p:endCondLst>
                                        </p:cTn>
                                        <p:tgtEl>
                                          <p:sndTgt r:embed="rId6" name="CHIMES.WAV"/>
                                        </p:tgtEl>
                                      </p:cMediaNode>
                                    </p:audio>
                                  </p:subTnLst>
                                </p:cTn>
                              </p:par>
                            </p:childTnLst>
                          </p:cTn>
                        </p:par>
                        <p:par>
                          <p:cTn id="152" fill="hold">
                            <p:stCondLst>
                              <p:cond delay="10000"/>
                            </p:stCondLst>
                            <p:childTnLst>
                              <p:par>
                                <p:cTn id="153" presetID="20" presetClass="entr" presetSubtype="0" fill="hold" grpId="0" nodeType="afterEffect">
                                  <p:stCondLst>
                                    <p:cond delay="300"/>
                                  </p:stCondLst>
                                  <p:childTnLst>
                                    <p:set>
                                      <p:cBhvr>
                                        <p:cTn id="154" dur="1" fill="hold">
                                          <p:stCondLst>
                                            <p:cond delay="0"/>
                                          </p:stCondLst>
                                        </p:cTn>
                                        <p:tgtEl>
                                          <p:spTgt spid="141"/>
                                        </p:tgtEl>
                                        <p:attrNameLst>
                                          <p:attrName>style.visibility</p:attrName>
                                        </p:attrNameLst>
                                      </p:cBhvr>
                                      <p:to>
                                        <p:strVal val="visible"/>
                                      </p:to>
                                    </p:set>
                                    <p:animEffect transition="in" filter="wedge">
                                      <p:cBhvr>
                                        <p:cTn id="155" dur="2000"/>
                                        <p:tgtEl>
                                          <p:spTgt spid="141"/>
                                        </p:tgtEl>
                                      </p:cBhvr>
                                    </p:animEffect>
                                  </p:childTnLst>
                                  <p:subTnLst>
                                    <p:audio>
                                      <p:cMediaNode>
                                        <p:cTn display="0" masterRel="sameClick">
                                          <p:stCondLst>
                                            <p:cond evt="begin" delay="0">
                                              <p:tn val="153"/>
                                            </p:cond>
                                          </p:stCondLst>
                                          <p:endCondLst>
                                            <p:cond evt="onStopAudio" delay="0">
                                              <p:tgtEl>
                                                <p:sldTgt/>
                                              </p:tgtEl>
                                            </p:cond>
                                          </p:endCondLst>
                                        </p:cTn>
                                        <p:tgtEl>
                                          <p:sndTgt r:embed="rId6"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2"/>
                                        </p:tgtEl>
                                        <p:attrNameLst>
                                          <p:attrName>style.visibility</p:attrName>
                                        </p:attrNameLst>
                                      </p:cBhvr>
                                      <p:to>
                                        <p:strVal val="visible"/>
                                      </p:to>
                                    </p:set>
                                    <p:animEffect transition="in" filter="wedge">
                                      <p:cBhvr>
                                        <p:cTn id="158" dur="2000"/>
                                        <p:tgtEl>
                                          <p:spTgt spid="142"/>
                                        </p:tgtEl>
                                      </p:cBhvr>
                                    </p:animEffect>
                                  </p:childTnLst>
                                  <p:subTnLst>
                                    <p:audio>
                                      <p:cMediaNode>
                                        <p:cTn display="0" masterRel="sameClick">
                                          <p:stCondLst>
                                            <p:cond evt="begin" delay="0">
                                              <p:tn val="156"/>
                                            </p:cond>
                                          </p:stCondLst>
                                          <p:endCondLst>
                                            <p:cond evt="onStopAudio" delay="0">
                                              <p:tgtEl>
                                                <p:sldTgt/>
                                              </p:tgtEl>
                                            </p:cond>
                                          </p:endCondLst>
                                        </p:cTn>
                                        <p:tgtEl>
                                          <p:sndTgt r:embed="rId6" name="CHIMES.WAV"/>
                                        </p:tgtEl>
                                      </p:cMediaNode>
                                    </p:audio>
                                  </p:subTnLst>
                                </p:cTn>
                              </p:par>
                              <p:par>
                                <p:cTn id="159" presetID="20" presetClass="entr" presetSubtype="0" fill="hold" grpId="0" nodeType="withEffect">
                                  <p:stCondLst>
                                    <p:cond delay="300"/>
                                  </p:stCondLst>
                                  <p:childTnLst>
                                    <p:set>
                                      <p:cBhvr>
                                        <p:cTn id="160" dur="1" fill="hold">
                                          <p:stCondLst>
                                            <p:cond delay="0"/>
                                          </p:stCondLst>
                                        </p:cTn>
                                        <p:tgtEl>
                                          <p:spTgt spid="143"/>
                                        </p:tgtEl>
                                        <p:attrNameLst>
                                          <p:attrName>style.visibility</p:attrName>
                                        </p:attrNameLst>
                                      </p:cBhvr>
                                      <p:to>
                                        <p:strVal val="visible"/>
                                      </p:to>
                                    </p:set>
                                    <p:animEffect transition="in" filter="wedge">
                                      <p:cBhvr>
                                        <p:cTn id="161" dur="2000"/>
                                        <p:tgtEl>
                                          <p:spTgt spid="143"/>
                                        </p:tgtEl>
                                      </p:cBhvr>
                                    </p:animEffect>
                                  </p:childTnLst>
                                  <p:subTnLst>
                                    <p:audio>
                                      <p:cMediaNode>
                                        <p:cTn display="0" masterRel="sameClick">
                                          <p:stCondLst>
                                            <p:cond evt="begin" delay="0">
                                              <p:tn val="159"/>
                                            </p:cond>
                                          </p:stCondLst>
                                          <p:endCondLst>
                                            <p:cond evt="onStopAudio" delay="0">
                                              <p:tgtEl>
                                                <p:sldTgt/>
                                              </p:tgtEl>
                                            </p:cond>
                                          </p:endCondLst>
                                        </p:cTn>
                                        <p:tgtEl>
                                          <p:sndTgt r:embed="rId6" name="CHIMES.WAV"/>
                                        </p:tgtEl>
                                      </p:cMediaNode>
                                    </p:audio>
                                  </p:subTnLst>
                                </p:cTn>
                              </p:par>
                              <p:par>
                                <p:cTn id="162" presetID="20" presetClass="entr" presetSubtype="0" fill="hold" grpId="0" nodeType="withEffect">
                                  <p:stCondLst>
                                    <p:cond delay="300"/>
                                  </p:stCondLst>
                                  <p:childTnLst>
                                    <p:set>
                                      <p:cBhvr>
                                        <p:cTn id="163" dur="1" fill="hold">
                                          <p:stCondLst>
                                            <p:cond delay="0"/>
                                          </p:stCondLst>
                                        </p:cTn>
                                        <p:tgtEl>
                                          <p:spTgt spid="144"/>
                                        </p:tgtEl>
                                        <p:attrNameLst>
                                          <p:attrName>style.visibility</p:attrName>
                                        </p:attrNameLst>
                                      </p:cBhvr>
                                      <p:to>
                                        <p:strVal val="visible"/>
                                      </p:to>
                                    </p:set>
                                    <p:animEffect transition="in" filter="wedge">
                                      <p:cBhvr>
                                        <p:cTn id="164" dur="2000"/>
                                        <p:tgtEl>
                                          <p:spTgt spid="144"/>
                                        </p:tgtEl>
                                      </p:cBhvr>
                                    </p:animEffect>
                                  </p:childTnLst>
                                  <p:subTnLst>
                                    <p:audio>
                                      <p:cMediaNode>
                                        <p:cTn display="0" masterRel="sameClick">
                                          <p:stCondLst>
                                            <p:cond evt="begin" delay="0">
                                              <p:tn val="162"/>
                                            </p:cond>
                                          </p:stCondLst>
                                          <p:endCondLst>
                                            <p:cond evt="onStopAudio" delay="0">
                                              <p:tgtEl>
                                                <p:sldTgt/>
                                              </p:tgtEl>
                                            </p:cond>
                                          </p:endCondLst>
                                        </p:cTn>
                                        <p:tgtEl>
                                          <p:sndTgt r:embed="rId6" name="CHIMES.WAV"/>
                                        </p:tgtEl>
                                      </p:cMediaNode>
                                    </p:audio>
                                  </p:subTnLst>
                                </p:cTn>
                              </p:par>
                            </p:childTnLst>
                          </p:cTn>
                        </p:par>
                        <p:par>
                          <p:cTn id="165" fill="hold">
                            <p:stCondLst>
                              <p:cond delay="12300"/>
                            </p:stCondLst>
                            <p:childTnLst>
                              <p:par>
                                <p:cTn id="166" presetID="20" presetClass="entr" presetSubtype="0" fill="hold" grpId="0" nodeType="afterEffect">
                                  <p:stCondLst>
                                    <p:cond delay="300"/>
                                  </p:stCondLst>
                                  <p:childTnLst>
                                    <p:set>
                                      <p:cBhvr>
                                        <p:cTn id="167" dur="1" fill="hold">
                                          <p:stCondLst>
                                            <p:cond delay="0"/>
                                          </p:stCondLst>
                                        </p:cTn>
                                        <p:tgtEl>
                                          <p:spTgt spid="146"/>
                                        </p:tgtEl>
                                        <p:attrNameLst>
                                          <p:attrName>style.visibility</p:attrName>
                                        </p:attrNameLst>
                                      </p:cBhvr>
                                      <p:to>
                                        <p:strVal val="visible"/>
                                      </p:to>
                                    </p:set>
                                    <p:animEffect transition="in" filter="wedge">
                                      <p:cBhvr>
                                        <p:cTn id="168" dur="2000"/>
                                        <p:tgtEl>
                                          <p:spTgt spid="146"/>
                                        </p:tgtEl>
                                      </p:cBhvr>
                                    </p:animEffect>
                                  </p:childTnLst>
                                  <p:subTnLst>
                                    <p:audio>
                                      <p:cMediaNode>
                                        <p:cTn display="0" masterRel="sameClick">
                                          <p:stCondLst>
                                            <p:cond evt="begin" delay="0">
                                              <p:tn val="166"/>
                                            </p:cond>
                                          </p:stCondLst>
                                          <p:endCondLst>
                                            <p:cond evt="onStopAudio" delay="0">
                                              <p:tgtEl>
                                                <p:sldTgt/>
                                              </p:tgtEl>
                                            </p:cond>
                                          </p:endCondLst>
                                        </p:cTn>
                                        <p:tgtEl>
                                          <p:sndTgt r:embed="rId6"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8"/>
                                        </p:tgtEl>
                                        <p:attrNameLst>
                                          <p:attrName>style.visibility</p:attrName>
                                        </p:attrNameLst>
                                      </p:cBhvr>
                                      <p:to>
                                        <p:strVal val="visible"/>
                                      </p:to>
                                    </p:set>
                                    <p:animEffect transition="in" filter="wedge">
                                      <p:cBhvr>
                                        <p:cTn id="171" dur="2000"/>
                                        <p:tgtEl>
                                          <p:spTgt spid="148"/>
                                        </p:tgtEl>
                                      </p:cBhvr>
                                    </p:animEffect>
                                  </p:childTnLst>
                                  <p:subTnLst>
                                    <p:audio>
                                      <p:cMediaNode>
                                        <p:cTn display="0" masterRel="sameClick">
                                          <p:stCondLst>
                                            <p:cond evt="begin" delay="0">
                                              <p:tn val="169"/>
                                            </p:cond>
                                          </p:stCondLst>
                                          <p:endCondLst>
                                            <p:cond evt="onStopAudio" delay="0">
                                              <p:tgtEl>
                                                <p:sldTgt/>
                                              </p:tgtEl>
                                            </p:cond>
                                          </p:endCondLst>
                                        </p:cTn>
                                        <p:tgtEl>
                                          <p:sndTgt r:embed="rId6" name="CHIMES.WAV"/>
                                        </p:tgtEl>
                                      </p:cMediaNode>
                                    </p:audio>
                                  </p:subTnLst>
                                </p:cTn>
                              </p:par>
                              <p:par>
                                <p:cTn id="172" presetID="20" presetClass="entr" presetSubtype="0" fill="hold" grpId="0" nodeType="withEffect">
                                  <p:stCondLst>
                                    <p:cond delay="300"/>
                                  </p:stCondLst>
                                  <p:childTnLst>
                                    <p:set>
                                      <p:cBhvr>
                                        <p:cTn id="173" dur="1" fill="hold">
                                          <p:stCondLst>
                                            <p:cond delay="0"/>
                                          </p:stCondLst>
                                        </p:cTn>
                                        <p:tgtEl>
                                          <p:spTgt spid="145"/>
                                        </p:tgtEl>
                                        <p:attrNameLst>
                                          <p:attrName>style.visibility</p:attrName>
                                        </p:attrNameLst>
                                      </p:cBhvr>
                                      <p:to>
                                        <p:strVal val="visible"/>
                                      </p:to>
                                    </p:set>
                                    <p:animEffect transition="in" filter="wedge">
                                      <p:cBhvr>
                                        <p:cTn id="174" dur="2000"/>
                                        <p:tgtEl>
                                          <p:spTgt spid="145"/>
                                        </p:tgtEl>
                                      </p:cBhvr>
                                    </p:animEffect>
                                  </p:childTnLst>
                                  <p:subTnLst>
                                    <p:audio>
                                      <p:cMediaNode>
                                        <p:cTn display="0" masterRel="sameClick">
                                          <p:stCondLst>
                                            <p:cond evt="begin" delay="0">
                                              <p:tn val="172"/>
                                            </p:cond>
                                          </p:stCondLst>
                                          <p:endCondLst>
                                            <p:cond evt="onStopAudio" delay="0">
                                              <p:tgtEl>
                                                <p:sldTgt/>
                                              </p:tgtEl>
                                            </p:cond>
                                          </p:endCondLst>
                                        </p:cTn>
                                        <p:tgtEl>
                                          <p:sndTgt r:embed="rId6" name="CHIMES.WAV"/>
                                        </p:tgtEl>
                                      </p:cMediaNode>
                                    </p:audio>
                                  </p:subTnLst>
                                </p:cTn>
                              </p:par>
                              <p:par>
                                <p:cTn id="175" presetID="20" presetClass="entr" presetSubtype="0" fill="hold" grpId="0" nodeType="withEffect">
                                  <p:stCondLst>
                                    <p:cond delay="300"/>
                                  </p:stCondLst>
                                  <p:childTnLst>
                                    <p:set>
                                      <p:cBhvr>
                                        <p:cTn id="176" dur="1" fill="hold">
                                          <p:stCondLst>
                                            <p:cond delay="0"/>
                                          </p:stCondLst>
                                        </p:cTn>
                                        <p:tgtEl>
                                          <p:spTgt spid="147"/>
                                        </p:tgtEl>
                                        <p:attrNameLst>
                                          <p:attrName>style.visibility</p:attrName>
                                        </p:attrNameLst>
                                      </p:cBhvr>
                                      <p:to>
                                        <p:strVal val="visible"/>
                                      </p:to>
                                    </p:set>
                                    <p:animEffect transition="in" filter="wedge">
                                      <p:cBhvr>
                                        <p:cTn id="177" dur="2000"/>
                                        <p:tgtEl>
                                          <p:spTgt spid="147"/>
                                        </p:tgtEl>
                                      </p:cBhvr>
                                    </p:animEffect>
                                  </p:childTnLst>
                                  <p:subTnLst>
                                    <p:audio>
                                      <p:cMediaNode>
                                        <p:cTn display="0" masterRel="sameClick">
                                          <p:stCondLst>
                                            <p:cond evt="begin" delay="0">
                                              <p:tn val="175"/>
                                            </p:cond>
                                          </p:stCondLst>
                                          <p:endCondLst>
                                            <p:cond evt="onStopAudio" delay="0">
                                              <p:tgtEl>
                                                <p:sldTgt/>
                                              </p:tgtEl>
                                            </p:cond>
                                          </p:endCondLst>
                                        </p:cTn>
                                        <p:tgtEl>
                                          <p:sndTgt r:embed="rId6" name="CHIMES.WAV"/>
                                        </p:tgtEl>
                                      </p:cMediaNode>
                                    </p:audio>
                                  </p:sub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2" fill="hold" display="0">
                  <p:stCondLst>
                    <p:cond delay="indefinite"/>
                  </p:stCondLst>
                </p:cTn>
                <p:tgtEl>
                  <p:spTgt spid="2"/>
                </p:tgtEl>
              </p:cMediaNode>
            </p:video>
          </p:childTnLst>
        </p:cTn>
      </p:par>
    </p:tnLst>
    <p:bldLst>
      <p:bldP spid="9" grpId="0" animBg="1"/>
      <p:bldP spid="111" grpId="0" autoUpdateAnimBg="0"/>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854102"/>
            <a:ext cx="4651988" cy="5417341"/>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8435283" y="2411633"/>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1370233"/>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1687733"/>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1363883"/>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1373408"/>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1516283"/>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1859183"/>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1192433"/>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1001933"/>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1973483"/>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98923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1954433"/>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164010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p>
        </p:txBody>
      </p:sp>
      <p:sp>
        <p:nvSpPr>
          <p:cNvPr id="134" name="Text Box 26"/>
          <p:cNvSpPr txBox="1">
            <a:spLocks noChangeAspect="1" noChangeArrowheads="1"/>
          </p:cNvSpPr>
          <p:nvPr/>
        </p:nvSpPr>
        <p:spPr bwMode="auto">
          <a:xfrm>
            <a:off x="9708458" y="16496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p>
        </p:txBody>
      </p:sp>
      <p:sp>
        <p:nvSpPr>
          <p:cNvPr id="135" name="Text Box 27"/>
          <p:cNvSpPr txBox="1">
            <a:spLocks noChangeAspect="1" noChangeArrowheads="1"/>
          </p:cNvSpPr>
          <p:nvPr/>
        </p:nvSpPr>
        <p:spPr bwMode="auto">
          <a:xfrm>
            <a:off x="8724208" y="127022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p>
        </p:txBody>
      </p:sp>
      <p:sp>
        <p:nvSpPr>
          <p:cNvPr id="136" name="Text Box 28"/>
          <p:cNvSpPr txBox="1">
            <a:spLocks noChangeAspect="1" noChangeArrowheads="1"/>
          </p:cNvSpPr>
          <p:nvPr/>
        </p:nvSpPr>
        <p:spPr bwMode="auto">
          <a:xfrm>
            <a:off x="9708458" y="130673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n-lt"/>
                <a:ea typeface="宋体" panose="02010600030101010101" pitchFamily="2" charset="-122"/>
              </a:rPr>
              <a:t>d</a:t>
            </a:r>
          </a:p>
        </p:txBody>
      </p:sp>
      <p:sp>
        <p:nvSpPr>
          <p:cNvPr id="137" name="Line 29"/>
          <p:cNvSpPr>
            <a:spLocks noChangeAspect="1" noChangeShapeType="1"/>
          </p:cNvSpPr>
          <p:nvPr/>
        </p:nvSpPr>
        <p:spPr bwMode="auto">
          <a:xfrm>
            <a:off x="9627496" y="2683096"/>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2659283"/>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2754533"/>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3145058"/>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229098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326888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227828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324030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257038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dirty="0">
                <a:solidFill>
                  <a:srgbClr val="000000"/>
                </a:solidFill>
                <a:latin typeface="" pitchFamily="18" charset="-52"/>
                <a:ea typeface="宋体" panose="02010600030101010101" pitchFamily="2" charset="-122"/>
              </a:rPr>
              <a:t>'</a:t>
            </a:r>
          </a:p>
        </p:txBody>
      </p:sp>
      <p:sp>
        <p:nvSpPr>
          <p:cNvPr id="146" name="Text Box 38"/>
          <p:cNvSpPr txBox="1">
            <a:spLocks noChangeAspect="1" noChangeArrowheads="1"/>
          </p:cNvSpPr>
          <p:nvPr/>
        </p:nvSpPr>
        <p:spPr bwMode="auto">
          <a:xfrm>
            <a:off x="8578158" y="2871842"/>
            <a:ext cx="514350" cy="46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sp>
        <p:nvSpPr>
          <p:cNvPr id="147" name="Text Box 39"/>
          <p:cNvSpPr txBox="1">
            <a:spLocks noChangeAspect="1" noChangeArrowheads="1"/>
          </p:cNvSpPr>
          <p:nvPr/>
        </p:nvSpPr>
        <p:spPr bwMode="auto">
          <a:xfrm>
            <a:off x="9603683" y="25640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d</a:t>
            </a:r>
            <a:r>
              <a:rPr lang="en-US" altLang="zh-CN" b="0" dirty="0">
                <a:solidFill>
                  <a:srgbClr val="000000"/>
                </a:solidFill>
                <a:latin typeface="" pitchFamily="18" charset="-52"/>
                <a:ea typeface="宋体" panose="02010600030101010101" pitchFamily="2" charset="-122"/>
              </a:rPr>
              <a:t>'</a:t>
            </a:r>
          </a:p>
        </p:txBody>
      </p:sp>
      <p:sp>
        <p:nvSpPr>
          <p:cNvPr id="148" name="Text Box 40"/>
          <p:cNvSpPr txBox="1">
            <a:spLocks noChangeAspect="1" noChangeArrowheads="1"/>
          </p:cNvSpPr>
          <p:nvPr/>
        </p:nvSpPr>
        <p:spPr bwMode="auto">
          <a:xfrm>
            <a:off x="9717983" y="29069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p>
        </p:txBody>
      </p:sp>
      <p:sp>
        <p:nvSpPr>
          <p:cNvPr id="149" name="Arc 41"/>
          <p:cNvSpPr>
            <a:spLocks noChangeAspect="1"/>
          </p:cNvSpPr>
          <p:nvPr/>
        </p:nvSpPr>
        <p:spPr bwMode="auto">
          <a:xfrm rot="4171949" flipH="1" flipV="1">
            <a:off x="8364640" y="2580702"/>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256720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10364096" y="263388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10107715" y="260927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2392583"/>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148612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148612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1517871"/>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8001896" y="148453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5" name="Text Box 64"/>
          <p:cNvSpPr txBox="1">
            <a:spLocks noChangeAspect="1" noChangeArrowheads="1"/>
          </p:cNvSpPr>
          <p:nvPr/>
        </p:nvSpPr>
        <p:spPr bwMode="auto">
          <a:xfrm>
            <a:off x="8932171" y="865408"/>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1455958"/>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440311" y="1107096"/>
            <a:ext cx="6523921"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zh-CN" altLang="en-US" sz="2800" i="0" dirty="0">
                <a:latin typeface="+mn-lt"/>
                <a:ea typeface="微软雅黑" panose="020B0503020204020204" pitchFamily="34" charset="-122"/>
              </a:rPr>
              <a:t>可以看出，梁下部的纵向纤维受拉伸长，上部的纵向纤维受压缩短，其间必有一层纤维既不伸长也不缩短，这层纤维称为</a:t>
            </a:r>
            <a:r>
              <a:rPr kumimoji="1" lang="zh-CN" altLang="en-US" sz="2800" i="0" dirty="0">
                <a:solidFill>
                  <a:srgbClr val="FF00FF"/>
                </a:solidFill>
                <a:latin typeface="+mn-lt"/>
                <a:ea typeface="微软雅黑" panose="020B0503020204020204" pitchFamily="34" charset="-122"/>
              </a:rPr>
              <a:t>中性层</a:t>
            </a:r>
            <a:r>
              <a:rPr kumimoji="1" lang="zh-CN" altLang="en-US" sz="2800" i="0" dirty="0">
                <a:latin typeface="+mn-lt"/>
                <a:ea typeface="微软雅黑" panose="020B0503020204020204" pitchFamily="34" charset="-122"/>
              </a:rPr>
              <a:t>，中性层和横截面的交线称为中性轴</a:t>
            </a:r>
            <a:r>
              <a:rPr kumimoji="1" lang="zh-CN" altLang="en-US" sz="2800" i="0" dirty="0">
                <a:solidFill>
                  <a:srgbClr val="FF00FF"/>
                </a:solidFill>
                <a:latin typeface="+mn-lt"/>
                <a:ea typeface="微软雅黑" panose="020B0503020204020204" pitchFamily="34" charset="-122"/>
              </a:rPr>
              <a:t>中性轴</a:t>
            </a:r>
            <a:r>
              <a:rPr kumimoji="1" lang="zh-CN" altLang="en-US" sz="2800" i="0" dirty="0">
                <a:latin typeface="+mn-lt"/>
                <a:ea typeface="微软雅黑" panose="020B0503020204020204" pitchFamily="34" charset="-122"/>
              </a:rPr>
              <a:t>，即图中的 </a:t>
            </a:r>
            <a:r>
              <a:rPr kumimoji="1" lang="en-US" altLang="zh-CN" sz="2800" b="0" dirty="0">
                <a:latin typeface="+mn-lt"/>
                <a:ea typeface="微软雅黑" panose="020B0503020204020204" pitchFamily="34" charset="-122"/>
              </a:rPr>
              <a:t>z </a:t>
            </a:r>
            <a:r>
              <a:rPr kumimoji="1" lang="zh-CN" altLang="en-US" sz="2800" i="0" dirty="0">
                <a:latin typeface="+mn-lt"/>
                <a:ea typeface="微软雅黑" panose="020B0503020204020204" pitchFamily="34" charset="-122"/>
              </a:rPr>
              <a:t>轴。梁的横截面绕 </a:t>
            </a:r>
            <a:r>
              <a:rPr kumimoji="1" lang="en-US" altLang="zh-CN" sz="2800" b="0" dirty="0">
                <a:latin typeface="+mn-lt"/>
                <a:ea typeface="微软雅黑" panose="020B0503020204020204" pitchFamily="34" charset="-122"/>
              </a:rPr>
              <a:t>z </a:t>
            </a:r>
            <a:r>
              <a:rPr kumimoji="1" lang="zh-CN" altLang="en-US" sz="2800" i="0" dirty="0">
                <a:latin typeface="+mn-lt"/>
                <a:ea typeface="微软雅黑" panose="020B0503020204020204" pitchFamily="34" charset="-122"/>
              </a:rPr>
              <a:t>轴转动一微小角度。</a:t>
            </a:r>
          </a:p>
          <a:p>
            <a:pPr algn="just" eaLnBrk="1" hangingPunct="1">
              <a:lnSpc>
                <a:spcPct val="120000"/>
              </a:lnSpc>
            </a:pPr>
            <a:endParaRPr kumimoji="1" lang="zh-CN" altLang="en-US" sz="2800" i="0" dirty="0">
              <a:latin typeface="+mn-lt"/>
              <a:ea typeface="微软雅黑" panose="020B0503020204020204" pitchFamily="34" charset="-122"/>
            </a:endParaRPr>
          </a:p>
        </p:txBody>
      </p:sp>
      <p:sp>
        <p:nvSpPr>
          <p:cNvPr id="63" name="Text Box 4"/>
          <p:cNvSpPr txBox="1">
            <a:spLocks noChangeAspect="1" noChangeArrowheads="1"/>
          </p:cNvSpPr>
          <p:nvPr/>
        </p:nvSpPr>
        <p:spPr bwMode="auto">
          <a:xfrm>
            <a:off x="10315612" y="4334801"/>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8559837" y="4253731"/>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8137562" y="4809356"/>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8147087" y="5123681"/>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8937662" y="4869681"/>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10233062" y="4660131"/>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9280562" y="4660131"/>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9604412" y="4980806"/>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9813962" y="4341044"/>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spTree>
    <p:extLst>
      <p:ext uri="{BB962C8B-B14F-4D97-AF65-F5344CB8AC3E}">
        <p14:creationId xmlns:p14="http://schemas.microsoft.com/office/powerpoint/2010/main" val="10450144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1478624"/>
            <a:ext cx="4651988" cy="4792819"/>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8435283" y="3136032"/>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2094632"/>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2412132"/>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2088282"/>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2097807"/>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2240682"/>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2583582"/>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1916832"/>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1726332"/>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2697882"/>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171363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2678832"/>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236450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p>
        </p:txBody>
      </p:sp>
      <p:sp>
        <p:nvSpPr>
          <p:cNvPr id="134" name="Text Box 26"/>
          <p:cNvSpPr txBox="1">
            <a:spLocks noChangeAspect="1" noChangeArrowheads="1"/>
          </p:cNvSpPr>
          <p:nvPr/>
        </p:nvSpPr>
        <p:spPr bwMode="auto">
          <a:xfrm>
            <a:off x="9708458" y="23740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p>
        </p:txBody>
      </p:sp>
      <p:sp>
        <p:nvSpPr>
          <p:cNvPr id="135" name="Text Box 27"/>
          <p:cNvSpPr txBox="1">
            <a:spLocks noChangeAspect="1" noChangeArrowheads="1"/>
          </p:cNvSpPr>
          <p:nvPr/>
        </p:nvSpPr>
        <p:spPr bwMode="auto">
          <a:xfrm>
            <a:off x="8724208" y="199462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p>
        </p:txBody>
      </p:sp>
      <p:sp>
        <p:nvSpPr>
          <p:cNvPr id="136" name="Text Box 28"/>
          <p:cNvSpPr txBox="1">
            <a:spLocks noChangeAspect="1" noChangeArrowheads="1"/>
          </p:cNvSpPr>
          <p:nvPr/>
        </p:nvSpPr>
        <p:spPr bwMode="auto">
          <a:xfrm>
            <a:off x="9708458" y="2031132"/>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n-lt"/>
                <a:ea typeface="宋体" panose="02010600030101010101" pitchFamily="2" charset="-122"/>
              </a:rPr>
              <a:t>d</a:t>
            </a:r>
          </a:p>
        </p:txBody>
      </p:sp>
      <p:sp>
        <p:nvSpPr>
          <p:cNvPr id="137" name="Line 29"/>
          <p:cNvSpPr>
            <a:spLocks noChangeAspect="1" noChangeShapeType="1"/>
          </p:cNvSpPr>
          <p:nvPr/>
        </p:nvSpPr>
        <p:spPr bwMode="auto">
          <a:xfrm>
            <a:off x="9627496" y="3407495"/>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3383682"/>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3478932"/>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3869457"/>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3015382"/>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3993282"/>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300268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396470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32947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dirty="0">
                <a:solidFill>
                  <a:srgbClr val="000000"/>
                </a:solidFill>
                <a:latin typeface="" pitchFamily="18" charset="-52"/>
                <a:ea typeface="宋体" panose="02010600030101010101" pitchFamily="2" charset="-122"/>
              </a:rPr>
              <a:t>'</a:t>
            </a:r>
          </a:p>
        </p:txBody>
      </p:sp>
      <p:sp>
        <p:nvSpPr>
          <p:cNvPr id="146" name="Text Box 38"/>
          <p:cNvSpPr txBox="1">
            <a:spLocks noChangeAspect="1" noChangeArrowheads="1"/>
          </p:cNvSpPr>
          <p:nvPr/>
        </p:nvSpPr>
        <p:spPr bwMode="auto">
          <a:xfrm>
            <a:off x="8578158" y="36059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sp>
        <p:nvSpPr>
          <p:cNvPr id="147" name="Text Box 39"/>
          <p:cNvSpPr txBox="1">
            <a:spLocks noChangeAspect="1" noChangeArrowheads="1"/>
          </p:cNvSpPr>
          <p:nvPr/>
        </p:nvSpPr>
        <p:spPr bwMode="auto">
          <a:xfrm>
            <a:off x="9603683" y="32884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d</a:t>
            </a:r>
            <a:r>
              <a:rPr lang="en-US" altLang="zh-CN" b="0" dirty="0">
                <a:solidFill>
                  <a:srgbClr val="000000"/>
                </a:solidFill>
                <a:latin typeface="" pitchFamily="18" charset="-52"/>
                <a:ea typeface="宋体" panose="02010600030101010101" pitchFamily="2" charset="-122"/>
              </a:rPr>
              <a:t>'</a:t>
            </a:r>
          </a:p>
        </p:txBody>
      </p:sp>
      <p:sp>
        <p:nvSpPr>
          <p:cNvPr id="148" name="Text Box 40"/>
          <p:cNvSpPr txBox="1">
            <a:spLocks noChangeAspect="1" noChangeArrowheads="1"/>
          </p:cNvSpPr>
          <p:nvPr/>
        </p:nvSpPr>
        <p:spPr bwMode="auto">
          <a:xfrm>
            <a:off x="9717983" y="36313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r>
              <a:rPr lang="en-US" altLang="zh-CN" b="0" dirty="0">
                <a:solidFill>
                  <a:srgbClr val="000000"/>
                </a:solidFill>
                <a:latin typeface="" pitchFamily="18" charset="-52"/>
                <a:ea typeface="宋体" panose="02010600030101010101" pitchFamily="2" charset="-122"/>
              </a:rPr>
              <a:t>'</a:t>
            </a:r>
          </a:p>
        </p:txBody>
      </p:sp>
      <p:sp>
        <p:nvSpPr>
          <p:cNvPr id="149" name="Arc 41"/>
          <p:cNvSpPr>
            <a:spLocks noChangeAspect="1"/>
          </p:cNvSpPr>
          <p:nvPr/>
        </p:nvSpPr>
        <p:spPr bwMode="auto">
          <a:xfrm rot="4171949" flipH="1" flipV="1">
            <a:off x="8364640" y="330510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329160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10364096" y="335828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10107715" y="333367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3116982"/>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2210520"/>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2210520"/>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224227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8001896" y="220893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5" name="Text Box 64"/>
          <p:cNvSpPr txBox="1">
            <a:spLocks noChangeAspect="1" noChangeArrowheads="1"/>
          </p:cNvSpPr>
          <p:nvPr/>
        </p:nvSpPr>
        <p:spPr bwMode="auto">
          <a:xfrm>
            <a:off x="8932171" y="1589807"/>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2180357"/>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440311" y="1516283"/>
            <a:ext cx="6523921"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．正应力的分布</a:t>
            </a:r>
          </a:p>
          <a:p>
            <a:pPr lvl="0">
              <a:lnSpc>
                <a:spcPct val="130000"/>
              </a:lnSpc>
            </a:pPr>
            <a:r>
              <a:rPr kumimoji="1" lang="zh-CN" altLang="en-US" sz="2800" i="0" dirty="0">
                <a:latin typeface="+mn-lt"/>
                <a:ea typeface="微软雅黑" panose="020B0503020204020204" pitchFamily="34" charset="-122"/>
              </a:rPr>
              <a:t>    　由平面假设可知，矩形截面梁在纯弯曲时的应力分布有如下特点：</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latin typeface="+mn-lt"/>
                <a:ea typeface="微软雅黑" panose="020B0503020204020204" pitchFamily="34" charset="-122"/>
              </a:rPr>
              <a:t>中性轴上的线应变为零，所以其正应力亦为零。</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latin typeface="+mn-lt"/>
                <a:ea typeface="微软雅黑" panose="020B0503020204020204" pitchFamily="34" charset="-122"/>
              </a:rPr>
              <a:t>距中性轴距离相等的各点，其线应变相等。根据胡克定律，它们的正应力也相等。</a:t>
            </a:r>
          </a:p>
        </p:txBody>
      </p:sp>
      <p:sp>
        <p:nvSpPr>
          <p:cNvPr id="63" name="Text Box 4"/>
          <p:cNvSpPr txBox="1">
            <a:spLocks noChangeAspect="1" noChangeArrowheads="1"/>
          </p:cNvSpPr>
          <p:nvPr/>
        </p:nvSpPr>
        <p:spPr bwMode="auto">
          <a:xfrm>
            <a:off x="10315612" y="4577769"/>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8559837" y="4496699"/>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8137562" y="5052324"/>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8147087" y="5366649"/>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8937662" y="5112649"/>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10233062" y="4903099"/>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9280562" y="4903099"/>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9604412" y="5223774"/>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9813962" y="4584012"/>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sp>
        <p:nvSpPr>
          <p:cNvPr id="93" name="矩形 92"/>
          <p:cNvSpPr/>
          <p:nvPr/>
        </p:nvSpPr>
        <p:spPr>
          <a:xfrm>
            <a:off x="4022124" y="879293"/>
            <a:ext cx="3262432"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弯曲正应力的计算</a:t>
            </a:r>
          </a:p>
        </p:txBody>
      </p:sp>
    </p:spTree>
    <p:extLst>
      <p:ext uri="{BB962C8B-B14F-4D97-AF65-F5344CB8AC3E}">
        <p14:creationId xmlns:p14="http://schemas.microsoft.com/office/powerpoint/2010/main" val="2950421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335360" y="908720"/>
            <a:ext cx="11737304" cy="2859673"/>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1416819" y="2447087"/>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1537469" y="1405687"/>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1346969" y="1723187"/>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2737619" y="1399337"/>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1956569" y="1408862"/>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1956569" y="1551737"/>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1956569" y="1894637"/>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3709169" y="1227887"/>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1794644" y="1037387"/>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1804169" y="2008937"/>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2585219" y="102468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2585219" y="1989887"/>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1727969" y="167556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p>
        </p:txBody>
      </p:sp>
      <p:sp>
        <p:nvSpPr>
          <p:cNvPr id="134" name="Text Box 26"/>
          <p:cNvSpPr txBox="1">
            <a:spLocks noChangeAspect="1" noChangeArrowheads="1"/>
          </p:cNvSpPr>
          <p:nvPr/>
        </p:nvSpPr>
        <p:spPr bwMode="auto">
          <a:xfrm>
            <a:off x="2689994" y="16850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p>
        </p:txBody>
      </p:sp>
      <p:sp>
        <p:nvSpPr>
          <p:cNvPr id="135" name="Text Box 27"/>
          <p:cNvSpPr txBox="1">
            <a:spLocks noChangeAspect="1" noChangeArrowheads="1"/>
          </p:cNvSpPr>
          <p:nvPr/>
        </p:nvSpPr>
        <p:spPr bwMode="auto">
          <a:xfrm>
            <a:off x="1705744" y="13056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p>
        </p:txBody>
      </p:sp>
      <p:sp>
        <p:nvSpPr>
          <p:cNvPr id="136" name="Text Box 28"/>
          <p:cNvSpPr txBox="1">
            <a:spLocks noChangeAspect="1" noChangeArrowheads="1"/>
          </p:cNvSpPr>
          <p:nvPr/>
        </p:nvSpPr>
        <p:spPr bwMode="auto">
          <a:xfrm>
            <a:off x="2689994" y="1342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n-lt"/>
                <a:ea typeface="宋体" panose="02010600030101010101" pitchFamily="2" charset="-122"/>
              </a:rPr>
              <a:t>d</a:t>
            </a:r>
          </a:p>
        </p:txBody>
      </p:sp>
      <p:sp>
        <p:nvSpPr>
          <p:cNvPr id="137" name="Line 29"/>
          <p:cNvSpPr>
            <a:spLocks noChangeAspect="1" noChangeShapeType="1"/>
          </p:cNvSpPr>
          <p:nvPr/>
        </p:nvSpPr>
        <p:spPr bwMode="auto">
          <a:xfrm>
            <a:off x="2609032" y="2718550"/>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1823219" y="2694737"/>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2051819" y="2789987"/>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1878782" y="3180512"/>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1975619" y="232643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1585094" y="330433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2420119" y="231373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2756669" y="327576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1707332" y="260583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dirty="0">
                <a:solidFill>
                  <a:srgbClr val="000000"/>
                </a:solidFill>
                <a:latin typeface="" pitchFamily="18" charset="-52"/>
                <a:ea typeface="宋体" panose="02010600030101010101" pitchFamily="2" charset="-122"/>
              </a:rPr>
              <a:t>'</a:t>
            </a:r>
          </a:p>
        </p:txBody>
      </p:sp>
      <p:sp>
        <p:nvSpPr>
          <p:cNvPr id="146" name="Text Box 38"/>
          <p:cNvSpPr txBox="1">
            <a:spLocks noChangeAspect="1" noChangeArrowheads="1"/>
          </p:cNvSpPr>
          <p:nvPr/>
        </p:nvSpPr>
        <p:spPr bwMode="auto">
          <a:xfrm>
            <a:off x="1559694" y="29169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sp>
        <p:nvSpPr>
          <p:cNvPr id="147" name="Text Box 39"/>
          <p:cNvSpPr txBox="1">
            <a:spLocks noChangeAspect="1" noChangeArrowheads="1"/>
          </p:cNvSpPr>
          <p:nvPr/>
        </p:nvSpPr>
        <p:spPr bwMode="auto">
          <a:xfrm>
            <a:off x="2585219" y="25994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d</a:t>
            </a:r>
            <a:r>
              <a:rPr lang="en-US" altLang="zh-CN" b="0" dirty="0">
                <a:solidFill>
                  <a:srgbClr val="000000"/>
                </a:solidFill>
                <a:latin typeface="" pitchFamily="18" charset="-52"/>
                <a:ea typeface="宋体" panose="02010600030101010101" pitchFamily="2" charset="-122"/>
              </a:rPr>
              <a:t>'</a:t>
            </a:r>
          </a:p>
        </p:txBody>
      </p:sp>
      <p:sp>
        <p:nvSpPr>
          <p:cNvPr id="148" name="Text Box 40"/>
          <p:cNvSpPr txBox="1">
            <a:spLocks noChangeAspect="1" noChangeArrowheads="1"/>
          </p:cNvSpPr>
          <p:nvPr/>
        </p:nvSpPr>
        <p:spPr bwMode="auto">
          <a:xfrm>
            <a:off x="2699519" y="29423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b</a:t>
            </a:r>
            <a:r>
              <a:rPr lang="en-US" altLang="zh-CN" b="0" dirty="0">
                <a:solidFill>
                  <a:srgbClr val="000000"/>
                </a:solidFill>
                <a:latin typeface="" pitchFamily="18" charset="-52"/>
                <a:ea typeface="宋体" panose="02010600030101010101" pitchFamily="2" charset="-122"/>
              </a:rPr>
              <a:t>'</a:t>
            </a:r>
          </a:p>
        </p:txBody>
      </p:sp>
      <p:sp>
        <p:nvSpPr>
          <p:cNvPr id="149" name="Arc 41"/>
          <p:cNvSpPr>
            <a:spLocks noChangeAspect="1"/>
          </p:cNvSpPr>
          <p:nvPr/>
        </p:nvSpPr>
        <p:spPr bwMode="auto">
          <a:xfrm rot="4171949" flipH="1" flipV="1">
            <a:off x="1346176" y="261615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989782" y="26026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3345632" y="266933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3089251" y="264473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3813944" y="2428037"/>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3078932" y="1521575"/>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1326332" y="1521575"/>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3304357" y="15533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983432" y="151998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5" name="Text Box 64"/>
          <p:cNvSpPr txBox="1">
            <a:spLocks noChangeAspect="1" noChangeArrowheads="1"/>
          </p:cNvSpPr>
          <p:nvPr/>
        </p:nvSpPr>
        <p:spPr bwMode="auto">
          <a:xfrm>
            <a:off x="1913707" y="900862"/>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1937519" y="1491412"/>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329244" y="3855744"/>
            <a:ext cx="11743420"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latin typeface="+mn-lt"/>
                <a:ea typeface="微软雅黑" panose="020B0503020204020204" pitchFamily="34" charset="-122"/>
              </a:rPr>
              <a:t>        3) </a:t>
            </a:r>
            <a:r>
              <a:rPr kumimoji="1" lang="zh-CN" altLang="en-US" sz="2800" i="0" dirty="0">
                <a:latin typeface="+mn-lt"/>
                <a:ea typeface="微软雅黑" panose="020B0503020204020204" pitchFamily="34" charset="-122"/>
              </a:rPr>
              <a:t>在图示的受力情况下，中性轴上部各点正应力为负值，中性轴下部各点正应力为正值。</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4) </a:t>
            </a:r>
            <a:r>
              <a:rPr kumimoji="1" lang="zh-CN" altLang="en-US" sz="2800" i="0" dirty="0">
                <a:latin typeface="+mn-lt"/>
                <a:ea typeface="微软雅黑" panose="020B0503020204020204" pitchFamily="34" charset="-122"/>
              </a:rPr>
              <a:t>正应力沿</a:t>
            </a:r>
            <a:r>
              <a:rPr kumimoji="1" lang="en-US" altLang="zh-CN" sz="2800" b="0" dirty="0">
                <a:latin typeface="+mn-lt"/>
                <a:ea typeface="微软雅黑" panose="020B0503020204020204" pitchFamily="34" charset="-122"/>
              </a:rPr>
              <a:t>y</a:t>
            </a:r>
            <a:r>
              <a:rPr kumimoji="1" lang="zh-CN" altLang="en-US" sz="2800" i="0" dirty="0">
                <a:latin typeface="+mn-lt"/>
                <a:ea typeface="微软雅黑" panose="020B0503020204020204" pitchFamily="34" charset="-122"/>
              </a:rPr>
              <a:t>轴线性分布，即</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Ky</a:t>
            </a:r>
            <a:r>
              <a:rPr kumimoji="1" lang="en-US" altLang="zh-CN" sz="2800" b="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或 </a:t>
            </a:r>
            <a:r>
              <a:rPr kumimoji="1" lang="en-US" altLang="zh-CN" sz="2800" b="0" dirty="0">
                <a:latin typeface="+mn-lt"/>
                <a:ea typeface="微软雅黑" panose="020B0503020204020204" pitchFamily="34" charset="-122"/>
              </a:rPr>
              <a:t>K=</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 /y</a:t>
            </a:r>
            <a:r>
              <a:rPr kumimoji="1" lang="zh-CN" altLang="en-US" sz="280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K</a:t>
            </a:r>
            <a:r>
              <a:rPr kumimoji="1" lang="zh-CN" altLang="en-US" sz="2800" i="0" dirty="0">
                <a:latin typeface="+mn-lt"/>
                <a:ea typeface="微软雅黑" panose="020B0503020204020204" pitchFamily="34" charset="-122"/>
              </a:rPr>
              <a:t>为待定常数。</a:t>
            </a:r>
            <a:endParaRPr kumimoji="1" lang="en-US" altLang="zh-CN" sz="2800" i="0" dirty="0">
              <a:latin typeface="+mn-lt"/>
              <a:ea typeface="微软雅黑" panose="020B0503020204020204" pitchFamily="34" charset="-122"/>
            </a:endParaRPr>
          </a:p>
          <a:p>
            <a:pPr>
              <a:lnSpc>
                <a:spcPct val="130000"/>
              </a:lnSpc>
            </a:pPr>
            <a:r>
              <a:rPr kumimoji="1" lang="en-US" altLang="zh-CN"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a:t>
            </a:r>
            <a:r>
              <a:rPr kumimoji="1" lang="en-US" altLang="zh-CN" sz="2800" b="0" dirty="0">
                <a:solidFill>
                  <a:srgbClr val="FF00FF"/>
                </a:solidFill>
                <a:ea typeface="微软雅黑" panose="020B0503020204020204" pitchFamily="34" charset="-122"/>
              </a:rPr>
              <a:t>K=E/</a:t>
            </a:r>
            <a:r>
              <a:rPr kumimoji="1" lang="el-GR" altLang="zh-CN" sz="2800" b="0" dirty="0">
                <a:solidFill>
                  <a:srgbClr val="FF00FF"/>
                </a:solidFill>
                <a:ea typeface="微软雅黑" panose="020B0503020204020204" pitchFamily="34" charset="-122"/>
              </a:rPr>
              <a:t>ρ</a:t>
            </a:r>
            <a:r>
              <a:rPr kumimoji="1" lang="en-US" altLang="zh-CN" sz="2800" b="0" dirty="0">
                <a:solidFill>
                  <a:srgbClr val="FF00FF"/>
                </a:solidFill>
                <a:ea typeface="微软雅黑" panose="020B0503020204020204" pitchFamily="34" charset="-122"/>
              </a:rPr>
              <a:t>        </a:t>
            </a:r>
            <a:r>
              <a:rPr kumimoji="1" lang="el-GR" altLang="zh-CN" sz="2800" b="0" dirty="0">
                <a:solidFill>
                  <a:srgbClr val="FF00FF"/>
                </a:solidFill>
                <a:ea typeface="微软雅黑" panose="020B0503020204020204" pitchFamily="34" charset="-122"/>
              </a:rPr>
              <a:t>ρ </a:t>
            </a:r>
            <a:r>
              <a:rPr kumimoji="1" lang="zh-CN" altLang="en-US" sz="2800" i="0" dirty="0">
                <a:solidFill>
                  <a:srgbClr val="FF00FF"/>
                </a:solidFill>
                <a:ea typeface="微软雅黑" panose="020B0503020204020204" pitchFamily="34" charset="-122"/>
              </a:rPr>
              <a:t>为截面弯矩作用下轴线弯曲的曲率半径</a:t>
            </a:r>
            <a:r>
              <a:rPr kumimoji="1" lang="zh-CN" altLang="en-US" sz="2800" i="0" dirty="0">
                <a:latin typeface="+mn-lt"/>
                <a:ea typeface="微软雅黑" panose="020B0503020204020204" pitchFamily="34" charset="-122"/>
              </a:rPr>
              <a:t>）</a:t>
            </a:r>
          </a:p>
        </p:txBody>
      </p:sp>
      <p:sp>
        <p:nvSpPr>
          <p:cNvPr id="63" name="Text Box 4"/>
          <p:cNvSpPr txBox="1">
            <a:spLocks noChangeAspect="1" noChangeArrowheads="1"/>
          </p:cNvSpPr>
          <p:nvPr/>
        </p:nvSpPr>
        <p:spPr bwMode="auto">
          <a:xfrm>
            <a:off x="7560447" y="1434370"/>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5804672" y="1353300"/>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5382397" y="1908925"/>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5391922" y="2223250"/>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6182497" y="1969250"/>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7477897" y="1759700"/>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6525397" y="1759700"/>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6849247" y="2080375"/>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7058797" y="1440613"/>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grpSp>
        <p:nvGrpSpPr>
          <p:cNvPr id="94" name="Group 4"/>
          <p:cNvGrpSpPr>
            <a:grpSpLocks/>
          </p:cNvGrpSpPr>
          <p:nvPr/>
        </p:nvGrpSpPr>
        <p:grpSpPr bwMode="auto">
          <a:xfrm>
            <a:off x="9333434" y="1516019"/>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369969"/>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306469"/>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547769"/>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5350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6493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585869"/>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7636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7128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763669"/>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535069"/>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093869"/>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182769"/>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877969"/>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852569"/>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954169"/>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3986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309769"/>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208169"/>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779669"/>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2868569"/>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2970169"/>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414669"/>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325769"/>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224169"/>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779669"/>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109869"/>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779669"/>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2893969"/>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719219"/>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841456"/>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96" name="Text Box 51"/>
          <p:cNvSpPr txBox="1">
            <a:spLocks noChangeArrowheads="1"/>
          </p:cNvSpPr>
          <p:nvPr/>
        </p:nvSpPr>
        <p:spPr bwMode="auto">
          <a:xfrm>
            <a:off x="10435159" y="2922544"/>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97" name="Text Box 52"/>
          <p:cNvSpPr txBox="1">
            <a:spLocks noChangeArrowheads="1"/>
          </p:cNvSpPr>
          <p:nvPr/>
        </p:nvSpPr>
        <p:spPr bwMode="auto">
          <a:xfrm>
            <a:off x="9990659" y="2358981"/>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dirty="0">
                <a:solidFill>
                  <a:srgbClr val="CC0099"/>
                </a:solidFill>
                <a:latin typeface="+mn-lt"/>
                <a:ea typeface="宋体" panose="02010600030101010101" pitchFamily="2" charset="-122"/>
              </a:rPr>
              <a:t>y</a:t>
            </a:r>
          </a:p>
        </p:txBody>
      </p:sp>
      <p:sp>
        <p:nvSpPr>
          <p:cNvPr id="198" name="Text Box 53"/>
          <p:cNvSpPr txBox="1">
            <a:spLocks noChangeArrowheads="1"/>
          </p:cNvSpPr>
          <p:nvPr/>
        </p:nvSpPr>
        <p:spPr bwMode="auto">
          <a:xfrm>
            <a:off x="10447859" y="1347744"/>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mn-lt"/>
                <a:ea typeface="宋体" panose="02010600030101010101" pitchFamily="2" charset="-122"/>
              </a:rPr>
              <a:t>z</a:t>
            </a:r>
          </a:p>
        </p:txBody>
      </p:sp>
      <p:sp>
        <p:nvSpPr>
          <p:cNvPr id="199" name="Text Box 54"/>
          <p:cNvSpPr txBox="1">
            <a:spLocks noChangeArrowheads="1"/>
          </p:cNvSpPr>
          <p:nvPr/>
        </p:nvSpPr>
        <p:spPr bwMode="auto">
          <a:xfrm>
            <a:off x="10415983" y="1069931"/>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1795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090694"/>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1989094"/>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2303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3446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290719"/>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219281"/>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Tree>
    <p:extLst>
      <p:ext uri="{BB962C8B-B14F-4D97-AF65-F5344CB8AC3E}">
        <p14:creationId xmlns:p14="http://schemas.microsoft.com/office/powerpoint/2010/main" val="36035505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par>
                    <p:cTn id="215" fill="hold">
                      <p:stCondLst>
                        <p:cond delay="indefinite"/>
                      </p:stCondLst>
                      <p:childTnLst>
                        <p:par>
                          <p:cTn id="216" fill="hold">
                            <p:stCondLst>
                              <p:cond delay="0"/>
                            </p:stCondLst>
                            <p:childTnLst>
                              <p:par>
                                <p:cTn id="217" presetID="20" presetClass="entr" presetSubtype="0" fill="hold" nodeType="clickEffect">
                                  <p:stCondLst>
                                    <p:cond delay="0"/>
                                  </p:stCondLst>
                                  <p:childTnLst>
                                    <p:set>
                                      <p:cBhvr>
                                        <p:cTn id="218" dur="1" fill="hold">
                                          <p:stCondLst>
                                            <p:cond delay="0"/>
                                          </p:stCondLst>
                                        </p:cTn>
                                        <p:tgtEl>
                                          <p:spTgt spid="94"/>
                                        </p:tgtEl>
                                        <p:attrNameLst>
                                          <p:attrName>style.visibility</p:attrName>
                                        </p:attrNameLst>
                                      </p:cBhvr>
                                      <p:to>
                                        <p:strVal val="visible"/>
                                      </p:to>
                                    </p:set>
                                    <p:animEffect transition="in" filter="wedge">
                                      <p:cBhvr>
                                        <p:cTn id="219" dur="5000"/>
                                        <p:tgtEl>
                                          <p:spTgt spid="94"/>
                                        </p:tgtEl>
                                      </p:cBhvr>
                                    </p:animEffect>
                                  </p:childTnLst>
                                  <p:subTnLst>
                                    <p:audio>
                                      <p:cMediaNode>
                                        <p:cTn display="0" masterRel="sameClick">
                                          <p:stCondLst>
                                            <p:cond evt="begin" delay="0">
                                              <p:tn val="217"/>
                                            </p:cond>
                                          </p:stCondLst>
                                          <p:endCondLst>
                                            <p:cond evt="onStopAudio" delay="0">
                                              <p:tgtEl>
                                                <p:sldTgt/>
                                              </p:tgtEl>
                                            </p:cond>
                                          </p:endCondLst>
                                        </p:cTn>
                                        <p:tgtEl>
                                          <p:sndTgt r:embed="rId3" name="CAMERA.WAV"/>
                                        </p:tgtEl>
                                      </p:cMediaNode>
                                    </p:audio>
                                  </p:subTnLst>
                                </p:cTn>
                              </p:par>
                            </p:childTnLst>
                          </p:cTn>
                        </p:par>
                        <p:par>
                          <p:cTn id="220" fill="hold">
                            <p:stCondLst>
                              <p:cond delay="5000"/>
                            </p:stCondLst>
                            <p:childTnLst>
                              <p:par>
                                <p:cTn id="221" presetID="18" presetClass="entr" presetSubtype="3" fill="hold" grpId="0" nodeType="afterEffect">
                                  <p:stCondLst>
                                    <p:cond delay="1000"/>
                                  </p:stCondLst>
                                  <p:childTnLst>
                                    <p:set>
                                      <p:cBhvr>
                                        <p:cTn id="222" dur="1" fill="hold">
                                          <p:stCondLst>
                                            <p:cond delay="0"/>
                                          </p:stCondLst>
                                        </p:cTn>
                                        <p:tgtEl>
                                          <p:spTgt spid="106"/>
                                        </p:tgtEl>
                                        <p:attrNameLst>
                                          <p:attrName>style.visibility</p:attrName>
                                        </p:attrNameLst>
                                      </p:cBhvr>
                                      <p:to>
                                        <p:strVal val="visible"/>
                                      </p:to>
                                    </p:set>
                                    <p:animEffect transition="in" filter="strips(upRight)">
                                      <p:cBhvr>
                                        <p:cTn id="223" dur="3000"/>
                                        <p:tgtEl>
                                          <p:spTgt spid="106"/>
                                        </p:tgtEl>
                                      </p:cBhvr>
                                    </p:animEffect>
                                  </p:childTnLst>
                                  <p:subTnLst>
                                    <p:audio>
                                      <p:cMediaNode>
                                        <p:cTn display="0" masterRel="sameClick">
                                          <p:stCondLst>
                                            <p:cond evt="begin" delay="0">
                                              <p:tn val="221"/>
                                            </p:cond>
                                          </p:stCondLst>
                                          <p:endCondLst>
                                            <p:cond evt="onStopAudio" delay="0">
                                              <p:tgtEl>
                                                <p:sldTgt/>
                                              </p:tgtEl>
                                            </p:cond>
                                          </p:endCondLst>
                                        </p:cTn>
                                        <p:tgtEl>
                                          <p:sndTgt r:embed="rId4" name="CHIMES.WAV"/>
                                        </p:tgtEl>
                                      </p:cMediaNode>
                                    </p:audio>
                                  </p:subTnLst>
                                </p:cTn>
                              </p:par>
                            </p:childTnLst>
                          </p:cTn>
                        </p:par>
                        <p:par>
                          <p:cTn id="224" fill="hold">
                            <p:stCondLst>
                              <p:cond delay="9000"/>
                            </p:stCondLst>
                            <p:childTnLst>
                              <p:par>
                                <p:cTn id="225" presetID="17" presetClass="entr" presetSubtype="10" fill="hold" grpId="0" nodeType="afterEffect">
                                  <p:stCondLst>
                                    <p:cond delay="300"/>
                                  </p:stCondLst>
                                  <p:childTnLst>
                                    <p:set>
                                      <p:cBhvr>
                                        <p:cTn id="226" dur="1" fill="hold">
                                          <p:stCondLst>
                                            <p:cond delay="0"/>
                                          </p:stCondLst>
                                        </p:cTn>
                                        <p:tgtEl>
                                          <p:spTgt spid="198"/>
                                        </p:tgtEl>
                                        <p:attrNameLst>
                                          <p:attrName>style.visibility</p:attrName>
                                        </p:attrNameLst>
                                      </p:cBhvr>
                                      <p:to>
                                        <p:strVal val="visible"/>
                                      </p:to>
                                    </p:set>
                                    <p:anim calcmode="lin" valueType="num">
                                      <p:cBhvr>
                                        <p:cTn id="227" dur="3000" fill="hold"/>
                                        <p:tgtEl>
                                          <p:spTgt spid="198"/>
                                        </p:tgtEl>
                                        <p:attrNameLst>
                                          <p:attrName>ppt_w</p:attrName>
                                        </p:attrNameLst>
                                      </p:cBhvr>
                                      <p:tavLst>
                                        <p:tav tm="0">
                                          <p:val>
                                            <p:fltVal val="0"/>
                                          </p:val>
                                        </p:tav>
                                        <p:tav tm="100000">
                                          <p:val>
                                            <p:strVal val="#ppt_w"/>
                                          </p:val>
                                        </p:tav>
                                      </p:tavLst>
                                    </p:anim>
                                    <p:anim calcmode="lin" valueType="num">
                                      <p:cBhvr>
                                        <p:cTn id="228"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5"/>
                                            </p:cond>
                                          </p:stCondLst>
                                          <p:endCondLst>
                                            <p:cond evt="onStopAudio" delay="0">
                                              <p:tgtEl>
                                                <p:sldTgt/>
                                              </p:tgtEl>
                                            </p:cond>
                                          </p:endCondLst>
                                        </p:cTn>
                                        <p:tgtEl>
                                          <p:sndTgt r:embed="rId4" name="CHIMES.WAV"/>
                                        </p:tgtEl>
                                      </p:cMediaNode>
                                    </p:audio>
                                  </p:subTnLst>
                                </p:cTn>
                              </p:par>
                            </p:childTnLst>
                          </p:cTn>
                        </p:par>
                        <p:par>
                          <p:cTn id="229" fill="hold">
                            <p:stCondLst>
                              <p:cond delay="12300"/>
                            </p:stCondLst>
                            <p:childTnLst>
                              <p:par>
                                <p:cTn id="230" presetID="17" presetClass="entr" presetSubtype="1" fill="hold" grpId="0" nodeType="afterEffect">
                                  <p:stCondLst>
                                    <p:cond delay="300"/>
                                  </p:stCondLst>
                                  <p:childTnLst>
                                    <p:set>
                                      <p:cBhvr>
                                        <p:cTn id="231" dur="1" fill="hold">
                                          <p:stCondLst>
                                            <p:cond delay="0"/>
                                          </p:stCondLst>
                                        </p:cTn>
                                        <p:tgtEl>
                                          <p:spTgt spid="107"/>
                                        </p:tgtEl>
                                        <p:attrNameLst>
                                          <p:attrName>style.visibility</p:attrName>
                                        </p:attrNameLst>
                                      </p:cBhvr>
                                      <p:to>
                                        <p:strVal val="visible"/>
                                      </p:to>
                                    </p:set>
                                    <p:anim calcmode="lin" valueType="num">
                                      <p:cBhvr>
                                        <p:cTn id="232" dur="3000" fill="hold"/>
                                        <p:tgtEl>
                                          <p:spTgt spid="107"/>
                                        </p:tgtEl>
                                        <p:attrNameLst>
                                          <p:attrName>ppt_x</p:attrName>
                                        </p:attrNameLst>
                                      </p:cBhvr>
                                      <p:tavLst>
                                        <p:tav tm="0">
                                          <p:val>
                                            <p:strVal val="#ppt_x"/>
                                          </p:val>
                                        </p:tav>
                                        <p:tav tm="100000">
                                          <p:val>
                                            <p:strVal val="#ppt_x"/>
                                          </p:val>
                                        </p:tav>
                                      </p:tavLst>
                                    </p:anim>
                                    <p:anim calcmode="lin" valueType="num">
                                      <p:cBhvr>
                                        <p:cTn id="233" dur="3000" fill="hold"/>
                                        <p:tgtEl>
                                          <p:spTgt spid="107"/>
                                        </p:tgtEl>
                                        <p:attrNameLst>
                                          <p:attrName>ppt_y</p:attrName>
                                        </p:attrNameLst>
                                      </p:cBhvr>
                                      <p:tavLst>
                                        <p:tav tm="0">
                                          <p:val>
                                            <p:strVal val="#ppt_y-#ppt_h/2"/>
                                          </p:val>
                                        </p:tav>
                                        <p:tav tm="100000">
                                          <p:val>
                                            <p:strVal val="#ppt_y"/>
                                          </p:val>
                                        </p:tav>
                                      </p:tavLst>
                                    </p:anim>
                                    <p:anim calcmode="lin" valueType="num">
                                      <p:cBhvr>
                                        <p:cTn id="234" dur="3000" fill="hold"/>
                                        <p:tgtEl>
                                          <p:spTgt spid="107"/>
                                        </p:tgtEl>
                                        <p:attrNameLst>
                                          <p:attrName>ppt_w</p:attrName>
                                        </p:attrNameLst>
                                      </p:cBhvr>
                                      <p:tavLst>
                                        <p:tav tm="0">
                                          <p:val>
                                            <p:strVal val="#ppt_w"/>
                                          </p:val>
                                        </p:tav>
                                        <p:tav tm="100000">
                                          <p:val>
                                            <p:strVal val="#ppt_w"/>
                                          </p:val>
                                        </p:tav>
                                      </p:tavLst>
                                    </p:anim>
                                    <p:anim calcmode="lin" valueType="num">
                                      <p:cBhvr>
                                        <p:cTn id="235"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30"/>
                                            </p:cond>
                                          </p:stCondLst>
                                          <p:endCondLst>
                                            <p:cond evt="onStopAudio" delay="0">
                                              <p:tgtEl>
                                                <p:sldTgt/>
                                              </p:tgtEl>
                                            </p:cond>
                                          </p:endCondLst>
                                        </p:cTn>
                                        <p:tgtEl>
                                          <p:sndTgt r:embed="rId4" name="CHIMES.WAV"/>
                                        </p:tgtEl>
                                      </p:cMediaNode>
                                    </p:audio>
                                  </p:subTnLst>
                                </p:cTn>
                              </p:par>
                            </p:childTnLst>
                          </p:cTn>
                        </p:par>
                        <p:par>
                          <p:cTn id="236" fill="hold">
                            <p:stCondLst>
                              <p:cond delay="15600"/>
                            </p:stCondLst>
                            <p:childTnLst>
                              <p:par>
                                <p:cTn id="237" presetID="17" presetClass="entr" presetSubtype="10" fill="hold" grpId="0" nodeType="afterEffect">
                                  <p:stCondLst>
                                    <p:cond delay="300"/>
                                  </p:stCondLst>
                                  <p:childTnLst>
                                    <p:set>
                                      <p:cBhvr>
                                        <p:cTn id="238" dur="1" fill="hold">
                                          <p:stCondLst>
                                            <p:cond delay="0"/>
                                          </p:stCondLst>
                                        </p:cTn>
                                        <p:tgtEl>
                                          <p:spTgt spid="197"/>
                                        </p:tgtEl>
                                        <p:attrNameLst>
                                          <p:attrName>style.visibility</p:attrName>
                                        </p:attrNameLst>
                                      </p:cBhvr>
                                      <p:to>
                                        <p:strVal val="visible"/>
                                      </p:to>
                                    </p:set>
                                    <p:anim calcmode="lin" valueType="num">
                                      <p:cBhvr>
                                        <p:cTn id="239" dur="3000" fill="hold"/>
                                        <p:tgtEl>
                                          <p:spTgt spid="197"/>
                                        </p:tgtEl>
                                        <p:attrNameLst>
                                          <p:attrName>ppt_w</p:attrName>
                                        </p:attrNameLst>
                                      </p:cBhvr>
                                      <p:tavLst>
                                        <p:tav tm="0">
                                          <p:val>
                                            <p:fltVal val="0"/>
                                          </p:val>
                                        </p:tav>
                                        <p:tav tm="100000">
                                          <p:val>
                                            <p:strVal val="#ppt_w"/>
                                          </p:val>
                                        </p:tav>
                                      </p:tavLst>
                                    </p:anim>
                                    <p:anim calcmode="lin" valueType="num">
                                      <p:cBhvr>
                                        <p:cTn id="240"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7"/>
                                            </p:cond>
                                          </p:stCondLst>
                                          <p:endCondLst>
                                            <p:cond evt="onStopAudio" delay="0">
                                              <p:tgtEl>
                                                <p:sldTgt/>
                                              </p:tgtEl>
                                            </p:cond>
                                          </p:endCondLst>
                                        </p:cTn>
                                        <p:tgtEl>
                                          <p:sndTgt r:embed="rId4" name="CHIMES.WAV"/>
                                        </p:tgtEl>
                                      </p:cMediaNode>
                                    </p:audio>
                                  </p:subTnLst>
                                </p:cTn>
                              </p:par>
                            </p:childTnLst>
                          </p:cTn>
                        </p:par>
                      </p:childTnLst>
                    </p:cTn>
                  </p:par>
                  <p:par>
                    <p:cTn id="241" fill="hold">
                      <p:stCondLst>
                        <p:cond delay="indefinite"/>
                      </p:stCondLst>
                      <p:childTnLst>
                        <p:par>
                          <p:cTn id="242" fill="hold">
                            <p:stCondLst>
                              <p:cond delay="0"/>
                            </p:stCondLst>
                            <p:childTnLst>
                              <p:par>
                                <p:cTn id="243" presetID="22" presetClass="entr" presetSubtype="4" fill="hold" grpId="0" nodeType="clickEffect">
                                  <p:stCondLst>
                                    <p:cond delay="0"/>
                                  </p:stCondLst>
                                  <p:childTnLst>
                                    <p:set>
                                      <p:cBhvr>
                                        <p:cTn id="244" dur="1" fill="hold">
                                          <p:stCondLst>
                                            <p:cond delay="0"/>
                                          </p:stCondLst>
                                        </p:cTn>
                                        <p:tgtEl>
                                          <p:spTgt spid="194"/>
                                        </p:tgtEl>
                                        <p:attrNameLst>
                                          <p:attrName>style.visibility</p:attrName>
                                        </p:attrNameLst>
                                      </p:cBhvr>
                                      <p:to>
                                        <p:strVal val="visible"/>
                                      </p:to>
                                    </p:set>
                                    <p:animEffect transition="in" filter="wipe(down)">
                                      <p:cBhvr>
                                        <p:cTn id="245" dur="5000"/>
                                        <p:tgtEl>
                                          <p:spTgt spid="194"/>
                                        </p:tgtEl>
                                      </p:cBhvr>
                                    </p:animEffect>
                                  </p:childTnLst>
                                  <p:subTnLst>
                                    <p:audio>
                                      <p:cMediaNode>
                                        <p:cTn display="0" masterRel="sameClick">
                                          <p:stCondLst>
                                            <p:cond evt="begin" delay="0">
                                              <p:tn val="243"/>
                                            </p:cond>
                                          </p:stCondLst>
                                          <p:endCondLst>
                                            <p:cond evt="onStopAudio" delay="0">
                                              <p:tgtEl>
                                                <p:sldTgt/>
                                              </p:tgtEl>
                                            </p:cond>
                                          </p:endCondLst>
                                        </p:cTn>
                                        <p:tgtEl>
                                          <p:sndTgt r:embed="rId3" name="CAMERA.WAV"/>
                                        </p:tgtEl>
                                      </p:cMediaNode>
                                    </p:audio>
                                  </p:subTnLst>
                                </p:cTn>
                              </p:par>
                              <p:par>
                                <p:cTn id="246" presetID="19" presetClass="entr" presetSubtype="10" fill="hold" grpId="0" nodeType="withEffect">
                                  <p:stCondLst>
                                    <p:cond delay="0"/>
                                  </p:stCondLst>
                                  <p:childTnLst>
                                    <p:set>
                                      <p:cBhvr>
                                        <p:cTn id="247" dur="1" fill="hold">
                                          <p:stCondLst>
                                            <p:cond delay="0"/>
                                          </p:stCondLst>
                                        </p:cTn>
                                        <p:tgtEl>
                                          <p:spTgt spid="195"/>
                                        </p:tgtEl>
                                        <p:attrNameLst>
                                          <p:attrName>style.visibility</p:attrName>
                                        </p:attrNameLst>
                                      </p:cBhvr>
                                      <p:to>
                                        <p:strVal val="visible"/>
                                      </p:to>
                                    </p:set>
                                    <p:anim calcmode="lin" valueType="num">
                                      <p:cBhvr>
                                        <p:cTn id="248" dur="3000" fill="hold"/>
                                        <p:tgtEl>
                                          <p:spTgt spid="195"/>
                                        </p:tgtEl>
                                        <p:attrNameLst>
                                          <p:attrName>ppt_w</p:attrName>
                                        </p:attrNameLst>
                                      </p:cBhvr>
                                      <p:tavLst>
                                        <p:tav tm="0" fmla="#ppt_w*sin(2.5*pi*$)">
                                          <p:val>
                                            <p:fltVal val="0"/>
                                          </p:val>
                                        </p:tav>
                                        <p:tav tm="100000">
                                          <p:val>
                                            <p:fltVal val="1"/>
                                          </p:val>
                                        </p:tav>
                                      </p:tavLst>
                                    </p:anim>
                                    <p:anim calcmode="lin" valueType="num">
                                      <p:cBhvr>
                                        <p:cTn id="249"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6"/>
                                            </p:cond>
                                          </p:stCondLst>
                                          <p:endCondLst>
                                            <p:cond evt="onStopAudio" delay="0">
                                              <p:tgtEl>
                                                <p:sldTgt/>
                                              </p:tgtEl>
                                            </p:cond>
                                          </p:endCondLst>
                                        </p:cTn>
                                        <p:tgtEl>
                                          <p:sndTgt r:embed="rId3" name="CAMERA.WAV"/>
                                        </p:tgtEl>
                                      </p:cMediaNode>
                                    </p:audio>
                                  </p:subTnLst>
                                </p:cTn>
                              </p:par>
                              <p:par>
                                <p:cTn id="250" presetID="17" presetClass="entr" presetSubtype="8" fill="hold" grpId="0" nodeType="withEffect">
                                  <p:stCondLst>
                                    <p:cond delay="0"/>
                                  </p:stCondLst>
                                  <p:childTnLst>
                                    <p:set>
                                      <p:cBhvr>
                                        <p:cTn id="251" dur="1" fill="hold">
                                          <p:stCondLst>
                                            <p:cond delay="0"/>
                                          </p:stCondLst>
                                        </p:cTn>
                                        <p:tgtEl>
                                          <p:spTgt spid="176"/>
                                        </p:tgtEl>
                                        <p:attrNameLst>
                                          <p:attrName>style.visibility</p:attrName>
                                        </p:attrNameLst>
                                      </p:cBhvr>
                                      <p:to>
                                        <p:strVal val="visible"/>
                                      </p:to>
                                    </p:set>
                                    <p:anim calcmode="lin" valueType="num">
                                      <p:cBhvr>
                                        <p:cTn id="252" dur="5000" fill="hold"/>
                                        <p:tgtEl>
                                          <p:spTgt spid="176"/>
                                        </p:tgtEl>
                                        <p:attrNameLst>
                                          <p:attrName>ppt_x</p:attrName>
                                        </p:attrNameLst>
                                      </p:cBhvr>
                                      <p:tavLst>
                                        <p:tav tm="0">
                                          <p:val>
                                            <p:strVal val="#ppt_x-#ppt_w/2"/>
                                          </p:val>
                                        </p:tav>
                                        <p:tav tm="100000">
                                          <p:val>
                                            <p:strVal val="#ppt_x"/>
                                          </p:val>
                                        </p:tav>
                                      </p:tavLst>
                                    </p:anim>
                                    <p:anim calcmode="lin" valueType="num">
                                      <p:cBhvr>
                                        <p:cTn id="253" dur="5000" fill="hold"/>
                                        <p:tgtEl>
                                          <p:spTgt spid="176"/>
                                        </p:tgtEl>
                                        <p:attrNameLst>
                                          <p:attrName>ppt_y</p:attrName>
                                        </p:attrNameLst>
                                      </p:cBhvr>
                                      <p:tavLst>
                                        <p:tav tm="0">
                                          <p:val>
                                            <p:strVal val="#ppt_y"/>
                                          </p:val>
                                        </p:tav>
                                        <p:tav tm="100000">
                                          <p:val>
                                            <p:strVal val="#ppt_y"/>
                                          </p:val>
                                        </p:tav>
                                      </p:tavLst>
                                    </p:anim>
                                    <p:anim calcmode="lin" valueType="num">
                                      <p:cBhvr>
                                        <p:cTn id="254" dur="5000" fill="hold"/>
                                        <p:tgtEl>
                                          <p:spTgt spid="176"/>
                                        </p:tgtEl>
                                        <p:attrNameLst>
                                          <p:attrName>ppt_w</p:attrName>
                                        </p:attrNameLst>
                                      </p:cBhvr>
                                      <p:tavLst>
                                        <p:tav tm="0">
                                          <p:val>
                                            <p:fltVal val="0"/>
                                          </p:val>
                                        </p:tav>
                                        <p:tav tm="100000">
                                          <p:val>
                                            <p:strVal val="#ppt_w"/>
                                          </p:val>
                                        </p:tav>
                                      </p:tavLst>
                                    </p:anim>
                                    <p:anim calcmode="lin" valueType="num">
                                      <p:cBhvr>
                                        <p:cTn id="255"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0"/>
                                            </p:cond>
                                          </p:stCondLst>
                                          <p:endCondLst>
                                            <p:cond evt="onStopAudio" delay="0">
                                              <p:tgtEl>
                                                <p:sldTgt/>
                                              </p:tgtEl>
                                            </p:cond>
                                          </p:endCondLst>
                                        </p:cTn>
                                        <p:tgtEl>
                                          <p:sndTgt r:embed="rId4" name="CHIMES.WAV"/>
                                        </p:tgtEl>
                                      </p:cMediaNode>
                                    </p:audio>
                                  </p:subTnLst>
                                </p:cTn>
                              </p:par>
                              <p:par>
                                <p:cTn id="256" presetID="17" presetClass="entr" presetSubtype="8" fill="hold" grpId="0" nodeType="withEffect">
                                  <p:stCondLst>
                                    <p:cond delay="0"/>
                                  </p:stCondLst>
                                  <p:childTnLst>
                                    <p:set>
                                      <p:cBhvr>
                                        <p:cTn id="257" dur="1" fill="hold">
                                          <p:stCondLst>
                                            <p:cond delay="0"/>
                                          </p:stCondLst>
                                        </p:cTn>
                                        <p:tgtEl>
                                          <p:spTgt spid="177"/>
                                        </p:tgtEl>
                                        <p:attrNameLst>
                                          <p:attrName>style.visibility</p:attrName>
                                        </p:attrNameLst>
                                      </p:cBhvr>
                                      <p:to>
                                        <p:strVal val="visible"/>
                                      </p:to>
                                    </p:set>
                                    <p:anim calcmode="lin" valueType="num">
                                      <p:cBhvr>
                                        <p:cTn id="258" dur="5000" fill="hold"/>
                                        <p:tgtEl>
                                          <p:spTgt spid="177"/>
                                        </p:tgtEl>
                                        <p:attrNameLst>
                                          <p:attrName>ppt_x</p:attrName>
                                        </p:attrNameLst>
                                      </p:cBhvr>
                                      <p:tavLst>
                                        <p:tav tm="0">
                                          <p:val>
                                            <p:strVal val="#ppt_x-#ppt_w/2"/>
                                          </p:val>
                                        </p:tav>
                                        <p:tav tm="100000">
                                          <p:val>
                                            <p:strVal val="#ppt_x"/>
                                          </p:val>
                                        </p:tav>
                                      </p:tavLst>
                                    </p:anim>
                                    <p:anim calcmode="lin" valueType="num">
                                      <p:cBhvr>
                                        <p:cTn id="259" dur="5000" fill="hold"/>
                                        <p:tgtEl>
                                          <p:spTgt spid="177"/>
                                        </p:tgtEl>
                                        <p:attrNameLst>
                                          <p:attrName>ppt_y</p:attrName>
                                        </p:attrNameLst>
                                      </p:cBhvr>
                                      <p:tavLst>
                                        <p:tav tm="0">
                                          <p:val>
                                            <p:strVal val="#ppt_y"/>
                                          </p:val>
                                        </p:tav>
                                        <p:tav tm="100000">
                                          <p:val>
                                            <p:strVal val="#ppt_y"/>
                                          </p:val>
                                        </p:tav>
                                      </p:tavLst>
                                    </p:anim>
                                    <p:anim calcmode="lin" valueType="num">
                                      <p:cBhvr>
                                        <p:cTn id="260" dur="5000" fill="hold"/>
                                        <p:tgtEl>
                                          <p:spTgt spid="177"/>
                                        </p:tgtEl>
                                        <p:attrNameLst>
                                          <p:attrName>ppt_w</p:attrName>
                                        </p:attrNameLst>
                                      </p:cBhvr>
                                      <p:tavLst>
                                        <p:tav tm="0">
                                          <p:val>
                                            <p:fltVal val="0"/>
                                          </p:val>
                                        </p:tav>
                                        <p:tav tm="100000">
                                          <p:val>
                                            <p:strVal val="#ppt_w"/>
                                          </p:val>
                                        </p:tav>
                                      </p:tavLst>
                                    </p:anim>
                                    <p:anim calcmode="lin" valueType="num">
                                      <p:cBhvr>
                                        <p:cTn id="261"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6"/>
                                            </p:cond>
                                          </p:stCondLst>
                                          <p:endCondLst>
                                            <p:cond evt="onStopAudio" delay="0">
                                              <p:tgtEl>
                                                <p:sldTgt/>
                                              </p:tgtEl>
                                            </p:cond>
                                          </p:endCondLst>
                                        </p:cTn>
                                        <p:tgtEl>
                                          <p:sndTgt r:embed="rId4" name="CHIMES.WAV"/>
                                        </p:tgtEl>
                                      </p:cMediaNode>
                                    </p:audio>
                                  </p:subTnLst>
                                </p:cTn>
                              </p:par>
                              <p:par>
                                <p:cTn id="262" presetID="17" presetClass="entr" presetSubtype="8" fill="hold" grpId="0" nodeType="withEffect">
                                  <p:stCondLst>
                                    <p:cond delay="0"/>
                                  </p:stCondLst>
                                  <p:childTnLst>
                                    <p:set>
                                      <p:cBhvr>
                                        <p:cTn id="263" dur="1" fill="hold">
                                          <p:stCondLst>
                                            <p:cond delay="0"/>
                                          </p:stCondLst>
                                        </p:cTn>
                                        <p:tgtEl>
                                          <p:spTgt spid="178"/>
                                        </p:tgtEl>
                                        <p:attrNameLst>
                                          <p:attrName>style.visibility</p:attrName>
                                        </p:attrNameLst>
                                      </p:cBhvr>
                                      <p:to>
                                        <p:strVal val="visible"/>
                                      </p:to>
                                    </p:set>
                                    <p:anim calcmode="lin" valueType="num">
                                      <p:cBhvr>
                                        <p:cTn id="264" dur="5000" fill="hold"/>
                                        <p:tgtEl>
                                          <p:spTgt spid="178"/>
                                        </p:tgtEl>
                                        <p:attrNameLst>
                                          <p:attrName>ppt_x</p:attrName>
                                        </p:attrNameLst>
                                      </p:cBhvr>
                                      <p:tavLst>
                                        <p:tav tm="0">
                                          <p:val>
                                            <p:strVal val="#ppt_x-#ppt_w/2"/>
                                          </p:val>
                                        </p:tav>
                                        <p:tav tm="100000">
                                          <p:val>
                                            <p:strVal val="#ppt_x"/>
                                          </p:val>
                                        </p:tav>
                                      </p:tavLst>
                                    </p:anim>
                                    <p:anim calcmode="lin" valueType="num">
                                      <p:cBhvr>
                                        <p:cTn id="265" dur="5000" fill="hold"/>
                                        <p:tgtEl>
                                          <p:spTgt spid="178"/>
                                        </p:tgtEl>
                                        <p:attrNameLst>
                                          <p:attrName>ppt_y</p:attrName>
                                        </p:attrNameLst>
                                      </p:cBhvr>
                                      <p:tavLst>
                                        <p:tav tm="0">
                                          <p:val>
                                            <p:strVal val="#ppt_y"/>
                                          </p:val>
                                        </p:tav>
                                        <p:tav tm="100000">
                                          <p:val>
                                            <p:strVal val="#ppt_y"/>
                                          </p:val>
                                        </p:tav>
                                      </p:tavLst>
                                    </p:anim>
                                    <p:anim calcmode="lin" valueType="num">
                                      <p:cBhvr>
                                        <p:cTn id="266" dur="5000" fill="hold"/>
                                        <p:tgtEl>
                                          <p:spTgt spid="178"/>
                                        </p:tgtEl>
                                        <p:attrNameLst>
                                          <p:attrName>ppt_w</p:attrName>
                                        </p:attrNameLst>
                                      </p:cBhvr>
                                      <p:tavLst>
                                        <p:tav tm="0">
                                          <p:val>
                                            <p:fltVal val="0"/>
                                          </p:val>
                                        </p:tav>
                                        <p:tav tm="100000">
                                          <p:val>
                                            <p:strVal val="#ppt_w"/>
                                          </p:val>
                                        </p:tav>
                                      </p:tavLst>
                                    </p:anim>
                                    <p:anim calcmode="lin" valueType="num">
                                      <p:cBhvr>
                                        <p:cTn id="267"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2"/>
                                            </p:cond>
                                          </p:stCondLst>
                                          <p:endCondLst>
                                            <p:cond evt="onStopAudio" delay="0">
                                              <p:tgtEl>
                                                <p:sldTgt/>
                                              </p:tgtEl>
                                            </p:cond>
                                          </p:endCondLst>
                                        </p:cTn>
                                        <p:tgtEl>
                                          <p:sndTgt r:embed="rId4" name="CHIMES.WAV"/>
                                        </p:tgtEl>
                                      </p:cMediaNode>
                                    </p:audio>
                                  </p:subTnLst>
                                </p:cTn>
                              </p:par>
                              <p:par>
                                <p:cTn id="268" presetID="17" presetClass="entr" presetSubtype="2" fill="hold" grpId="0" nodeType="withEffect">
                                  <p:stCondLst>
                                    <p:cond delay="0"/>
                                  </p:stCondLst>
                                  <p:childTnLst>
                                    <p:set>
                                      <p:cBhvr>
                                        <p:cTn id="269" dur="1" fill="hold">
                                          <p:stCondLst>
                                            <p:cond delay="0"/>
                                          </p:stCondLst>
                                        </p:cTn>
                                        <p:tgtEl>
                                          <p:spTgt spid="175"/>
                                        </p:tgtEl>
                                        <p:attrNameLst>
                                          <p:attrName>style.visibility</p:attrName>
                                        </p:attrNameLst>
                                      </p:cBhvr>
                                      <p:to>
                                        <p:strVal val="visible"/>
                                      </p:to>
                                    </p:set>
                                    <p:anim calcmode="lin" valueType="num">
                                      <p:cBhvr>
                                        <p:cTn id="270" dur="5000" fill="hold"/>
                                        <p:tgtEl>
                                          <p:spTgt spid="175"/>
                                        </p:tgtEl>
                                        <p:attrNameLst>
                                          <p:attrName>ppt_x</p:attrName>
                                        </p:attrNameLst>
                                      </p:cBhvr>
                                      <p:tavLst>
                                        <p:tav tm="0">
                                          <p:val>
                                            <p:strVal val="#ppt_x+#ppt_w/2"/>
                                          </p:val>
                                        </p:tav>
                                        <p:tav tm="100000">
                                          <p:val>
                                            <p:strVal val="#ppt_x"/>
                                          </p:val>
                                        </p:tav>
                                      </p:tavLst>
                                    </p:anim>
                                    <p:anim calcmode="lin" valueType="num">
                                      <p:cBhvr>
                                        <p:cTn id="271" dur="5000" fill="hold"/>
                                        <p:tgtEl>
                                          <p:spTgt spid="175"/>
                                        </p:tgtEl>
                                        <p:attrNameLst>
                                          <p:attrName>ppt_y</p:attrName>
                                        </p:attrNameLst>
                                      </p:cBhvr>
                                      <p:tavLst>
                                        <p:tav tm="0">
                                          <p:val>
                                            <p:strVal val="#ppt_y"/>
                                          </p:val>
                                        </p:tav>
                                        <p:tav tm="100000">
                                          <p:val>
                                            <p:strVal val="#ppt_y"/>
                                          </p:val>
                                        </p:tav>
                                      </p:tavLst>
                                    </p:anim>
                                    <p:anim calcmode="lin" valueType="num">
                                      <p:cBhvr>
                                        <p:cTn id="272" dur="5000" fill="hold"/>
                                        <p:tgtEl>
                                          <p:spTgt spid="175"/>
                                        </p:tgtEl>
                                        <p:attrNameLst>
                                          <p:attrName>ppt_w</p:attrName>
                                        </p:attrNameLst>
                                      </p:cBhvr>
                                      <p:tavLst>
                                        <p:tav tm="0">
                                          <p:val>
                                            <p:fltVal val="0"/>
                                          </p:val>
                                        </p:tav>
                                        <p:tav tm="100000">
                                          <p:val>
                                            <p:strVal val="#ppt_w"/>
                                          </p:val>
                                        </p:tav>
                                      </p:tavLst>
                                    </p:anim>
                                    <p:anim calcmode="lin" valueType="num">
                                      <p:cBhvr>
                                        <p:cTn id="273"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8"/>
                                            </p:cond>
                                          </p:stCondLst>
                                          <p:endCondLst>
                                            <p:cond evt="onStopAudio" delay="0">
                                              <p:tgtEl>
                                                <p:sldTgt/>
                                              </p:tgtEl>
                                            </p:cond>
                                          </p:endCondLst>
                                        </p:cTn>
                                        <p:tgtEl>
                                          <p:sndTgt r:embed="rId4" name="CHIMES.WAV"/>
                                        </p:tgtEl>
                                      </p:cMediaNode>
                                    </p:audio>
                                  </p:subTnLst>
                                </p:cTn>
                              </p:par>
                              <p:par>
                                <p:cTn id="274" presetID="17" presetClass="entr" presetSubtype="2" fill="hold" grpId="0" nodeType="withEffect">
                                  <p:stCondLst>
                                    <p:cond delay="0"/>
                                  </p:stCondLst>
                                  <p:childTnLst>
                                    <p:set>
                                      <p:cBhvr>
                                        <p:cTn id="275" dur="1" fill="hold">
                                          <p:stCondLst>
                                            <p:cond delay="0"/>
                                          </p:stCondLst>
                                        </p:cTn>
                                        <p:tgtEl>
                                          <p:spTgt spid="174"/>
                                        </p:tgtEl>
                                        <p:attrNameLst>
                                          <p:attrName>style.visibility</p:attrName>
                                        </p:attrNameLst>
                                      </p:cBhvr>
                                      <p:to>
                                        <p:strVal val="visible"/>
                                      </p:to>
                                    </p:set>
                                    <p:anim calcmode="lin" valueType="num">
                                      <p:cBhvr>
                                        <p:cTn id="276" dur="5000" fill="hold"/>
                                        <p:tgtEl>
                                          <p:spTgt spid="174"/>
                                        </p:tgtEl>
                                        <p:attrNameLst>
                                          <p:attrName>ppt_x</p:attrName>
                                        </p:attrNameLst>
                                      </p:cBhvr>
                                      <p:tavLst>
                                        <p:tav tm="0">
                                          <p:val>
                                            <p:strVal val="#ppt_x+#ppt_w/2"/>
                                          </p:val>
                                        </p:tav>
                                        <p:tav tm="100000">
                                          <p:val>
                                            <p:strVal val="#ppt_x"/>
                                          </p:val>
                                        </p:tav>
                                      </p:tavLst>
                                    </p:anim>
                                    <p:anim calcmode="lin" valueType="num">
                                      <p:cBhvr>
                                        <p:cTn id="277" dur="5000" fill="hold"/>
                                        <p:tgtEl>
                                          <p:spTgt spid="174"/>
                                        </p:tgtEl>
                                        <p:attrNameLst>
                                          <p:attrName>ppt_y</p:attrName>
                                        </p:attrNameLst>
                                      </p:cBhvr>
                                      <p:tavLst>
                                        <p:tav tm="0">
                                          <p:val>
                                            <p:strVal val="#ppt_y"/>
                                          </p:val>
                                        </p:tav>
                                        <p:tav tm="100000">
                                          <p:val>
                                            <p:strVal val="#ppt_y"/>
                                          </p:val>
                                        </p:tav>
                                      </p:tavLst>
                                    </p:anim>
                                    <p:anim calcmode="lin" valueType="num">
                                      <p:cBhvr>
                                        <p:cTn id="278" dur="5000" fill="hold"/>
                                        <p:tgtEl>
                                          <p:spTgt spid="174"/>
                                        </p:tgtEl>
                                        <p:attrNameLst>
                                          <p:attrName>ppt_w</p:attrName>
                                        </p:attrNameLst>
                                      </p:cBhvr>
                                      <p:tavLst>
                                        <p:tav tm="0">
                                          <p:val>
                                            <p:fltVal val="0"/>
                                          </p:val>
                                        </p:tav>
                                        <p:tav tm="100000">
                                          <p:val>
                                            <p:strVal val="#ppt_w"/>
                                          </p:val>
                                        </p:tav>
                                      </p:tavLst>
                                    </p:anim>
                                    <p:anim calcmode="lin" valueType="num">
                                      <p:cBhvr>
                                        <p:cTn id="279"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4"/>
                                            </p:cond>
                                          </p:stCondLst>
                                          <p:endCondLst>
                                            <p:cond evt="onStopAudio" delay="0">
                                              <p:tgtEl>
                                                <p:sldTgt/>
                                              </p:tgtEl>
                                            </p:cond>
                                          </p:endCondLst>
                                        </p:cTn>
                                        <p:tgtEl>
                                          <p:sndTgt r:embed="rId4" name="CHIMES.WAV"/>
                                        </p:tgtEl>
                                      </p:cMediaNode>
                                    </p:audio>
                                  </p:subTnLst>
                                </p:cTn>
                              </p:par>
                              <p:par>
                                <p:cTn id="280" presetID="17" presetClass="entr" presetSubtype="2" fill="hold" grpId="0" nodeType="withEffect">
                                  <p:stCondLst>
                                    <p:cond delay="0"/>
                                  </p:stCondLst>
                                  <p:childTnLst>
                                    <p:set>
                                      <p:cBhvr>
                                        <p:cTn id="281" dur="1" fill="hold">
                                          <p:stCondLst>
                                            <p:cond delay="0"/>
                                          </p:stCondLst>
                                        </p:cTn>
                                        <p:tgtEl>
                                          <p:spTgt spid="167"/>
                                        </p:tgtEl>
                                        <p:attrNameLst>
                                          <p:attrName>style.visibility</p:attrName>
                                        </p:attrNameLst>
                                      </p:cBhvr>
                                      <p:to>
                                        <p:strVal val="visible"/>
                                      </p:to>
                                    </p:set>
                                    <p:anim calcmode="lin" valueType="num">
                                      <p:cBhvr>
                                        <p:cTn id="282" dur="5000" fill="hold"/>
                                        <p:tgtEl>
                                          <p:spTgt spid="167"/>
                                        </p:tgtEl>
                                        <p:attrNameLst>
                                          <p:attrName>ppt_x</p:attrName>
                                        </p:attrNameLst>
                                      </p:cBhvr>
                                      <p:tavLst>
                                        <p:tav tm="0">
                                          <p:val>
                                            <p:strVal val="#ppt_x+#ppt_w/2"/>
                                          </p:val>
                                        </p:tav>
                                        <p:tav tm="100000">
                                          <p:val>
                                            <p:strVal val="#ppt_x"/>
                                          </p:val>
                                        </p:tav>
                                      </p:tavLst>
                                    </p:anim>
                                    <p:anim calcmode="lin" valueType="num">
                                      <p:cBhvr>
                                        <p:cTn id="283" dur="5000" fill="hold"/>
                                        <p:tgtEl>
                                          <p:spTgt spid="167"/>
                                        </p:tgtEl>
                                        <p:attrNameLst>
                                          <p:attrName>ppt_y</p:attrName>
                                        </p:attrNameLst>
                                      </p:cBhvr>
                                      <p:tavLst>
                                        <p:tav tm="0">
                                          <p:val>
                                            <p:strVal val="#ppt_y"/>
                                          </p:val>
                                        </p:tav>
                                        <p:tav tm="100000">
                                          <p:val>
                                            <p:strVal val="#ppt_y"/>
                                          </p:val>
                                        </p:tav>
                                      </p:tavLst>
                                    </p:anim>
                                    <p:anim calcmode="lin" valueType="num">
                                      <p:cBhvr>
                                        <p:cTn id="284" dur="5000" fill="hold"/>
                                        <p:tgtEl>
                                          <p:spTgt spid="167"/>
                                        </p:tgtEl>
                                        <p:attrNameLst>
                                          <p:attrName>ppt_w</p:attrName>
                                        </p:attrNameLst>
                                      </p:cBhvr>
                                      <p:tavLst>
                                        <p:tav tm="0">
                                          <p:val>
                                            <p:fltVal val="0"/>
                                          </p:val>
                                        </p:tav>
                                        <p:tav tm="100000">
                                          <p:val>
                                            <p:strVal val="#ppt_w"/>
                                          </p:val>
                                        </p:tav>
                                      </p:tavLst>
                                    </p:anim>
                                    <p:anim calcmode="lin" valueType="num">
                                      <p:cBhvr>
                                        <p:cTn id="285"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0"/>
                                            </p:cond>
                                          </p:stCondLst>
                                          <p:endCondLst>
                                            <p:cond evt="onStopAudio" delay="0">
                                              <p:tgtEl>
                                                <p:sldTgt/>
                                              </p:tgtEl>
                                            </p:cond>
                                          </p:endCondLst>
                                        </p:cTn>
                                        <p:tgtEl>
                                          <p:sndTgt r:embed="rId4" name="CHIMES.WAV"/>
                                        </p:tgtEl>
                                      </p:cMediaNode>
                                    </p:audio>
                                  </p:subTnLst>
                                </p:cTn>
                              </p:par>
                              <p:par>
                                <p:cTn id="286" presetID="17" presetClass="entr" presetSubtype="2" fill="hold" grpId="0" nodeType="withEffect">
                                  <p:stCondLst>
                                    <p:cond delay="0"/>
                                  </p:stCondLst>
                                  <p:childTnLst>
                                    <p:set>
                                      <p:cBhvr>
                                        <p:cTn id="287" dur="1" fill="hold">
                                          <p:stCondLst>
                                            <p:cond delay="0"/>
                                          </p:stCondLst>
                                        </p:cTn>
                                        <p:tgtEl>
                                          <p:spTgt spid="168"/>
                                        </p:tgtEl>
                                        <p:attrNameLst>
                                          <p:attrName>style.visibility</p:attrName>
                                        </p:attrNameLst>
                                      </p:cBhvr>
                                      <p:to>
                                        <p:strVal val="visible"/>
                                      </p:to>
                                    </p:set>
                                    <p:anim calcmode="lin" valueType="num">
                                      <p:cBhvr>
                                        <p:cTn id="288" dur="5000" fill="hold"/>
                                        <p:tgtEl>
                                          <p:spTgt spid="168"/>
                                        </p:tgtEl>
                                        <p:attrNameLst>
                                          <p:attrName>ppt_x</p:attrName>
                                        </p:attrNameLst>
                                      </p:cBhvr>
                                      <p:tavLst>
                                        <p:tav tm="0">
                                          <p:val>
                                            <p:strVal val="#ppt_x+#ppt_w/2"/>
                                          </p:val>
                                        </p:tav>
                                        <p:tav tm="100000">
                                          <p:val>
                                            <p:strVal val="#ppt_x"/>
                                          </p:val>
                                        </p:tav>
                                      </p:tavLst>
                                    </p:anim>
                                    <p:anim calcmode="lin" valueType="num">
                                      <p:cBhvr>
                                        <p:cTn id="289" dur="5000" fill="hold"/>
                                        <p:tgtEl>
                                          <p:spTgt spid="168"/>
                                        </p:tgtEl>
                                        <p:attrNameLst>
                                          <p:attrName>ppt_y</p:attrName>
                                        </p:attrNameLst>
                                      </p:cBhvr>
                                      <p:tavLst>
                                        <p:tav tm="0">
                                          <p:val>
                                            <p:strVal val="#ppt_y"/>
                                          </p:val>
                                        </p:tav>
                                        <p:tav tm="100000">
                                          <p:val>
                                            <p:strVal val="#ppt_y"/>
                                          </p:val>
                                        </p:tav>
                                      </p:tavLst>
                                    </p:anim>
                                    <p:anim calcmode="lin" valueType="num">
                                      <p:cBhvr>
                                        <p:cTn id="290" dur="5000" fill="hold"/>
                                        <p:tgtEl>
                                          <p:spTgt spid="168"/>
                                        </p:tgtEl>
                                        <p:attrNameLst>
                                          <p:attrName>ppt_w</p:attrName>
                                        </p:attrNameLst>
                                      </p:cBhvr>
                                      <p:tavLst>
                                        <p:tav tm="0">
                                          <p:val>
                                            <p:fltVal val="0"/>
                                          </p:val>
                                        </p:tav>
                                        <p:tav tm="100000">
                                          <p:val>
                                            <p:strVal val="#ppt_w"/>
                                          </p:val>
                                        </p:tav>
                                      </p:tavLst>
                                    </p:anim>
                                    <p:anim calcmode="lin" valueType="num">
                                      <p:cBhvr>
                                        <p:cTn id="291"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6"/>
                                            </p:cond>
                                          </p:stCondLst>
                                          <p:endCondLst>
                                            <p:cond evt="onStopAudio" delay="0">
                                              <p:tgtEl>
                                                <p:sldTgt/>
                                              </p:tgtEl>
                                            </p:cond>
                                          </p:endCondLst>
                                        </p:cTn>
                                        <p:tgtEl>
                                          <p:sndTgt r:embed="rId4" name="CHIMES.WAV"/>
                                        </p:tgtEl>
                                      </p:cMediaNode>
                                    </p:audio>
                                  </p:subTnLst>
                                </p:cTn>
                              </p:par>
                              <p:par>
                                <p:cTn id="292" presetID="17" presetClass="entr" presetSubtype="2" fill="hold" grpId="0" nodeType="withEffect">
                                  <p:stCondLst>
                                    <p:cond delay="0"/>
                                  </p:stCondLst>
                                  <p:childTnLst>
                                    <p:set>
                                      <p:cBhvr>
                                        <p:cTn id="293" dur="1" fill="hold">
                                          <p:stCondLst>
                                            <p:cond delay="0"/>
                                          </p:stCondLst>
                                        </p:cTn>
                                        <p:tgtEl>
                                          <p:spTgt spid="110"/>
                                        </p:tgtEl>
                                        <p:attrNameLst>
                                          <p:attrName>style.visibility</p:attrName>
                                        </p:attrNameLst>
                                      </p:cBhvr>
                                      <p:to>
                                        <p:strVal val="visible"/>
                                      </p:to>
                                    </p:set>
                                    <p:anim calcmode="lin" valueType="num">
                                      <p:cBhvr>
                                        <p:cTn id="294" dur="5000" fill="hold"/>
                                        <p:tgtEl>
                                          <p:spTgt spid="110"/>
                                        </p:tgtEl>
                                        <p:attrNameLst>
                                          <p:attrName>ppt_x</p:attrName>
                                        </p:attrNameLst>
                                      </p:cBhvr>
                                      <p:tavLst>
                                        <p:tav tm="0">
                                          <p:val>
                                            <p:strVal val="#ppt_x+#ppt_w/2"/>
                                          </p:val>
                                        </p:tav>
                                        <p:tav tm="100000">
                                          <p:val>
                                            <p:strVal val="#ppt_x"/>
                                          </p:val>
                                        </p:tav>
                                      </p:tavLst>
                                    </p:anim>
                                    <p:anim calcmode="lin" valueType="num">
                                      <p:cBhvr>
                                        <p:cTn id="295" dur="5000" fill="hold"/>
                                        <p:tgtEl>
                                          <p:spTgt spid="110"/>
                                        </p:tgtEl>
                                        <p:attrNameLst>
                                          <p:attrName>ppt_y</p:attrName>
                                        </p:attrNameLst>
                                      </p:cBhvr>
                                      <p:tavLst>
                                        <p:tav tm="0">
                                          <p:val>
                                            <p:strVal val="#ppt_y"/>
                                          </p:val>
                                        </p:tav>
                                        <p:tav tm="100000">
                                          <p:val>
                                            <p:strVal val="#ppt_y"/>
                                          </p:val>
                                        </p:tav>
                                      </p:tavLst>
                                    </p:anim>
                                    <p:anim calcmode="lin" valueType="num">
                                      <p:cBhvr>
                                        <p:cTn id="296" dur="5000" fill="hold"/>
                                        <p:tgtEl>
                                          <p:spTgt spid="110"/>
                                        </p:tgtEl>
                                        <p:attrNameLst>
                                          <p:attrName>ppt_w</p:attrName>
                                        </p:attrNameLst>
                                      </p:cBhvr>
                                      <p:tavLst>
                                        <p:tav tm="0">
                                          <p:val>
                                            <p:fltVal val="0"/>
                                          </p:val>
                                        </p:tav>
                                        <p:tav tm="100000">
                                          <p:val>
                                            <p:strVal val="#ppt_w"/>
                                          </p:val>
                                        </p:tav>
                                      </p:tavLst>
                                    </p:anim>
                                    <p:anim calcmode="lin" valueType="num">
                                      <p:cBhvr>
                                        <p:cTn id="297"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2"/>
                                            </p:cond>
                                          </p:stCondLst>
                                          <p:endCondLst>
                                            <p:cond evt="onStopAudio" delay="0">
                                              <p:tgtEl>
                                                <p:sldTgt/>
                                              </p:tgtEl>
                                            </p:cond>
                                          </p:endCondLst>
                                        </p:cTn>
                                        <p:tgtEl>
                                          <p:sndTgt r:embed="rId4" name="CHIMES.WAV"/>
                                        </p:tgtEl>
                                      </p:cMediaNode>
                                    </p:audio>
                                  </p:subTnLst>
                                </p:cTn>
                              </p:par>
                              <p:par>
                                <p:cTn id="298" presetID="17" presetClass="entr" presetSubtype="2" fill="hold" grpId="0" nodeType="withEffect">
                                  <p:stCondLst>
                                    <p:cond delay="0"/>
                                  </p:stCondLst>
                                  <p:childTnLst>
                                    <p:set>
                                      <p:cBhvr>
                                        <p:cTn id="299" dur="1" fill="hold">
                                          <p:stCondLst>
                                            <p:cond delay="0"/>
                                          </p:stCondLst>
                                        </p:cTn>
                                        <p:tgtEl>
                                          <p:spTgt spid="111"/>
                                        </p:tgtEl>
                                        <p:attrNameLst>
                                          <p:attrName>style.visibility</p:attrName>
                                        </p:attrNameLst>
                                      </p:cBhvr>
                                      <p:to>
                                        <p:strVal val="visible"/>
                                      </p:to>
                                    </p:set>
                                    <p:anim calcmode="lin" valueType="num">
                                      <p:cBhvr>
                                        <p:cTn id="300" dur="5000" fill="hold"/>
                                        <p:tgtEl>
                                          <p:spTgt spid="111"/>
                                        </p:tgtEl>
                                        <p:attrNameLst>
                                          <p:attrName>ppt_x</p:attrName>
                                        </p:attrNameLst>
                                      </p:cBhvr>
                                      <p:tavLst>
                                        <p:tav tm="0">
                                          <p:val>
                                            <p:strVal val="#ppt_x+#ppt_w/2"/>
                                          </p:val>
                                        </p:tav>
                                        <p:tav tm="100000">
                                          <p:val>
                                            <p:strVal val="#ppt_x"/>
                                          </p:val>
                                        </p:tav>
                                      </p:tavLst>
                                    </p:anim>
                                    <p:anim calcmode="lin" valueType="num">
                                      <p:cBhvr>
                                        <p:cTn id="301" dur="5000" fill="hold"/>
                                        <p:tgtEl>
                                          <p:spTgt spid="111"/>
                                        </p:tgtEl>
                                        <p:attrNameLst>
                                          <p:attrName>ppt_y</p:attrName>
                                        </p:attrNameLst>
                                      </p:cBhvr>
                                      <p:tavLst>
                                        <p:tav tm="0">
                                          <p:val>
                                            <p:strVal val="#ppt_y"/>
                                          </p:val>
                                        </p:tav>
                                        <p:tav tm="100000">
                                          <p:val>
                                            <p:strVal val="#ppt_y"/>
                                          </p:val>
                                        </p:tav>
                                      </p:tavLst>
                                    </p:anim>
                                    <p:anim calcmode="lin" valueType="num">
                                      <p:cBhvr>
                                        <p:cTn id="302" dur="5000" fill="hold"/>
                                        <p:tgtEl>
                                          <p:spTgt spid="111"/>
                                        </p:tgtEl>
                                        <p:attrNameLst>
                                          <p:attrName>ppt_w</p:attrName>
                                        </p:attrNameLst>
                                      </p:cBhvr>
                                      <p:tavLst>
                                        <p:tav tm="0">
                                          <p:val>
                                            <p:fltVal val="0"/>
                                          </p:val>
                                        </p:tav>
                                        <p:tav tm="100000">
                                          <p:val>
                                            <p:strVal val="#ppt_w"/>
                                          </p:val>
                                        </p:tav>
                                      </p:tavLst>
                                    </p:anim>
                                    <p:anim calcmode="lin" valueType="num">
                                      <p:cBhvr>
                                        <p:cTn id="303"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8"/>
                                            </p:cond>
                                          </p:stCondLst>
                                          <p:endCondLst>
                                            <p:cond evt="onStopAudio" delay="0">
                                              <p:tgtEl>
                                                <p:sldTgt/>
                                              </p:tgtEl>
                                            </p:cond>
                                          </p:endCondLst>
                                        </p:cTn>
                                        <p:tgtEl>
                                          <p:sndTgt r:embed="rId4" name="CHIMES.WAV"/>
                                        </p:tgtEl>
                                      </p:cMediaNode>
                                    </p:audio>
                                  </p:subTnLst>
                                </p:cTn>
                              </p:par>
                              <p:par>
                                <p:cTn id="304" presetID="17" presetClass="entr" presetSubtype="2" fill="hold" grpId="0" nodeType="withEffect">
                                  <p:stCondLst>
                                    <p:cond delay="0"/>
                                  </p:stCondLst>
                                  <p:childTnLst>
                                    <p:set>
                                      <p:cBhvr>
                                        <p:cTn id="305" dur="1" fill="hold">
                                          <p:stCondLst>
                                            <p:cond delay="0"/>
                                          </p:stCondLst>
                                        </p:cTn>
                                        <p:tgtEl>
                                          <p:spTgt spid="109"/>
                                        </p:tgtEl>
                                        <p:attrNameLst>
                                          <p:attrName>style.visibility</p:attrName>
                                        </p:attrNameLst>
                                      </p:cBhvr>
                                      <p:to>
                                        <p:strVal val="visible"/>
                                      </p:to>
                                    </p:set>
                                    <p:anim calcmode="lin" valueType="num">
                                      <p:cBhvr>
                                        <p:cTn id="306" dur="5000" fill="hold"/>
                                        <p:tgtEl>
                                          <p:spTgt spid="109"/>
                                        </p:tgtEl>
                                        <p:attrNameLst>
                                          <p:attrName>ppt_x</p:attrName>
                                        </p:attrNameLst>
                                      </p:cBhvr>
                                      <p:tavLst>
                                        <p:tav tm="0">
                                          <p:val>
                                            <p:strVal val="#ppt_x+#ppt_w/2"/>
                                          </p:val>
                                        </p:tav>
                                        <p:tav tm="100000">
                                          <p:val>
                                            <p:strVal val="#ppt_x"/>
                                          </p:val>
                                        </p:tav>
                                      </p:tavLst>
                                    </p:anim>
                                    <p:anim calcmode="lin" valueType="num">
                                      <p:cBhvr>
                                        <p:cTn id="307" dur="5000" fill="hold"/>
                                        <p:tgtEl>
                                          <p:spTgt spid="109"/>
                                        </p:tgtEl>
                                        <p:attrNameLst>
                                          <p:attrName>ppt_y</p:attrName>
                                        </p:attrNameLst>
                                      </p:cBhvr>
                                      <p:tavLst>
                                        <p:tav tm="0">
                                          <p:val>
                                            <p:strVal val="#ppt_y"/>
                                          </p:val>
                                        </p:tav>
                                        <p:tav tm="100000">
                                          <p:val>
                                            <p:strVal val="#ppt_y"/>
                                          </p:val>
                                        </p:tav>
                                      </p:tavLst>
                                    </p:anim>
                                    <p:anim calcmode="lin" valueType="num">
                                      <p:cBhvr>
                                        <p:cTn id="308" dur="5000" fill="hold"/>
                                        <p:tgtEl>
                                          <p:spTgt spid="109"/>
                                        </p:tgtEl>
                                        <p:attrNameLst>
                                          <p:attrName>ppt_w</p:attrName>
                                        </p:attrNameLst>
                                      </p:cBhvr>
                                      <p:tavLst>
                                        <p:tav tm="0">
                                          <p:val>
                                            <p:fltVal val="0"/>
                                          </p:val>
                                        </p:tav>
                                        <p:tav tm="100000">
                                          <p:val>
                                            <p:strVal val="#ppt_w"/>
                                          </p:val>
                                        </p:tav>
                                      </p:tavLst>
                                    </p:anim>
                                    <p:anim calcmode="lin" valueType="num">
                                      <p:cBhvr>
                                        <p:cTn id="309"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4"/>
                                            </p:cond>
                                          </p:stCondLst>
                                          <p:endCondLst>
                                            <p:cond evt="onStopAudio" delay="0">
                                              <p:tgtEl>
                                                <p:sldTgt/>
                                              </p:tgtEl>
                                            </p:cond>
                                          </p:endCondLst>
                                        </p:cTn>
                                        <p:tgtEl>
                                          <p:sndTgt r:embed="rId4" name="CHIMES.WAV"/>
                                        </p:tgtEl>
                                      </p:cMediaNode>
                                    </p:audio>
                                  </p:subTnLst>
                                </p:cTn>
                              </p:par>
                              <p:par>
                                <p:cTn id="310" presetID="17" presetClass="entr" presetSubtype="8" fill="hold" grpId="0" nodeType="withEffect">
                                  <p:stCondLst>
                                    <p:cond delay="0"/>
                                  </p:stCondLst>
                                  <p:childTnLst>
                                    <p:set>
                                      <p:cBhvr>
                                        <p:cTn id="311" dur="1" fill="hold">
                                          <p:stCondLst>
                                            <p:cond delay="0"/>
                                          </p:stCondLst>
                                        </p:cTn>
                                        <p:tgtEl>
                                          <p:spTgt spid="202"/>
                                        </p:tgtEl>
                                        <p:attrNameLst>
                                          <p:attrName>style.visibility</p:attrName>
                                        </p:attrNameLst>
                                      </p:cBhvr>
                                      <p:to>
                                        <p:strVal val="visible"/>
                                      </p:to>
                                    </p:set>
                                    <p:anim calcmode="lin" valueType="num">
                                      <p:cBhvr>
                                        <p:cTn id="312" dur="5000" fill="hold"/>
                                        <p:tgtEl>
                                          <p:spTgt spid="202"/>
                                        </p:tgtEl>
                                        <p:attrNameLst>
                                          <p:attrName>ppt_x</p:attrName>
                                        </p:attrNameLst>
                                      </p:cBhvr>
                                      <p:tavLst>
                                        <p:tav tm="0">
                                          <p:val>
                                            <p:strVal val="#ppt_x-#ppt_w/2"/>
                                          </p:val>
                                        </p:tav>
                                        <p:tav tm="100000">
                                          <p:val>
                                            <p:strVal val="#ppt_x"/>
                                          </p:val>
                                        </p:tav>
                                      </p:tavLst>
                                    </p:anim>
                                    <p:anim calcmode="lin" valueType="num">
                                      <p:cBhvr>
                                        <p:cTn id="313" dur="5000" fill="hold"/>
                                        <p:tgtEl>
                                          <p:spTgt spid="202"/>
                                        </p:tgtEl>
                                        <p:attrNameLst>
                                          <p:attrName>ppt_y</p:attrName>
                                        </p:attrNameLst>
                                      </p:cBhvr>
                                      <p:tavLst>
                                        <p:tav tm="0">
                                          <p:val>
                                            <p:strVal val="#ppt_y"/>
                                          </p:val>
                                        </p:tav>
                                        <p:tav tm="100000">
                                          <p:val>
                                            <p:strVal val="#ppt_y"/>
                                          </p:val>
                                        </p:tav>
                                      </p:tavLst>
                                    </p:anim>
                                    <p:anim calcmode="lin" valueType="num">
                                      <p:cBhvr>
                                        <p:cTn id="314" dur="5000" fill="hold"/>
                                        <p:tgtEl>
                                          <p:spTgt spid="202"/>
                                        </p:tgtEl>
                                        <p:attrNameLst>
                                          <p:attrName>ppt_w</p:attrName>
                                        </p:attrNameLst>
                                      </p:cBhvr>
                                      <p:tavLst>
                                        <p:tav tm="0">
                                          <p:val>
                                            <p:fltVal val="0"/>
                                          </p:val>
                                        </p:tav>
                                        <p:tav tm="100000">
                                          <p:val>
                                            <p:strVal val="#ppt_w"/>
                                          </p:val>
                                        </p:tav>
                                      </p:tavLst>
                                    </p:anim>
                                    <p:anim calcmode="lin" valueType="num">
                                      <p:cBhvr>
                                        <p:cTn id="315"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0"/>
                                            </p:cond>
                                          </p:stCondLst>
                                          <p:endCondLst>
                                            <p:cond evt="onStopAudio" delay="0">
                                              <p:tgtEl>
                                                <p:sldTgt/>
                                              </p:tgtEl>
                                            </p:cond>
                                          </p:endCondLst>
                                        </p:cTn>
                                        <p:tgtEl>
                                          <p:sndTgt r:embed="rId4" name="CHIMES.WAV"/>
                                        </p:tgtEl>
                                      </p:cMediaNode>
                                    </p:audio>
                                  </p:subTnLst>
                                </p:cTn>
                              </p:par>
                              <p:par>
                                <p:cTn id="316" presetID="17" presetClass="entr" presetSubtype="8" fill="hold" grpId="0" nodeType="withEffect">
                                  <p:stCondLst>
                                    <p:cond delay="0"/>
                                  </p:stCondLst>
                                  <p:childTnLst>
                                    <p:set>
                                      <p:cBhvr>
                                        <p:cTn id="317" dur="1" fill="hold">
                                          <p:stCondLst>
                                            <p:cond delay="0"/>
                                          </p:stCondLst>
                                        </p:cTn>
                                        <p:tgtEl>
                                          <p:spTgt spid="201"/>
                                        </p:tgtEl>
                                        <p:attrNameLst>
                                          <p:attrName>style.visibility</p:attrName>
                                        </p:attrNameLst>
                                      </p:cBhvr>
                                      <p:to>
                                        <p:strVal val="visible"/>
                                      </p:to>
                                    </p:set>
                                    <p:anim calcmode="lin" valueType="num">
                                      <p:cBhvr>
                                        <p:cTn id="318" dur="5000" fill="hold"/>
                                        <p:tgtEl>
                                          <p:spTgt spid="201"/>
                                        </p:tgtEl>
                                        <p:attrNameLst>
                                          <p:attrName>ppt_x</p:attrName>
                                        </p:attrNameLst>
                                      </p:cBhvr>
                                      <p:tavLst>
                                        <p:tav tm="0">
                                          <p:val>
                                            <p:strVal val="#ppt_x-#ppt_w/2"/>
                                          </p:val>
                                        </p:tav>
                                        <p:tav tm="100000">
                                          <p:val>
                                            <p:strVal val="#ppt_x"/>
                                          </p:val>
                                        </p:tav>
                                      </p:tavLst>
                                    </p:anim>
                                    <p:anim calcmode="lin" valueType="num">
                                      <p:cBhvr>
                                        <p:cTn id="319" dur="5000" fill="hold"/>
                                        <p:tgtEl>
                                          <p:spTgt spid="201"/>
                                        </p:tgtEl>
                                        <p:attrNameLst>
                                          <p:attrName>ppt_y</p:attrName>
                                        </p:attrNameLst>
                                      </p:cBhvr>
                                      <p:tavLst>
                                        <p:tav tm="0">
                                          <p:val>
                                            <p:strVal val="#ppt_y"/>
                                          </p:val>
                                        </p:tav>
                                        <p:tav tm="100000">
                                          <p:val>
                                            <p:strVal val="#ppt_y"/>
                                          </p:val>
                                        </p:tav>
                                      </p:tavLst>
                                    </p:anim>
                                    <p:anim calcmode="lin" valueType="num">
                                      <p:cBhvr>
                                        <p:cTn id="320" dur="5000" fill="hold"/>
                                        <p:tgtEl>
                                          <p:spTgt spid="201"/>
                                        </p:tgtEl>
                                        <p:attrNameLst>
                                          <p:attrName>ppt_w</p:attrName>
                                        </p:attrNameLst>
                                      </p:cBhvr>
                                      <p:tavLst>
                                        <p:tav tm="0">
                                          <p:val>
                                            <p:fltVal val="0"/>
                                          </p:val>
                                        </p:tav>
                                        <p:tav tm="100000">
                                          <p:val>
                                            <p:strVal val="#ppt_w"/>
                                          </p:val>
                                        </p:tav>
                                      </p:tavLst>
                                    </p:anim>
                                    <p:anim calcmode="lin" valueType="num">
                                      <p:cBhvr>
                                        <p:cTn id="321"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6"/>
                                            </p:cond>
                                          </p:stCondLst>
                                          <p:endCondLst>
                                            <p:cond evt="onStopAudio" delay="0">
                                              <p:tgtEl>
                                                <p:sldTgt/>
                                              </p:tgtEl>
                                            </p:cond>
                                          </p:endCondLst>
                                        </p:cTn>
                                        <p:tgtEl>
                                          <p:sndTgt r:embed="rId4" name="CHIMES.WAV"/>
                                        </p:tgtEl>
                                      </p:cMediaNode>
                                    </p:audio>
                                  </p:subTnLst>
                                </p:cTn>
                              </p:par>
                              <p:par>
                                <p:cTn id="322" presetID="17" presetClass="entr" presetSubtype="8" fill="hold" grpId="0" nodeType="withEffect">
                                  <p:stCondLst>
                                    <p:cond delay="0"/>
                                  </p:stCondLst>
                                  <p:childTnLst>
                                    <p:set>
                                      <p:cBhvr>
                                        <p:cTn id="323" dur="1" fill="hold">
                                          <p:stCondLst>
                                            <p:cond delay="0"/>
                                          </p:stCondLst>
                                        </p:cTn>
                                        <p:tgtEl>
                                          <p:spTgt spid="200"/>
                                        </p:tgtEl>
                                        <p:attrNameLst>
                                          <p:attrName>style.visibility</p:attrName>
                                        </p:attrNameLst>
                                      </p:cBhvr>
                                      <p:to>
                                        <p:strVal val="visible"/>
                                      </p:to>
                                    </p:set>
                                    <p:anim calcmode="lin" valueType="num">
                                      <p:cBhvr>
                                        <p:cTn id="324" dur="5000" fill="hold"/>
                                        <p:tgtEl>
                                          <p:spTgt spid="200"/>
                                        </p:tgtEl>
                                        <p:attrNameLst>
                                          <p:attrName>ppt_x</p:attrName>
                                        </p:attrNameLst>
                                      </p:cBhvr>
                                      <p:tavLst>
                                        <p:tav tm="0">
                                          <p:val>
                                            <p:strVal val="#ppt_x-#ppt_w/2"/>
                                          </p:val>
                                        </p:tav>
                                        <p:tav tm="100000">
                                          <p:val>
                                            <p:strVal val="#ppt_x"/>
                                          </p:val>
                                        </p:tav>
                                      </p:tavLst>
                                    </p:anim>
                                    <p:anim calcmode="lin" valueType="num">
                                      <p:cBhvr>
                                        <p:cTn id="325" dur="5000" fill="hold"/>
                                        <p:tgtEl>
                                          <p:spTgt spid="200"/>
                                        </p:tgtEl>
                                        <p:attrNameLst>
                                          <p:attrName>ppt_y</p:attrName>
                                        </p:attrNameLst>
                                      </p:cBhvr>
                                      <p:tavLst>
                                        <p:tav tm="0">
                                          <p:val>
                                            <p:strVal val="#ppt_y"/>
                                          </p:val>
                                        </p:tav>
                                        <p:tav tm="100000">
                                          <p:val>
                                            <p:strVal val="#ppt_y"/>
                                          </p:val>
                                        </p:tav>
                                      </p:tavLst>
                                    </p:anim>
                                    <p:anim calcmode="lin" valueType="num">
                                      <p:cBhvr>
                                        <p:cTn id="326" dur="5000" fill="hold"/>
                                        <p:tgtEl>
                                          <p:spTgt spid="200"/>
                                        </p:tgtEl>
                                        <p:attrNameLst>
                                          <p:attrName>ppt_w</p:attrName>
                                        </p:attrNameLst>
                                      </p:cBhvr>
                                      <p:tavLst>
                                        <p:tav tm="0">
                                          <p:val>
                                            <p:fltVal val="0"/>
                                          </p:val>
                                        </p:tav>
                                        <p:tav tm="100000">
                                          <p:val>
                                            <p:strVal val="#ppt_w"/>
                                          </p:val>
                                        </p:tav>
                                      </p:tavLst>
                                    </p:anim>
                                    <p:anim calcmode="lin" valueType="num">
                                      <p:cBhvr>
                                        <p:cTn id="327"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2"/>
                                            </p:cond>
                                          </p:stCondLst>
                                          <p:endCondLst>
                                            <p:cond evt="onStopAudio" delay="0">
                                              <p:tgtEl>
                                                <p:sldTgt/>
                                              </p:tgtEl>
                                            </p:cond>
                                          </p:endCondLst>
                                        </p:cTn>
                                        <p:tgtEl>
                                          <p:sndTgt r:embed="rId4" name="CHIMES.WAV"/>
                                        </p:tgtEl>
                                      </p:cMediaNode>
                                    </p:audio>
                                  </p:subTnLst>
                                </p:cTn>
                              </p:par>
                              <p:par>
                                <p:cTn id="328" presetID="17" presetClass="entr" presetSubtype="8" fill="hold" grpId="0" nodeType="withEffect">
                                  <p:stCondLst>
                                    <p:cond delay="0"/>
                                  </p:stCondLst>
                                  <p:childTnLst>
                                    <p:set>
                                      <p:cBhvr>
                                        <p:cTn id="329" dur="1" fill="hold">
                                          <p:stCondLst>
                                            <p:cond delay="0"/>
                                          </p:stCondLst>
                                        </p:cTn>
                                        <p:tgtEl>
                                          <p:spTgt spid="203"/>
                                        </p:tgtEl>
                                        <p:attrNameLst>
                                          <p:attrName>style.visibility</p:attrName>
                                        </p:attrNameLst>
                                      </p:cBhvr>
                                      <p:to>
                                        <p:strVal val="visible"/>
                                      </p:to>
                                    </p:set>
                                    <p:anim calcmode="lin" valueType="num">
                                      <p:cBhvr>
                                        <p:cTn id="330" dur="5000" fill="hold"/>
                                        <p:tgtEl>
                                          <p:spTgt spid="203"/>
                                        </p:tgtEl>
                                        <p:attrNameLst>
                                          <p:attrName>ppt_x</p:attrName>
                                        </p:attrNameLst>
                                      </p:cBhvr>
                                      <p:tavLst>
                                        <p:tav tm="0">
                                          <p:val>
                                            <p:strVal val="#ppt_x-#ppt_w/2"/>
                                          </p:val>
                                        </p:tav>
                                        <p:tav tm="100000">
                                          <p:val>
                                            <p:strVal val="#ppt_x"/>
                                          </p:val>
                                        </p:tav>
                                      </p:tavLst>
                                    </p:anim>
                                    <p:anim calcmode="lin" valueType="num">
                                      <p:cBhvr>
                                        <p:cTn id="331" dur="5000" fill="hold"/>
                                        <p:tgtEl>
                                          <p:spTgt spid="203"/>
                                        </p:tgtEl>
                                        <p:attrNameLst>
                                          <p:attrName>ppt_y</p:attrName>
                                        </p:attrNameLst>
                                      </p:cBhvr>
                                      <p:tavLst>
                                        <p:tav tm="0">
                                          <p:val>
                                            <p:strVal val="#ppt_y"/>
                                          </p:val>
                                        </p:tav>
                                        <p:tav tm="100000">
                                          <p:val>
                                            <p:strVal val="#ppt_y"/>
                                          </p:val>
                                        </p:tav>
                                      </p:tavLst>
                                    </p:anim>
                                    <p:anim calcmode="lin" valueType="num">
                                      <p:cBhvr>
                                        <p:cTn id="332" dur="5000" fill="hold"/>
                                        <p:tgtEl>
                                          <p:spTgt spid="203"/>
                                        </p:tgtEl>
                                        <p:attrNameLst>
                                          <p:attrName>ppt_w</p:attrName>
                                        </p:attrNameLst>
                                      </p:cBhvr>
                                      <p:tavLst>
                                        <p:tav tm="0">
                                          <p:val>
                                            <p:fltVal val="0"/>
                                          </p:val>
                                        </p:tav>
                                        <p:tav tm="100000">
                                          <p:val>
                                            <p:strVal val="#ppt_w"/>
                                          </p:val>
                                        </p:tav>
                                      </p:tavLst>
                                    </p:anim>
                                    <p:anim calcmode="lin" valueType="num">
                                      <p:cBhvr>
                                        <p:cTn id="333"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8"/>
                                            </p:cond>
                                          </p:stCondLst>
                                          <p:endCondLst>
                                            <p:cond evt="onStopAudio" delay="0">
                                              <p:tgtEl>
                                                <p:sldTgt/>
                                              </p:tgtEl>
                                            </p:cond>
                                          </p:endCondLst>
                                        </p:cTn>
                                        <p:tgtEl>
                                          <p:sndTgt r:embed="rId4" name="CHIMES.WAV"/>
                                        </p:tgtEl>
                                      </p:cMediaNode>
                                    </p:audio>
                                  </p:subTnLst>
                                </p:cTn>
                              </p:par>
                              <p:par>
                                <p:cTn id="334" presetID="17" presetClass="entr" presetSubtype="8" fill="hold" grpId="0" nodeType="withEffect">
                                  <p:stCondLst>
                                    <p:cond delay="0"/>
                                  </p:stCondLst>
                                  <p:childTnLst>
                                    <p:set>
                                      <p:cBhvr>
                                        <p:cTn id="335" dur="1" fill="hold">
                                          <p:stCondLst>
                                            <p:cond delay="0"/>
                                          </p:stCondLst>
                                        </p:cTn>
                                        <p:tgtEl>
                                          <p:spTgt spid="205"/>
                                        </p:tgtEl>
                                        <p:attrNameLst>
                                          <p:attrName>style.visibility</p:attrName>
                                        </p:attrNameLst>
                                      </p:cBhvr>
                                      <p:to>
                                        <p:strVal val="visible"/>
                                      </p:to>
                                    </p:set>
                                    <p:anim calcmode="lin" valueType="num">
                                      <p:cBhvr>
                                        <p:cTn id="336" dur="5000" fill="hold"/>
                                        <p:tgtEl>
                                          <p:spTgt spid="205"/>
                                        </p:tgtEl>
                                        <p:attrNameLst>
                                          <p:attrName>ppt_x</p:attrName>
                                        </p:attrNameLst>
                                      </p:cBhvr>
                                      <p:tavLst>
                                        <p:tav tm="0">
                                          <p:val>
                                            <p:strVal val="#ppt_x-#ppt_w/2"/>
                                          </p:val>
                                        </p:tav>
                                        <p:tav tm="100000">
                                          <p:val>
                                            <p:strVal val="#ppt_x"/>
                                          </p:val>
                                        </p:tav>
                                      </p:tavLst>
                                    </p:anim>
                                    <p:anim calcmode="lin" valueType="num">
                                      <p:cBhvr>
                                        <p:cTn id="337" dur="5000" fill="hold"/>
                                        <p:tgtEl>
                                          <p:spTgt spid="205"/>
                                        </p:tgtEl>
                                        <p:attrNameLst>
                                          <p:attrName>ppt_y</p:attrName>
                                        </p:attrNameLst>
                                      </p:cBhvr>
                                      <p:tavLst>
                                        <p:tav tm="0">
                                          <p:val>
                                            <p:strVal val="#ppt_y"/>
                                          </p:val>
                                        </p:tav>
                                        <p:tav tm="100000">
                                          <p:val>
                                            <p:strVal val="#ppt_y"/>
                                          </p:val>
                                        </p:tav>
                                      </p:tavLst>
                                    </p:anim>
                                    <p:anim calcmode="lin" valueType="num">
                                      <p:cBhvr>
                                        <p:cTn id="338" dur="5000" fill="hold"/>
                                        <p:tgtEl>
                                          <p:spTgt spid="205"/>
                                        </p:tgtEl>
                                        <p:attrNameLst>
                                          <p:attrName>ppt_w</p:attrName>
                                        </p:attrNameLst>
                                      </p:cBhvr>
                                      <p:tavLst>
                                        <p:tav tm="0">
                                          <p:val>
                                            <p:fltVal val="0"/>
                                          </p:val>
                                        </p:tav>
                                        <p:tav tm="100000">
                                          <p:val>
                                            <p:strVal val="#ppt_w"/>
                                          </p:val>
                                        </p:tav>
                                      </p:tavLst>
                                    </p:anim>
                                    <p:anim calcmode="lin" valueType="num">
                                      <p:cBhvr>
                                        <p:cTn id="339"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4"/>
                                            </p:cond>
                                          </p:stCondLst>
                                          <p:endCondLst>
                                            <p:cond evt="onStopAudio" delay="0">
                                              <p:tgtEl>
                                                <p:sldTgt/>
                                              </p:tgtEl>
                                            </p:cond>
                                          </p:endCondLst>
                                        </p:cTn>
                                        <p:tgtEl>
                                          <p:sndTgt r:embed="rId4" name="CHIMES.WAV"/>
                                        </p:tgtEl>
                                      </p:cMediaNode>
                                    </p:audio>
                                  </p:subTnLst>
                                </p:cTn>
                              </p:par>
                              <p:par>
                                <p:cTn id="340" presetID="17" presetClass="entr" presetSubtype="8" fill="hold" grpId="0" nodeType="withEffect">
                                  <p:stCondLst>
                                    <p:cond delay="0"/>
                                  </p:stCondLst>
                                  <p:childTnLst>
                                    <p:set>
                                      <p:cBhvr>
                                        <p:cTn id="341" dur="1" fill="hold">
                                          <p:stCondLst>
                                            <p:cond delay="0"/>
                                          </p:stCondLst>
                                        </p:cTn>
                                        <p:tgtEl>
                                          <p:spTgt spid="204"/>
                                        </p:tgtEl>
                                        <p:attrNameLst>
                                          <p:attrName>style.visibility</p:attrName>
                                        </p:attrNameLst>
                                      </p:cBhvr>
                                      <p:to>
                                        <p:strVal val="visible"/>
                                      </p:to>
                                    </p:set>
                                    <p:anim calcmode="lin" valueType="num">
                                      <p:cBhvr>
                                        <p:cTn id="342" dur="5000" fill="hold"/>
                                        <p:tgtEl>
                                          <p:spTgt spid="204"/>
                                        </p:tgtEl>
                                        <p:attrNameLst>
                                          <p:attrName>ppt_x</p:attrName>
                                        </p:attrNameLst>
                                      </p:cBhvr>
                                      <p:tavLst>
                                        <p:tav tm="0">
                                          <p:val>
                                            <p:strVal val="#ppt_x-#ppt_w/2"/>
                                          </p:val>
                                        </p:tav>
                                        <p:tav tm="100000">
                                          <p:val>
                                            <p:strVal val="#ppt_x"/>
                                          </p:val>
                                        </p:tav>
                                      </p:tavLst>
                                    </p:anim>
                                    <p:anim calcmode="lin" valueType="num">
                                      <p:cBhvr>
                                        <p:cTn id="343" dur="5000" fill="hold"/>
                                        <p:tgtEl>
                                          <p:spTgt spid="204"/>
                                        </p:tgtEl>
                                        <p:attrNameLst>
                                          <p:attrName>ppt_y</p:attrName>
                                        </p:attrNameLst>
                                      </p:cBhvr>
                                      <p:tavLst>
                                        <p:tav tm="0">
                                          <p:val>
                                            <p:strVal val="#ppt_y"/>
                                          </p:val>
                                        </p:tav>
                                        <p:tav tm="100000">
                                          <p:val>
                                            <p:strVal val="#ppt_y"/>
                                          </p:val>
                                        </p:tav>
                                      </p:tavLst>
                                    </p:anim>
                                    <p:anim calcmode="lin" valueType="num">
                                      <p:cBhvr>
                                        <p:cTn id="344" dur="5000" fill="hold"/>
                                        <p:tgtEl>
                                          <p:spTgt spid="204"/>
                                        </p:tgtEl>
                                        <p:attrNameLst>
                                          <p:attrName>ppt_w</p:attrName>
                                        </p:attrNameLst>
                                      </p:cBhvr>
                                      <p:tavLst>
                                        <p:tav tm="0">
                                          <p:val>
                                            <p:fltVal val="0"/>
                                          </p:val>
                                        </p:tav>
                                        <p:tav tm="100000">
                                          <p:val>
                                            <p:strVal val="#ppt_w"/>
                                          </p:val>
                                        </p:tav>
                                      </p:tavLst>
                                    </p:anim>
                                    <p:anim calcmode="lin" valueType="num">
                                      <p:cBhvr>
                                        <p:cTn id="345"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0"/>
                                            </p:cond>
                                          </p:stCondLst>
                                          <p:endCondLst>
                                            <p:cond evt="onStopAudio" delay="0">
                                              <p:tgtEl>
                                                <p:sldTgt/>
                                              </p:tgtEl>
                                            </p:cond>
                                          </p:endCondLst>
                                        </p:cTn>
                                        <p:tgtEl>
                                          <p:sndTgt r:embed="rId4" name="CHIMES.WAV"/>
                                        </p:tgtEl>
                                      </p:cMediaNode>
                                    </p:audio>
                                  </p:subTnLst>
                                </p:cTn>
                              </p:par>
                              <p:par>
                                <p:cTn id="346" presetID="18" presetClass="entr" presetSubtype="9" fill="hold" grpId="0" nodeType="withEffect">
                                  <p:stCondLst>
                                    <p:cond delay="0"/>
                                  </p:stCondLst>
                                  <p:childTnLst>
                                    <p:set>
                                      <p:cBhvr>
                                        <p:cTn id="347" dur="1" fill="hold">
                                          <p:stCondLst>
                                            <p:cond delay="0"/>
                                          </p:stCondLst>
                                        </p:cTn>
                                        <p:tgtEl>
                                          <p:spTgt spid="171"/>
                                        </p:tgtEl>
                                        <p:attrNameLst>
                                          <p:attrName>style.visibility</p:attrName>
                                        </p:attrNameLst>
                                      </p:cBhvr>
                                      <p:to>
                                        <p:strVal val="visible"/>
                                      </p:to>
                                    </p:set>
                                    <p:animEffect transition="in" filter="strips(upLeft)">
                                      <p:cBhvr>
                                        <p:cTn id="348" dur="5000"/>
                                        <p:tgtEl>
                                          <p:spTgt spid="171"/>
                                        </p:tgtEl>
                                      </p:cBhvr>
                                    </p:animEffect>
                                  </p:childTnLst>
                                  <p:subTnLst>
                                    <p:audio>
                                      <p:cMediaNode>
                                        <p:cTn display="0" masterRel="sameClick">
                                          <p:stCondLst>
                                            <p:cond evt="begin" delay="0">
                                              <p:tn val="346"/>
                                            </p:cond>
                                          </p:stCondLst>
                                          <p:endCondLst>
                                            <p:cond evt="onStopAudio" delay="0">
                                              <p:tgtEl>
                                                <p:sldTgt/>
                                              </p:tgtEl>
                                            </p:cond>
                                          </p:endCondLst>
                                        </p:cTn>
                                        <p:tgtEl>
                                          <p:sndTgt r:embed="rId4" name="CHIMES.WAV"/>
                                        </p:tgtEl>
                                      </p:cMediaNode>
                                    </p:audio>
                                  </p:subTnLst>
                                </p:cTn>
                              </p:par>
                              <p:par>
                                <p:cTn id="349" presetID="18" presetClass="entr" presetSubtype="3" fill="hold" grpId="0" nodeType="withEffect">
                                  <p:stCondLst>
                                    <p:cond delay="0"/>
                                  </p:stCondLst>
                                  <p:childTnLst>
                                    <p:set>
                                      <p:cBhvr>
                                        <p:cTn id="350" dur="1" fill="hold">
                                          <p:stCondLst>
                                            <p:cond delay="0"/>
                                          </p:stCondLst>
                                        </p:cTn>
                                        <p:tgtEl>
                                          <p:spTgt spid="169"/>
                                        </p:tgtEl>
                                        <p:attrNameLst>
                                          <p:attrName>style.visibility</p:attrName>
                                        </p:attrNameLst>
                                      </p:cBhvr>
                                      <p:to>
                                        <p:strVal val="visible"/>
                                      </p:to>
                                    </p:set>
                                    <p:animEffect transition="in" filter="strips(upRight)">
                                      <p:cBhvr>
                                        <p:cTn id="351" dur="5000"/>
                                        <p:tgtEl>
                                          <p:spTgt spid="169"/>
                                        </p:tgtEl>
                                      </p:cBhvr>
                                    </p:animEffect>
                                  </p:childTnLst>
                                  <p:subTnLst>
                                    <p:audio>
                                      <p:cMediaNode>
                                        <p:cTn display="0" masterRel="sameClick">
                                          <p:stCondLst>
                                            <p:cond evt="begin" delay="0">
                                              <p:tn val="349"/>
                                            </p:cond>
                                          </p:stCondLst>
                                          <p:endCondLst>
                                            <p:cond evt="onStopAudio" delay="0">
                                              <p:tgtEl>
                                                <p:sldTgt/>
                                              </p:tgtEl>
                                            </p:cond>
                                          </p:endCondLst>
                                        </p:cTn>
                                        <p:tgtEl>
                                          <p:sndTgt r:embed="rId4" name="CHIMES.WAV"/>
                                        </p:tgtEl>
                                      </p:cMediaNode>
                                    </p:audio>
                                  </p:subTnLst>
                                </p:cTn>
                              </p:par>
                              <p:par>
                                <p:cTn id="352" presetID="18" presetClass="entr" presetSubtype="3" fill="hold" grpId="0" nodeType="withEffect">
                                  <p:stCondLst>
                                    <p:cond delay="0"/>
                                  </p:stCondLst>
                                  <p:childTnLst>
                                    <p:set>
                                      <p:cBhvr>
                                        <p:cTn id="353" dur="1" fill="hold">
                                          <p:stCondLst>
                                            <p:cond delay="0"/>
                                          </p:stCondLst>
                                        </p:cTn>
                                        <p:tgtEl>
                                          <p:spTgt spid="108"/>
                                        </p:tgtEl>
                                        <p:attrNameLst>
                                          <p:attrName>style.visibility</p:attrName>
                                        </p:attrNameLst>
                                      </p:cBhvr>
                                      <p:to>
                                        <p:strVal val="visible"/>
                                      </p:to>
                                    </p:set>
                                    <p:animEffect transition="in" filter="strips(upRight)">
                                      <p:cBhvr>
                                        <p:cTn id="354" dur="5000"/>
                                        <p:tgtEl>
                                          <p:spTgt spid="108"/>
                                        </p:tgtEl>
                                      </p:cBhvr>
                                    </p:animEffect>
                                  </p:childTnLst>
                                  <p:subTnLst>
                                    <p:audio>
                                      <p:cMediaNode>
                                        <p:cTn display="0" masterRel="sameClick">
                                          <p:stCondLst>
                                            <p:cond evt="begin" delay="0">
                                              <p:tn val="352"/>
                                            </p:cond>
                                          </p:stCondLst>
                                          <p:endCondLst>
                                            <p:cond evt="onStopAudio" delay="0">
                                              <p:tgtEl>
                                                <p:sldTgt/>
                                              </p:tgtEl>
                                            </p:cond>
                                          </p:endCondLst>
                                        </p:cTn>
                                        <p:tgtEl>
                                          <p:sndTgt r:embed="rId4" name="CHIMES.WAV"/>
                                        </p:tgtEl>
                                      </p:cMediaNode>
                                    </p:audio>
                                  </p:subTnLst>
                                </p:cTn>
                              </p:par>
                              <p:par>
                                <p:cTn id="355" presetID="18" presetClass="entr" presetSubtype="12" fill="hold" grpId="0" nodeType="withEffect">
                                  <p:stCondLst>
                                    <p:cond delay="0"/>
                                  </p:stCondLst>
                                  <p:childTnLst>
                                    <p:set>
                                      <p:cBhvr>
                                        <p:cTn id="356" dur="1" fill="hold">
                                          <p:stCondLst>
                                            <p:cond delay="0"/>
                                          </p:stCondLst>
                                        </p:cTn>
                                        <p:tgtEl>
                                          <p:spTgt spid="170"/>
                                        </p:tgtEl>
                                        <p:attrNameLst>
                                          <p:attrName>style.visibility</p:attrName>
                                        </p:attrNameLst>
                                      </p:cBhvr>
                                      <p:to>
                                        <p:strVal val="visible"/>
                                      </p:to>
                                    </p:set>
                                    <p:animEffect transition="in" filter="strips(downLeft)">
                                      <p:cBhvr>
                                        <p:cTn id="357" dur="5000"/>
                                        <p:tgtEl>
                                          <p:spTgt spid="170"/>
                                        </p:tgtEl>
                                      </p:cBhvr>
                                    </p:animEffect>
                                  </p:childTnLst>
                                  <p:subTnLst>
                                    <p:audio>
                                      <p:cMediaNode>
                                        <p:cTn display="0" masterRel="sameClick">
                                          <p:stCondLst>
                                            <p:cond evt="begin" delay="0">
                                              <p:tn val="355"/>
                                            </p:cond>
                                          </p:stCondLst>
                                          <p:endCondLst>
                                            <p:cond evt="onStopAudio" delay="0">
                                              <p:tgtEl>
                                                <p:sldTgt/>
                                              </p:tgtEl>
                                            </p:cond>
                                          </p:endCondLst>
                                        </p:cTn>
                                        <p:tgtEl>
                                          <p:sndTgt r:embed="rId4" name="CHIMES.WAV"/>
                                        </p:tgtEl>
                                      </p:cMediaNode>
                                    </p:audio>
                                  </p:subTnLst>
                                </p:cTn>
                              </p:par>
                              <p:par>
                                <p:cTn id="358" presetID="18" presetClass="entr" presetSubtype="6" fill="hold" grpId="0" nodeType="withEffect">
                                  <p:stCondLst>
                                    <p:cond delay="0"/>
                                  </p:stCondLst>
                                  <p:childTnLst>
                                    <p:set>
                                      <p:cBhvr>
                                        <p:cTn id="359" dur="1" fill="hold">
                                          <p:stCondLst>
                                            <p:cond delay="0"/>
                                          </p:stCondLst>
                                        </p:cTn>
                                        <p:tgtEl>
                                          <p:spTgt spid="173"/>
                                        </p:tgtEl>
                                        <p:attrNameLst>
                                          <p:attrName>style.visibility</p:attrName>
                                        </p:attrNameLst>
                                      </p:cBhvr>
                                      <p:to>
                                        <p:strVal val="visible"/>
                                      </p:to>
                                    </p:set>
                                    <p:animEffect transition="in" filter="strips(downRight)">
                                      <p:cBhvr>
                                        <p:cTn id="360" dur="5000"/>
                                        <p:tgtEl>
                                          <p:spTgt spid="173"/>
                                        </p:tgtEl>
                                      </p:cBhvr>
                                    </p:animEffect>
                                  </p:childTnLst>
                                  <p:subTnLst>
                                    <p:audio>
                                      <p:cMediaNode>
                                        <p:cTn display="0" masterRel="sameClick">
                                          <p:stCondLst>
                                            <p:cond evt="begin" delay="0">
                                              <p:tn val="358"/>
                                            </p:cond>
                                          </p:stCondLst>
                                          <p:endCondLst>
                                            <p:cond evt="onStopAudio" delay="0">
                                              <p:tgtEl>
                                                <p:sldTgt/>
                                              </p:tgtEl>
                                            </p:cond>
                                          </p:endCondLst>
                                        </p:cTn>
                                        <p:tgtEl>
                                          <p:sndTgt r:embed="rId4" name="CHIMES.WAV"/>
                                        </p:tgtEl>
                                      </p:cMediaNode>
                                    </p:audio>
                                  </p:subTnLst>
                                </p:cTn>
                              </p:par>
                              <p:par>
                                <p:cTn id="361" presetID="18" presetClass="entr" presetSubtype="12" fill="hold" grpId="0" nodeType="withEffect">
                                  <p:stCondLst>
                                    <p:cond delay="0"/>
                                  </p:stCondLst>
                                  <p:childTnLst>
                                    <p:set>
                                      <p:cBhvr>
                                        <p:cTn id="362" dur="1" fill="hold">
                                          <p:stCondLst>
                                            <p:cond delay="0"/>
                                          </p:stCondLst>
                                        </p:cTn>
                                        <p:tgtEl>
                                          <p:spTgt spid="172"/>
                                        </p:tgtEl>
                                        <p:attrNameLst>
                                          <p:attrName>style.visibility</p:attrName>
                                        </p:attrNameLst>
                                      </p:cBhvr>
                                      <p:to>
                                        <p:strVal val="visible"/>
                                      </p:to>
                                    </p:set>
                                    <p:animEffect transition="in" filter="strips(downLeft)">
                                      <p:cBhvr>
                                        <p:cTn id="363" dur="5000"/>
                                        <p:tgtEl>
                                          <p:spTgt spid="172"/>
                                        </p:tgtEl>
                                      </p:cBhvr>
                                    </p:animEffect>
                                  </p:childTnLst>
                                  <p:subTnLst>
                                    <p:audio>
                                      <p:cMediaNode>
                                        <p:cTn display="0" masterRel="sameClick">
                                          <p:stCondLst>
                                            <p:cond evt="begin" delay="0">
                                              <p:tn val="361"/>
                                            </p:cond>
                                          </p:stCondLst>
                                          <p:endCondLst>
                                            <p:cond evt="onStopAudio" delay="0">
                                              <p:tgtEl>
                                                <p:sldTgt/>
                                              </p:tgtEl>
                                            </p:cond>
                                          </p:endCondLst>
                                        </p:cTn>
                                        <p:tgtEl>
                                          <p:sndTgt r:embed="rId4" name="CHIMES.WAV"/>
                                        </p:tgtEl>
                                      </p:cMediaNode>
                                    </p:audio>
                                  </p:subTnLst>
                                </p:cTn>
                              </p:par>
                            </p:childTnLst>
                          </p:cTn>
                        </p:par>
                        <p:par>
                          <p:cTn id="364" fill="hold">
                            <p:stCondLst>
                              <p:cond delay="5000"/>
                            </p:stCondLst>
                            <p:childTnLst>
                              <p:par>
                                <p:cTn id="365" presetID="20" presetClass="entr" presetSubtype="0" fill="hold" grpId="0" nodeType="afterEffect">
                                  <p:stCondLst>
                                    <p:cond delay="500"/>
                                  </p:stCondLst>
                                  <p:childTnLst>
                                    <p:set>
                                      <p:cBhvr>
                                        <p:cTn id="366" dur="1" fill="hold">
                                          <p:stCondLst>
                                            <p:cond delay="0"/>
                                          </p:stCondLst>
                                        </p:cTn>
                                        <p:tgtEl>
                                          <p:spTgt spid="199"/>
                                        </p:tgtEl>
                                        <p:attrNameLst>
                                          <p:attrName>style.visibility</p:attrName>
                                        </p:attrNameLst>
                                      </p:cBhvr>
                                      <p:to>
                                        <p:strVal val="visible"/>
                                      </p:to>
                                    </p:set>
                                    <p:animEffect transition="in" filter="wedge">
                                      <p:cBhvr>
                                        <p:cTn id="367" dur="3000"/>
                                        <p:tgtEl>
                                          <p:spTgt spid="199"/>
                                        </p:tgtEl>
                                      </p:cBhvr>
                                    </p:animEffect>
                                  </p:childTnLst>
                                  <p:subTnLst>
                                    <p:audio>
                                      <p:cMediaNode>
                                        <p:cTn display="0" masterRel="sameClick">
                                          <p:stCondLst>
                                            <p:cond evt="begin" delay="0">
                                              <p:tn val="365"/>
                                            </p:cond>
                                          </p:stCondLst>
                                          <p:endCondLst>
                                            <p:cond evt="onStopAudio" delay="0">
                                              <p:tgtEl>
                                                <p:sldTgt/>
                                              </p:tgtEl>
                                            </p:cond>
                                          </p:endCondLst>
                                        </p:cTn>
                                        <p:tgtEl>
                                          <p:sndTgt r:embed="rId4" name="CHIMES.WAV"/>
                                        </p:tgtEl>
                                      </p:cMediaNode>
                                    </p:audio>
                                  </p:subTnLst>
                                </p:cTn>
                              </p:par>
                            </p:childTnLst>
                          </p:cTn>
                        </p:par>
                      </p:childTnLst>
                    </p:cTn>
                  </p:par>
                  <p:par>
                    <p:cTn id="368" fill="hold">
                      <p:stCondLst>
                        <p:cond delay="indefinite"/>
                      </p:stCondLst>
                      <p:childTnLst>
                        <p:par>
                          <p:cTn id="369" fill="hold">
                            <p:stCondLst>
                              <p:cond delay="0"/>
                            </p:stCondLst>
                            <p:childTnLst>
                              <p:par>
                                <p:cTn id="370" presetID="22" presetClass="entr" presetSubtype="8" fill="hold" nodeType="clickEffect">
                                  <p:stCondLst>
                                    <p:cond delay="0"/>
                                  </p:stCondLst>
                                  <p:childTnLst>
                                    <p:set>
                                      <p:cBhvr>
                                        <p:cTn id="371" dur="1" fill="hold">
                                          <p:stCondLst>
                                            <p:cond delay="0"/>
                                          </p:stCondLst>
                                        </p:cTn>
                                        <p:tgtEl>
                                          <p:spTgt spid="187"/>
                                        </p:tgtEl>
                                        <p:attrNameLst>
                                          <p:attrName>style.visibility</p:attrName>
                                        </p:attrNameLst>
                                      </p:cBhvr>
                                      <p:to>
                                        <p:strVal val="visible"/>
                                      </p:to>
                                    </p:set>
                                    <p:animEffect transition="in" filter="wipe(left)">
                                      <p:cBhvr>
                                        <p:cTn id="372" dur="5000"/>
                                        <p:tgtEl>
                                          <p:spTgt spid="187"/>
                                        </p:tgtEl>
                                      </p:cBhvr>
                                    </p:animEffect>
                                  </p:childTnLst>
                                  <p:subTnLst>
                                    <p:audio>
                                      <p:cMediaNode>
                                        <p:cTn display="0" masterRel="sameClick">
                                          <p:stCondLst>
                                            <p:cond evt="begin" delay="0">
                                              <p:tn val="370"/>
                                            </p:cond>
                                          </p:stCondLst>
                                          <p:endCondLst>
                                            <p:cond evt="onStopAudio" delay="0">
                                              <p:tgtEl>
                                                <p:sldTgt/>
                                              </p:tgtEl>
                                            </p:cond>
                                          </p:endCondLst>
                                        </p:cTn>
                                        <p:tgtEl>
                                          <p:sndTgt r:embed="rId3" name="CAMERA.WAV"/>
                                        </p:tgtEl>
                                      </p:cMediaNode>
                                    </p:audio>
                                  </p:subTnLst>
                                </p:cTn>
                              </p:par>
                            </p:childTnLst>
                          </p:cTn>
                        </p:par>
                        <p:par>
                          <p:cTn id="373" fill="hold">
                            <p:stCondLst>
                              <p:cond delay="5000"/>
                            </p:stCondLst>
                            <p:childTnLst>
                              <p:par>
                                <p:cTn id="374" presetID="22" presetClass="entr" presetSubtype="4" fill="hold" grpId="0" nodeType="afterEffect">
                                  <p:stCondLst>
                                    <p:cond delay="500"/>
                                  </p:stCondLst>
                                  <p:childTnLst>
                                    <p:set>
                                      <p:cBhvr>
                                        <p:cTn id="375" dur="1" fill="hold">
                                          <p:stCondLst>
                                            <p:cond delay="0"/>
                                          </p:stCondLst>
                                        </p:cTn>
                                        <p:tgtEl>
                                          <p:spTgt spid="193"/>
                                        </p:tgtEl>
                                        <p:attrNameLst>
                                          <p:attrName>style.visibility</p:attrName>
                                        </p:attrNameLst>
                                      </p:cBhvr>
                                      <p:to>
                                        <p:strVal val="visible"/>
                                      </p:to>
                                    </p:set>
                                    <p:animEffect transition="in" filter="wipe(down)">
                                      <p:cBhvr>
                                        <p:cTn id="376" dur="5000"/>
                                        <p:tgtEl>
                                          <p:spTgt spid="193"/>
                                        </p:tgtEl>
                                      </p:cBhvr>
                                    </p:animEffect>
                                  </p:childTnLst>
                                  <p:subTnLst>
                                    <p:audio>
                                      <p:cMediaNode>
                                        <p:cTn display="0" masterRel="sameClick">
                                          <p:stCondLst>
                                            <p:cond evt="begin" delay="0">
                                              <p:tn val="374"/>
                                            </p:cond>
                                          </p:stCondLst>
                                          <p:endCondLst>
                                            <p:cond evt="onStopAudio" delay="0">
                                              <p:tgtEl>
                                                <p:sldTgt/>
                                              </p:tgtEl>
                                            </p:cond>
                                          </p:endCondLst>
                                        </p:cTn>
                                        <p:tgtEl>
                                          <p:sndTgt r:embed="rId3" name="CAMERA.WAV"/>
                                        </p:tgtEl>
                                      </p:cMediaNode>
                                    </p:audio>
                                  </p:subTnLst>
                                </p:cTn>
                              </p:par>
                              <p:par>
                                <p:cTn id="377" presetID="20" presetClass="entr" presetSubtype="0" fill="hold" grpId="0" nodeType="withEffect">
                                  <p:stCondLst>
                                    <p:cond delay="500"/>
                                  </p:stCondLst>
                                  <p:childTnLst>
                                    <p:set>
                                      <p:cBhvr>
                                        <p:cTn id="378" dur="1" fill="hold">
                                          <p:stCondLst>
                                            <p:cond delay="0"/>
                                          </p:stCondLst>
                                        </p:cTn>
                                        <p:tgtEl>
                                          <p:spTgt spid="196"/>
                                        </p:tgtEl>
                                        <p:attrNameLst>
                                          <p:attrName>style.visibility</p:attrName>
                                        </p:attrNameLst>
                                      </p:cBhvr>
                                      <p:to>
                                        <p:strVal val="visible"/>
                                      </p:to>
                                    </p:set>
                                    <p:animEffect transition="in" filter="wedge">
                                      <p:cBhvr>
                                        <p:cTn id="379" dur="2000"/>
                                        <p:tgtEl>
                                          <p:spTgt spid="196"/>
                                        </p:tgtEl>
                                      </p:cBhvr>
                                    </p:animEffect>
                                  </p:childTnLst>
                                  <p:subTnLst>
                                    <p:audio>
                                      <p:cMediaNode>
                                        <p:cTn display="0" masterRel="sameClick">
                                          <p:stCondLst>
                                            <p:cond evt="begin" delay="0">
                                              <p:tn val="377"/>
                                            </p:cond>
                                          </p:stCondLst>
                                          <p:endCondLst>
                                            <p:cond evt="onStopAudio" delay="0">
                                              <p:tgtEl>
                                                <p:sldTgt/>
                                              </p:tgtEl>
                                            </p:cond>
                                          </p:endCondLst>
                                        </p:cTn>
                                        <p:tgtEl>
                                          <p:sndTgt r:embed="rId3" name="CAMERA.WAV"/>
                                        </p:tgtEl>
                                      </p:cMediaNode>
                                    </p:audio>
                                  </p:subTnLst>
                                </p:cTn>
                              </p:par>
                              <p:par>
                                <p:cTn id="380" presetID="17" presetClass="entr" presetSubtype="8" fill="hold" grpId="0" nodeType="withEffect">
                                  <p:stCondLst>
                                    <p:cond delay="500"/>
                                  </p:stCondLst>
                                  <p:childTnLst>
                                    <p:set>
                                      <p:cBhvr>
                                        <p:cTn id="381" dur="1" fill="hold">
                                          <p:stCondLst>
                                            <p:cond delay="0"/>
                                          </p:stCondLst>
                                        </p:cTn>
                                        <p:tgtEl>
                                          <p:spTgt spid="182"/>
                                        </p:tgtEl>
                                        <p:attrNameLst>
                                          <p:attrName>style.visibility</p:attrName>
                                        </p:attrNameLst>
                                      </p:cBhvr>
                                      <p:to>
                                        <p:strVal val="visible"/>
                                      </p:to>
                                    </p:set>
                                    <p:anim calcmode="lin" valueType="num">
                                      <p:cBhvr>
                                        <p:cTn id="382" dur="5000" fill="hold"/>
                                        <p:tgtEl>
                                          <p:spTgt spid="182"/>
                                        </p:tgtEl>
                                        <p:attrNameLst>
                                          <p:attrName>ppt_x</p:attrName>
                                        </p:attrNameLst>
                                      </p:cBhvr>
                                      <p:tavLst>
                                        <p:tav tm="0">
                                          <p:val>
                                            <p:strVal val="#ppt_x-#ppt_w/2"/>
                                          </p:val>
                                        </p:tav>
                                        <p:tav tm="100000">
                                          <p:val>
                                            <p:strVal val="#ppt_x"/>
                                          </p:val>
                                        </p:tav>
                                      </p:tavLst>
                                    </p:anim>
                                    <p:anim calcmode="lin" valueType="num">
                                      <p:cBhvr>
                                        <p:cTn id="383" dur="5000" fill="hold"/>
                                        <p:tgtEl>
                                          <p:spTgt spid="182"/>
                                        </p:tgtEl>
                                        <p:attrNameLst>
                                          <p:attrName>ppt_y</p:attrName>
                                        </p:attrNameLst>
                                      </p:cBhvr>
                                      <p:tavLst>
                                        <p:tav tm="0">
                                          <p:val>
                                            <p:strVal val="#ppt_y"/>
                                          </p:val>
                                        </p:tav>
                                        <p:tav tm="100000">
                                          <p:val>
                                            <p:strVal val="#ppt_y"/>
                                          </p:val>
                                        </p:tav>
                                      </p:tavLst>
                                    </p:anim>
                                    <p:anim calcmode="lin" valueType="num">
                                      <p:cBhvr>
                                        <p:cTn id="384" dur="5000" fill="hold"/>
                                        <p:tgtEl>
                                          <p:spTgt spid="182"/>
                                        </p:tgtEl>
                                        <p:attrNameLst>
                                          <p:attrName>ppt_w</p:attrName>
                                        </p:attrNameLst>
                                      </p:cBhvr>
                                      <p:tavLst>
                                        <p:tav tm="0">
                                          <p:val>
                                            <p:fltVal val="0"/>
                                          </p:val>
                                        </p:tav>
                                        <p:tav tm="100000">
                                          <p:val>
                                            <p:strVal val="#ppt_w"/>
                                          </p:val>
                                        </p:tav>
                                      </p:tavLst>
                                    </p:anim>
                                    <p:anim calcmode="lin" valueType="num">
                                      <p:cBhvr>
                                        <p:cTn id="385"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0"/>
                                            </p:cond>
                                          </p:stCondLst>
                                          <p:endCondLst>
                                            <p:cond evt="onStopAudio" delay="0">
                                              <p:tgtEl>
                                                <p:sldTgt/>
                                              </p:tgtEl>
                                            </p:cond>
                                          </p:endCondLst>
                                        </p:cTn>
                                        <p:tgtEl>
                                          <p:sndTgt r:embed="rId4" name="CHIMES.WAV"/>
                                        </p:tgtEl>
                                      </p:cMediaNode>
                                    </p:audio>
                                  </p:subTnLst>
                                </p:cTn>
                              </p:par>
                              <p:par>
                                <p:cTn id="386" presetID="17" presetClass="entr" presetSubtype="8" fill="hold" grpId="0" nodeType="withEffect">
                                  <p:stCondLst>
                                    <p:cond delay="0"/>
                                  </p:stCondLst>
                                  <p:childTnLst>
                                    <p:set>
                                      <p:cBhvr>
                                        <p:cTn id="387" dur="1" fill="hold">
                                          <p:stCondLst>
                                            <p:cond delay="0"/>
                                          </p:stCondLst>
                                        </p:cTn>
                                        <p:tgtEl>
                                          <p:spTgt spid="183"/>
                                        </p:tgtEl>
                                        <p:attrNameLst>
                                          <p:attrName>style.visibility</p:attrName>
                                        </p:attrNameLst>
                                      </p:cBhvr>
                                      <p:to>
                                        <p:strVal val="visible"/>
                                      </p:to>
                                    </p:set>
                                    <p:anim calcmode="lin" valueType="num">
                                      <p:cBhvr>
                                        <p:cTn id="388" dur="5000" fill="hold"/>
                                        <p:tgtEl>
                                          <p:spTgt spid="183"/>
                                        </p:tgtEl>
                                        <p:attrNameLst>
                                          <p:attrName>ppt_x</p:attrName>
                                        </p:attrNameLst>
                                      </p:cBhvr>
                                      <p:tavLst>
                                        <p:tav tm="0">
                                          <p:val>
                                            <p:strVal val="#ppt_x-#ppt_w/2"/>
                                          </p:val>
                                        </p:tav>
                                        <p:tav tm="100000">
                                          <p:val>
                                            <p:strVal val="#ppt_x"/>
                                          </p:val>
                                        </p:tav>
                                      </p:tavLst>
                                    </p:anim>
                                    <p:anim calcmode="lin" valueType="num">
                                      <p:cBhvr>
                                        <p:cTn id="389" dur="5000" fill="hold"/>
                                        <p:tgtEl>
                                          <p:spTgt spid="183"/>
                                        </p:tgtEl>
                                        <p:attrNameLst>
                                          <p:attrName>ppt_y</p:attrName>
                                        </p:attrNameLst>
                                      </p:cBhvr>
                                      <p:tavLst>
                                        <p:tav tm="0">
                                          <p:val>
                                            <p:strVal val="#ppt_y"/>
                                          </p:val>
                                        </p:tav>
                                        <p:tav tm="100000">
                                          <p:val>
                                            <p:strVal val="#ppt_y"/>
                                          </p:val>
                                        </p:tav>
                                      </p:tavLst>
                                    </p:anim>
                                    <p:anim calcmode="lin" valueType="num">
                                      <p:cBhvr>
                                        <p:cTn id="390" dur="5000" fill="hold"/>
                                        <p:tgtEl>
                                          <p:spTgt spid="183"/>
                                        </p:tgtEl>
                                        <p:attrNameLst>
                                          <p:attrName>ppt_w</p:attrName>
                                        </p:attrNameLst>
                                      </p:cBhvr>
                                      <p:tavLst>
                                        <p:tav tm="0">
                                          <p:val>
                                            <p:fltVal val="0"/>
                                          </p:val>
                                        </p:tav>
                                        <p:tav tm="100000">
                                          <p:val>
                                            <p:strVal val="#ppt_w"/>
                                          </p:val>
                                        </p:tav>
                                      </p:tavLst>
                                    </p:anim>
                                    <p:anim calcmode="lin" valueType="num">
                                      <p:cBhvr>
                                        <p:cTn id="391"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6"/>
                                            </p:cond>
                                          </p:stCondLst>
                                          <p:endCondLst>
                                            <p:cond evt="onStopAudio" delay="0">
                                              <p:tgtEl>
                                                <p:sldTgt/>
                                              </p:tgtEl>
                                            </p:cond>
                                          </p:endCondLst>
                                        </p:cTn>
                                        <p:tgtEl>
                                          <p:sndTgt r:embed="rId4" name="CHIMES.WAV"/>
                                        </p:tgtEl>
                                      </p:cMediaNode>
                                    </p:audio>
                                  </p:subTnLst>
                                </p:cTn>
                              </p:par>
                              <p:par>
                                <p:cTn id="392" presetID="17" presetClass="entr" presetSubtype="8" fill="hold" grpId="0" nodeType="withEffect">
                                  <p:stCondLst>
                                    <p:cond delay="0"/>
                                  </p:stCondLst>
                                  <p:childTnLst>
                                    <p:set>
                                      <p:cBhvr>
                                        <p:cTn id="393" dur="1" fill="hold">
                                          <p:stCondLst>
                                            <p:cond delay="0"/>
                                          </p:stCondLst>
                                        </p:cTn>
                                        <p:tgtEl>
                                          <p:spTgt spid="184"/>
                                        </p:tgtEl>
                                        <p:attrNameLst>
                                          <p:attrName>style.visibility</p:attrName>
                                        </p:attrNameLst>
                                      </p:cBhvr>
                                      <p:to>
                                        <p:strVal val="visible"/>
                                      </p:to>
                                    </p:set>
                                    <p:anim calcmode="lin" valueType="num">
                                      <p:cBhvr>
                                        <p:cTn id="394" dur="5000" fill="hold"/>
                                        <p:tgtEl>
                                          <p:spTgt spid="184"/>
                                        </p:tgtEl>
                                        <p:attrNameLst>
                                          <p:attrName>ppt_x</p:attrName>
                                        </p:attrNameLst>
                                      </p:cBhvr>
                                      <p:tavLst>
                                        <p:tav tm="0">
                                          <p:val>
                                            <p:strVal val="#ppt_x-#ppt_w/2"/>
                                          </p:val>
                                        </p:tav>
                                        <p:tav tm="100000">
                                          <p:val>
                                            <p:strVal val="#ppt_x"/>
                                          </p:val>
                                        </p:tav>
                                      </p:tavLst>
                                    </p:anim>
                                    <p:anim calcmode="lin" valueType="num">
                                      <p:cBhvr>
                                        <p:cTn id="395" dur="5000" fill="hold"/>
                                        <p:tgtEl>
                                          <p:spTgt spid="184"/>
                                        </p:tgtEl>
                                        <p:attrNameLst>
                                          <p:attrName>ppt_y</p:attrName>
                                        </p:attrNameLst>
                                      </p:cBhvr>
                                      <p:tavLst>
                                        <p:tav tm="0">
                                          <p:val>
                                            <p:strVal val="#ppt_y"/>
                                          </p:val>
                                        </p:tav>
                                        <p:tav tm="100000">
                                          <p:val>
                                            <p:strVal val="#ppt_y"/>
                                          </p:val>
                                        </p:tav>
                                      </p:tavLst>
                                    </p:anim>
                                    <p:anim calcmode="lin" valueType="num">
                                      <p:cBhvr>
                                        <p:cTn id="396" dur="5000" fill="hold"/>
                                        <p:tgtEl>
                                          <p:spTgt spid="184"/>
                                        </p:tgtEl>
                                        <p:attrNameLst>
                                          <p:attrName>ppt_w</p:attrName>
                                        </p:attrNameLst>
                                      </p:cBhvr>
                                      <p:tavLst>
                                        <p:tav tm="0">
                                          <p:val>
                                            <p:fltVal val="0"/>
                                          </p:val>
                                        </p:tav>
                                        <p:tav tm="100000">
                                          <p:val>
                                            <p:strVal val="#ppt_w"/>
                                          </p:val>
                                        </p:tav>
                                      </p:tavLst>
                                    </p:anim>
                                    <p:anim calcmode="lin" valueType="num">
                                      <p:cBhvr>
                                        <p:cTn id="397"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2"/>
                                            </p:cond>
                                          </p:stCondLst>
                                          <p:endCondLst>
                                            <p:cond evt="onStopAudio" delay="0">
                                              <p:tgtEl>
                                                <p:sldTgt/>
                                              </p:tgtEl>
                                            </p:cond>
                                          </p:endCondLst>
                                        </p:cTn>
                                        <p:tgtEl>
                                          <p:sndTgt r:embed="rId4" name="CHIMES.WAV"/>
                                        </p:tgtEl>
                                      </p:cMediaNode>
                                    </p:audio>
                                  </p:subTnLst>
                                </p:cTn>
                              </p:par>
                              <p:par>
                                <p:cTn id="398" presetID="17" presetClass="entr" presetSubtype="2" fill="hold" grpId="0" nodeType="withEffect">
                                  <p:stCondLst>
                                    <p:cond delay="0"/>
                                  </p:stCondLst>
                                  <p:childTnLst>
                                    <p:set>
                                      <p:cBhvr>
                                        <p:cTn id="399" dur="1" fill="hold">
                                          <p:stCondLst>
                                            <p:cond delay="0"/>
                                          </p:stCondLst>
                                        </p:cTn>
                                        <p:tgtEl>
                                          <p:spTgt spid="181"/>
                                        </p:tgtEl>
                                        <p:attrNameLst>
                                          <p:attrName>style.visibility</p:attrName>
                                        </p:attrNameLst>
                                      </p:cBhvr>
                                      <p:to>
                                        <p:strVal val="visible"/>
                                      </p:to>
                                    </p:set>
                                    <p:anim calcmode="lin" valueType="num">
                                      <p:cBhvr>
                                        <p:cTn id="400" dur="5000" fill="hold"/>
                                        <p:tgtEl>
                                          <p:spTgt spid="181"/>
                                        </p:tgtEl>
                                        <p:attrNameLst>
                                          <p:attrName>ppt_x</p:attrName>
                                        </p:attrNameLst>
                                      </p:cBhvr>
                                      <p:tavLst>
                                        <p:tav tm="0">
                                          <p:val>
                                            <p:strVal val="#ppt_x+#ppt_w/2"/>
                                          </p:val>
                                        </p:tav>
                                        <p:tav tm="100000">
                                          <p:val>
                                            <p:strVal val="#ppt_x"/>
                                          </p:val>
                                        </p:tav>
                                      </p:tavLst>
                                    </p:anim>
                                    <p:anim calcmode="lin" valueType="num">
                                      <p:cBhvr>
                                        <p:cTn id="401" dur="5000" fill="hold"/>
                                        <p:tgtEl>
                                          <p:spTgt spid="181"/>
                                        </p:tgtEl>
                                        <p:attrNameLst>
                                          <p:attrName>ppt_y</p:attrName>
                                        </p:attrNameLst>
                                      </p:cBhvr>
                                      <p:tavLst>
                                        <p:tav tm="0">
                                          <p:val>
                                            <p:strVal val="#ppt_y"/>
                                          </p:val>
                                        </p:tav>
                                        <p:tav tm="100000">
                                          <p:val>
                                            <p:strVal val="#ppt_y"/>
                                          </p:val>
                                        </p:tav>
                                      </p:tavLst>
                                    </p:anim>
                                    <p:anim calcmode="lin" valueType="num">
                                      <p:cBhvr>
                                        <p:cTn id="402" dur="5000" fill="hold"/>
                                        <p:tgtEl>
                                          <p:spTgt spid="181"/>
                                        </p:tgtEl>
                                        <p:attrNameLst>
                                          <p:attrName>ppt_w</p:attrName>
                                        </p:attrNameLst>
                                      </p:cBhvr>
                                      <p:tavLst>
                                        <p:tav tm="0">
                                          <p:val>
                                            <p:fltVal val="0"/>
                                          </p:val>
                                        </p:tav>
                                        <p:tav tm="100000">
                                          <p:val>
                                            <p:strVal val="#ppt_w"/>
                                          </p:val>
                                        </p:tav>
                                      </p:tavLst>
                                    </p:anim>
                                    <p:anim calcmode="lin" valueType="num">
                                      <p:cBhvr>
                                        <p:cTn id="403"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8"/>
                                            </p:cond>
                                          </p:stCondLst>
                                          <p:endCondLst>
                                            <p:cond evt="onStopAudio" delay="0">
                                              <p:tgtEl>
                                                <p:sldTgt/>
                                              </p:tgtEl>
                                            </p:cond>
                                          </p:endCondLst>
                                        </p:cTn>
                                        <p:tgtEl>
                                          <p:sndTgt r:embed="rId4" name="CHIMES.WAV"/>
                                        </p:tgtEl>
                                      </p:cMediaNode>
                                    </p:audio>
                                  </p:subTnLst>
                                </p:cTn>
                              </p:par>
                              <p:par>
                                <p:cTn id="404" presetID="17" presetClass="entr" presetSubtype="2" fill="hold" grpId="0" nodeType="withEffect">
                                  <p:stCondLst>
                                    <p:cond delay="0"/>
                                  </p:stCondLst>
                                  <p:childTnLst>
                                    <p:set>
                                      <p:cBhvr>
                                        <p:cTn id="405" dur="1" fill="hold">
                                          <p:stCondLst>
                                            <p:cond delay="0"/>
                                          </p:stCondLst>
                                        </p:cTn>
                                        <p:tgtEl>
                                          <p:spTgt spid="180"/>
                                        </p:tgtEl>
                                        <p:attrNameLst>
                                          <p:attrName>style.visibility</p:attrName>
                                        </p:attrNameLst>
                                      </p:cBhvr>
                                      <p:to>
                                        <p:strVal val="visible"/>
                                      </p:to>
                                    </p:set>
                                    <p:anim calcmode="lin" valueType="num">
                                      <p:cBhvr>
                                        <p:cTn id="406" dur="5000" fill="hold"/>
                                        <p:tgtEl>
                                          <p:spTgt spid="180"/>
                                        </p:tgtEl>
                                        <p:attrNameLst>
                                          <p:attrName>ppt_x</p:attrName>
                                        </p:attrNameLst>
                                      </p:cBhvr>
                                      <p:tavLst>
                                        <p:tav tm="0">
                                          <p:val>
                                            <p:strVal val="#ppt_x+#ppt_w/2"/>
                                          </p:val>
                                        </p:tav>
                                        <p:tav tm="100000">
                                          <p:val>
                                            <p:strVal val="#ppt_x"/>
                                          </p:val>
                                        </p:tav>
                                      </p:tavLst>
                                    </p:anim>
                                    <p:anim calcmode="lin" valueType="num">
                                      <p:cBhvr>
                                        <p:cTn id="407" dur="5000" fill="hold"/>
                                        <p:tgtEl>
                                          <p:spTgt spid="180"/>
                                        </p:tgtEl>
                                        <p:attrNameLst>
                                          <p:attrName>ppt_y</p:attrName>
                                        </p:attrNameLst>
                                      </p:cBhvr>
                                      <p:tavLst>
                                        <p:tav tm="0">
                                          <p:val>
                                            <p:strVal val="#ppt_y"/>
                                          </p:val>
                                        </p:tav>
                                        <p:tav tm="100000">
                                          <p:val>
                                            <p:strVal val="#ppt_y"/>
                                          </p:val>
                                        </p:tav>
                                      </p:tavLst>
                                    </p:anim>
                                    <p:anim calcmode="lin" valueType="num">
                                      <p:cBhvr>
                                        <p:cTn id="408" dur="5000" fill="hold"/>
                                        <p:tgtEl>
                                          <p:spTgt spid="180"/>
                                        </p:tgtEl>
                                        <p:attrNameLst>
                                          <p:attrName>ppt_w</p:attrName>
                                        </p:attrNameLst>
                                      </p:cBhvr>
                                      <p:tavLst>
                                        <p:tav tm="0">
                                          <p:val>
                                            <p:fltVal val="0"/>
                                          </p:val>
                                        </p:tav>
                                        <p:tav tm="100000">
                                          <p:val>
                                            <p:strVal val="#ppt_w"/>
                                          </p:val>
                                        </p:tav>
                                      </p:tavLst>
                                    </p:anim>
                                    <p:anim calcmode="lin" valueType="num">
                                      <p:cBhvr>
                                        <p:cTn id="409"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4"/>
                                            </p:cond>
                                          </p:stCondLst>
                                          <p:endCondLst>
                                            <p:cond evt="onStopAudio" delay="0">
                                              <p:tgtEl>
                                                <p:sldTgt/>
                                              </p:tgtEl>
                                            </p:cond>
                                          </p:endCondLst>
                                        </p:cTn>
                                        <p:tgtEl>
                                          <p:sndTgt r:embed="rId4" name="CHIMES.WAV"/>
                                        </p:tgtEl>
                                      </p:cMediaNode>
                                    </p:audio>
                                  </p:subTnLst>
                                </p:cTn>
                              </p:par>
                              <p:par>
                                <p:cTn id="410" presetID="17" presetClass="entr" presetSubtype="2" fill="hold" grpId="0" nodeType="withEffect">
                                  <p:stCondLst>
                                    <p:cond delay="0"/>
                                  </p:stCondLst>
                                  <p:childTnLst>
                                    <p:set>
                                      <p:cBhvr>
                                        <p:cTn id="411" dur="1" fill="hold">
                                          <p:stCondLst>
                                            <p:cond delay="0"/>
                                          </p:stCondLst>
                                        </p:cTn>
                                        <p:tgtEl>
                                          <p:spTgt spid="185"/>
                                        </p:tgtEl>
                                        <p:attrNameLst>
                                          <p:attrName>style.visibility</p:attrName>
                                        </p:attrNameLst>
                                      </p:cBhvr>
                                      <p:to>
                                        <p:strVal val="visible"/>
                                      </p:to>
                                    </p:set>
                                    <p:anim calcmode="lin" valueType="num">
                                      <p:cBhvr>
                                        <p:cTn id="412" dur="5000" fill="hold"/>
                                        <p:tgtEl>
                                          <p:spTgt spid="185"/>
                                        </p:tgtEl>
                                        <p:attrNameLst>
                                          <p:attrName>ppt_x</p:attrName>
                                        </p:attrNameLst>
                                      </p:cBhvr>
                                      <p:tavLst>
                                        <p:tav tm="0">
                                          <p:val>
                                            <p:strVal val="#ppt_x+#ppt_w/2"/>
                                          </p:val>
                                        </p:tav>
                                        <p:tav tm="100000">
                                          <p:val>
                                            <p:strVal val="#ppt_x"/>
                                          </p:val>
                                        </p:tav>
                                      </p:tavLst>
                                    </p:anim>
                                    <p:anim calcmode="lin" valueType="num">
                                      <p:cBhvr>
                                        <p:cTn id="413" dur="5000" fill="hold"/>
                                        <p:tgtEl>
                                          <p:spTgt spid="185"/>
                                        </p:tgtEl>
                                        <p:attrNameLst>
                                          <p:attrName>ppt_y</p:attrName>
                                        </p:attrNameLst>
                                      </p:cBhvr>
                                      <p:tavLst>
                                        <p:tav tm="0">
                                          <p:val>
                                            <p:strVal val="#ppt_y"/>
                                          </p:val>
                                        </p:tav>
                                        <p:tav tm="100000">
                                          <p:val>
                                            <p:strVal val="#ppt_y"/>
                                          </p:val>
                                        </p:tav>
                                      </p:tavLst>
                                    </p:anim>
                                    <p:anim calcmode="lin" valueType="num">
                                      <p:cBhvr>
                                        <p:cTn id="414" dur="5000" fill="hold"/>
                                        <p:tgtEl>
                                          <p:spTgt spid="185"/>
                                        </p:tgtEl>
                                        <p:attrNameLst>
                                          <p:attrName>ppt_w</p:attrName>
                                        </p:attrNameLst>
                                      </p:cBhvr>
                                      <p:tavLst>
                                        <p:tav tm="0">
                                          <p:val>
                                            <p:fltVal val="0"/>
                                          </p:val>
                                        </p:tav>
                                        <p:tav tm="100000">
                                          <p:val>
                                            <p:strVal val="#ppt_w"/>
                                          </p:val>
                                        </p:tav>
                                      </p:tavLst>
                                    </p:anim>
                                    <p:anim calcmode="lin" valueType="num">
                                      <p:cBhvr>
                                        <p:cTn id="415"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0"/>
                                            </p:cond>
                                          </p:stCondLst>
                                          <p:endCondLst>
                                            <p:cond evt="onStopAudio" delay="0">
                                              <p:tgtEl>
                                                <p:sldTgt/>
                                              </p:tgtEl>
                                            </p:cond>
                                          </p:endCondLst>
                                        </p:cTn>
                                        <p:tgtEl>
                                          <p:sndTgt r:embed="rId4" name="CHIMES.WAV"/>
                                        </p:tgtEl>
                                      </p:cMediaNode>
                                    </p:audio>
                                  </p:subTnLst>
                                </p:cTn>
                              </p:par>
                              <p:par>
                                <p:cTn id="416" presetID="18" presetClass="entr" presetSubtype="12" fill="hold" grpId="0" nodeType="withEffect">
                                  <p:stCondLst>
                                    <p:cond delay="0"/>
                                  </p:stCondLst>
                                  <p:childTnLst>
                                    <p:set>
                                      <p:cBhvr>
                                        <p:cTn id="417" dur="1" fill="hold">
                                          <p:stCondLst>
                                            <p:cond delay="0"/>
                                          </p:stCondLst>
                                        </p:cTn>
                                        <p:tgtEl>
                                          <p:spTgt spid="179"/>
                                        </p:tgtEl>
                                        <p:attrNameLst>
                                          <p:attrName>style.visibility</p:attrName>
                                        </p:attrNameLst>
                                      </p:cBhvr>
                                      <p:to>
                                        <p:strVal val="visible"/>
                                      </p:to>
                                    </p:set>
                                    <p:animEffect transition="in" filter="strips(downLeft)">
                                      <p:cBhvr>
                                        <p:cTn id="418" dur="5000"/>
                                        <p:tgtEl>
                                          <p:spTgt spid="179"/>
                                        </p:tgtEl>
                                      </p:cBhvr>
                                    </p:animEffect>
                                  </p:childTnLst>
                                  <p:subTnLst>
                                    <p:audio>
                                      <p:cMediaNode>
                                        <p:cTn display="0" masterRel="sameClick">
                                          <p:stCondLst>
                                            <p:cond evt="begin" delay="0">
                                              <p:tn val="416"/>
                                            </p:cond>
                                          </p:stCondLst>
                                          <p:endCondLst>
                                            <p:cond evt="onStopAudio" delay="0">
                                              <p:tgtEl>
                                                <p:sldTgt/>
                                              </p:tgtEl>
                                            </p:cond>
                                          </p:endCondLst>
                                        </p:cTn>
                                        <p:tgtEl>
                                          <p:sndTgt r:embed="rId4" name="CHIMES.WAV"/>
                                        </p:tgtEl>
                                      </p:cMediaNode>
                                    </p:audio>
                                  </p:subTnLst>
                                </p:cTn>
                              </p:par>
                              <p:par>
                                <p:cTn id="419" presetID="18" presetClass="entr" presetSubtype="6" fill="hold" grpId="0" nodeType="withEffect">
                                  <p:stCondLst>
                                    <p:cond delay="0"/>
                                  </p:stCondLst>
                                  <p:childTnLst>
                                    <p:set>
                                      <p:cBhvr>
                                        <p:cTn id="420" dur="1" fill="hold">
                                          <p:stCondLst>
                                            <p:cond delay="0"/>
                                          </p:stCondLst>
                                        </p:cTn>
                                        <p:tgtEl>
                                          <p:spTgt spid="186"/>
                                        </p:tgtEl>
                                        <p:attrNameLst>
                                          <p:attrName>style.visibility</p:attrName>
                                        </p:attrNameLst>
                                      </p:cBhvr>
                                      <p:to>
                                        <p:strVal val="visible"/>
                                      </p:to>
                                    </p:set>
                                    <p:animEffect transition="in" filter="strips(downRight)">
                                      <p:cBhvr>
                                        <p:cTn id="421" dur="5000"/>
                                        <p:tgtEl>
                                          <p:spTgt spid="186"/>
                                        </p:tgtEl>
                                      </p:cBhvr>
                                    </p:animEffect>
                                  </p:childTnLst>
                                  <p:subTnLst>
                                    <p:audio>
                                      <p:cMediaNode>
                                        <p:cTn display="0" masterRel="sameClick">
                                          <p:stCondLst>
                                            <p:cond evt="begin" delay="0">
                                              <p:tn val="419"/>
                                            </p:cond>
                                          </p:stCondLst>
                                          <p:endCondLst>
                                            <p:cond evt="onStopAudio" delay="0">
                                              <p:tgtEl>
                                                <p:sldTgt/>
                                              </p:tgtEl>
                                            </p:cond>
                                          </p:endCondLst>
                                        </p:cTn>
                                        <p:tgtEl>
                                          <p:sndTgt r:embed="rId4" name="CHIMES.WAV"/>
                                        </p:tgtEl>
                                      </p:cMediaNode>
                                    </p:audio>
                                  </p:subTnLst>
                                </p:cTn>
                              </p:par>
                            </p:childTnLst>
                          </p:cTn>
                        </p:par>
                        <p:par>
                          <p:cTn id="422" fill="hold">
                            <p:stCondLst>
                              <p:cond delay="10500"/>
                            </p:stCondLst>
                            <p:childTnLst>
                              <p:par>
                                <p:cTn id="423" presetID="19" presetClass="entr" presetSubtype="10" fill="hold" grpId="0" nodeType="afterEffect">
                                  <p:stCondLst>
                                    <p:cond delay="0"/>
                                  </p:stCondLst>
                                  <p:childTnLst>
                                    <p:set>
                                      <p:cBhvr>
                                        <p:cTn id="424" dur="1" fill="hold">
                                          <p:stCondLst>
                                            <p:cond delay="0"/>
                                          </p:stCondLst>
                                        </p:cTn>
                                        <p:tgtEl>
                                          <p:spTgt spid="206"/>
                                        </p:tgtEl>
                                        <p:attrNameLst>
                                          <p:attrName>style.visibility</p:attrName>
                                        </p:attrNameLst>
                                      </p:cBhvr>
                                      <p:to>
                                        <p:strVal val="visible"/>
                                      </p:to>
                                    </p:set>
                                    <p:anim calcmode="lin" valueType="num">
                                      <p:cBhvr>
                                        <p:cTn id="425" dur="5000" fill="hold"/>
                                        <p:tgtEl>
                                          <p:spTgt spid="206"/>
                                        </p:tgtEl>
                                        <p:attrNameLst>
                                          <p:attrName>ppt_w</p:attrName>
                                        </p:attrNameLst>
                                      </p:cBhvr>
                                      <p:tavLst>
                                        <p:tav tm="0" fmla="#ppt_w*sin(2.5*pi*$)">
                                          <p:val>
                                            <p:fltVal val="0"/>
                                          </p:val>
                                        </p:tav>
                                        <p:tav tm="100000">
                                          <p:val>
                                            <p:fltVal val="1"/>
                                          </p:val>
                                        </p:tav>
                                      </p:tavLst>
                                    </p:anim>
                                    <p:anim calcmode="lin" valueType="num">
                                      <p:cBhvr>
                                        <p:cTn id="426"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335360" y="836712"/>
            <a:ext cx="11737304" cy="2795667"/>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1416819" y="2375079"/>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1537469" y="1333679"/>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1346969" y="1651179"/>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2737619" y="1327329"/>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1956569" y="1336854"/>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1956569" y="1479729"/>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1956569" y="1822629"/>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3709169" y="1155879"/>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1794644" y="965379"/>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1804169" y="1936929"/>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2585219" y="952679"/>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2585219" y="1917879"/>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1666057" y="1603554"/>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p>
        </p:txBody>
      </p:sp>
      <p:sp>
        <p:nvSpPr>
          <p:cNvPr id="134" name="Text Box 26"/>
          <p:cNvSpPr txBox="1">
            <a:spLocks noChangeAspect="1" noChangeArrowheads="1"/>
          </p:cNvSpPr>
          <p:nvPr/>
        </p:nvSpPr>
        <p:spPr bwMode="auto">
          <a:xfrm>
            <a:off x="2689994" y="16130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p>
        </p:txBody>
      </p:sp>
      <p:sp>
        <p:nvSpPr>
          <p:cNvPr id="135" name="Text Box 27"/>
          <p:cNvSpPr txBox="1">
            <a:spLocks noChangeAspect="1" noChangeArrowheads="1"/>
          </p:cNvSpPr>
          <p:nvPr/>
        </p:nvSpPr>
        <p:spPr bwMode="auto">
          <a:xfrm>
            <a:off x="1683519" y="123366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p>
        </p:txBody>
      </p:sp>
      <p:sp>
        <p:nvSpPr>
          <p:cNvPr id="136" name="Text Box 28"/>
          <p:cNvSpPr txBox="1">
            <a:spLocks noChangeAspect="1" noChangeArrowheads="1"/>
          </p:cNvSpPr>
          <p:nvPr/>
        </p:nvSpPr>
        <p:spPr bwMode="auto">
          <a:xfrm>
            <a:off x="2689994" y="1270179"/>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2609032" y="2646542"/>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1823219" y="2622729"/>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2051819" y="2717979"/>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1878782" y="3108504"/>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1975619" y="2254429"/>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1585094" y="3232329"/>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2420119" y="2241729"/>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2756669" y="3203754"/>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1707332" y="2533829"/>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p>
        </p:txBody>
      </p:sp>
      <p:sp>
        <p:nvSpPr>
          <p:cNvPr id="146" name="Text Box 38"/>
          <p:cNvSpPr txBox="1">
            <a:spLocks noChangeAspect="1" noChangeArrowheads="1"/>
          </p:cNvSpPr>
          <p:nvPr/>
        </p:nvSpPr>
        <p:spPr bwMode="auto">
          <a:xfrm>
            <a:off x="1559694" y="28449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p>
        </p:txBody>
      </p:sp>
      <p:sp>
        <p:nvSpPr>
          <p:cNvPr id="147" name="Text Box 39"/>
          <p:cNvSpPr txBox="1">
            <a:spLocks noChangeAspect="1" noChangeArrowheads="1"/>
          </p:cNvSpPr>
          <p:nvPr/>
        </p:nvSpPr>
        <p:spPr bwMode="auto">
          <a:xfrm>
            <a:off x="2585219" y="25274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d'</a:t>
            </a:r>
          </a:p>
        </p:txBody>
      </p:sp>
      <p:sp>
        <p:nvSpPr>
          <p:cNvPr id="148" name="Text Box 40"/>
          <p:cNvSpPr txBox="1">
            <a:spLocks noChangeAspect="1" noChangeArrowheads="1"/>
          </p:cNvSpPr>
          <p:nvPr/>
        </p:nvSpPr>
        <p:spPr bwMode="auto">
          <a:xfrm>
            <a:off x="2699519" y="28703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p>
        </p:txBody>
      </p:sp>
      <p:sp>
        <p:nvSpPr>
          <p:cNvPr id="149" name="Arc 41"/>
          <p:cNvSpPr>
            <a:spLocks noChangeAspect="1"/>
          </p:cNvSpPr>
          <p:nvPr/>
        </p:nvSpPr>
        <p:spPr bwMode="auto">
          <a:xfrm rot="4171949" flipH="1" flipV="1">
            <a:off x="1346176" y="2544148"/>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989782" y="2530654"/>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1" name="Text Box 43"/>
          <p:cNvSpPr txBox="1">
            <a:spLocks noChangeAspect="1" noChangeArrowheads="1"/>
          </p:cNvSpPr>
          <p:nvPr/>
        </p:nvSpPr>
        <p:spPr bwMode="auto">
          <a:xfrm>
            <a:off x="3345632" y="2597329"/>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3089251" y="257272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3813944" y="2356029"/>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3078932" y="144956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1326332" y="144956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3304357" y="148131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4" name="Text Box 56"/>
          <p:cNvSpPr txBox="1">
            <a:spLocks noChangeAspect="1" noChangeArrowheads="1"/>
          </p:cNvSpPr>
          <p:nvPr/>
        </p:nvSpPr>
        <p:spPr bwMode="auto">
          <a:xfrm>
            <a:off x="983432" y="1447979"/>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65" name="Text Box 64"/>
          <p:cNvSpPr txBox="1">
            <a:spLocks noChangeAspect="1" noChangeArrowheads="1"/>
          </p:cNvSpPr>
          <p:nvPr/>
        </p:nvSpPr>
        <p:spPr bwMode="auto">
          <a:xfrm>
            <a:off x="1913707" y="828854"/>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1937519" y="1419404"/>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329244" y="3565704"/>
            <a:ext cx="11743420"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．正应力的计算 </a:t>
            </a:r>
          </a:p>
          <a:p>
            <a:pPr algn="just" eaLnBrk="1" hangingPunct="1">
              <a:lnSpc>
                <a:spcPct val="120000"/>
              </a:lnSpc>
            </a:pPr>
            <a:r>
              <a:rPr lang="zh-CN" altLang="en-US" sz="2800" i="0" dirty="0">
                <a:latin typeface="+mn-lt"/>
                <a:ea typeface="微软雅黑" panose="020B0503020204020204" pitchFamily="34" charset="-122"/>
              </a:rPr>
              <a:t>      在纯弯曲梁的横截面上任取一微面积</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zh-CN" altLang="en-US" sz="2800" i="0" dirty="0">
                <a:latin typeface="+mn-lt"/>
                <a:ea typeface="微软雅黑" panose="020B0503020204020204" pitchFamily="34" charset="-122"/>
              </a:rPr>
              <a:t>，微面积上的微内力为</a:t>
            </a:r>
            <a:r>
              <a:rPr lang="zh-CN" altLang="en-US" sz="2800" b="0" dirty="0">
                <a:latin typeface="+mn-lt"/>
                <a:ea typeface="微软雅黑" panose="020B0503020204020204" pitchFamily="34" charset="-122"/>
                <a:sym typeface="Symbol" panose="05050102010706020507" pitchFamily="18" charset="2"/>
              </a:rPr>
              <a:t></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zh-CN" altLang="en-US" sz="2800" i="0" dirty="0">
                <a:latin typeface="+mn-lt"/>
                <a:ea typeface="微软雅黑" panose="020B0503020204020204" pitchFamily="34" charset="-122"/>
              </a:rPr>
              <a:t>。由于横截面上的内力只有弯矩</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，所以由横截面上的微内力构成的合力必为零，而梁横截面上的微内力对中性轴</a:t>
            </a:r>
            <a:r>
              <a:rPr lang="en-US" altLang="zh-CN" sz="2800" b="0" dirty="0">
                <a:latin typeface="+mn-lt"/>
                <a:ea typeface="微软雅黑" panose="020B0503020204020204" pitchFamily="34" charset="-122"/>
              </a:rPr>
              <a:t>z</a:t>
            </a:r>
            <a:r>
              <a:rPr lang="zh-CN" altLang="en-US" sz="2800" i="0" dirty="0">
                <a:latin typeface="+mn-lt"/>
                <a:ea typeface="微软雅黑" panose="020B0503020204020204" pitchFamily="34" charset="-122"/>
              </a:rPr>
              <a:t>的合力矩就是弯矩</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，即</a:t>
            </a:r>
            <a:endParaRPr lang="en-US" altLang="zh-CN" sz="2800" i="0" dirty="0">
              <a:latin typeface="+mn-lt"/>
              <a:ea typeface="微软雅黑" panose="020B0503020204020204" pitchFamily="34" charset="-122"/>
            </a:endParaRPr>
          </a:p>
          <a:p>
            <a:pPr algn="just" eaLnBrk="1" hangingPunct="1">
              <a:lnSpc>
                <a:spcPct val="120000"/>
              </a:lnSpc>
            </a:pPr>
            <a:r>
              <a:rPr lang="en-US" altLang="zh-CN" sz="2800" b="0" dirty="0">
                <a:latin typeface="+mn-lt"/>
                <a:ea typeface="微软雅黑" panose="020B0503020204020204" pitchFamily="34" charset="-122"/>
              </a:rPr>
              <a:t>      F</a:t>
            </a:r>
            <a:r>
              <a:rPr lang="en-US" altLang="zh-CN" sz="2800" b="0" i="0" baseline="-25000" dirty="0">
                <a:latin typeface="+mn-lt"/>
                <a:ea typeface="微软雅黑" panose="020B0503020204020204" pitchFamily="34" charset="-122"/>
              </a:rPr>
              <a:t>N</a:t>
            </a:r>
            <a:r>
              <a:rPr lang="en-US" altLang="zh-CN" sz="2800" b="0" i="0" dirty="0">
                <a:latin typeface="+mn-lt"/>
                <a:ea typeface="微软雅黑" panose="020B0503020204020204" pitchFamily="34" charset="-122"/>
              </a:rPr>
              <a:t>=</a:t>
            </a:r>
            <a:r>
              <a:rPr lang="en-US" altLang="zh-CN" sz="2800" b="0" i="0" dirty="0">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A</a:t>
            </a:r>
            <a:r>
              <a:rPr lang="en-US" altLang="zh-CN" sz="2800" b="0" dirty="0" err="1">
                <a:latin typeface="+mn-lt"/>
                <a:ea typeface="微软雅黑" panose="020B0503020204020204" pitchFamily="34" charset="-122"/>
                <a:sym typeface="Symbol" panose="05050102010706020507" pitchFamily="18" charset="2"/>
              </a:rPr>
              <a:t></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和    </a:t>
            </a:r>
            <a:r>
              <a:rPr lang="en-US" altLang="zh-CN" sz="2800" b="0" dirty="0">
                <a:latin typeface="+mn-lt"/>
                <a:ea typeface="微软雅黑" panose="020B0503020204020204" pitchFamily="34" charset="-122"/>
              </a:rPr>
              <a:t>M</a:t>
            </a:r>
            <a:r>
              <a:rPr lang="en-US" altLang="zh-CN" sz="2800" b="0" i="0" dirty="0">
                <a:latin typeface="+mn-lt"/>
                <a:ea typeface="微软雅黑" panose="020B0503020204020204" pitchFamily="34" charset="-122"/>
              </a:rPr>
              <a:t>=</a:t>
            </a:r>
            <a:r>
              <a:rPr lang="en-US" altLang="zh-CN"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a:t>
            </a:r>
            <a:r>
              <a:rPr lang="en-US" altLang="zh-CN" sz="2800" b="0" dirty="0">
                <a:latin typeface="+mn-lt"/>
                <a:ea typeface="微软雅黑" panose="020B0503020204020204" pitchFamily="34" charset="-122"/>
              </a:rPr>
              <a:t>y</a:t>
            </a:r>
            <a:r>
              <a:rPr lang="en-US" altLang="zh-CN" sz="2800" b="0" dirty="0">
                <a:latin typeface="+mn-lt"/>
                <a:ea typeface="微软雅黑" panose="020B0503020204020204" pitchFamily="34" charset="-122"/>
                <a:sym typeface="Symbol" panose="05050102010706020507" pitchFamily="18" charset="2"/>
              </a:rPr>
              <a:t></a:t>
            </a:r>
            <a:r>
              <a:rPr lang="en-US" altLang="zh-CN" sz="2800" b="0" i="0" dirty="0">
                <a:latin typeface="+mn-lt"/>
                <a:ea typeface="微软雅黑" panose="020B0503020204020204" pitchFamily="34" charset="-122"/>
              </a:rPr>
              <a:t> </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endParaRPr lang="en-US" altLang="zh-CN" sz="2800" b="0" dirty="0">
              <a:latin typeface="+mn-lt"/>
              <a:ea typeface="微软雅黑" panose="020B0503020204020204" pitchFamily="34" charset="-122"/>
            </a:endParaRPr>
          </a:p>
        </p:txBody>
      </p:sp>
      <p:sp>
        <p:nvSpPr>
          <p:cNvPr id="63" name="Text Box 4"/>
          <p:cNvSpPr txBox="1">
            <a:spLocks noChangeAspect="1" noChangeArrowheads="1"/>
          </p:cNvSpPr>
          <p:nvPr/>
        </p:nvSpPr>
        <p:spPr bwMode="auto">
          <a:xfrm>
            <a:off x="7560447" y="1362362"/>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5804672" y="1281292"/>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5382397" y="1836917"/>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5391922" y="2151242"/>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6182497" y="1897242"/>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7477897" y="1687692"/>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6525397" y="1687692"/>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6849247" y="2008367"/>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7058797" y="1368605"/>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grpSp>
        <p:nvGrpSpPr>
          <p:cNvPr id="94" name="Group 4"/>
          <p:cNvGrpSpPr>
            <a:grpSpLocks/>
          </p:cNvGrpSpPr>
          <p:nvPr/>
        </p:nvGrpSpPr>
        <p:grpSpPr bwMode="auto">
          <a:xfrm>
            <a:off x="9333434" y="1444011"/>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297961"/>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234461"/>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475761"/>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4630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5773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513861"/>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6916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6408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691661"/>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463061"/>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021861"/>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110761"/>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805961"/>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780561"/>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882161"/>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3266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237761"/>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136161"/>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707661"/>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2796561"/>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2898161"/>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342661"/>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253761"/>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152161"/>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707661"/>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037861"/>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707661"/>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2821961"/>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647211"/>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769448"/>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96" name="Text Box 51"/>
          <p:cNvSpPr txBox="1">
            <a:spLocks noChangeArrowheads="1"/>
          </p:cNvSpPr>
          <p:nvPr/>
        </p:nvSpPr>
        <p:spPr bwMode="auto">
          <a:xfrm>
            <a:off x="10435159" y="2850536"/>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97" name="Text Box 52"/>
          <p:cNvSpPr txBox="1">
            <a:spLocks noChangeArrowheads="1"/>
          </p:cNvSpPr>
          <p:nvPr/>
        </p:nvSpPr>
        <p:spPr bwMode="auto">
          <a:xfrm>
            <a:off x="9990659" y="2286973"/>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dirty="0">
                <a:solidFill>
                  <a:srgbClr val="CC0099"/>
                </a:solidFill>
                <a:latin typeface="+mn-lt"/>
                <a:ea typeface="宋体" panose="02010600030101010101" pitchFamily="2" charset="-122"/>
              </a:rPr>
              <a:t>y</a:t>
            </a:r>
          </a:p>
        </p:txBody>
      </p:sp>
      <p:sp>
        <p:nvSpPr>
          <p:cNvPr id="198" name="Text Box 53"/>
          <p:cNvSpPr txBox="1">
            <a:spLocks noChangeArrowheads="1"/>
          </p:cNvSpPr>
          <p:nvPr/>
        </p:nvSpPr>
        <p:spPr bwMode="auto">
          <a:xfrm>
            <a:off x="10447859" y="1275736"/>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dirty="0">
                <a:solidFill>
                  <a:srgbClr val="CC0099"/>
                </a:solidFill>
                <a:latin typeface="+mn-lt"/>
                <a:ea typeface="宋体" panose="02010600030101010101" pitchFamily="2" charset="-122"/>
              </a:rPr>
              <a:t>z</a:t>
            </a:r>
          </a:p>
        </p:txBody>
      </p:sp>
      <p:sp>
        <p:nvSpPr>
          <p:cNvPr id="199" name="Text Box 54"/>
          <p:cNvSpPr txBox="1">
            <a:spLocks noChangeArrowheads="1"/>
          </p:cNvSpPr>
          <p:nvPr/>
        </p:nvSpPr>
        <p:spPr bwMode="auto">
          <a:xfrm>
            <a:off x="10415983" y="997923"/>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1075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018686"/>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1917086"/>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1583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2726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218711"/>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147273"/>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Tree>
    <p:extLst>
      <p:ext uri="{BB962C8B-B14F-4D97-AF65-F5344CB8AC3E}">
        <p14:creationId xmlns:p14="http://schemas.microsoft.com/office/powerpoint/2010/main" val="420825841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6" presetClass="entr" presetSubtype="37" fill="hold" nodeType="clickEffect">
                                  <p:stCondLst>
                                    <p:cond delay="0"/>
                                  </p:stCondLst>
                                  <p:childTnLst>
                                    <p:set>
                                      <p:cBhvr>
                                        <p:cTn id="175" dur="1" fill="hold">
                                          <p:stCondLst>
                                            <p:cond delay="0"/>
                                          </p:stCondLst>
                                        </p:cTn>
                                        <p:tgtEl>
                                          <p:spTgt spid="65"/>
                                        </p:tgtEl>
                                        <p:attrNameLst>
                                          <p:attrName>style.visibility</p:attrName>
                                        </p:attrNameLst>
                                      </p:cBhvr>
                                      <p:to>
                                        <p:strVal val="visible"/>
                                      </p:to>
                                    </p:set>
                                    <p:animEffect transition="in" filter="barn(outVertical)">
                                      <p:cBhvr>
                                        <p:cTn id="176" dur="3000"/>
                                        <p:tgtEl>
                                          <p:spTgt spid="65"/>
                                        </p:tgtEl>
                                      </p:cBhvr>
                                    </p:animEffect>
                                  </p:childTnLst>
                                  <p:subTnLst>
                                    <p:audio>
                                      <p:cMediaNode>
                                        <p:cTn display="0" masterRel="sameClick">
                                          <p:stCondLst>
                                            <p:cond evt="begin" delay="0">
                                              <p:tn val="174"/>
                                            </p:cond>
                                          </p:stCondLst>
                                          <p:endCondLst>
                                            <p:cond evt="onStopAudio" delay="0">
                                              <p:tgtEl>
                                                <p:sldTgt/>
                                              </p:tgtEl>
                                            </p:cond>
                                          </p:endCondLst>
                                        </p:cTn>
                                        <p:tgtEl>
                                          <p:sndTgt r:embed="rId5" name="PROJCTOR.WAV"/>
                                        </p:tgtEl>
                                      </p:cMediaNode>
                                    </p:audio>
                                  </p:sub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wipe(left)">
                                      <p:cBhvr>
                                        <p:cTn id="181" dur="5000"/>
                                        <p:tgtEl>
                                          <p:spTgt spid="84"/>
                                        </p:tgtEl>
                                      </p:cBhvr>
                                    </p:animEffect>
                                  </p:childTnLst>
                                  <p:subTnLst>
                                    <p:audio>
                                      <p:cMediaNode>
                                        <p:cTn display="0" masterRel="sameClick">
                                          <p:stCondLst>
                                            <p:cond evt="begin" delay="0">
                                              <p:tn val="179"/>
                                            </p:cond>
                                          </p:stCondLst>
                                          <p:endCondLst>
                                            <p:cond evt="onStopAudio" delay="0">
                                              <p:tgtEl>
                                                <p:sldTgt/>
                                              </p:tgtEl>
                                            </p:cond>
                                          </p:endCondLst>
                                        </p:cTn>
                                        <p:tgtEl>
                                          <p:sndTgt r:embed="rId3" name="CAMERA.WAV"/>
                                        </p:tgtEl>
                                      </p:cMediaNode>
                                    </p:audio>
                                  </p:subTnLst>
                                </p:cTn>
                              </p:par>
                            </p:childTnLst>
                          </p:cTn>
                        </p:par>
                        <p:par>
                          <p:cTn id="182" fill="hold">
                            <p:stCondLst>
                              <p:cond delay="5000"/>
                            </p:stCondLst>
                            <p:childTnLst>
                              <p:par>
                                <p:cTn id="183" presetID="20" presetClass="entr" presetSubtype="0" fill="hold" grpId="0" nodeType="afterEffect">
                                  <p:stCondLst>
                                    <p:cond delay="1000"/>
                                  </p:stCondLst>
                                  <p:childTnLst>
                                    <p:set>
                                      <p:cBhvr>
                                        <p:cTn id="184" dur="1" fill="hold">
                                          <p:stCondLst>
                                            <p:cond delay="0"/>
                                          </p:stCondLst>
                                        </p:cTn>
                                        <p:tgtEl>
                                          <p:spTgt spid="63"/>
                                        </p:tgtEl>
                                        <p:attrNameLst>
                                          <p:attrName>style.visibility</p:attrName>
                                        </p:attrNameLst>
                                      </p:cBhvr>
                                      <p:to>
                                        <p:strVal val="visible"/>
                                      </p:to>
                                    </p:set>
                                    <p:animEffect transition="in" filter="wedge">
                                      <p:cBhvr>
                                        <p:cTn id="185" dur="3000"/>
                                        <p:tgtEl>
                                          <p:spTgt spid="63"/>
                                        </p:tgtEl>
                                      </p:cBhvr>
                                    </p:animEffect>
                                  </p:childTnLst>
                                  <p:subTnLst>
                                    <p:audio>
                                      <p:cMediaNode>
                                        <p:cTn display="0" masterRel="sameClick">
                                          <p:stCondLst>
                                            <p:cond evt="begin" delay="0">
                                              <p:tn val="183"/>
                                            </p:cond>
                                          </p:stCondLst>
                                          <p:endCondLst>
                                            <p:cond evt="onStopAudio" delay="0">
                                              <p:tgtEl>
                                                <p:sldTgt/>
                                              </p:tgtEl>
                                            </p:cond>
                                          </p:endCondLst>
                                        </p:cTn>
                                        <p:tgtEl>
                                          <p:sndTgt r:embed="rId5" name="PROJCTOR.WAV"/>
                                        </p:tgtEl>
                                      </p:cMediaNode>
                                    </p:audio>
                                  </p:subTnLst>
                                </p:cTn>
                              </p:par>
                            </p:childTnLst>
                          </p:cTn>
                        </p:par>
                        <p:par>
                          <p:cTn id="186" fill="hold">
                            <p:stCondLst>
                              <p:cond delay="9000"/>
                            </p:stCondLst>
                            <p:childTnLst>
                              <p:par>
                                <p:cTn id="187" presetID="18" presetClass="entr" presetSubtype="12" fill="hold" grpId="0" nodeType="afterEffect">
                                  <p:stCondLst>
                                    <p:cond delay="300"/>
                                  </p:stCondLst>
                                  <p:childTnLst>
                                    <p:set>
                                      <p:cBhvr>
                                        <p:cTn id="188" dur="1" fill="hold">
                                          <p:stCondLst>
                                            <p:cond delay="0"/>
                                          </p:stCondLst>
                                        </p:cTn>
                                        <p:tgtEl>
                                          <p:spTgt spid="89"/>
                                        </p:tgtEl>
                                        <p:attrNameLst>
                                          <p:attrName>style.visibility</p:attrName>
                                        </p:attrNameLst>
                                      </p:cBhvr>
                                      <p:to>
                                        <p:strVal val="visible"/>
                                      </p:to>
                                    </p:set>
                                    <p:animEffect transition="in" filter="strips(downLeft)">
                                      <p:cBhvr>
                                        <p:cTn id="189" dur="3000"/>
                                        <p:tgtEl>
                                          <p:spTgt spid="89"/>
                                        </p:tgtEl>
                                      </p:cBhvr>
                                    </p:animEffect>
                                  </p:childTnLst>
                                  <p:subTnLst>
                                    <p:audio>
                                      <p:cMediaNode>
                                        <p:cTn display="0" masterRel="sameClick">
                                          <p:stCondLst>
                                            <p:cond evt="begin" delay="0">
                                              <p:tn val="187"/>
                                            </p:cond>
                                          </p:stCondLst>
                                          <p:endCondLst>
                                            <p:cond evt="onStopAudio" delay="0">
                                              <p:tgtEl>
                                                <p:sldTgt/>
                                              </p:tgtEl>
                                            </p:cond>
                                          </p:endCondLst>
                                        </p:cTn>
                                        <p:tgtEl>
                                          <p:sndTgt r:embed="rId4" name="CHIMES.WAV"/>
                                        </p:tgtEl>
                                      </p:cMediaNode>
                                    </p:audio>
                                  </p:subTnLst>
                                </p:cTn>
                              </p:par>
                            </p:childTnLst>
                          </p:cTn>
                        </p:par>
                      </p:childTnLst>
                    </p:cTn>
                  </p:par>
                  <p:par>
                    <p:cTn id="190" fill="hold">
                      <p:stCondLst>
                        <p:cond delay="indefinite"/>
                      </p:stCondLst>
                      <p:childTnLst>
                        <p:par>
                          <p:cTn id="191" fill="hold">
                            <p:stCondLst>
                              <p:cond delay="0"/>
                            </p:stCondLst>
                            <p:childTnLst>
                              <p:par>
                                <p:cTn id="192" presetID="18" presetClass="entr" presetSubtype="3" fill="hold" grpId="0" nodeType="clickEffect">
                                  <p:stCondLst>
                                    <p:cond delay="0"/>
                                  </p:stCondLst>
                                  <p:childTnLst>
                                    <p:set>
                                      <p:cBhvr>
                                        <p:cTn id="193" dur="1" fill="hold">
                                          <p:stCondLst>
                                            <p:cond delay="0"/>
                                          </p:stCondLst>
                                        </p:cTn>
                                        <p:tgtEl>
                                          <p:spTgt spid="88"/>
                                        </p:tgtEl>
                                        <p:attrNameLst>
                                          <p:attrName>style.visibility</p:attrName>
                                        </p:attrNameLst>
                                      </p:cBhvr>
                                      <p:to>
                                        <p:strVal val="visible"/>
                                      </p:to>
                                    </p:set>
                                    <p:animEffect transition="in" filter="strips(upRight)">
                                      <p:cBhvr>
                                        <p:cTn id="194" dur="5000"/>
                                        <p:tgtEl>
                                          <p:spTgt spid="88"/>
                                        </p:tgtEl>
                                      </p:cBhvr>
                                    </p:animEffect>
                                  </p:childTnLst>
                                  <p:subTnLst>
                                    <p:audio>
                                      <p:cMediaNode>
                                        <p:cTn display="0" masterRel="sameClick">
                                          <p:stCondLst>
                                            <p:cond evt="begin" delay="0">
                                              <p:tn val="192"/>
                                            </p:cond>
                                          </p:stCondLst>
                                          <p:endCondLst>
                                            <p:cond evt="onStopAudio" delay="0">
                                              <p:tgtEl>
                                                <p:sldTgt/>
                                              </p:tgtEl>
                                            </p:cond>
                                          </p:endCondLst>
                                        </p:cTn>
                                        <p:tgtEl>
                                          <p:sndTgt r:embed="rId6" name="LASER.WAV"/>
                                        </p:tgtEl>
                                      </p:cMediaNode>
                                    </p:audio>
                                  </p:subTnLst>
                                </p:cTn>
                              </p:par>
                              <p:par>
                                <p:cTn id="195" presetID="19" presetClass="entr" presetSubtype="10" fill="hold" grpId="0" nodeType="withEffect">
                                  <p:stCondLst>
                                    <p:cond delay="0"/>
                                  </p:stCondLst>
                                  <p:childTnLst>
                                    <p:set>
                                      <p:cBhvr>
                                        <p:cTn id="196" dur="1" fill="hold">
                                          <p:stCondLst>
                                            <p:cond delay="0"/>
                                          </p:stCondLst>
                                        </p:cTn>
                                        <p:tgtEl>
                                          <p:spTgt spid="92"/>
                                        </p:tgtEl>
                                        <p:attrNameLst>
                                          <p:attrName>style.visibility</p:attrName>
                                        </p:attrNameLst>
                                      </p:cBhvr>
                                      <p:to>
                                        <p:strVal val="visible"/>
                                      </p:to>
                                    </p:set>
                                    <p:anim calcmode="lin" valueType="num">
                                      <p:cBhvr>
                                        <p:cTn id="197" dur="5000" fill="hold"/>
                                        <p:tgtEl>
                                          <p:spTgt spid="92"/>
                                        </p:tgtEl>
                                        <p:attrNameLst>
                                          <p:attrName>ppt_w</p:attrName>
                                        </p:attrNameLst>
                                      </p:cBhvr>
                                      <p:tavLst>
                                        <p:tav tm="0" fmla="#ppt_w*sin(2.5*pi*$)">
                                          <p:val>
                                            <p:fltVal val="0"/>
                                          </p:val>
                                        </p:tav>
                                        <p:tav tm="100000">
                                          <p:val>
                                            <p:fltVal val="1"/>
                                          </p:val>
                                        </p:tav>
                                      </p:tavLst>
                                    </p:anim>
                                    <p:anim calcmode="lin" valueType="num">
                                      <p:cBhvr>
                                        <p:cTn id="198" dur="5000" fill="hold"/>
                                        <p:tgtEl>
                                          <p:spTgt spid="92"/>
                                        </p:tgtEl>
                                        <p:attrNameLst>
                                          <p:attrName>ppt_h</p:attrName>
                                        </p:attrNameLst>
                                      </p:cBhvr>
                                      <p:tavLst>
                                        <p:tav tm="0">
                                          <p:val>
                                            <p:strVal val="#ppt_h"/>
                                          </p:val>
                                        </p:tav>
                                        <p:tav tm="100000">
                                          <p:val>
                                            <p:strVal val="#ppt_h"/>
                                          </p:val>
                                        </p:tav>
                                      </p:tavLst>
                                    </p:anim>
                                  </p:childTnLst>
                                </p:cTn>
                              </p:par>
                            </p:childTnLst>
                          </p:cTn>
                        </p:par>
                        <p:par>
                          <p:cTn id="199" fill="hold">
                            <p:stCondLst>
                              <p:cond delay="5000"/>
                            </p:stCondLst>
                            <p:childTnLst>
                              <p:par>
                                <p:cTn id="200" presetID="22" presetClass="entr" presetSubtype="4" fill="hold" grpId="0" nodeType="afterEffect">
                                  <p:stCondLst>
                                    <p:cond delay="0"/>
                                  </p:stCondLst>
                                  <p:childTnLst>
                                    <p:set>
                                      <p:cBhvr>
                                        <p:cTn id="201" dur="1" fill="hold">
                                          <p:stCondLst>
                                            <p:cond delay="0"/>
                                          </p:stCondLst>
                                        </p:cTn>
                                        <p:tgtEl>
                                          <p:spTgt spid="91"/>
                                        </p:tgtEl>
                                        <p:attrNameLst>
                                          <p:attrName>style.visibility</p:attrName>
                                        </p:attrNameLst>
                                      </p:cBhvr>
                                      <p:to>
                                        <p:strVal val="visible"/>
                                      </p:to>
                                    </p:set>
                                    <p:animEffect transition="in" filter="wipe(down)">
                                      <p:cBhvr>
                                        <p:cTn id="202" dur="3000"/>
                                        <p:tgtEl>
                                          <p:spTgt spid="91"/>
                                        </p:tgtEl>
                                      </p:cBhvr>
                                    </p:animEffect>
                                  </p:childTnLst>
                                </p:cTn>
                              </p:par>
                            </p:childTnLst>
                          </p:cTn>
                        </p:par>
                        <p:par>
                          <p:cTn id="203" fill="hold">
                            <p:stCondLst>
                              <p:cond delay="8000"/>
                            </p:stCondLst>
                            <p:childTnLst>
                              <p:par>
                                <p:cTn id="204" presetID="22" presetClass="entr" presetSubtype="8" fill="hold" grpId="0" nodeType="afterEffect">
                                  <p:stCondLst>
                                    <p:cond delay="1000"/>
                                  </p:stCondLst>
                                  <p:childTnLst>
                                    <p:set>
                                      <p:cBhvr>
                                        <p:cTn id="205" dur="1" fill="hold">
                                          <p:stCondLst>
                                            <p:cond delay="0"/>
                                          </p:stCondLst>
                                        </p:cTn>
                                        <p:tgtEl>
                                          <p:spTgt spid="64"/>
                                        </p:tgtEl>
                                        <p:attrNameLst>
                                          <p:attrName>style.visibility</p:attrName>
                                        </p:attrNameLst>
                                      </p:cBhvr>
                                      <p:to>
                                        <p:strVal val="visible"/>
                                      </p:to>
                                    </p:set>
                                    <p:animEffect transition="in" filter="wipe(left)">
                                      <p:cBhvr>
                                        <p:cTn id="206" dur="3000"/>
                                        <p:tgtEl>
                                          <p:spTgt spid="64"/>
                                        </p:tgtEl>
                                      </p:cBhvr>
                                    </p:animEffect>
                                  </p:childTnLst>
                                  <p:subTnLst>
                                    <p:audio>
                                      <p:cMediaNode>
                                        <p:cTn display="0" masterRel="sameClick">
                                          <p:stCondLst>
                                            <p:cond evt="begin" delay="0">
                                              <p:tn val="204"/>
                                            </p:cond>
                                          </p:stCondLst>
                                          <p:endCondLst>
                                            <p:cond evt="onStopAudio" delay="0">
                                              <p:tgtEl>
                                                <p:sldTgt/>
                                              </p:tgtEl>
                                            </p:cond>
                                          </p:endCondLst>
                                        </p:cTn>
                                        <p:tgtEl>
                                          <p:sndTgt r:embed="rId3" name="CAMERA.WAV"/>
                                        </p:tgtEl>
                                      </p:cMediaNode>
                                    </p:audio>
                                  </p:subTnLst>
                                </p:cTn>
                              </p:par>
                            </p:childTnLst>
                          </p:cTn>
                        </p:par>
                        <p:par>
                          <p:cTn id="207" fill="hold">
                            <p:stCondLst>
                              <p:cond delay="12000"/>
                            </p:stCondLst>
                            <p:childTnLst>
                              <p:par>
                                <p:cTn id="208" presetID="18" presetClass="entr" presetSubtype="12" fill="hold" grpId="0" nodeType="afterEffect">
                                  <p:stCondLst>
                                    <p:cond delay="300"/>
                                  </p:stCondLst>
                                  <p:childTnLst>
                                    <p:set>
                                      <p:cBhvr>
                                        <p:cTn id="209" dur="1" fill="hold">
                                          <p:stCondLst>
                                            <p:cond delay="0"/>
                                          </p:stCondLst>
                                        </p:cTn>
                                        <p:tgtEl>
                                          <p:spTgt spid="90"/>
                                        </p:tgtEl>
                                        <p:attrNameLst>
                                          <p:attrName>style.visibility</p:attrName>
                                        </p:attrNameLst>
                                      </p:cBhvr>
                                      <p:to>
                                        <p:strVal val="visible"/>
                                      </p:to>
                                    </p:set>
                                    <p:animEffect transition="in" filter="strips(downLeft)">
                                      <p:cBhvr>
                                        <p:cTn id="210" dur="5000"/>
                                        <p:tgtEl>
                                          <p:spTgt spid="90"/>
                                        </p:tgtEl>
                                      </p:cBhvr>
                                    </p:animEffect>
                                  </p:childTnLst>
                                  <p:subTnLst>
                                    <p:audio>
                                      <p:cMediaNode>
                                        <p:cTn display="0" masterRel="sameClick">
                                          <p:stCondLst>
                                            <p:cond evt="begin" delay="0">
                                              <p:tn val="208"/>
                                            </p:cond>
                                          </p:stCondLst>
                                          <p:endCondLst>
                                            <p:cond evt="onStopAudio" delay="0">
                                              <p:tgtEl>
                                                <p:sldTgt/>
                                              </p:tgtEl>
                                            </p:cond>
                                          </p:endCondLst>
                                        </p:cTn>
                                        <p:tgtEl>
                                          <p:sndTgt r:embed="rId4" name="CHIMES.WAV"/>
                                        </p:tgtEl>
                                      </p:cMediaNode>
                                    </p:audio>
                                  </p:subTnLst>
                                </p:cTn>
                              </p:par>
                            </p:childTnLst>
                          </p:cTn>
                        </p:par>
                      </p:childTnLst>
                    </p:cTn>
                  </p:par>
                  <p:par>
                    <p:cTn id="211" fill="hold">
                      <p:stCondLst>
                        <p:cond delay="indefinite"/>
                      </p:stCondLst>
                      <p:childTnLst>
                        <p:par>
                          <p:cTn id="212" fill="hold">
                            <p:stCondLst>
                              <p:cond delay="0"/>
                            </p:stCondLst>
                            <p:childTnLst>
                              <p:par>
                                <p:cTn id="213" presetID="20" presetClass="entr" presetSubtype="0" fill="hold" nodeType="clickEffect">
                                  <p:stCondLst>
                                    <p:cond delay="0"/>
                                  </p:stCondLst>
                                  <p:childTnLst>
                                    <p:set>
                                      <p:cBhvr>
                                        <p:cTn id="214" dur="1" fill="hold">
                                          <p:stCondLst>
                                            <p:cond delay="0"/>
                                          </p:stCondLst>
                                        </p:cTn>
                                        <p:tgtEl>
                                          <p:spTgt spid="94"/>
                                        </p:tgtEl>
                                        <p:attrNameLst>
                                          <p:attrName>style.visibility</p:attrName>
                                        </p:attrNameLst>
                                      </p:cBhvr>
                                      <p:to>
                                        <p:strVal val="visible"/>
                                      </p:to>
                                    </p:set>
                                    <p:animEffect transition="in" filter="wedge">
                                      <p:cBhvr>
                                        <p:cTn id="215" dur="5000"/>
                                        <p:tgtEl>
                                          <p:spTgt spid="94"/>
                                        </p:tgtEl>
                                      </p:cBhvr>
                                    </p:animEffect>
                                  </p:childTnLst>
                                  <p:subTnLst>
                                    <p:audio>
                                      <p:cMediaNode>
                                        <p:cTn display="0" masterRel="sameClick">
                                          <p:stCondLst>
                                            <p:cond evt="begin" delay="0">
                                              <p:tn val="213"/>
                                            </p:cond>
                                          </p:stCondLst>
                                          <p:endCondLst>
                                            <p:cond evt="onStopAudio" delay="0">
                                              <p:tgtEl>
                                                <p:sldTgt/>
                                              </p:tgtEl>
                                            </p:cond>
                                          </p:endCondLst>
                                        </p:cTn>
                                        <p:tgtEl>
                                          <p:sndTgt r:embed="rId3" name="CAMERA.WAV"/>
                                        </p:tgtEl>
                                      </p:cMediaNode>
                                    </p:audio>
                                  </p:subTnLst>
                                </p:cTn>
                              </p:par>
                            </p:childTnLst>
                          </p:cTn>
                        </p:par>
                        <p:par>
                          <p:cTn id="216" fill="hold">
                            <p:stCondLst>
                              <p:cond delay="5000"/>
                            </p:stCondLst>
                            <p:childTnLst>
                              <p:par>
                                <p:cTn id="217" presetID="18" presetClass="entr" presetSubtype="3" fill="hold" grpId="0" nodeType="afterEffect">
                                  <p:stCondLst>
                                    <p:cond delay="1000"/>
                                  </p:stCondLst>
                                  <p:childTnLst>
                                    <p:set>
                                      <p:cBhvr>
                                        <p:cTn id="218" dur="1" fill="hold">
                                          <p:stCondLst>
                                            <p:cond delay="0"/>
                                          </p:stCondLst>
                                        </p:cTn>
                                        <p:tgtEl>
                                          <p:spTgt spid="106"/>
                                        </p:tgtEl>
                                        <p:attrNameLst>
                                          <p:attrName>style.visibility</p:attrName>
                                        </p:attrNameLst>
                                      </p:cBhvr>
                                      <p:to>
                                        <p:strVal val="visible"/>
                                      </p:to>
                                    </p:set>
                                    <p:animEffect transition="in" filter="strips(upRight)">
                                      <p:cBhvr>
                                        <p:cTn id="219" dur="3000"/>
                                        <p:tgtEl>
                                          <p:spTgt spid="106"/>
                                        </p:tgtEl>
                                      </p:cBhvr>
                                    </p:animEffect>
                                  </p:childTnLst>
                                  <p:subTnLst>
                                    <p:audio>
                                      <p:cMediaNode>
                                        <p:cTn display="0" masterRel="sameClick">
                                          <p:stCondLst>
                                            <p:cond evt="begin" delay="0">
                                              <p:tn val="217"/>
                                            </p:cond>
                                          </p:stCondLst>
                                          <p:endCondLst>
                                            <p:cond evt="onStopAudio" delay="0">
                                              <p:tgtEl>
                                                <p:sldTgt/>
                                              </p:tgtEl>
                                            </p:cond>
                                          </p:endCondLst>
                                        </p:cTn>
                                        <p:tgtEl>
                                          <p:sndTgt r:embed="rId4" name="CHIMES.WAV"/>
                                        </p:tgtEl>
                                      </p:cMediaNode>
                                    </p:audio>
                                  </p:subTnLst>
                                </p:cTn>
                              </p:par>
                            </p:childTnLst>
                          </p:cTn>
                        </p:par>
                        <p:par>
                          <p:cTn id="220" fill="hold">
                            <p:stCondLst>
                              <p:cond delay="9000"/>
                            </p:stCondLst>
                            <p:childTnLst>
                              <p:par>
                                <p:cTn id="221" presetID="17" presetClass="entr" presetSubtype="10" fill="hold" grpId="0" nodeType="afterEffect">
                                  <p:stCondLst>
                                    <p:cond delay="300"/>
                                  </p:stCondLst>
                                  <p:childTnLst>
                                    <p:set>
                                      <p:cBhvr>
                                        <p:cTn id="222" dur="1" fill="hold">
                                          <p:stCondLst>
                                            <p:cond delay="0"/>
                                          </p:stCondLst>
                                        </p:cTn>
                                        <p:tgtEl>
                                          <p:spTgt spid="198"/>
                                        </p:tgtEl>
                                        <p:attrNameLst>
                                          <p:attrName>style.visibility</p:attrName>
                                        </p:attrNameLst>
                                      </p:cBhvr>
                                      <p:to>
                                        <p:strVal val="visible"/>
                                      </p:to>
                                    </p:set>
                                    <p:anim calcmode="lin" valueType="num">
                                      <p:cBhvr>
                                        <p:cTn id="223" dur="3000" fill="hold"/>
                                        <p:tgtEl>
                                          <p:spTgt spid="198"/>
                                        </p:tgtEl>
                                        <p:attrNameLst>
                                          <p:attrName>ppt_w</p:attrName>
                                        </p:attrNameLst>
                                      </p:cBhvr>
                                      <p:tavLst>
                                        <p:tav tm="0">
                                          <p:val>
                                            <p:fltVal val="0"/>
                                          </p:val>
                                        </p:tav>
                                        <p:tav tm="100000">
                                          <p:val>
                                            <p:strVal val="#ppt_w"/>
                                          </p:val>
                                        </p:tav>
                                      </p:tavLst>
                                    </p:anim>
                                    <p:anim calcmode="lin" valueType="num">
                                      <p:cBhvr>
                                        <p:cTn id="224"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1"/>
                                            </p:cond>
                                          </p:stCondLst>
                                          <p:endCondLst>
                                            <p:cond evt="onStopAudio" delay="0">
                                              <p:tgtEl>
                                                <p:sldTgt/>
                                              </p:tgtEl>
                                            </p:cond>
                                          </p:endCondLst>
                                        </p:cTn>
                                        <p:tgtEl>
                                          <p:sndTgt r:embed="rId4" name="CHIMES.WAV"/>
                                        </p:tgtEl>
                                      </p:cMediaNode>
                                    </p:audio>
                                  </p:subTnLst>
                                </p:cTn>
                              </p:par>
                            </p:childTnLst>
                          </p:cTn>
                        </p:par>
                        <p:par>
                          <p:cTn id="225" fill="hold">
                            <p:stCondLst>
                              <p:cond delay="12300"/>
                            </p:stCondLst>
                            <p:childTnLst>
                              <p:par>
                                <p:cTn id="226" presetID="17" presetClass="entr" presetSubtype="1" fill="hold" grpId="0" nodeType="afterEffect">
                                  <p:stCondLst>
                                    <p:cond delay="300"/>
                                  </p:stCondLst>
                                  <p:childTnLst>
                                    <p:set>
                                      <p:cBhvr>
                                        <p:cTn id="227" dur="1" fill="hold">
                                          <p:stCondLst>
                                            <p:cond delay="0"/>
                                          </p:stCondLst>
                                        </p:cTn>
                                        <p:tgtEl>
                                          <p:spTgt spid="107"/>
                                        </p:tgtEl>
                                        <p:attrNameLst>
                                          <p:attrName>style.visibility</p:attrName>
                                        </p:attrNameLst>
                                      </p:cBhvr>
                                      <p:to>
                                        <p:strVal val="visible"/>
                                      </p:to>
                                    </p:set>
                                    <p:anim calcmode="lin" valueType="num">
                                      <p:cBhvr>
                                        <p:cTn id="228" dur="3000" fill="hold"/>
                                        <p:tgtEl>
                                          <p:spTgt spid="107"/>
                                        </p:tgtEl>
                                        <p:attrNameLst>
                                          <p:attrName>ppt_x</p:attrName>
                                        </p:attrNameLst>
                                      </p:cBhvr>
                                      <p:tavLst>
                                        <p:tav tm="0">
                                          <p:val>
                                            <p:strVal val="#ppt_x"/>
                                          </p:val>
                                        </p:tav>
                                        <p:tav tm="100000">
                                          <p:val>
                                            <p:strVal val="#ppt_x"/>
                                          </p:val>
                                        </p:tav>
                                      </p:tavLst>
                                    </p:anim>
                                    <p:anim calcmode="lin" valueType="num">
                                      <p:cBhvr>
                                        <p:cTn id="229" dur="3000" fill="hold"/>
                                        <p:tgtEl>
                                          <p:spTgt spid="107"/>
                                        </p:tgtEl>
                                        <p:attrNameLst>
                                          <p:attrName>ppt_y</p:attrName>
                                        </p:attrNameLst>
                                      </p:cBhvr>
                                      <p:tavLst>
                                        <p:tav tm="0">
                                          <p:val>
                                            <p:strVal val="#ppt_y-#ppt_h/2"/>
                                          </p:val>
                                        </p:tav>
                                        <p:tav tm="100000">
                                          <p:val>
                                            <p:strVal val="#ppt_y"/>
                                          </p:val>
                                        </p:tav>
                                      </p:tavLst>
                                    </p:anim>
                                    <p:anim calcmode="lin" valueType="num">
                                      <p:cBhvr>
                                        <p:cTn id="230" dur="3000" fill="hold"/>
                                        <p:tgtEl>
                                          <p:spTgt spid="107"/>
                                        </p:tgtEl>
                                        <p:attrNameLst>
                                          <p:attrName>ppt_w</p:attrName>
                                        </p:attrNameLst>
                                      </p:cBhvr>
                                      <p:tavLst>
                                        <p:tav tm="0">
                                          <p:val>
                                            <p:strVal val="#ppt_w"/>
                                          </p:val>
                                        </p:tav>
                                        <p:tav tm="100000">
                                          <p:val>
                                            <p:strVal val="#ppt_w"/>
                                          </p:val>
                                        </p:tav>
                                      </p:tavLst>
                                    </p:anim>
                                    <p:anim calcmode="lin" valueType="num">
                                      <p:cBhvr>
                                        <p:cTn id="231"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26"/>
                                            </p:cond>
                                          </p:stCondLst>
                                          <p:endCondLst>
                                            <p:cond evt="onStopAudio" delay="0">
                                              <p:tgtEl>
                                                <p:sldTgt/>
                                              </p:tgtEl>
                                            </p:cond>
                                          </p:endCondLst>
                                        </p:cTn>
                                        <p:tgtEl>
                                          <p:sndTgt r:embed="rId4" name="CHIMES.WAV"/>
                                        </p:tgtEl>
                                      </p:cMediaNode>
                                    </p:audio>
                                  </p:subTnLst>
                                </p:cTn>
                              </p:par>
                            </p:childTnLst>
                          </p:cTn>
                        </p:par>
                        <p:par>
                          <p:cTn id="232" fill="hold">
                            <p:stCondLst>
                              <p:cond delay="15600"/>
                            </p:stCondLst>
                            <p:childTnLst>
                              <p:par>
                                <p:cTn id="233" presetID="17" presetClass="entr" presetSubtype="10" fill="hold" grpId="0" nodeType="afterEffect">
                                  <p:stCondLst>
                                    <p:cond delay="300"/>
                                  </p:stCondLst>
                                  <p:childTnLst>
                                    <p:set>
                                      <p:cBhvr>
                                        <p:cTn id="234" dur="1" fill="hold">
                                          <p:stCondLst>
                                            <p:cond delay="0"/>
                                          </p:stCondLst>
                                        </p:cTn>
                                        <p:tgtEl>
                                          <p:spTgt spid="197"/>
                                        </p:tgtEl>
                                        <p:attrNameLst>
                                          <p:attrName>style.visibility</p:attrName>
                                        </p:attrNameLst>
                                      </p:cBhvr>
                                      <p:to>
                                        <p:strVal val="visible"/>
                                      </p:to>
                                    </p:set>
                                    <p:anim calcmode="lin" valueType="num">
                                      <p:cBhvr>
                                        <p:cTn id="235" dur="3000" fill="hold"/>
                                        <p:tgtEl>
                                          <p:spTgt spid="197"/>
                                        </p:tgtEl>
                                        <p:attrNameLst>
                                          <p:attrName>ppt_w</p:attrName>
                                        </p:attrNameLst>
                                      </p:cBhvr>
                                      <p:tavLst>
                                        <p:tav tm="0">
                                          <p:val>
                                            <p:fltVal val="0"/>
                                          </p:val>
                                        </p:tav>
                                        <p:tav tm="100000">
                                          <p:val>
                                            <p:strVal val="#ppt_w"/>
                                          </p:val>
                                        </p:tav>
                                      </p:tavLst>
                                    </p:anim>
                                    <p:anim calcmode="lin" valueType="num">
                                      <p:cBhvr>
                                        <p:cTn id="236"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3"/>
                                            </p:cond>
                                          </p:stCondLst>
                                          <p:endCondLst>
                                            <p:cond evt="onStopAudio" delay="0">
                                              <p:tgtEl>
                                                <p:sldTgt/>
                                              </p:tgtEl>
                                            </p:cond>
                                          </p:endCondLst>
                                        </p:cTn>
                                        <p:tgtEl>
                                          <p:sndTgt r:embed="rId4" name="CHIMES.WAV"/>
                                        </p:tgtEl>
                                      </p:cMediaNode>
                                    </p:audio>
                                  </p:subTnLst>
                                </p:cTn>
                              </p:par>
                            </p:childTnLst>
                          </p:cTn>
                        </p:par>
                      </p:childTnLst>
                    </p:cTn>
                  </p:par>
                  <p:par>
                    <p:cTn id="237" fill="hold">
                      <p:stCondLst>
                        <p:cond delay="indefinite"/>
                      </p:stCondLst>
                      <p:childTnLst>
                        <p:par>
                          <p:cTn id="238" fill="hold">
                            <p:stCondLst>
                              <p:cond delay="0"/>
                            </p:stCondLst>
                            <p:childTnLst>
                              <p:par>
                                <p:cTn id="239" presetID="22" presetClass="entr" presetSubtype="4" fill="hold" grpId="0" nodeType="clickEffect">
                                  <p:stCondLst>
                                    <p:cond delay="0"/>
                                  </p:stCondLst>
                                  <p:childTnLst>
                                    <p:set>
                                      <p:cBhvr>
                                        <p:cTn id="240" dur="1" fill="hold">
                                          <p:stCondLst>
                                            <p:cond delay="0"/>
                                          </p:stCondLst>
                                        </p:cTn>
                                        <p:tgtEl>
                                          <p:spTgt spid="194"/>
                                        </p:tgtEl>
                                        <p:attrNameLst>
                                          <p:attrName>style.visibility</p:attrName>
                                        </p:attrNameLst>
                                      </p:cBhvr>
                                      <p:to>
                                        <p:strVal val="visible"/>
                                      </p:to>
                                    </p:set>
                                    <p:animEffect transition="in" filter="wipe(down)">
                                      <p:cBhvr>
                                        <p:cTn id="241" dur="5000"/>
                                        <p:tgtEl>
                                          <p:spTgt spid="194"/>
                                        </p:tgtEl>
                                      </p:cBhvr>
                                    </p:animEffect>
                                  </p:childTnLst>
                                  <p:subTnLst>
                                    <p:audio>
                                      <p:cMediaNode>
                                        <p:cTn display="0" masterRel="sameClick">
                                          <p:stCondLst>
                                            <p:cond evt="begin" delay="0">
                                              <p:tn val="239"/>
                                            </p:cond>
                                          </p:stCondLst>
                                          <p:endCondLst>
                                            <p:cond evt="onStopAudio" delay="0">
                                              <p:tgtEl>
                                                <p:sldTgt/>
                                              </p:tgtEl>
                                            </p:cond>
                                          </p:endCondLst>
                                        </p:cTn>
                                        <p:tgtEl>
                                          <p:sndTgt r:embed="rId3" name="CAMERA.WAV"/>
                                        </p:tgtEl>
                                      </p:cMediaNode>
                                    </p:audio>
                                  </p:subTnLst>
                                </p:cTn>
                              </p:par>
                              <p:par>
                                <p:cTn id="242" presetID="19" presetClass="entr" presetSubtype="10" fill="hold" grpId="0" nodeType="withEffect">
                                  <p:stCondLst>
                                    <p:cond delay="0"/>
                                  </p:stCondLst>
                                  <p:childTnLst>
                                    <p:set>
                                      <p:cBhvr>
                                        <p:cTn id="243" dur="1" fill="hold">
                                          <p:stCondLst>
                                            <p:cond delay="0"/>
                                          </p:stCondLst>
                                        </p:cTn>
                                        <p:tgtEl>
                                          <p:spTgt spid="195"/>
                                        </p:tgtEl>
                                        <p:attrNameLst>
                                          <p:attrName>style.visibility</p:attrName>
                                        </p:attrNameLst>
                                      </p:cBhvr>
                                      <p:to>
                                        <p:strVal val="visible"/>
                                      </p:to>
                                    </p:set>
                                    <p:anim calcmode="lin" valueType="num">
                                      <p:cBhvr>
                                        <p:cTn id="244" dur="3000" fill="hold"/>
                                        <p:tgtEl>
                                          <p:spTgt spid="195"/>
                                        </p:tgtEl>
                                        <p:attrNameLst>
                                          <p:attrName>ppt_w</p:attrName>
                                        </p:attrNameLst>
                                      </p:cBhvr>
                                      <p:tavLst>
                                        <p:tav tm="0" fmla="#ppt_w*sin(2.5*pi*$)">
                                          <p:val>
                                            <p:fltVal val="0"/>
                                          </p:val>
                                        </p:tav>
                                        <p:tav tm="100000">
                                          <p:val>
                                            <p:fltVal val="1"/>
                                          </p:val>
                                        </p:tav>
                                      </p:tavLst>
                                    </p:anim>
                                    <p:anim calcmode="lin" valueType="num">
                                      <p:cBhvr>
                                        <p:cTn id="245"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2"/>
                                            </p:cond>
                                          </p:stCondLst>
                                          <p:endCondLst>
                                            <p:cond evt="onStopAudio" delay="0">
                                              <p:tgtEl>
                                                <p:sldTgt/>
                                              </p:tgtEl>
                                            </p:cond>
                                          </p:endCondLst>
                                        </p:cTn>
                                        <p:tgtEl>
                                          <p:sndTgt r:embed="rId3" name="CAMERA.WAV"/>
                                        </p:tgtEl>
                                      </p:cMediaNode>
                                    </p:audio>
                                  </p:subTnLst>
                                </p:cTn>
                              </p:par>
                              <p:par>
                                <p:cTn id="246" presetID="17" presetClass="entr" presetSubtype="8" fill="hold" grpId="0" nodeType="withEffect">
                                  <p:stCondLst>
                                    <p:cond delay="0"/>
                                  </p:stCondLst>
                                  <p:childTnLst>
                                    <p:set>
                                      <p:cBhvr>
                                        <p:cTn id="247" dur="1" fill="hold">
                                          <p:stCondLst>
                                            <p:cond delay="0"/>
                                          </p:stCondLst>
                                        </p:cTn>
                                        <p:tgtEl>
                                          <p:spTgt spid="176"/>
                                        </p:tgtEl>
                                        <p:attrNameLst>
                                          <p:attrName>style.visibility</p:attrName>
                                        </p:attrNameLst>
                                      </p:cBhvr>
                                      <p:to>
                                        <p:strVal val="visible"/>
                                      </p:to>
                                    </p:set>
                                    <p:anim calcmode="lin" valueType="num">
                                      <p:cBhvr>
                                        <p:cTn id="248" dur="5000" fill="hold"/>
                                        <p:tgtEl>
                                          <p:spTgt spid="176"/>
                                        </p:tgtEl>
                                        <p:attrNameLst>
                                          <p:attrName>ppt_x</p:attrName>
                                        </p:attrNameLst>
                                      </p:cBhvr>
                                      <p:tavLst>
                                        <p:tav tm="0">
                                          <p:val>
                                            <p:strVal val="#ppt_x-#ppt_w/2"/>
                                          </p:val>
                                        </p:tav>
                                        <p:tav tm="100000">
                                          <p:val>
                                            <p:strVal val="#ppt_x"/>
                                          </p:val>
                                        </p:tav>
                                      </p:tavLst>
                                    </p:anim>
                                    <p:anim calcmode="lin" valueType="num">
                                      <p:cBhvr>
                                        <p:cTn id="249" dur="5000" fill="hold"/>
                                        <p:tgtEl>
                                          <p:spTgt spid="176"/>
                                        </p:tgtEl>
                                        <p:attrNameLst>
                                          <p:attrName>ppt_y</p:attrName>
                                        </p:attrNameLst>
                                      </p:cBhvr>
                                      <p:tavLst>
                                        <p:tav tm="0">
                                          <p:val>
                                            <p:strVal val="#ppt_y"/>
                                          </p:val>
                                        </p:tav>
                                        <p:tav tm="100000">
                                          <p:val>
                                            <p:strVal val="#ppt_y"/>
                                          </p:val>
                                        </p:tav>
                                      </p:tavLst>
                                    </p:anim>
                                    <p:anim calcmode="lin" valueType="num">
                                      <p:cBhvr>
                                        <p:cTn id="250" dur="5000" fill="hold"/>
                                        <p:tgtEl>
                                          <p:spTgt spid="176"/>
                                        </p:tgtEl>
                                        <p:attrNameLst>
                                          <p:attrName>ppt_w</p:attrName>
                                        </p:attrNameLst>
                                      </p:cBhvr>
                                      <p:tavLst>
                                        <p:tav tm="0">
                                          <p:val>
                                            <p:fltVal val="0"/>
                                          </p:val>
                                        </p:tav>
                                        <p:tav tm="100000">
                                          <p:val>
                                            <p:strVal val="#ppt_w"/>
                                          </p:val>
                                        </p:tav>
                                      </p:tavLst>
                                    </p:anim>
                                    <p:anim calcmode="lin" valueType="num">
                                      <p:cBhvr>
                                        <p:cTn id="251"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6"/>
                                            </p:cond>
                                          </p:stCondLst>
                                          <p:endCondLst>
                                            <p:cond evt="onStopAudio" delay="0">
                                              <p:tgtEl>
                                                <p:sldTgt/>
                                              </p:tgtEl>
                                            </p:cond>
                                          </p:endCondLst>
                                        </p:cTn>
                                        <p:tgtEl>
                                          <p:sndTgt r:embed="rId4" name="CHIMES.WAV"/>
                                        </p:tgtEl>
                                      </p:cMediaNode>
                                    </p:audio>
                                  </p:subTnLst>
                                </p:cTn>
                              </p:par>
                              <p:par>
                                <p:cTn id="252" presetID="17" presetClass="entr" presetSubtype="8" fill="hold" grpId="0" nodeType="withEffect">
                                  <p:stCondLst>
                                    <p:cond delay="0"/>
                                  </p:stCondLst>
                                  <p:childTnLst>
                                    <p:set>
                                      <p:cBhvr>
                                        <p:cTn id="253" dur="1" fill="hold">
                                          <p:stCondLst>
                                            <p:cond delay="0"/>
                                          </p:stCondLst>
                                        </p:cTn>
                                        <p:tgtEl>
                                          <p:spTgt spid="177"/>
                                        </p:tgtEl>
                                        <p:attrNameLst>
                                          <p:attrName>style.visibility</p:attrName>
                                        </p:attrNameLst>
                                      </p:cBhvr>
                                      <p:to>
                                        <p:strVal val="visible"/>
                                      </p:to>
                                    </p:set>
                                    <p:anim calcmode="lin" valueType="num">
                                      <p:cBhvr>
                                        <p:cTn id="254" dur="5000" fill="hold"/>
                                        <p:tgtEl>
                                          <p:spTgt spid="177"/>
                                        </p:tgtEl>
                                        <p:attrNameLst>
                                          <p:attrName>ppt_x</p:attrName>
                                        </p:attrNameLst>
                                      </p:cBhvr>
                                      <p:tavLst>
                                        <p:tav tm="0">
                                          <p:val>
                                            <p:strVal val="#ppt_x-#ppt_w/2"/>
                                          </p:val>
                                        </p:tav>
                                        <p:tav tm="100000">
                                          <p:val>
                                            <p:strVal val="#ppt_x"/>
                                          </p:val>
                                        </p:tav>
                                      </p:tavLst>
                                    </p:anim>
                                    <p:anim calcmode="lin" valueType="num">
                                      <p:cBhvr>
                                        <p:cTn id="255" dur="5000" fill="hold"/>
                                        <p:tgtEl>
                                          <p:spTgt spid="177"/>
                                        </p:tgtEl>
                                        <p:attrNameLst>
                                          <p:attrName>ppt_y</p:attrName>
                                        </p:attrNameLst>
                                      </p:cBhvr>
                                      <p:tavLst>
                                        <p:tav tm="0">
                                          <p:val>
                                            <p:strVal val="#ppt_y"/>
                                          </p:val>
                                        </p:tav>
                                        <p:tav tm="100000">
                                          <p:val>
                                            <p:strVal val="#ppt_y"/>
                                          </p:val>
                                        </p:tav>
                                      </p:tavLst>
                                    </p:anim>
                                    <p:anim calcmode="lin" valueType="num">
                                      <p:cBhvr>
                                        <p:cTn id="256" dur="5000" fill="hold"/>
                                        <p:tgtEl>
                                          <p:spTgt spid="177"/>
                                        </p:tgtEl>
                                        <p:attrNameLst>
                                          <p:attrName>ppt_w</p:attrName>
                                        </p:attrNameLst>
                                      </p:cBhvr>
                                      <p:tavLst>
                                        <p:tav tm="0">
                                          <p:val>
                                            <p:fltVal val="0"/>
                                          </p:val>
                                        </p:tav>
                                        <p:tav tm="100000">
                                          <p:val>
                                            <p:strVal val="#ppt_w"/>
                                          </p:val>
                                        </p:tav>
                                      </p:tavLst>
                                    </p:anim>
                                    <p:anim calcmode="lin" valueType="num">
                                      <p:cBhvr>
                                        <p:cTn id="257"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2"/>
                                            </p:cond>
                                          </p:stCondLst>
                                          <p:endCondLst>
                                            <p:cond evt="onStopAudio" delay="0">
                                              <p:tgtEl>
                                                <p:sldTgt/>
                                              </p:tgtEl>
                                            </p:cond>
                                          </p:endCondLst>
                                        </p:cTn>
                                        <p:tgtEl>
                                          <p:sndTgt r:embed="rId4" name="CHIMES.WAV"/>
                                        </p:tgtEl>
                                      </p:cMediaNode>
                                    </p:audio>
                                  </p:subTnLst>
                                </p:cTn>
                              </p:par>
                              <p:par>
                                <p:cTn id="258" presetID="17" presetClass="entr" presetSubtype="8" fill="hold" grpId="0" nodeType="withEffect">
                                  <p:stCondLst>
                                    <p:cond delay="0"/>
                                  </p:stCondLst>
                                  <p:childTnLst>
                                    <p:set>
                                      <p:cBhvr>
                                        <p:cTn id="259" dur="1" fill="hold">
                                          <p:stCondLst>
                                            <p:cond delay="0"/>
                                          </p:stCondLst>
                                        </p:cTn>
                                        <p:tgtEl>
                                          <p:spTgt spid="178"/>
                                        </p:tgtEl>
                                        <p:attrNameLst>
                                          <p:attrName>style.visibility</p:attrName>
                                        </p:attrNameLst>
                                      </p:cBhvr>
                                      <p:to>
                                        <p:strVal val="visible"/>
                                      </p:to>
                                    </p:set>
                                    <p:anim calcmode="lin" valueType="num">
                                      <p:cBhvr>
                                        <p:cTn id="260" dur="5000" fill="hold"/>
                                        <p:tgtEl>
                                          <p:spTgt spid="178"/>
                                        </p:tgtEl>
                                        <p:attrNameLst>
                                          <p:attrName>ppt_x</p:attrName>
                                        </p:attrNameLst>
                                      </p:cBhvr>
                                      <p:tavLst>
                                        <p:tav tm="0">
                                          <p:val>
                                            <p:strVal val="#ppt_x-#ppt_w/2"/>
                                          </p:val>
                                        </p:tav>
                                        <p:tav tm="100000">
                                          <p:val>
                                            <p:strVal val="#ppt_x"/>
                                          </p:val>
                                        </p:tav>
                                      </p:tavLst>
                                    </p:anim>
                                    <p:anim calcmode="lin" valueType="num">
                                      <p:cBhvr>
                                        <p:cTn id="261" dur="5000" fill="hold"/>
                                        <p:tgtEl>
                                          <p:spTgt spid="178"/>
                                        </p:tgtEl>
                                        <p:attrNameLst>
                                          <p:attrName>ppt_y</p:attrName>
                                        </p:attrNameLst>
                                      </p:cBhvr>
                                      <p:tavLst>
                                        <p:tav tm="0">
                                          <p:val>
                                            <p:strVal val="#ppt_y"/>
                                          </p:val>
                                        </p:tav>
                                        <p:tav tm="100000">
                                          <p:val>
                                            <p:strVal val="#ppt_y"/>
                                          </p:val>
                                        </p:tav>
                                      </p:tavLst>
                                    </p:anim>
                                    <p:anim calcmode="lin" valueType="num">
                                      <p:cBhvr>
                                        <p:cTn id="262" dur="5000" fill="hold"/>
                                        <p:tgtEl>
                                          <p:spTgt spid="178"/>
                                        </p:tgtEl>
                                        <p:attrNameLst>
                                          <p:attrName>ppt_w</p:attrName>
                                        </p:attrNameLst>
                                      </p:cBhvr>
                                      <p:tavLst>
                                        <p:tav tm="0">
                                          <p:val>
                                            <p:fltVal val="0"/>
                                          </p:val>
                                        </p:tav>
                                        <p:tav tm="100000">
                                          <p:val>
                                            <p:strVal val="#ppt_w"/>
                                          </p:val>
                                        </p:tav>
                                      </p:tavLst>
                                    </p:anim>
                                    <p:anim calcmode="lin" valueType="num">
                                      <p:cBhvr>
                                        <p:cTn id="263"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8"/>
                                            </p:cond>
                                          </p:stCondLst>
                                          <p:endCondLst>
                                            <p:cond evt="onStopAudio" delay="0">
                                              <p:tgtEl>
                                                <p:sldTgt/>
                                              </p:tgtEl>
                                            </p:cond>
                                          </p:endCondLst>
                                        </p:cTn>
                                        <p:tgtEl>
                                          <p:sndTgt r:embed="rId4" name="CHIMES.WAV"/>
                                        </p:tgtEl>
                                      </p:cMediaNode>
                                    </p:audio>
                                  </p:subTnLst>
                                </p:cTn>
                              </p:par>
                              <p:par>
                                <p:cTn id="264" presetID="17" presetClass="entr" presetSubtype="2" fill="hold" grpId="0" nodeType="withEffect">
                                  <p:stCondLst>
                                    <p:cond delay="0"/>
                                  </p:stCondLst>
                                  <p:childTnLst>
                                    <p:set>
                                      <p:cBhvr>
                                        <p:cTn id="265" dur="1" fill="hold">
                                          <p:stCondLst>
                                            <p:cond delay="0"/>
                                          </p:stCondLst>
                                        </p:cTn>
                                        <p:tgtEl>
                                          <p:spTgt spid="175"/>
                                        </p:tgtEl>
                                        <p:attrNameLst>
                                          <p:attrName>style.visibility</p:attrName>
                                        </p:attrNameLst>
                                      </p:cBhvr>
                                      <p:to>
                                        <p:strVal val="visible"/>
                                      </p:to>
                                    </p:set>
                                    <p:anim calcmode="lin" valueType="num">
                                      <p:cBhvr>
                                        <p:cTn id="266" dur="5000" fill="hold"/>
                                        <p:tgtEl>
                                          <p:spTgt spid="175"/>
                                        </p:tgtEl>
                                        <p:attrNameLst>
                                          <p:attrName>ppt_x</p:attrName>
                                        </p:attrNameLst>
                                      </p:cBhvr>
                                      <p:tavLst>
                                        <p:tav tm="0">
                                          <p:val>
                                            <p:strVal val="#ppt_x+#ppt_w/2"/>
                                          </p:val>
                                        </p:tav>
                                        <p:tav tm="100000">
                                          <p:val>
                                            <p:strVal val="#ppt_x"/>
                                          </p:val>
                                        </p:tav>
                                      </p:tavLst>
                                    </p:anim>
                                    <p:anim calcmode="lin" valueType="num">
                                      <p:cBhvr>
                                        <p:cTn id="267" dur="5000" fill="hold"/>
                                        <p:tgtEl>
                                          <p:spTgt spid="175"/>
                                        </p:tgtEl>
                                        <p:attrNameLst>
                                          <p:attrName>ppt_y</p:attrName>
                                        </p:attrNameLst>
                                      </p:cBhvr>
                                      <p:tavLst>
                                        <p:tav tm="0">
                                          <p:val>
                                            <p:strVal val="#ppt_y"/>
                                          </p:val>
                                        </p:tav>
                                        <p:tav tm="100000">
                                          <p:val>
                                            <p:strVal val="#ppt_y"/>
                                          </p:val>
                                        </p:tav>
                                      </p:tavLst>
                                    </p:anim>
                                    <p:anim calcmode="lin" valueType="num">
                                      <p:cBhvr>
                                        <p:cTn id="268" dur="5000" fill="hold"/>
                                        <p:tgtEl>
                                          <p:spTgt spid="175"/>
                                        </p:tgtEl>
                                        <p:attrNameLst>
                                          <p:attrName>ppt_w</p:attrName>
                                        </p:attrNameLst>
                                      </p:cBhvr>
                                      <p:tavLst>
                                        <p:tav tm="0">
                                          <p:val>
                                            <p:fltVal val="0"/>
                                          </p:val>
                                        </p:tav>
                                        <p:tav tm="100000">
                                          <p:val>
                                            <p:strVal val="#ppt_w"/>
                                          </p:val>
                                        </p:tav>
                                      </p:tavLst>
                                    </p:anim>
                                    <p:anim calcmode="lin" valueType="num">
                                      <p:cBhvr>
                                        <p:cTn id="269"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4"/>
                                            </p:cond>
                                          </p:stCondLst>
                                          <p:endCondLst>
                                            <p:cond evt="onStopAudio" delay="0">
                                              <p:tgtEl>
                                                <p:sldTgt/>
                                              </p:tgtEl>
                                            </p:cond>
                                          </p:endCondLst>
                                        </p:cTn>
                                        <p:tgtEl>
                                          <p:sndTgt r:embed="rId4" name="CHIMES.WAV"/>
                                        </p:tgtEl>
                                      </p:cMediaNode>
                                    </p:audio>
                                  </p:subTnLst>
                                </p:cTn>
                              </p:par>
                              <p:par>
                                <p:cTn id="270" presetID="17" presetClass="entr" presetSubtype="2" fill="hold" grpId="0" nodeType="withEffect">
                                  <p:stCondLst>
                                    <p:cond delay="0"/>
                                  </p:stCondLst>
                                  <p:childTnLst>
                                    <p:set>
                                      <p:cBhvr>
                                        <p:cTn id="271" dur="1" fill="hold">
                                          <p:stCondLst>
                                            <p:cond delay="0"/>
                                          </p:stCondLst>
                                        </p:cTn>
                                        <p:tgtEl>
                                          <p:spTgt spid="174"/>
                                        </p:tgtEl>
                                        <p:attrNameLst>
                                          <p:attrName>style.visibility</p:attrName>
                                        </p:attrNameLst>
                                      </p:cBhvr>
                                      <p:to>
                                        <p:strVal val="visible"/>
                                      </p:to>
                                    </p:set>
                                    <p:anim calcmode="lin" valueType="num">
                                      <p:cBhvr>
                                        <p:cTn id="272" dur="5000" fill="hold"/>
                                        <p:tgtEl>
                                          <p:spTgt spid="174"/>
                                        </p:tgtEl>
                                        <p:attrNameLst>
                                          <p:attrName>ppt_x</p:attrName>
                                        </p:attrNameLst>
                                      </p:cBhvr>
                                      <p:tavLst>
                                        <p:tav tm="0">
                                          <p:val>
                                            <p:strVal val="#ppt_x+#ppt_w/2"/>
                                          </p:val>
                                        </p:tav>
                                        <p:tav tm="100000">
                                          <p:val>
                                            <p:strVal val="#ppt_x"/>
                                          </p:val>
                                        </p:tav>
                                      </p:tavLst>
                                    </p:anim>
                                    <p:anim calcmode="lin" valueType="num">
                                      <p:cBhvr>
                                        <p:cTn id="273" dur="5000" fill="hold"/>
                                        <p:tgtEl>
                                          <p:spTgt spid="174"/>
                                        </p:tgtEl>
                                        <p:attrNameLst>
                                          <p:attrName>ppt_y</p:attrName>
                                        </p:attrNameLst>
                                      </p:cBhvr>
                                      <p:tavLst>
                                        <p:tav tm="0">
                                          <p:val>
                                            <p:strVal val="#ppt_y"/>
                                          </p:val>
                                        </p:tav>
                                        <p:tav tm="100000">
                                          <p:val>
                                            <p:strVal val="#ppt_y"/>
                                          </p:val>
                                        </p:tav>
                                      </p:tavLst>
                                    </p:anim>
                                    <p:anim calcmode="lin" valueType="num">
                                      <p:cBhvr>
                                        <p:cTn id="274" dur="5000" fill="hold"/>
                                        <p:tgtEl>
                                          <p:spTgt spid="174"/>
                                        </p:tgtEl>
                                        <p:attrNameLst>
                                          <p:attrName>ppt_w</p:attrName>
                                        </p:attrNameLst>
                                      </p:cBhvr>
                                      <p:tavLst>
                                        <p:tav tm="0">
                                          <p:val>
                                            <p:fltVal val="0"/>
                                          </p:val>
                                        </p:tav>
                                        <p:tav tm="100000">
                                          <p:val>
                                            <p:strVal val="#ppt_w"/>
                                          </p:val>
                                        </p:tav>
                                      </p:tavLst>
                                    </p:anim>
                                    <p:anim calcmode="lin" valueType="num">
                                      <p:cBhvr>
                                        <p:cTn id="275"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0"/>
                                            </p:cond>
                                          </p:stCondLst>
                                          <p:endCondLst>
                                            <p:cond evt="onStopAudio" delay="0">
                                              <p:tgtEl>
                                                <p:sldTgt/>
                                              </p:tgtEl>
                                            </p:cond>
                                          </p:endCondLst>
                                        </p:cTn>
                                        <p:tgtEl>
                                          <p:sndTgt r:embed="rId4" name="CHIMES.WAV"/>
                                        </p:tgtEl>
                                      </p:cMediaNode>
                                    </p:audio>
                                  </p:subTnLst>
                                </p:cTn>
                              </p:par>
                              <p:par>
                                <p:cTn id="276" presetID="17" presetClass="entr" presetSubtype="2" fill="hold" grpId="0" nodeType="withEffect">
                                  <p:stCondLst>
                                    <p:cond delay="0"/>
                                  </p:stCondLst>
                                  <p:childTnLst>
                                    <p:set>
                                      <p:cBhvr>
                                        <p:cTn id="277" dur="1" fill="hold">
                                          <p:stCondLst>
                                            <p:cond delay="0"/>
                                          </p:stCondLst>
                                        </p:cTn>
                                        <p:tgtEl>
                                          <p:spTgt spid="167"/>
                                        </p:tgtEl>
                                        <p:attrNameLst>
                                          <p:attrName>style.visibility</p:attrName>
                                        </p:attrNameLst>
                                      </p:cBhvr>
                                      <p:to>
                                        <p:strVal val="visible"/>
                                      </p:to>
                                    </p:set>
                                    <p:anim calcmode="lin" valueType="num">
                                      <p:cBhvr>
                                        <p:cTn id="278" dur="5000" fill="hold"/>
                                        <p:tgtEl>
                                          <p:spTgt spid="167"/>
                                        </p:tgtEl>
                                        <p:attrNameLst>
                                          <p:attrName>ppt_x</p:attrName>
                                        </p:attrNameLst>
                                      </p:cBhvr>
                                      <p:tavLst>
                                        <p:tav tm="0">
                                          <p:val>
                                            <p:strVal val="#ppt_x+#ppt_w/2"/>
                                          </p:val>
                                        </p:tav>
                                        <p:tav tm="100000">
                                          <p:val>
                                            <p:strVal val="#ppt_x"/>
                                          </p:val>
                                        </p:tav>
                                      </p:tavLst>
                                    </p:anim>
                                    <p:anim calcmode="lin" valueType="num">
                                      <p:cBhvr>
                                        <p:cTn id="279" dur="5000" fill="hold"/>
                                        <p:tgtEl>
                                          <p:spTgt spid="167"/>
                                        </p:tgtEl>
                                        <p:attrNameLst>
                                          <p:attrName>ppt_y</p:attrName>
                                        </p:attrNameLst>
                                      </p:cBhvr>
                                      <p:tavLst>
                                        <p:tav tm="0">
                                          <p:val>
                                            <p:strVal val="#ppt_y"/>
                                          </p:val>
                                        </p:tav>
                                        <p:tav tm="100000">
                                          <p:val>
                                            <p:strVal val="#ppt_y"/>
                                          </p:val>
                                        </p:tav>
                                      </p:tavLst>
                                    </p:anim>
                                    <p:anim calcmode="lin" valueType="num">
                                      <p:cBhvr>
                                        <p:cTn id="280" dur="5000" fill="hold"/>
                                        <p:tgtEl>
                                          <p:spTgt spid="167"/>
                                        </p:tgtEl>
                                        <p:attrNameLst>
                                          <p:attrName>ppt_w</p:attrName>
                                        </p:attrNameLst>
                                      </p:cBhvr>
                                      <p:tavLst>
                                        <p:tav tm="0">
                                          <p:val>
                                            <p:fltVal val="0"/>
                                          </p:val>
                                        </p:tav>
                                        <p:tav tm="100000">
                                          <p:val>
                                            <p:strVal val="#ppt_w"/>
                                          </p:val>
                                        </p:tav>
                                      </p:tavLst>
                                    </p:anim>
                                    <p:anim calcmode="lin" valueType="num">
                                      <p:cBhvr>
                                        <p:cTn id="281"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6"/>
                                            </p:cond>
                                          </p:stCondLst>
                                          <p:endCondLst>
                                            <p:cond evt="onStopAudio" delay="0">
                                              <p:tgtEl>
                                                <p:sldTgt/>
                                              </p:tgtEl>
                                            </p:cond>
                                          </p:endCondLst>
                                        </p:cTn>
                                        <p:tgtEl>
                                          <p:sndTgt r:embed="rId4" name="CHIMES.WAV"/>
                                        </p:tgtEl>
                                      </p:cMediaNode>
                                    </p:audio>
                                  </p:subTnLst>
                                </p:cTn>
                              </p:par>
                              <p:par>
                                <p:cTn id="282" presetID="17" presetClass="entr" presetSubtype="2" fill="hold" grpId="0" nodeType="withEffect">
                                  <p:stCondLst>
                                    <p:cond delay="0"/>
                                  </p:stCondLst>
                                  <p:childTnLst>
                                    <p:set>
                                      <p:cBhvr>
                                        <p:cTn id="283" dur="1" fill="hold">
                                          <p:stCondLst>
                                            <p:cond delay="0"/>
                                          </p:stCondLst>
                                        </p:cTn>
                                        <p:tgtEl>
                                          <p:spTgt spid="168"/>
                                        </p:tgtEl>
                                        <p:attrNameLst>
                                          <p:attrName>style.visibility</p:attrName>
                                        </p:attrNameLst>
                                      </p:cBhvr>
                                      <p:to>
                                        <p:strVal val="visible"/>
                                      </p:to>
                                    </p:set>
                                    <p:anim calcmode="lin" valueType="num">
                                      <p:cBhvr>
                                        <p:cTn id="284" dur="5000" fill="hold"/>
                                        <p:tgtEl>
                                          <p:spTgt spid="168"/>
                                        </p:tgtEl>
                                        <p:attrNameLst>
                                          <p:attrName>ppt_x</p:attrName>
                                        </p:attrNameLst>
                                      </p:cBhvr>
                                      <p:tavLst>
                                        <p:tav tm="0">
                                          <p:val>
                                            <p:strVal val="#ppt_x+#ppt_w/2"/>
                                          </p:val>
                                        </p:tav>
                                        <p:tav tm="100000">
                                          <p:val>
                                            <p:strVal val="#ppt_x"/>
                                          </p:val>
                                        </p:tav>
                                      </p:tavLst>
                                    </p:anim>
                                    <p:anim calcmode="lin" valueType="num">
                                      <p:cBhvr>
                                        <p:cTn id="285" dur="5000" fill="hold"/>
                                        <p:tgtEl>
                                          <p:spTgt spid="168"/>
                                        </p:tgtEl>
                                        <p:attrNameLst>
                                          <p:attrName>ppt_y</p:attrName>
                                        </p:attrNameLst>
                                      </p:cBhvr>
                                      <p:tavLst>
                                        <p:tav tm="0">
                                          <p:val>
                                            <p:strVal val="#ppt_y"/>
                                          </p:val>
                                        </p:tav>
                                        <p:tav tm="100000">
                                          <p:val>
                                            <p:strVal val="#ppt_y"/>
                                          </p:val>
                                        </p:tav>
                                      </p:tavLst>
                                    </p:anim>
                                    <p:anim calcmode="lin" valueType="num">
                                      <p:cBhvr>
                                        <p:cTn id="286" dur="5000" fill="hold"/>
                                        <p:tgtEl>
                                          <p:spTgt spid="168"/>
                                        </p:tgtEl>
                                        <p:attrNameLst>
                                          <p:attrName>ppt_w</p:attrName>
                                        </p:attrNameLst>
                                      </p:cBhvr>
                                      <p:tavLst>
                                        <p:tav tm="0">
                                          <p:val>
                                            <p:fltVal val="0"/>
                                          </p:val>
                                        </p:tav>
                                        <p:tav tm="100000">
                                          <p:val>
                                            <p:strVal val="#ppt_w"/>
                                          </p:val>
                                        </p:tav>
                                      </p:tavLst>
                                    </p:anim>
                                    <p:anim calcmode="lin" valueType="num">
                                      <p:cBhvr>
                                        <p:cTn id="287"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2"/>
                                            </p:cond>
                                          </p:stCondLst>
                                          <p:endCondLst>
                                            <p:cond evt="onStopAudio" delay="0">
                                              <p:tgtEl>
                                                <p:sldTgt/>
                                              </p:tgtEl>
                                            </p:cond>
                                          </p:endCondLst>
                                        </p:cTn>
                                        <p:tgtEl>
                                          <p:sndTgt r:embed="rId4" name="CHIMES.WAV"/>
                                        </p:tgtEl>
                                      </p:cMediaNode>
                                    </p:audio>
                                  </p:subTnLst>
                                </p:cTn>
                              </p:par>
                              <p:par>
                                <p:cTn id="288" presetID="17" presetClass="entr" presetSubtype="2" fill="hold" grpId="0" nodeType="withEffect">
                                  <p:stCondLst>
                                    <p:cond delay="0"/>
                                  </p:stCondLst>
                                  <p:childTnLst>
                                    <p:set>
                                      <p:cBhvr>
                                        <p:cTn id="289" dur="1" fill="hold">
                                          <p:stCondLst>
                                            <p:cond delay="0"/>
                                          </p:stCondLst>
                                        </p:cTn>
                                        <p:tgtEl>
                                          <p:spTgt spid="110"/>
                                        </p:tgtEl>
                                        <p:attrNameLst>
                                          <p:attrName>style.visibility</p:attrName>
                                        </p:attrNameLst>
                                      </p:cBhvr>
                                      <p:to>
                                        <p:strVal val="visible"/>
                                      </p:to>
                                    </p:set>
                                    <p:anim calcmode="lin" valueType="num">
                                      <p:cBhvr>
                                        <p:cTn id="290" dur="5000" fill="hold"/>
                                        <p:tgtEl>
                                          <p:spTgt spid="110"/>
                                        </p:tgtEl>
                                        <p:attrNameLst>
                                          <p:attrName>ppt_x</p:attrName>
                                        </p:attrNameLst>
                                      </p:cBhvr>
                                      <p:tavLst>
                                        <p:tav tm="0">
                                          <p:val>
                                            <p:strVal val="#ppt_x+#ppt_w/2"/>
                                          </p:val>
                                        </p:tav>
                                        <p:tav tm="100000">
                                          <p:val>
                                            <p:strVal val="#ppt_x"/>
                                          </p:val>
                                        </p:tav>
                                      </p:tavLst>
                                    </p:anim>
                                    <p:anim calcmode="lin" valueType="num">
                                      <p:cBhvr>
                                        <p:cTn id="291" dur="5000" fill="hold"/>
                                        <p:tgtEl>
                                          <p:spTgt spid="110"/>
                                        </p:tgtEl>
                                        <p:attrNameLst>
                                          <p:attrName>ppt_y</p:attrName>
                                        </p:attrNameLst>
                                      </p:cBhvr>
                                      <p:tavLst>
                                        <p:tav tm="0">
                                          <p:val>
                                            <p:strVal val="#ppt_y"/>
                                          </p:val>
                                        </p:tav>
                                        <p:tav tm="100000">
                                          <p:val>
                                            <p:strVal val="#ppt_y"/>
                                          </p:val>
                                        </p:tav>
                                      </p:tavLst>
                                    </p:anim>
                                    <p:anim calcmode="lin" valueType="num">
                                      <p:cBhvr>
                                        <p:cTn id="292" dur="5000" fill="hold"/>
                                        <p:tgtEl>
                                          <p:spTgt spid="110"/>
                                        </p:tgtEl>
                                        <p:attrNameLst>
                                          <p:attrName>ppt_w</p:attrName>
                                        </p:attrNameLst>
                                      </p:cBhvr>
                                      <p:tavLst>
                                        <p:tav tm="0">
                                          <p:val>
                                            <p:fltVal val="0"/>
                                          </p:val>
                                        </p:tav>
                                        <p:tav tm="100000">
                                          <p:val>
                                            <p:strVal val="#ppt_w"/>
                                          </p:val>
                                        </p:tav>
                                      </p:tavLst>
                                    </p:anim>
                                    <p:anim calcmode="lin" valueType="num">
                                      <p:cBhvr>
                                        <p:cTn id="293"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8"/>
                                            </p:cond>
                                          </p:stCondLst>
                                          <p:endCondLst>
                                            <p:cond evt="onStopAudio" delay="0">
                                              <p:tgtEl>
                                                <p:sldTgt/>
                                              </p:tgtEl>
                                            </p:cond>
                                          </p:endCondLst>
                                        </p:cTn>
                                        <p:tgtEl>
                                          <p:sndTgt r:embed="rId4" name="CHIMES.WAV"/>
                                        </p:tgtEl>
                                      </p:cMediaNode>
                                    </p:audio>
                                  </p:subTnLst>
                                </p:cTn>
                              </p:par>
                              <p:par>
                                <p:cTn id="294" presetID="17" presetClass="entr" presetSubtype="2" fill="hold" grpId="0" nodeType="withEffect">
                                  <p:stCondLst>
                                    <p:cond delay="0"/>
                                  </p:stCondLst>
                                  <p:childTnLst>
                                    <p:set>
                                      <p:cBhvr>
                                        <p:cTn id="295" dur="1" fill="hold">
                                          <p:stCondLst>
                                            <p:cond delay="0"/>
                                          </p:stCondLst>
                                        </p:cTn>
                                        <p:tgtEl>
                                          <p:spTgt spid="111"/>
                                        </p:tgtEl>
                                        <p:attrNameLst>
                                          <p:attrName>style.visibility</p:attrName>
                                        </p:attrNameLst>
                                      </p:cBhvr>
                                      <p:to>
                                        <p:strVal val="visible"/>
                                      </p:to>
                                    </p:set>
                                    <p:anim calcmode="lin" valueType="num">
                                      <p:cBhvr>
                                        <p:cTn id="296" dur="5000" fill="hold"/>
                                        <p:tgtEl>
                                          <p:spTgt spid="111"/>
                                        </p:tgtEl>
                                        <p:attrNameLst>
                                          <p:attrName>ppt_x</p:attrName>
                                        </p:attrNameLst>
                                      </p:cBhvr>
                                      <p:tavLst>
                                        <p:tav tm="0">
                                          <p:val>
                                            <p:strVal val="#ppt_x+#ppt_w/2"/>
                                          </p:val>
                                        </p:tav>
                                        <p:tav tm="100000">
                                          <p:val>
                                            <p:strVal val="#ppt_x"/>
                                          </p:val>
                                        </p:tav>
                                      </p:tavLst>
                                    </p:anim>
                                    <p:anim calcmode="lin" valueType="num">
                                      <p:cBhvr>
                                        <p:cTn id="297" dur="5000" fill="hold"/>
                                        <p:tgtEl>
                                          <p:spTgt spid="111"/>
                                        </p:tgtEl>
                                        <p:attrNameLst>
                                          <p:attrName>ppt_y</p:attrName>
                                        </p:attrNameLst>
                                      </p:cBhvr>
                                      <p:tavLst>
                                        <p:tav tm="0">
                                          <p:val>
                                            <p:strVal val="#ppt_y"/>
                                          </p:val>
                                        </p:tav>
                                        <p:tav tm="100000">
                                          <p:val>
                                            <p:strVal val="#ppt_y"/>
                                          </p:val>
                                        </p:tav>
                                      </p:tavLst>
                                    </p:anim>
                                    <p:anim calcmode="lin" valueType="num">
                                      <p:cBhvr>
                                        <p:cTn id="298" dur="5000" fill="hold"/>
                                        <p:tgtEl>
                                          <p:spTgt spid="111"/>
                                        </p:tgtEl>
                                        <p:attrNameLst>
                                          <p:attrName>ppt_w</p:attrName>
                                        </p:attrNameLst>
                                      </p:cBhvr>
                                      <p:tavLst>
                                        <p:tav tm="0">
                                          <p:val>
                                            <p:fltVal val="0"/>
                                          </p:val>
                                        </p:tav>
                                        <p:tav tm="100000">
                                          <p:val>
                                            <p:strVal val="#ppt_w"/>
                                          </p:val>
                                        </p:tav>
                                      </p:tavLst>
                                    </p:anim>
                                    <p:anim calcmode="lin" valueType="num">
                                      <p:cBhvr>
                                        <p:cTn id="299"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4"/>
                                            </p:cond>
                                          </p:stCondLst>
                                          <p:endCondLst>
                                            <p:cond evt="onStopAudio" delay="0">
                                              <p:tgtEl>
                                                <p:sldTgt/>
                                              </p:tgtEl>
                                            </p:cond>
                                          </p:endCondLst>
                                        </p:cTn>
                                        <p:tgtEl>
                                          <p:sndTgt r:embed="rId4" name="CHIMES.WAV"/>
                                        </p:tgtEl>
                                      </p:cMediaNode>
                                    </p:audio>
                                  </p:subTnLst>
                                </p:cTn>
                              </p:par>
                              <p:par>
                                <p:cTn id="300" presetID="17" presetClass="entr" presetSubtype="2" fill="hold" grpId="0" nodeType="withEffect">
                                  <p:stCondLst>
                                    <p:cond delay="0"/>
                                  </p:stCondLst>
                                  <p:childTnLst>
                                    <p:set>
                                      <p:cBhvr>
                                        <p:cTn id="301" dur="1" fill="hold">
                                          <p:stCondLst>
                                            <p:cond delay="0"/>
                                          </p:stCondLst>
                                        </p:cTn>
                                        <p:tgtEl>
                                          <p:spTgt spid="109"/>
                                        </p:tgtEl>
                                        <p:attrNameLst>
                                          <p:attrName>style.visibility</p:attrName>
                                        </p:attrNameLst>
                                      </p:cBhvr>
                                      <p:to>
                                        <p:strVal val="visible"/>
                                      </p:to>
                                    </p:set>
                                    <p:anim calcmode="lin" valueType="num">
                                      <p:cBhvr>
                                        <p:cTn id="302" dur="5000" fill="hold"/>
                                        <p:tgtEl>
                                          <p:spTgt spid="109"/>
                                        </p:tgtEl>
                                        <p:attrNameLst>
                                          <p:attrName>ppt_x</p:attrName>
                                        </p:attrNameLst>
                                      </p:cBhvr>
                                      <p:tavLst>
                                        <p:tav tm="0">
                                          <p:val>
                                            <p:strVal val="#ppt_x+#ppt_w/2"/>
                                          </p:val>
                                        </p:tav>
                                        <p:tav tm="100000">
                                          <p:val>
                                            <p:strVal val="#ppt_x"/>
                                          </p:val>
                                        </p:tav>
                                      </p:tavLst>
                                    </p:anim>
                                    <p:anim calcmode="lin" valueType="num">
                                      <p:cBhvr>
                                        <p:cTn id="303" dur="5000" fill="hold"/>
                                        <p:tgtEl>
                                          <p:spTgt spid="109"/>
                                        </p:tgtEl>
                                        <p:attrNameLst>
                                          <p:attrName>ppt_y</p:attrName>
                                        </p:attrNameLst>
                                      </p:cBhvr>
                                      <p:tavLst>
                                        <p:tav tm="0">
                                          <p:val>
                                            <p:strVal val="#ppt_y"/>
                                          </p:val>
                                        </p:tav>
                                        <p:tav tm="100000">
                                          <p:val>
                                            <p:strVal val="#ppt_y"/>
                                          </p:val>
                                        </p:tav>
                                      </p:tavLst>
                                    </p:anim>
                                    <p:anim calcmode="lin" valueType="num">
                                      <p:cBhvr>
                                        <p:cTn id="304" dur="5000" fill="hold"/>
                                        <p:tgtEl>
                                          <p:spTgt spid="109"/>
                                        </p:tgtEl>
                                        <p:attrNameLst>
                                          <p:attrName>ppt_w</p:attrName>
                                        </p:attrNameLst>
                                      </p:cBhvr>
                                      <p:tavLst>
                                        <p:tav tm="0">
                                          <p:val>
                                            <p:fltVal val="0"/>
                                          </p:val>
                                        </p:tav>
                                        <p:tav tm="100000">
                                          <p:val>
                                            <p:strVal val="#ppt_w"/>
                                          </p:val>
                                        </p:tav>
                                      </p:tavLst>
                                    </p:anim>
                                    <p:anim calcmode="lin" valueType="num">
                                      <p:cBhvr>
                                        <p:cTn id="305"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0"/>
                                            </p:cond>
                                          </p:stCondLst>
                                          <p:endCondLst>
                                            <p:cond evt="onStopAudio" delay="0">
                                              <p:tgtEl>
                                                <p:sldTgt/>
                                              </p:tgtEl>
                                            </p:cond>
                                          </p:endCondLst>
                                        </p:cTn>
                                        <p:tgtEl>
                                          <p:sndTgt r:embed="rId4" name="CHIMES.WAV"/>
                                        </p:tgtEl>
                                      </p:cMediaNode>
                                    </p:audio>
                                  </p:subTnLst>
                                </p:cTn>
                              </p:par>
                              <p:par>
                                <p:cTn id="306" presetID="17" presetClass="entr" presetSubtype="8" fill="hold" grpId="0" nodeType="withEffect">
                                  <p:stCondLst>
                                    <p:cond delay="0"/>
                                  </p:stCondLst>
                                  <p:childTnLst>
                                    <p:set>
                                      <p:cBhvr>
                                        <p:cTn id="307" dur="1" fill="hold">
                                          <p:stCondLst>
                                            <p:cond delay="0"/>
                                          </p:stCondLst>
                                        </p:cTn>
                                        <p:tgtEl>
                                          <p:spTgt spid="202"/>
                                        </p:tgtEl>
                                        <p:attrNameLst>
                                          <p:attrName>style.visibility</p:attrName>
                                        </p:attrNameLst>
                                      </p:cBhvr>
                                      <p:to>
                                        <p:strVal val="visible"/>
                                      </p:to>
                                    </p:set>
                                    <p:anim calcmode="lin" valueType="num">
                                      <p:cBhvr>
                                        <p:cTn id="308" dur="5000" fill="hold"/>
                                        <p:tgtEl>
                                          <p:spTgt spid="202"/>
                                        </p:tgtEl>
                                        <p:attrNameLst>
                                          <p:attrName>ppt_x</p:attrName>
                                        </p:attrNameLst>
                                      </p:cBhvr>
                                      <p:tavLst>
                                        <p:tav tm="0">
                                          <p:val>
                                            <p:strVal val="#ppt_x-#ppt_w/2"/>
                                          </p:val>
                                        </p:tav>
                                        <p:tav tm="100000">
                                          <p:val>
                                            <p:strVal val="#ppt_x"/>
                                          </p:val>
                                        </p:tav>
                                      </p:tavLst>
                                    </p:anim>
                                    <p:anim calcmode="lin" valueType="num">
                                      <p:cBhvr>
                                        <p:cTn id="309" dur="5000" fill="hold"/>
                                        <p:tgtEl>
                                          <p:spTgt spid="202"/>
                                        </p:tgtEl>
                                        <p:attrNameLst>
                                          <p:attrName>ppt_y</p:attrName>
                                        </p:attrNameLst>
                                      </p:cBhvr>
                                      <p:tavLst>
                                        <p:tav tm="0">
                                          <p:val>
                                            <p:strVal val="#ppt_y"/>
                                          </p:val>
                                        </p:tav>
                                        <p:tav tm="100000">
                                          <p:val>
                                            <p:strVal val="#ppt_y"/>
                                          </p:val>
                                        </p:tav>
                                      </p:tavLst>
                                    </p:anim>
                                    <p:anim calcmode="lin" valueType="num">
                                      <p:cBhvr>
                                        <p:cTn id="310" dur="5000" fill="hold"/>
                                        <p:tgtEl>
                                          <p:spTgt spid="202"/>
                                        </p:tgtEl>
                                        <p:attrNameLst>
                                          <p:attrName>ppt_w</p:attrName>
                                        </p:attrNameLst>
                                      </p:cBhvr>
                                      <p:tavLst>
                                        <p:tav tm="0">
                                          <p:val>
                                            <p:fltVal val="0"/>
                                          </p:val>
                                        </p:tav>
                                        <p:tav tm="100000">
                                          <p:val>
                                            <p:strVal val="#ppt_w"/>
                                          </p:val>
                                        </p:tav>
                                      </p:tavLst>
                                    </p:anim>
                                    <p:anim calcmode="lin" valueType="num">
                                      <p:cBhvr>
                                        <p:cTn id="311"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6"/>
                                            </p:cond>
                                          </p:stCondLst>
                                          <p:endCondLst>
                                            <p:cond evt="onStopAudio" delay="0">
                                              <p:tgtEl>
                                                <p:sldTgt/>
                                              </p:tgtEl>
                                            </p:cond>
                                          </p:endCondLst>
                                        </p:cTn>
                                        <p:tgtEl>
                                          <p:sndTgt r:embed="rId4" name="CHIMES.WAV"/>
                                        </p:tgtEl>
                                      </p:cMediaNode>
                                    </p:audio>
                                  </p:subTnLst>
                                </p:cTn>
                              </p:par>
                              <p:par>
                                <p:cTn id="312" presetID="17" presetClass="entr" presetSubtype="8" fill="hold" grpId="0" nodeType="withEffect">
                                  <p:stCondLst>
                                    <p:cond delay="0"/>
                                  </p:stCondLst>
                                  <p:childTnLst>
                                    <p:set>
                                      <p:cBhvr>
                                        <p:cTn id="313" dur="1" fill="hold">
                                          <p:stCondLst>
                                            <p:cond delay="0"/>
                                          </p:stCondLst>
                                        </p:cTn>
                                        <p:tgtEl>
                                          <p:spTgt spid="201"/>
                                        </p:tgtEl>
                                        <p:attrNameLst>
                                          <p:attrName>style.visibility</p:attrName>
                                        </p:attrNameLst>
                                      </p:cBhvr>
                                      <p:to>
                                        <p:strVal val="visible"/>
                                      </p:to>
                                    </p:set>
                                    <p:anim calcmode="lin" valueType="num">
                                      <p:cBhvr>
                                        <p:cTn id="314" dur="5000" fill="hold"/>
                                        <p:tgtEl>
                                          <p:spTgt spid="201"/>
                                        </p:tgtEl>
                                        <p:attrNameLst>
                                          <p:attrName>ppt_x</p:attrName>
                                        </p:attrNameLst>
                                      </p:cBhvr>
                                      <p:tavLst>
                                        <p:tav tm="0">
                                          <p:val>
                                            <p:strVal val="#ppt_x-#ppt_w/2"/>
                                          </p:val>
                                        </p:tav>
                                        <p:tav tm="100000">
                                          <p:val>
                                            <p:strVal val="#ppt_x"/>
                                          </p:val>
                                        </p:tav>
                                      </p:tavLst>
                                    </p:anim>
                                    <p:anim calcmode="lin" valueType="num">
                                      <p:cBhvr>
                                        <p:cTn id="315" dur="5000" fill="hold"/>
                                        <p:tgtEl>
                                          <p:spTgt spid="201"/>
                                        </p:tgtEl>
                                        <p:attrNameLst>
                                          <p:attrName>ppt_y</p:attrName>
                                        </p:attrNameLst>
                                      </p:cBhvr>
                                      <p:tavLst>
                                        <p:tav tm="0">
                                          <p:val>
                                            <p:strVal val="#ppt_y"/>
                                          </p:val>
                                        </p:tav>
                                        <p:tav tm="100000">
                                          <p:val>
                                            <p:strVal val="#ppt_y"/>
                                          </p:val>
                                        </p:tav>
                                      </p:tavLst>
                                    </p:anim>
                                    <p:anim calcmode="lin" valueType="num">
                                      <p:cBhvr>
                                        <p:cTn id="316" dur="5000" fill="hold"/>
                                        <p:tgtEl>
                                          <p:spTgt spid="201"/>
                                        </p:tgtEl>
                                        <p:attrNameLst>
                                          <p:attrName>ppt_w</p:attrName>
                                        </p:attrNameLst>
                                      </p:cBhvr>
                                      <p:tavLst>
                                        <p:tav tm="0">
                                          <p:val>
                                            <p:fltVal val="0"/>
                                          </p:val>
                                        </p:tav>
                                        <p:tav tm="100000">
                                          <p:val>
                                            <p:strVal val="#ppt_w"/>
                                          </p:val>
                                        </p:tav>
                                      </p:tavLst>
                                    </p:anim>
                                    <p:anim calcmode="lin" valueType="num">
                                      <p:cBhvr>
                                        <p:cTn id="317"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2"/>
                                            </p:cond>
                                          </p:stCondLst>
                                          <p:endCondLst>
                                            <p:cond evt="onStopAudio" delay="0">
                                              <p:tgtEl>
                                                <p:sldTgt/>
                                              </p:tgtEl>
                                            </p:cond>
                                          </p:endCondLst>
                                        </p:cTn>
                                        <p:tgtEl>
                                          <p:sndTgt r:embed="rId4" name="CHIMES.WAV"/>
                                        </p:tgtEl>
                                      </p:cMediaNode>
                                    </p:audio>
                                  </p:subTnLst>
                                </p:cTn>
                              </p:par>
                              <p:par>
                                <p:cTn id="318" presetID="17" presetClass="entr" presetSubtype="8" fill="hold" grpId="0" nodeType="withEffect">
                                  <p:stCondLst>
                                    <p:cond delay="0"/>
                                  </p:stCondLst>
                                  <p:childTnLst>
                                    <p:set>
                                      <p:cBhvr>
                                        <p:cTn id="319" dur="1" fill="hold">
                                          <p:stCondLst>
                                            <p:cond delay="0"/>
                                          </p:stCondLst>
                                        </p:cTn>
                                        <p:tgtEl>
                                          <p:spTgt spid="200"/>
                                        </p:tgtEl>
                                        <p:attrNameLst>
                                          <p:attrName>style.visibility</p:attrName>
                                        </p:attrNameLst>
                                      </p:cBhvr>
                                      <p:to>
                                        <p:strVal val="visible"/>
                                      </p:to>
                                    </p:set>
                                    <p:anim calcmode="lin" valueType="num">
                                      <p:cBhvr>
                                        <p:cTn id="320" dur="5000" fill="hold"/>
                                        <p:tgtEl>
                                          <p:spTgt spid="200"/>
                                        </p:tgtEl>
                                        <p:attrNameLst>
                                          <p:attrName>ppt_x</p:attrName>
                                        </p:attrNameLst>
                                      </p:cBhvr>
                                      <p:tavLst>
                                        <p:tav tm="0">
                                          <p:val>
                                            <p:strVal val="#ppt_x-#ppt_w/2"/>
                                          </p:val>
                                        </p:tav>
                                        <p:tav tm="100000">
                                          <p:val>
                                            <p:strVal val="#ppt_x"/>
                                          </p:val>
                                        </p:tav>
                                      </p:tavLst>
                                    </p:anim>
                                    <p:anim calcmode="lin" valueType="num">
                                      <p:cBhvr>
                                        <p:cTn id="321" dur="5000" fill="hold"/>
                                        <p:tgtEl>
                                          <p:spTgt spid="200"/>
                                        </p:tgtEl>
                                        <p:attrNameLst>
                                          <p:attrName>ppt_y</p:attrName>
                                        </p:attrNameLst>
                                      </p:cBhvr>
                                      <p:tavLst>
                                        <p:tav tm="0">
                                          <p:val>
                                            <p:strVal val="#ppt_y"/>
                                          </p:val>
                                        </p:tav>
                                        <p:tav tm="100000">
                                          <p:val>
                                            <p:strVal val="#ppt_y"/>
                                          </p:val>
                                        </p:tav>
                                      </p:tavLst>
                                    </p:anim>
                                    <p:anim calcmode="lin" valueType="num">
                                      <p:cBhvr>
                                        <p:cTn id="322" dur="5000" fill="hold"/>
                                        <p:tgtEl>
                                          <p:spTgt spid="200"/>
                                        </p:tgtEl>
                                        <p:attrNameLst>
                                          <p:attrName>ppt_w</p:attrName>
                                        </p:attrNameLst>
                                      </p:cBhvr>
                                      <p:tavLst>
                                        <p:tav tm="0">
                                          <p:val>
                                            <p:fltVal val="0"/>
                                          </p:val>
                                        </p:tav>
                                        <p:tav tm="100000">
                                          <p:val>
                                            <p:strVal val="#ppt_w"/>
                                          </p:val>
                                        </p:tav>
                                      </p:tavLst>
                                    </p:anim>
                                    <p:anim calcmode="lin" valueType="num">
                                      <p:cBhvr>
                                        <p:cTn id="323"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8"/>
                                            </p:cond>
                                          </p:stCondLst>
                                          <p:endCondLst>
                                            <p:cond evt="onStopAudio" delay="0">
                                              <p:tgtEl>
                                                <p:sldTgt/>
                                              </p:tgtEl>
                                            </p:cond>
                                          </p:endCondLst>
                                        </p:cTn>
                                        <p:tgtEl>
                                          <p:sndTgt r:embed="rId4" name="CHIMES.WAV"/>
                                        </p:tgtEl>
                                      </p:cMediaNode>
                                    </p:audio>
                                  </p:subTnLst>
                                </p:cTn>
                              </p:par>
                              <p:par>
                                <p:cTn id="324" presetID="17" presetClass="entr" presetSubtype="8" fill="hold" grpId="0" nodeType="withEffect">
                                  <p:stCondLst>
                                    <p:cond delay="0"/>
                                  </p:stCondLst>
                                  <p:childTnLst>
                                    <p:set>
                                      <p:cBhvr>
                                        <p:cTn id="325" dur="1" fill="hold">
                                          <p:stCondLst>
                                            <p:cond delay="0"/>
                                          </p:stCondLst>
                                        </p:cTn>
                                        <p:tgtEl>
                                          <p:spTgt spid="203"/>
                                        </p:tgtEl>
                                        <p:attrNameLst>
                                          <p:attrName>style.visibility</p:attrName>
                                        </p:attrNameLst>
                                      </p:cBhvr>
                                      <p:to>
                                        <p:strVal val="visible"/>
                                      </p:to>
                                    </p:set>
                                    <p:anim calcmode="lin" valueType="num">
                                      <p:cBhvr>
                                        <p:cTn id="326" dur="5000" fill="hold"/>
                                        <p:tgtEl>
                                          <p:spTgt spid="203"/>
                                        </p:tgtEl>
                                        <p:attrNameLst>
                                          <p:attrName>ppt_x</p:attrName>
                                        </p:attrNameLst>
                                      </p:cBhvr>
                                      <p:tavLst>
                                        <p:tav tm="0">
                                          <p:val>
                                            <p:strVal val="#ppt_x-#ppt_w/2"/>
                                          </p:val>
                                        </p:tav>
                                        <p:tav tm="100000">
                                          <p:val>
                                            <p:strVal val="#ppt_x"/>
                                          </p:val>
                                        </p:tav>
                                      </p:tavLst>
                                    </p:anim>
                                    <p:anim calcmode="lin" valueType="num">
                                      <p:cBhvr>
                                        <p:cTn id="327" dur="5000" fill="hold"/>
                                        <p:tgtEl>
                                          <p:spTgt spid="203"/>
                                        </p:tgtEl>
                                        <p:attrNameLst>
                                          <p:attrName>ppt_y</p:attrName>
                                        </p:attrNameLst>
                                      </p:cBhvr>
                                      <p:tavLst>
                                        <p:tav tm="0">
                                          <p:val>
                                            <p:strVal val="#ppt_y"/>
                                          </p:val>
                                        </p:tav>
                                        <p:tav tm="100000">
                                          <p:val>
                                            <p:strVal val="#ppt_y"/>
                                          </p:val>
                                        </p:tav>
                                      </p:tavLst>
                                    </p:anim>
                                    <p:anim calcmode="lin" valueType="num">
                                      <p:cBhvr>
                                        <p:cTn id="328" dur="5000" fill="hold"/>
                                        <p:tgtEl>
                                          <p:spTgt spid="203"/>
                                        </p:tgtEl>
                                        <p:attrNameLst>
                                          <p:attrName>ppt_w</p:attrName>
                                        </p:attrNameLst>
                                      </p:cBhvr>
                                      <p:tavLst>
                                        <p:tav tm="0">
                                          <p:val>
                                            <p:fltVal val="0"/>
                                          </p:val>
                                        </p:tav>
                                        <p:tav tm="100000">
                                          <p:val>
                                            <p:strVal val="#ppt_w"/>
                                          </p:val>
                                        </p:tav>
                                      </p:tavLst>
                                    </p:anim>
                                    <p:anim calcmode="lin" valueType="num">
                                      <p:cBhvr>
                                        <p:cTn id="329"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4"/>
                                            </p:cond>
                                          </p:stCondLst>
                                          <p:endCondLst>
                                            <p:cond evt="onStopAudio" delay="0">
                                              <p:tgtEl>
                                                <p:sldTgt/>
                                              </p:tgtEl>
                                            </p:cond>
                                          </p:endCondLst>
                                        </p:cTn>
                                        <p:tgtEl>
                                          <p:sndTgt r:embed="rId4" name="CHIMES.WAV"/>
                                        </p:tgtEl>
                                      </p:cMediaNode>
                                    </p:audio>
                                  </p:subTnLst>
                                </p:cTn>
                              </p:par>
                              <p:par>
                                <p:cTn id="330" presetID="17" presetClass="entr" presetSubtype="8" fill="hold" grpId="0" nodeType="withEffect">
                                  <p:stCondLst>
                                    <p:cond delay="0"/>
                                  </p:stCondLst>
                                  <p:childTnLst>
                                    <p:set>
                                      <p:cBhvr>
                                        <p:cTn id="331" dur="1" fill="hold">
                                          <p:stCondLst>
                                            <p:cond delay="0"/>
                                          </p:stCondLst>
                                        </p:cTn>
                                        <p:tgtEl>
                                          <p:spTgt spid="205"/>
                                        </p:tgtEl>
                                        <p:attrNameLst>
                                          <p:attrName>style.visibility</p:attrName>
                                        </p:attrNameLst>
                                      </p:cBhvr>
                                      <p:to>
                                        <p:strVal val="visible"/>
                                      </p:to>
                                    </p:set>
                                    <p:anim calcmode="lin" valueType="num">
                                      <p:cBhvr>
                                        <p:cTn id="332" dur="5000" fill="hold"/>
                                        <p:tgtEl>
                                          <p:spTgt spid="205"/>
                                        </p:tgtEl>
                                        <p:attrNameLst>
                                          <p:attrName>ppt_x</p:attrName>
                                        </p:attrNameLst>
                                      </p:cBhvr>
                                      <p:tavLst>
                                        <p:tav tm="0">
                                          <p:val>
                                            <p:strVal val="#ppt_x-#ppt_w/2"/>
                                          </p:val>
                                        </p:tav>
                                        <p:tav tm="100000">
                                          <p:val>
                                            <p:strVal val="#ppt_x"/>
                                          </p:val>
                                        </p:tav>
                                      </p:tavLst>
                                    </p:anim>
                                    <p:anim calcmode="lin" valueType="num">
                                      <p:cBhvr>
                                        <p:cTn id="333" dur="5000" fill="hold"/>
                                        <p:tgtEl>
                                          <p:spTgt spid="205"/>
                                        </p:tgtEl>
                                        <p:attrNameLst>
                                          <p:attrName>ppt_y</p:attrName>
                                        </p:attrNameLst>
                                      </p:cBhvr>
                                      <p:tavLst>
                                        <p:tav tm="0">
                                          <p:val>
                                            <p:strVal val="#ppt_y"/>
                                          </p:val>
                                        </p:tav>
                                        <p:tav tm="100000">
                                          <p:val>
                                            <p:strVal val="#ppt_y"/>
                                          </p:val>
                                        </p:tav>
                                      </p:tavLst>
                                    </p:anim>
                                    <p:anim calcmode="lin" valueType="num">
                                      <p:cBhvr>
                                        <p:cTn id="334" dur="5000" fill="hold"/>
                                        <p:tgtEl>
                                          <p:spTgt spid="205"/>
                                        </p:tgtEl>
                                        <p:attrNameLst>
                                          <p:attrName>ppt_w</p:attrName>
                                        </p:attrNameLst>
                                      </p:cBhvr>
                                      <p:tavLst>
                                        <p:tav tm="0">
                                          <p:val>
                                            <p:fltVal val="0"/>
                                          </p:val>
                                        </p:tav>
                                        <p:tav tm="100000">
                                          <p:val>
                                            <p:strVal val="#ppt_w"/>
                                          </p:val>
                                        </p:tav>
                                      </p:tavLst>
                                    </p:anim>
                                    <p:anim calcmode="lin" valueType="num">
                                      <p:cBhvr>
                                        <p:cTn id="335"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0"/>
                                            </p:cond>
                                          </p:stCondLst>
                                          <p:endCondLst>
                                            <p:cond evt="onStopAudio" delay="0">
                                              <p:tgtEl>
                                                <p:sldTgt/>
                                              </p:tgtEl>
                                            </p:cond>
                                          </p:endCondLst>
                                        </p:cTn>
                                        <p:tgtEl>
                                          <p:sndTgt r:embed="rId4" name="CHIMES.WAV"/>
                                        </p:tgtEl>
                                      </p:cMediaNode>
                                    </p:audio>
                                  </p:subTnLst>
                                </p:cTn>
                              </p:par>
                              <p:par>
                                <p:cTn id="336" presetID="17" presetClass="entr" presetSubtype="8" fill="hold" grpId="0" nodeType="withEffect">
                                  <p:stCondLst>
                                    <p:cond delay="0"/>
                                  </p:stCondLst>
                                  <p:childTnLst>
                                    <p:set>
                                      <p:cBhvr>
                                        <p:cTn id="337" dur="1" fill="hold">
                                          <p:stCondLst>
                                            <p:cond delay="0"/>
                                          </p:stCondLst>
                                        </p:cTn>
                                        <p:tgtEl>
                                          <p:spTgt spid="204"/>
                                        </p:tgtEl>
                                        <p:attrNameLst>
                                          <p:attrName>style.visibility</p:attrName>
                                        </p:attrNameLst>
                                      </p:cBhvr>
                                      <p:to>
                                        <p:strVal val="visible"/>
                                      </p:to>
                                    </p:set>
                                    <p:anim calcmode="lin" valueType="num">
                                      <p:cBhvr>
                                        <p:cTn id="338" dur="5000" fill="hold"/>
                                        <p:tgtEl>
                                          <p:spTgt spid="204"/>
                                        </p:tgtEl>
                                        <p:attrNameLst>
                                          <p:attrName>ppt_x</p:attrName>
                                        </p:attrNameLst>
                                      </p:cBhvr>
                                      <p:tavLst>
                                        <p:tav tm="0">
                                          <p:val>
                                            <p:strVal val="#ppt_x-#ppt_w/2"/>
                                          </p:val>
                                        </p:tav>
                                        <p:tav tm="100000">
                                          <p:val>
                                            <p:strVal val="#ppt_x"/>
                                          </p:val>
                                        </p:tav>
                                      </p:tavLst>
                                    </p:anim>
                                    <p:anim calcmode="lin" valueType="num">
                                      <p:cBhvr>
                                        <p:cTn id="339" dur="5000" fill="hold"/>
                                        <p:tgtEl>
                                          <p:spTgt spid="204"/>
                                        </p:tgtEl>
                                        <p:attrNameLst>
                                          <p:attrName>ppt_y</p:attrName>
                                        </p:attrNameLst>
                                      </p:cBhvr>
                                      <p:tavLst>
                                        <p:tav tm="0">
                                          <p:val>
                                            <p:strVal val="#ppt_y"/>
                                          </p:val>
                                        </p:tav>
                                        <p:tav tm="100000">
                                          <p:val>
                                            <p:strVal val="#ppt_y"/>
                                          </p:val>
                                        </p:tav>
                                      </p:tavLst>
                                    </p:anim>
                                    <p:anim calcmode="lin" valueType="num">
                                      <p:cBhvr>
                                        <p:cTn id="340" dur="5000" fill="hold"/>
                                        <p:tgtEl>
                                          <p:spTgt spid="204"/>
                                        </p:tgtEl>
                                        <p:attrNameLst>
                                          <p:attrName>ppt_w</p:attrName>
                                        </p:attrNameLst>
                                      </p:cBhvr>
                                      <p:tavLst>
                                        <p:tav tm="0">
                                          <p:val>
                                            <p:fltVal val="0"/>
                                          </p:val>
                                        </p:tav>
                                        <p:tav tm="100000">
                                          <p:val>
                                            <p:strVal val="#ppt_w"/>
                                          </p:val>
                                        </p:tav>
                                      </p:tavLst>
                                    </p:anim>
                                    <p:anim calcmode="lin" valueType="num">
                                      <p:cBhvr>
                                        <p:cTn id="341"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6"/>
                                            </p:cond>
                                          </p:stCondLst>
                                          <p:endCondLst>
                                            <p:cond evt="onStopAudio" delay="0">
                                              <p:tgtEl>
                                                <p:sldTgt/>
                                              </p:tgtEl>
                                            </p:cond>
                                          </p:endCondLst>
                                        </p:cTn>
                                        <p:tgtEl>
                                          <p:sndTgt r:embed="rId4" name="CHIMES.WAV"/>
                                        </p:tgtEl>
                                      </p:cMediaNode>
                                    </p:audio>
                                  </p:subTnLst>
                                </p:cTn>
                              </p:par>
                              <p:par>
                                <p:cTn id="342" presetID="18" presetClass="entr" presetSubtype="9" fill="hold" grpId="0" nodeType="withEffect">
                                  <p:stCondLst>
                                    <p:cond delay="0"/>
                                  </p:stCondLst>
                                  <p:childTnLst>
                                    <p:set>
                                      <p:cBhvr>
                                        <p:cTn id="343" dur="1" fill="hold">
                                          <p:stCondLst>
                                            <p:cond delay="0"/>
                                          </p:stCondLst>
                                        </p:cTn>
                                        <p:tgtEl>
                                          <p:spTgt spid="171"/>
                                        </p:tgtEl>
                                        <p:attrNameLst>
                                          <p:attrName>style.visibility</p:attrName>
                                        </p:attrNameLst>
                                      </p:cBhvr>
                                      <p:to>
                                        <p:strVal val="visible"/>
                                      </p:to>
                                    </p:set>
                                    <p:animEffect transition="in" filter="strips(upLeft)">
                                      <p:cBhvr>
                                        <p:cTn id="344" dur="5000"/>
                                        <p:tgtEl>
                                          <p:spTgt spid="171"/>
                                        </p:tgtEl>
                                      </p:cBhvr>
                                    </p:animEffect>
                                  </p:childTnLst>
                                  <p:subTnLst>
                                    <p:audio>
                                      <p:cMediaNode>
                                        <p:cTn display="0" masterRel="sameClick">
                                          <p:stCondLst>
                                            <p:cond evt="begin" delay="0">
                                              <p:tn val="342"/>
                                            </p:cond>
                                          </p:stCondLst>
                                          <p:endCondLst>
                                            <p:cond evt="onStopAudio" delay="0">
                                              <p:tgtEl>
                                                <p:sldTgt/>
                                              </p:tgtEl>
                                            </p:cond>
                                          </p:endCondLst>
                                        </p:cTn>
                                        <p:tgtEl>
                                          <p:sndTgt r:embed="rId4" name="CHIMES.WAV"/>
                                        </p:tgtEl>
                                      </p:cMediaNode>
                                    </p:audio>
                                  </p:subTnLst>
                                </p:cTn>
                              </p:par>
                              <p:par>
                                <p:cTn id="345" presetID="18" presetClass="entr" presetSubtype="3" fill="hold" grpId="0" nodeType="withEffect">
                                  <p:stCondLst>
                                    <p:cond delay="0"/>
                                  </p:stCondLst>
                                  <p:childTnLst>
                                    <p:set>
                                      <p:cBhvr>
                                        <p:cTn id="346" dur="1" fill="hold">
                                          <p:stCondLst>
                                            <p:cond delay="0"/>
                                          </p:stCondLst>
                                        </p:cTn>
                                        <p:tgtEl>
                                          <p:spTgt spid="169"/>
                                        </p:tgtEl>
                                        <p:attrNameLst>
                                          <p:attrName>style.visibility</p:attrName>
                                        </p:attrNameLst>
                                      </p:cBhvr>
                                      <p:to>
                                        <p:strVal val="visible"/>
                                      </p:to>
                                    </p:set>
                                    <p:animEffect transition="in" filter="strips(upRight)">
                                      <p:cBhvr>
                                        <p:cTn id="347" dur="5000"/>
                                        <p:tgtEl>
                                          <p:spTgt spid="169"/>
                                        </p:tgtEl>
                                      </p:cBhvr>
                                    </p:animEffect>
                                  </p:childTnLst>
                                  <p:subTnLst>
                                    <p:audio>
                                      <p:cMediaNode>
                                        <p:cTn display="0" masterRel="sameClick">
                                          <p:stCondLst>
                                            <p:cond evt="begin" delay="0">
                                              <p:tn val="345"/>
                                            </p:cond>
                                          </p:stCondLst>
                                          <p:endCondLst>
                                            <p:cond evt="onStopAudio" delay="0">
                                              <p:tgtEl>
                                                <p:sldTgt/>
                                              </p:tgtEl>
                                            </p:cond>
                                          </p:endCondLst>
                                        </p:cTn>
                                        <p:tgtEl>
                                          <p:sndTgt r:embed="rId4" name="CHIMES.WAV"/>
                                        </p:tgtEl>
                                      </p:cMediaNode>
                                    </p:audio>
                                  </p:subTnLst>
                                </p:cTn>
                              </p:par>
                              <p:par>
                                <p:cTn id="348" presetID="18" presetClass="entr" presetSubtype="3" fill="hold" grpId="0" nodeType="withEffect">
                                  <p:stCondLst>
                                    <p:cond delay="0"/>
                                  </p:stCondLst>
                                  <p:childTnLst>
                                    <p:set>
                                      <p:cBhvr>
                                        <p:cTn id="349" dur="1" fill="hold">
                                          <p:stCondLst>
                                            <p:cond delay="0"/>
                                          </p:stCondLst>
                                        </p:cTn>
                                        <p:tgtEl>
                                          <p:spTgt spid="108"/>
                                        </p:tgtEl>
                                        <p:attrNameLst>
                                          <p:attrName>style.visibility</p:attrName>
                                        </p:attrNameLst>
                                      </p:cBhvr>
                                      <p:to>
                                        <p:strVal val="visible"/>
                                      </p:to>
                                    </p:set>
                                    <p:animEffect transition="in" filter="strips(upRight)">
                                      <p:cBhvr>
                                        <p:cTn id="350" dur="5000"/>
                                        <p:tgtEl>
                                          <p:spTgt spid="108"/>
                                        </p:tgtEl>
                                      </p:cBhvr>
                                    </p:animEffect>
                                  </p:childTnLst>
                                  <p:subTnLst>
                                    <p:audio>
                                      <p:cMediaNode>
                                        <p:cTn display="0" masterRel="sameClick">
                                          <p:stCondLst>
                                            <p:cond evt="begin" delay="0">
                                              <p:tn val="348"/>
                                            </p:cond>
                                          </p:stCondLst>
                                          <p:endCondLst>
                                            <p:cond evt="onStopAudio" delay="0">
                                              <p:tgtEl>
                                                <p:sldTgt/>
                                              </p:tgtEl>
                                            </p:cond>
                                          </p:endCondLst>
                                        </p:cTn>
                                        <p:tgtEl>
                                          <p:sndTgt r:embed="rId4" name="CHIMES.WAV"/>
                                        </p:tgtEl>
                                      </p:cMediaNode>
                                    </p:audio>
                                  </p:subTnLst>
                                </p:cTn>
                              </p:par>
                              <p:par>
                                <p:cTn id="351" presetID="18" presetClass="entr" presetSubtype="12" fill="hold" grpId="0" nodeType="withEffect">
                                  <p:stCondLst>
                                    <p:cond delay="0"/>
                                  </p:stCondLst>
                                  <p:childTnLst>
                                    <p:set>
                                      <p:cBhvr>
                                        <p:cTn id="352" dur="1" fill="hold">
                                          <p:stCondLst>
                                            <p:cond delay="0"/>
                                          </p:stCondLst>
                                        </p:cTn>
                                        <p:tgtEl>
                                          <p:spTgt spid="170"/>
                                        </p:tgtEl>
                                        <p:attrNameLst>
                                          <p:attrName>style.visibility</p:attrName>
                                        </p:attrNameLst>
                                      </p:cBhvr>
                                      <p:to>
                                        <p:strVal val="visible"/>
                                      </p:to>
                                    </p:set>
                                    <p:animEffect transition="in" filter="strips(downLeft)">
                                      <p:cBhvr>
                                        <p:cTn id="353" dur="5000"/>
                                        <p:tgtEl>
                                          <p:spTgt spid="170"/>
                                        </p:tgtEl>
                                      </p:cBhvr>
                                    </p:animEffect>
                                  </p:childTnLst>
                                  <p:subTnLst>
                                    <p:audio>
                                      <p:cMediaNode>
                                        <p:cTn display="0" masterRel="sameClick">
                                          <p:stCondLst>
                                            <p:cond evt="begin" delay="0">
                                              <p:tn val="351"/>
                                            </p:cond>
                                          </p:stCondLst>
                                          <p:endCondLst>
                                            <p:cond evt="onStopAudio" delay="0">
                                              <p:tgtEl>
                                                <p:sldTgt/>
                                              </p:tgtEl>
                                            </p:cond>
                                          </p:endCondLst>
                                        </p:cTn>
                                        <p:tgtEl>
                                          <p:sndTgt r:embed="rId4" name="CHIMES.WAV"/>
                                        </p:tgtEl>
                                      </p:cMediaNode>
                                    </p:audio>
                                  </p:subTnLst>
                                </p:cTn>
                              </p:par>
                              <p:par>
                                <p:cTn id="354" presetID="18" presetClass="entr" presetSubtype="6" fill="hold" grpId="0" nodeType="withEffect">
                                  <p:stCondLst>
                                    <p:cond delay="0"/>
                                  </p:stCondLst>
                                  <p:childTnLst>
                                    <p:set>
                                      <p:cBhvr>
                                        <p:cTn id="355" dur="1" fill="hold">
                                          <p:stCondLst>
                                            <p:cond delay="0"/>
                                          </p:stCondLst>
                                        </p:cTn>
                                        <p:tgtEl>
                                          <p:spTgt spid="173"/>
                                        </p:tgtEl>
                                        <p:attrNameLst>
                                          <p:attrName>style.visibility</p:attrName>
                                        </p:attrNameLst>
                                      </p:cBhvr>
                                      <p:to>
                                        <p:strVal val="visible"/>
                                      </p:to>
                                    </p:set>
                                    <p:animEffect transition="in" filter="strips(downRight)">
                                      <p:cBhvr>
                                        <p:cTn id="356" dur="5000"/>
                                        <p:tgtEl>
                                          <p:spTgt spid="173"/>
                                        </p:tgtEl>
                                      </p:cBhvr>
                                    </p:animEffect>
                                  </p:childTnLst>
                                  <p:subTnLst>
                                    <p:audio>
                                      <p:cMediaNode>
                                        <p:cTn display="0" masterRel="sameClick">
                                          <p:stCondLst>
                                            <p:cond evt="begin" delay="0">
                                              <p:tn val="354"/>
                                            </p:cond>
                                          </p:stCondLst>
                                          <p:endCondLst>
                                            <p:cond evt="onStopAudio" delay="0">
                                              <p:tgtEl>
                                                <p:sldTgt/>
                                              </p:tgtEl>
                                            </p:cond>
                                          </p:endCondLst>
                                        </p:cTn>
                                        <p:tgtEl>
                                          <p:sndTgt r:embed="rId4" name="CHIMES.WAV"/>
                                        </p:tgtEl>
                                      </p:cMediaNode>
                                    </p:audio>
                                  </p:subTnLst>
                                </p:cTn>
                              </p:par>
                              <p:par>
                                <p:cTn id="357" presetID="18" presetClass="entr" presetSubtype="12" fill="hold" grpId="0" nodeType="withEffect">
                                  <p:stCondLst>
                                    <p:cond delay="0"/>
                                  </p:stCondLst>
                                  <p:childTnLst>
                                    <p:set>
                                      <p:cBhvr>
                                        <p:cTn id="358" dur="1" fill="hold">
                                          <p:stCondLst>
                                            <p:cond delay="0"/>
                                          </p:stCondLst>
                                        </p:cTn>
                                        <p:tgtEl>
                                          <p:spTgt spid="172"/>
                                        </p:tgtEl>
                                        <p:attrNameLst>
                                          <p:attrName>style.visibility</p:attrName>
                                        </p:attrNameLst>
                                      </p:cBhvr>
                                      <p:to>
                                        <p:strVal val="visible"/>
                                      </p:to>
                                    </p:set>
                                    <p:animEffect transition="in" filter="strips(downLeft)">
                                      <p:cBhvr>
                                        <p:cTn id="359" dur="5000"/>
                                        <p:tgtEl>
                                          <p:spTgt spid="172"/>
                                        </p:tgtEl>
                                      </p:cBhvr>
                                    </p:animEffect>
                                  </p:childTnLst>
                                  <p:subTnLst>
                                    <p:audio>
                                      <p:cMediaNode>
                                        <p:cTn display="0" masterRel="sameClick">
                                          <p:stCondLst>
                                            <p:cond evt="begin" delay="0">
                                              <p:tn val="357"/>
                                            </p:cond>
                                          </p:stCondLst>
                                          <p:endCondLst>
                                            <p:cond evt="onStopAudio" delay="0">
                                              <p:tgtEl>
                                                <p:sldTgt/>
                                              </p:tgtEl>
                                            </p:cond>
                                          </p:endCondLst>
                                        </p:cTn>
                                        <p:tgtEl>
                                          <p:sndTgt r:embed="rId4" name="CHIMES.WAV"/>
                                        </p:tgtEl>
                                      </p:cMediaNode>
                                    </p:audio>
                                  </p:subTnLst>
                                </p:cTn>
                              </p:par>
                            </p:childTnLst>
                          </p:cTn>
                        </p:par>
                        <p:par>
                          <p:cTn id="360" fill="hold">
                            <p:stCondLst>
                              <p:cond delay="5000"/>
                            </p:stCondLst>
                            <p:childTnLst>
                              <p:par>
                                <p:cTn id="361" presetID="20" presetClass="entr" presetSubtype="0" fill="hold" grpId="0" nodeType="afterEffect">
                                  <p:stCondLst>
                                    <p:cond delay="500"/>
                                  </p:stCondLst>
                                  <p:childTnLst>
                                    <p:set>
                                      <p:cBhvr>
                                        <p:cTn id="362" dur="1" fill="hold">
                                          <p:stCondLst>
                                            <p:cond delay="0"/>
                                          </p:stCondLst>
                                        </p:cTn>
                                        <p:tgtEl>
                                          <p:spTgt spid="199"/>
                                        </p:tgtEl>
                                        <p:attrNameLst>
                                          <p:attrName>style.visibility</p:attrName>
                                        </p:attrNameLst>
                                      </p:cBhvr>
                                      <p:to>
                                        <p:strVal val="visible"/>
                                      </p:to>
                                    </p:set>
                                    <p:animEffect transition="in" filter="wedge">
                                      <p:cBhvr>
                                        <p:cTn id="363" dur="3000"/>
                                        <p:tgtEl>
                                          <p:spTgt spid="199"/>
                                        </p:tgtEl>
                                      </p:cBhvr>
                                    </p:animEffect>
                                  </p:childTnLst>
                                  <p:subTnLst>
                                    <p:audio>
                                      <p:cMediaNode>
                                        <p:cTn display="0" masterRel="sameClick">
                                          <p:stCondLst>
                                            <p:cond evt="begin" delay="0">
                                              <p:tn val="361"/>
                                            </p:cond>
                                          </p:stCondLst>
                                          <p:endCondLst>
                                            <p:cond evt="onStopAudio" delay="0">
                                              <p:tgtEl>
                                                <p:sldTgt/>
                                              </p:tgtEl>
                                            </p:cond>
                                          </p:endCondLst>
                                        </p:cTn>
                                        <p:tgtEl>
                                          <p:sndTgt r:embed="rId4" name="CHIMES.WAV"/>
                                        </p:tgtEl>
                                      </p:cMediaNode>
                                    </p:audio>
                                  </p:subTnLst>
                                </p:cTn>
                              </p:par>
                            </p:childTnLst>
                          </p:cTn>
                        </p:par>
                      </p:childTnLst>
                    </p:cTn>
                  </p:par>
                  <p:par>
                    <p:cTn id="364" fill="hold">
                      <p:stCondLst>
                        <p:cond delay="indefinite"/>
                      </p:stCondLst>
                      <p:childTnLst>
                        <p:par>
                          <p:cTn id="365" fill="hold">
                            <p:stCondLst>
                              <p:cond delay="0"/>
                            </p:stCondLst>
                            <p:childTnLst>
                              <p:par>
                                <p:cTn id="366" presetID="22" presetClass="entr" presetSubtype="8" fill="hold" nodeType="clickEffect">
                                  <p:stCondLst>
                                    <p:cond delay="0"/>
                                  </p:stCondLst>
                                  <p:childTnLst>
                                    <p:set>
                                      <p:cBhvr>
                                        <p:cTn id="367" dur="1" fill="hold">
                                          <p:stCondLst>
                                            <p:cond delay="0"/>
                                          </p:stCondLst>
                                        </p:cTn>
                                        <p:tgtEl>
                                          <p:spTgt spid="187"/>
                                        </p:tgtEl>
                                        <p:attrNameLst>
                                          <p:attrName>style.visibility</p:attrName>
                                        </p:attrNameLst>
                                      </p:cBhvr>
                                      <p:to>
                                        <p:strVal val="visible"/>
                                      </p:to>
                                    </p:set>
                                    <p:animEffect transition="in" filter="wipe(left)">
                                      <p:cBhvr>
                                        <p:cTn id="368" dur="5000"/>
                                        <p:tgtEl>
                                          <p:spTgt spid="187"/>
                                        </p:tgtEl>
                                      </p:cBhvr>
                                    </p:animEffect>
                                  </p:childTnLst>
                                  <p:subTnLst>
                                    <p:audio>
                                      <p:cMediaNode>
                                        <p:cTn display="0" masterRel="sameClick">
                                          <p:stCondLst>
                                            <p:cond evt="begin" delay="0">
                                              <p:tn val="366"/>
                                            </p:cond>
                                          </p:stCondLst>
                                          <p:endCondLst>
                                            <p:cond evt="onStopAudio" delay="0">
                                              <p:tgtEl>
                                                <p:sldTgt/>
                                              </p:tgtEl>
                                            </p:cond>
                                          </p:endCondLst>
                                        </p:cTn>
                                        <p:tgtEl>
                                          <p:sndTgt r:embed="rId3" name="CAMERA.WAV"/>
                                        </p:tgtEl>
                                      </p:cMediaNode>
                                    </p:audio>
                                  </p:subTnLst>
                                </p:cTn>
                              </p:par>
                            </p:childTnLst>
                          </p:cTn>
                        </p:par>
                        <p:par>
                          <p:cTn id="369" fill="hold">
                            <p:stCondLst>
                              <p:cond delay="5000"/>
                            </p:stCondLst>
                            <p:childTnLst>
                              <p:par>
                                <p:cTn id="370" presetID="22" presetClass="entr" presetSubtype="4" fill="hold" grpId="0" nodeType="afterEffect">
                                  <p:stCondLst>
                                    <p:cond delay="500"/>
                                  </p:stCondLst>
                                  <p:childTnLst>
                                    <p:set>
                                      <p:cBhvr>
                                        <p:cTn id="371" dur="1" fill="hold">
                                          <p:stCondLst>
                                            <p:cond delay="0"/>
                                          </p:stCondLst>
                                        </p:cTn>
                                        <p:tgtEl>
                                          <p:spTgt spid="193"/>
                                        </p:tgtEl>
                                        <p:attrNameLst>
                                          <p:attrName>style.visibility</p:attrName>
                                        </p:attrNameLst>
                                      </p:cBhvr>
                                      <p:to>
                                        <p:strVal val="visible"/>
                                      </p:to>
                                    </p:set>
                                    <p:animEffect transition="in" filter="wipe(down)">
                                      <p:cBhvr>
                                        <p:cTn id="372" dur="5000"/>
                                        <p:tgtEl>
                                          <p:spTgt spid="193"/>
                                        </p:tgtEl>
                                      </p:cBhvr>
                                    </p:animEffect>
                                  </p:childTnLst>
                                  <p:subTnLst>
                                    <p:audio>
                                      <p:cMediaNode>
                                        <p:cTn display="0" masterRel="sameClick">
                                          <p:stCondLst>
                                            <p:cond evt="begin" delay="0">
                                              <p:tn val="370"/>
                                            </p:cond>
                                          </p:stCondLst>
                                          <p:endCondLst>
                                            <p:cond evt="onStopAudio" delay="0">
                                              <p:tgtEl>
                                                <p:sldTgt/>
                                              </p:tgtEl>
                                            </p:cond>
                                          </p:endCondLst>
                                        </p:cTn>
                                        <p:tgtEl>
                                          <p:sndTgt r:embed="rId3" name="CAMERA.WAV"/>
                                        </p:tgtEl>
                                      </p:cMediaNode>
                                    </p:audio>
                                  </p:subTnLst>
                                </p:cTn>
                              </p:par>
                              <p:par>
                                <p:cTn id="373" presetID="20" presetClass="entr" presetSubtype="0" fill="hold" grpId="0" nodeType="withEffect">
                                  <p:stCondLst>
                                    <p:cond delay="500"/>
                                  </p:stCondLst>
                                  <p:childTnLst>
                                    <p:set>
                                      <p:cBhvr>
                                        <p:cTn id="374" dur="1" fill="hold">
                                          <p:stCondLst>
                                            <p:cond delay="0"/>
                                          </p:stCondLst>
                                        </p:cTn>
                                        <p:tgtEl>
                                          <p:spTgt spid="196"/>
                                        </p:tgtEl>
                                        <p:attrNameLst>
                                          <p:attrName>style.visibility</p:attrName>
                                        </p:attrNameLst>
                                      </p:cBhvr>
                                      <p:to>
                                        <p:strVal val="visible"/>
                                      </p:to>
                                    </p:set>
                                    <p:animEffect transition="in" filter="wedge">
                                      <p:cBhvr>
                                        <p:cTn id="375" dur="2000"/>
                                        <p:tgtEl>
                                          <p:spTgt spid="196"/>
                                        </p:tgtEl>
                                      </p:cBhvr>
                                    </p:animEffect>
                                  </p:childTnLst>
                                  <p:subTnLst>
                                    <p:audio>
                                      <p:cMediaNode>
                                        <p:cTn display="0" masterRel="sameClick">
                                          <p:stCondLst>
                                            <p:cond evt="begin" delay="0">
                                              <p:tn val="373"/>
                                            </p:cond>
                                          </p:stCondLst>
                                          <p:endCondLst>
                                            <p:cond evt="onStopAudio" delay="0">
                                              <p:tgtEl>
                                                <p:sldTgt/>
                                              </p:tgtEl>
                                            </p:cond>
                                          </p:endCondLst>
                                        </p:cTn>
                                        <p:tgtEl>
                                          <p:sndTgt r:embed="rId3" name="CAMERA.WAV"/>
                                        </p:tgtEl>
                                      </p:cMediaNode>
                                    </p:audio>
                                  </p:subTnLst>
                                </p:cTn>
                              </p:par>
                              <p:par>
                                <p:cTn id="376" presetID="17" presetClass="entr" presetSubtype="8" fill="hold" grpId="0" nodeType="withEffect">
                                  <p:stCondLst>
                                    <p:cond delay="500"/>
                                  </p:stCondLst>
                                  <p:childTnLst>
                                    <p:set>
                                      <p:cBhvr>
                                        <p:cTn id="377" dur="1" fill="hold">
                                          <p:stCondLst>
                                            <p:cond delay="0"/>
                                          </p:stCondLst>
                                        </p:cTn>
                                        <p:tgtEl>
                                          <p:spTgt spid="182"/>
                                        </p:tgtEl>
                                        <p:attrNameLst>
                                          <p:attrName>style.visibility</p:attrName>
                                        </p:attrNameLst>
                                      </p:cBhvr>
                                      <p:to>
                                        <p:strVal val="visible"/>
                                      </p:to>
                                    </p:set>
                                    <p:anim calcmode="lin" valueType="num">
                                      <p:cBhvr>
                                        <p:cTn id="378" dur="5000" fill="hold"/>
                                        <p:tgtEl>
                                          <p:spTgt spid="182"/>
                                        </p:tgtEl>
                                        <p:attrNameLst>
                                          <p:attrName>ppt_x</p:attrName>
                                        </p:attrNameLst>
                                      </p:cBhvr>
                                      <p:tavLst>
                                        <p:tav tm="0">
                                          <p:val>
                                            <p:strVal val="#ppt_x-#ppt_w/2"/>
                                          </p:val>
                                        </p:tav>
                                        <p:tav tm="100000">
                                          <p:val>
                                            <p:strVal val="#ppt_x"/>
                                          </p:val>
                                        </p:tav>
                                      </p:tavLst>
                                    </p:anim>
                                    <p:anim calcmode="lin" valueType="num">
                                      <p:cBhvr>
                                        <p:cTn id="379" dur="5000" fill="hold"/>
                                        <p:tgtEl>
                                          <p:spTgt spid="182"/>
                                        </p:tgtEl>
                                        <p:attrNameLst>
                                          <p:attrName>ppt_y</p:attrName>
                                        </p:attrNameLst>
                                      </p:cBhvr>
                                      <p:tavLst>
                                        <p:tav tm="0">
                                          <p:val>
                                            <p:strVal val="#ppt_y"/>
                                          </p:val>
                                        </p:tav>
                                        <p:tav tm="100000">
                                          <p:val>
                                            <p:strVal val="#ppt_y"/>
                                          </p:val>
                                        </p:tav>
                                      </p:tavLst>
                                    </p:anim>
                                    <p:anim calcmode="lin" valueType="num">
                                      <p:cBhvr>
                                        <p:cTn id="380" dur="5000" fill="hold"/>
                                        <p:tgtEl>
                                          <p:spTgt spid="182"/>
                                        </p:tgtEl>
                                        <p:attrNameLst>
                                          <p:attrName>ppt_w</p:attrName>
                                        </p:attrNameLst>
                                      </p:cBhvr>
                                      <p:tavLst>
                                        <p:tav tm="0">
                                          <p:val>
                                            <p:fltVal val="0"/>
                                          </p:val>
                                        </p:tav>
                                        <p:tav tm="100000">
                                          <p:val>
                                            <p:strVal val="#ppt_w"/>
                                          </p:val>
                                        </p:tav>
                                      </p:tavLst>
                                    </p:anim>
                                    <p:anim calcmode="lin" valueType="num">
                                      <p:cBhvr>
                                        <p:cTn id="381"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6"/>
                                            </p:cond>
                                          </p:stCondLst>
                                          <p:endCondLst>
                                            <p:cond evt="onStopAudio" delay="0">
                                              <p:tgtEl>
                                                <p:sldTgt/>
                                              </p:tgtEl>
                                            </p:cond>
                                          </p:endCondLst>
                                        </p:cTn>
                                        <p:tgtEl>
                                          <p:sndTgt r:embed="rId4" name="CHIMES.WAV"/>
                                        </p:tgtEl>
                                      </p:cMediaNode>
                                    </p:audio>
                                  </p:subTnLst>
                                </p:cTn>
                              </p:par>
                              <p:par>
                                <p:cTn id="382" presetID="17" presetClass="entr" presetSubtype="8" fill="hold" grpId="0" nodeType="withEffect">
                                  <p:stCondLst>
                                    <p:cond delay="0"/>
                                  </p:stCondLst>
                                  <p:childTnLst>
                                    <p:set>
                                      <p:cBhvr>
                                        <p:cTn id="383" dur="1" fill="hold">
                                          <p:stCondLst>
                                            <p:cond delay="0"/>
                                          </p:stCondLst>
                                        </p:cTn>
                                        <p:tgtEl>
                                          <p:spTgt spid="183"/>
                                        </p:tgtEl>
                                        <p:attrNameLst>
                                          <p:attrName>style.visibility</p:attrName>
                                        </p:attrNameLst>
                                      </p:cBhvr>
                                      <p:to>
                                        <p:strVal val="visible"/>
                                      </p:to>
                                    </p:set>
                                    <p:anim calcmode="lin" valueType="num">
                                      <p:cBhvr>
                                        <p:cTn id="384" dur="5000" fill="hold"/>
                                        <p:tgtEl>
                                          <p:spTgt spid="183"/>
                                        </p:tgtEl>
                                        <p:attrNameLst>
                                          <p:attrName>ppt_x</p:attrName>
                                        </p:attrNameLst>
                                      </p:cBhvr>
                                      <p:tavLst>
                                        <p:tav tm="0">
                                          <p:val>
                                            <p:strVal val="#ppt_x-#ppt_w/2"/>
                                          </p:val>
                                        </p:tav>
                                        <p:tav tm="100000">
                                          <p:val>
                                            <p:strVal val="#ppt_x"/>
                                          </p:val>
                                        </p:tav>
                                      </p:tavLst>
                                    </p:anim>
                                    <p:anim calcmode="lin" valueType="num">
                                      <p:cBhvr>
                                        <p:cTn id="385" dur="5000" fill="hold"/>
                                        <p:tgtEl>
                                          <p:spTgt spid="183"/>
                                        </p:tgtEl>
                                        <p:attrNameLst>
                                          <p:attrName>ppt_y</p:attrName>
                                        </p:attrNameLst>
                                      </p:cBhvr>
                                      <p:tavLst>
                                        <p:tav tm="0">
                                          <p:val>
                                            <p:strVal val="#ppt_y"/>
                                          </p:val>
                                        </p:tav>
                                        <p:tav tm="100000">
                                          <p:val>
                                            <p:strVal val="#ppt_y"/>
                                          </p:val>
                                        </p:tav>
                                      </p:tavLst>
                                    </p:anim>
                                    <p:anim calcmode="lin" valueType="num">
                                      <p:cBhvr>
                                        <p:cTn id="386" dur="5000" fill="hold"/>
                                        <p:tgtEl>
                                          <p:spTgt spid="183"/>
                                        </p:tgtEl>
                                        <p:attrNameLst>
                                          <p:attrName>ppt_w</p:attrName>
                                        </p:attrNameLst>
                                      </p:cBhvr>
                                      <p:tavLst>
                                        <p:tav tm="0">
                                          <p:val>
                                            <p:fltVal val="0"/>
                                          </p:val>
                                        </p:tav>
                                        <p:tav tm="100000">
                                          <p:val>
                                            <p:strVal val="#ppt_w"/>
                                          </p:val>
                                        </p:tav>
                                      </p:tavLst>
                                    </p:anim>
                                    <p:anim calcmode="lin" valueType="num">
                                      <p:cBhvr>
                                        <p:cTn id="387"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2"/>
                                            </p:cond>
                                          </p:stCondLst>
                                          <p:endCondLst>
                                            <p:cond evt="onStopAudio" delay="0">
                                              <p:tgtEl>
                                                <p:sldTgt/>
                                              </p:tgtEl>
                                            </p:cond>
                                          </p:endCondLst>
                                        </p:cTn>
                                        <p:tgtEl>
                                          <p:sndTgt r:embed="rId4" name="CHIMES.WAV"/>
                                        </p:tgtEl>
                                      </p:cMediaNode>
                                    </p:audio>
                                  </p:subTnLst>
                                </p:cTn>
                              </p:par>
                              <p:par>
                                <p:cTn id="388" presetID="17" presetClass="entr" presetSubtype="8" fill="hold" grpId="0" nodeType="withEffect">
                                  <p:stCondLst>
                                    <p:cond delay="0"/>
                                  </p:stCondLst>
                                  <p:childTnLst>
                                    <p:set>
                                      <p:cBhvr>
                                        <p:cTn id="389" dur="1" fill="hold">
                                          <p:stCondLst>
                                            <p:cond delay="0"/>
                                          </p:stCondLst>
                                        </p:cTn>
                                        <p:tgtEl>
                                          <p:spTgt spid="184"/>
                                        </p:tgtEl>
                                        <p:attrNameLst>
                                          <p:attrName>style.visibility</p:attrName>
                                        </p:attrNameLst>
                                      </p:cBhvr>
                                      <p:to>
                                        <p:strVal val="visible"/>
                                      </p:to>
                                    </p:set>
                                    <p:anim calcmode="lin" valueType="num">
                                      <p:cBhvr>
                                        <p:cTn id="390" dur="5000" fill="hold"/>
                                        <p:tgtEl>
                                          <p:spTgt spid="184"/>
                                        </p:tgtEl>
                                        <p:attrNameLst>
                                          <p:attrName>ppt_x</p:attrName>
                                        </p:attrNameLst>
                                      </p:cBhvr>
                                      <p:tavLst>
                                        <p:tav tm="0">
                                          <p:val>
                                            <p:strVal val="#ppt_x-#ppt_w/2"/>
                                          </p:val>
                                        </p:tav>
                                        <p:tav tm="100000">
                                          <p:val>
                                            <p:strVal val="#ppt_x"/>
                                          </p:val>
                                        </p:tav>
                                      </p:tavLst>
                                    </p:anim>
                                    <p:anim calcmode="lin" valueType="num">
                                      <p:cBhvr>
                                        <p:cTn id="391" dur="5000" fill="hold"/>
                                        <p:tgtEl>
                                          <p:spTgt spid="184"/>
                                        </p:tgtEl>
                                        <p:attrNameLst>
                                          <p:attrName>ppt_y</p:attrName>
                                        </p:attrNameLst>
                                      </p:cBhvr>
                                      <p:tavLst>
                                        <p:tav tm="0">
                                          <p:val>
                                            <p:strVal val="#ppt_y"/>
                                          </p:val>
                                        </p:tav>
                                        <p:tav tm="100000">
                                          <p:val>
                                            <p:strVal val="#ppt_y"/>
                                          </p:val>
                                        </p:tav>
                                      </p:tavLst>
                                    </p:anim>
                                    <p:anim calcmode="lin" valueType="num">
                                      <p:cBhvr>
                                        <p:cTn id="392" dur="5000" fill="hold"/>
                                        <p:tgtEl>
                                          <p:spTgt spid="184"/>
                                        </p:tgtEl>
                                        <p:attrNameLst>
                                          <p:attrName>ppt_w</p:attrName>
                                        </p:attrNameLst>
                                      </p:cBhvr>
                                      <p:tavLst>
                                        <p:tav tm="0">
                                          <p:val>
                                            <p:fltVal val="0"/>
                                          </p:val>
                                        </p:tav>
                                        <p:tav tm="100000">
                                          <p:val>
                                            <p:strVal val="#ppt_w"/>
                                          </p:val>
                                        </p:tav>
                                      </p:tavLst>
                                    </p:anim>
                                    <p:anim calcmode="lin" valueType="num">
                                      <p:cBhvr>
                                        <p:cTn id="393"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8"/>
                                            </p:cond>
                                          </p:stCondLst>
                                          <p:endCondLst>
                                            <p:cond evt="onStopAudio" delay="0">
                                              <p:tgtEl>
                                                <p:sldTgt/>
                                              </p:tgtEl>
                                            </p:cond>
                                          </p:endCondLst>
                                        </p:cTn>
                                        <p:tgtEl>
                                          <p:sndTgt r:embed="rId4" name="CHIMES.WAV"/>
                                        </p:tgtEl>
                                      </p:cMediaNode>
                                    </p:audio>
                                  </p:subTnLst>
                                </p:cTn>
                              </p:par>
                              <p:par>
                                <p:cTn id="394" presetID="17" presetClass="entr" presetSubtype="2" fill="hold" grpId="0" nodeType="withEffect">
                                  <p:stCondLst>
                                    <p:cond delay="0"/>
                                  </p:stCondLst>
                                  <p:childTnLst>
                                    <p:set>
                                      <p:cBhvr>
                                        <p:cTn id="395" dur="1" fill="hold">
                                          <p:stCondLst>
                                            <p:cond delay="0"/>
                                          </p:stCondLst>
                                        </p:cTn>
                                        <p:tgtEl>
                                          <p:spTgt spid="181"/>
                                        </p:tgtEl>
                                        <p:attrNameLst>
                                          <p:attrName>style.visibility</p:attrName>
                                        </p:attrNameLst>
                                      </p:cBhvr>
                                      <p:to>
                                        <p:strVal val="visible"/>
                                      </p:to>
                                    </p:set>
                                    <p:anim calcmode="lin" valueType="num">
                                      <p:cBhvr>
                                        <p:cTn id="396" dur="5000" fill="hold"/>
                                        <p:tgtEl>
                                          <p:spTgt spid="181"/>
                                        </p:tgtEl>
                                        <p:attrNameLst>
                                          <p:attrName>ppt_x</p:attrName>
                                        </p:attrNameLst>
                                      </p:cBhvr>
                                      <p:tavLst>
                                        <p:tav tm="0">
                                          <p:val>
                                            <p:strVal val="#ppt_x+#ppt_w/2"/>
                                          </p:val>
                                        </p:tav>
                                        <p:tav tm="100000">
                                          <p:val>
                                            <p:strVal val="#ppt_x"/>
                                          </p:val>
                                        </p:tav>
                                      </p:tavLst>
                                    </p:anim>
                                    <p:anim calcmode="lin" valueType="num">
                                      <p:cBhvr>
                                        <p:cTn id="397" dur="5000" fill="hold"/>
                                        <p:tgtEl>
                                          <p:spTgt spid="181"/>
                                        </p:tgtEl>
                                        <p:attrNameLst>
                                          <p:attrName>ppt_y</p:attrName>
                                        </p:attrNameLst>
                                      </p:cBhvr>
                                      <p:tavLst>
                                        <p:tav tm="0">
                                          <p:val>
                                            <p:strVal val="#ppt_y"/>
                                          </p:val>
                                        </p:tav>
                                        <p:tav tm="100000">
                                          <p:val>
                                            <p:strVal val="#ppt_y"/>
                                          </p:val>
                                        </p:tav>
                                      </p:tavLst>
                                    </p:anim>
                                    <p:anim calcmode="lin" valueType="num">
                                      <p:cBhvr>
                                        <p:cTn id="398" dur="5000" fill="hold"/>
                                        <p:tgtEl>
                                          <p:spTgt spid="181"/>
                                        </p:tgtEl>
                                        <p:attrNameLst>
                                          <p:attrName>ppt_w</p:attrName>
                                        </p:attrNameLst>
                                      </p:cBhvr>
                                      <p:tavLst>
                                        <p:tav tm="0">
                                          <p:val>
                                            <p:fltVal val="0"/>
                                          </p:val>
                                        </p:tav>
                                        <p:tav tm="100000">
                                          <p:val>
                                            <p:strVal val="#ppt_w"/>
                                          </p:val>
                                        </p:tav>
                                      </p:tavLst>
                                    </p:anim>
                                    <p:anim calcmode="lin" valueType="num">
                                      <p:cBhvr>
                                        <p:cTn id="399"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4"/>
                                            </p:cond>
                                          </p:stCondLst>
                                          <p:endCondLst>
                                            <p:cond evt="onStopAudio" delay="0">
                                              <p:tgtEl>
                                                <p:sldTgt/>
                                              </p:tgtEl>
                                            </p:cond>
                                          </p:endCondLst>
                                        </p:cTn>
                                        <p:tgtEl>
                                          <p:sndTgt r:embed="rId4" name="CHIMES.WAV"/>
                                        </p:tgtEl>
                                      </p:cMediaNode>
                                    </p:audio>
                                  </p:subTnLst>
                                </p:cTn>
                              </p:par>
                              <p:par>
                                <p:cTn id="400" presetID="17" presetClass="entr" presetSubtype="2" fill="hold" grpId="0" nodeType="withEffect">
                                  <p:stCondLst>
                                    <p:cond delay="0"/>
                                  </p:stCondLst>
                                  <p:childTnLst>
                                    <p:set>
                                      <p:cBhvr>
                                        <p:cTn id="401" dur="1" fill="hold">
                                          <p:stCondLst>
                                            <p:cond delay="0"/>
                                          </p:stCondLst>
                                        </p:cTn>
                                        <p:tgtEl>
                                          <p:spTgt spid="180"/>
                                        </p:tgtEl>
                                        <p:attrNameLst>
                                          <p:attrName>style.visibility</p:attrName>
                                        </p:attrNameLst>
                                      </p:cBhvr>
                                      <p:to>
                                        <p:strVal val="visible"/>
                                      </p:to>
                                    </p:set>
                                    <p:anim calcmode="lin" valueType="num">
                                      <p:cBhvr>
                                        <p:cTn id="402" dur="5000" fill="hold"/>
                                        <p:tgtEl>
                                          <p:spTgt spid="180"/>
                                        </p:tgtEl>
                                        <p:attrNameLst>
                                          <p:attrName>ppt_x</p:attrName>
                                        </p:attrNameLst>
                                      </p:cBhvr>
                                      <p:tavLst>
                                        <p:tav tm="0">
                                          <p:val>
                                            <p:strVal val="#ppt_x+#ppt_w/2"/>
                                          </p:val>
                                        </p:tav>
                                        <p:tav tm="100000">
                                          <p:val>
                                            <p:strVal val="#ppt_x"/>
                                          </p:val>
                                        </p:tav>
                                      </p:tavLst>
                                    </p:anim>
                                    <p:anim calcmode="lin" valueType="num">
                                      <p:cBhvr>
                                        <p:cTn id="403" dur="5000" fill="hold"/>
                                        <p:tgtEl>
                                          <p:spTgt spid="180"/>
                                        </p:tgtEl>
                                        <p:attrNameLst>
                                          <p:attrName>ppt_y</p:attrName>
                                        </p:attrNameLst>
                                      </p:cBhvr>
                                      <p:tavLst>
                                        <p:tav tm="0">
                                          <p:val>
                                            <p:strVal val="#ppt_y"/>
                                          </p:val>
                                        </p:tav>
                                        <p:tav tm="100000">
                                          <p:val>
                                            <p:strVal val="#ppt_y"/>
                                          </p:val>
                                        </p:tav>
                                      </p:tavLst>
                                    </p:anim>
                                    <p:anim calcmode="lin" valueType="num">
                                      <p:cBhvr>
                                        <p:cTn id="404" dur="5000" fill="hold"/>
                                        <p:tgtEl>
                                          <p:spTgt spid="180"/>
                                        </p:tgtEl>
                                        <p:attrNameLst>
                                          <p:attrName>ppt_w</p:attrName>
                                        </p:attrNameLst>
                                      </p:cBhvr>
                                      <p:tavLst>
                                        <p:tav tm="0">
                                          <p:val>
                                            <p:fltVal val="0"/>
                                          </p:val>
                                        </p:tav>
                                        <p:tav tm="100000">
                                          <p:val>
                                            <p:strVal val="#ppt_w"/>
                                          </p:val>
                                        </p:tav>
                                      </p:tavLst>
                                    </p:anim>
                                    <p:anim calcmode="lin" valueType="num">
                                      <p:cBhvr>
                                        <p:cTn id="405"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0"/>
                                            </p:cond>
                                          </p:stCondLst>
                                          <p:endCondLst>
                                            <p:cond evt="onStopAudio" delay="0">
                                              <p:tgtEl>
                                                <p:sldTgt/>
                                              </p:tgtEl>
                                            </p:cond>
                                          </p:endCondLst>
                                        </p:cTn>
                                        <p:tgtEl>
                                          <p:sndTgt r:embed="rId4" name="CHIMES.WAV"/>
                                        </p:tgtEl>
                                      </p:cMediaNode>
                                    </p:audio>
                                  </p:subTnLst>
                                </p:cTn>
                              </p:par>
                              <p:par>
                                <p:cTn id="406" presetID="17" presetClass="entr" presetSubtype="2" fill="hold" grpId="0" nodeType="withEffect">
                                  <p:stCondLst>
                                    <p:cond delay="0"/>
                                  </p:stCondLst>
                                  <p:childTnLst>
                                    <p:set>
                                      <p:cBhvr>
                                        <p:cTn id="407" dur="1" fill="hold">
                                          <p:stCondLst>
                                            <p:cond delay="0"/>
                                          </p:stCondLst>
                                        </p:cTn>
                                        <p:tgtEl>
                                          <p:spTgt spid="185"/>
                                        </p:tgtEl>
                                        <p:attrNameLst>
                                          <p:attrName>style.visibility</p:attrName>
                                        </p:attrNameLst>
                                      </p:cBhvr>
                                      <p:to>
                                        <p:strVal val="visible"/>
                                      </p:to>
                                    </p:set>
                                    <p:anim calcmode="lin" valueType="num">
                                      <p:cBhvr>
                                        <p:cTn id="408" dur="5000" fill="hold"/>
                                        <p:tgtEl>
                                          <p:spTgt spid="185"/>
                                        </p:tgtEl>
                                        <p:attrNameLst>
                                          <p:attrName>ppt_x</p:attrName>
                                        </p:attrNameLst>
                                      </p:cBhvr>
                                      <p:tavLst>
                                        <p:tav tm="0">
                                          <p:val>
                                            <p:strVal val="#ppt_x+#ppt_w/2"/>
                                          </p:val>
                                        </p:tav>
                                        <p:tav tm="100000">
                                          <p:val>
                                            <p:strVal val="#ppt_x"/>
                                          </p:val>
                                        </p:tav>
                                      </p:tavLst>
                                    </p:anim>
                                    <p:anim calcmode="lin" valueType="num">
                                      <p:cBhvr>
                                        <p:cTn id="409" dur="5000" fill="hold"/>
                                        <p:tgtEl>
                                          <p:spTgt spid="185"/>
                                        </p:tgtEl>
                                        <p:attrNameLst>
                                          <p:attrName>ppt_y</p:attrName>
                                        </p:attrNameLst>
                                      </p:cBhvr>
                                      <p:tavLst>
                                        <p:tav tm="0">
                                          <p:val>
                                            <p:strVal val="#ppt_y"/>
                                          </p:val>
                                        </p:tav>
                                        <p:tav tm="100000">
                                          <p:val>
                                            <p:strVal val="#ppt_y"/>
                                          </p:val>
                                        </p:tav>
                                      </p:tavLst>
                                    </p:anim>
                                    <p:anim calcmode="lin" valueType="num">
                                      <p:cBhvr>
                                        <p:cTn id="410" dur="5000" fill="hold"/>
                                        <p:tgtEl>
                                          <p:spTgt spid="185"/>
                                        </p:tgtEl>
                                        <p:attrNameLst>
                                          <p:attrName>ppt_w</p:attrName>
                                        </p:attrNameLst>
                                      </p:cBhvr>
                                      <p:tavLst>
                                        <p:tav tm="0">
                                          <p:val>
                                            <p:fltVal val="0"/>
                                          </p:val>
                                        </p:tav>
                                        <p:tav tm="100000">
                                          <p:val>
                                            <p:strVal val="#ppt_w"/>
                                          </p:val>
                                        </p:tav>
                                      </p:tavLst>
                                    </p:anim>
                                    <p:anim calcmode="lin" valueType="num">
                                      <p:cBhvr>
                                        <p:cTn id="411"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6"/>
                                            </p:cond>
                                          </p:stCondLst>
                                          <p:endCondLst>
                                            <p:cond evt="onStopAudio" delay="0">
                                              <p:tgtEl>
                                                <p:sldTgt/>
                                              </p:tgtEl>
                                            </p:cond>
                                          </p:endCondLst>
                                        </p:cTn>
                                        <p:tgtEl>
                                          <p:sndTgt r:embed="rId4" name="CHIMES.WAV"/>
                                        </p:tgtEl>
                                      </p:cMediaNode>
                                    </p:audio>
                                  </p:subTnLst>
                                </p:cTn>
                              </p:par>
                              <p:par>
                                <p:cTn id="412" presetID="18" presetClass="entr" presetSubtype="12" fill="hold" grpId="0" nodeType="withEffect">
                                  <p:stCondLst>
                                    <p:cond delay="0"/>
                                  </p:stCondLst>
                                  <p:childTnLst>
                                    <p:set>
                                      <p:cBhvr>
                                        <p:cTn id="413" dur="1" fill="hold">
                                          <p:stCondLst>
                                            <p:cond delay="0"/>
                                          </p:stCondLst>
                                        </p:cTn>
                                        <p:tgtEl>
                                          <p:spTgt spid="179"/>
                                        </p:tgtEl>
                                        <p:attrNameLst>
                                          <p:attrName>style.visibility</p:attrName>
                                        </p:attrNameLst>
                                      </p:cBhvr>
                                      <p:to>
                                        <p:strVal val="visible"/>
                                      </p:to>
                                    </p:set>
                                    <p:animEffect transition="in" filter="strips(downLeft)">
                                      <p:cBhvr>
                                        <p:cTn id="414" dur="5000"/>
                                        <p:tgtEl>
                                          <p:spTgt spid="179"/>
                                        </p:tgtEl>
                                      </p:cBhvr>
                                    </p:animEffect>
                                  </p:childTnLst>
                                  <p:subTnLst>
                                    <p:audio>
                                      <p:cMediaNode>
                                        <p:cTn display="0" masterRel="sameClick">
                                          <p:stCondLst>
                                            <p:cond evt="begin" delay="0">
                                              <p:tn val="412"/>
                                            </p:cond>
                                          </p:stCondLst>
                                          <p:endCondLst>
                                            <p:cond evt="onStopAudio" delay="0">
                                              <p:tgtEl>
                                                <p:sldTgt/>
                                              </p:tgtEl>
                                            </p:cond>
                                          </p:endCondLst>
                                        </p:cTn>
                                        <p:tgtEl>
                                          <p:sndTgt r:embed="rId4" name="CHIMES.WAV"/>
                                        </p:tgtEl>
                                      </p:cMediaNode>
                                    </p:audio>
                                  </p:subTnLst>
                                </p:cTn>
                              </p:par>
                              <p:par>
                                <p:cTn id="415" presetID="18" presetClass="entr" presetSubtype="6" fill="hold" grpId="0" nodeType="withEffect">
                                  <p:stCondLst>
                                    <p:cond delay="0"/>
                                  </p:stCondLst>
                                  <p:childTnLst>
                                    <p:set>
                                      <p:cBhvr>
                                        <p:cTn id="416" dur="1" fill="hold">
                                          <p:stCondLst>
                                            <p:cond delay="0"/>
                                          </p:stCondLst>
                                        </p:cTn>
                                        <p:tgtEl>
                                          <p:spTgt spid="186"/>
                                        </p:tgtEl>
                                        <p:attrNameLst>
                                          <p:attrName>style.visibility</p:attrName>
                                        </p:attrNameLst>
                                      </p:cBhvr>
                                      <p:to>
                                        <p:strVal val="visible"/>
                                      </p:to>
                                    </p:set>
                                    <p:animEffect transition="in" filter="strips(downRight)">
                                      <p:cBhvr>
                                        <p:cTn id="417" dur="5000"/>
                                        <p:tgtEl>
                                          <p:spTgt spid="186"/>
                                        </p:tgtEl>
                                      </p:cBhvr>
                                    </p:animEffect>
                                  </p:childTnLst>
                                  <p:subTnLst>
                                    <p:audio>
                                      <p:cMediaNode>
                                        <p:cTn display="0" masterRel="sameClick">
                                          <p:stCondLst>
                                            <p:cond evt="begin" delay="0">
                                              <p:tn val="415"/>
                                            </p:cond>
                                          </p:stCondLst>
                                          <p:endCondLst>
                                            <p:cond evt="onStopAudio" delay="0">
                                              <p:tgtEl>
                                                <p:sldTgt/>
                                              </p:tgtEl>
                                            </p:cond>
                                          </p:endCondLst>
                                        </p:cTn>
                                        <p:tgtEl>
                                          <p:sndTgt r:embed="rId4" name="CHIMES.WAV"/>
                                        </p:tgtEl>
                                      </p:cMediaNode>
                                    </p:audio>
                                  </p:subTnLst>
                                </p:cTn>
                              </p:par>
                            </p:childTnLst>
                          </p:cTn>
                        </p:par>
                        <p:par>
                          <p:cTn id="418" fill="hold">
                            <p:stCondLst>
                              <p:cond delay="10500"/>
                            </p:stCondLst>
                            <p:childTnLst>
                              <p:par>
                                <p:cTn id="419" presetID="19" presetClass="entr" presetSubtype="10" fill="hold" grpId="0" nodeType="afterEffect">
                                  <p:stCondLst>
                                    <p:cond delay="0"/>
                                  </p:stCondLst>
                                  <p:childTnLst>
                                    <p:set>
                                      <p:cBhvr>
                                        <p:cTn id="420" dur="1" fill="hold">
                                          <p:stCondLst>
                                            <p:cond delay="0"/>
                                          </p:stCondLst>
                                        </p:cTn>
                                        <p:tgtEl>
                                          <p:spTgt spid="206"/>
                                        </p:tgtEl>
                                        <p:attrNameLst>
                                          <p:attrName>style.visibility</p:attrName>
                                        </p:attrNameLst>
                                      </p:cBhvr>
                                      <p:to>
                                        <p:strVal val="visible"/>
                                      </p:to>
                                    </p:set>
                                    <p:anim calcmode="lin" valueType="num">
                                      <p:cBhvr>
                                        <p:cTn id="421" dur="5000" fill="hold"/>
                                        <p:tgtEl>
                                          <p:spTgt spid="206"/>
                                        </p:tgtEl>
                                        <p:attrNameLst>
                                          <p:attrName>ppt_w</p:attrName>
                                        </p:attrNameLst>
                                      </p:cBhvr>
                                      <p:tavLst>
                                        <p:tav tm="0" fmla="#ppt_w*sin(2.5*pi*$)">
                                          <p:val>
                                            <p:fltVal val="0"/>
                                          </p:val>
                                        </p:tav>
                                        <p:tav tm="100000">
                                          <p:val>
                                            <p:fltVal val="1"/>
                                          </p:val>
                                        </p:tav>
                                      </p:tavLst>
                                    </p:anim>
                                    <p:anim calcmode="lin" valueType="num">
                                      <p:cBhvr>
                                        <p:cTn id="422"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grpId="0" nodeType="clickEffect">
                                  <p:stCondLst>
                                    <p:cond delay="0"/>
                                  </p:stCondLst>
                                  <p:childTnLst>
                                    <p:set>
                                      <p:cBhvr>
                                        <p:cTn id="42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8040216" y="937406"/>
            <a:ext cx="4032448" cy="2795667"/>
          </a:xfrm>
          <a:prstGeom prst="rect">
            <a:avLst/>
          </a:prstGeom>
          <a:solidFill>
            <a:srgbClr val="B9CDE5"/>
          </a:solidFill>
          <a:ln>
            <a:noFill/>
          </a:ln>
          <a:effectLst/>
        </p:spPr>
        <p:txBody>
          <a:bodyPr wrap="none" anchor="ctr"/>
          <a:lstStyle/>
          <a:p>
            <a:endParaRPr lang="zh-CN" altLang="en-US" dirty="0"/>
          </a:p>
        </p:txBody>
      </p:sp>
      <p:sp>
        <p:nvSpPr>
          <p:cNvPr id="62" name="Text Box 1032"/>
          <p:cNvSpPr txBox="1">
            <a:spLocks noChangeArrowheads="1"/>
          </p:cNvSpPr>
          <p:nvPr/>
        </p:nvSpPr>
        <p:spPr bwMode="auto">
          <a:xfrm>
            <a:off x="191344" y="824991"/>
            <a:ext cx="7696472"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800" i="0" dirty="0">
                <a:latin typeface="+mn-lt"/>
                <a:ea typeface="微软雅黑" panose="020B0503020204020204" pitchFamily="34" charset="-122"/>
              </a:rPr>
              <a:t>将</a:t>
            </a:r>
            <a:r>
              <a:rPr lang="zh-CN" altLang="en-US" sz="2800" b="0" dirty="0">
                <a:latin typeface="+mn-lt"/>
                <a:ea typeface="微软雅黑" panose="020B0503020204020204" pitchFamily="34" charset="-122"/>
                <a:sym typeface="Symbol" panose="05050102010706020507" pitchFamily="18" charset="2"/>
              </a:rPr>
              <a:t></a:t>
            </a:r>
            <a:r>
              <a:rPr lang="zh-CN" altLang="en-US" sz="2800" b="0" dirty="0">
                <a:latin typeface="+mn-lt"/>
                <a:ea typeface="微软雅黑" panose="020B0503020204020204" pitchFamily="34" charset="-122"/>
              </a:rPr>
              <a:t> </a:t>
            </a:r>
            <a:r>
              <a:rPr lang="zh-CN" altLang="en-US" sz="2800" b="0" i="0" dirty="0">
                <a:latin typeface="+mn-lt"/>
                <a:ea typeface="微软雅黑" panose="020B0503020204020204" pitchFamily="34" charset="-122"/>
              </a:rPr>
              <a:t>＝</a:t>
            </a:r>
            <a:r>
              <a:rPr lang="en-US" altLang="zh-CN" sz="2800" b="0" dirty="0" err="1">
                <a:latin typeface="+mn-lt"/>
                <a:ea typeface="微软雅黑" panose="020B0503020204020204" pitchFamily="34" charset="-122"/>
              </a:rPr>
              <a:t>Ky</a:t>
            </a:r>
            <a:r>
              <a:rPr lang="zh-CN" altLang="en-US" sz="2800" i="0" dirty="0">
                <a:latin typeface="+mn-lt"/>
                <a:ea typeface="微软雅黑" panose="020B0503020204020204" pitchFamily="34" charset="-122"/>
              </a:rPr>
              <a:t>代入以上两式，得</a:t>
            </a:r>
            <a:endParaRPr lang="en-US" altLang="zh-CN" sz="2800" i="0" dirty="0">
              <a:latin typeface="+mn-lt"/>
              <a:ea typeface="微软雅黑" panose="020B0503020204020204" pitchFamily="34" charset="-122"/>
            </a:endParaRPr>
          </a:p>
          <a:p>
            <a:pPr eaLnBrk="1" hangingPunct="1">
              <a:lnSpc>
                <a:spcPct val="130000"/>
              </a:lnSpc>
            </a:pPr>
            <a:r>
              <a:rPr lang="en-US" altLang="zh-CN" sz="2800" b="0" i="0" dirty="0">
                <a:latin typeface="+mn-lt"/>
                <a:ea typeface="微软雅黑" panose="020B0503020204020204" pitchFamily="34" charset="-122"/>
                <a:sym typeface="Symbol" panose="05050102010706020507" pitchFamily="18" charset="2"/>
              </a:rPr>
              <a:t>                 </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A</a:t>
            </a:r>
            <a:r>
              <a:rPr lang="en-US" altLang="zh-CN" sz="2800" b="0" dirty="0" err="1">
                <a:latin typeface="+mn-lt"/>
                <a:ea typeface="微软雅黑" panose="020B0503020204020204" pitchFamily="34" charset="-122"/>
              </a:rPr>
              <a:t>Ky</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en-US" altLang="zh-CN" sz="2800" b="0" i="0" dirty="0">
                <a:latin typeface="+mn-lt"/>
                <a:ea typeface="微软雅黑" panose="020B0503020204020204" pitchFamily="34" charset="-122"/>
              </a:rPr>
              <a:t>=0     </a:t>
            </a:r>
            <a:r>
              <a:rPr lang="zh-CN" altLang="en-US" sz="2800" i="0" dirty="0">
                <a:latin typeface="+mn-lt"/>
                <a:ea typeface="微软雅黑" panose="020B0503020204020204" pitchFamily="34" charset="-122"/>
              </a:rPr>
              <a:t>和          </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a:t>
            </a:r>
            <a:r>
              <a:rPr lang="en-US" altLang="zh-CN" sz="2800" b="0" dirty="0">
                <a:latin typeface="+mn-lt"/>
                <a:ea typeface="微软雅黑" panose="020B0503020204020204" pitchFamily="34" charset="-122"/>
              </a:rPr>
              <a:t>Ky</a:t>
            </a:r>
            <a:r>
              <a:rPr lang="en-US" altLang="zh-CN" sz="2800" b="0" i="0" baseline="30000" dirty="0">
                <a:latin typeface="+mn-lt"/>
                <a:ea typeface="微软雅黑" panose="020B0503020204020204" pitchFamily="34" charset="-122"/>
              </a:rPr>
              <a:t>2</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A=M</a:t>
            </a:r>
          </a:p>
        </p:txBody>
      </p:sp>
      <p:grpSp>
        <p:nvGrpSpPr>
          <p:cNvPr id="94" name="Group 4"/>
          <p:cNvGrpSpPr>
            <a:grpSpLocks/>
          </p:cNvGrpSpPr>
          <p:nvPr/>
        </p:nvGrpSpPr>
        <p:grpSpPr bwMode="auto">
          <a:xfrm>
            <a:off x="9333434" y="1544705"/>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398655"/>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335155"/>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576455"/>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5637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6780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614555"/>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7923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7415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792355"/>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563755"/>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122555"/>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211455"/>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906655"/>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881255"/>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982855"/>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4273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338455"/>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236855"/>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921550"/>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3010450"/>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3112050"/>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556550"/>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467650"/>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366050"/>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921550"/>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251750"/>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921550"/>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3035850"/>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747905"/>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870142"/>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mj-lt"/>
                <a:ea typeface="宋体" panose="02010600030101010101" pitchFamily="2" charset="-122"/>
              </a:rPr>
              <a:t>M</a:t>
            </a:r>
          </a:p>
        </p:txBody>
      </p:sp>
      <p:sp>
        <p:nvSpPr>
          <p:cNvPr id="196" name="Text Box 51"/>
          <p:cNvSpPr txBox="1">
            <a:spLocks noChangeArrowheads="1"/>
          </p:cNvSpPr>
          <p:nvPr/>
        </p:nvSpPr>
        <p:spPr bwMode="auto">
          <a:xfrm>
            <a:off x="10435159" y="3064425"/>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mj-lt"/>
                <a:ea typeface="宋体" panose="02010600030101010101" pitchFamily="2" charset="-122"/>
              </a:rPr>
              <a:t>M</a:t>
            </a:r>
          </a:p>
        </p:txBody>
      </p:sp>
      <p:sp>
        <p:nvSpPr>
          <p:cNvPr id="197" name="Text Box 52"/>
          <p:cNvSpPr txBox="1">
            <a:spLocks noChangeArrowheads="1"/>
          </p:cNvSpPr>
          <p:nvPr/>
        </p:nvSpPr>
        <p:spPr bwMode="auto">
          <a:xfrm>
            <a:off x="9990659" y="2387667"/>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mn-lt"/>
                <a:ea typeface="宋体" panose="02010600030101010101" pitchFamily="2" charset="-122"/>
              </a:rPr>
              <a:t>y</a:t>
            </a:r>
          </a:p>
        </p:txBody>
      </p:sp>
      <p:sp>
        <p:nvSpPr>
          <p:cNvPr id="198" name="Text Box 53"/>
          <p:cNvSpPr txBox="1">
            <a:spLocks noChangeArrowheads="1"/>
          </p:cNvSpPr>
          <p:nvPr/>
        </p:nvSpPr>
        <p:spPr bwMode="auto">
          <a:xfrm>
            <a:off x="10447859" y="1376430"/>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mn-lt"/>
                <a:ea typeface="宋体" panose="02010600030101010101" pitchFamily="2" charset="-122"/>
              </a:rPr>
              <a:t>z</a:t>
            </a:r>
          </a:p>
        </p:txBody>
      </p:sp>
      <p:sp>
        <p:nvSpPr>
          <p:cNvPr id="199" name="Text Box 54"/>
          <p:cNvSpPr txBox="1">
            <a:spLocks noChangeArrowheads="1"/>
          </p:cNvSpPr>
          <p:nvPr/>
        </p:nvSpPr>
        <p:spPr bwMode="auto">
          <a:xfrm>
            <a:off x="10552691" y="1098617"/>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2082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119380"/>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2017780"/>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2590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3733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319405"/>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247967"/>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
        <p:nvSpPr>
          <p:cNvPr id="207" name="Text Box 1032"/>
          <p:cNvSpPr txBox="1">
            <a:spLocks noChangeArrowheads="1"/>
          </p:cNvSpPr>
          <p:nvPr/>
        </p:nvSpPr>
        <p:spPr bwMode="auto">
          <a:xfrm>
            <a:off x="191343" y="1946412"/>
            <a:ext cx="8088785" cy="171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b="0" i="0" dirty="0">
                <a:ea typeface="微软雅黑" panose="020B0503020204020204" pitchFamily="34" charset="-122"/>
                <a:sym typeface="Symbol" panose="05050102010706020507" pitchFamily="18" charset="2"/>
              </a:rPr>
              <a:t> </a:t>
            </a:r>
            <a:r>
              <a:rPr lang="en-US" altLang="zh-CN" sz="2800" b="0" dirty="0" err="1">
                <a:ea typeface="微软雅黑" panose="020B0503020204020204" pitchFamily="34" charset="-122"/>
              </a:rPr>
              <a:t>y</a:t>
            </a:r>
            <a:r>
              <a:rPr lang="en-US" altLang="zh-CN" sz="2800" b="0" i="0" dirty="0" err="1">
                <a:ea typeface="微软雅黑" panose="020B0503020204020204" pitchFamily="34" charset="-122"/>
              </a:rPr>
              <a:t>d</a:t>
            </a:r>
            <a:r>
              <a:rPr lang="en-US" altLang="zh-CN" sz="2800" b="0" dirty="0" err="1">
                <a:ea typeface="微软雅黑" panose="020B0503020204020204" pitchFamily="34" charset="-122"/>
              </a:rPr>
              <a:t>A</a:t>
            </a:r>
            <a:r>
              <a:rPr kumimoji="1" lang="zh-CN" altLang="en-US" sz="2800" i="0" dirty="0">
                <a:latin typeface="+mn-lt"/>
                <a:ea typeface="微软雅黑" panose="020B0503020204020204" pitchFamily="34" charset="-122"/>
              </a:rPr>
              <a:t>为截面对</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轴的</a:t>
            </a:r>
            <a:r>
              <a:rPr kumimoji="1" lang="zh-CN" altLang="en-US" sz="2800" i="0" dirty="0">
                <a:solidFill>
                  <a:srgbClr val="FF00FF"/>
                </a:solidFill>
                <a:latin typeface="+mn-lt"/>
                <a:ea typeface="微软雅黑" panose="020B0503020204020204" pitchFamily="34" charset="-122"/>
              </a:rPr>
              <a:t>静矩</a:t>
            </a:r>
            <a:r>
              <a:rPr kumimoji="1" lang="zh-CN" altLang="en-US" sz="2800" i="0" dirty="0">
                <a:latin typeface="+mn-lt"/>
                <a:ea typeface="微软雅黑" panose="020B0503020204020204" pitchFamily="34" charset="-122"/>
              </a:rPr>
              <a:t>，记作</a:t>
            </a:r>
            <a:r>
              <a:rPr kumimoji="1" lang="en-US" altLang="zh-CN" sz="2800" b="0" dirty="0">
                <a:latin typeface="+mn-lt"/>
                <a:ea typeface="微软雅黑" panose="020B0503020204020204" pitchFamily="34" charset="-122"/>
              </a:rPr>
              <a:t>S*</a:t>
            </a:r>
            <a:r>
              <a:rPr kumimoji="1" lang="zh-CN" altLang="en-US" sz="2800" i="0" dirty="0">
                <a:latin typeface="+mn-lt"/>
                <a:ea typeface="微软雅黑" panose="020B0503020204020204" pitchFamily="34" charset="-122"/>
              </a:rPr>
              <a:t>，单位为</a:t>
            </a:r>
            <a:r>
              <a:rPr kumimoji="1" lang="en-US" altLang="zh-CN" sz="2800" b="0" i="0" dirty="0">
                <a:latin typeface="+mn-lt"/>
                <a:ea typeface="微软雅黑" panose="020B0503020204020204" pitchFamily="34" charset="-122"/>
              </a:rPr>
              <a:t>m</a:t>
            </a:r>
            <a:r>
              <a:rPr kumimoji="1" lang="en-US" altLang="zh-CN" sz="2800" b="0" i="0" baseline="30000" dirty="0">
                <a:latin typeface="+mn-lt"/>
                <a:ea typeface="微软雅黑" panose="020B0503020204020204" pitchFamily="34" charset="-122"/>
              </a:rPr>
              <a:t>3</a:t>
            </a:r>
            <a:r>
              <a:rPr kumimoji="1" lang="zh-CN" altLang="en-US" sz="2800" i="0" dirty="0">
                <a:latin typeface="+mn-lt"/>
                <a:ea typeface="微软雅黑" panose="020B0503020204020204" pitchFamily="34" charset="-122"/>
              </a:rPr>
              <a:t>；</a:t>
            </a:r>
          </a:p>
          <a:p>
            <a:pPr lvl="0">
              <a:lnSpc>
                <a:spcPct val="130000"/>
              </a:lnSpc>
            </a:pPr>
            <a:r>
              <a:rPr kumimoji="1" lang="zh-CN" altLang="en-US" sz="2800" b="0" i="0" dirty="0">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Ay</a:t>
            </a:r>
            <a:r>
              <a:rPr kumimoji="1" lang="en-US" altLang="zh-CN" sz="2800" b="0" i="0" baseline="30000" dirty="0">
                <a:latin typeface="+mn-lt"/>
                <a:ea typeface="微软雅黑" panose="020B0503020204020204" pitchFamily="34" charset="-122"/>
              </a:rPr>
              <a:t>2</a:t>
            </a:r>
            <a:r>
              <a:rPr kumimoji="1" lang="en-US" altLang="zh-CN" sz="2800" b="0" i="0" dirty="0">
                <a:latin typeface="+mn-lt"/>
                <a:ea typeface="微软雅黑" panose="020B0503020204020204" pitchFamily="34" charset="-122"/>
              </a:rPr>
              <a:t>d</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为截面对</a:t>
            </a:r>
            <a:r>
              <a:rPr kumimoji="1" lang="en-US" altLang="zh-CN" sz="2800" b="0" dirty="0">
                <a:solidFill>
                  <a:srgbClr val="FF00FF"/>
                </a:solidFill>
                <a:latin typeface="+mn-lt"/>
                <a:ea typeface="微软雅黑" panose="020B0503020204020204" pitchFamily="34" charset="-122"/>
              </a:rPr>
              <a:t>z</a:t>
            </a:r>
            <a:r>
              <a:rPr kumimoji="1" lang="zh-CN" altLang="en-US" sz="2800" i="0" dirty="0">
                <a:solidFill>
                  <a:srgbClr val="FF00FF"/>
                </a:solidFill>
                <a:latin typeface="+mn-lt"/>
                <a:ea typeface="微软雅黑" panose="020B0503020204020204" pitchFamily="34" charset="-122"/>
              </a:rPr>
              <a:t>轴的惯性矩</a:t>
            </a:r>
            <a:r>
              <a:rPr kumimoji="1" lang="zh-CN" altLang="en-US" sz="2800" i="0" dirty="0">
                <a:latin typeface="+mn-lt"/>
                <a:ea typeface="微软雅黑" panose="020B0503020204020204" pitchFamily="34" charset="-122"/>
              </a:rPr>
              <a:t>，记作</a:t>
            </a: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zh-CN" altLang="en-US" sz="2800" i="0" dirty="0">
                <a:ea typeface="微软雅黑" panose="020B0503020204020204" pitchFamily="34" charset="-122"/>
              </a:rPr>
              <a:t> ，</a:t>
            </a:r>
            <a:r>
              <a:rPr kumimoji="1" lang="zh-CN" altLang="en-US" sz="2800" i="0" dirty="0">
                <a:latin typeface="+mn-lt"/>
                <a:ea typeface="微软雅黑" panose="020B0503020204020204" pitchFamily="34" charset="-122"/>
              </a:rPr>
              <a:t>单位为</a:t>
            </a:r>
            <a:r>
              <a:rPr kumimoji="1" lang="en-US" altLang="zh-CN" sz="2800" b="0" i="0" dirty="0">
                <a:latin typeface="+mn-lt"/>
                <a:ea typeface="微软雅黑" panose="020B0503020204020204" pitchFamily="34" charset="-122"/>
              </a:rPr>
              <a:t>m</a:t>
            </a:r>
            <a:r>
              <a:rPr kumimoji="1" lang="en-US" altLang="zh-CN" sz="2800" b="0" i="0" baseline="30000" dirty="0">
                <a:latin typeface="+mn-lt"/>
                <a:ea typeface="微软雅黑" panose="020B0503020204020204" pitchFamily="34" charset="-122"/>
              </a:rPr>
              <a:t>4</a:t>
            </a:r>
            <a:r>
              <a:rPr kumimoji="1" lang="zh-CN" altLang="en-US" sz="2800" i="0" dirty="0">
                <a:latin typeface="+mn-lt"/>
                <a:ea typeface="微软雅黑" panose="020B0503020204020204" pitchFamily="34" charset="-122"/>
              </a:rPr>
              <a:t>。以上两式可写作</a:t>
            </a:r>
            <a:endParaRPr kumimoji="1" lang="zh-CN" altLang="en-US" sz="2800" dirty="0">
              <a:latin typeface="+mn-lt"/>
              <a:ea typeface="微软雅黑" panose="020B0503020204020204" pitchFamily="34" charset="-122"/>
            </a:endParaRPr>
          </a:p>
        </p:txBody>
      </p:sp>
      <p:sp>
        <p:nvSpPr>
          <p:cNvPr id="208" name="Text Box 1032"/>
          <p:cNvSpPr txBox="1">
            <a:spLocks noChangeArrowheads="1"/>
          </p:cNvSpPr>
          <p:nvPr/>
        </p:nvSpPr>
        <p:spPr bwMode="auto">
          <a:xfrm>
            <a:off x="3137490" y="3049278"/>
            <a:ext cx="4777804" cy="59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1" lang="en-US" altLang="zh-CN" sz="2800" b="0" dirty="0">
                <a:latin typeface="+mn-lt"/>
                <a:ea typeface="黑体" panose="02010609060101010101" pitchFamily="49" charset="-122"/>
              </a:rPr>
              <a:t>KS*</a:t>
            </a:r>
            <a:r>
              <a:rPr kumimoji="1" lang="zh-CN" altLang="en-US" sz="2800" b="0" i="0" dirty="0">
                <a:latin typeface="+mn-lt"/>
                <a:ea typeface="黑体" panose="02010609060101010101" pitchFamily="49" charset="-122"/>
              </a:rPr>
              <a:t>＝</a:t>
            </a:r>
            <a:r>
              <a:rPr kumimoji="1" lang="en-US" altLang="zh-CN" sz="2800" b="0" i="0" dirty="0">
                <a:latin typeface="+mn-lt"/>
                <a:ea typeface="黑体" panose="02010609060101010101" pitchFamily="49" charset="-122"/>
              </a:rPr>
              <a:t>0     </a:t>
            </a:r>
            <a:r>
              <a:rPr lang="zh-CN" altLang="en-US" sz="2800" i="0" dirty="0">
                <a:latin typeface="+mn-lt"/>
                <a:ea typeface="微软雅黑" panose="020B0503020204020204" pitchFamily="34" charset="-122"/>
              </a:rPr>
              <a:t>和         </a:t>
            </a:r>
            <a:r>
              <a:rPr kumimoji="1" lang="en-US" altLang="zh-CN" sz="2800" b="0" dirty="0" err="1">
                <a:latin typeface="+mn-lt"/>
                <a:ea typeface="黑体" panose="02010609060101010101" pitchFamily="49" charset="-122"/>
              </a:rPr>
              <a:t>KI</a:t>
            </a:r>
            <a:r>
              <a:rPr kumimoji="1" lang="en-US" altLang="zh-CN" sz="2800" b="0" baseline="-25000" dirty="0" err="1">
                <a:latin typeface="+mn-lt"/>
                <a:ea typeface="黑体" panose="02010609060101010101" pitchFamily="49" charset="-122"/>
              </a:rPr>
              <a:t>z</a:t>
            </a:r>
            <a:r>
              <a:rPr kumimoji="1" lang="zh-CN" altLang="en-US" sz="2800" b="0" i="0" dirty="0">
                <a:latin typeface="+mn-lt"/>
                <a:ea typeface="黑体" panose="02010609060101010101" pitchFamily="49" charset="-122"/>
              </a:rPr>
              <a:t>＝</a:t>
            </a:r>
            <a:r>
              <a:rPr kumimoji="1" lang="en-US" altLang="zh-CN" sz="2800" b="0" dirty="0">
                <a:latin typeface="+mn-lt"/>
                <a:ea typeface="黑体" panose="02010609060101010101" pitchFamily="49" charset="-122"/>
              </a:rPr>
              <a:t>M                                 </a:t>
            </a:r>
          </a:p>
        </p:txBody>
      </p:sp>
      <p:sp>
        <p:nvSpPr>
          <p:cNvPr id="209" name="Text Box 1032"/>
          <p:cNvSpPr txBox="1">
            <a:spLocks noChangeArrowheads="1"/>
          </p:cNvSpPr>
          <p:nvPr/>
        </p:nvSpPr>
        <p:spPr bwMode="auto">
          <a:xfrm>
            <a:off x="191344" y="3708898"/>
            <a:ext cx="11363002"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由于</a:t>
            </a:r>
            <a:r>
              <a:rPr kumimoji="1" lang="en-US" altLang="zh-CN" sz="2800" b="0" dirty="0">
                <a:latin typeface="+mn-lt"/>
                <a:ea typeface="微软雅黑" panose="020B0503020204020204" pitchFamily="34" charset="-122"/>
              </a:rPr>
              <a:t>K</a:t>
            </a:r>
            <a:r>
              <a:rPr kumimoji="1" lang="zh-CN" altLang="en-US" sz="2800" i="0" dirty="0">
                <a:latin typeface="+mn-lt"/>
                <a:ea typeface="微软雅黑" panose="020B0503020204020204" pitchFamily="34" charset="-122"/>
              </a:rPr>
              <a:t>不为零，故</a:t>
            </a:r>
            <a:r>
              <a:rPr kumimoji="1" lang="en-US" altLang="zh-CN" sz="2800" b="0" dirty="0">
                <a:latin typeface="+mn-lt"/>
                <a:ea typeface="微软雅黑" panose="020B0503020204020204" pitchFamily="34" charset="-122"/>
              </a:rPr>
              <a:t>S*</a:t>
            </a:r>
            <a:r>
              <a:rPr kumimoji="1" lang="zh-CN" altLang="en-US" sz="2800" i="0" dirty="0">
                <a:latin typeface="+mn-lt"/>
                <a:ea typeface="微软雅黑" panose="020B0503020204020204" pitchFamily="34" charset="-122"/>
              </a:rPr>
              <a:t>必为零，说明中性轴</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轴通过截面形心。</a:t>
            </a:r>
          </a:p>
          <a:p>
            <a:pPr lvl="0">
              <a:lnSpc>
                <a:spcPct val="120000"/>
              </a:lnSpc>
            </a:pPr>
            <a:r>
              <a:rPr kumimoji="1" lang="zh-CN" altLang="en-US" sz="2800" i="0" dirty="0">
                <a:latin typeface="+mn-lt"/>
                <a:ea typeface="微软雅黑" panose="020B0503020204020204" pitchFamily="34" charset="-122"/>
              </a:rPr>
              <a:t>         将</a:t>
            </a:r>
            <a:r>
              <a:rPr kumimoji="1" lang="en-US" altLang="zh-CN" sz="2800" b="0" dirty="0">
                <a:latin typeface="+mn-lt"/>
                <a:ea typeface="微软雅黑" panose="020B0503020204020204" pitchFamily="34" charset="-122"/>
              </a:rPr>
              <a:t>K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 y</a:t>
            </a:r>
            <a:r>
              <a:rPr kumimoji="1" lang="zh-CN" altLang="en-US" sz="2800" i="0" dirty="0">
                <a:latin typeface="+mn-lt"/>
                <a:ea typeface="微软雅黑" panose="020B0503020204020204" pitchFamily="34" charset="-122"/>
              </a:rPr>
              <a:t>代入式，得               </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=My/</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baseline="-25000" dirty="0">
                <a:latin typeface="+mn-lt"/>
                <a:ea typeface="微软雅黑" panose="020B0503020204020204" pitchFamily="34" charset="-122"/>
              </a:rPr>
              <a:t> </a:t>
            </a:r>
            <a:r>
              <a:rPr kumimoji="1" lang="en-US" altLang="zh-CN" sz="2800" i="0" dirty="0">
                <a:solidFill>
                  <a:srgbClr val="FF0000"/>
                </a:solidFill>
                <a:ea typeface="微软雅黑" panose="020B0503020204020204" pitchFamily="34" charset="-122"/>
              </a:rPr>
              <a:t>——</a:t>
            </a:r>
            <a:r>
              <a:rPr kumimoji="1" lang="zh-CN" altLang="en-US" sz="2800" i="0" dirty="0">
                <a:solidFill>
                  <a:srgbClr val="FF0000"/>
                </a:solidFill>
                <a:ea typeface="微软雅黑" panose="020B0503020204020204" pitchFamily="34" charset="-122"/>
              </a:rPr>
              <a:t>梁的正应力计算公式</a:t>
            </a:r>
            <a:endParaRPr kumimoji="1" lang="zh-CN" altLang="en-US" sz="2800" b="0" dirty="0">
              <a:solidFill>
                <a:srgbClr val="FF0000"/>
              </a:solidFill>
              <a:latin typeface="+mn-lt"/>
              <a:ea typeface="微软雅黑" panose="020B0503020204020204" pitchFamily="34" charset="-122"/>
            </a:endParaRPr>
          </a:p>
        </p:txBody>
      </p:sp>
      <p:sp>
        <p:nvSpPr>
          <p:cNvPr id="210" name="Text Box 1032"/>
          <p:cNvSpPr txBox="1">
            <a:spLocks noChangeArrowheads="1"/>
          </p:cNvSpPr>
          <p:nvPr/>
        </p:nvSpPr>
        <p:spPr bwMode="auto">
          <a:xfrm>
            <a:off x="191344" y="4791819"/>
            <a:ext cx="11161240"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计算梁横截面上的最大正应力，可定义抗弯截面系数     </a:t>
            </a:r>
            <a:r>
              <a:rPr kumimoji="1" lang="en-US" altLang="zh-CN" sz="2800" b="0" dirty="0" err="1">
                <a:latin typeface="+mn-lt"/>
                <a:ea typeface="微软雅黑" panose="020B0503020204020204" pitchFamily="34" charset="-122"/>
              </a:rPr>
              <a:t>W</a:t>
            </a:r>
            <a:r>
              <a:rPr kumimoji="1" lang="en-US" altLang="zh-CN" sz="2800" b="0" baseline="-25000" dirty="0" err="1">
                <a:latin typeface="+mn-lt"/>
                <a:ea typeface="微软雅黑" panose="020B0503020204020204" pitchFamily="34" charset="-122"/>
              </a:rPr>
              <a:t>z</a:t>
            </a:r>
            <a:r>
              <a:rPr kumimoji="1" lang="zh-CN" altLang="en-US"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y</a:t>
            </a:r>
            <a:r>
              <a:rPr kumimoji="1" lang="en-US" altLang="zh-CN" sz="2800" b="0" i="0" baseline="-25000" dirty="0" err="1">
                <a:latin typeface="+mn-lt"/>
                <a:ea typeface="微软雅黑" panose="020B0503020204020204" pitchFamily="34" charset="-122"/>
              </a:rPr>
              <a:t>max</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a:p>
            <a:pPr lvl="0">
              <a:lnSpc>
                <a:spcPct val="120000"/>
              </a:lnSpc>
            </a:pPr>
            <a:r>
              <a:rPr kumimoji="1" lang="zh-CN" altLang="en-US" sz="2800" i="0" dirty="0">
                <a:latin typeface="+mn-lt"/>
                <a:ea typeface="微软雅黑" panose="020B0503020204020204" pitchFamily="34" charset="-122"/>
              </a:rPr>
              <a:t>截面最大正应力公式              </a:t>
            </a:r>
            <a:r>
              <a:rPr kumimoji="1" lang="zh-CN" altLang="en-US" sz="2800" b="0" dirty="0">
                <a:latin typeface="+mn-lt"/>
                <a:ea typeface="微软雅黑" panose="020B0503020204020204" pitchFamily="34" charset="-122"/>
              </a:rPr>
              <a:t>           </a:t>
            </a:r>
            <a:r>
              <a:rPr lang="zh-CN" altLang="en-US" sz="2800" b="0" dirty="0">
                <a:sym typeface="Symbol" panose="05050102010706020507" pitchFamily="18" charset="2"/>
              </a:rPr>
              <a:t></a:t>
            </a:r>
            <a:r>
              <a:rPr lang="en-US" altLang="zh-CN" sz="2800" b="0" i="0" baseline="-25000" dirty="0"/>
              <a:t>max</a:t>
            </a:r>
            <a:r>
              <a:rPr lang="en-US" altLang="zh-CN" sz="2800" b="0" dirty="0"/>
              <a:t>=</a:t>
            </a:r>
            <a:r>
              <a:rPr lang="en-US" altLang="zh-CN" sz="2800" b="0" dirty="0" err="1"/>
              <a:t>M</a:t>
            </a:r>
            <a:r>
              <a:rPr lang="en-US" altLang="zh-CN" sz="2800" b="0" i="0" baseline="-25000" dirty="0" err="1"/>
              <a:t>max</a:t>
            </a:r>
            <a:r>
              <a:rPr lang="en-US" altLang="zh-CN" sz="2800" b="0" dirty="0"/>
              <a:t>/</a:t>
            </a:r>
            <a:r>
              <a:rPr lang="en-US" altLang="zh-CN" sz="2800" b="0" dirty="0" err="1"/>
              <a:t>W</a:t>
            </a:r>
            <a:r>
              <a:rPr lang="en-US" altLang="zh-CN" sz="2800" b="0" baseline="-25000" dirty="0" err="1"/>
              <a:t>z</a:t>
            </a:r>
            <a:endParaRPr kumimoji="1" lang="zh-CN" altLang="en-US" sz="2800" b="0" dirty="0">
              <a:solidFill>
                <a:srgbClr val="FF0000"/>
              </a:solidFill>
              <a:latin typeface="+mn-lt"/>
              <a:ea typeface="微软雅黑" panose="020B0503020204020204" pitchFamily="34" charset="-122"/>
            </a:endParaRPr>
          </a:p>
        </p:txBody>
      </p:sp>
      <p:sp>
        <p:nvSpPr>
          <p:cNvPr id="211" name="Text Box 1032"/>
          <p:cNvSpPr txBox="1">
            <a:spLocks noChangeArrowheads="1"/>
          </p:cNvSpPr>
          <p:nvPr/>
        </p:nvSpPr>
        <p:spPr bwMode="auto">
          <a:xfrm>
            <a:off x="191344" y="5746777"/>
            <a:ext cx="8856984"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solidFill>
                  <a:srgbClr val="FF00FF"/>
                </a:solidFill>
                <a:latin typeface="+mn-lt"/>
                <a:ea typeface="微软雅黑" panose="020B0503020204020204" pitchFamily="34" charset="-122"/>
              </a:rPr>
              <a:t>通常情况下梁正应力计算公式同样适用于横力弯曲梁。</a:t>
            </a:r>
          </a:p>
        </p:txBody>
      </p:sp>
    </p:spTree>
    <p:extLst>
      <p:ext uri="{BB962C8B-B14F-4D97-AF65-F5344CB8AC3E}">
        <p14:creationId xmlns:p14="http://schemas.microsoft.com/office/powerpoint/2010/main" val="10144904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0"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wedge">
                                      <p:cBhvr>
                                        <p:cTn id="11" dur="5000"/>
                                        <p:tgtEl>
                                          <p:spTgt spid="94"/>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par>
                          <p:cTn id="12" fill="hold">
                            <p:stCondLst>
                              <p:cond delay="5000"/>
                            </p:stCondLst>
                            <p:childTnLst>
                              <p:par>
                                <p:cTn id="13" presetID="18" presetClass="entr" presetSubtype="3" fill="hold" grpId="0" nodeType="afterEffect">
                                  <p:stCondLst>
                                    <p:cond delay="1000"/>
                                  </p:stCondLst>
                                  <p:childTnLst>
                                    <p:set>
                                      <p:cBhvr>
                                        <p:cTn id="14" dur="1" fill="hold">
                                          <p:stCondLst>
                                            <p:cond delay="0"/>
                                          </p:stCondLst>
                                        </p:cTn>
                                        <p:tgtEl>
                                          <p:spTgt spid="106"/>
                                        </p:tgtEl>
                                        <p:attrNameLst>
                                          <p:attrName>style.visibility</p:attrName>
                                        </p:attrNameLst>
                                      </p:cBhvr>
                                      <p:to>
                                        <p:strVal val="visible"/>
                                      </p:to>
                                    </p:set>
                                    <p:animEffect transition="in" filter="strips(upRight)">
                                      <p:cBhvr>
                                        <p:cTn id="15" dur="3000"/>
                                        <p:tgtEl>
                                          <p:spTgt spid="106"/>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par>
                          <p:cTn id="16" fill="hold">
                            <p:stCondLst>
                              <p:cond delay="9000"/>
                            </p:stCondLst>
                            <p:childTnLst>
                              <p:par>
                                <p:cTn id="17" presetID="17" presetClass="entr" presetSubtype="10" fill="hold" grpId="0" nodeType="afterEffect">
                                  <p:stCondLst>
                                    <p:cond delay="300"/>
                                  </p:stCondLst>
                                  <p:childTnLst>
                                    <p:set>
                                      <p:cBhvr>
                                        <p:cTn id="18" dur="1" fill="hold">
                                          <p:stCondLst>
                                            <p:cond delay="0"/>
                                          </p:stCondLst>
                                        </p:cTn>
                                        <p:tgtEl>
                                          <p:spTgt spid="198"/>
                                        </p:tgtEl>
                                        <p:attrNameLst>
                                          <p:attrName>style.visibility</p:attrName>
                                        </p:attrNameLst>
                                      </p:cBhvr>
                                      <p:to>
                                        <p:strVal val="visible"/>
                                      </p:to>
                                    </p:set>
                                    <p:anim calcmode="lin" valueType="num">
                                      <p:cBhvr>
                                        <p:cTn id="19" dur="3000" fill="hold"/>
                                        <p:tgtEl>
                                          <p:spTgt spid="198"/>
                                        </p:tgtEl>
                                        <p:attrNameLst>
                                          <p:attrName>ppt_w</p:attrName>
                                        </p:attrNameLst>
                                      </p:cBhvr>
                                      <p:tavLst>
                                        <p:tav tm="0">
                                          <p:val>
                                            <p:fltVal val="0"/>
                                          </p:val>
                                        </p:tav>
                                        <p:tav tm="100000">
                                          <p:val>
                                            <p:strVal val="#ppt_w"/>
                                          </p:val>
                                        </p:tav>
                                      </p:tavLst>
                                    </p:anim>
                                    <p:anim calcmode="lin" valueType="num">
                                      <p:cBhvr>
                                        <p:cTn id="20"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par>
                          <p:cTn id="21" fill="hold">
                            <p:stCondLst>
                              <p:cond delay="12300"/>
                            </p:stCondLst>
                            <p:childTnLst>
                              <p:par>
                                <p:cTn id="22" presetID="17" presetClass="entr" presetSubtype="1" fill="hold" grpId="0" nodeType="afterEffect">
                                  <p:stCondLst>
                                    <p:cond delay="300"/>
                                  </p:stCondLst>
                                  <p:childTnLst>
                                    <p:set>
                                      <p:cBhvr>
                                        <p:cTn id="23" dur="1" fill="hold">
                                          <p:stCondLst>
                                            <p:cond delay="0"/>
                                          </p:stCondLst>
                                        </p:cTn>
                                        <p:tgtEl>
                                          <p:spTgt spid="107"/>
                                        </p:tgtEl>
                                        <p:attrNameLst>
                                          <p:attrName>style.visibility</p:attrName>
                                        </p:attrNameLst>
                                      </p:cBhvr>
                                      <p:to>
                                        <p:strVal val="visible"/>
                                      </p:to>
                                    </p:set>
                                    <p:anim calcmode="lin" valueType="num">
                                      <p:cBhvr>
                                        <p:cTn id="24" dur="3000" fill="hold"/>
                                        <p:tgtEl>
                                          <p:spTgt spid="107"/>
                                        </p:tgtEl>
                                        <p:attrNameLst>
                                          <p:attrName>ppt_x</p:attrName>
                                        </p:attrNameLst>
                                      </p:cBhvr>
                                      <p:tavLst>
                                        <p:tav tm="0">
                                          <p:val>
                                            <p:strVal val="#ppt_x"/>
                                          </p:val>
                                        </p:tav>
                                        <p:tav tm="100000">
                                          <p:val>
                                            <p:strVal val="#ppt_x"/>
                                          </p:val>
                                        </p:tav>
                                      </p:tavLst>
                                    </p:anim>
                                    <p:anim calcmode="lin" valueType="num">
                                      <p:cBhvr>
                                        <p:cTn id="25" dur="3000" fill="hold"/>
                                        <p:tgtEl>
                                          <p:spTgt spid="107"/>
                                        </p:tgtEl>
                                        <p:attrNameLst>
                                          <p:attrName>ppt_y</p:attrName>
                                        </p:attrNameLst>
                                      </p:cBhvr>
                                      <p:tavLst>
                                        <p:tav tm="0">
                                          <p:val>
                                            <p:strVal val="#ppt_y-#ppt_h/2"/>
                                          </p:val>
                                        </p:tav>
                                        <p:tav tm="100000">
                                          <p:val>
                                            <p:strVal val="#ppt_y"/>
                                          </p:val>
                                        </p:tav>
                                      </p:tavLst>
                                    </p:anim>
                                    <p:anim calcmode="lin" valueType="num">
                                      <p:cBhvr>
                                        <p:cTn id="26" dur="3000" fill="hold"/>
                                        <p:tgtEl>
                                          <p:spTgt spid="107"/>
                                        </p:tgtEl>
                                        <p:attrNameLst>
                                          <p:attrName>ppt_w</p:attrName>
                                        </p:attrNameLst>
                                      </p:cBhvr>
                                      <p:tavLst>
                                        <p:tav tm="0">
                                          <p:val>
                                            <p:strVal val="#ppt_w"/>
                                          </p:val>
                                        </p:tav>
                                        <p:tav tm="100000">
                                          <p:val>
                                            <p:strVal val="#ppt_w"/>
                                          </p:val>
                                        </p:tav>
                                      </p:tavLst>
                                    </p:anim>
                                    <p:anim calcmode="lin" valueType="num">
                                      <p:cBhvr>
                                        <p:cTn id="27"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par>
                          <p:cTn id="28" fill="hold">
                            <p:stCondLst>
                              <p:cond delay="15600"/>
                            </p:stCondLst>
                            <p:childTnLst>
                              <p:par>
                                <p:cTn id="29" presetID="17" presetClass="entr" presetSubtype="10" fill="hold" grpId="0" nodeType="afterEffect">
                                  <p:stCondLst>
                                    <p:cond delay="300"/>
                                  </p:stCondLst>
                                  <p:childTnLst>
                                    <p:set>
                                      <p:cBhvr>
                                        <p:cTn id="30" dur="1" fill="hold">
                                          <p:stCondLst>
                                            <p:cond delay="0"/>
                                          </p:stCondLst>
                                        </p:cTn>
                                        <p:tgtEl>
                                          <p:spTgt spid="197"/>
                                        </p:tgtEl>
                                        <p:attrNameLst>
                                          <p:attrName>style.visibility</p:attrName>
                                        </p:attrNameLst>
                                      </p:cBhvr>
                                      <p:to>
                                        <p:strVal val="visible"/>
                                      </p:to>
                                    </p:set>
                                    <p:anim calcmode="lin" valueType="num">
                                      <p:cBhvr>
                                        <p:cTn id="31" dur="3000" fill="hold"/>
                                        <p:tgtEl>
                                          <p:spTgt spid="197"/>
                                        </p:tgtEl>
                                        <p:attrNameLst>
                                          <p:attrName>ppt_w</p:attrName>
                                        </p:attrNameLst>
                                      </p:cBhvr>
                                      <p:tavLst>
                                        <p:tav tm="0">
                                          <p:val>
                                            <p:fltVal val="0"/>
                                          </p:val>
                                        </p:tav>
                                        <p:tav tm="100000">
                                          <p:val>
                                            <p:strVal val="#ppt_w"/>
                                          </p:val>
                                        </p:tav>
                                      </p:tavLst>
                                    </p:anim>
                                    <p:anim calcmode="lin" valueType="num">
                                      <p:cBhvr>
                                        <p:cTn id="32"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4"/>
                                        </p:tgtEl>
                                        <p:attrNameLst>
                                          <p:attrName>style.visibility</p:attrName>
                                        </p:attrNameLst>
                                      </p:cBhvr>
                                      <p:to>
                                        <p:strVal val="visible"/>
                                      </p:to>
                                    </p:set>
                                    <p:animEffect transition="in" filter="wipe(down)">
                                      <p:cBhvr>
                                        <p:cTn id="37" dur="5000"/>
                                        <p:tgtEl>
                                          <p:spTgt spid="194"/>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8" presetID="19" presetClass="entr" presetSubtype="10" fill="hold" grpId="0" nodeType="withEffect">
                                  <p:stCondLst>
                                    <p:cond delay="0"/>
                                  </p:stCondLst>
                                  <p:childTnLst>
                                    <p:set>
                                      <p:cBhvr>
                                        <p:cTn id="39" dur="1" fill="hold">
                                          <p:stCondLst>
                                            <p:cond delay="0"/>
                                          </p:stCondLst>
                                        </p:cTn>
                                        <p:tgtEl>
                                          <p:spTgt spid="195"/>
                                        </p:tgtEl>
                                        <p:attrNameLst>
                                          <p:attrName>style.visibility</p:attrName>
                                        </p:attrNameLst>
                                      </p:cBhvr>
                                      <p:to>
                                        <p:strVal val="visible"/>
                                      </p:to>
                                    </p:set>
                                    <p:anim calcmode="lin" valueType="num">
                                      <p:cBhvr>
                                        <p:cTn id="40" dur="3000" fill="hold"/>
                                        <p:tgtEl>
                                          <p:spTgt spid="195"/>
                                        </p:tgtEl>
                                        <p:attrNameLst>
                                          <p:attrName>ppt_w</p:attrName>
                                        </p:attrNameLst>
                                      </p:cBhvr>
                                      <p:tavLst>
                                        <p:tav tm="0" fmla="#ppt_w*sin(2.5*pi*$)">
                                          <p:val>
                                            <p:fltVal val="0"/>
                                          </p:val>
                                        </p:tav>
                                        <p:tav tm="100000">
                                          <p:val>
                                            <p:fltVal val="1"/>
                                          </p:val>
                                        </p:tav>
                                      </p:tavLst>
                                    </p:anim>
                                    <p:anim calcmode="lin" valueType="num">
                                      <p:cBhvr>
                                        <p:cTn id="41"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par>
                                <p:cTn id="42" presetID="17" presetClass="entr" presetSubtype="8" fill="hold" grpId="0" nodeType="withEffect">
                                  <p:stCondLst>
                                    <p:cond delay="0"/>
                                  </p:stCondLst>
                                  <p:childTnLst>
                                    <p:set>
                                      <p:cBhvr>
                                        <p:cTn id="43" dur="1" fill="hold">
                                          <p:stCondLst>
                                            <p:cond delay="0"/>
                                          </p:stCondLst>
                                        </p:cTn>
                                        <p:tgtEl>
                                          <p:spTgt spid="176"/>
                                        </p:tgtEl>
                                        <p:attrNameLst>
                                          <p:attrName>style.visibility</p:attrName>
                                        </p:attrNameLst>
                                      </p:cBhvr>
                                      <p:to>
                                        <p:strVal val="visible"/>
                                      </p:to>
                                    </p:set>
                                    <p:anim calcmode="lin" valueType="num">
                                      <p:cBhvr>
                                        <p:cTn id="44" dur="5000" fill="hold"/>
                                        <p:tgtEl>
                                          <p:spTgt spid="176"/>
                                        </p:tgtEl>
                                        <p:attrNameLst>
                                          <p:attrName>ppt_x</p:attrName>
                                        </p:attrNameLst>
                                      </p:cBhvr>
                                      <p:tavLst>
                                        <p:tav tm="0">
                                          <p:val>
                                            <p:strVal val="#ppt_x-#ppt_w/2"/>
                                          </p:val>
                                        </p:tav>
                                        <p:tav tm="100000">
                                          <p:val>
                                            <p:strVal val="#ppt_x"/>
                                          </p:val>
                                        </p:tav>
                                      </p:tavLst>
                                    </p:anim>
                                    <p:anim calcmode="lin" valueType="num">
                                      <p:cBhvr>
                                        <p:cTn id="45" dur="5000" fill="hold"/>
                                        <p:tgtEl>
                                          <p:spTgt spid="176"/>
                                        </p:tgtEl>
                                        <p:attrNameLst>
                                          <p:attrName>ppt_y</p:attrName>
                                        </p:attrNameLst>
                                      </p:cBhvr>
                                      <p:tavLst>
                                        <p:tav tm="0">
                                          <p:val>
                                            <p:strVal val="#ppt_y"/>
                                          </p:val>
                                        </p:tav>
                                        <p:tav tm="100000">
                                          <p:val>
                                            <p:strVal val="#ppt_y"/>
                                          </p:val>
                                        </p:tav>
                                      </p:tavLst>
                                    </p:anim>
                                    <p:anim calcmode="lin" valueType="num">
                                      <p:cBhvr>
                                        <p:cTn id="46" dur="5000" fill="hold"/>
                                        <p:tgtEl>
                                          <p:spTgt spid="176"/>
                                        </p:tgtEl>
                                        <p:attrNameLst>
                                          <p:attrName>ppt_w</p:attrName>
                                        </p:attrNameLst>
                                      </p:cBhvr>
                                      <p:tavLst>
                                        <p:tav tm="0">
                                          <p:val>
                                            <p:fltVal val="0"/>
                                          </p:val>
                                        </p:tav>
                                        <p:tav tm="100000">
                                          <p:val>
                                            <p:strVal val="#ppt_w"/>
                                          </p:val>
                                        </p:tav>
                                      </p:tavLst>
                                    </p:anim>
                                    <p:anim calcmode="lin" valueType="num">
                                      <p:cBhvr>
                                        <p:cTn id="47"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par>
                                <p:cTn id="48" presetID="17" presetClass="entr" presetSubtype="8" fill="hold" grpId="0" nodeType="withEffect">
                                  <p:stCondLst>
                                    <p:cond delay="0"/>
                                  </p:stCondLst>
                                  <p:childTnLst>
                                    <p:set>
                                      <p:cBhvr>
                                        <p:cTn id="49" dur="1" fill="hold">
                                          <p:stCondLst>
                                            <p:cond delay="0"/>
                                          </p:stCondLst>
                                        </p:cTn>
                                        <p:tgtEl>
                                          <p:spTgt spid="177"/>
                                        </p:tgtEl>
                                        <p:attrNameLst>
                                          <p:attrName>style.visibility</p:attrName>
                                        </p:attrNameLst>
                                      </p:cBhvr>
                                      <p:to>
                                        <p:strVal val="visible"/>
                                      </p:to>
                                    </p:set>
                                    <p:anim calcmode="lin" valueType="num">
                                      <p:cBhvr>
                                        <p:cTn id="50" dur="5000" fill="hold"/>
                                        <p:tgtEl>
                                          <p:spTgt spid="177"/>
                                        </p:tgtEl>
                                        <p:attrNameLst>
                                          <p:attrName>ppt_x</p:attrName>
                                        </p:attrNameLst>
                                      </p:cBhvr>
                                      <p:tavLst>
                                        <p:tav tm="0">
                                          <p:val>
                                            <p:strVal val="#ppt_x-#ppt_w/2"/>
                                          </p:val>
                                        </p:tav>
                                        <p:tav tm="100000">
                                          <p:val>
                                            <p:strVal val="#ppt_x"/>
                                          </p:val>
                                        </p:tav>
                                      </p:tavLst>
                                    </p:anim>
                                    <p:anim calcmode="lin" valueType="num">
                                      <p:cBhvr>
                                        <p:cTn id="51" dur="5000" fill="hold"/>
                                        <p:tgtEl>
                                          <p:spTgt spid="177"/>
                                        </p:tgtEl>
                                        <p:attrNameLst>
                                          <p:attrName>ppt_y</p:attrName>
                                        </p:attrNameLst>
                                      </p:cBhvr>
                                      <p:tavLst>
                                        <p:tav tm="0">
                                          <p:val>
                                            <p:strVal val="#ppt_y"/>
                                          </p:val>
                                        </p:tav>
                                        <p:tav tm="100000">
                                          <p:val>
                                            <p:strVal val="#ppt_y"/>
                                          </p:val>
                                        </p:tav>
                                      </p:tavLst>
                                    </p:anim>
                                    <p:anim calcmode="lin" valueType="num">
                                      <p:cBhvr>
                                        <p:cTn id="52" dur="5000" fill="hold"/>
                                        <p:tgtEl>
                                          <p:spTgt spid="177"/>
                                        </p:tgtEl>
                                        <p:attrNameLst>
                                          <p:attrName>ppt_w</p:attrName>
                                        </p:attrNameLst>
                                      </p:cBhvr>
                                      <p:tavLst>
                                        <p:tav tm="0">
                                          <p:val>
                                            <p:fltVal val="0"/>
                                          </p:val>
                                        </p:tav>
                                        <p:tav tm="100000">
                                          <p:val>
                                            <p:strVal val="#ppt_w"/>
                                          </p:val>
                                        </p:tav>
                                      </p:tavLst>
                                    </p:anim>
                                    <p:anim calcmode="lin" valueType="num">
                                      <p:cBhvr>
                                        <p:cTn id="53"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par>
                                <p:cTn id="54" presetID="17" presetClass="entr" presetSubtype="8" fill="hold" grpId="0" nodeType="withEffect">
                                  <p:stCondLst>
                                    <p:cond delay="0"/>
                                  </p:stCondLst>
                                  <p:childTnLst>
                                    <p:set>
                                      <p:cBhvr>
                                        <p:cTn id="55" dur="1" fill="hold">
                                          <p:stCondLst>
                                            <p:cond delay="0"/>
                                          </p:stCondLst>
                                        </p:cTn>
                                        <p:tgtEl>
                                          <p:spTgt spid="178"/>
                                        </p:tgtEl>
                                        <p:attrNameLst>
                                          <p:attrName>style.visibility</p:attrName>
                                        </p:attrNameLst>
                                      </p:cBhvr>
                                      <p:to>
                                        <p:strVal val="visible"/>
                                      </p:to>
                                    </p:set>
                                    <p:anim calcmode="lin" valueType="num">
                                      <p:cBhvr>
                                        <p:cTn id="56" dur="5000" fill="hold"/>
                                        <p:tgtEl>
                                          <p:spTgt spid="178"/>
                                        </p:tgtEl>
                                        <p:attrNameLst>
                                          <p:attrName>ppt_x</p:attrName>
                                        </p:attrNameLst>
                                      </p:cBhvr>
                                      <p:tavLst>
                                        <p:tav tm="0">
                                          <p:val>
                                            <p:strVal val="#ppt_x-#ppt_w/2"/>
                                          </p:val>
                                        </p:tav>
                                        <p:tav tm="100000">
                                          <p:val>
                                            <p:strVal val="#ppt_x"/>
                                          </p:val>
                                        </p:tav>
                                      </p:tavLst>
                                    </p:anim>
                                    <p:anim calcmode="lin" valueType="num">
                                      <p:cBhvr>
                                        <p:cTn id="57" dur="5000" fill="hold"/>
                                        <p:tgtEl>
                                          <p:spTgt spid="178"/>
                                        </p:tgtEl>
                                        <p:attrNameLst>
                                          <p:attrName>ppt_y</p:attrName>
                                        </p:attrNameLst>
                                      </p:cBhvr>
                                      <p:tavLst>
                                        <p:tav tm="0">
                                          <p:val>
                                            <p:strVal val="#ppt_y"/>
                                          </p:val>
                                        </p:tav>
                                        <p:tav tm="100000">
                                          <p:val>
                                            <p:strVal val="#ppt_y"/>
                                          </p:val>
                                        </p:tav>
                                      </p:tavLst>
                                    </p:anim>
                                    <p:anim calcmode="lin" valueType="num">
                                      <p:cBhvr>
                                        <p:cTn id="58" dur="5000" fill="hold"/>
                                        <p:tgtEl>
                                          <p:spTgt spid="178"/>
                                        </p:tgtEl>
                                        <p:attrNameLst>
                                          <p:attrName>ppt_w</p:attrName>
                                        </p:attrNameLst>
                                      </p:cBhvr>
                                      <p:tavLst>
                                        <p:tav tm="0">
                                          <p:val>
                                            <p:fltVal val="0"/>
                                          </p:val>
                                        </p:tav>
                                        <p:tav tm="100000">
                                          <p:val>
                                            <p:strVal val="#ppt_w"/>
                                          </p:val>
                                        </p:tav>
                                      </p:tavLst>
                                    </p:anim>
                                    <p:anim calcmode="lin" valueType="num">
                                      <p:cBhvr>
                                        <p:cTn id="59"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par>
                                <p:cTn id="60" presetID="17" presetClass="entr" presetSubtype="2" fill="hold" grpId="0" nodeType="withEffect">
                                  <p:stCondLst>
                                    <p:cond delay="0"/>
                                  </p:stCondLst>
                                  <p:childTnLst>
                                    <p:set>
                                      <p:cBhvr>
                                        <p:cTn id="61" dur="1" fill="hold">
                                          <p:stCondLst>
                                            <p:cond delay="0"/>
                                          </p:stCondLst>
                                        </p:cTn>
                                        <p:tgtEl>
                                          <p:spTgt spid="175"/>
                                        </p:tgtEl>
                                        <p:attrNameLst>
                                          <p:attrName>style.visibility</p:attrName>
                                        </p:attrNameLst>
                                      </p:cBhvr>
                                      <p:to>
                                        <p:strVal val="visible"/>
                                      </p:to>
                                    </p:set>
                                    <p:anim calcmode="lin" valueType="num">
                                      <p:cBhvr>
                                        <p:cTn id="62" dur="5000" fill="hold"/>
                                        <p:tgtEl>
                                          <p:spTgt spid="175"/>
                                        </p:tgtEl>
                                        <p:attrNameLst>
                                          <p:attrName>ppt_x</p:attrName>
                                        </p:attrNameLst>
                                      </p:cBhvr>
                                      <p:tavLst>
                                        <p:tav tm="0">
                                          <p:val>
                                            <p:strVal val="#ppt_x+#ppt_w/2"/>
                                          </p:val>
                                        </p:tav>
                                        <p:tav tm="100000">
                                          <p:val>
                                            <p:strVal val="#ppt_x"/>
                                          </p:val>
                                        </p:tav>
                                      </p:tavLst>
                                    </p:anim>
                                    <p:anim calcmode="lin" valueType="num">
                                      <p:cBhvr>
                                        <p:cTn id="63" dur="5000" fill="hold"/>
                                        <p:tgtEl>
                                          <p:spTgt spid="175"/>
                                        </p:tgtEl>
                                        <p:attrNameLst>
                                          <p:attrName>ppt_y</p:attrName>
                                        </p:attrNameLst>
                                      </p:cBhvr>
                                      <p:tavLst>
                                        <p:tav tm="0">
                                          <p:val>
                                            <p:strVal val="#ppt_y"/>
                                          </p:val>
                                        </p:tav>
                                        <p:tav tm="100000">
                                          <p:val>
                                            <p:strVal val="#ppt_y"/>
                                          </p:val>
                                        </p:tav>
                                      </p:tavLst>
                                    </p:anim>
                                    <p:anim calcmode="lin" valueType="num">
                                      <p:cBhvr>
                                        <p:cTn id="64" dur="5000" fill="hold"/>
                                        <p:tgtEl>
                                          <p:spTgt spid="175"/>
                                        </p:tgtEl>
                                        <p:attrNameLst>
                                          <p:attrName>ppt_w</p:attrName>
                                        </p:attrNameLst>
                                      </p:cBhvr>
                                      <p:tavLst>
                                        <p:tav tm="0">
                                          <p:val>
                                            <p:fltVal val="0"/>
                                          </p:val>
                                        </p:tav>
                                        <p:tav tm="100000">
                                          <p:val>
                                            <p:strVal val="#ppt_w"/>
                                          </p:val>
                                        </p:tav>
                                      </p:tavLst>
                                    </p:anim>
                                    <p:anim calcmode="lin" valueType="num">
                                      <p:cBhvr>
                                        <p:cTn id="65"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4" name="CHIMES.WAV"/>
                                        </p:tgtEl>
                                      </p:cMediaNode>
                                    </p:audio>
                                  </p:subTnLst>
                                </p:cTn>
                              </p:par>
                              <p:par>
                                <p:cTn id="66" presetID="17" presetClass="entr" presetSubtype="2" fill="hold" grpId="0" nodeType="withEffect">
                                  <p:stCondLst>
                                    <p:cond delay="0"/>
                                  </p:stCondLst>
                                  <p:childTnLst>
                                    <p:set>
                                      <p:cBhvr>
                                        <p:cTn id="67" dur="1" fill="hold">
                                          <p:stCondLst>
                                            <p:cond delay="0"/>
                                          </p:stCondLst>
                                        </p:cTn>
                                        <p:tgtEl>
                                          <p:spTgt spid="174"/>
                                        </p:tgtEl>
                                        <p:attrNameLst>
                                          <p:attrName>style.visibility</p:attrName>
                                        </p:attrNameLst>
                                      </p:cBhvr>
                                      <p:to>
                                        <p:strVal val="visible"/>
                                      </p:to>
                                    </p:set>
                                    <p:anim calcmode="lin" valueType="num">
                                      <p:cBhvr>
                                        <p:cTn id="68" dur="5000" fill="hold"/>
                                        <p:tgtEl>
                                          <p:spTgt spid="174"/>
                                        </p:tgtEl>
                                        <p:attrNameLst>
                                          <p:attrName>ppt_x</p:attrName>
                                        </p:attrNameLst>
                                      </p:cBhvr>
                                      <p:tavLst>
                                        <p:tav tm="0">
                                          <p:val>
                                            <p:strVal val="#ppt_x+#ppt_w/2"/>
                                          </p:val>
                                        </p:tav>
                                        <p:tav tm="100000">
                                          <p:val>
                                            <p:strVal val="#ppt_x"/>
                                          </p:val>
                                        </p:tav>
                                      </p:tavLst>
                                    </p:anim>
                                    <p:anim calcmode="lin" valueType="num">
                                      <p:cBhvr>
                                        <p:cTn id="69" dur="5000" fill="hold"/>
                                        <p:tgtEl>
                                          <p:spTgt spid="174"/>
                                        </p:tgtEl>
                                        <p:attrNameLst>
                                          <p:attrName>ppt_y</p:attrName>
                                        </p:attrNameLst>
                                      </p:cBhvr>
                                      <p:tavLst>
                                        <p:tav tm="0">
                                          <p:val>
                                            <p:strVal val="#ppt_y"/>
                                          </p:val>
                                        </p:tav>
                                        <p:tav tm="100000">
                                          <p:val>
                                            <p:strVal val="#ppt_y"/>
                                          </p:val>
                                        </p:tav>
                                      </p:tavLst>
                                    </p:anim>
                                    <p:anim calcmode="lin" valueType="num">
                                      <p:cBhvr>
                                        <p:cTn id="70" dur="5000" fill="hold"/>
                                        <p:tgtEl>
                                          <p:spTgt spid="174"/>
                                        </p:tgtEl>
                                        <p:attrNameLst>
                                          <p:attrName>ppt_w</p:attrName>
                                        </p:attrNameLst>
                                      </p:cBhvr>
                                      <p:tavLst>
                                        <p:tav tm="0">
                                          <p:val>
                                            <p:fltVal val="0"/>
                                          </p:val>
                                        </p:tav>
                                        <p:tav tm="100000">
                                          <p:val>
                                            <p:strVal val="#ppt_w"/>
                                          </p:val>
                                        </p:tav>
                                      </p:tavLst>
                                    </p:anim>
                                    <p:anim calcmode="lin" valueType="num">
                                      <p:cBhvr>
                                        <p:cTn id="71"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2" presetID="17" presetClass="entr" presetSubtype="2" fill="hold" grpId="0" nodeType="withEffect">
                                  <p:stCondLst>
                                    <p:cond delay="0"/>
                                  </p:stCondLst>
                                  <p:childTnLst>
                                    <p:set>
                                      <p:cBhvr>
                                        <p:cTn id="73" dur="1" fill="hold">
                                          <p:stCondLst>
                                            <p:cond delay="0"/>
                                          </p:stCondLst>
                                        </p:cTn>
                                        <p:tgtEl>
                                          <p:spTgt spid="167"/>
                                        </p:tgtEl>
                                        <p:attrNameLst>
                                          <p:attrName>style.visibility</p:attrName>
                                        </p:attrNameLst>
                                      </p:cBhvr>
                                      <p:to>
                                        <p:strVal val="visible"/>
                                      </p:to>
                                    </p:set>
                                    <p:anim calcmode="lin" valueType="num">
                                      <p:cBhvr>
                                        <p:cTn id="74" dur="5000" fill="hold"/>
                                        <p:tgtEl>
                                          <p:spTgt spid="167"/>
                                        </p:tgtEl>
                                        <p:attrNameLst>
                                          <p:attrName>ppt_x</p:attrName>
                                        </p:attrNameLst>
                                      </p:cBhvr>
                                      <p:tavLst>
                                        <p:tav tm="0">
                                          <p:val>
                                            <p:strVal val="#ppt_x+#ppt_w/2"/>
                                          </p:val>
                                        </p:tav>
                                        <p:tav tm="100000">
                                          <p:val>
                                            <p:strVal val="#ppt_x"/>
                                          </p:val>
                                        </p:tav>
                                      </p:tavLst>
                                    </p:anim>
                                    <p:anim calcmode="lin" valueType="num">
                                      <p:cBhvr>
                                        <p:cTn id="75" dur="5000" fill="hold"/>
                                        <p:tgtEl>
                                          <p:spTgt spid="167"/>
                                        </p:tgtEl>
                                        <p:attrNameLst>
                                          <p:attrName>ppt_y</p:attrName>
                                        </p:attrNameLst>
                                      </p:cBhvr>
                                      <p:tavLst>
                                        <p:tav tm="0">
                                          <p:val>
                                            <p:strVal val="#ppt_y"/>
                                          </p:val>
                                        </p:tav>
                                        <p:tav tm="100000">
                                          <p:val>
                                            <p:strVal val="#ppt_y"/>
                                          </p:val>
                                        </p:tav>
                                      </p:tavLst>
                                    </p:anim>
                                    <p:anim calcmode="lin" valueType="num">
                                      <p:cBhvr>
                                        <p:cTn id="76" dur="5000" fill="hold"/>
                                        <p:tgtEl>
                                          <p:spTgt spid="167"/>
                                        </p:tgtEl>
                                        <p:attrNameLst>
                                          <p:attrName>ppt_w</p:attrName>
                                        </p:attrNameLst>
                                      </p:cBhvr>
                                      <p:tavLst>
                                        <p:tav tm="0">
                                          <p:val>
                                            <p:fltVal val="0"/>
                                          </p:val>
                                        </p:tav>
                                        <p:tav tm="100000">
                                          <p:val>
                                            <p:strVal val="#ppt_w"/>
                                          </p:val>
                                        </p:tav>
                                      </p:tavLst>
                                    </p:anim>
                                    <p:anim calcmode="lin" valueType="num">
                                      <p:cBhvr>
                                        <p:cTn id="77"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par>
                                <p:cTn id="78" presetID="17" presetClass="entr" presetSubtype="2" fill="hold" grpId="0" nodeType="withEffect">
                                  <p:stCondLst>
                                    <p:cond delay="0"/>
                                  </p:stCondLst>
                                  <p:childTnLst>
                                    <p:set>
                                      <p:cBhvr>
                                        <p:cTn id="79" dur="1" fill="hold">
                                          <p:stCondLst>
                                            <p:cond delay="0"/>
                                          </p:stCondLst>
                                        </p:cTn>
                                        <p:tgtEl>
                                          <p:spTgt spid="168"/>
                                        </p:tgtEl>
                                        <p:attrNameLst>
                                          <p:attrName>style.visibility</p:attrName>
                                        </p:attrNameLst>
                                      </p:cBhvr>
                                      <p:to>
                                        <p:strVal val="visible"/>
                                      </p:to>
                                    </p:set>
                                    <p:anim calcmode="lin" valueType="num">
                                      <p:cBhvr>
                                        <p:cTn id="80" dur="5000" fill="hold"/>
                                        <p:tgtEl>
                                          <p:spTgt spid="168"/>
                                        </p:tgtEl>
                                        <p:attrNameLst>
                                          <p:attrName>ppt_x</p:attrName>
                                        </p:attrNameLst>
                                      </p:cBhvr>
                                      <p:tavLst>
                                        <p:tav tm="0">
                                          <p:val>
                                            <p:strVal val="#ppt_x+#ppt_w/2"/>
                                          </p:val>
                                        </p:tav>
                                        <p:tav tm="100000">
                                          <p:val>
                                            <p:strVal val="#ppt_x"/>
                                          </p:val>
                                        </p:tav>
                                      </p:tavLst>
                                    </p:anim>
                                    <p:anim calcmode="lin" valueType="num">
                                      <p:cBhvr>
                                        <p:cTn id="81" dur="5000" fill="hold"/>
                                        <p:tgtEl>
                                          <p:spTgt spid="168"/>
                                        </p:tgtEl>
                                        <p:attrNameLst>
                                          <p:attrName>ppt_y</p:attrName>
                                        </p:attrNameLst>
                                      </p:cBhvr>
                                      <p:tavLst>
                                        <p:tav tm="0">
                                          <p:val>
                                            <p:strVal val="#ppt_y"/>
                                          </p:val>
                                        </p:tav>
                                        <p:tav tm="100000">
                                          <p:val>
                                            <p:strVal val="#ppt_y"/>
                                          </p:val>
                                        </p:tav>
                                      </p:tavLst>
                                    </p:anim>
                                    <p:anim calcmode="lin" valueType="num">
                                      <p:cBhvr>
                                        <p:cTn id="82" dur="5000" fill="hold"/>
                                        <p:tgtEl>
                                          <p:spTgt spid="168"/>
                                        </p:tgtEl>
                                        <p:attrNameLst>
                                          <p:attrName>ppt_w</p:attrName>
                                        </p:attrNameLst>
                                      </p:cBhvr>
                                      <p:tavLst>
                                        <p:tav tm="0">
                                          <p:val>
                                            <p:fltVal val="0"/>
                                          </p:val>
                                        </p:tav>
                                        <p:tav tm="100000">
                                          <p:val>
                                            <p:strVal val="#ppt_w"/>
                                          </p:val>
                                        </p:tav>
                                      </p:tavLst>
                                    </p:anim>
                                    <p:anim calcmode="lin" valueType="num">
                                      <p:cBhvr>
                                        <p:cTn id="83"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4" name="CHIMES.WAV"/>
                                        </p:tgtEl>
                                      </p:cMediaNode>
                                    </p:audio>
                                  </p:subTnLst>
                                </p:cTn>
                              </p:par>
                              <p:par>
                                <p:cTn id="84" presetID="17" presetClass="entr" presetSubtype="2" fill="hold" grpId="0" nodeType="withEffect">
                                  <p:stCondLst>
                                    <p:cond delay="0"/>
                                  </p:stCondLst>
                                  <p:childTnLst>
                                    <p:set>
                                      <p:cBhvr>
                                        <p:cTn id="85" dur="1" fill="hold">
                                          <p:stCondLst>
                                            <p:cond delay="0"/>
                                          </p:stCondLst>
                                        </p:cTn>
                                        <p:tgtEl>
                                          <p:spTgt spid="110"/>
                                        </p:tgtEl>
                                        <p:attrNameLst>
                                          <p:attrName>style.visibility</p:attrName>
                                        </p:attrNameLst>
                                      </p:cBhvr>
                                      <p:to>
                                        <p:strVal val="visible"/>
                                      </p:to>
                                    </p:set>
                                    <p:anim calcmode="lin" valueType="num">
                                      <p:cBhvr>
                                        <p:cTn id="86" dur="5000" fill="hold"/>
                                        <p:tgtEl>
                                          <p:spTgt spid="110"/>
                                        </p:tgtEl>
                                        <p:attrNameLst>
                                          <p:attrName>ppt_x</p:attrName>
                                        </p:attrNameLst>
                                      </p:cBhvr>
                                      <p:tavLst>
                                        <p:tav tm="0">
                                          <p:val>
                                            <p:strVal val="#ppt_x+#ppt_w/2"/>
                                          </p:val>
                                        </p:tav>
                                        <p:tav tm="100000">
                                          <p:val>
                                            <p:strVal val="#ppt_x"/>
                                          </p:val>
                                        </p:tav>
                                      </p:tavLst>
                                    </p:anim>
                                    <p:anim calcmode="lin" valueType="num">
                                      <p:cBhvr>
                                        <p:cTn id="87" dur="5000" fill="hold"/>
                                        <p:tgtEl>
                                          <p:spTgt spid="110"/>
                                        </p:tgtEl>
                                        <p:attrNameLst>
                                          <p:attrName>ppt_y</p:attrName>
                                        </p:attrNameLst>
                                      </p:cBhvr>
                                      <p:tavLst>
                                        <p:tav tm="0">
                                          <p:val>
                                            <p:strVal val="#ppt_y"/>
                                          </p:val>
                                        </p:tav>
                                        <p:tav tm="100000">
                                          <p:val>
                                            <p:strVal val="#ppt_y"/>
                                          </p:val>
                                        </p:tav>
                                      </p:tavLst>
                                    </p:anim>
                                    <p:anim calcmode="lin" valueType="num">
                                      <p:cBhvr>
                                        <p:cTn id="88" dur="5000" fill="hold"/>
                                        <p:tgtEl>
                                          <p:spTgt spid="110"/>
                                        </p:tgtEl>
                                        <p:attrNameLst>
                                          <p:attrName>ppt_w</p:attrName>
                                        </p:attrNameLst>
                                      </p:cBhvr>
                                      <p:tavLst>
                                        <p:tav tm="0">
                                          <p:val>
                                            <p:fltVal val="0"/>
                                          </p:val>
                                        </p:tav>
                                        <p:tav tm="100000">
                                          <p:val>
                                            <p:strVal val="#ppt_w"/>
                                          </p:val>
                                        </p:tav>
                                      </p:tavLst>
                                    </p:anim>
                                    <p:anim calcmode="lin" valueType="num">
                                      <p:cBhvr>
                                        <p:cTn id="89"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par>
                                <p:cTn id="90" presetID="17" presetClass="entr" presetSubtype="2" fill="hold" grpId="0" nodeType="withEffect">
                                  <p:stCondLst>
                                    <p:cond delay="0"/>
                                  </p:stCondLst>
                                  <p:childTnLst>
                                    <p:set>
                                      <p:cBhvr>
                                        <p:cTn id="91" dur="1" fill="hold">
                                          <p:stCondLst>
                                            <p:cond delay="0"/>
                                          </p:stCondLst>
                                        </p:cTn>
                                        <p:tgtEl>
                                          <p:spTgt spid="111"/>
                                        </p:tgtEl>
                                        <p:attrNameLst>
                                          <p:attrName>style.visibility</p:attrName>
                                        </p:attrNameLst>
                                      </p:cBhvr>
                                      <p:to>
                                        <p:strVal val="visible"/>
                                      </p:to>
                                    </p:set>
                                    <p:anim calcmode="lin" valueType="num">
                                      <p:cBhvr>
                                        <p:cTn id="92" dur="5000" fill="hold"/>
                                        <p:tgtEl>
                                          <p:spTgt spid="111"/>
                                        </p:tgtEl>
                                        <p:attrNameLst>
                                          <p:attrName>ppt_x</p:attrName>
                                        </p:attrNameLst>
                                      </p:cBhvr>
                                      <p:tavLst>
                                        <p:tav tm="0">
                                          <p:val>
                                            <p:strVal val="#ppt_x+#ppt_w/2"/>
                                          </p:val>
                                        </p:tav>
                                        <p:tav tm="100000">
                                          <p:val>
                                            <p:strVal val="#ppt_x"/>
                                          </p:val>
                                        </p:tav>
                                      </p:tavLst>
                                    </p:anim>
                                    <p:anim calcmode="lin" valueType="num">
                                      <p:cBhvr>
                                        <p:cTn id="93" dur="5000" fill="hold"/>
                                        <p:tgtEl>
                                          <p:spTgt spid="111"/>
                                        </p:tgtEl>
                                        <p:attrNameLst>
                                          <p:attrName>ppt_y</p:attrName>
                                        </p:attrNameLst>
                                      </p:cBhvr>
                                      <p:tavLst>
                                        <p:tav tm="0">
                                          <p:val>
                                            <p:strVal val="#ppt_y"/>
                                          </p:val>
                                        </p:tav>
                                        <p:tav tm="100000">
                                          <p:val>
                                            <p:strVal val="#ppt_y"/>
                                          </p:val>
                                        </p:tav>
                                      </p:tavLst>
                                    </p:anim>
                                    <p:anim calcmode="lin" valueType="num">
                                      <p:cBhvr>
                                        <p:cTn id="94" dur="5000" fill="hold"/>
                                        <p:tgtEl>
                                          <p:spTgt spid="111"/>
                                        </p:tgtEl>
                                        <p:attrNameLst>
                                          <p:attrName>ppt_w</p:attrName>
                                        </p:attrNameLst>
                                      </p:cBhvr>
                                      <p:tavLst>
                                        <p:tav tm="0">
                                          <p:val>
                                            <p:fltVal val="0"/>
                                          </p:val>
                                        </p:tav>
                                        <p:tav tm="100000">
                                          <p:val>
                                            <p:strVal val="#ppt_w"/>
                                          </p:val>
                                        </p:tav>
                                      </p:tavLst>
                                    </p:anim>
                                    <p:anim calcmode="lin" valueType="num">
                                      <p:cBhvr>
                                        <p:cTn id="95"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par>
                                <p:cTn id="96" presetID="17" presetClass="entr" presetSubtype="2" fill="hold" grpId="0" nodeType="withEffect">
                                  <p:stCondLst>
                                    <p:cond delay="0"/>
                                  </p:stCondLst>
                                  <p:childTnLst>
                                    <p:set>
                                      <p:cBhvr>
                                        <p:cTn id="97" dur="1" fill="hold">
                                          <p:stCondLst>
                                            <p:cond delay="0"/>
                                          </p:stCondLst>
                                        </p:cTn>
                                        <p:tgtEl>
                                          <p:spTgt spid="109"/>
                                        </p:tgtEl>
                                        <p:attrNameLst>
                                          <p:attrName>style.visibility</p:attrName>
                                        </p:attrNameLst>
                                      </p:cBhvr>
                                      <p:to>
                                        <p:strVal val="visible"/>
                                      </p:to>
                                    </p:set>
                                    <p:anim calcmode="lin" valueType="num">
                                      <p:cBhvr>
                                        <p:cTn id="98" dur="5000" fill="hold"/>
                                        <p:tgtEl>
                                          <p:spTgt spid="109"/>
                                        </p:tgtEl>
                                        <p:attrNameLst>
                                          <p:attrName>ppt_x</p:attrName>
                                        </p:attrNameLst>
                                      </p:cBhvr>
                                      <p:tavLst>
                                        <p:tav tm="0">
                                          <p:val>
                                            <p:strVal val="#ppt_x+#ppt_w/2"/>
                                          </p:val>
                                        </p:tav>
                                        <p:tav tm="100000">
                                          <p:val>
                                            <p:strVal val="#ppt_x"/>
                                          </p:val>
                                        </p:tav>
                                      </p:tavLst>
                                    </p:anim>
                                    <p:anim calcmode="lin" valueType="num">
                                      <p:cBhvr>
                                        <p:cTn id="99" dur="5000" fill="hold"/>
                                        <p:tgtEl>
                                          <p:spTgt spid="109"/>
                                        </p:tgtEl>
                                        <p:attrNameLst>
                                          <p:attrName>ppt_y</p:attrName>
                                        </p:attrNameLst>
                                      </p:cBhvr>
                                      <p:tavLst>
                                        <p:tav tm="0">
                                          <p:val>
                                            <p:strVal val="#ppt_y"/>
                                          </p:val>
                                        </p:tav>
                                        <p:tav tm="100000">
                                          <p:val>
                                            <p:strVal val="#ppt_y"/>
                                          </p:val>
                                        </p:tav>
                                      </p:tavLst>
                                    </p:anim>
                                    <p:anim calcmode="lin" valueType="num">
                                      <p:cBhvr>
                                        <p:cTn id="100" dur="5000" fill="hold"/>
                                        <p:tgtEl>
                                          <p:spTgt spid="109"/>
                                        </p:tgtEl>
                                        <p:attrNameLst>
                                          <p:attrName>ppt_w</p:attrName>
                                        </p:attrNameLst>
                                      </p:cBhvr>
                                      <p:tavLst>
                                        <p:tav tm="0">
                                          <p:val>
                                            <p:fltVal val="0"/>
                                          </p:val>
                                        </p:tav>
                                        <p:tav tm="100000">
                                          <p:val>
                                            <p:strVal val="#ppt_w"/>
                                          </p:val>
                                        </p:tav>
                                      </p:tavLst>
                                    </p:anim>
                                    <p:anim calcmode="lin" valueType="num">
                                      <p:cBhvr>
                                        <p:cTn id="101"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4" name="CHIMES.WAV"/>
                                        </p:tgtEl>
                                      </p:cMediaNode>
                                    </p:audio>
                                  </p:subTnLst>
                                </p:cTn>
                              </p:par>
                              <p:par>
                                <p:cTn id="102" presetID="17" presetClass="entr" presetSubtype="8" fill="hold" grpId="0" nodeType="withEffect">
                                  <p:stCondLst>
                                    <p:cond delay="0"/>
                                  </p:stCondLst>
                                  <p:childTnLst>
                                    <p:set>
                                      <p:cBhvr>
                                        <p:cTn id="103" dur="1" fill="hold">
                                          <p:stCondLst>
                                            <p:cond delay="0"/>
                                          </p:stCondLst>
                                        </p:cTn>
                                        <p:tgtEl>
                                          <p:spTgt spid="202"/>
                                        </p:tgtEl>
                                        <p:attrNameLst>
                                          <p:attrName>style.visibility</p:attrName>
                                        </p:attrNameLst>
                                      </p:cBhvr>
                                      <p:to>
                                        <p:strVal val="visible"/>
                                      </p:to>
                                    </p:set>
                                    <p:anim calcmode="lin" valueType="num">
                                      <p:cBhvr>
                                        <p:cTn id="104" dur="5000" fill="hold"/>
                                        <p:tgtEl>
                                          <p:spTgt spid="202"/>
                                        </p:tgtEl>
                                        <p:attrNameLst>
                                          <p:attrName>ppt_x</p:attrName>
                                        </p:attrNameLst>
                                      </p:cBhvr>
                                      <p:tavLst>
                                        <p:tav tm="0">
                                          <p:val>
                                            <p:strVal val="#ppt_x-#ppt_w/2"/>
                                          </p:val>
                                        </p:tav>
                                        <p:tav tm="100000">
                                          <p:val>
                                            <p:strVal val="#ppt_x"/>
                                          </p:val>
                                        </p:tav>
                                      </p:tavLst>
                                    </p:anim>
                                    <p:anim calcmode="lin" valueType="num">
                                      <p:cBhvr>
                                        <p:cTn id="105" dur="5000" fill="hold"/>
                                        <p:tgtEl>
                                          <p:spTgt spid="202"/>
                                        </p:tgtEl>
                                        <p:attrNameLst>
                                          <p:attrName>ppt_y</p:attrName>
                                        </p:attrNameLst>
                                      </p:cBhvr>
                                      <p:tavLst>
                                        <p:tav tm="0">
                                          <p:val>
                                            <p:strVal val="#ppt_y"/>
                                          </p:val>
                                        </p:tav>
                                        <p:tav tm="100000">
                                          <p:val>
                                            <p:strVal val="#ppt_y"/>
                                          </p:val>
                                        </p:tav>
                                      </p:tavLst>
                                    </p:anim>
                                    <p:anim calcmode="lin" valueType="num">
                                      <p:cBhvr>
                                        <p:cTn id="106" dur="5000" fill="hold"/>
                                        <p:tgtEl>
                                          <p:spTgt spid="202"/>
                                        </p:tgtEl>
                                        <p:attrNameLst>
                                          <p:attrName>ppt_w</p:attrName>
                                        </p:attrNameLst>
                                      </p:cBhvr>
                                      <p:tavLst>
                                        <p:tav tm="0">
                                          <p:val>
                                            <p:fltVal val="0"/>
                                          </p:val>
                                        </p:tav>
                                        <p:tav tm="100000">
                                          <p:val>
                                            <p:strVal val="#ppt_w"/>
                                          </p:val>
                                        </p:tav>
                                      </p:tavLst>
                                    </p:anim>
                                    <p:anim calcmode="lin" valueType="num">
                                      <p:cBhvr>
                                        <p:cTn id="107"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4" name="CHIMES.WAV"/>
                                        </p:tgtEl>
                                      </p:cMediaNode>
                                    </p:audio>
                                  </p:subTnLst>
                                </p:cTn>
                              </p:par>
                              <p:par>
                                <p:cTn id="108" presetID="17" presetClass="entr" presetSubtype="8" fill="hold" grpId="0" nodeType="withEffect">
                                  <p:stCondLst>
                                    <p:cond delay="0"/>
                                  </p:stCondLst>
                                  <p:childTnLst>
                                    <p:set>
                                      <p:cBhvr>
                                        <p:cTn id="109" dur="1" fill="hold">
                                          <p:stCondLst>
                                            <p:cond delay="0"/>
                                          </p:stCondLst>
                                        </p:cTn>
                                        <p:tgtEl>
                                          <p:spTgt spid="201"/>
                                        </p:tgtEl>
                                        <p:attrNameLst>
                                          <p:attrName>style.visibility</p:attrName>
                                        </p:attrNameLst>
                                      </p:cBhvr>
                                      <p:to>
                                        <p:strVal val="visible"/>
                                      </p:to>
                                    </p:set>
                                    <p:anim calcmode="lin" valueType="num">
                                      <p:cBhvr>
                                        <p:cTn id="110" dur="5000" fill="hold"/>
                                        <p:tgtEl>
                                          <p:spTgt spid="201"/>
                                        </p:tgtEl>
                                        <p:attrNameLst>
                                          <p:attrName>ppt_x</p:attrName>
                                        </p:attrNameLst>
                                      </p:cBhvr>
                                      <p:tavLst>
                                        <p:tav tm="0">
                                          <p:val>
                                            <p:strVal val="#ppt_x-#ppt_w/2"/>
                                          </p:val>
                                        </p:tav>
                                        <p:tav tm="100000">
                                          <p:val>
                                            <p:strVal val="#ppt_x"/>
                                          </p:val>
                                        </p:tav>
                                      </p:tavLst>
                                    </p:anim>
                                    <p:anim calcmode="lin" valueType="num">
                                      <p:cBhvr>
                                        <p:cTn id="111" dur="5000" fill="hold"/>
                                        <p:tgtEl>
                                          <p:spTgt spid="201"/>
                                        </p:tgtEl>
                                        <p:attrNameLst>
                                          <p:attrName>ppt_y</p:attrName>
                                        </p:attrNameLst>
                                      </p:cBhvr>
                                      <p:tavLst>
                                        <p:tav tm="0">
                                          <p:val>
                                            <p:strVal val="#ppt_y"/>
                                          </p:val>
                                        </p:tav>
                                        <p:tav tm="100000">
                                          <p:val>
                                            <p:strVal val="#ppt_y"/>
                                          </p:val>
                                        </p:tav>
                                      </p:tavLst>
                                    </p:anim>
                                    <p:anim calcmode="lin" valueType="num">
                                      <p:cBhvr>
                                        <p:cTn id="112" dur="5000" fill="hold"/>
                                        <p:tgtEl>
                                          <p:spTgt spid="201"/>
                                        </p:tgtEl>
                                        <p:attrNameLst>
                                          <p:attrName>ppt_w</p:attrName>
                                        </p:attrNameLst>
                                      </p:cBhvr>
                                      <p:tavLst>
                                        <p:tav tm="0">
                                          <p:val>
                                            <p:fltVal val="0"/>
                                          </p:val>
                                        </p:tav>
                                        <p:tav tm="100000">
                                          <p:val>
                                            <p:strVal val="#ppt_w"/>
                                          </p:val>
                                        </p:tav>
                                      </p:tavLst>
                                    </p:anim>
                                    <p:anim calcmode="lin" valueType="num">
                                      <p:cBhvr>
                                        <p:cTn id="113"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4" name="CHIMES.WAV"/>
                                        </p:tgtEl>
                                      </p:cMediaNode>
                                    </p:audio>
                                  </p:subTnLst>
                                </p:cTn>
                              </p:par>
                              <p:par>
                                <p:cTn id="114" presetID="17" presetClass="entr" presetSubtype="8" fill="hold" grpId="0" nodeType="withEffect">
                                  <p:stCondLst>
                                    <p:cond delay="0"/>
                                  </p:stCondLst>
                                  <p:childTnLst>
                                    <p:set>
                                      <p:cBhvr>
                                        <p:cTn id="115" dur="1" fill="hold">
                                          <p:stCondLst>
                                            <p:cond delay="0"/>
                                          </p:stCondLst>
                                        </p:cTn>
                                        <p:tgtEl>
                                          <p:spTgt spid="200"/>
                                        </p:tgtEl>
                                        <p:attrNameLst>
                                          <p:attrName>style.visibility</p:attrName>
                                        </p:attrNameLst>
                                      </p:cBhvr>
                                      <p:to>
                                        <p:strVal val="visible"/>
                                      </p:to>
                                    </p:set>
                                    <p:anim calcmode="lin" valueType="num">
                                      <p:cBhvr>
                                        <p:cTn id="116" dur="5000" fill="hold"/>
                                        <p:tgtEl>
                                          <p:spTgt spid="200"/>
                                        </p:tgtEl>
                                        <p:attrNameLst>
                                          <p:attrName>ppt_x</p:attrName>
                                        </p:attrNameLst>
                                      </p:cBhvr>
                                      <p:tavLst>
                                        <p:tav tm="0">
                                          <p:val>
                                            <p:strVal val="#ppt_x-#ppt_w/2"/>
                                          </p:val>
                                        </p:tav>
                                        <p:tav tm="100000">
                                          <p:val>
                                            <p:strVal val="#ppt_x"/>
                                          </p:val>
                                        </p:tav>
                                      </p:tavLst>
                                    </p:anim>
                                    <p:anim calcmode="lin" valueType="num">
                                      <p:cBhvr>
                                        <p:cTn id="117" dur="5000" fill="hold"/>
                                        <p:tgtEl>
                                          <p:spTgt spid="200"/>
                                        </p:tgtEl>
                                        <p:attrNameLst>
                                          <p:attrName>ppt_y</p:attrName>
                                        </p:attrNameLst>
                                      </p:cBhvr>
                                      <p:tavLst>
                                        <p:tav tm="0">
                                          <p:val>
                                            <p:strVal val="#ppt_y"/>
                                          </p:val>
                                        </p:tav>
                                        <p:tav tm="100000">
                                          <p:val>
                                            <p:strVal val="#ppt_y"/>
                                          </p:val>
                                        </p:tav>
                                      </p:tavLst>
                                    </p:anim>
                                    <p:anim calcmode="lin" valueType="num">
                                      <p:cBhvr>
                                        <p:cTn id="118" dur="5000" fill="hold"/>
                                        <p:tgtEl>
                                          <p:spTgt spid="200"/>
                                        </p:tgtEl>
                                        <p:attrNameLst>
                                          <p:attrName>ppt_w</p:attrName>
                                        </p:attrNameLst>
                                      </p:cBhvr>
                                      <p:tavLst>
                                        <p:tav tm="0">
                                          <p:val>
                                            <p:fltVal val="0"/>
                                          </p:val>
                                        </p:tav>
                                        <p:tav tm="100000">
                                          <p:val>
                                            <p:strVal val="#ppt_w"/>
                                          </p:val>
                                        </p:tav>
                                      </p:tavLst>
                                    </p:anim>
                                    <p:anim calcmode="lin" valueType="num">
                                      <p:cBhvr>
                                        <p:cTn id="119"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4"/>
                                            </p:cond>
                                          </p:stCondLst>
                                          <p:endCondLst>
                                            <p:cond evt="onStopAudio" delay="0">
                                              <p:tgtEl>
                                                <p:sldTgt/>
                                              </p:tgtEl>
                                            </p:cond>
                                          </p:endCondLst>
                                        </p:cTn>
                                        <p:tgtEl>
                                          <p:sndTgt r:embed="rId4" name="CHIMES.WAV"/>
                                        </p:tgtEl>
                                      </p:cMediaNode>
                                    </p:audio>
                                  </p:subTnLst>
                                </p:cTn>
                              </p:par>
                              <p:par>
                                <p:cTn id="120" presetID="17" presetClass="entr" presetSubtype="8" fill="hold" grpId="0" nodeType="withEffect">
                                  <p:stCondLst>
                                    <p:cond delay="0"/>
                                  </p:stCondLst>
                                  <p:childTnLst>
                                    <p:set>
                                      <p:cBhvr>
                                        <p:cTn id="121" dur="1" fill="hold">
                                          <p:stCondLst>
                                            <p:cond delay="0"/>
                                          </p:stCondLst>
                                        </p:cTn>
                                        <p:tgtEl>
                                          <p:spTgt spid="203"/>
                                        </p:tgtEl>
                                        <p:attrNameLst>
                                          <p:attrName>style.visibility</p:attrName>
                                        </p:attrNameLst>
                                      </p:cBhvr>
                                      <p:to>
                                        <p:strVal val="visible"/>
                                      </p:to>
                                    </p:set>
                                    <p:anim calcmode="lin" valueType="num">
                                      <p:cBhvr>
                                        <p:cTn id="122" dur="5000" fill="hold"/>
                                        <p:tgtEl>
                                          <p:spTgt spid="203"/>
                                        </p:tgtEl>
                                        <p:attrNameLst>
                                          <p:attrName>ppt_x</p:attrName>
                                        </p:attrNameLst>
                                      </p:cBhvr>
                                      <p:tavLst>
                                        <p:tav tm="0">
                                          <p:val>
                                            <p:strVal val="#ppt_x-#ppt_w/2"/>
                                          </p:val>
                                        </p:tav>
                                        <p:tav tm="100000">
                                          <p:val>
                                            <p:strVal val="#ppt_x"/>
                                          </p:val>
                                        </p:tav>
                                      </p:tavLst>
                                    </p:anim>
                                    <p:anim calcmode="lin" valueType="num">
                                      <p:cBhvr>
                                        <p:cTn id="123" dur="5000" fill="hold"/>
                                        <p:tgtEl>
                                          <p:spTgt spid="203"/>
                                        </p:tgtEl>
                                        <p:attrNameLst>
                                          <p:attrName>ppt_y</p:attrName>
                                        </p:attrNameLst>
                                      </p:cBhvr>
                                      <p:tavLst>
                                        <p:tav tm="0">
                                          <p:val>
                                            <p:strVal val="#ppt_y"/>
                                          </p:val>
                                        </p:tav>
                                        <p:tav tm="100000">
                                          <p:val>
                                            <p:strVal val="#ppt_y"/>
                                          </p:val>
                                        </p:tav>
                                      </p:tavLst>
                                    </p:anim>
                                    <p:anim calcmode="lin" valueType="num">
                                      <p:cBhvr>
                                        <p:cTn id="124" dur="5000" fill="hold"/>
                                        <p:tgtEl>
                                          <p:spTgt spid="203"/>
                                        </p:tgtEl>
                                        <p:attrNameLst>
                                          <p:attrName>ppt_w</p:attrName>
                                        </p:attrNameLst>
                                      </p:cBhvr>
                                      <p:tavLst>
                                        <p:tav tm="0">
                                          <p:val>
                                            <p:fltVal val="0"/>
                                          </p:val>
                                        </p:tav>
                                        <p:tav tm="100000">
                                          <p:val>
                                            <p:strVal val="#ppt_w"/>
                                          </p:val>
                                        </p:tav>
                                      </p:tavLst>
                                    </p:anim>
                                    <p:anim calcmode="lin" valueType="num">
                                      <p:cBhvr>
                                        <p:cTn id="125"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4" name="CHIMES.WAV"/>
                                        </p:tgtEl>
                                      </p:cMediaNode>
                                    </p:audio>
                                  </p:subTnLst>
                                </p:cTn>
                              </p:par>
                              <p:par>
                                <p:cTn id="126" presetID="17" presetClass="entr" presetSubtype="8" fill="hold" grpId="0" nodeType="withEffect">
                                  <p:stCondLst>
                                    <p:cond delay="0"/>
                                  </p:stCondLst>
                                  <p:childTnLst>
                                    <p:set>
                                      <p:cBhvr>
                                        <p:cTn id="127" dur="1" fill="hold">
                                          <p:stCondLst>
                                            <p:cond delay="0"/>
                                          </p:stCondLst>
                                        </p:cTn>
                                        <p:tgtEl>
                                          <p:spTgt spid="205"/>
                                        </p:tgtEl>
                                        <p:attrNameLst>
                                          <p:attrName>style.visibility</p:attrName>
                                        </p:attrNameLst>
                                      </p:cBhvr>
                                      <p:to>
                                        <p:strVal val="visible"/>
                                      </p:to>
                                    </p:set>
                                    <p:anim calcmode="lin" valueType="num">
                                      <p:cBhvr>
                                        <p:cTn id="128" dur="5000" fill="hold"/>
                                        <p:tgtEl>
                                          <p:spTgt spid="205"/>
                                        </p:tgtEl>
                                        <p:attrNameLst>
                                          <p:attrName>ppt_x</p:attrName>
                                        </p:attrNameLst>
                                      </p:cBhvr>
                                      <p:tavLst>
                                        <p:tav tm="0">
                                          <p:val>
                                            <p:strVal val="#ppt_x-#ppt_w/2"/>
                                          </p:val>
                                        </p:tav>
                                        <p:tav tm="100000">
                                          <p:val>
                                            <p:strVal val="#ppt_x"/>
                                          </p:val>
                                        </p:tav>
                                      </p:tavLst>
                                    </p:anim>
                                    <p:anim calcmode="lin" valueType="num">
                                      <p:cBhvr>
                                        <p:cTn id="129" dur="5000" fill="hold"/>
                                        <p:tgtEl>
                                          <p:spTgt spid="205"/>
                                        </p:tgtEl>
                                        <p:attrNameLst>
                                          <p:attrName>ppt_y</p:attrName>
                                        </p:attrNameLst>
                                      </p:cBhvr>
                                      <p:tavLst>
                                        <p:tav tm="0">
                                          <p:val>
                                            <p:strVal val="#ppt_y"/>
                                          </p:val>
                                        </p:tav>
                                        <p:tav tm="100000">
                                          <p:val>
                                            <p:strVal val="#ppt_y"/>
                                          </p:val>
                                        </p:tav>
                                      </p:tavLst>
                                    </p:anim>
                                    <p:anim calcmode="lin" valueType="num">
                                      <p:cBhvr>
                                        <p:cTn id="130" dur="5000" fill="hold"/>
                                        <p:tgtEl>
                                          <p:spTgt spid="205"/>
                                        </p:tgtEl>
                                        <p:attrNameLst>
                                          <p:attrName>ppt_w</p:attrName>
                                        </p:attrNameLst>
                                      </p:cBhvr>
                                      <p:tavLst>
                                        <p:tav tm="0">
                                          <p:val>
                                            <p:fltVal val="0"/>
                                          </p:val>
                                        </p:tav>
                                        <p:tav tm="100000">
                                          <p:val>
                                            <p:strVal val="#ppt_w"/>
                                          </p:val>
                                        </p:tav>
                                      </p:tavLst>
                                    </p:anim>
                                    <p:anim calcmode="lin" valueType="num">
                                      <p:cBhvr>
                                        <p:cTn id="131"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6"/>
                                            </p:cond>
                                          </p:stCondLst>
                                          <p:endCondLst>
                                            <p:cond evt="onStopAudio" delay="0">
                                              <p:tgtEl>
                                                <p:sldTgt/>
                                              </p:tgtEl>
                                            </p:cond>
                                          </p:endCondLst>
                                        </p:cTn>
                                        <p:tgtEl>
                                          <p:sndTgt r:embed="rId4" name="CHIMES.WAV"/>
                                        </p:tgtEl>
                                      </p:cMediaNode>
                                    </p:audio>
                                  </p:subTnLst>
                                </p:cTn>
                              </p:par>
                              <p:par>
                                <p:cTn id="132" presetID="17" presetClass="entr" presetSubtype="8" fill="hold" grpId="0" nodeType="withEffect">
                                  <p:stCondLst>
                                    <p:cond delay="0"/>
                                  </p:stCondLst>
                                  <p:childTnLst>
                                    <p:set>
                                      <p:cBhvr>
                                        <p:cTn id="133" dur="1" fill="hold">
                                          <p:stCondLst>
                                            <p:cond delay="0"/>
                                          </p:stCondLst>
                                        </p:cTn>
                                        <p:tgtEl>
                                          <p:spTgt spid="204"/>
                                        </p:tgtEl>
                                        <p:attrNameLst>
                                          <p:attrName>style.visibility</p:attrName>
                                        </p:attrNameLst>
                                      </p:cBhvr>
                                      <p:to>
                                        <p:strVal val="visible"/>
                                      </p:to>
                                    </p:set>
                                    <p:anim calcmode="lin" valueType="num">
                                      <p:cBhvr>
                                        <p:cTn id="134" dur="5000" fill="hold"/>
                                        <p:tgtEl>
                                          <p:spTgt spid="204"/>
                                        </p:tgtEl>
                                        <p:attrNameLst>
                                          <p:attrName>ppt_x</p:attrName>
                                        </p:attrNameLst>
                                      </p:cBhvr>
                                      <p:tavLst>
                                        <p:tav tm="0">
                                          <p:val>
                                            <p:strVal val="#ppt_x-#ppt_w/2"/>
                                          </p:val>
                                        </p:tav>
                                        <p:tav tm="100000">
                                          <p:val>
                                            <p:strVal val="#ppt_x"/>
                                          </p:val>
                                        </p:tav>
                                      </p:tavLst>
                                    </p:anim>
                                    <p:anim calcmode="lin" valueType="num">
                                      <p:cBhvr>
                                        <p:cTn id="135" dur="5000" fill="hold"/>
                                        <p:tgtEl>
                                          <p:spTgt spid="204"/>
                                        </p:tgtEl>
                                        <p:attrNameLst>
                                          <p:attrName>ppt_y</p:attrName>
                                        </p:attrNameLst>
                                      </p:cBhvr>
                                      <p:tavLst>
                                        <p:tav tm="0">
                                          <p:val>
                                            <p:strVal val="#ppt_y"/>
                                          </p:val>
                                        </p:tav>
                                        <p:tav tm="100000">
                                          <p:val>
                                            <p:strVal val="#ppt_y"/>
                                          </p:val>
                                        </p:tav>
                                      </p:tavLst>
                                    </p:anim>
                                    <p:anim calcmode="lin" valueType="num">
                                      <p:cBhvr>
                                        <p:cTn id="136" dur="5000" fill="hold"/>
                                        <p:tgtEl>
                                          <p:spTgt spid="204"/>
                                        </p:tgtEl>
                                        <p:attrNameLst>
                                          <p:attrName>ppt_w</p:attrName>
                                        </p:attrNameLst>
                                      </p:cBhvr>
                                      <p:tavLst>
                                        <p:tav tm="0">
                                          <p:val>
                                            <p:fltVal val="0"/>
                                          </p:val>
                                        </p:tav>
                                        <p:tav tm="100000">
                                          <p:val>
                                            <p:strVal val="#ppt_w"/>
                                          </p:val>
                                        </p:tav>
                                      </p:tavLst>
                                    </p:anim>
                                    <p:anim calcmode="lin" valueType="num">
                                      <p:cBhvr>
                                        <p:cTn id="137"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2"/>
                                            </p:cond>
                                          </p:stCondLst>
                                          <p:endCondLst>
                                            <p:cond evt="onStopAudio" delay="0">
                                              <p:tgtEl>
                                                <p:sldTgt/>
                                              </p:tgtEl>
                                            </p:cond>
                                          </p:endCondLst>
                                        </p:cTn>
                                        <p:tgtEl>
                                          <p:sndTgt r:embed="rId4" name="CHIMES.WAV"/>
                                        </p:tgtEl>
                                      </p:cMediaNode>
                                    </p:audio>
                                  </p:subTnLst>
                                </p:cTn>
                              </p:par>
                              <p:par>
                                <p:cTn id="138" presetID="18" presetClass="entr" presetSubtype="9" fill="hold" grpId="0" nodeType="withEffect">
                                  <p:stCondLst>
                                    <p:cond delay="0"/>
                                  </p:stCondLst>
                                  <p:childTnLst>
                                    <p:set>
                                      <p:cBhvr>
                                        <p:cTn id="139" dur="1" fill="hold">
                                          <p:stCondLst>
                                            <p:cond delay="0"/>
                                          </p:stCondLst>
                                        </p:cTn>
                                        <p:tgtEl>
                                          <p:spTgt spid="171"/>
                                        </p:tgtEl>
                                        <p:attrNameLst>
                                          <p:attrName>style.visibility</p:attrName>
                                        </p:attrNameLst>
                                      </p:cBhvr>
                                      <p:to>
                                        <p:strVal val="visible"/>
                                      </p:to>
                                    </p:set>
                                    <p:animEffect transition="in" filter="strips(upLeft)">
                                      <p:cBhvr>
                                        <p:cTn id="140" dur="5000"/>
                                        <p:tgtEl>
                                          <p:spTgt spid="171"/>
                                        </p:tgtEl>
                                      </p:cBhvr>
                                    </p:animEffect>
                                  </p:childTnLst>
                                  <p:subTnLst>
                                    <p:audio>
                                      <p:cMediaNode>
                                        <p:cTn display="0" masterRel="sameClick">
                                          <p:stCondLst>
                                            <p:cond evt="begin" delay="0">
                                              <p:tn val="138"/>
                                            </p:cond>
                                          </p:stCondLst>
                                          <p:endCondLst>
                                            <p:cond evt="onStopAudio" delay="0">
                                              <p:tgtEl>
                                                <p:sldTgt/>
                                              </p:tgtEl>
                                            </p:cond>
                                          </p:endCondLst>
                                        </p:cTn>
                                        <p:tgtEl>
                                          <p:sndTgt r:embed="rId4" name="CHIMES.WAV"/>
                                        </p:tgtEl>
                                      </p:cMediaNode>
                                    </p:audio>
                                  </p:subTnLst>
                                </p:cTn>
                              </p:par>
                              <p:par>
                                <p:cTn id="141" presetID="18" presetClass="entr" presetSubtype="3" fill="hold" grpId="0" nodeType="withEffect">
                                  <p:stCondLst>
                                    <p:cond delay="0"/>
                                  </p:stCondLst>
                                  <p:childTnLst>
                                    <p:set>
                                      <p:cBhvr>
                                        <p:cTn id="142" dur="1" fill="hold">
                                          <p:stCondLst>
                                            <p:cond delay="0"/>
                                          </p:stCondLst>
                                        </p:cTn>
                                        <p:tgtEl>
                                          <p:spTgt spid="169"/>
                                        </p:tgtEl>
                                        <p:attrNameLst>
                                          <p:attrName>style.visibility</p:attrName>
                                        </p:attrNameLst>
                                      </p:cBhvr>
                                      <p:to>
                                        <p:strVal val="visible"/>
                                      </p:to>
                                    </p:set>
                                    <p:animEffect transition="in" filter="strips(upRight)">
                                      <p:cBhvr>
                                        <p:cTn id="143" dur="5000"/>
                                        <p:tgtEl>
                                          <p:spTgt spid="169"/>
                                        </p:tgtEl>
                                      </p:cBhvr>
                                    </p:animEffect>
                                  </p:childTnLst>
                                  <p:subTnLst>
                                    <p:audio>
                                      <p:cMediaNode>
                                        <p:cTn display="0" masterRel="sameClick">
                                          <p:stCondLst>
                                            <p:cond evt="begin" delay="0">
                                              <p:tn val="141"/>
                                            </p:cond>
                                          </p:stCondLst>
                                          <p:endCondLst>
                                            <p:cond evt="onStopAudio" delay="0">
                                              <p:tgtEl>
                                                <p:sldTgt/>
                                              </p:tgtEl>
                                            </p:cond>
                                          </p:endCondLst>
                                        </p:cTn>
                                        <p:tgtEl>
                                          <p:sndTgt r:embed="rId4" name="CHIMES.WAV"/>
                                        </p:tgtEl>
                                      </p:cMediaNode>
                                    </p:audio>
                                  </p:subTnLst>
                                </p:cTn>
                              </p:par>
                              <p:par>
                                <p:cTn id="144" presetID="18" presetClass="entr" presetSubtype="3" fill="hold" grpId="0" nodeType="withEffect">
                                  <p:stCondLst>
                                    <p:cond delay="0"/>
                                  </p:stCondLst>
                                  <p:childTnLst>
                                    <p:set>
                                      <p:cBhvr>
                                        <p:cTn id="145" dur="1" fill="hold">
                                          <p:stCondLst>
                                            <p:cond delay="0"/>
                                          </p:stCondLst>
                                        </p:cTn>
                                        <p:tgtEl>
                                          <p:spTgt spid="108"/>
                                        </p:tgtEl>
                                        <p:attrNameLst>
                                          <p:attrName>style.visibility</p:attrName>
                                        </p:attrNameLst>
                                      </p:cBhvr>
                                      <p:to>
                                        <p:strVal val="visible"/>
                                      </p:to>
                                    </p:set>
                                    <p:animEffect transition="in" filter="strips(upRight)">
                                      <p:cBhvr>
                                        <p:cTn id="146" dur="5000"/>
                                        <p:tgtEl>
                                          <p:spTgt spid="108"/>
                                        </p:tgtEl>
                                      </p:cBhvr>
                                    </p:animEffect>
                                  </p:childTnLst>
                                  <p:subTnLst>
                                    <p:audio>
                                      <p:cMediaNode>
                                        <p:cTn display="0" masterRel="sameClick">
                                          <p:stCondLst>
                                            <p:cond evt="begin" delay="0">
                                              <p:tn val="144"/>
                                            </p:cond>
                                          </p:stCondLst>
                                          <p:endCondLst>
                                            <p:cond evt="onStopAudio" delay="0">
                                              <p:tgtEl>
                                                <p:sldTgt/>
                                              </p:tgtEl>
                                            </p:cond>
                                          </p:endCondLst>
                                        </p:cTn>
                                        <p:tgtEl>
                                          <p:sndTgt r:embed="rId4" name="CHIMES.WAV"/>
                                        </p:tgtEl>
                                      </p:cMediaNode>
                                    </p:audio>
                                  </p:subTnLst>
                                </p:cTn>
                              </p:par>
                              <p:par>
                                <p:cTn id="147" presetID="18" presetClass="entr" presetSubtype="12" fill="hold" grpId="0" nodeType="withEffect">
                                  <p:stCondLst>
                                    <p:cond delay="0"/>
                                  </p:stCondLst>
                                  <p:childTnLst>
                                    <p:set>
                                      <p:cBhvr>
                                        <p:cTn id="148" dur="1" fill="hold">
                                          <p:stCondLst>
                                            <p:cond delay="0"/>
                                          </p:stCondLst>
                                        </p:cTn>
                                        <p:tgtEl>
                                          <p:spTgt spid="170"/>
                                        </p:tgtEl>
                                        <p:attrNameLst>
                                          <p:attrName>style.visibility</p:attrName>
                                        </p:attrNameLst>
                                      </p:cBhvr>
                                      <p:to>
                                        <p:strVal val="visible"/>
                                      </p:to>
                                    </p:set>
                                    <p:animEffect transition="in" filter="strips(downLeft)">
                                      <p:cBhvr>
                                        <p:cTn id="149" dur="5000"/>
                                        <p:tgtEl>
                                          <p:spTgt spid="170"/>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18" presetClass="entr" presetSubtype="6" fill="hold" grpId="0" nodeType="withEffect">
                                  <p:stCondLst>
                                    <p:cond delay="0"/>
                                  </p:stCondLst>
                                  <p:childTnLst>
                                    <p:set>
                                      <p:cBhvr>
                                        <p:cTn id="151" dur="1" fill="hold">
                                          <p:stCondLst>
                                            <p:cond delay="0"/>
                                          </p:stCondLst>
                                        </p:cTn>
                                        <p:tgtEl>
                                          <p:spTgt spid="173"/>
                                        </p:tgtEl>
                                        <p:attrNameLst>
                                          <p:attrName>style.visibility</p:attrName>
                                        </p:attrNameLst>
                                      </p:cBhvr>
                                      <p:to>
                                        <p:strVal val="visible"/>
                                      </p:to>
                                    </p:set>
                                    <p:animEffect transition="in" filter="strips(downRight)">
                                      <p:cBhvr>
                                        <p:cTn id="152" dur="5000"/>
                                        <p:tgtEl>
                                          <p:spTgt spid="173"/>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18" presetClass="entr" presetSubtype="12" fill="hold" grpId="0" nodeType="withEffect">
                                  <p:stCondLst>
                                    <p:cond delay="0"/>
                                  </p:stCondLst>
                                  <p:childTnLst>
                                    <p:set>
                                      <p:cBhvr>
                                        <p:cTn id="154" dur="1" fill="hold">
                                          <p:stCondLst>
                                            <p:cond delay="0"/>
                                          </p:stCondLst>
                                        </p:cTn>
                                        <p:tgtEl>
                                          <p:spTgt spid="172"/>
                                        </p:tgtEl>
                                        <p:attrNameLst>
                                          <p:attrName>style.visibility</p:attrName>
                                        </p:attrNameLst>
                                      </p:cBhvr>
                                      <p:to>
                                        <p:strVal val="visible"/>
                                      </p:to>
                                    </p:set>
                                    <p:animEffect transition="in" filter="strips(downLeft)">
                                      <p:cBhvr>
                                        <p:cTn id="155" dur="5000"/>
                                        <p:tgtEl>
                                          <p:spTgt spid="172"/>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childTnLst>
                          </p:cTn>
                        </p:par>
                        <p:par>
                          <p:cTn id="156" fill="hold">
                            <p:stCondLst>
                              <p:cond delay="5000"/>
                            </p:stCondLst>
                            <p:childTnLst>
                              <p:par>
                                <p:cTn id="157" presetID="20" presetClass="entr" presetSubtype="0" fill="hold" grpId="0" nodeType="afterEffect">
                                  <p:stCondLst>
                                    <p:cond delay="500"/>
                                  </p:stCondLst>
                                  <p:childTnLst>
                                    <p:set>
                                      <p:cBhvr>
                                        <p:cTn id="158" dur="1" fill="hold">
                                          <p:stCondLst>
                                            <p:cond delay="0"/>
                                          </p:stCondLst>
                                        </p:cTn>
                                        <p:tgtEl>
                                          <p:spTgt spid="199"/>
                                        </p:tgtEl>
                                        <p:attrNameLst>
                                          <p:attrName>style.visibility</p:attrName>
                                        </p:attrNameLst>
                                      </p:cBhvr>
                                      <p:to>
                                        <p:strVal val="visible"/>
                                      </p:to>
                                    </p:set>
                                    <p:animEffect transition="in" filter="wedge">
                                      <p:cBhvr>
                                        <p:cTn id="159" dur="3000"/>
                                        <p:tgtEl>
                                          <p:spTgt spid="199"/>
                                        </p:tgtEl>
                                      </p:cBhvr>
                                    </p:animEffect>
                                  </p:childTnLst>
                                  <p:subTnLst>
                                    <p:audio>
                                      <p:cMediaNode>
                                        <p:cTn display="0" masterRel="sameClick">
                                          <p:stCondLst>
                                            <p:cond evt="begin" delay="0">
                                              <p:tn val="157"/>
                                            </p:cond>
                                          </p:stCondLst>
                                          <p:endCondLst>
                                            <p:cond evt="onStopAudio" delay="0">
                                              <p:tgtEl>
                                                <p:sldTgt/>
                                              </p:tgtEl>
                                            </p:cond>
                                          </p:endCondLst>
                                        </p:cTn>
                                        <p:tgtEl>
                                          <p:sndTgt r:embed="rId4" name="CHIMES.WAV"/>
                                        </p:tgtEl>
                                      </p:cMediaNode>
                                    </p:audio>
                                  </p:sub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187"/>
                                        </p:tgtEl>
                                        <p:attrNameLst>
                                          <p:attrName>style.visibility</p:attrName>
                                        </p:attrNameLst>
                                      </p:cBhvr>
                                      <p:to>
                                        <p:strVal val="visible"/>
                                      </p:to>
                                    </p:set>
                                    <p:animEffect transition="in" filter="wipe(left)">
                                      <p:cBhvr>
                                        <p:cTn id="164" dur="5000"/>
                                        <p:tgtEl>
                                          <p:spTgt spid="187"/>
                                        </p:tgtEl>
                                      </p:cBhvr>
                                    </p:animEffect>
                                  </p:childTnLst>
                                  <p:subTnLst>
                                    <p:audio>
                                      <p:cMediaNode>
                                        <p:cTn display="0" masterRel="sameClick">
                                          <p:stCondLst>
                                            <p:cond evt="begin" delay="0">
                                              <p:tn val="162"/>
                                            </p:cond>
                                          </p:stCondLst>
                                          <p:endCondLst>
                                            <p:cond evt="onStopAudio" delay="0">
                                              <p:tgtEl>
                                                <p:sldTgt/>
                                              </p:tgtEl>
                                            </p:cond>
                                          </p:endCondLst>
                                        </p:cTn>
                                        <p:tgtEl>
                                          <p:sndTgt r:embed="rId3" name="CAMERA.WAV"/>
                                        </p:tgtEl>
                                      </p:cMediaNode>
                                    </p:audio>
                                  </p:subTnLst>
                                </p:cTn>
                              </p:par>
                            </p:childTnLst>
                          </p:cTn>
                        </p:par>
                        <p:par>
                          <p:cTn id="165" fill="hold">
                            <p:stCondLst>
                              <p:cond delay="5000"/>
                            </p:stCondLst>
                            <p:childTnLst>
                              <p:par>
                                <p:cTn id="166" presetID="22" presetClass="entr" presetSubtype="4" fill="hold" grpId="0" nodeType="afterEffect">
                                  <p:stCondLst>
                                    <p:cond delay="500"/>
                                  </p:stCondLst>
                                  <p:childTnLst>
                                    <p:set>
                                      <p:cBhvr>
                                        <p:cTn id="167" dur="1" fill="hold">
                                          <p:stCondLst>
                                            <p:cond delay="0"/>
                                          </p:stCondLst>
                                        </p:cTn>
                                        <p:tgtEl>
                                          <p:spTgt spid="193"/>
                                        </p:tgtEl>
                                        <p:attrNameLst>
                                          <p:attrName>style.visibility</p:attrName>
                                        </p:attrNameLst>
                                      </p:cBhvr>
                                      <p:to>
                                        <p:strVal val="visible"/>
                                      </p:to>
                                    </p:set>
                                    <p:animEffect transition="in" filter="wipe(down)">
                                      <p:cBhvr>
                                        <p:cTn id="168" dur="5000"/>
                                        <p:tgtEl>
                                          <p:spTgt spid="193"/>
                                        </p:tgtEl>
                                      </p:cBhvr>
                                    </p:animEffect>
                                  </p:childTnLst>
                                  <p:subTnLst>
                                    <p:audio>
                                      <p:cMediaNode>
                                        <p:cTn display="0" masterRel="sameClick">
                                          <p:stCondLst>
                                            <p:cond evt="begin" delay="0">
                                              <p:tn val="166"/>
                                            </p:cond>
                                          </p:stCondLst>
                                          <p:endCondLst>
                                            <p:cond evt="onStopAudio" delay="0">
                                              <p:tgtEl>
                                                <p:sldTgt/>
                                              </p:tgtEl>
                                            </p:cond>
                                          </p:endCondLst>
                                        </p:cTn>
                                        <p:tgtEl>
                                          <p:sndTgt r:embed="rId3" name="CAMERA.WAV"/>
                                        </p:tgtEl>
                                      </p:cMediaNode>
                                    </p:audio>
                                  </p:subTnLst>
                                </p:cTn>
                              </p:par>
                              <p:par>
                                <p:cTn id="169" presetID="20" presetClass="entr" presetSubtype="0" fill="hold" grpId="0" nodeType="withEffect">
                                  <p:stCondLst>
                                    <p:cond delay="500"/>
                                  </p:stCondLst>
                                  <p:childTnLst>
                                    <p:set>
                                      <p:cBhvr>
                                        <p:cTn id="170" dur="1" fill="hold">
                                          <p:stCondLst>
                                            <p:cond delay="0"/>
                                          </p:stCondLst>
                                        </p:cTn>
                                        <p:tgtEl>
                                          <p:spTgt spid="196"/>
                                        </p:tgtEl>
                                        <p:attrNameLst>
                                          <p:attrName>style.visibility</p:attrName>
                                        </p:attrNameLst>
                                      </p:cBhvr>
                                      <p:to>
                                        <p:strVal val="visible"/>
                                      </p:to>
                                    </p:set>
                                    <p:animEffect transition="in" filter="wedge">
                                      <p:cBhvr>
                                        <p:cTn id="171" dur="2000"/>
                                        <p:tgtEl>
                                          <p:spTgt spid="196"/>
                                        </p:tgtEl>
                                      </p:cBhvr>
                                    </p:animEffect>
                                  </p:childTnLst>
                                  <p:subTnLst>
                                    <p:audio>
                                      <p:cMediaNode>
                                        <p:cTn display="0" masterRel="sameClick">
                                          <p:stCondLst>
                                            <p:cond evt="begin" delay="0">
                                              <p:tn val="169"/>
                                            </p:cond>
                                          </p:stCondLst>
                                          <p:endCondLst>
                                            <p:cond evt="onStopAudio" delay="0">
                                              <p:tgtEl>
                                                <p:sldTgt/>
                                              </p:tgtEl>
                                            </p:cond>
                                          </p:endCondLst>
                                        </p:cTn>
                                        <p:tgtEl>
                                          <p:sndTgt r:embed="rId3" name="CAMERA.WAV"/>
                                        </p:tgtEl>
                                      </p:cMediaNode>
                                    </p:audio>
                                  </p:subTnLst>
                                </p:cTn>
                              </p:par>
                              <p:par>
                                <p:cTn id="172" presetID="17" presetClass="entr" presetSubtype="8" fill="hold" grpId="0" nodeType="withEffect">
                                  <p:stCondLst>
                                    <p:cond delay="500"/>
                                  </p:stCondLst>
                                  <p:childTnLst>
                                    <p:set>
                                      <p:cBhvr>
                                        <p:cTn id="173" dur="1" fill="hold">
                                          <p:stCondLst>
                                            <p:cond delay="0"/>
                                          </p:stCondLst>
                                        </p:cTn>
                                        <p:tgtEl>
                                          <p:spTgt spid="182"/>
                                        </p:tgtEl>
                                        <p:attrNameLst>
                                          <p:attrName>style.visibility</p:attrName>
                                        </p:attrNameLst>
                                      </p:cBhvr>
                                      <p:to>
                                        <p:strVal val="visible"/>
                                      </p:to>
                                    </p:set>
                                    <p:anim calcmode="lin" valueType="num">
                                      <p:cBhvr>
                                        <p:cTn id="174" dur="5000" fill="hold"/>
                                        <p:tgtEl>
                                          <p:spTgt spid="182"/>
                                        </p:tgtEl>
                                        <p:attrNameLst>
                                          <p:attrName>ppt_x</p:attrName>
                                        </p:attrNameLst>
                                      </p:cBhvr>
                                      <p:tavLst>
                                        <p:tav tm="0">
                                          <p:val>
                                            <p:strVal val="#ppt_x-#ppt_w/2"/>
                                          </p:val>
                                        </p:tav>
                                        <p:tav tm="100000">
                                          <p:val>
                                            <p:strVal val="#ppt_x"/>
                                          </p:val>
                                        </p:tav>
                                      </p:tavLst>
                                    </p:anim>
                                    <p:anim calcmode="lin" valueType="num">
                                      <p:cBhvr>
                                        <p:cTn id="175" dur="5000" fill="hold"/>
                                        <p:tgtEl>
                                          <p:spTgt spid="182"/>
                                        </p:tgtEl>
                                        <p:attrNameLst>
                                          <p:attrName>ppt_y</p:attrName>
                                        </p:attrNameLst>
                                      </p:cBhvr>
                                      <p:tavLst>
                                        <p:tav tm="0">
                                          <p:val>
                                            <p:strVal val="#ppt_y"/>
                                          </p:val>
                                        </p:tav>
                                        <p:tav tm="100000">
                                          <p:val>
                                            <p:strVal val="#ppt_y"/>
                                          </p:val>
                                        </p:tav>
                                      </p:tavLst>
                                    </p:anim>
                                    <p:anim calcmode="lin" valueType="num">
                                      <p:cBhvr>
                                        <p:cTn id="176" dur="5000" fill="hold"/>
                                        <p:tgtEl>
                                          <p:spTgt spid="182"/>
                                        </p:tgtEl>
                                        <p:attrNameLst>
                                          <p:attrName>ppt_w</p:attrName>
                                        </p:attrNameLst>
                                      </p:cBhvr>
                                      <p:tavLst>
                                        <p:tav tm="0">
                                          <p:val>
                                            <p:fltVal val="0"/>
                                          </p:val>
                                        </p:tav>
                                        <p:tav tm="100000">
                                          <p:val>
                                            <p:strVal val="#ppt_w"/>
                                          </p:val>
                                        </p:tav>
                                      </p:tavLst>
                                    </p:anim>
                                    <p:anim calcmode="lin" valueType="num">
                                      <p:cBhvr>
                                        <p:cTn id="177"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2"/>
                                            </p:cond>
                                          </p:stCondLst>
                                          <p:endCondLst>
                                            <p:cond evt="onStopAudio" delay="0">
                                              <p:tgtEl>
                                                <p:sldTgt/>
                                              </p:tgtEl>
                                            </p:cond>
                                          </p:endCondLst>
                                        </p:cTn>
                                        <p:tgtEl>
                                          <p:sndTgt r:embed="rId4" name="CHIMES.WAV"/>
                                        </p:tgtEl>
                                      </p:cMediaNode>
                                    </p:audio>
                                  </p:subTnLst>
                                </p:cTn>
                              </p:par>
                              <p:par>
                                <p:cTn id="178" presetID="17" presetClass="entr" presetSubtype="8" fill="hold" grpId="0" nodeType="withEffect">
                                  <p:stCondLst>
                                    <p:cond delay="0"/>
                                  </p:stCondLst>
                                  <p:childTnLst>
                                    <p:set>
                                      <p:cBhvr>
                                        <p:cTn id="179" dur="1" fill="hold">
                                          <p:stCondLst>
                                            <p:cond delay="0"/>
                                          </p:stCondLst>
                                        </p:cTn>
                                        <p:tgtEl>
                                          <p:spTgt spid="183"/>
                                        </p:tgtEl>
                                        <p:attrNameLst>
                                          <p:attrName>style.visibility</p:attrName>
                                        </p:attrNameLst>
                                      </p:cBhvr>
                                      <p:to>
                                        <p:strVal val="visible"/>
                                      </p:to>
                                    </p:set>
                                    <p:anim calcmode="lin" valueType="num">
                                      <p:cBhvr>
                                        <p:cTn id="180" dur="5000" fill="hold"/>
                                        <p:tgtEl>
                                          <p:spTgt spid="183"/>
                                        </p:tgtEl>
                                        <p:attrNameLst>
                                          <p:attrName>ppt_x</p:attrName>
                                        </p:attrNameLst>
                                      </p:cBhvr>
                                      <p:tavLst>
                                        <p:tav tm="0">
                                          <p:val>
                                            <p:strVal val="#ppt_x-#ppt_w/2"/>
                                          </p:val>
                                        </p:tav>
                                        <p:tav tm="100000">
                                          <p:val>
                                            <p:strVal val="#ppt_x"/>
                                          </p:val>
                                        </p:tav>
                                      </p:tavLst>
                                    </p:anim>
                                    <p:anim calcmode="lin" valueType="num">
                                      <p:cBhvr>
                                        <p:cTn id="181" dur="5000" fill="hold"/>
                                        <p:tgtEl>
                                          <p:spTgt spid="183"/>
                                        </p:tgtEl>
                                        <p:attrNameLst>
                                          <p:attrName>ppt_y</p:attrName>
                                        </p:attrNameLst>
                                      </p:cBhvr>
                                      <p:tavLst>
                                        <p:tav tm="0">
                                          <p:val>
                                            <p:strVal val="#ppt_y"/>
                                          </p:val>
                                        </p:tav>
                                        <p:tav tm="100000">
                                          <p:val>
                                            <p:strVal val="#ppt_y"/>
                                          </p:val>
                                        </p:tav>
                                      </p:tavLst>
                                    </p:anim>
                                    <p:anim calcmode="lin" valueType="num">
                                      <p:cBhvr>
                                        <p:cTn id="182" dur="5000" fill="hold"/>
                                        <p:tgtEl>
                                          <p:spTgt spid="183"/>
                                        </p:tgtEl>
                                        <p:attrNameLst>
                                          <p:attrName>ppt_w</p:attrName>
                                        </p:attrNameLst>
                                      </p:cBhvr>
                                      <p:tavLst>
                                        <p:tav tm="0">
                                          <p:val>
                                            <p:fltVal val="0"/>
                                          </p:val>
                                        </p:tav>
                                        <p:tav tm="100000">
                                          <p:val>
                                            <p:strVal val="#ppt_w"/>
                                          </p:val>
                                        </p:tav>
                                      </p:tavLst>
                                    </p:anim>
                                    <p:anim calcmode="lin" valueType="num">
                                      <p:cBhvr>
                                        <p:cTn id="183"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8"/>
                                            </p:cond>
                                          </p:stCondLst>
                                          <p:endCondLst>
                                            <p:cond evt="onStopAudio" delay="0">
                                              <p:tgtEl>
                                                <p:sldTgt/>
                                              </p:tgtEl>
                                            </p:cond>
                                          </p:endCondLst>
                                        </p:cTn>
                                        <p:tgtEl>
                                          <p:sndTgt r:embed="rId4" name="CHIMES.WAV"/>
                                        </p:tgtEl>
                                      </p:cMediaNode>
                                    </p:audio>
                                  </p:subTnLst>
                                </p:cTn>
                              </p:par>
                              <p:par>
                                <p:cTn id="184" presetID="17" presetClass="entr" presetSubtype="8" fill="hold" grpId="0" nodeType="withEffect">
                                  <p:stCondLst>
                                    <p:cond delay="0"/>
                                  </p:stCondLst>
                                  <p:childTnLst>
                                    <p:set>
                                      <p:cBhvr>
                                        <p:cTn id="185" dur="1" fill="hold">
                                          <p:stCondLst>
                                            <p:cond delay="0"/>
                                          </p:stCondLst>
                                        </p:cTn>
                                        <p:tgtEl>
                                          <p:spTgt spid="184"/>
                                        </p:tgtEl>
                                        <p:attrNameLst>
                                          <p:attrName>style.visibility</p:attrName>
                                        </p:attrNameLst>
                                      </p:cBhvr>
                                      <p:to>
                                        <p:strVal val="visible"/>
                                      </p:to>
                                    </p:set>
                                    <p:anim calcmode="lin" valueType="num">
                                      <p:cBhvr>
                                        <p:cTn id="186" dur="5000" fill="hold"/>
                                        <p:tgtEl>
                                          <p:spTgt spid="184"/>
                                        </p:tgtEl>
                                        <p:attrNameLst>
                                          <p:attrName>ppt_x</p:attrName>
                                        </p:attrNameLst>
                                      </p:cBhvr>
                                      <p:tavLst>
                                        <p:tav tm="0">
                                          <p:val>
                                            <p:strVal val="#ppt_x-#ppt_w/2"/>
                                          </p:val>
                                        </p:tav>
                                        <p:tav tm="100000">
                                          <p:val>
                                            <p:strVal val="#ppt_x"/>
                                          </p:val>
                                        </p:tav>
                                      </p:tavLst>
                                    </p:anim>
                                    <p:anim calcmode="lin" valueType="num">
                                      <p:cBhvr>
                                        <p:cTn id="187" dur="5000" fill="hold"/>
                                        <p:tgtEl>
                                          <p:spTgt spid="184"/>
                                        </p:tgtEl>
                                        <p:attrNameLst>
                                          <p:attrName>ppt_y</p:attrName>
                                        </p:attrNameLst>
                                      </p:cBhvr>
                                      <p:tavLst>
                                        <p:tav tm="0">
                                          <p:val>
                                            <p:strVal val="#ppt_y"/>
                                          </p:val>
                                        </p:tav>
                                        <p:tav tm="100000">
                                          <p:val>
                                            <p:strVal val="#ppt_y"/>
                                          </p:val>
                                        </p:tav>
                                      </p:tavLst>
                                    </p:anim>
                                    <p:anim calcmode="lin" valueType="num">
                                      <p:cBhvr>
                                        <p:cTn id="188" dur="5000" fill="hold"/>
                                        <p:tgtEl>
                                          <p:spTgt spid="184"/>
                                        </p:tgtEl>
                                        <p:attrNameLst>
                                          <p:attrName>ppt_w</p:attrName>
                                        </p:attrNameLst>
                                      </p:cBhvr>
                                      <p:tavLst>
                                        <p:tav tm="0">
                                          <p:val>
                                            <p:fltVal val="0"/>
                                          </p:val>
                                        </p:tav>
                                        <p:tav tm="100000">
                                          <p:val>
                                            <p:strVal val="#ppt_w"/>
                                          </p:val>
                                        </p:tav>
                                      </p:tavLst>
                                    </p:anim>
                                    <p:anim calcmode="lin" valueType="num">
                                      <p:cBhvr>
                                        <p:cTn id="189"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4"/>
                                            </p:cond>
                                          </p:stCondLst>
                                          <p:endCondLst>
                                            <p:cond evt="onStopAudio" delay="0">
                                              <p:tgtEl>
                                                <p:sldTgt/>
                                              </p:tgtEl>
                                            </p:cond>
                                          </p:endCondLst>
                                        </p:cTn>
                                        <p:tgtEl>
                                          <p:sndTgt r:embed="rId4" name="CHIMES.WAV"/>
                                        </p:tgtEl>
                                      </p:cMediaNode>
                                    </p:audio>
                                  </p:subTnLst>
                                </p:cTn>
                              </p:par>
                              <p:par>
                                <p:cTn id="190" presetID="17" presetClass="entr" presetSubtype="2" fill="hold" grpId="0" nodeType="withEffect">
                                  <p:stCondLst>
                                    <p:cond delay="0"/>
                                  </p:stCondLst>
                                  <p:childTnLst>
                                    <p:set>
                                      <p:cBhvr>
                                        <p:cTn id="191" dur="1" fill="hold">
                                          <p:stCondLst>
                                            <p:cond delay="0"/>
                                          </p:stCondLst>
                                        </p:cTn>
                                        <p:tgtEl>
                                          <p:spTgt spid="181"/>
                                        </p:tgtEl>
                                        <p:attrNameLst>
                                          <p:attrName>style.visibility</p:attrName>
                                        </p:attrNameLst>
                                      </p:cBhvr>
                                      <p:to>
                                        <p:strVal val="visible"/>
                                      </p:to>
                                    </p:set>
                                    <p:anim calcmode="lin" valueType="num">
                                      <p:cBhvr>
                                        <p:cTn id="192" dur="5000" fill="hold"/>
                                        <p:tgtEl>
                                          <p:spTgt spid="181"/>
                                        </p:tgtEl>
                                        <p:attrNameLst>
                                          <p:attrName>ppt_x</p:attrName>
                                        </p:attrNameLst>
                                      </p:cBhvr>
                                      <p:tavLst>
                                        <p:tav tm="0">
                                          <p:val>
                                            <p:strVal val="#ppt_x+#ppt_w/2"/>
                                          </p:val>
                                        </p:tav>
                                        <p:tav tm="100000">
                                          <p:val>
                                            <p:strVal val="#ppt_x"/>
                                          </p:val>
                                        </p:tav>
                                      </p:tavLst>
                                    </p:anim>
                                    <p:anim calcmode="lin" valueType="num">
                                      <p:cBhvr>
                                        <p:cTn id="193" dur="5000" fill="hold"/>
                                        <p:tgtEl>
                                          <p:spTgt spid="181"/>
                                        </p:tgtEl>
                                        <p:attrNameLst>
                                          <p:attrName>ppt_y</p:attrName>
                                        </p:attrNameLst>
                                      </p:cBhvr>
                                      <p:tavLst>
                                        <p:tav tm="0">
                                          <p:val>
                                            <p:strVal val="#ppt_y"/>
                                          </p:val>
                                        </p:tav>
                                        <p:tav tm="100000">
                                          <p:val>
                                            <p:strVal val="#ppt_y"/>
                                          </p:val>
                                        </p:tav>
                                      </p:tavLst>
                                    </p:anim>
                                    <p:anim calcmode="lin" valueType="num">
                                      <p:cBhvr>
                                        <p:cTn id="194" dur="5000" fill="hold"/>
                                        <p:tgtEl>
                                          <p:spTgt spid="181"/>
                                        </p:tgtEl>
                                        <p:attrNameLst>
                                          <p:attrName>ppt_w</p:attrName>
                                        </p:attrNameLst>
                                      </p:cBhvr>
                                      <p:tavLst>
                                        <p:tav tm="0">
                                          <p:val>
                                            <p:fltVal val="0"/>
                                          </p:val>
                                        </p:tav>
                                        <p:tav tm="100000">
                                          <p:val>
                                            <p:strVal val="#ppt_w"/>
                                          </p:val>
                                        </p:tav>
                                      </p:tavLst>
                                    </p:anim>
                                    <p:anim calcmode="lin" valueType="num">
                                      <p:cBhvr>
                                        <p:cTn id="195"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0"/>
                                            </p:cond>
                                          </p:stCondLst>
                                          <p:endCondLst>
                                            <p:cond evt="onStopAudio" delay="0">
                                              <p:tgtEl>
                                                <p:sldTgt/>
                                              </p:tgtEl>
                                            </p:cond>
                                          </p:endCondLst>
                                        </p:cTn>
                                        <p:tgtEl>
                                          <p:sndTgt r:embed="rId4" name="CHIMES.WAV"/>
                                        </p:tgtEl>
                                      </p:cMediaNode>
                                    </p:audio>
                                  </p:subTnLst>
                                </p:cTn>
                              </p:par>
                              <p:par>
                                <p:cTn id="196" presetID="17" presetClass="entr" presetSubtype="2" fill="hold" grpId="0" nodeType="withEffect">
                                  <p:stCondLst>
                                    <p:cond delay="0"/>
                                  </p:stCondLst>
                                  <p:childTnLst>
                                    <p:set>
                                      <p:cBhvr>
                                        <p:cTn id="197" dur="1" fill="hold">
                                          <p:stCondLst>
                                            <p:cond delay="0"/>
                                          </p:stCondLst>
                                        </p:cTn>
                                        <p:tgtEl>
                                          <p:spTgt spid="180"/>
                                        </p:tgtEl>
                                        <p:attrNameLst>
                                          <p:attrName>style.visibility</p:attrName>
                                        </p:attrNameLst>
                                      </p:cBhvr>
                                      <p:to>
                                        <p:strVal val="visible"/>
                                      </p:to>
                                    </p:set>
                                    <p:anim calcmode="lin" valueType="num">
                                      <p:cBhvr>
                                        <p:cTn id="198" dur="5000" fill="hold"/>
                                        <p:tgtEl>
                                          <p:spTgt spid="180"/>
                                        </p:tgtEl>
                                        <p:attrNameLst>
                                          <p:attrName>ppt_x</p:attrName>
                                        </p:attrNameLst>
                                      </p:cBhvr>
                                      <p:tavLst>
                                        <p:tav tm="0">
                                          <p:val>
                                            <p:strVal val="#ppt_x+#ppt_w/2"/>
                                          </p:val>
                                        </p:tav>
                                        <p:tav tm="100000">
                                          <p:val>
                                            <p:strVal val="#ppt_x"/>
                                          </p:val>
                                        </p:tav>
                                      </p:tavLst>
                                    </p:anim>
                                    <p:anim calcmode="lin" valueType="num">
                                      <p:cBhvr>
                                        <p:cTn id="199" dur="5000" fill="hold"/>
                                        <p:tgtEl>
                                          <p:spTgt spid="180"/>
                                        </p:tgtEl>
                                        <p:attrNameLst>
                                          <p:attrName>ppt_y</p:attrName>
                                        </p:attrNameLst>
                                      </p:cBhvr>
                                      <p:tavLst>
                                        <p:tav tm="0">
                                          <p:val>
                                            <p:strVal val="#ppt_y"/>
                                          </p:val>
                                        </p:tav>
                                        <p:tav tm="100000">
                                          <p:val>
                                            <p:strVal val="#ppt_y"/>
                                          </p:val>
                                        </p:tav>
                                      </p:tavLst>
                                    </p:anim>
                                    <p:anim calcmode="lin" valueType="num">
                                      <p:cBhvr>
                                        <p:cTn id="200" dur="5000" fill="hold"/>
                                        <p:tgtEl>
                                          <p:spTgt spid="180"/>
                                        </p:tgtEl>
                                        <p:attrNameLst>
                                          <p:attrName>ppt_w</p:attrName>
                                        </p:attrNameLst>
                                      </p:cBhvr>
                                      <p:tavLst>
                                        <p:tav tm="0">
                                          <p:val>
                                            <p:fltVal val="0"/>
                                          </p:val>
                                        </p:tav>
                                        <p:tav tm="100000">
                                          <p:val>
                                            <p:strVal val="#ppt_w"/>
                                          </p:val>
                                        </p:tav>
                                      </p:tavLst>
                                    </p:anim>
                                    <p:anim calcmode="lin" valueType="num">
                                      <p:cBhvr>
                                        <p:cTn id="201"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6"/>
                                            </p:cond>
                                          </p:stCondLst>
                                          <p:endCondLst>
                                            <p:cond evt="onStopAudio" delay="0">
                                              <p:tgtEl>
                                                <p:sldTgt/>
                                              </p:tgtEl>
                                            </p:cond>
                                          </p:endCondLst>
                                        </p:cTn>
                                        <p:tgtEl>
                                          <p:sndTgt r:embed="rId4" name="CHIMES.WAV"/>
                                        </p:tgtEl>
                                      </p:cMediaNode>
                                    </p:audio>
                                  </p:subTnLst>
                                </p:cTn>
                              </p:par>
                              <p:par>
                                <p:cTn id="202" presetID="17" presetClass="entr" presetSubtype="2" fill="hold" grpId="0" nodeType="withEffect">
                                  <p:stCondLst>
                                    <p:cond delay="0"/>
                                  </p:stCondLst>
                                  <p:childTnLst>
                                    <p:set>
                                      <p:cBhvr>
                                        <p:cTn id="203" dur="1" fill="hold">
                                          <p:stCondLst>
                                            <p:cond delay="0"/>
                                          </p:stCondLst>
                                        </p:cTn>
                                        <p:tgtEl>
                                          <p:spTgt spid="185"/>
                                        </p:tgtEl>
                                        <p:attrNameLst>
                                          <p:attrName>style.visibility</p:attrName>
                                        </p:attrNameLst>
                                      </p:cBhvr>
                                      <p:to>
                                        <p:strVal val="visible"/>
                                      </p:to>
                                    </p:set>
                                    <p:anim calcmode="lin" valueType="num">
                                      <p:cBhvr>
                                        <p:cTn id="204" dur="5000" fill="hold"/>
                                        <p:tgtEl>
                                          <p:spTgt spid="185"/>
                                        </p:tgtEl>
                                        <p:attrNameLst>
                                          <p:attrName>ppt_x</p:attrName>
                                        </p:attrNameLst>
                                      </p:cBhvr>
                                      <p:tavLst>
                                        <p:tav tm="0">
                                          <p:val>
                                            <p:strVal val="#ppt_x+#ppt_w/2"/>
                                          </p:val>
                                        </p:tav>
                                        <p:tav tm="100000">
                                          <p:val>
                                            <p:strVal val="#ppt_x"/>
                                          </p:val>
                                        </p:tav>
                                      </p:tavLst>
                                    </p:anim>
                                    <p:anim calcmode="lin" valueType="num">
                                      <p:cBhvr>
                                        <p:cTn id="205" dur="5000" fill="hold"/>
                                        <p:tgtEl>
                                          <p:spTgt spid="185"/>
                                        </p:tgtEl>
                                        <p:attrNameLst>
                                          <p:attrName>ppt_y</p:attrName>
                                        </p:attrNameLst>
                                      </p:cBhvr>
                                      <p:tavLst>
                                        <p:tav tm="0">
                                          <p:val>
                                            <p:strVal val="#ppt_y"/>
                                          </p:val>
                                        </p:tav>
                                        <p:tav tm="100000">
                                          <p:val>
                                            <p:strVal val="#ppt_y"/>
                                          </p:val>
                                        </p:tav>
                                      </p:tavLst>
                                    </p:anim>
                                    <p:anim calcmode="lin" valueType="num">
                                      <p:cBhvr>
                                        <p:cTn id="206" dur="5000" fill="hold"/>
                                        <p:tgtEl>
                                          <p:spTgt spid="185"/>
                                        </p:tgtEl>
                                        <p:attrNameLst>
                                          <p:attrName>ppt_w</p:attrName>
                                        </p:attrNameLst>
                                      </p:cBhvr>
                                      <p:tavLst>
                                        <p:tav tm="0">
                                          <p:val>
                                            <p:fltVal val="0"/>
                                          </p:val>
                                        </p:tav>
                                        <p:tav tm="100000">
                                          <p:val>
                                            <p:strVal val="#ppt_w"/>
                                          </p:val>
                                        </p:tav>
                                      </p:tavLst>
                                    </p:anim>
                                    <p:anim calcmode="lin" valueType="num">
                                      <p:cBhvr>
                                        <p:cTn id="207"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2"/>
                                            </p:cond>
                                          </p:stCondLst>
                                          <p:endCondLst>
                                            <p:cond evt="onStopAudio" delay="0">
                                              <p:tgtEl>
                                                <p:sldTgt/>
                                              </p:tgtEl>
                                            </p:cond>
                                          </p:endCondLst>
                                        </p:cTn>
                                        <p:tgtEl>
                                          <p:sndTgt r:embed="rId4" name="CHIMES.WAV"/>
                                        </p:tgtEl>
                                      </p:cMediaNode>
                                    </p:audio>
                                  </p:subTnLst>
                                </p:cTn>
                              </p:par>
                              <p:par>
                                <p:cTn id="208" presetID="18" presetClass="entr" presetSubtype="12" fill="hold" grpId="0" nodeType="withEffect">
                                  <p:stCondLst>
                                    <p:cond delay="0"/>
                                  </p:stCondLst>
                                  <p:childTnLst>
                                    <p:set>
                                      <p:cBhvr>
                                        <p:cTn id="209" dur="1" fill="hold">
                                          <p:stCondLst>
                                            <p:cond delay="0"/>
                                          </p:stCondLst>
                                        </p:cTn>
                                        <p:tgtEl>
                                          <p:spTgt spid="179"/>
                                        </p:tgtEl>
                                        <p:attrNameLst>
                                          <p:attrName>style.visibility</p:attrName>
                                        </p:attrNameLst>
                                      </p:cBhvr>
                                      <p:to>
                                        <p:strVal val="visible"/>
                                      </p:to>
                                    </p:set>
                                    <p:animEffect transition="in" filter="strips(downLeft)">
                                      <p:cBhvr>
                                        <p:cTn id="210" dur="5000"/>
                                        <p:tgtEl>
                                          <p:spTgt spid="179"/>
                                        </p:tgtEl>
                                      </p:cBhvr>
                                    </p:animEffect>
                                  </p:childTnLst>
                                  <p:subTnLst>
                                    <p:audio>
                                      <p:cMediaNode>
                                        <p:cTn display="0" masterRel="sameClick">
                                          <p:stCondLst>
                                            <p:cond evt="begin" delay="0">
                                              <p:tn val="208"/>
                                            </p:cond>
                                          </p:stCondLst>
                                          <p:endCondLst>
                                            <p:cond evt="onStopAudio" delay="0">
                                              <p:tgtEl>
                                                <p:sldTgt/>
                                              </p:tgtEl>
                                            </p:cond>
                                          </p:endCondLst>
                                        </p:cTn>
                                        <p:tgtEl>
                                          <p:sndTgt r:embed="rId4" name="CHIMES.WAV"/>
                                        </p:tgtEl>
                                      </p:cMediaNode>
                                    </p:audio>
                                  </p:subTnLst>
                                </p:cTn>
                              </p:par>
                              <p:par>
                                <p:cTn id="211" presetID="18" presetClass="entr" presetSubtype="6" fill="hold" grpId="0" nodeType="withEffect">
                                  <p:stCondLst>
                                    <p:cond delay="0"/>
                                  </p:stCondLst>
                                  <p:childTnLst>
                                    <p:set>
                                      <p:cBhvr>
                                        <p:cTn id="212" dur="1" fill="hold">
                                          <p:stCondLst>
                                            <p:cond delay="0"/>
                                          </p:stCondLst>
                                        </p:cTn>
                                        <p:tgtEl>
                                          <p:spTgt spid="186"/>
                                        </p:tgtEl>
                                        <p:attrNameLst>
                                          <p:attrName>style.visibility</p:attrName>
                                        </p:attrNameLst>
                                      </p:cBhvr>
                                      <p:to>
                                        <p:strVal val="visible"/>
                                      </p:to>
                                    </p:set>
                                    <p:animEffect transition="in" filter="strips(downRight)">
                                      <p:cBhvr>
                                        <p:cTn id="213" dur="5000"/>
                                        <p:tgtEl>
                                          <p:spTgt spid="186"/>
                                        </p:tgtEl>
                                      </p:cBhvr>
                                    </p:animEffect>
                                  </p:childTnLst>
                                  <p:subTnLst>
                                    <p:audio>
                                      <p:cMediaNode>
                                        <p:cTn display="0" masterRel="sameClick">
                                          <p:stCondLst>
                                            <p:cond evt="begin" delay="0">
                                              <p:tn val="211"/>
                                            </p:cond>
                                          </p:stCondLst>
                                          <p:endCondLst>
                                            <p:cond evt="onStopAudio" delay="0">
                                              <p:tgtEl>
                                                <p:sldTgt/>
                                              </p:tgtEl>
                                            </p:cond>
                                          </p:endCondLst>
                                        </p:cTn>
                                        <p:tgtEl>
                                          <p:sndTgt r:embed="rId4" name="CHIMES.WAV"/>
                                        </p:tgtEl>
                                      </p:cMediaNode>
                                    </p:audio>
                                  </p:subTnLst>
                                </p:cTn>
                              </p:par>
                            </p:childTnLst>
                          </p:cTn>
                        </p:par>
                        <p:par>
                          <p:cTn id="214" fill="hold">
                            <p:stCondLst>
                              <p:cond delay="10500"/>
                            </p:stCondLst>
                            <p:childTnLst>
                              <p:par>
                                <p:cTn id="215" presetID="19" presetClass="entr" presetSubtype="10" fill="hold" grpId="0" nodeType="afterEffect">
                                  <p:stCondLst>
                                    <p:cond delay="0"/>
                                  </p:stCondLst>
                                  <p:childTnLst>
                                    <p:set>
                                      <p:cBhvr>
                                        <p:cTn id="216" dur="1" fill="hold">
                                          <p:stCondLst>
                                            <p:cond delay="0"/>
                                          </p:stCondLst>
                                        </p:cTn>
                                        <p:tgtEl>
                                          <p:spTgt spid="206"/>
                                        </p:tgtEl>
                                        <p:attrNameLst>
                                          <p:attrName>style.visibility</p:attrName>
                                        </p:attrNameLst>
                                      </p:cBhvr>
                                      <p:to>
                                        <p:strVal val="visible"/>
                                      </p:to>
                                    </p:set>
                                    <p:anim calcmode="lin" valueType="num">
                                      <p:cBhvr>
                                        <p:cTn id="217" dur="5000" fill="hold"/>
                                        <p:tgtEl>
                                          <p:spTgt spid="206"/>
                                        </p:tgtEl>
                                        <p:attrNameLst>
                                          <p:attrName>ppt_w</p:attrName>
                                        </p:attrNameLst>
                                      </p:cBhvr>
                                      <p:tavLst>
                                        <p:tav tm="0" fmla="#ppt_w*sin(2.5*pi*$)">
                                          <p:val>
                                            <p:fltVal val="0"/>
                                          </p:val>
                                        </p:tav>
                                        <p:tav tm="100000">
                                          <p:val>
                                            <p:fltVal val="1"/>
                                          </p:val>
                                        </p:tav>
                                      </p:tavLst>
                                    </p:anim>
                                    <p:anim calcmode="lin" valueType="num">
                                      <p:cBhvr>
                                        <p:cTn id="218"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499"/>
                                          </p:stCondLst>
                                        </p:cTn>
                                        <p:tgtEl>
                                          <p:spTgt spid="6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499"/>
                                          </p:stCondLst>
                                        </p:cTn>
                                        <p:tgtEl>
                                          <p:spTgt spid="207"/>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499"/>
                                          </p:stCondLst>
                                        </p:cTn>
                                        <p:tgtEl>
                                          <p:spTgt spid="20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499"/>
                                          </p:stCondLst>
                                        </p:cTn>
                                        <p:tgtEl>
                                          <p:spTgt spid="209"/>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499"/>
                                          </p:stCondLst>
                                        </p:cTn>
                                        <p:tgtEl>
                                          <p:spTgt spid="21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499"/>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2" grpId="0" autoUpdateAnimBg="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P spid="207" grpId="0" autoUpdateAnimBg="0"/>
      <p:bldP spid="208" grpId="0" autoUpdateAnimBg="0"/>
      <p:bldP spid="209" grpId="0" autoUpdateAnimBg="0"/>
      <p:bldP spid="210" grpId="0" autoUpdateAnimBg="0"/>
      <p:bldP spid="21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623392" y="857411"/>
            <a:ext cx="10120185" cy="339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solidFill>
                  <a:srgbClr val="FF00FF"/>
                </a:solidFill>
                <a:latin typeface="+mn-lt"/>
                <a:ea typeface="微软雅黑" panose="020B0503020204020204" pitchFamily="34" charset="-122"/>
              </a:rPr>
              <a:t>3</a:t>
            </a:r>
            <a:r>
              <a:rPr kumimoji="1" lang="zh-CN" altLang="en-US" sz="2800" i="0" dirty="0">
                <a:solidFill>
                  <a:srgbClr val="FF00FF"/>
                </a:solidFill>
                <a:latin typeface="+mn-lt"/>
                <a:ea typeface="微软雅黑" panose="020B0503020204020204" pitchFamily="34" charset="-122"/>
              </a:rPr>
              <a:t>．惯性矩的对比计算</a:t>
            </a:r>
          </a:p>
          <a:p>
            <a:pPr lvl="0" algn="just">
              <a:lnSpc>
                <a:spcPct val="130000"/>
              </a:lnSpc>
            </a:pPr>
            <a:r>
              <a:rPr kumimoji="1" lang="zh-CN" altLang="en-US" sz="2800" i="0" dirty="0">
                <a:latin typeface="+mn-lt"/>
                <a:ea typeface="微软雅黑" panose="020B0503020204020204" pitchFamily="34" charset="-122"/>
              </a:rPr>
              <a:t>      </a:t>
            </a:r>
            <a:r>
              <a:rPr lang="zh-CN" altLang="en-US" sz="2800" i="0" dirty="0">
                <a:latin typeface="+mn-lt"/>
                <a:ea typeface="微软雅黑" panose="020B0503020204020204" pitchFamily="34" charset="-122"/>
              </a:rPr>
              <a:t>由理论力学部分可知，对于匀质规则形状的物体，其转动惯量为</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m </a:t>
            </a:r>
            <a:r>
              <a:rPr lang="en-US" altLang="zh-CN" sz="2800" b="0" dirty="0">
                <a:latin typeface="+mn-lt"/>
                <a:ea typeface="微软雅黑" panose="020B0503020204020204" pitchFamily="34" charset="-122"/>
              </a:rPr>
              <a:t>r</a:t>
            </a:r>
            <a:r>
              <a:rPr lang="en-US" altLang="zh-CN" sz="2800" b="0" i="0" baseline="30000" dirty="0">
                <a:latin typeface="+mn-lt"/>
                <a:ea typeface="微软雅黑" panose="020B0503020204020204" pitchFamily="34" charset="-122"/>
              </a:rPr>
              <a:t>2</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，它是旋转物体质量对转轴的二次矩；截面惯性矩定义为</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 </a:t>
            </a:r>
            <a:r>
              <a:rPr lang="en-US" altLang="zh-CN" sz="2800" b="0" dirty="0">
                <a:latin typeface="+mn-lt"/>
                <a:ea typeface="微软雅黑" panose="020B0503020204020204" pitchFamily="34" charset="-122"/>
              </a:rPr>
              <a:t>y</a:t>
            </a:r>
            <a:r>
              <a:rPr lang="en-US" altLang="zh-CN" sz="2800" b="0" i="0" baseline="30000" dirty="0">
                <a:latin typeface="+mn-lt"/>
                <a:ea typeface="微软雅黑" panose="020B0503020204020204" pitchFamily="34" charset="-122"/>
              </a:rPr>
              <a:t>2</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A</a:t>
            </a:r>
            <a:r>
              <a:rPr lang="zh-CN" altLang="en-US" sz="2800" i="0" dirty="0">
                <a:latin typeface="+mn-lt"/>
                <a:ea typeface="微软雅黑" panose="020B0503020204020204" pitchFamily="34" charset="-122"/>
              </a:rPr>
              <a:t>，它是面积对中性轴的二次矩，它们的表达式相似，计算方法也类同。因此只须用面积来置换质量，就可将转动惯量改写成惯性矩。 </a:t>
            </a:r>
            <a:endParaRPr kumimoji="1"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35511301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623393" y="1052736"/>
            <a:ext cx="6480719" cy="395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j-lt"/>
                <a:ea typeface="微软雅黑" panose="020B0503020204020204" pitchFamily="34" charset="-122"/>
              </a:rPr>
              <a:t>以高为</a:t>
            </a:r>
            <a:r>
              <a:rPr kumimoji="1" lang="en-US" altLang="zh-CN" sz="2800" b="0" dirty="0">
                <a:latin typeface="+mj-lt"/>
                <a:ea typeface="微软雅黑" panose="020B0503020204020204" pitchFamily="34" charset="-122"/>
              </a:rPr>
              <a:t>h</a:t>
            </a:r>
            <a:r>
              <a:rPr kumimoji="1" lang="zh-CN" altLang="en-US" sz="2800" i="0" dirty="0">
                <a:latin typeface="+mj-lt"/>
                <a:ea typeface="微软雅黑" panose="020B0503020204020204" pitchFamily="34" charset="-122"/>
              </a:rPr>
              <a:t>、宽为</a:t>
            </a:r>
            <a:r>
              <a:rPr kumimoji="1" lang="en-US" altLang="zh-CN" sz="2800" b="0" dirty="0">
                <a:latin typeface="+mj-lt"/>
                <a:ea typeface="微软雅黑" panose="020B0503020204020204" pitchFamily="34" charset="-122"/>
              </a:rPr>
              <a:t>b</a:t>
            </a:r>
            <a:r>
              <a:rPr kumimoji="1" lang="zh-CN" altLang="en-US" sz="2800" i="0" dirty="0">
                <a:latin typeface="+mj-lt"/>
                <a:ea typeface="微软雅黑" panose="020B0503020204020204" pitchFamily="34" charset="-122"/>
              </a:rPr>
              <a:t>的矩形为例，</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轴通过形心且平行于底边，</a:t>
            </a:r>
            <a:r>
              <a:rPr kumimoji="1" lang="en-US" altLang="zh-CN" sz="2800" b="0" dirty="0">
                <a:latin typeface="+mj-lt"/>
                <a:ea typeface="微软雅黑" panose="020B0503020204020204" pitchFamily="34" charset="-122"/>
              </a:rPr>
              <a:t>y</a:t>
            </a:r>
            <a:r>
              <a:rPr kumimoji="1" lang="zh-CN" altLang="en-US" sz="2800" i="0" dirty="0">
                <a:latin typeface="+mj-lt"/>
                <a:ea typeface="微软雅黑" panose="020B0503020204020204" pitchFamily="34" charset="-122"/>
              </a:rPr>
              <a:t>轴过形心垂直于</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轴，则对</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轴的惯性矩为</a:t>
            </a:r>
          </a:p>
          <a:p>
            <a:pPr lvl="0">
              <a:lnSpc>
                <a:spcPct val="130000"/>
              </a:lnSpc>
            </a:pP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Ah</a:t>
            </a:r>
            <a:r>
              <a:rPr kumimoji="1" lang="en-US" altLang="zh-CN" sz="2800" b="0" i="0" baseline="30000" dirty="0">
                <a:latin typeface="+mj-lt"/>
                <a:ea typeface="微软雅黑" panose="020B0503020204020204" pitchFamily="34" charset="-122"/>
              </a:rPr>
              <a:t>2</a:t>
            </a:r>
            <a:r>
              <a:rPr kumimoji="1" lang="en-US" altLang="zh-CN" sz="2800" b="0" i="0" dirty="0">
                <a:latin typeface="+mj-lt"/>
                <a:ea typeface="微软雅黑" panose="020B0503020204020204" pitchFamily="34" charset="-122"/>
              </a:rPr>
              <a:t>/12</a:t>
            </a:r>
            <a:r>
              <a:rPr kumimoji="1" lang="zh-CN" altLang="en-US" sz="2800" i="0" dirty="0">
                <a:latin typeface="+mj-lt"/>
                <a:ea typeface="微软雅黑" panose="020B0503020204020204" pitchFamily="34" charset="-122"/>
              </a:rPr>
              <a:t>，以</a:t>
            </a:r>
            <a:r>
              <a:rPr kumimoji="1" lang="en-US" altLang="zh-CN" sz="2800" b="0" dirty="0">
                <a:latin typeface="+mj-lt"/>
                <a:ea typeface="微软雅黑" panose="020B0503020204020204" pitchFamily="34" charset="-122"/>
              </a:rPr>
              <a:t>A</a:t>
            </a: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bh</a:t>
            </a:r>
            <a:r>
              <a:rPr kumimoji="1" lang="zh-CN" altLang="en-US" sz="2800" i="0" dirty="0">
                <a:latin typeface="+mj-lt"/>
                <a:ea typeface="微软雅黑" panose="020B0503020204020204" pitchFamily="34" charset="-122"/>
              </a:rPr>
              <a:t>代人得</a:t>
            </a:r>
          </a:p>
          <a:p>
            <a:pPr lvl="0">
              <a:lnSpc>
                <a:spcPct val="130000"/>
              </a:lnSpc>
            </a:pPr>
            <a:r>
              <a:rPr kumimoji="1" lang="zh-CN" altLang="en-US" sz="280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bh</a:t>
            </a:r>
            <a:r>
              <a:rPr kumimoji="1" lang="en-US" altLang="zh-CN" sz="2800" b="0" i="0" baseline="30000" dirty="0">
                <a:latin typeface="+mj-lt"/>
                <a:ea typeface="微软雅黑" panose="020B0503020204020204" pitchFamily="34" charset="-122"/>
              </a:rPr>
              <a:t>3</a:t>
            </a:r>
            <a:r>
              <a:rPr kumimoji="1" lang="en-US" altLang="zh-CN" sz="2800" b="0" i="0" dirty="0">
                <a:latin typeface="+mj-lt"/>
                <a:ea typeface="微软雅黑" panose="020B0503020204020204" pitchFamily="34" charset="-122"/>
              </a:rPr>
              <a:t>/12       </a:t>
            </a:r>
          </a:p>
          <a:p>
            <a:pPr lvl="0">
              <a:lnSpc>
                <a:spcPct val="130000"/>
              </a:lnSpc>
            </a:pPr>
            <a:r>
              <a:rPr kumimoji="1" lang="zh-CN" altLang="en-US" sz="2800" i="0" dirty="0">
                <a:latin typeface="+mj-lt"/>
                <a:ea typeface="微软雅黑" panose="020B0503020204020204" pitchFamily="34" charset="-122"/>
              </a:rPr>
              <a:t>相应地</a:t>
            </a:r>
          </a:p>
          <a:p>
            <a:pPr lvl="0">
              <a:lnSpc>
                <a:spcPct val="130000"/>
              </a:lnSpc>
            </a:pPr>
            <a:r>
              <a:rPr kumimoji="1" lang="zh-CN" altLang="en-US" sz="280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W</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bh</a:t>
            </a:r>
            <a:r>
              <a:rPr kumimoji="1" lang="en-US" altLang="zh-CN" sz="2800" b="0" i="0" baseline="30000" dirty="0">
                <a:latin typeface="+mj-lt"/>
                <a:ea typeface="微软雅黑" panose="020B0503020204020204" pitchFamily="34" charset="-122"/>
              </a:rPr>
              <a:t>2</a:t>
            </a:r>
            <a:r>
              <a:rPr kumimoji="1" lang="en-US" altLang="zh-CN" sz="2800" b="0" i="0" dirty="0">
                <a:latin typeface="+mj-lt"/>
                <a:ea typeface="微软雅黑" panose="020B0503020204020204" pitchFamily="34" charset="-122"/>
              </a:rPr>
              <a:t>/6</a:t>
            </a:r>
            <a:endParaRPr kumimoji="1" lang="zh-CN" altLang="en-US" sz="2800" b="0" i="0" dirty="0">
              <a:latin typeface="+mj-lt"/>
              <a:ea typeface="微软雅黑" panose="020B0503020204020204" pitchFamily="34" charset="-122"/>
            </a:endParaRPr>
          </a:p>
        </p:txBody>
      </p:sp>
      <p:sp>
        <p:nvSpPr>
          <p:cNvPr id="2" name="Rectangle 61">
            <a:extLst>
              <a:ext uri="{FF2B5EF4-FFF2-40B4-BE49-F238E27FC236}">
                <a16:creationId xmlns:a16="http://schemas.microsoft.com/office/drawing/2014/main" id="{2D07A66E-EB5F-0FC4-9479-A72EF78D25A3}"/>
              </a:ext>
            </a:extLst>
          </p:cNvPr>
          <p:cNvSpPr>
            <a:spLocks noChangeArrowheads="1"/>
          </p:cNvSpPr>
          <p:nvPr/>
        </p:nvSpPr>
        <p:spPr bwMode="auto">
          <a:xfrm>
            <a:off x="7680176" y="1211095"/>
            <a:ext cx="4032448" cy="4435810"/>
          </a:xfrm>
          <a:prstGeom prst="rect">
            <a:avLst/>
          </a:prstGeom>
          <a:solidFill>
            <a:srgbClr val="B9CDE5"/>
          </a:solidFill>
          <a:ln>
            <a:noFill/>
          </a:ln>
          <a:effectLst/>
        </p:spPr>
        <p:txBody>
          <a:bodyPr wrap="none" anchor="ctr"/>
          <a:lstStyle/>
          <a:p>
            <a:endParaRPr lang="zh-CN" altLang="en-US" dirty="0"/>
          </a:p>
        </p:txBody>
      </p:sp>
      <p:grpSp>
        <p:nvGrpSpPr>
          <p:cNvPr id="5" name="Group 4">
            <a:extLst>
              <a:ext uri="{FF2B5EF4-FFF2-40B4-BE49-F238E27FC236}">
                <a16:creationId xmlns:a16="http://schemas.microsoft.com/office/drawing/2014/main" id="{1431BBDD-7B96-547A-2EED-3203E3BF2DCE}"/>
              </a:ext>
            </a:extLst>
          </p:cNvPr>
          <p:cNvGrpSpPr>
            <a:grpSpLocks/>
          </p:cNvGrpSpPr>
          <p:nvPr/>
        </p:nvGrpSpPr>
        <p:grpSpPr bwMode="auto">
          <a:xfrm>
            <a:off x="7885614" y="1477962"/>
            <a:ext cx="3792538" cy="3902075"/>
            <a:chOff x="3242" y="13"/>
            <a:chExt cx="2389" cy="2458"/>
          </a:xfrm>
        </p:grpSpPr>
        <p:sp>
          <p:nvSpPr>
            <p:cNvPr id="6" name="Rectangle 5" descr="宽上对角线">
              <a:extLst>
                <a:ext uri="{FF2B5EF4-FFF2-40B4-BE49-F238E27FC236}">
                  <a16:creationId xmlns:a16="http://schemas.microsoft.com/office/drawing/2014/main" id="{E7760F2D-5A40-ADA3-BA87-90A9254F30B9}"/>
                </a:ext>
              </a:extLst>
            </p:cNvPr>
            <p:cNvSpPr>
              <a:spLocks noChangeAspect="1" noChangeArrowheads="1"/>
            </p:cNvSpPr>
            <p:nvPr/>
          </p:nvSpPr>
          <p:spPr bwMode="auto">
            <a:xfrm>
              <a:off x="4032" y="482"/>
              <a:ext cx="932" cy="1212"/>
            </a:xfrm>
            <a:prstGeom prst="rect">
              <a:avLst/>
            </a:prstGeom>
            <a:pattFill prst="wdUpDiag">
              <a:fgClr>
                <a:srgbClr val="000000"/>
              </a:fgClr>
              <a:bgClr>
                <a:srgbClr val="99FFCC"/>
              </a:bgClr>
            </a:patt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 name="Line 6">
              <a:extLst>
                <a:ext uri="{FF2B5EF4-FFF2-40B4-BE49-F238E27FC236}">
                  <a16:creationId xmlns:a16="http://schemas.microsoft.com/office/drawing/2014/main" id="{C79FE3F3-C958-B0E2-1B3B-7A1FD87A1D7F}"/>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 name="Line 7">
              <a:extLst>
                <a:ext uri="{FF2B5EF4-FFF2-40B4-BE49-F238E27FC236}">
                  <a16:creationId xmlns:a16="http://schemas.microsoft.com/office/drawing/2014/main" id="{F23215AB-F2C0-0631-DAC1-7EB334607FB3}"/>
                </a:ext>
              </a:extLst>
            </p:cNvPr>
            <p:cNvSpPr>
              <a:spLocks noChangeAspect="1" noChangeShapeType="1"/>
            </p:cNvSpPr>
            <p:nvPr/>
          </p:nvSpPr>
          <p:spPr bwMode="auto">
            <a:xfrm>
              <a:off x="3824" y="1099"/>
              <a:ext cx="1596"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8">
              <a:extLst>
                <a:ext uri="{FF2B5EF4-FFF2-40B4-BE49-F238E27FC236}">
                  <a16:creationId xmlns:a16="http://schemas.microsoft.com/office/drawing/2014/main" id="{4E7A12D8-0512-6B07-8EAF-518C80CF8F22}"/>
                </a:ext>
              </a:extLst>
            </p:cNvPr>
            <p:cNvSpPr>
              <a:spLocks noChangeAspect="1" noChangeShapeType="1"/>
            </p:cNvSpPr>
            <p:nvPr/>
          </p:nvSpPr>
          <p:spPr bwMode="auto">
            <a:xfrm>
              <a:off x="3514" y="477"/>
              <a:ext cx="5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Line 9">
              <a:extLst>
                <a:ext uri="{FF2B5EF4-FFF2-40B4-BE49-F238E27FC236}">
                  <a16:creationId xmlns:a16="http://schemas.microsoft.com/office/drawing/2014/main" id="{97523C17-8C22-AAB2-01DB-5A413D9F85B2}"/>
                </a:ext>
              </a:extLst>
            </p:cNvPr>
            <p:cNvSpPr>
              <a:spLocks noChangeAspect="1" noChangeShapeType="1"/>
            </p:cNvSpPr>
            <p:nvPr/>
          </p:nvSpPr>
          <p:spPr bwMode="auto">
            <a:xfrm flipH="1">
              <a:off x="3514" y="1694"/>
              <a:ext cx="5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 name="Line 10">
              <a:extLst>
                <a:ext uri="{FF2B5EF4-FFF2-40B4-BE49-F238E27FC236}">
                  <a16:creationId xmlns:a16="http://schemas.microsoft.com/office/drawing/2014/main" id="{D1755DA1-8E6B-EDF4-B8D5-00DF01E3EAB6}"/>
                </a:ext>
              </a:extLst>
            </p:cNvPr>
            <p:cNvSpPr>
              <a:spLocks noChangeAspect="1" noChangeShapeType="1"/>
            </p:cNvSpPr>
            <p:nvPr/>
          </p:nvSpPr>
          <p:spPr bwMode="auto">
            <a:xfrm>
              <a:off x="3539" y="477"/>
              <a:ext cx="0" cy="1217"/>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 name="Line 11">
              <a:extLst>
                <a:ext uri="{FF2B5EF4-FFF2-40B4-BE49-F238E27FC236}">
                  <a16:creationId xmlns:a16="http://schemas.microsoft.com/office/drawing/2014/main" id="{22B4A8AE-714B-F355-8434-C7597E1756C7}"/>
                </a:ext>
              </a:extLst>
            </p:cNvPr>
            <p:cNvSpPr>
              <a:spLocks noChangeAspect="1" noChangeShapeType="1"/>
            </p:cNvSpPr>
            <p:nvPr/>
          </p:nvSpPr>
          <p:spPr bwMode="auto">
            <a:xfrm>
              <a:off x="4032" y="1719"/>
              <a:ext cx="0" cy="6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 name="Line 12">
              <a:extLst>
                <a:ext uri="{FF2B5EF4-FFF2-40B4-BE49-F238E27FC236}">
                  <a16:creationId xmlns:a16="http://schemas.microsoft.com/office/drawing/2014/main" id="{D28B7E3E-92F1-3308-6D7F-B85C57A63E7C}"/>
                </a:ext>
              </a:extLst>
            </p:cNvPr>
            <p:cNvSpPr>
              <a:spLocks noChangeAspect="1" noChangeShapeType="1"/>
            </p:cNvSpPr>
            <p:nvPr/>
          </p:nvSpPr>
          <p:spPr bwMode="auto">
            <a:xfrm>
              <a:off x="4964" y="1719"/>
              <a:ext cx="0" cy="6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 name="Line 13">
              <a:extLst>
                <a:ext uri="{FF2B5EF4-FFF2-40B4-BE49-F238E27FC236}">
                  <a16:creationId xmlns:a16="http://schemas.microsoft.com/office/drawing/2014/main" id="{4968A2E9-DD44-6C04-9BBC-9710051CEDD8}"/>
                </a:ext>
              </a:extLst>
            </p:cNvPr>
            <p:cNvSpPr>
              <a:spLocks noChangeAspect="1" noChangeShapeType="1"/>
            </p:cNvSpPr>
            <p:nvPr/>
          </p:nvSpPr>
          <p:spPr bwMode="auto">
            <a:xfrm>
              <a:off x="4023" y="2269"/>
              <a:ext cx="932" cy="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6" name="Group 14">
              <a:extLst>
                <a:ext uri="{FF2B5EF4-FFF2-40B4-BE49-F238E27FC236}">
                  <a16:creationId xmlns:a16="http://schemas.microsoft.com/office/drawing/2014/main" id="{3167003C-45EB-6AD4-03D7-8F8459904712}"/>
                </a:ext>
              </a:extLst>
            </p:cNvPr>
            <p:cNvGrpSpPr>
              <a:grpSpLocks/>
            </p:cNvGrpSpPr>
            <p:nvPr/>
          </p:nvGrpSpPr>
          <p:grpSpPr bwMode="auto">
            <a:xfrm>
              <a:off x="4201" y="1029"/>
              <a:ext cx="363" cy="380"/>
              <a:chOff x="1357" y="2914"/>
              <a:chExt cx="363" cy="380"/>
            </a:xfrm>
          </p:grpSpPr>
          <p:sp>
            <p:nvSpPr>
              <p:cNvPr id="21" name="Rectangle 15">
                <a:extLst>
                  <a:ext uri="{FF2B5EF4-FFF2-40B4-BE49-F238E27FC236}">
                    <a16:creationId xmlns:a16="http://schemas.microsoft.com/office/drawing/2014/main" id="{FB858C7C-5C88-44C8-0E62-14DCA9B4B709}"/>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 name="Text Box 16">
                <a:extLst>
                  <a:ext uri="{FF2B5EF4-FFF2-40B4-BE49-F238E27FC236}">
                    <a16:creationId xmlns:a16="http://schemas.microsoft.com/office/drawing/2014/main" id="{F59058DC-5F1F-3A2F-17E4-EE968A2D6D55}"/>
                  </a:ext>
                </a:extLst>
              </p:cNvPr>
              <p:cNvSpPr txBox="1">
                <a:spLocks noChangeAspect="1" noChangeArrowheads="1"/>
              </p:cNvSpPr>
              <p:nvPr/>
            </p:nvSpPr>
            <p:spPr bwMode="auto">
              <a:xfrm>
                <a:off x="1357" y="2914"/>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C</a:t>
                </a:r>
              </a:p>
            </p:txBody>
          </p:sp>
        </p:grpSp>
        <p:sp>
          <p:nvSpPr>
            <p:cNvPr id="17" name="Text Box 17">
              <a:extLst>
                <a:ext uri="{FF2B5EF4-FFF2-40B4-BE49-F238E27FC236}">
                  <a16:creationId xmlns:a16="http://schemas.microsoft.com/office/drawing/2014/main" id="{6D2B1059-2202-4807-B9AA-294329C81F09}"/>
                </a:ext>
              </a:extLst>
            </p:cNvPr>
            <p:cNvSpPr txBox="1">
              <a:spLocks noChangeAspect="1" noChangeArrowheads="1"/>
            </p:cNvSpPr>
            <p:nvPr/>
          </p:nvSpPr>
          <p:spPr bwMode="auto">
            <a:xfrm>
              <a:off x="5191"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z</a:t>
              </a:r>
            </a:p>
          </p:txBody>
        </p:sp>
        <p:sp>
          <p:nvSpPr>
            <p:cNvPr id="18" name="Text Box 18">
              <a:extLst>
                <a:ext uri="{FF2B5EF4-FFF2-40B4-BE49-F238E27FC236}">
                  <a16:creationId xmlns:a16="http://schemas.microsoft.com/office/drawing/2014/main" id="{2D4C5E6E-F662-158D-4499-D17B8B2972CE}"/>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y</a:t>
              </a:r>
            </a:p>
          </p:txBody>
        </p:sp>
        <p:sp>
          <p:nvSpPr>
            <p:cNvPr id="19" name="Text Box 19">
              <a:extLst>
                <a:ext uri="{FF2B5EF4-FFF2-40B4-BE49-F238E27FC236}">
                  <a16:creationId xmlns:a16="http://schemas.microsoft.com/office/drawing/2014/main" id="{0117D427-2B76-03AC-8A6C-26C0F827C51F}"/>
                </a:ext>
              </a:extLst>
            </p:cNvPr>
            <p:cNvSpPr txBox="1">
              <a:spLocks noChangeAspect="1" noChangeArrowheads="1"/>
            </p:cNvSpPr>
            <p:nvPr/>
          </p:nvSpPr>
          <p:spPr bwMode="auto">
            <a:xfrm rot="-5400000">
              <a:off x="3238" y="861"/>
              <a:ext cx="44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mj-lt"/>
                  <a:ea typeface="宋体" panose="02010600030101010101" pitchFamily="2" charset="-122"/>
                </a:rPr>
                <a:t>h</a:t>
              </a:r>
              <a:endParaRPr kumimoji="1" lang="en-US" altLang="zh-CN" sz="3200" b="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sp>
          <p:nvSpPr>
            <p:cNvPr id="20" name="Text Box 20">
              <a:extLst>
                <a:ext uri="{FF2B5EF4-FFF2-40B4-BE49-F238E27FC236}">
                  <a16:creationId xmlns:a16="http://schemas.microsoft.com/office/drawing/2014/main" id="{17BDCA6E-015D-6252-E68C-0DD5C5FF629C}"/>
                </a:ext>
              </a:extLst>
            </p:cNvPr>
            <p:cNvSpPr txBox="1">
              <a:spLocks noChangeAspect="1" noChangeArrowheads="1"/>
            </p:cNvSpPr>
            <p:nvPr/>
          </p:nvSpPr>
          <p:spPr bwMode="auto">
            <a:xfrm>
              <a:off x="4363" y="1926"/>
              <a:ext cx="492"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b</a:t>
              </a:r>
            </a:p>
          </p:txBody>
        </p:sp>
      </p:grpSp>
    </p:spTree>
    <p:extLst>
      <p:ext uri="{BB962C8B-B14F-4D97-AF65-F5344CB8AC3E}">
        <p14:creationId xmlns:p14="http://schemas.microsoft.com/office/powerpoint/2010/main" val="28196272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309751" y="881300"/>
            <a:ext cx="7393852" cy="1715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圆形截面和圆环形截面对任一圆心轴是对称的，所以对任一过圆心轴的惯性矩都相等，分别为</a:t>
            </a:r>
            <a:endParaRPr kumimoji="1" lang="zh-CN" altLang="en-US" sz="2800" dirty="0">
              <a:latin typeface="+mn-lt"/>
              <a:ea typeface="微软雅黑" panose="020B0503020204020204" pitchFamily="34" charset="-122"/>
            </a:endParaRPr>
          </a:p>
          <a:p>
            <a:pPr lvl="0">
              <a:lnSpc>
                <a:spcPct val="130000"/>
              </a:lnSpc>
            </a:pPr>
            <a:r>
              <a:rPr kumimoji="1" lang="zh-CN" altLang="en-US" sz="2800" dirty="0">
                <a:latin typeface="+mn-lt"/>
                <a:ea typeface="微软雅黑" panose="020B0503020204020204" pitchFamily="34" charset="-122"/>
              </a:rPr>
              <a:t>       </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/64 </a:t>
            </a:r>
            <a:r>
              <a:rPr kumimoji="1" lang="en-US" altLang="zh-CN" sz="2800" i="0" dirty="0">
                <a:latin typeface="+mn-lt"/>
                <a:ea typeface="微软雅黑" panose="020B0503020204020204" pitchFamily="34" charset="-122"/>
              </a:rPr>
              <a:t>         </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)/64</a:t>
            </a:r>
          </a:p>
        </p:txBody>
      </p:sp>
      <p:sp>
        <p:nvSpPr>
          <p:cNvPr id="2" name="Rectangle 61">
            <a:extLst>
              <a:ext uri="{FF2B5EF4-FFF2-40B4-BE49-F238E27FC236}">
                <a16:creationId xmlns:a16="http://schemas.microsoft.com/office/drawing/2014/main" id="{2D07A66E-EB5F-0FC4-9479-A72EF78D25A3}"/>
              </a:ext>
            </a:extLst>
          </p:cNvPr>
          <p:cNvSpPr>
            <a:spLocks noChangeArrowheads="1"/>
          </p:cNvSpPr>
          <p:nvPr/>
        </p:nvSpPr>
        <p:spPr bwMode="auto">
          <a:xfrm>
            <a:off x="7680176" y="836712"/>
            <a:ext cx="4032448" cy="5492186"/>
          </a:xfrm>
          <a:prstGeom prst="rect">
            <a:avLst/>
          </a:prstGeom>
          <a:solidFill>
            <a:srgbClr val="B9CDE5"/>
          </a:solidFill>
          <a:ln>
            <a:noFill/>
          </a:ln>
          <a:effectLst/>
        </p:spPr>
        <p:txBody>
          <a:bodyPr wrap="none" anchor="ctr"/>
          <a:lstStyle/>
          <a:p>
            <a:endParaRPr lang="zh-CN" altLang="en-US" dirty="0"/>
          </a:p>
        </p:txBody>
      </p:sp>
      <p:grpSp>
        <p:nvGrpSpPr>
          <p:cNvPr id="23" name="Group 4">
            <a:extLst>
              <a:ext uri="{FF2B5EF4-FFF2-40B4-BE49-F238E27FC236}">
                <a16:creationId xmlns:a16="http://schemas.microsoft.com/office/drawing/2014/main" id="{C1BAA4CA-5BD2-959E-9A9E-B49B12393CD3}"/>
              </a:ext>
            </a:extLst>
          </p:cNvPr>
          <p:cNvGrpSpPr>
            <a:grpSpLocks/>
          </p:cNvGrpSpPr>
          <p:nvPr/>
        </p:nvGrpSpPr>
        <p:grpSpPr bwMode="auto">
          <a:xfrm>
            <a:off x="8170361" y="708878"/>
            <a:ext cx="3187153" cy="2720122"/>
            <a:chOff x="3428" y="13"/>
            <a:chExt cx="2203" cy="1880"/>
          </a:xfrm>
        </p:grpSpPr>
        <p:sp>
          <p:nvSpPr>
            <p:cNvPr id="24" name="Oval 5" descr="宽上对角线">
              <a:extLst>
                <a:ext uri="{FF2B5EF4-FFF2-40B4-BE49-F238E27FC236}">
                  <a16:creationId xmlns:a16="http://schemas.microsoft.com/office/drawing/2014/main" id="{4019BC9E-4B4D-D931-8103-C182BCA1D2AB}"/>
                </a:ext>
              </a:extLst>
            </p:cNvPr>
            <p:cNvSpPr>
              <a:spLocks noChangeArrowheads="1"/>
            </p:cNvSpPr>
            <p:nvPr/>
          </p:nvSpPr>
          <p:spPr bwMode="auto">
            <a:xfrm>
              <a:off x="3816" y="423"/>
              <a:ext cx="1341" cy="1341"/>
            </a:xfrm>
            <a:prstGeom prst="ellipse">
              <a:avLst/>
            </a:prstGeom>
            <a:pattFill prst="wdUpDiag">
              <a:fgClr>
                <a:srgbClr val="000000"/>
              </a:fgClr>
              <a:bgClr>
                <a:srgbClr val="00FF00"/>
              </a:bgClr>
            </a:pattFill>
            <a:ln w="38100"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25" name="Group 6">
              <a:extLst>
                <a:ext uri="{FF2B5EF4-FFF2-40B4-BE49-F238E27FC236}">
                  <a16:creationId xmlns:a16="http://schemas.microsoft.com/office/drawing/2014/main" id="{EA7D5394-0D7D-2998-EB1E-7E65C2CDB7C9}"/>
                </a:ext>
              </a:extLst>
            </p:cNvPr>
            <p:cNvGrpSpPr>
              <a:grpSpLocks/>
            </p:cNvGrpSpPr>
            <p:nvPr/>
          </p:nvGrpSpPr>
          <p:grpSpPr bwMode="auto">
            <a:xfrm>
              <a:off x="3428" y="13"/>
              <a:ext cx="2203" cy="1880"/>
              <a:chOff x="3428" y="13"/>
              <a:chExt cx="2203" cy="1880"/>
            </a:xfrm>
          </p:grpSpPr>
          <p:sp>
            <p:nvSpPr>
              <p:cNvPr id="34" name="Line 7">
                <a:extLst>
                  <a:ext uri="{FF2B5EF4-FFF2-40B4-BE49-F238E27FC236}">
                    <a16:creationId xmlns:a16="http://schemas.microsoft.com/office/drawing/2014/main" id="{2AB7A874-1A6B-0A31-5AB5-3228B0532BB8}"/>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 name="Line 8">
                <a:extLst>
                  <a:ext uri="{FF2B5EF4-FFF2-40B4-BE49-F238E27FC236}">
                    <a16:creationId xmlns:a16="http://schemas.microsoft.com/office/drawing/2014/main" id="{FB697CBF-4F3A-7731-EF6C-F69E33902D44}"/>
                  </a:ext>
                </a:extLst>
              </p:cNvPr>
              <p:cNvSpPr>
                <a:spLocks noChangeAspect="1" noChangeShapeType="1"/>
              </p:cNvSpPr>
              <p:nvPr/>
            </p:nvSpPr>
            <p:spPr bwMode="auto">
              <a:xfrm>
                <a:off x="3428" y="1099"/>
                <a:ext cx="1992"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36" name="Group 9">
                <a:extLst>
                  <a:ext uri="{FF2B5EF4-FFF2-40B4-BE49-F238E27FC236}">
                    <a16:creationId xmlns:a16="http://schemas.microsoft.com/office/drawing/2014/main" id="{49EFEE2B-2E55-AC30-B26C-59B2D9729DB3}"/>
                  </a:ext>
                </a:extLst>
              </p:cNvPr>
              <p:cNvGrpSpPr>
                <a:grpSpLocks/>
              </p:cNvGrpSpPr>
              <p:nvPr/>
            </p:nvGrpSpPr>
            <p:grpSpPr bwMode="auto">
              <a:xfrm>
                <a:off x="4246" y="1041"/>
                <a:ext cx="363" cy="380"/>
                <a:chOff x="1402" y="2926"/>
                <a:chExt cx="363" cy="380"/>
              </a:xfrm>
            </p:grpSpPr>
            <p:sp>
              <p:nvSpPr>
                <p:cNvPr id="39" name="Rectangle 10">
                  <a:extLst>
                    <a:ext uri="{FF2B5EF4-FFF2-40B4-BE49-F238E27FC236}">
                      <a16:creationId xmlns:a16="http://schemas.microsoft.com/office/drawing/2014/main" id="{661A0401-55B0-706B-4E65-2786CA47D92F}"/>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0" name="Text Box 11">
                  <a:extLst>
                    <a:ext uri="{FF2B5EF4-FFF2-40B4-BE49-F238E27FC236}">
                      <a16:creationId xmlns:a16="http://schemas.microsoft.com/office/drawing/2014/main" id="{0EBFCD3B-306B-FF93-85D0-344977DA2B65}"/>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C</a:t>
                  </a:r>
                </a:p>
              </p:txBody>
            </p:sp>
          </p:grpSp>
          <p:sp>
            <p:nvSpPr>
              <p:cNvPr id="37"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5191"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sz="2800" b="0" kern="0" dirty="0">
                    <a:solidFill>
                      <a:srgbClr val="000000"/>
                    </a:solidFill>
                    <a:latin typeface="+mn-lt"/>
                    <a:ea typeface="宋体" panose="02010600030101010101" pitchFamily="2" charset="-122"/>
                  </a:rPr>
                  <a:t>z</a:t>
                </a:r>
              </a:p>
            </p:txBody>
          </p:sp>
          <p:sp>
            <p:nvSpPr>
              <p:cNvPr id="38"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ea typeface="宋体" panose="02010600030101010101" pitchFamily="2" charset="-122"/>
                  </a:rPr>
                  <a:t>y</a:t>
                </a:r>
              </a:p>
            </p:txBody>
          </p:sp>
        </p:grpSp>
        <p:sp>
          <p:nvSpPr>
            <p:cNvPr id="26" name="Line 14">
              <a:extLst>
                <a:ext uri="{FF2B5EF4-FFF2-40B4-BE49-F238E27FC236}">
                  <a16:creationId xmlns:a16="http://schemas.microsoft.com/office/drawing/2014/main" id="{5B4B0A1E-E3EA-40EA-9100-440F752B93EE}"/>
                </a:ext>
              </a:extLst>
            </p:cNvPr>
            <p:cNvSpPr>
              <a:spLocks noChangeShapeType="1"/>
            </p:cNvSpPr>
            <p:nvPr/>
          </p:nvSpPr>
          <p:spPr bwMode="auto">
            <a:xfrm>
              <a:off x="3872" y="768"/>
              <a:ext cx="1208" cy="647"/>
            </a:xfrm>
            <a:prstGeom prst="line">
              <a:avLst/>
            </a:prstGeom>
            <a:noFill/>
            <a:ln w="19050">
              <a:solidFill>
                <a:srgbClr val="FFFF99"/>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7" name="Group 15">
              <a:extLst>
                <a:ext uri="{FF2B5EF4-FFF2-40B4-BE49-F238E27FC236}">
                  <a16:creationId xmlns:a16="http://schemas.microsoft.com/office/drawing/2014/main" id="{8196CEA4-5DC1-1C02-DCF8-400CCF87B710}"/>
                </a:ext>
              </a:extLst>
            </p:cNvPr>
            <p:cNvGrpSpPr>
              <a:grpSpLocks/>
            </p:cNvGrpSpPr>
            <p:nvPr/>
          </p:nvGrpSpPr>
          <p:grpSpPr bwMode="auto">
            <a:xfrm rot="1749111">
              <a:off x="4758" y="1025"/>
              <a:ext cx="363" cy="380"/>
              <a:chOff x="1402" y="2926"/>
              <a:chExt cx="363" cy="380"/>
            </a:xfrm>
          </p:grpSpPr>
          <p:sp>
            <p:nvSpPr>
              <p:cNvPr id="32" name="Rectangle 16">
                <a:extLst>
                  <a:ext uri="{FF2B5EF4-FFF2-40B4-BE49-F238E27FC236}">
                    <a16:creationId xmlns:a16="http://schemas.microsoft.com/office/drawing/2014/main" id="{605B7C5E-AD54-4FF6-D71A-B0346DF12DE7}"/>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 name="Text Box 17">
                <a:extLst>
                  <a:ext uri="{FF2B5EF4-FFF2-40B4-BE49-F238E27FC236}">
                    <a16:creationId xmlns:a16="http://schemas.microsoft.com/office/drawing/2014/main" id="{7E668A5C-FAE9-EB07-A7E1-E09E5224B2EF}"/>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D</a:t>
                </a:r>
              </a:p>
            </p:txBody>
          </p:sp>
        </p:grpSp>
        <p:grpSp>
          <p:nvGrpSpPr>
            <p:cNvPr id="28" name="Group 18">
              <a:extLst>
                <a:ext uri="{FF2B5EF4-FFF2-40B4-BE49-F238E27FC236}">
                  <a16:creationId xmlns:a16="http://schemas.microsoft.com/office/drawing/2014/main" id="{21448E55-13E9-C584-B4D7-56216A0E1FAE}"/>
                </a:ext>
              </a:extLst>
            </p:cNvPr>
            <p:cNvGrpSpPr>
              <a:grpSpLocks/>
            </p:cNvGrpSpPr>
            <p:nvPr/>
          </p:nvGrpSpPr>
          <p:grpSpPr bwMode="auto">
            <a:xfrm rot="-2854460">
              <a:off x="4462" y="633"/>
              <a:ext cx="363" cy="380"/>
              <a:chOff x="1402" y="2926"/>
              <a:chExt cx="363" cy="380"/>
            </a:xfrm>
          </p:grpSpPr>
          <p:sp>
            <p:nvSpPr>
              <p:cNvPr id="30" name="Rectangle 19">
                <a:extLst>
                  <a:ext uri="{FF2B5EF4-FFF2-40B4-BE49-F238E27FC236}">
                    <a16:creationId xmlns:a16="http://schemas.microsoft.com/office/drawing/2014/main" id="{7D1661B4-919A-8F9C-EB78-5029F1469B6D}"/>
                  </a:ext>
                </a:extLst>
              </p:cNvPr>
              <p:cNvSpPr>
                <a:spLocks noChangeAspect="1" noChangeArrowheads="1"/>
              </p:cNvSpPr>
              <p:nvPr/>
            </p:nvSpPr>
            <p:spPr bwMode="auto">
              <a:xfrm>
                <a:off x="1455" y="2998"/>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 name="Text Box 20">
                <a:extLst>
                  <a:ext uri="{FF2B5EF4-FFF2-40B4-BE49-F238E27FC236}">
                    <a16:creationId xmlns:a16="http://schemas.microsoft.com/office/drawing/2014/main" id="{2979658B-CE9A-B210-ED8E-1CDD4ACC6842}"/>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1" lang="zh-CN" altLang="zh-CN" sz="32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grpSp>
        <p:sp>
          <p:nvSpPr>
            <p:cNvPr id="29" name="Line 21">
              <a:extLst>
                <a:ext uri="{FF2B5EF4-FFF2-40B4-BE49-F238E27FC236}">
                  <a16:creationId xmlns:a16="http://schemas.microsoft.com/office/drawing/2014/main" id="{CB1E302B-9900-053E-870E-864602480C84}"/>
                </a:ext>
              </a:extLst>
            </p:cNvPr>
            <p:cNvSpPr>
              <a:spLocks noChangeShapeType="1"/>
            </p:cNvSpPr>
            <p:nvPr/>
          </p:nvSpPr>
          <p:spPr bwMode="auto">
            <a:xfrm flipV="1">
              <a:off x="4496" y="664"/>
              <a:ext cx="520" cy="42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2225">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41" name="Group 26">
            <a:extLst>
              <a:ext uri="{FF2B5EF4-FFF2-40B4-BE49-F238E27FC236}">
                <a16:creationId xmlns:a16="http://schemas.microsoft.com/office/drawing/2014/main" id="{F8B87583-8922-8CCC-2B73-27D14E739DFE}"/>
              </a:ext>
            </a:extLst>
          </p:cNvPr>
          <p:cNvGrpSpPr>
            <a:grpSpLocks/>
          </p:cNvGrpSpPr>
          <p:nvPr/>
        </p:nvGrpSpPr>
        <p:grpSpPr bwMode="auto">
          <a:xfrm>
            <a:off x="8240556" y="3255196"/>
            <a:ext cx="2924175" cy="3073702"/>
            <a:chOff x="4000" y="1886"/>
            <a:chExt cx="1643" cy="1727"/>
          </a:xfrm>
        </p:grpSpPr>
        <p:sp>
          <p:nvSpPr>
            <p:cNvPr id="42" name="AutoShape 27">
              <a:extLst>
                <a:ext uri="{FF2B5EF4-FFF2-40B4-BE49-F238E27FC236}">
                  <a16:creationId xmlns:a16="http://schemas.microsoft.com/office/drawing/2014/main" id="{FF5A21CF-849D-79A0-96BD-8291D490CD87}"/>
                </a:ext>
              </a:extLst>
            </p:cNvPr>
            <p:cNvSpPr>
              <a:spLocks noChangeArrowheads="1"/>
            </p:cNvSpPr>
            <p:nvPr/>
          </p:nvSpPr>
          <p:spPr bwMode="auto">
            <a:xfrm>
              <a:off x="4242" y="2211"/>
              <a:ext cx="1144" cy="114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100000">
                  <a:srgbClr val="FFFFFF">
                    <a:gamma/>
                    <a:shade val="12549"/>
                    <a:invGamma/>
                  </a:srgbClr>
                </a:gs>
              </a:gsLst>
              <a:path path="rect">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43" name="Group 28">
              <a:extLst>
                <a:ext uri="{FF2B5EF4-FFF2-40B4-BE49-F238E27FC236}">
                  <a16:creationId xmlns:a16="http://schemas.microsoft.com/office/drawing/2014/main" id="{AE7DE12C-AA5F-D50F-6389-0AB6EB15958D}"/>
                </a:ext>
              </a:extLst>
            </p:cNvPr>
            <p:cNvGrpSpPr>
              <a:grpSpLocks/>
            </p:cNvGrpSpPr>
            <p:nvPr/>
          </p:nvGrpSpPr>
          <p:grpSpPr bwMode="auto">
            <a:xfrm>
              <a:off x="4232" y="2209"/>
              <a:ext cx="1161" cy="1342"/>
              <a:chOff x="3632" y="296"/>
              <a:chExt cx="1161" cy="1342"/>
            </a:xfrm>
          </p:grpSpPr>
          <p:sp>
            <p:nvSpPr>
              <p:cNvPr id="47" name="AutoShape 29" descr="宽上对角线">
                <a:extLst>
                  <a:ext uri="{FF2B5EF4-FFF2-40B4-BE49-F238E27FC236}">
                    <a16:creationId xmlns:a16="http://schemas.microsoft.com/office/drawing/2014/main" id="{C554A810-63D4-65F7-FEC4-39B9C871568E}"/>
                  </a:ext>
                </a:extLst>
              </p:cNvPr>
              <p:cNvSpPr>
                <a:spLocks noChangeArrowheads="1"/>
              </p:cNvSpPr>
              <p:nvPr/>
            </p:nvSpPr>
            <p:spPr bwMode="auto">
              <a:xfrm>
                <a:off x="3642" y="296"/>
                <a:ext cx="1144" cy="1144"/>
              </a:xfrm>
              <a:custGeom>
                <a:avLst/>
                <a:gdLst>
                  <a:gd name="T0" fmla="*/ 30 w 21600"/>
                  <a:gd name="T1" fmla="*/ 0 h 21600"/>
                  <a:gd name="T2" fmla="*/ 9 w 21600"/>
                  <a:gd name="T3" fmla="*/ 9 h 21600"/>
                  <a:gd name="T4" fmla="*/ 0 w 21600"/>
                  <a:gd name="T5" fmla="*/ 30 h 21600"/>
                  <a:gd name="T6" fmla="*/ 9 w 21600"/>
                  <a:gd name="T7" fmla="*/ 52 h 21600"/>
                  <a:gd name="T8" fmla="*/ 30 w 21600"/>
                  <a:gd name="T9" fmla="*/ 61 h 21600"/>
                  <a:gd name="T10" fmla="*/ 52 w 21600"/>
                  <a:gd name="T11" fmla="*/ 52 h 21600"/>
                  <a:gd name="T12" fmla="*/ 61 w 21600"/>
                  <a:gd name="T13" fmla="*/ 30 h 21600"/>
                  <a:gd name="T14" fmla="*/ 52 w 21600"/>
                  <a:gd name="T15" fmla="*/ 9 h 21600"/>
                  <a:gd name="T16" fmla="*/ 0 60000 65536"/>
                  <a:gd name="T17" fmla="*/ 0 60000 65536"/>
                  <a:gd name="T18" fmla="*/ 0 60000 65536"/>
                  <a:gd name="T19" fmla="*/ 0 60000 65536"/>
                  <a:gd name="T20" fmla="*/ 0 60000 65536"/>
                  <a:gd name="T21" fmla="*/ 0 60000 65536"/>
                  <a:gd name="T22" fmla="*/ 0 60000 65536"/>
                  <a:gd name="T23" fmla="*/ 0 60000 65536"/>
                  <a:gd name="T24" fmla="*/ 3172 w 21600"/>
                  <a:gd name="T25" fmla="*/ 3172 h 21600"/>
                  <a:gd name="T26" fmla="*/ 18428 w 21600"/>
                  <a:gd name="T27" fmla="*/ 1842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pattFill prst="wdUpDiag">
                <a:fgClr>
                  <a:srgbClr val="CCECFF"/>
                </a:fgClr>
                <a:bgClr>
                  <a:srgbClr val="202020"/>
                </a:bgClr>
              </a:pattFill>
              <a:ln w="2857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8" name="Line 30">
                <a:extLst>
                  <a:ext uri="{FF2B5EF4-FFF2-40B4-BE49-F238E27FC236}">
                    <a16:creationId xmlns:a16="http://schemas.microsoft.com/office/drawing/2014/main" id="{5170D9C6-4AFD-285B-940A-62F9360DAAE3}"/>
                  </a:ext>
                </a:extLst>
              </p:cNvPr>
              <p:cNvSpPr>
                <a:spLocks noChangeAspect="1" noChangeShapeType="1"/>
              </p:cNvSpPr>
              <p:nvPr/>
            </p:nvSpPr>
            <p:spPr bwMode="auto">
              <a:xfrm flipV="1">
                <a:off x="3635" y="1062"/>
                <a:ext cx="114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9"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4039" y="576"/>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sp>
            <p:nvSpPr>
              <p:cNvPr id="50" name="Text Box 32">
                <a:extLst>
                  <a:ext uri="{FF2B5EF4-FFF2-40B4-BE49-F238E27FC236}">
                    <a16:creationId xmlns:a16="http://schemas.microsoft.com/office/drawing/2014/main" id="{049452F0-28E5-416C-D0B9-B58FF9B27BB9}"/>
                  </a:ext>
                </a:extLst>
              </p:cNvPr>
              <p:cNvSpPr txBox="1">
                <a:spLocks noChangeAspect="1" noChangeArrowheads="1"/>
              </p:cNvSpPr>
              <p:nvPr/>
            </p:nvSpPr>
            <p:spPr bwMode="auto">
              <a:xfrm>
                <a:off x="4244" y="1395"/>
                <a:ext cx="24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51" name="Oval 33">
                <a:extLst>
                  <a:ext uri="{FF2B5EF4-FFF2-40B4-BE49-F238E27FC236}">
                    <a16:creationId xmlns:a16="http://schemas.microsoft.com/office/drawing/2014/main" id="{9BB5E0B6-7B7C-1851-5D78-4938CA46E820}"/>
                  </a:ext>
                </a:extLst>
              </p:cNvPr>
              <p:cNvSpPr>
                <a:spLocks noChangeArrowheads="1"/>
              </p:cNvSpPr>
              <p:nvPr/>
            </p:nvSpPr>
            <p:spPr bwMode="auto">
              <a:xfrm>
                <a:off x="4191" y="842"/>
                <a:ext cx="56" cy="56"/>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2" name="Line 34">
                <a:extLst>
                  <a:ext uri="{FF2B5EF4-FFF2-40B4-BE49-F238E27FC236}">
                    <a16:creationId xmlns:a16="http://schemas.microsoft.com/office/drawing/2014/main" id="{342FFEF1-47A9-8F20-1713-156F427F5745}"/>
                  </a:ext>
                </a:extLst>
              </p:cNvPr>
              <p:cNvSpPr>
                <a:spLocks noChangeShapeType="1"/>
              </p:cNvSpPr>
              <p:nvPr/>
            </p:nvSpPr>
            <p:spPr bwMode="auto">
              <a:xfrm>
                <a:off x="3634" y="1050"/>
                <a:ext cx="0" cy="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3" name="Line 35">
                <a:extLst>
                  <a:ext uri="{FF2B5EF4-FFF2-40B4-BE49-F238E27FC236}">
                    <a16:creationId xmlns:a16="http://schemas.microsoft.com/office/drawing/2014/main" id="{57C163AA-6E5F-9C63-F8AE-B28719EC1969}"/>
                  </a:ext>
                </a:extLst>
              </p:cNvPr>
              <p:cNvSpPr>
                <a:spLocks noChangeShapeType="1"/>
              </p:cNvSpPr>
              <p:nvPr/>
            </p:nvSpPr>
            <p:spPr bwMode="auto">
              <a:xfrm>
                <a:off x="4787" y="1068"/>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Line 36">
                <a:extLst>
                  <a:ext uri="{FF2B5EF4-FFF2-40B4-BE49-F238E27FC236}">
                    <a16:creationId xmlns:a16="http://schemas.microsoft.com/office/drawing/2014/main" id="{82387BE5-181D-847B-AE9B-5F96C3DF2ADE}"/>
                  </a:ext>
                </a:extLst>
              </p:cNvPr>
              <p:cNvSpPr>
                <a:spLocks noChangeShapeType="1"/>
              </p:cNvSpPr>
              <p:nvPr/>
            </p:nvSpPr>
            <p:spPr bwMode="auto">
              <a:xfrm>
                <a:off x="3632" y="1603"/>
                <a:ext cx="1161" cy="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7" name="Line 39">
                <a:extLst>
                  <a:ext uri="{FF2B5EF4-FFF2-40B4-BE49-F238E27FC236}">
                    <a16:creationId xmlns:a16="http://schemas.microsoft.com/office/drawing/2014/main" id="{F12FFC29-3F4E-EC44-7081-012FD0CA83F8}"/>
                  </a:ext>
                </a:extLst>
              </p:cNvPr>
              <p:cNvSpPr>
                <a:spLocks noChangeShapeType="1"/>
              </p:cNvSpPr>
              <p:nvPr/>
            </p:nvSpPr>
            <p:spPr bwMode="auto">
              <a:xfrm>
                <a:off x="3975" y="715"/>
                <a:ext cx="486" cy="304"/>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8" name="Text Box 40">
                <a:extLst>
                  <a:ext uri="{FF2B5EF4-FFF2-40B4-BE49-F238E27FC236}">
                    <a16:creationId xmlns:a16="http://schemas.microsoft.com/office/drawing/2014/main" id="{AA04DDDD-FB43-028F-5724-36E79EE5125E}"/>
                  </a:ext>
                </a:extLst>
              </p:cNvPr>
              <p:cNvSpPr txBox="1">
                <a:spLocks noChangeAspect="1" noChangeArrowheads="1"/>
              </p:cNvSpPr>
              <p:nvPr/>
            </p:nvSpPr>
            <p:spPr bwMode="auto">
              <a:xfrm>
                <a:off x="4263" y="642"/>
                <a:ext cx="24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grpSp>
        <p:sp>
          <p:nvSpPr>
            <p:cNvPr id="44" name="Line 41">
              <a:extLst>
                <a:ext uri="{FF2B5EF4-FFF2-40B4-BE49-F238E27FC236}">
                  <a16:creationId xmlns:a16="http://schemas.microsoft.com/office/drawing/2014/main" id="{CED8FB35-AD4F-D8ED-9595-104E74FF8C27}"/>
                </a:ext>
              </a:extLst>
            </p:cNvPr>
            <p:cNvSpPr>
              <a:spLocks noChangeAspect="1" noChangeShapeType="1"/>
            </p:cNvSpPr>
            <p:nvPr/>
          </p:nvSpPr>
          <p:spPr bwMode="auto">
            <a:xfrm flipH="1" flipV="1">
              <a:off x="4821" y="2009"/>
              <a:ext cx="0" cy="1604"/>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45" name="Line 42">
              <a:extLst>
                <a:ext uri="{FF2B5EF4-FFF2-40B4-BE49-F238E27FC236}">
                  <a16:creationId xmlns:a16="http://schemas.microsoft.com/office/drawing/2014/main" id="{36FB0DBE-B8CF-CF08-EE3A-4E8CD440CA41}"/>
                </a:ext>
              </a:extLst>
            </p:cNvPr>
            <p:cNvSpPr>
              <a:spLocks noChangeAspect="1" noChangeShapeType="1"/>
            </p:cNvSpPr>
            <p:nvPr/>
          </p:nvSpPr>
          <p:spPr bwMode="auto">
            <a:xfrm>
              <a:off x="4000" y="2787"/>
              <a:ext cx="1643"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6"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818" y="1886"/>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sz="2800" b="0" kern="0" dirty="0">
                  <a:solidFill>
                    <a:srgbClr val="000000"/>
                  </a:solidFill>
                  <a:latin typeface="+mn-lt"/>
                  <a:ea typeface="宋体" panose="02010600030101010101" pitchFamily="2" charset="-122"/>
                </a:rPr>
                <a:t>y</a:t>
              </a:r>
            </a:p>
          </p:txBody>
        </p:sp>
      </p:grpSp>
      <p:graphicFrame>
        <p:nvGraphicFramePr>
          <p:cNvPr id="64" name="Object 23">
            <a:extLst>
              <a:ext uri="{FF2B5EF4-FFF2-40B4-BE49-F238E27FC236}">
                <a16:creationId xmlns:a16="http://schemas.microsoft.com/office/drawing/2014/main" id="{7FDE28EF-EE38-3D8E-079E-14AE58C8A227}"/>
              </a:ext>
            </a:extLst>
          </p:cNvPr>
          <p:cNvGraphicFramePr>
            <a:graphicFrameLocks noChangeAspect="1"/>
          </p:cNvGraphicFramePr>
          <p:nvPr>
            <p:extLst>
              <p:ext uri="{D42A27DB-BD31-4B8C-83A1-F6EECF244321}">
                <p14:modId xmlns:p14="http://schemas.microsoft.com/office/powerpoint/2010/main" val="3819847556"/>
              </p:ext>
            </p:extLst>
          </p:nvPr>
        </p:nvGraphicFramePr>
        <p:xfrm>
          <a:off x="1090448" y="3654630"/>
          <a:ext cx="1423988" cy="920750"/>
        </p:xfrm>
        <a:graphic>
          <a:graphicData uri="http://schemas.openxmlformats.org/presentationml/2006/ole">
            <mc:AlternateContent xmlns:mc="http://schemas.openxmlformats.org/markup-compatibility/2006">
              <mc:Choice xmlns:v="urn:schemas-microsoft-com:vml" Requires="v">
                <p:oleObj spid="_x0000_s10300" name="Equation" r:id="rId4" imgW="647640" imgH="419040" progId="Equation.DSMT4">
                  <p:embed/>
                </p:oleObj>
              </mc:Choice>
              <mc:Fallback>
                <p:oleObj name="Equation" r:id="rId4" imgW="647640" imgH="419040" progId="Equation.DSMT4">
                  <p:embed/>
                  <p:pic>
                    <p:nvPicPr>
                      <p:cNvPr id="972823" name="Object 23">
                        <a:extLst>
                          <a:ext uri="{FF2B5EF4-FFF2-40B4-BE49-F238E27FC236}">
                            <a16:creationId xmlns:a16="http://schemas.microsoft.com/office/drawing/2014/main" id="{B8B83B54-7DCE-46FD-42FD-0D455EADFB80}"/>
                          </a:ext>
                        </a:extLst>
                      </p:cNvPr>
                      <p:cNvPicPr>
                        <a:picLocks noChangeAspect="1" noChangeArrowheads="1"/>
                      </p:cNvPicPr>
                      <p:nvPr/>
                    </p:nvPicPr>
                    <p:blipFill>
                      <a:blip r:embed="rId5"/>
                      <a:srcRect/>
                      <a:stretch>
                        <a:fillRect/>
                      </a:stretch>
                    </p:blipFill>
                    <p:spPr bwMode="auto">
                      <a:xfrm>
                        <a:off x="1090448" y="3654630"/>
                        <a:ext cx="1423988"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48">
            <a:extLst>
              <a:ext uri="{FF2B5EF4-FFF2-40B4-BE49-F238E27FC236}">
                <a16:creationId xmlns:a16="http://schemas.microsoft.com/office/drawing/2014/main" id="{94810684-1466-5D59-7F73-1F19EEBE0C2C}"/>
              </a:ext>
            </a:extLst>
          </p:cNvPr>
          <p:cNvGraphicFramePr>
            <a:graphicFrameLocks noChangeAspect="1"/>
          </p:cNvGraphicFramePr>
          <p:nvPr>
            <p:extLst>
              <p:ext uri="{D42A27DB-BD31-4B8C-83A1-F6EECF244321}">
                <p14:modId xmlns:p14="http://schemas.microsoft.com/office/powerpoint/2010/main" val="1902185441"/>
              </p:ext>
            </p:extLst>
          </p:nvPr>
        </p:nvGraphicFramePr>
        <p:xfrm>
          <a:off x="3420011" y="3679310"/>
          <a:ext cx="2459037" cy="920750"/>
        </p:xfrm>
        <a:graphic>
          <a:graphicData uri="http://schemas.openxmlformats.org/presentationml/2006/ole">
            <mc:AlternateContent xmlns:mc="http://schemas.openxmlformats.org/markup-compatibility/2006">
              <mc:Choice xmlns:v="urn:schemas-microsoft-com:vml" Requires="v">
                <p:oleObj spid="_x0000_s10301" name="Equation" r:id="rId6" imgW="1117440" imgH="419040" progId="Equation.DSMT4">
                  <p:embed/>
                </p:oleObj>
              </mc:Choice>
              <mc:Fallback>
                <p:oleObj name="Equation" r:id="rId6" imgW="1117440" imgH="419040" progId="Equation.DSMT4">
                  <p:embed/>
                  <p:pic>
                    <p:nvPicPr>
                      <p:cNvPr id="972848" name="Object 48">
                        <a:extLst>
                          <a:ext uri="{FF2B5EF4-FFF2-40B4-BE49-F238E27FC236}">
                            <a16:creationId xmlns:a16="http://schemas.microsoft.com/office/drawing/2014/main" id="{8568F029-C44E-BA83-E48B-3BD45E497DF9}"/>
                          </a:ext>
                        </a:extLst>
                      </p:cNvPr>
                      <p:cNvPicPr>
                        <a:picLocks noChangeAspect="1" noChangeArrowheads="1"/>
                      </p:cNvPicPr>
                      <p:nvPr/>
                    </p:nvPicPr>
                    <p:blipFill>
                      <a:blip r:embed="rId7"/>
                      <a:srcRect/>
                      <a:stretch>
                        <a:fillRect/>
                      </a:stretch>
                    </p:blipFill>
                    <p:spPr bwMode="auto">
                      <a:xfrm>
                        <a:off x="3420011" y="3679310"/>
                        <a:ext cx="2459037"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 name="Text Box 1032">
            <a:extLst>
              <a:ext uri="{FF2B5EF4-FFF2-40B4-BE49-F238E27FC236}">
                <a16:creationId xmlns:a16="http://schemas.microsoft.com/office/drawing/2014/main" id="{BE462CDB-E17D-DA63-A243-5F31AAC85EFD}"/>
              </a:ext>
            </a:extLst>
          </p:cNvPr>
          <p:cNvSpPr txBox="1">
            <a:spLocks noChangeArrowheads="1"/>
          </p:cNvSpPr>
          <p:nvPr/>
        </p:nvSpPr>
        <p:spPr bwMode="auto">
          <a:xfrm>
            <a:off x="309751" y="4575380"/>
            <a:ext cx="7393852" cy="1712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组合截面的惯性矩也可用</a:t>
            </a:r>
            <a:r>
              <a:rPr kumimoji="1" lang="zh-CN" altLang="en-US" sz="2800" i="0" dirty="0">
                <a:solidFill>
                  <a:srgbClr val="FF00FF"/>
                </a:solidFill>
                <a:latin typeface="+mn-lt"/>
                <a:ea typeface="微软雅黑" panose="020B0503020204020204" pitchFamily="34" charset="-122"/>
              </a:rPr>
              <a:t>平行移轴</a:t>
            </a:r>
            <a:r>
              <a:rPr kumimoji="1" lang="zh-CN" altLang="en-US" sz="2800" i="0" dirty="0">
                <a:latin typeface="+mn-lt"/>
                <a:ea typeface="微软雅黑" panose="020B0503020204020204" pitchFamily="34" charset="-122"/>
              </a:rPr>
              <a:t>定理来求。与转动惯量的平行移轴定理类似：</a:t>
            </a:r>
            <a:endParaRPr kumimoji="1" lang="en-US" altLang="zh-CN" sz="2800" i="0" dirty="0">
              <a:latin typeface="+mn-lt"/>
              <a:ea typeface="微软雅黑" panose="020B0503020204020204" pitchFamily="34" charset="-122"/>
            </a:endParaRPr>
          </a:p>
          <a:p>
            <a:pPr lvl="0" algn="ctr">
              <a:lnSpc>
                <a:spcPct val="130000"/>
              </a:lnSpc>
            </a:pP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en-US" altLang="zh-CN" sz="2800" b="0" dirty="0">
                <a:ea typeface="黑体" panose="02010609060101010101" pitchFamily="49" charset="-122"/>
                <a:cs typeface="Times New Roman" panose="02020603050405020304" pitchFamily="18" charset="0"/>
              </a:rPr>
              <a:t>'</a:t>
            </a:r>
            <a:r>
              <a:rPr kumimoji="1" lang="zh-CN" altLang="en-US" sz="2800" b="0" i="0" dirty="0">
                <a:ea typeface="黑体" panose="02010609060101010101" pitchFamily="49" charset="-122"/>
              </a:rPr>
              <a:t>＝ </a:t>
            </a: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en-US" altLang="zh-CN" sz="2800" b="0" i="0" dirty="0" err="1">
                <a:ea typeface="黑体" panose="02010609060101010101" pitchFamily="49" charset="-122"/>
              </a:rPr>
              <a:t>+</a:t>
            </a:r>
            <a:r>
              <a:rPr kumimoji="1" lang="en-US" altLang="zh-CN" sz="2800" b="0" dirty="0" err="1">
                <a:ea typeface="黑体" panose="02010609060101010101" pitchFamily="49" charset="-122"/>
              </a:rPr>
              <a:t>Ad</a:t>
            </a:r>
            <a:r>
              <a:rPr kumimoji="1" lang="en-US" altLang="zh-CN" sz="2800" b="0" dirty="0">
                <a:ea typeface="黑体" panose="02010609060101010101" pitchFamily="49" charset="-122"/>
              </a:rPr>
              <a:t> </a:t>
            </a:r>
            <a:r>
              <a:rPr kumimoji="1" lang="en-US" altLang="zh-CN" sz="2800" b="0" i="0" baseline="30000" dirty="0">
                <a:ea typeface="黑体" panose="02010609060101010101" pitchFamily="49" charset="-122"/>
              </a:rPr>
              <a:t>2</a:t>
            </a:r>
            <a:endParaRPr kumimoji="1" lang="zh-CN" altLang="en-US" sz="2800" i="0" dirty="0">
              <a:latin typeface="+mn-lt"/>
              <a:ea typeface="微软雅黑" panose="020B0503020204020204" pitchFamily="34" charset="-122"/>
            </a:endParaRPr>
          </a:p>
        </p:txBody>
      </p:sp>
      <p:sp>
        <p:nvSpPr>
          <p:cNvPr id="3" name="Text Box 1032">
            <a:extLst>
              <a:ext uri="{FF2B5EF4-FFF2-40B4-BE49-F238E27FC236}">
                <a16:creationId xmlns:a16="http://schemas.microsoft.com/office/drawing/2014/main" id="{B68258F8-8FB5-5277-14B1-30CC1F13B44B}"/>
              </a:ext>
            </a:extLst>
          </p:cNvPr>
          <p:cNvSpPr txBox="1">
            <a:spLocks noChangeArrowheads="1"/>
          </p:cNvSpPr>
          <p:nvPr/>
        </p:nvSpPr>
        <p:spPr bwMode="auto">
          <a:xfrm>
            <a:off x="309751" y="2550658"/>
            <a:ext cx="7393852"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ea typeface="微软雅黑" panose="020B0503020204020204" pitchFamily="34" charset="-122"/>
              </a:rPr>
              <a:t>若设圆环的直径比</a:t>
            </a:r>
            <a:r>
              <a:rPr kumimoji="1" lang="en-US" altLang="zh-CN" sz="2800" b="0" dirty="0">
                <a:ea typeface="微软雅黑" panose="020B0503020204020204" pitchFamily="34" charset="-122"/>
              </a:rPr>
              <a:t>d</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D</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sym typeface="Symbol" panose="05050102010706020507" pitchFamily="18" charset="2"/>
              </a:rPr>
              <a:t></a:t>
            </a:r>
            <a:r>
              <a:rPr kumimoji="1" lang="zh-CN" altLang="en-US" sz="2800" i="0" dirty="0">
                <a:ea typeface="微软雅黑" panose="020B0503020204020204" pitchFamily="34" charset="-122"/>
              </a:rPr>
              <a:t>，则相应的抗弯截面系数为</a:t>
            </a:r>
            <a:endParaRPr kumimoji="1" lang="en-US" altLang="zh-CN" sz="2800" b="0" i="0" dirty="0">
              <a:latin typeface="+mn-lt"/>
              <a:ea typeface="微软雅黑" panose="020B0503020204020204" pitchFamily="34" charset="-122"/>
            </a:endParaRPr>
          </a:p>
        </p:txBody>
      </p:sp>
    </p:spTree>
    <p:extLst>
      <p:ext uri="{BB962C8B-B14F-4D97-AF65-F5344CB8AC3E}">
        <p14:creationId xmlns:p14="http://schemas.microsoft.com/office/powerpoint/2010/main" val="38775604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left)">
                                      <p:cBhvr>
                                        <p:cTn id="15" dur="3000"/>
                                        <p:tgtEl>
                                          <p:spTgt spid="6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left)">
                                      <p:cBhvr>
                                        <p:cTn id="20" dur="3000"/>
                                        <p:tgtEl>
                                          <p:spTgt spid="6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66" grpId="0" autoUpdateAnimBg="0"/>
      <p:bldP spid="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136530" cy="520848"/>
          </a:xfrm>
          <a:prstGeom prst="rect">
            <a:avLst/>
          </a:prstGeom>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lang="en-US" altLang="zh-CN" i="0" dirty="0">
                <a:solidFill>
                  <a:schemeClr val="tx1"/>
                </a:solidFill>
                <a:latin typeface="+mn-lt"/>
                <a:ea typeface="黑体" panose="02010609060101010101" pitchFamily="49" charset="-122"/>
              </a:rPr>
              <a:t>T</a:t>
            </a:r>
            <a:r>
              <a:rPr lang="zh-CN" altLang="en-US" i="0" dirty="0">
                <a:solidFill>
                  <a:schemeClr val="tx1"/>
                </a:solidFill>
                <a:latin typeface="+mn-lt"/>
                <a:ea typeface="黑体" panose="02010609060101010101" pitchFamily="49" charset="-122"/>
              </a:rPr>
              <a:t>形截面尺寸如图，求其对形心轴</a:t>
            </a:r>
            <a:r>
              <a:rPr lang="en-US" altLang="zh-CN" b="0" dirty="0" err="1">
                <a:solidFill>
                  <a:schemeClr val="tx1"/>
                </a:solidFill>
                <a:latin typeface="+mn-lt"/>
                <a:ea typeface="黑体" panose="02010609060101010101" pitchFamily="49" charset="-122"/>
              </a:rPr>
              <a:t>z</a:t>
            </a:r>
            <a:r>
              <a:rPr lang="en-US" altLang="zh-CN" b="0" baseline="-25000" dirty="0" err="1">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的惯性矩。</a:t>
            </a:r>
          </a:p>
        </p:txBody>
      </p:sp>
      <p:sp>
        <p:nvSpPr>
          <p:cNvPr id="3" name="矩形 2">
            <a:extLst>
              <a:ext uri="{FF2B5EF4-FFF2-40B4-BE49-F238E27FC236}">
                <a16:creationId xmlns:a16="http://schemas.microsoft.com/office/drawing/2014/main" id="{E8DB0D0A-8BE9-6ADA-6C58-96049487BA32}"/>
              </a:ext>
            </a:extLst>
          </p:cNvPr>
          <p:cNvSpPr/>
          <p:nvPr/>
        </p:nvSpPr>
        <p:spPr>
          <a:xfrm>
            <a:off x="211184" y="1302639"/>
            <a:ext cx="6498281" cy="91986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zh-CN" altLang="en-US" i="0" dirty="0">
                <a:solidFill>
                  <a:schemeClr val="tx1"/>
                </a:solidFill>
                <a:latin typeface="黑体" panose="02010609060101010101" pitchFamily="49" charset="-122"/>
                <a:ea typeface="黑体" panose="02010609060101010101" pitchFamily="49" charset="-122"/>
              </a:rPr>
              <a:t>确定截面的形心位置</a:t>
            </a:r>
          </a:p>
          <a:p>
            <a:pPr lvl="0">
              <a:lnSpc>
                <a:spcPct val="120000"/>
              </a:lnSpc>
            </a:pPr>
            <a:endParaRPr kumimoji="1"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94046"/>
            <a:ext cx="4514874" cy="3194393"/>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648705"/>
            <a:ext cx="7056096" cy="1000980"/>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计算两矩形截面对</a:t>
            </a:r>
            <a:r>
              <a:rPr lang="en-US" altLang="zh-CN" b="0" dirty="0" err="1">
                <a:solidFill>
                  <a:schemeClr val="tx1"/>
                </a:solidFill>
                <a:ea typeface="黑体" panose="02010609060101010101" pitchFamily="49" charset="-122"/>
              </a:rPr>
              <a:t>z</a:t>
            </a:r>
            <a:r>
              <a:rPr lang="en-US" altLang="zh-CN" b="0" baseline="-25000" dirty="0" err="1">
                <a:solidFill>
                  <a:schemeClr val="tx1"/>
                </a:solidFill>
                <a:ea typeface="黑体" panose="02010609060101010101" pitchFamily="49" charset="-122"/>
              </a:rPr>
              <a:t>C</a:t>
            </a: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轴的惯性矩。根据平行移轴定理 </a:t>
            </a:r>
            <a:endParaRPr kumimoji="1" lang="en-US" altLang="zh-CN" i="0" dirty="0">
              <a:solidFill>
                <a:schemeClr val="tx1"/>
              </a:solidFill>
              <a:latin typeface="+mn-lt"/>
              <a:ea typeface="黑体" panose="02010609060101010101" pitchFamily="49" charset="-122"/>
            </a:endParaRPr>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graphicFrame>
        <p:nvGraphicFramePr>
          <p:cNvPr id="4" name="Object 41">
            <a:extLst>
              <a:ext uri="{FF2B5EF4-FFF2-40B4-BE49-F238E27FC236}">
                <a16:creationId xmlns:a16="http://schemas.microsoft.com/office/drawing/2014/main" id="{BD7EC75D-192C-1EE2-F958-24DB96D2C8D7}"/>
              </a:ext>
            </a:extLst>
          </p:cNvPr>
          <p:cNvGraphicFramePr>
            <a:graphicFrameLocks noChangeAspect="1"/>
          </p:cNvGraphicFramePr>
          <p:nvPr>
            <p:extLst>
              <p:ext uri="{D42A27DB-BD31-4B8C-83A1-F6EECF244321}">
                <p14:modId xmlns:p14="http://schemas.microsoft.com/office/powerpoint/2010/main" val="3213889118"/>
              </p:ext>
            </p:extLst>
          </p:nvPr>
        </p:nvGraphicFramePr>
        <p:xfrm>
          <a:off x="2682875" y="1794809"/>
          <a:ext cx="3411538" cy="903288"/>
        </p:xfrm>
        <a:graphic>
          <a:graphicData uri="http://schemas.openxmlformats.org/presentationml/2006/ole">
            <mc:AlternateContent xmlns:mc="http://schemas.openxmlformats.org/markup-compatibility/2006">
              <mc:Choice xmlns:v="urn:schemas-microsoft-com:vml" Requires="v">
                <p:oleObj spid="_x0000_s11294" name="Equation" r:id="rId6" imgW="1600200" imgH="431640" progId="Equation.DSMT4">
                  <p:embed/>
                </p:oleObj>
              </mc:Choice>
              <mc:Fallback>
                <p:oleObj name="Equation" r:id="rId6" imgW="1600200" imgH="431640" progId="Equation.DSMT4">
                  <p:embed/>
                  <p:pic>
                    <p:nvPicPr>
                      <p:cNvPr id="974889" name="Object 41">
                        <a:extLst>
                          <a:ext uri="{FF2B5EF4-FFF2-40B4-BE49-F238E27FC236}">
                            <a16:creationId xmlns:a16="http://schemas.microsoft.com/office/drawing/2014/main" id="{A0F6ABEE-CD3B-154D-0459-BF0315F8E2D9}"/>
                          </a:ext>
                        </a:extLst>
                      </p:cNvPr>
                      <p:cNvPicPr>
                        <a:picLocks noChangeAspect="1" noChangeArrowheads="1"/>
                      </p:cNvPicPr>
                      <p:nvPr/>
                    </p:nvPicPr>
                    <p:blipFill>
                      <a:blip r:embed="rId7"/>
                      <a:srcRect/>
                      <a:stretch>
                        <a:fillRect/>
                      </a:stretch>
                    </p:blipFill>
                    <p:spPr bwMode="auto">
                      <a:xfrm>
                        <a:off x="2682875" y="1794809"/>
                        <a:ext cx="3411538" cy="903288"/>
                      </a:xfrm>
                      <a:prstGeom prst="rect">
                        <a:avLst/>
                      </a:prstGeom>
                      <a:noFill/>
                      <a:ln>
                        <a:noFill/>
                      </a:ln>
                    </p:spPr>
                  </p:pic>
                </p:oleObj>
              </mc:Fallback>
            </mc:AlternateContent>
          </a:graphicData>
        </a:graphic>
      </p:graphicFrame>
      <p:grpSp>
        <p:nvGrpSpPr>
          <p:cNvPr id="5" name="Group 2">
            <a:extLst>
              <a:ext uri="{FF2B5EF4-FFF2-40B4-BE49-F238E27FC236}">
                <a16:creationId xmlns:a16="http://schemas.microsoft.com/office/drawing/2014/main" id="{6E390CEB-0BEF-FEE7-9F43-89D20B3CDF2E}"/>
              </a:ext>
            </a:extLst>
          </p:cNvPr>
          <p:cNvGrpSpPr>
            <a:grpSpLocks/>
          </p:cNvGrpSpPr>
          <p:nvPr/>
        </p:nvGrpSpPr>
        <p:grpSpPr bwMode="auto">
          <a:xfrm>
            <a:off x="8065691" y="838223"/>
            <a:ext cx="3756025" cy="3395662"/>
            <a:chOff x="3372" y="420"/>
            <a:chExt cx="2366" cy="2139"/>
          </a:xfrm>
        </p:grpSpPr>
        <p:sp>
          <p:nvSpPr>
            <p:cNvPr id="8" name="Freeform 4">
              <a:extLst>
                <a:ext uri="{FF2B5EF4-FFF2-40B4-BE49-F238E27FC236}">
                  <a16:creationId xmlns:a16="http://schemas.microsoft.com/office/drawing/2014/main" id="{E247CCAC-9986-6DB6-DAF0-30DA02C8619A}"/>
                </a:ext>
              </a:extLst>
            </p:cNvPr>
            <p:cNvSpPr>
              <a:spLocks noChangeAspect="1"/>
            </p:cNvSpPr>
            <p:nvPr/>
          </p:nvSpPr>
          <p:spPr bwMode="auto">
            <a:xfrm>
              <a:off x="3840" y="950"/>
              <a:ext cx="1188" cy="1242"/>
            </a:xfrm>
            <a:custGeom>
              <a:avLst/>
              <a:gdLst>
                <a:gd name="T0" fmla="*/ 1181 w 1188"/>
                <a:gd name="T1" fmla="*/ 0 h 1242"/>
                <a:gd name="T2" fmla="*/ 1188 w 1188"/>
                <a:gd name="T3" fmla="*/ 316 h 1242"/>
                <a:gd name="T4" fmla="*/ 772 w 1188"/>
                <a:gd name="T5" fmla="*/ 321 h 1242"/>
                <a:gd name="T6" fmla="*/ 772 w 1188"/>
                <a:gd name="T7" fmla="*/ 1242 h 1242"/>
                <a:gd name="T8" fmla="*/ 420 w 1188"/>
                <a:gd name="T9" fmla="*/ 1242 h 1242"/>
                <a:gd name="T10" fmla="*/ 420 w 1188"/>
                <a:gd name="T11" fmla="*/ 321 h 1242"/>
                <a:gd name="T12" fmla="*/ 3 w 1188"/>
                <a:gd name="T13" fmla="*/ 321 h 1242"/>
                <a:gd name="T14" fmla="*/ 0 w 1188"/>
                <a:gd name="T15" fmla="*/ 4 h 1242"/>
                <a:gd name="T16" fmla="*/ 1181 w 1188"/>
                <a:gd name="T17" fmla="*/ 0 h 12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88"/>
                <a:gd name="T28" fmla="*/ 0 h 1242"/>
                <a:gd name="T29" fmla="*/ 1188 w 1188"/>
                <a:gd name="T30" fmla="*/ 1242 h 12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88" h="1242">
                  <a:moveTo>
                    <a:pt x="1181" y="0"/>
                  </a:moveTo>
                  <a:lnTo>
                    <a:pt x="1188" y="316"/>
                  </a:lnTo>
                  <a:lnTo>
                    <a:pt x="772" y="321"/>
                  </a:lnTo>
                  <a:lnTo>
                    <a:pt x="772" y="1242"/>
                  </a:lnTo>
                  <a:lnTo>
                    <a:pt x="420" y="1242"/>
                  </a:lnTo>
                  <a:lnTo>
                    <a:pt x="420" y="321"/>
                  </a:lnTo>
                  <a:lnTo>
                    <a:pt x="3" y="321"/>
                  </a:lnTo>
                  <a:lnTo>
                    <a:pt x="0" y="4"/>
                  </a:lnTo>
                  <a:lnTo>
                    <a:pt x="1181" y="0"/>
                  </a:lnTo>
                  <a:close/>
                </a:path>
              </a:pathLst>
            </a:custGeom>
            <a:solidFill>
              <a:srgbClr val="99FFCC"/>
            </a:solid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 name="Line 5">
              <a:extLst>
                <a:ext uri="{FF2B5EF4-FFF2-40B4-BE49-F238E27FC236}">
                  <a16:creationId xmlns:a16="http://schemas.microsoft.com/office/drawing/2014/main" id="{F7F5748D-DDED-1DF6-0A2F-0ED5257C9CC4}"/>
                </a:ext>
              </a:extLst>
            </p:cNvPr>
            <p:cNvSpPr>
              <a:spLocks noChangeAspect="1" noChangeShapeType="1"/>
            </p:cNvSpPr>
            <p:nvPr/>
          </p:nvSpPr>
          <p:spPr bwMode="auto">
            <a:xfrm flipV="1">
              <a:off x="4429" y="478"/>
              <a:ext cx="0" cy="1869"/>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6">
              <a:extLst>
                <a:ext uri="{FF2B5EF4-FFF2-40B4-BE49-F238E27FC236}">
                  <a16:creationId xmlns:a16="http://schemas.microsoft.com/office/drawing/2014/main" id="{7CDAC4C9-1625-6BE6-0D3A-BAC9EE583426}"/>
                </a:ext>
              </a:extLst>
            </p:cNvPr>
            <p:cNvSpPr>
              <a:spLocks noChangeAspect="1" noChangeShapeType="1"/>
            </p:cNvSpPr>
            <p:nvPr/>
          </p:nvSpPr>
          <p:spPr bwMode="auto">
            <a:xfrm>
              <a:off x="3372" y="2193"/>
              <a:ext cx="2322"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Text Box 7">
              <a:extLst>
                <a:ext uri="{FF2B5EF4-FFF2-40B4-BE49-F238E27FC236}">
                  <a16:creationId xmlns:a16="http://schemas.microsoft.com/office/drawing/2014/main" id="{D9A84543-3200-039E-F32D-21ADDBF06AB9}"/>
                </a:ext>
              </a:extLst>
            </p:cNvPr>
            <p:cNvSpPr txBox="1">
              <a:spLocks noChangeAspect="1" noChangeArrowheads="1"/>
            </p:cNvSpPr>
            <p:nvPr/>
          </p:nvSpPr>
          <p:spPr bwMode="auto">
            <a:xfrm>
              <a:off x="5494" y="2123"/>
              <a:ext cx="244"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j-lt"/>
                  <a:ea typeface="宋体" panose="02010600030101010101" pitchFamily="2" charset="-122"/>
                </a:rPr>
                <a:t>z</a:t>
              </a:r>
            </a:p>
          </p:txBody>
        </p:sp>
        <p:sp>
          <p:nvSpPr>
            <p:cNvPr id="13" name="Text Box 8">
              <a:extLst>
                <a:ext uri="{FF2B5EF4-FFF2-40B4-BE49-F238E27FC236}">
                  <a16:creationId xmlns:a16="http://schemas.microsoft.com/office/drawing/2014/main" id="{F3A7C1D7-F664-50FA-1A92-31F8F6D2CF13}"/>
                </a:ext>
              </a:extLst>
            </p:cNvPr>
            <p:cNvSpPr txBox="1">
              <a:spLocks noChangeAspect="1" noChangeArrowheads="1"/>
            </p:cNvSpPr>
            <p:nvPr/>
          </p:nvSpPr>
          <p:spPr bwMode="auto">
            <a:xfrm>
              <a:off x="4239" y="420"/>
              <a:ext cx="40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j-lt"/>
                  <a:ea typeface="宋体" panose="02010600030101010101" pitchFamily="2" charset="-122"/>
                </a:rPr>
                <a:t>y</a:t>
              </a:r>
            </a:p>
          </p:txBody>
        </p:sp>
        <p:sp>
          <p:nvSpPr>
            <p:cNvPr id="14" name="Line 9">
              <a:extLst>
                <a:ext uri="{FF2B5EF4-FFF2-40B4-BE49-F238E27FC236}">
                  <a16:creationId xmlns:a16="http://schemas.microsoft.com/office/drawing/2014/main" id="{B99C32CD-7A34-7CA0-A75A-13C2E7A21B5B}"/>
                </a:ext>
              </a:extLst>
            </p:cNvPr>
            <p:cNvSpPr>
              <a:spLocks noChangeAspect="1" noChangeShapeType="1"/>
            </p:cNvSpPr>
            <p:nvPr/>
          </p:nvSpPr>
          <p:spPr bwMode="auto">
            <a:xfrm>
              <a:off x="5071" y="950"/>
              <a:ext cx="5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 name="Line 10">
              <a:extLst>
                <a:ext uri="{FF2B5EF4-FFF2-40B4-BE49-F238E27FC236}">
                  <a16:creationId xmlns:a16="http://schemas.microsoft.com/office/drawing/2014/main" id="{10C235E2-BECB-816C-462A-8BF30916D442}"/>
                </a:ext>
              </a:extLst>
            </p:cNvPr>
            <p:cNvSpPr>
              <a:spLocks noChangeAspect="1" noChangeShapeType="1"/>
            </p:cNvSpPr>
            <p:nvPr/>
          </p:nvSpPr>
          <p:spPr bwMode="auto">
            <a:xfrm>
              <a:off x="5071" y="1271"/>
              <a:ext cx="5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Line 11">
              <a:extLst>
                <a:ext uri="{FF2B5EF4-FFF2-40B4-BE49-F238E27FC236}">
                  <a16:creationId xmlns:a16="http://schemas.microsoft.com/office/drawing/2014/main" id="{5C7A8827-6257-34DE-45E1-DCB7998ED789}"/>
                </a:ext>
              </a:extLst>
            </p:cNvPr>
            <p:cNvSpPr>
              <a:spLocks noChangeAspect="1" noChangeShapeType="1"/>
            </p:cNvSpPr>
            <p:nvPr/>
          </p:nvSpPr>
          <p:spPr bwMode="auto">
            <a:xfrm>
              <a:off x="5485" y="1267"/>
              <a:ext cx="0" cy="9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 name="Line 12">
              <a:extLst>
                <a:ext uri="{FF2B5EF4-FFF2-40B4-BE49-F238E27FC236}">
                  <a16:creationId xmlns:a16="http://schemas.microsoft.com/office/drawing/2014/main" id="{135DD5FE-6D0A-E638-022B-C8E13EE6CC27}"/>
                </a:ext>
              </a:extLst>
            </p:cNvPr>
            <p:cNvSpPr>
              <a:spLocks noChangeAspect="1" noChangeShapeType="1"/>
            </p:cNvSpPr>
            <p:nvPr/>
          </p:nvSpPr>
          <p:spPr bwMode="auto">
            <a:xfrm>
              <a:off x="3842" y="613"/>
              <a:ext cx="0" cy="2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Line 13">
              <a:extLst>
                <a:ext uri="{FF2B5EF4-FFF2-40B4-BE49-F238E27FC236}">
                  <a16:creationId xmlns:a16="http://schemas.microsoft.com/office/drawing/2014/main" id="{D46E323A-80D9-C29B-AA14-1F0A6886DB6B}"/>
                </a:ext>
              </a:extLst>
            </p:cNvPr>
            <p:cNvSpPr>
              <a:spLocks noChangeAspect="1" noChangeShapeType="1"/>
            </p:cNvSpPr>
            <p:nvPr/>
          </p:nvSpPr>
          <p:spPr bwMode="auto">
            <a:xfrm>
              <a:off x="5021" y="630"/>
              <a:ext cx="0" cy="2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9" name="Text Box 14">
              <a:extLst>
                <a:ext uri="{FF2B5EF4-FFF2-40B4-BE49-F238E27FC236}">
                  <a16:creationId xmlns:a16="http://schemas.microsoft.com/office/drawing/2014/main" id="{F4C0F9FB-7876-70BA-25DD-AD0B2C952E55}"/>
                </a:ext>
              </a:extLst>
            </p:cNvPr>
            <p:cNvSpPr txBox="1">
              <a:spLocks noChangeAspect="1" noChangeArrowheads="1"/>
            </p:cNvSpPr>
            <p:nvPr/>
          </p:nvSpPr>
          <p:spPr bwMode="auto">
            <a:xfrm>
              <a:off x="4375" y="550"/>
              <a:ext cx="43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100</a:t>
              </a:r>
            </a:p>
          </p:txBody>
        </p:sp>
        <p:sp>
          <p:nvSpPr>
            <p:cNvPr id="20" name="Text Box 15">
              <a:extLst>
                <a:ext uri="{FF2B5EF4-FFF2-40B4-BE49-F238E27FC236}">
                  <a16:creationId xmlns:a16="http://schemas.microsoft.com/office/drawing/2014/main" id="{85D36280-E624-71FB-215B-CDE2EB1802A7}"/>
                </a:ext>
              </a:extLst>
            </p:cNvPr>
            <p:cNvSpPr txBox="1">
              <a:spLocks noChangeAspect="1" noChangeArrowheads="1"/>
            </p:cNvSpPr>
            <p:nvPr/>
          </p:nvSpPr>
          <p:spPr bwMode="auto">
            <a:xfrm rot="-5400000">
              <a:off x="5239" y="874"/>
              <a:ext cx="38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20</a:t>
              </a:r>
            </a:p>
          </p:txBody>
        </p:sp>
        <p:sp>
          <p:nvSpPr>
            <p:cNvPr id="21" name="Text Box 16">
              <a:extLst>
                <a:ext uri="{FF2B5EF4-FFF2-40B4-BE49-F238E27FC236}">
                  <a16:creationId xmlns:a16="http://schemas.microsoft.com/office/drawing/2014/main" id="{D43D9CDC-CA3D-4A62-E3EE-51EA6BED44CC}"/>
                </a:ext>
              </a:extLst>
            </p:cNvPr>
            <p:cNvSpPr txBox="1">
              <a:spLocks noChangeAspect="1" noChangeArrowheads="1"/>
            </p:cNvSpPr>
            <p:nvPr/>
          </p:nvSpPr>
          <p:spPr bwMode="auto">
            <a:xfrm rot="-5400000">
              <a:off x="5226" y="1480"/>
              <a:ext cx="43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100</a:t>
              </a:r>
            </a:p>
          </p:txBody>
        </p:sp>
        <p:sp>
          <p:nvSpPr>
            <p:cNvPr id="22" name="Line 17">
              <a:extLst>
                <a:ext uri="{FF2B5EF4-FFF2-40B4-BE49-F238E27FC236}">
                  <a16:creationId xmlns:a16="http://schemas.microsoft.com/office/drawing/2014/main" id="{FEFB2F5B-9672-B121-35AC-570082FF8432}"/>
                </a:ext>
              </a:extLst>
            </p:cNvPr>
            <p:cNvSpPr>
              <a:spLocks noChangeAspect="1" noChangeShapeType="1"/>
            </p:cNvSpPr>
            <p:nvPr/>
          </p:nvSpPr>
          <p:spPr bwMode="auto">
            <a:xfrm>
              <a:off x="5482" y="943"/>
              <a:ext cx="0" cy="326"/>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 name="Line 18">
              <a:extLst>
                <a:ext uri="{FF2B5EF4-FFF2-40B4-BE49-F238E27FC236}">
                  <a16:creationId xmlns:a16="http://schemas.microsoft.com/office/drawing/2014/main" id="{1DC349BD-ADF6-7AF0-E8ED-41A920C88BB4}"/>
                </a:ext>
              </a:extLst>
            </p:cNvPr>
            <p:cNvSpPr>
              <a:spLocks noChangeAspect="1" noChangeShapeType="1"/>
            </p:cNvSpPr>
            <p:nvPr/>
          </p:nvSpPr>
          <p:spPr bwMode="auto">
            <a:xfrm>
              <a:off x="3838" y="781"/>
              <a:ext cx="1186" cy="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 name="Line 19">
              <a:extLst>
                <a:ext uri="{FF2B5EF4-FFF2-40B4-BE49-F238E27FC236}">
                  <a16:creationId xmlns:a16="http://schemas.microsoft.com/office/drawing/2014/main" id="{2C4C60F7-F898-6BC1-73BA-36FA43470594}"/>
                </a:ext>
              </a:extLst>
            </p:cNvPr>
            <p:cNvSpPr>
              <a:spLocks noChangeAspect="1" noChangeShapeType="1"/>
            </p:cNvSpPr>
            <p:nvPr/>
          </p:nvSpPr>
          <p:spPr bwMode="auto">
            <a:xfrm>
              <a:off x="4264" y="2269"/>
              <a:ext cx="0" cy="2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5" name="Line 20">
              <a:extLst>
                <a:ext uri="{FF2B5EF4-FFF2-40B4-BE49-F238E27FC236}">
                  <a16:creationId xmlns:a16="http://schemas.microsoft.com/office/drawing/2014/main" id="{894EEA5B-E4DB-172D-A021-594B68F17410}"/>
                </a:ext>
              </a:extLst>
            </p:cNvPr>
            <p:cNvSpPr>
              <a:spLocks noChangeAspect="1" noChangeShapeType="1"/>
            </p:cNvSpPr>
            <p:nvPr/>
          </p:nvSpPr>
          <p:spPr bwMode="auto">
            <a:xfrm>
              <a:off x="4616" y="2269"/>
              <a:ext cx="0" cy="2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 name="Freeform 21">
              <a:extLst>
                <a:ext uri="{FF2B5EF4-FFF2-40B4-BE49-F238E27FC236}">
                  <a16:creationId xmlns:a16="http://schemas.microsoft.com/office/drawing/2014/main" id="{A3B053C4-E653-8DDA-6756-C5CC893336CF}"/>
                </a:ext>
              </a:extLst>
            </p:cNvPr>
            <p:cNvSpPr>
              <a:spLocks noChangeAspect="1"/>
            </p:cNvSpPr>
            <p:nvPr/>
          </p:nvSpPr>
          <p:spPr bwMode="auto">
            <a:xfrm>
              <a:off x="4260" y="2403"/>
              <a:ext cx="352" cy="0"/>
            </a:xfrm>
            <a:custGeom>
              <a:avLst/>
              <a:gdLst>
                <a:gd name="T0" fmla="*/ 0 w 420"/>
                <a:gd name="T1" fmla="*/ 0 h 1"/>
                <a:gd name="T2" fmla="*/ 352 w 420"/>
                <a:gd name="T3" fmla="*/ 0 h 1"/>
                <a:gd name="T4" fmla="*/ 0 60000 65536"/>
                <a:gd name="T5" fmla="*/ 0 60000 65536"/>
                <a:gd name="T6" fmla="*/ 0 w 420"/>
                <a:gd name="T7" fmla="*/ 0 h 1"/>
                <a:gd name="T8" fmla="*/ 420 w 420"/>
                <a:gd name="T9" fmla="*/ 0 h 1"/>
              </a:gdLst>
              <a:ahLst/>
              <a:cxnLst>
                <a:cxn ang="T4">
                  <a:pos x="T0" y="T1"/>
                </a:cxn>
                <a:cxn ang="T5">
                  <a:pos x="T2" y="T3"/>
                </a:cxn>
              </a:cxnLst>
              <a:rect l="T6" t="T7" r="T8" b="T9"/>
              <a:pathLst>
                <a:path w="420" h="1">
                  <a:moveTo>
                    <a:pt x="0" y="0"/>
                  </a:moveTo>
                  <a:lnTo>
                    <a:pt x="420" y="0"/>
                  </a:lnTo>
                </a:path>
              </a:pathLst>
            </a:custGeom>
            <a:noFill/>
            <a:ln w="0" cap="flat" cmpd="sng">
              <a:solidFill>
                <a:srgbClr val="000000"/>
              </a:solidFill>
              <a:prstDash val="solid"/>
              <a:round/>
              <a:headEnd type="stealth" w="sm" len="med"/>
              <a:tailEnd type="stealth" w="sm"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7" name="Text Box 22">
              <a:extLst>
                <a:ext uri="{FF2B5EF4-FFF2-40B4-BE49-F238E27FC236}">
                  <a16:creationId xmlns:a16="http://schemas.microsoft.com/office/drawing/2014/main" id="{86F7E9C5-4976-AEDB-B524-7A3F80F32A26}"/>
                </a:ext>
              </a:extLst>
            </p:cNvPr>
            <p:cNvSpPr txBox="1">
              <a:spLocks noChangeAspect="1" noChangeArrowheads="1"/>
            </p:cNvSpPr>
            <p:nvPr/>
          </p:nvSpPr>
          <p:spPr bwMode="auto">
            <a:xfrm>
              <a:off x="4279" y="2171"/>
              <a:ext cx="436"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20</a:t>
              </a:r>
            </a:p>
          </p:txBody>
        </p:sp>
      </p:grpSp>
      <p:sp>
        <p:nvSpPr>
          <p:cNvPr id="28" name="Line 24">
            <a:extLst>
              <a:ext uri="{FF2B5EF4-FFF2-40B4-BE49-F238E27FC236}">
                <a16:creationId xmlns:a16="http://schemas.microsoft.com/office/drawing/2014/main" id="{4988088C-1DC8-3E2A-F396-F381C201016B}"/>
              </a:ext>
            </a:extLst>
          </p:cNvPr>
          <p:cNvSpPr>
            <a:spLocks noChangeAspect="1" noChangeShapeType="1"/>
          </p:cNvSpPr>
          <p:nvPr/>
        </p:nvSpPr>
        <p:spPr bwMode="auto">
          <a:xfrm>
            <a:off x="8786415" y="2508273"/>
            <a:ext cx="2217738" cy="0"/>
          </a:xfrm>
          <a:prstGeom prst="line">
            <a:avLst/>
          </a:prstGeom>
          <a:noFill/>
          <a:ln w="3175">
            <a:solidFill>
              <a:srgbClr val="FF00FF"/>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9" name="Line 25">
            <a:extLst>
              <a:ext uri="{FF2B5EF4-FFF2-40B4-BE49-F238E27FC236}">
                <a16:creationId xmlns:a16="http://schemas.microsoft.com/office/drawing/2014/main" id="{7F64E9DF-E1A7-3453-8778-E5B3E6793069}"/>
              </a:ext>
            </a:extLst>
          </p:cNvPr>
          <p:cNvSpPr>
            <a:spLocks noChangeAspect="1" noChangeShapeType="1"/>
          </p:cNvSpPr>
          <p:nvPr/>
        </p:nvSpPr>
        <p:spPr bwMode="auto">
          <a:xfrm>
            <a:off x="8919765" y="2481285"/>
            <a:ext cx="0" cy="1181100"/>
          </a:xfrm>
          <a:prstGeom prst="line">
            <a:avLst/>
          </a:prstGeom>
          <a:noFill/>
          <a:ln w="0">
            <a:solidFill>
              <a:srgbClr val="FF00FF"/>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0" name="Text Box 26">
            <a:extLst>
              <a:ext uri="{FF2B5EF4-FFF2-40B4-BE49-F238E27FC236}">
                <a16:creationId xmlns:a16="http://schemas.microsoft.com/office/drawing/2014/main" id="{3C7A8FDF-AD02-CDE5-294B-66FC4AC56296}"/>
              </a:ext>
            </a:extLst>
          </p:cNvPr>
          <p:cNvSpPr txBox="1">
            <a:spLocks noChangeAspect="1" noChangeArrowheads="1"/>
          </p:cNvSpPr>
          <p:nvPr/>
        </p:nvSpPr>
        <p:spPr bwMode="auto">
          <a:xfrm>
            <a:off x="9659540" y="2176485"/>
            <a:ext cx="5334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FF"/>
                </a:solidFill>
                <a:latin typeface="+mj-lt"/>
                <a:ea typeface="宋体" panose="02010600030101010101" pitchFamily="2" charset="-122"/>
              </a:rPr>
              <a:t>C</a:t>
            </a:r>
          </a:p>
        </p:txBody>
      </p:sp>
      <p:sp>
        <p:nvSpPr>
          <p:cNvPr id="31" name="Text Box 27">
            <a:extLst>
              <a:ext uri="{FF2B5EF4-FFF2-40B4-BE49-F238E27FC236}">
                <a16:creationId xmlns:a16="http://schemas.microsoft.com/office/drawing/2014/main" id="{E6D08532-75E6-AFCD-F1A9-759640283571}"/>
              </a:ext>
            </a:extLst>
          </p:cNvPr>
          <p:cNvSpPr txBox="1">
            <a:spLocks noChangeAspect="1" noChangeArrowheads="1"/>
          </p:cNvSpPr>
          <p:nvPr/>
        </p:nvSpPr>
        <p:spPr bwMode="auto">
          <a:xfrm>
            <a:off x="10618390" y="2389210"/>
            <a:ext cx="642938"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err="1">
                <a:solidFill>
                  <a:srgbClr val="FF00FF"/>
                </a:solidFill>
                <a:latin typeface="+mj-lt"/>
                <a:ea typeface="宋体" panose="02010600030101010101" pitchFamily="2" charset="-122"/>
              </a:rPr>
              <a:t>z</a:t>
            </a:r>
            <a:r>
              <a:rPr lang="en-US" altLang="zh-CN" b="0" baseline="-25000" dirty="0" err="1">
                <a:solidFill>
                  <a:srgbClr val="FF00FF"/>
                </a:solidFill>
                <a:latin typeface="+mj-lt"/>
                <a:ea typeface="宋体" panose="02010600030101010101" pitchFamily="2" charset="-122"/>
              </a:rPr>
              <a:t>C</a:t>
            </a:r>
            <a:endParaRPr lang="en-US" altLang="zh-CN" b="0" dirty="0">
              <a:solidFill>
                <a:srgbClr val="FF00FF"/>
              </a:solidFill>
              <a:latin typeface="+mj-lt"/>
              <a:ea typeface="宋体" panose="02010600030101010101" pitchFamily="2" charset="-122"/>
            </a:endParaRPr>
          </a:p>
        </p:txBody>
      </p:sp>
      <p:sp>
        <p:nvSpPr>
          <p:cNvPr id="32" name="Text Box 28">
            <a:extLst>
              <a:ext uri="{FF2B5EF4-FFF2-40B4-BE49-F238E27FC236}">
                <a16:creationId xmlns:a16="http://schemas.microsoft.com/office/drawing/2014/main" id="{19333487-AEAC-CB55-27E6-4F825DA34072}"/>
              </a:ext>
            </a:extLst>
          </p:cNvPr>
          <p:cNvSpPr txBox="1">
            <a:spLocks noChangeAspect="1" noChangeArrowheads="1"/>
          </p:cNvSpPr>
          <p:nvPr/>
        </p:nvSpPr>
        <p:spPr bwMode="auto">
          <a:xfrm rot="16200000">
            <a:off x="8531622" y="2658291"/>
            <a:ext cx="58261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err="1">
                <a:solidFill>
                  <a:srgbClr val="FF00FF"/>
                </a:solidFill>
                <a:latin typeface="+mn-lt"/>
                <a:ea typeface="宋体" panose="02010600030101010101" pitchFamily="2" charset="-122"/>
              </a:rPr>
              <a:t>y</a:t>
            </a:r>
            <a:r>
              <a:rPr lang="en-US" altLang="zh-CN" b="0" baseline="-25000" dirty="0" err="1">
                <a:solidFill>
                  <a:srgbClr val="FF00FF"/>
                </a:solidFill>
                <a:latin typeface="+mn-lt"/>
                <a:ea typeface="宋体" panose="02010600030101010101" pitchFamily="2" charset="-122"/>
              </a:rPr>
              <a:t>C</a:t>
            </a:r>
            <a:endParaRPr lang="en-US" altLang="zh-CN" b="0" dirty="0">
              <a:solidFill>
                <a:srgbClr val="FF00FF"/>
              </a:solidFill>
              <a:latin typeface="+mn-lt"/>
              <a:ea typeface="宋体" panose="02010600030101010101" pitchFamily="2" charset="-122"/>
            </a:endParaRPr>
          </a:p>
        </p:txBody>
      </p:sp>
      <p:sp>
        <p:nvSpPr>
          <p:cNvPr id="33" name="Text Box 29">
            <a:extLst>
              <a:ext uri="{FF2B5EF4-FFF2-40B4-BE49-F238E27FC236}">
                <a16:creationId xmlns:a16="http://schemas.microsoft.com/office/drawing/2014/main" id="{566CF7F3-E808-DFBB-BF7B-B6B9A16FC5B5}"/>
              </a:ext>
            </a:extLst>
          </p:cNvPr>
          <p:cNvSpPr txBox="1">
            <a:spLocks noChangeAspect="1" noChangeArrowheads="1"/>
          </p:cNvSpPr>
          <p:nvPr/>
        </p:nvSpPr>
        <p:spPr bwMode="auto">
          <a:xfrm>
            <a:off x="9581752" y="2497367"/>
            <a:ext cx="6127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dirty="0">
                <a:solidFill>
                  <a:srgbClr val="FF0000"/>
                </a:solidFill>
                <a:latin typeface="+mj-lt"/>
                <a:ea typeface="宋体" panose="02010600030101010101" pitchFamily="2" charset="-122"/>
              </a:rPr>
              <a:t>·</a:t>
            </a:r>
          </a:p>
        </p:txBody>
      </p:sp>
      <p:sp>
        <p:nvSpPr>
          <p:cNvPr id="34" name="Text Box 30">
            <a:extLst>
              <a:ext uri="{FF2B5EF4-FFF2-40B4-BE49-F238E27FC236}">
                <a16:creationId xmlns:a16="http://schemas.microsoft.com/office/drawing/2014/main" id="{6D836855-538A-AC36-0D6B-23A18A9B8E99}"/>
              </a:ext>
            </a:extLst>
          </p:cNvPr>
          <p:cNvSpPr txBox="1">
            <a:spLocks noChangeAspect="1" noChangeArrowheads="1"/>
          </p:cNvSpPr>
          <p:nvPr/>
        </p:nvSpPr>
        <p:spPr bwMode="auto">
          <a:xfrm>
            <a:off x="9610328" y="1585935"/>
            <a:ext cx="6127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a:solidFill>
                  <a:srgbClr val="FF0000"/>
                </a:solidFill>
                <a:latin typeface="" pitchFamily="18" charset="-52"/>
                <a:ea typeface="宋体" panose="02010600030101010101" pitchFamily="2" charset="-122"/>
              </a:rPr>
              <a:t>·</a:t>
            </a:r>
          </a:p>
        </p:txBody>
      </p:sp>
      <p:sp>
        <p:nvSpPr>
          <p:cNvPr id="35" name="Text Box 31">
            <a:extLst>
              <a:ext uri="{FF2B5EF4-FFF2-40B4-BE49-F238E27FC236}">
                <a16:creationId xmlns:a16="http://schemas.microsoft.com/office/drawing/2014/main" id="{6BDC274A-0558-DC53-C179-346D219D2026}"/>
              </a:ext>
            </a:extLst>
          </p:cNvPr>
          <p:cNvSpPr txBox="1">
            <a:spLocks noChangeAspect="1" noChangeArrowheads="1"/>
          </p:cNvSpPr>
          <p:nvPr/>
        </p:nvSpPr>
        <p:spPr bwMode="auto">
          <a:xfrm>
            <a:off x="9597628" y="2174103"/>
            <a:ext cx="4730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dirty="0">
                <a:solidFill>
                  <a:srgbClr val="FF0000"/>
                </a:solidFill>
                <a:latin typeface="" pitchFamily="18" charset="-52"/>
                <a:ea typeface="宋体" panose="02010600030101010101" pitchFamily="2" charset="-122"/>
              </a:rPr>
              <a:t>·</a:t>
            </a:r>
          </a:p>
        </p:txBody>
      </p:sp>
      <p:sp>
        <p:nvSpPr>
          <p:cNvPr id="36" name="Text Box 32">
            <a:extLst>
              <a:ext uri="{FF2B5EF4-FFF2-40B4-BE49-F238E27FC236}">
                <a16:creationId xmlns:a16="http://schemas.microsoft.com/office/drawing/2014/main" id="{C592E630-B827-AEE1-695C-DDEC3C4C7D22}"/>
              </a:ext>
            </a:extLst>
          </p:cNvPr>
          <p:cNvSpPr txBox="1">
            <a:spLocks noChangeAspect="1" noChangeArrowheads="1"/>
          </p:cNvSpPr>
          <p:nvPr/>
        </p:nvSpPr>
        <p:spPr bwMode="auto">
          <a:xfrm>
            <a:off x="9635728" y="2752748"/>
            <a:ext cx="5857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i="0" baseline="-25000" dirty="0">
                <a:solidFill>
                  <a:srgbClr val="000000"/>
                </a:solidFill>
                <a:latin typeface="+mn-lt"/>
                <a:ea typeface="宋体" panose="02010600030101010101" pitchFamily="2" charset="-122"/>
              </a:rPr>
              <a:t>2</a:t>
            </a:r>
            <a:endParaRPr lang="en-US" altLang="zh-CN" b="0" dirty="0">
              <a:solidFill>
                <a:srgbClr val="000000"/>
              </a:solidFill>
              <a:latin typeface="+mn-lt"/>
              <a:ea typeface="宋体" panose="02010600030101010101" pitchFamily="2" charset="-122"/>
            </a:endParaRPr>
          </a:p>
        </p:txBody>
      </p:sp>
      <p:sp>
        <p:nvSpPr>
          <p:cNvPr id="37" name="Text Box 33">
            <a:extLst>
              <a:ext uri="{FF2B5EF4-FFF2-40B4-BE49-F238E27FC236}">
                <a16:creationId xmlns:a16="http://schemas.microsoft.com/office/drawing/2014/main" id="{379CA05A-A00D-83B0-0671-AB9CCBD4ED37}"/>
              </a:ext>
            </a:extLst>
          </p:cNvPr>
          <p:cNvSpPr txBox="1">
            <a:spLocks noChangeAspect="1" noChangeArrowheads="1"/>
          </p:cNvSpPr>
          <p:nvPr/>
        </p:nvSpPr>
        <p:spPr bwMode="auto">
          <a:xfrm>
            <a:off x="9694465" y="1714523"/>
            <a:ext cx="5857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r>
              <a:rPr lang="en-US" altLang="zh-CN" b="0" i="0" baseline="-25000" dirty="0">
                <a:solidFill>
                  <a:srgbClr val="000000"/>
                </a:solidFill>
                <a:latin typeface="+mj-lt"/>
                <a:ea typeface="宋体" panose="02010600030101010101" pitchFamily="2" charset="-122"/>
              </a:rPr>
              <a:t>1</a:t>
            </a:r>
            <a:endParaRPr lang="en-US" altLang="zh-CN" b="0" dirty="0">
              <a:solidFill>
                <a:srgbClr val="000000"/>
              </a:solidFill>
              <a:latin typeface="+mj-lt"/>
              <a:ea typeface="宋体" panose="02010600030101010101" pitchFamily="2" charset="-122"/>
            </a:endParaRPr>
          </a:p>
        </p:txBody>
      </p:sp>
      <p:sp>
        <p:nvSpPr>
          <p:cNvPr id="38" name="Line 34">
            <a:extLst>
              <a:ext uri="{FF2B5EF4-FFF2-40B4-BE49-F238E27FC236}">
                <a16:creationId xmlns:a16="http://schemas.microsoft.com/office/drawing/2014/main" id="{7EF826BA-8001-2AAA-2E81-67BD90734E61}"/>
              </a:ext>
            </a:extLst>
          </p:cNvPr>
          <p:cNvSpPr>
            <a:spLocks noChangeAspect="1" noChangeShapeType="1"/>
          </p:cNvSpPr>
          <p:nvPr/>
        </p:nvSpPr>
        <p:spPr bwMode="auto">
          <a:xfrm>
            <a:off x="9132490" y="2828948"/>
            <a:ext cx="3222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9" name="Line 35">
            <a:extLst>
              <a:ext uri="{FF2B5EF4-FFF2-40B4-BE49-F238E27FC236}">
                <a16:creationId xmlns:a16="http://schemas.microsoft.com/office/drawing/2014/main" id="{8CD4EB70-6B20-8B78-2D14-865630FB573C}"/>
              </a:ext>
            </a:extLst>
          </p:cNvPr>
          <p:cNvSpPr>
            <a:spLocks noChangeAspect="1" noChangeShapeType="1"/>
          </p:cNvSpPr>
          <p:nvPr/>
        </p:nvSpPr>
        <p:spPr bwMode="auto">
          <a:xfrm>
            <a:off x="9319815" y="2814660"/>
            <a:ext cx="0" cy="842963"/>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0" name="Text Box 36">
            <a:extLst>
              <a:ext uri="{FF2B5EF4-FFF2-40B4-BE49-F238E27FC236}">
                <a16:creationId xmlns:a16="http://schemas.microsoft.com/office/drawing/2014/main" id="{A40FA940-D9BD-A531-4B23-596BF215721C}"/>
              </a:ext>
            </a:extLst>
          </p:cNvPr>
          <p:cNvSpPr txBox="1">
            <a:spLocks noChangeAspect="1" noChangeArrowheads="1"/>
          </p:cNvSpPr>
          <p:nvPr/>
        </p:nvSpPr>
        <p:spPr bwMode="auto">
          <a:xfrm rot="16200000">
            <a:off x="8828484" y="2694804"/>
            <a:ext cx="80168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50</a:t>
            </a:r>
          </a:p>
        </p:txBody>
      </p:sp>
      <p:sp>
        <p:nvSpPr>
          <p:cNvPr id="41" name="Line 37">
            <a:extLst>
              <a:ext uri="{FF2B5EF4-FFF2-40B4-BE49-F238E27FC236}">
                <a16:creationId xmlns:a16="http://schemas.microsoft.com/office/drawing/2014/main" id="{B2E0CA88-358E-D77A-FF6A-DFE5467EEBEC}"/>
              </a:ext>
            </a:extLst>
          </p:cNvPr>
          <p:cNvSpPr>
            <a:spLocks noChangeAspect="1" noChangeShapeType="1"/>
          </p:cNvSpPr>
          <p:nvPr/>
        </p:nvSpPr>
        <p:spPr bwMode="auto">
          <a:xfrm flipH="1">
            <a:off x="8116490" y="1919310"/>
            <a:ext cx="4032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2" name="Text Box 38">
            <a:extLst>
              <a:ext uri="{FF2B5EF4-FFF2-40B4-BE49-F238E27FC236}">
                <a16:creationId xmlns:a16="http://schemas.microsoft.com/office/drawing/2014/main" id="{B4963447-EF68-8BB3-BE50-241BBD66BAB4}"/>
              </a:ext>
            </a:extLst>
          </p:cNvPr>
          <p:cNvSpPr txBox="1">
            <a:spLocks noChangeAspect="1" noChangeArrowheads="1"/>
          </p:cNvSpPr>
          <p:nvPr/>
        </p:nvSpPr>
        <p:spPr bwMode="auto">
          <a:xfrm rot="16200000">
            <a:off x="7850584" y="2391591"/>
            <a:ext cx="69532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110</a:t>
            </a:r>
          </a:p>
        </p:txBody>
      </p:sp>
      <p:sp>
        <p:nvSpPr>
          <p:cNvPr id="43" name="Freeform 39">
            <a:extLst>
              <a:ext uri="{FF2B5EF4-FFF2-40B4-BE49-F238E27FC236}">
                <a16:creationId xmlns:a16="http://schemas.microsoft.com/office/drawing/2014/main" id="{1BFC344F-1269-9CEB-5287-E4C33E80CC13}"/>
              </a:ext>
            </a:extLst>
          </p:cNvPr>
          <p:cNvSpPr>
            <a:spLocks noChangeAspect="1"/>
          </p:cNvSpPr>
          <p:nvPr/>
        </p:nvSpPr>
        <p:spPr bwMode="auto">
          <a:xfrm>
            <a:off x="8413353" y="1892323"/>
            <a:ext cx="1587" cy="1778000"/>
          </a:xfrm>
          <a:custGeom>
            <a:avLst/>
            <a:gdLst>
              <a:gd name="T0" fmla="*/ 0 w 1"/>
              <a:gd name="T1" fmla="*/ 0 h 1330"/>
              <a:gd name="T2" fmla="*/ 0 w 1"/>
              <a:gd name="T3" fmla="*/ 1778000 h 1330"/>
              <a:gd name="T4" fmla="*/ 0 60000 65536"/>
              <a:gd name="T5" fmla="*/ 0 60000 65536"/>
              <a:gd name="T6" fmla="*/ 0 w 1"/>
              <a:gd name="T7" fmla="*/ 0 h 1330"/>
              <a:gd name="T8" fmla="*/ 1 w 1"/>
              <a:gd name="T9" fmla="*/ 1330 h 1330"/>
            </a:gdLst>
            <a:ahLst/>
            <a:cxnLst>
              <a:cxn ang="T4">
                <a:pos x="T0" y="T1"/>
              </a:cxn>
              <a:cxn ang="T5">
                <a:pos x="T2" y="T3"/>
              </a:cxn>
            </a:cxnLst>
            <a:rect l="T6" t="T7" r="T8" b="T9"/>
            <a:pathLst>
              <a:path w="1" h="1330">
                <a:moveTo>
                  <a:pt x="0" y="0"/>
                </a:moveTo>
                <a:lnTo>
                  <a:pt x="0" y="1330"/>
                </a:lnTo>
              </a:path>
            </a:pathLst>
          </a:custGeom>
          <a:noFill/>
          <a:ln w="0" cap="flat" cmpd="sng">
            <a:solidFill>
              <a:srgbClr val="000000"/>
            </a:solidFill>
            <a:prstDash val="solid"/>
            <a:round/>
            <a:headEnd type="stealth" w="sm" len="med"/>
            <a:tailEnd type="stealth" w="sm" len="me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44" name="Text Box 40">
            <a:extLst>
              <a:ext uri="{FF2B5EF4-FFF2-40B4-BE49-F238E27FC236}">
                <a16:creationId xmlns:a16="http://schemas.microsoft.com/office/drawing/2014/main" id="{B693AC9A-154F-A13C-EB7C-26C7418618B5}"/>
              </a:ext>
            </a:extLst>
          </p:cNvPr>
          <p:cNvSpPr txBox="1">
            <a:spLocks noChangeAspect="1" noChangeArrowheads="1"/>
          </p:cNvSpPr>
          <p:nvPr/>
        </p:nvSpPr>
        <p:spPr bwMode="auto">
          <a:xfrm>
            <a:off x="9405610" y="2962298"/>
            <a:ext cx="64135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ea typeface="宋体" panose="02010600030101010101" pitchFamily="2" charset="-122"/>
              </a:rPr>
              <a:t>Ⅱ</a:t>
            </a:r>
          </a:p>
        </p:txBody>
      </p:sp>
      <p:sp>
        <p:nvSpPr>
          <p:cNvPr id="46" name="Line 42">
            <a:extLst>
              <a:ext uri="{FF2B5EF4-FFF2-40B4-BE49-F238E27FC236}">
                <a16:creationId xmlns:a16="http://schemas.microsoft.com/office/drawing/2014/main" id="{AEDCCD51-9F75-7144-1757-92C5587FC93D}"/>
              </a:ext>
            </a:extLst>
          </p:cNvPr>
          <p:cNvSpPr>
            <a:spLocks noChangeShapeType="1"/>
          </p:cNvSpPr>
          <p:nvPr/>
        </p:nvSpPr>
        <p:spPr bwMode="auto">
          <a:xfrm flipH="1">
            <a:off x="9451578" y="2182835"/>
            <a:ext cx="582612" cy="0"/>
          </a:xfrm>
          <a:prstGeom prst="line">
            <a:avLst/>
          </a:prstGeom>
          <a:noFill/>
          <a:ln w="28575">
            <a:solidFill>
              <a:srgbClr val="FF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47" name="Text Box 44">
            <a:extLst>
              <a:ext uri="{FF2B5EF4-FFF2-40B4-BE49-F238E27FC236}">
                <a16:creationId xmlns:a16="http://schemas.microsoft.com/office/drawing/2014/main" id="{7C7C6569-D378-960A-981B-3E0335B84729}"/>
              </a:ext>
            </a:extLst>
          </p:cNvPr>
          <p:cNvSpPr txBox="1">
            <a:spLocks noChangeAspect="1" noChangeArrowheads="1"/>
          </p:cNvSpPr>
          <p:nvPr/>
        </p:nvSpPr>
        <p:spPr bwMode="auto">
          <a:xfrm>
            <a:off x="8999140" y="1625623"/>
            <a:ext cx="608013"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Ⅰ</a:t>
            </a:r>
          </a:p>
        </p:txBody>
      </p:sp>
      <p:sp>
        <p:nvSpPr>
          <p:cNvPr id="51" name="矩形 50">
            <a:extLst>
              <a:ext uri="{FF2B5EF4-FFF2-40B4-BE49-F238E27FC236}">
                <a16:creationId xmlns:a16="http://schemas.microsoft.com/office/drawing/2014/main" id="{EA27CFAC-F17C-B51E-0846-9392A1254CF9}"/>
              </a:ext>
            </a:extLst>
          </p:cNvPr>
          <p:cNvSpPr/>
          <p:nvPr/>
        </p:nvSpPr>
        <p:spPr>
          <a:xfrm>
            <a:off x="211184" y="3557611"/>
            <a:ext cx="10637344" cy="1900328"/>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Ⅰ</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=2</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/12+20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(11</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8)</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=346.7cm</a:t>
            </a:r>
            <a:r>
              <a:rPr kumimoji="1" lang="en-US" altLang="zh-CN" b="0" i="0" baseline="30000" dirty="0">
                <a:solidFill>
                  <a:schemeClr val="tx1"/>
                </a:solidFill>
                <a:ea typeface="黑体" panose="02010609060101010101" pitchFamily="49" charset="-122"/>
              </a:rPr>
              <a:t>4</a:t>
            </a: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Ⅱ</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/12+20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(8</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5)</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=186.7cm</a:t>
            </a:r>
            <a:r>
              <a:rPr kumimoji="1" lang="en-US" altLang="zh-CN" b="0" i="0" baseline="30000" dirty="0">
                <a:solidFill>
                  <a:schemeClr val="tx1"/>
                </a:solidFill>
                <a:ea typeface="黑体" panose="02010609060101010101" pitchFamily="49" charset="-122"/>
              </a:rPr>
              <a:t>4</a:t>
            </a:r>
          </a:p>
          <a:p>
            <a:pPr lvl="0">
              <a:lnSpc>
                <a:spcPct val="120000"/>
              </a:lnSpc>
            </a:pPr>
            <a:r>
              <a:rPr kumimoji="1" lang="en-US" altLang="zh-CN" i="0" dirty="0">
                <a:solidFill>
                  <a:schemeClr val="tx1"/>
                </a:solidFill>
                <a:latin typeface="+mn-lt"/>
                <a:ea typeface="黑体" panose="02010609060101010101" pitchFamily="49" charset="-122"/>
              </a:rPr>
              <a:t>          T</a:t>
            </a:r>
            <a:r>
              <a:rPr kumimoji="1" lang="zh-CN" altLang="en-US" i="0" dirty="0">
                <a:solidFill>
                  <a:schemeClr val="tx1"/>
                </a:solidFill>
                <a:latin typeface="+mn-lt"/>
                <a:ea typeface="黑体" panose="02010609060101010101" pitchFamily="49" charset="-122"/>
              </a:rPr>
              <a:t>形截面对形心轴</a:t>
            </a:r>
            <a:r>
              <a:rPr kumimoji="1" lang="en-US" altLang="zh-CN" b="0" dirty="0" err="1">
                <a:solidFill>
                  <a:schemeClr val="tx1"/>
                </a:solidFill>
                <a:ea typeface="黑体" panose="02010609060101010101" pitchFamily="49" charset="-122"/>
              </a:rPr>
              <a:t>z</a:t>
            </a:r>
            <a:r>
              <a:rPr kumimoji="1" lang="en-US" altLang="zh-CN" b="0" baseline="-25000" dirty="0" err="1">
                <a:solidFill>
                  <a:schemeClr val="tx1"/>
                </a:solidFill>
                <a:ea typeface="黑体" panose="02010609060101010101" pitchFamily="49" charset="-122"/>
              </a:rPr>
              <a:t>C</a:t>
            </a:r>
            <a:r>
              <a:rPr kumimoji="1" lang="zh-CN" altLang="en-US" i="0" dirty="0">
                <a:solidFill>
                  <a:schemeClr val="tx1"/>
                </a:solidFill>
                <a:latin typeface="+mn-lt"/>
                <a:ea typeface="黑体" panose="02010609060101010101" pitchFamily="49" charset="-122"/>
              </a:rPr>
              <a:t>的惯性矩</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a:t>
            </a:r>
            <a:r>
              <a:rPr kumimoji="1" lang="zh-CN" altLang="en-US" i="0" dirty="0">
                <a:solidFill>
                  <a:schemeClr val="tx1"/>
                </a:solidFill>
                <a:latin typeface="+mn-lt"/>
                <a:ea typeface="黑体" panose="02010609060101010101" pitchFamily="49" charset="-122"/>
              </a:rPr>
              <a:t>为 </a:t>
            </a:r>
            <a:r>
              <a:rPr kumimoji="1" lang="zh-CN" altLang="en-US" b="0" i="0" dirty="0">
                <a:solidFill>
                  <a:schemeClr val="tx1"/>
                </a:solidFill>
                <a:ea typeface="黑体" panose="02010609060101010101" pitchFamily="49" charset="-122"/>
              </a:rPr>
              <a:t>  </a:t>
            </a:r>
            <a:endParaRPr kumimoji="1" lang="en-US" altLang="zh-CN" b="0" i="0" dirty="0">
              <a:solidFill>
                <a:schemeClr val="tx1"/>
              </a:solidFill>
              <a:ea typeface="黑体" panose="02010609060101010101" pitchFamily="49" charset="-122"/>
            </a:endParaRPr>
          </a:p>
          <a:p>
            <a:pPr lvl="0">
              <a:lnSpc>
                <a:spcPct val="12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Ⅰ</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Ⅱ</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=346.7cm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+186.7cm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=553.4cm</a:t>
            </a:r>
            <a:r>
              <a:rPr kumimoji="1" lang="en-US" altLang="zh-CN" b="0" i="0" baseline="30000" dirty="0">
                <a:solidFill>
                  <a:schemeClr val="tx1"/>
                </a:solidFill>
                <a:ea typeface="黑体" panose="02010609060101010101" pitchFamily="49" charset="-122"/>
              </a:rPr>
              <a:t>4</a:t>
            </a:r>
            <a:r>
              <a:rPr kumimoji="1" lang="zh-CN" altLang="en-US" i="0" dirty="0">
                <a:solidFill>
                  <a:schemeClr val="tx1"/>
                </a:solidFill>
                <a:latin typeface="+mn-lt"/>
                <a:ea typeface="黑体" panose="02010609060101010101" pitchFamily="49" charset="-122"/>
              </a:rPr>
              <a:t>    </a:t>
            </a:r>
            <a:endParaRPr kumimoji="1" lang="en-US" altLang="zh-CN" i="0" dirty="0">
              <a:solidFill>
                <a:schemeClr val="tx1"/>
              </a:solidFill>
              <a:latin typeface="+mn-lt"/>
              <a:ea typeface="黑体" panose="02010609060101010101" pitchFamily="49" charset="-122"/>
            </a:endParaRPr>
          </a:p>
        </p:txBody>
      </p:sp>
      <p:sp>
        <p:nvSpPr>
          <p:cNvPr id="6" name="矩形 5">
            <a:extLst>
              <a:ext uri="{FF2B5EF4-FFF2-40B4-BE49-F238E27FC236}">
                <a16:creationId xmlns:a16="http://schemas.microsoft.com/office/drawing/2014/main" id="{84AF206C-5D77-F605-B4C1-387DFC82EB1F}"/>
              </a:ext>
            </a:extLst>
          </p:cNvPr>
          <p:cNvSpPr/>
          <p:nvPr/>
        </p:nvSpPr>
        <p:spPr>
          <a:xfrm>
            <a:off x="211184" y="5373504"/>
            <a:ext cx="10637344" cy="1000980"/>
          </a:xfrm>
          <a:prstGeom prst="rect">
            <a:avLst/>
          </a:prstGeom>
        </p:spPr>
        <p:txBody>
          <a:bodyPr wrap="square">
            <a:spAutoFit/>
          </a:bodyPr>
          <a:lstStyle/>
          <a:p>
            <a:pPr>
              <a:lnSpc>
                <a:spcPct val="130000"/>
              </a:lnSpc>
            </a:pPr>
            <a:r>
              <a:rPr kumimoji="1" lang="zh-CN" altLang="en-US" i="0" dirty="0">
                <a:solidFill>
                  <a:schemeClr val="tx1"/>
                </a:solidFill>
                <a:ea typeface="黑体" panose="02010609060101010101" pitchFamily="49" charset="-122"/>
              </a:rPr>
              <a:t>应用平行移轴定理时应注意，</a:t>
            </a:r>
            <a:r>
              <a:rPr kumimoji="1" lang="zh-CN" altLang="en-US" i="0" dirty="0">
                <a:ea typeface="黑体" panose="02010609060101010101" pitchFamily="49" charset="-122"/>
              </a:rPr>
              <a:t>只能从各截面的形心轴平行地移到另一轴，反之则不可。</a:t>
            </a:r>
            <a:r>
              <a:rPr kumimoji="1" lang="zh-CN" altLang="en-US" i="0" dirty="0">
                <a:solidFill>
                  <a:schemeClr val="tx1"/>
                </a:solidFill>
                <a:ea typeface="黑体" panose="02010609060101010101" pitchFamily="49" charset="-122"/>
              </a:rPr>
              <a:t>显而易见，过形心轴惯性矩的值最小。</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25410824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32" fill="hold" nodeType="click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p:cTn id="14" dur="3000" fill="hold"/>
                                        <p:tgtEl>
                                          <p:spTgt spid="46"/>
                                        </p:tgtEl>
                                        <p:attrNameLst>
                                          <p:attrName>ppt_w</p:attrName>
                                        </p:attrNameLst>
                                      </p:cBhvr>
                                      <p:tavLst>
                                        <p:tav tm="0">
                                          <p:val>
                                            <p:strVal val="4*#ppt_w"/>
                                          </p:val>
                                        </p:tav>
                                        <p:tav tm="100000">
                                          <p:val>
                                            <p:strVal val="#ppt_w"/>
                                          </p:val>
                                        </p:tav>
                                      </p:tavLst>
                                    </p:anim>
                                    <p:anim calcmode="lin" valueType="num">
                                      <p:cBhvr>
                                        <p:cTn id="15" dur="3000" fill="hold"/>
                                        <p:tgtEl>
                                          <p:spTgt spid="4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4" name="CHIMES.WAV"/>
                                        </p:tgtEl>
                                      </p:cMediaNode>
                                    </p:audio>
                                  </p:subTnLst>
                                </p:cTn>
                              </p:par>
                            </p:childTnLst>
                          </p:cTn>
                        </p:par>
                        <p:par>
                          <p:cTn id="16" fill="hold">
                            <p:stCondLst>
                              <p:cond delay="3000"/>
                            </p:stCondLst>
                            <p:childTnLst>
                              <p:par>
                                <p:cTn id="17" presetID="23" presetClass="entr" presetSubtype="32" fill="hold" grpId="0" nodeType="afterEffect">
                                  <p:stCondLst>
                                    <p:cond delay="1000"/>
                                  </p:stCondLst>
                                  <p:childTnLst>
                                    <p:set>
                                      <p:cBhvr>
                                        <p:cTn id="18" dur="1" fill="hold">
                                          <p:stCondLst>
                                            <p:cond delay="0"/>
                                          </p:stCondLst>
                                        </p:cTn>
                                        <p:tgtEl>
                                          <p:spTgt spid="47"/>
                                        </p:tgtEl>
                                        <p:attrNameLst>
                                          <p:attrName>style.visibility</p:attrName>
                                        </p:attrNameLst>
                                      </p:cBhvr>
                                      <p:to>
                                        <p:strVal val="visible"/>
                                      </p:to>
                                    </p:set>
                                    <p:anim calcmode="lin" valueType="num">
                                      <p:cBhvr>
                                        <p:cTn id="19" dur="3000" fill="hold"/>
                                        <p:tgtEl>
                                          <p:spTgt spid="47"/>
                                        </p:tgtEl>
                                        <p:attrNameLst>
                                          <p:attrName>ppt_w</p:attrName>
                                        </p:attrNameLst>
                                      </p:cBhvr>
                                      <p:tavLst>
                                        <p:tav tm="0">
                                          <p:val>
                                            <p:strVal val="4*#ppt_w"/>
                                          </p:val>
                                        </p:tav>
                                        <p:tav tm="100000">
                                          <p:val>
                                            <p:strVal val="#ppt_w"/>
                                          </p:val>
                                        </p:tav>
                                      </p:tavLst>
                                    </p:anim>
                                    <p:anim calcmode="lin" valueType="num">
                                      <p:cBhvr>
                                        <p:cTn id="20" dur="3000" fill="hold"/>
                                        <p:tgtEl>
                                          <p:spTgt spid="4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par>
                          <p:cTn id="21" fill="hold">
                            <p:stCondLst>
                              <p:cond delay="7000"/>
                            </p:stCondLst>
                            <p:childTnLst>
                              <p:par>
                                <p:cTn id="22" presetID="23" presetClass="entr" presetSubtype="32" fill="hold" grpId="0" nodeType="afterEffect">
                                  <p:stCondLst>
                                    <p:cond delay="1000"/>
                                  </p:stCondLst>
                                  <p:childTnLst>
                                    <p:set>
                                      <p:cBhvr>
                                        <p:cTn id="23" dur="1" fill="hold">
                                          <p:stCondLst>
                                            <p:cond delay="0"/>
                                          </p:stCondLst>
                                        </p:cTn>
                                        <p:tgtEl>
                                          <p:spTgt spid="44"/>
                                        </p:tgtEl>
                                        <p:attrNameLst>
                                          <p:attrName>style.visibility</p:attrName>
                                        </p:attrNameLst>
                                      </p:cBhvr>
                                      <p:to>
                                        <p:strVal val="visible"/>
                                      </p:to>
                                    </p:set>
                                    <p:anim calcmode="lin" valueType="num">
                                      <p:cBhvr>
                                        <p:cTn id="24" dur="3000" fill="hold"/>
                                        <p:tgtEl>
                                          <p:spTgt spid="44"/>
                                        </p:tgtEl>
                                        <p:attrNameLst>
                                          <p:attrName>ppt_w</p:attrName>
                                        </p:attrNameLst>
                                      </p:cBhvr>
                                      <p:tavLst>
                                        <p:tav tm="0">
                                          <p:val>
                                            <p:strVal val="4*#ppt_w"/>
                                          </p:val>
                                        </p:tav>
                                        <p:tav tm="100000">
                                          <p:val>
                                            <p:strVal val="#ppt_w"/>
                                          </p:val>
                                        </p:tav>
                                      </p:tavLst>
                                    </p:anim>
                                    <p:anim calcmode="lin" valueType="num">
                                      <p:cBhvr>
                                        <p:cTn id="25" dur="3000" fill="hold"/>
                                        <p:tgtEl>
                                          <p:spTgt spid="4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par>
                          <p:cTn id="26" fill="hold">
                            <p:stCondLst>
                              <p:cond delay="11000"/>
                            </p:stCondLst>
                            <p:childTnLst>
                              <p:par>
                                <p:cTn id="27" presetID="23" presetClass="entr" presetSubtype="32" fill="hold" grpId="0" nodeType="afterEffect">
                                  <p:stCondLst>
                                    <p:cond delay="1000"/>
                                  </p:stCondLst>
                                  <p:childTnLst>
                                    <p:set>
                                      <p:cBhvr>
                                        <p:cTn id="28" dur="1" fill="hold">
                                          <p:stCondLst>
                                            <p:cond delay="0"/>
                                          </p:stCondLst>
                                        </p:cTn>
                                        <p:tgtEl>
                                          <p:spTgt spid="34"/>
                                        </p:tgtEl>
                                        <p:attrNameLst>
                                          <p:attrName>style.visibility</p:attrName>
                                        </p:attrNameLst>
                                      </p:cBhvr>
                                      <p:to>
                                        <p:strVal val="visible"/>
                                      </p:to>
                                    </p:set>
                                    <p:anim calcmode="lin" valueType="num">
                                      <p:cBhvr>
                                        <p:cTn id="29" dur="3000" fill="hold"/>
                                        <p:tgtEl>
                                          <p:spTgt spid="34"/>
                                        </p:tgtEl>
                                        <p:attrNameLst>
                                          <p:attrName>ppt_w</p:attrName>
                                        </p:attrNameLst>
                                      </p:cBhvr>
                                      <p:tavLst>
                                        <p:tav tm="0">
                                          <p:val>
                                            <p:strVal val="4*#ppt_w"/>
                                          </p:val>
                                        </p:tav>
                                        <p:tav tm="100000">
                                          <p:val>
                                            <p:strVal val="#ppt_w"/>
                                          </p:val>
                                        </p:tav>
                                      </p:tavLst>
                                    </p:anim>
                                    <p:anim calcmode="lin" valueType="num">
                                      <p:cBhvr>
                                        <p:cTn id="30" dur="3000" fill="hold"/>
                                        <p:tgtEl>
                                          <p:spTgt spid="3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par>
                          <p:cTn id="31" fill="hold">
                            <p:stCondLst>
                              <p:cond delay="15000"/>
                            </p:stCondLst>
                            <p:childTnLst>
                              <p:par>
                                <p:cTn id="32" presetID="17" presetClass="entr" presetSubtype="10" fill="hold" grpId="0" nodeType="afterEffect">
                                  <p:stCondLst>
                                    <p:cond delay="1000"/>
                                  </p:stCondLst>
                                  <p:childTnLst>
                                    <p:set>
                                      <p:cBhvr>
                                        <p:cTn id="33" dur="1" fill="hold">
                                          <p:stCondLst>
                                            <p:cond delay="0"/>
                                          </p:stCondLst>
                                        </p:cTn>
                                        <p:tgtEl>
                                          <p:spTgt spid="37"/>
                                        </p:tgtEl>
                                        <p:attrNameLst>
                                          <p:attrName>style.visibility</p:attrName>
                                        </p:attrNameLst>
                                      </p:cBhvr>
                                      <p:to>
                                        <p:strVal val="visible"/>
                                      </p:to>
                                    </p:set>
                                    <p:anim calcmode="lin" valueType="num">
                                      <p:cBhvr>
                                        <p:cTn id="34" dur="3000" fill="hold"/>
                                        <p:tgtEl>
                                          <p:spTgt spid="37"/>
                                        </p:tgtEl>
                                        <p:attrNameLst>
                                          <p:attrName>ppt_w</p:attrName>
                                        </p:attrNameLst>
                                      </p:cBhvr>
                                      <p:tavLst>
                                        <p:tav tm="0">
                                          <p:val>
                                            <p:fltVal val="0"/>
                                          </p:val>
                                        </p:tav>
                                        <p:tav tm="100000">
                                          <p:val>
                                            <p:strVal val="#ppt_w"/>
                                          </p:val>
                                        </p:tav>
                                      </p:tavLst>
                                    </p:anim>
                                    <p:anim calcmode="lin" valueType="num">
                                      <p:cBhvr>
                                        <p:cTn id="35" dur="30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4" name="CHIMES.WAV"/>
                                        </p:tgtEl>
                                      </p:cMediaNode>
                                    </p:audio>
                                  </p:subTnLst>
                                </p:cTn>
                              </p:par>
                            </p:childTnLst>
                          </p:cTn>
                        </p:par>
                        <p:par>
                          <p:cTn id="36" fill="hold">
                            <p:stCondLst>
                              <p:cond delay="19000"/>
                            </p:stCondLst>
                            <p:childTnLst>
                              <p:par>
                                <p:cTn id="37" presetID="23" presetClass="entr" presetSubtype="32" fill="hold" grpId="0" nodeType="afterEffect">
                                  <p:stCondLst>
                                    <p:cond delay="1000"/>
                                  </p:stCondLst>
                                  <p:childTnLst>
                                    <p:set>
                                      <p:cBhvr>
                                        <p:cTn id="38" dur="1" fill="hold">
                                          <p:stCondLst>
                                            <p:cond delay="0"/>
                                          </p:stCondLst>
                                        </p:cTn>
                                        <p:tgtEl>
                                          <p:spTgt spid="35"/>
                                        </p:tgtEl>
                                        <p:attrNameLst>
                                          <p:attrName>style.visibility</p:attrName>
                                        </p:attrNameLst>
                                      </p:cBhvr>
                                      <p:to>
                                        <p:strVal val="visible"/>
                                      </p:to>
                                    </p:set>
                                    <p:anim calcmode="lin" valueType="num">
                                      <p:cBhvr>
                                        <p:cTn id="39" dur="3000" fill="hold"/>
                                        <p:tgtEl>
                                          <p:spTgt spid="35"/>
                                        </p:tgtEl>
                                        <p:attrNameLst>
                                          <p:attrName>ppt_w</p:attrName>
                                        </p:attrNameLst>
                                      </p:cBhvr>
                                      <p:tavLst>
                                        <p:tav tm="0">
                                          <p:val>
                                            <p:strVal val="4*#ppt_w"/>
                                          </p:val>
                                        </p:tav>
                                        <p:tav tm="100000">
                                          <p:val>
                                            <p:strVal val="#ppt_w"/>
                                          </p:val>
                                        </p:tav>
                                      </p:tavLst>
                                    </p:anim>
                                    <p:anim calcmode="lin" valueType="num">
                                      <p:cBhvr>
                                        <p:cTn id="40" dur="3000" fill="hold"/>
                                        <p:tgtEl>
                                          <p:spTgt spid="3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childTnLst>
                          </p:cTn>
                        </p:par>
                        <p:par>
                          <p:cTn id="41" fill="hold">
                            <p:stCondLst>
                              <p:cond delay="23000"/>
                            </p:stCondLst>
                            <p:childTnLst>
                              <p:par>
                                <p:cTn id="42" presetID="17" presetClass="entr" presetSubtype="10" fill="hold" grpId="0" nodeType="afterEffect">
                                  <p:stCondLst>
                                    <p:cond delay="1000"/>
                                  </p:stCondLst>
                                  <p:childTnLst>
                                    <p:set>
                                      <p:cBhvr>
                                        <p:cTn id="43" dur="1" fill="hold">
                                          <p:stCondLst>
                                            <p:cond delay="0"/>
                                          </p:stCondLst>
                                        </p:cTn>
                                        <p:tgtEl>
                                          <p:spTgt spid="36"/>
                                        </p:tgtEl>
                                        <p:attrNameLst>
                                          <p:attrName>style.visibility</p:attrName>
                                        </p:attrNameLst>
                                      </p:cBhvr>
                                      <p:to>
                                        <p:strVal val="visible"/>
                                      </p:to>
                                    </p:set>
                                    <p:anim calcmode="lin" valueType="num">
                                      <p:cBhvr>
                                        <p:cTn id="44" dur="3000" fill="hold"/>
                                        <p:tgtEl>
                                          <p:spTgt spid="36"/>
                                        </p:tgtEl>
                                        <p:attrNameLst>
                                          <p:attrName>ppt_w</p:attrName>
                                        </p:attrNameLst>
                                      </p:cBhvr>
                                      <p:tavLst>
                                        <p:tav tm="0">
                                          <p:val>
                                            <p:fltVal val="0"/>
                                          </p:val>
                                        </p:tav>
                                        <p:tav tm="100000">
                                          <p:val>
                                            <p:strVal val="#ppt_w"/>
                                          </p:val>
                                        </p:tav>
                                      </p:tavLst>
                                    </p:anim>
                                    <p:anim calcmode="lin" valueType="num">
                                      <p:cBhvr>
                                        <p:cTn id="45" dur="3000" fill="hold"/>
                                        <p:tgtEl>
                                          <p:spTgt spid="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childTnLst>
                          </p:cTn>
                        </p:par>
                        <p:par>
                          <p:cTn id="46" fill="hold">
                            <p:stCondLst>
                              <p:cond delay="27000"/>
                            </p:stCondLst>
                            <p:childTnLst>
                              <p:par>
                                <p:cTn id="47" presetID="17" presetClass="entr" presetSubtype="2" fill="hold" nodeType="afterEffect">
                                  <p:stCondLst>
                                    <p:cond delay="1000"/>
                                  </p:stCondLst>
                                  <p:childTnLst>
                                    <p:set>
                                      <p:cBhvr>
                                        <p:cTn id="48" dur="1" fill="hold">
                                          <p:stCondLst>
                                            <p:cond delay="0"/>
                                          </p:stCondLst>
                                        </p:cTn>
                                        <p:tgtEl>
                                          <p:spTgt spid="41"/>
                                        </p:tgtEl>
                                        <p:attrNameLst>
                                          <p:attrName>style.visibility</p:attrName>
                                        </p:attrNameLst>
                                      </p:cBhvr>
                                      <p:to>
                                        <p:strVal val="visible"/>
                                      </p:to>
                                    </p:set>
                                    <p:anim calcmode="lin" valueType="num">
                                      <p:cBhvr>
                                        <p:cTn id="49" dur="3000" fill="hold"/>
                                        <p:tgtEl>
                                          <p:spTgt spid="41"/>
                                        </p:tgtEl>
                                        <p:attrNameLst>
                                          <p:attrName>ppt_x</p:attrName>
                                        </p:attrNameLst>
                                      </p:cBhvr>
                                      <p:tavLst>
                                        <p:tav tm="0">
                                          <p:val>
                                            <p:strVal val="#ppt_x+#ppt_w/2"/>
                                          </p:val>
                                        </p:tav>
                                        <p:tav tm="100000">
                                          <p:val>
                                            <p:strVal val="#ppt_x"/>
                                          </p:val>
                                        </p:tav>
                                      </p:tavLst>
                                    </p:anim>
                                    <p:anim calcmode="lin" valueType="num">
                                      <p:cBhvr>
                                        <p:cTn id="50" dur="3000" fill="hold"/>
                                        <p:tgtEl>
                                          <p:spTgt spid="41"/>
                                        </p:tgtEl>
                                        <p:attrNameLst>
                                          <p:attrName>ppt_y</p:attrName>
                                        </p:attrNameLst>
                                      </p:cBhvr>
                                      <p:tavLst>
                                        <p:tav tm="0">
                                          <p:val>
                                            <p:strVal val="#ppt_y"/>
                                          </p:val>
                                        </p:tav>
                                        <p:tav tm="100000">
                                          <p:val>
                                            <p:strVal val="#ppt_y"/>
                                          </p:val>
                                        </p:tav>
                                      </p:tavLst>
                                    </p:anim>
                                    <p:anim calcmode="lin" valueType="num">
                                      <p:cBhvr>
                                        <p:cTn id="51" dur="3000" fill="hold"/>
                                        <p:tgtEl>
                                          <p:spTgt spid="41"/>
                                        </p:tgtEl>
                                        <p:attrNameLst>
                                          <p:attrName>ppt_w</p:attrName>
                                        </p:attrNameLst>
                                      </p:cBhvr>
                                      <p:tavLst>
                                        <p:tav tm="0">
                                          <p:val>
                                            <p:fltVal val="0"/>
                                          </p:val>
                                        </p:tav>
                                        <p:tav tm="100000">
                                          <p:val>
                                            <p:strVal val="#ppt_w"/>
                                          </p:val>
                                        </p:tav>
                                      </p:tavLst>
                                    </p:anim>
                                    <p:anim calcmode="lin" valueType="num">
                                      <p:cBhvr>
                                        <p:cTn id="52" dur="3000" fill="hold"/>
                                        <p:tgtEl>
                                          <p:spTgt spid="4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childTnLst>
                          </p:cTn>
                        </p:par>
                        <p:par>
                          <p:cTn id="53" fill="hold">
                            <p:stCondLst>
                              <p:cond delay="31000"/>
                            </p:stCondLst>
                            <p:childTnLst>
                              <p:par>
                                <p:cTn id="54" presetID="16" presetClass="entr" presetSubtype="42" fill="hold" nodeType="afterEffect">
                                  <p:stCondLst>
                                    <p:cond delay="1000"/>
                                  </p:stCondLst>
                                  <p:childTnLst>
                                    <p:set>
                                      <p:cBhvr>
                                        <p:cTn id="55" dur="1" fill="hold">
                                          <p:stCondLst>
                                            <p:cond delay="0"/>
                                          </p:stCondLst>
                                        </p:cTn>
                                        <p:tgtEl>
                                          <p:spTgt spid="43"/>
                                        </p:tgtEl>
                                        <p:attrNameLst>
                                          <p:attrName>style.visibility</p:attrName>
                                        </p:attrNameLst>
                                      </p:cBhvr>
                                      <p:to>
                                        <p:strVal val="visible"/>
                                      </p:to>
                                    </p:set>
                                    <p:animEffect transition="in" filter="barn(outHorizontal)">
                                      <p:cBhvr>
                                        <p:cTn id="56" dur="3000"/>
                                        <p:tgtEl>
                                          <p:spTgt spid="4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35000"/>
                            </p:stCondLst>
                            <p:childTnLst>
                              <p:par>
                                <p:cTn id="58" presetID="17" presetClass="entr" presetSubtype="2" fill="hold" grpId="0" nodeType="afterEffect">
                                  <p:stCondLst>
                                    <p:cond delay="1000"/>
                                  </p:stCondLst>
                                  <p:childTnLst>
                                    <p:set>
                                      <p:cBhvr>
                                        <p:cTn id="59" dur="1" fill="hold">
                                          <p:stCondLst>
                                            <p:cond delay="0"/>
                                          </p:stCondLst>
                                        </p:cTn>
                                        <p:tgtEl>
                                          <p:spTgt spid="42"/>
                                        </p:tgtEl>
                                        <p:attrNameLst>
                                          <p:attrName>style.visibility</p:attrName>
                                        </p:attrNameLst>
                                      </p:cBhvr>
                                      <p:to>
                                        <p:strVal val="visible"/>
                                      </p:to>
                                    </p:set>
                                    <p:anim calcmode="lin" valueType="num">
                                      <p:cBhvr>
                                        <p:cTn id="60" dur="3000" fill="hold"/>
                                        <p:tgtEl>
                                          <p:spTgt spid="42"/>
                                        </p:tgtEl>
                                        <p:attrNameLst>
                                          <p:attrName>ppt_x</p:attrName>
                                        </p:attrNameLst>
                                      </p:cBhvr>
                                      <p:tavLst>
                                        <p:tav tm="0">
                                          <p:val>
                                            <p:strVal val="#ppt_x+#ppt_w/2"/>
                                          </p:val>
                                        </p:tav>
                                        <p:tav tm="100000">
                                          <p:val>
                                            <p:strVal val="#ppt_x"/>
                                          </p:val>
                                        </p:tav>
                                      </p:tavLst>
                                    </p:anim>
                                    <p:anim calcmode="lin" valueType="num">
                                      <p:cBhvr>
                                        <p:cTn id="61" dur="3000" fill="hold"/>
                                        <p:tgtEl>
                                          <p:spTgt spid="42"/>
                                        </p:tgtEl>
                                        <p:attrNameLst>
                                          <p:attrName>ppt_y</p:attrName>
                                        </p:attrNameLst>
                                      </p:cBhvr>
                                      <p:tavLst>
                                        <p:tav tm="0">
                                          <p:val>
                                            <p:strVal val="#ppt_y"/>
                                          </p:val>
                                        </p:tav>
                                        <p:tav tm="100000">
                                          <p:val>
                                            <p:strVal val="#ppt_y"/>
                                          </p:val>
                                        </p:tav>
                                      </p:tavLst>
                                    </p:anim>
                                    <p:anim calcmode="lin" valueType="num">
                                      <p:cBhvr>
                                        <p:cTn id="62" dur="3000" fill="hold"/>
                                        <p:tgtEl>
                                          <p:spTgt spid="42"/>
                                        </p:tgtEl>
                                        <p:attrNameLst>
                                          <p:attrName>ppt_w</p:attrName>
                                        </p:attrNameLst>
                                      </p:cBhvr>
                                      <p:tavLst>
                                        <p:tav tm="0">
                                          <p:val>
                                            <p:fltVal val="0"/>
                                          </p:val>
                                        </p:tav>
                                        <p:tav tm="100000">
                                          <p:val>
                                            <p:strVal val="#ppt_w"/>
                                          </p:val>
                                        </p:tav>
                                      </p:tavLst>
                                    </p:anim>
                                    <p:anim calcmode="lin" valueType="num">
                                      <p:cBhvr>
                                        <p:cTn id="63" dur="3000" fill="hold"/>
                                        <p:tgtEl>
                                          <p:spTgt spid="4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childTnLst>
                          </p:cTn>
                        </p:par>
                        <p:par>
                          <p:cTn id="64" fill="hold">
                            <p:stCondLst>
                              <p:cond delay="39000"/>
                            </p:stCondLst>
                            <p:childTnLst>
                              <p:par>
                                <p:cTn id="65" presetID="17" presetClass="entr" presetSubtype="2" fill="hold" nodeType="afterEffect">
                                  <p:stCondLst>
                                    <p:cond delay="1000"/>
                                  </p:stCondLst>
                                  <p:childTnLst>
                                    <p:set>
                                      <p:cBhvr>
                                        <p:cTn id="66" dur="1" fill="hold">
                                          <p:stCondLst>
                                            <p:cond delay="0"/>
                                          </p:stCondLst>
                                        </p:cTn>
                                        <p:tgtEl>
                                          <p:spTgt spid="38"/>
                                        </p:tgtEl>
                                        <p:attrNameLst>
                                          <p:attrName>style.visibility</p:attrName>
                                        </p:attrNameLst>
                                      </p:cBhvr>
                                      <p:to>
                                        <p:strVal val="visible"/>
                                      </p:to>
                                    </p:set>
                                    <p:anim calcmode="lin" valueType="num">
                                      <p:cBhvr>
                                        <p:cTn id="67" dur="3000" fill="hold"/>
                                        <p:tgtEl>
                                          <p:spTgt spid="38"/>
                                        </p:tgtEl>
                                        <p:attrNameLst>
                                          <p:attrName>ppt_x</p:attrName>
                                        </p:attrNameLst>
                                      </p:cBhvr>
                                      <p:tavLst>
                                        <p:tav tm="0">
                                          <p:val>
                                            <p:strVal val="#ppt_x+#ppt_w/2"/>
                                          </p:val>
                                        </p:tav>
                                        <p:tav tm="100000">
                                          <p:val>
                                            <p:strVal val="#ppt_x"/>
                                          </p:val>
                                        </p:tav>
                                      </p:tavLst>
                                    </p:anim>
                                    <p:anim calcmode="lin" valueType="num">
                                      <p:cBhvr>
                                        <p:cTn id="68" dur="3000" fill="hold"/>
                                        <p:tgtEl>
                                          <p:spTgt spid="38"/>
                                        </p:tgtEl>
                                        <p:attrNameLst>
                                          <p:attrName>ppt_y</p:attrName>
                                        </p:attrNameLst>
                                      </p:cBhvr>
                                      <p:tavLst>
                                        <p:tav tm="0">
                                          <p:val>
                                            <p:strVal val="#ppt_y"/>
                                          </p:val>
                                        </p:tav>
                                        <p:tav tm="100000">
                                          <p:val>
                                            <p:strVal val="#ppt_y"/>
                                          </p:val>
                                        </p:tav>
                                      </p:tavLst>
                                    </p:anim>
                                    <p:anim calcmode="lin" valueType="num">
                                      <p:cBhvr>
                                        <p:cTn id="69" dur="3000" fill="hold"/>
                                        <p:tgtEl>
                                          <p:spTgt spid="38"/>
                                        </p:tgtEl>
                                        <p:attrNameLst>
                                          <p:attrName>ppt_w</p:attrName>
                                        </p:attrNameLst>
                                      </p:cBhvr>
                                      <p:tavLst>
                                        <p:tav tm="0">
                                          <p:val>
                                            <p:fltVal val="0"/>
                                          </p:val>
                                        </p:tav>
                                        <p:tav tm="100000">
                                          <p:val>
                                            <p:strVal val="#ppt_w"/>
                                          </p:val>
                                        </p:tav>
                                      </p:tavLst>
                                    </p:anim>
                                    <p:anim calcmode="lin" valueType="num">
                                      <p:cBhvr>
                                        <p:cTn id="70" dur="3000" fill="hold"/>
                                        <p:tgtEl>
                                          <p:spTgt spid="3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4" name="CHIMES.WAV"/>
                                        </p:tgtEl>
                                      </p:cMediaNode>
                                    </p:audio>
                                  </p:subTnLst>
                                </p:cTn>
                              </p:par>
                            </p:childTnLst>
                          </p:cTn>
                        </p:par>
                        <p:par>
                          <p:cTn id="71" fill="hold">
                            <p:stCondLst>
                              <p:cond delay="43000"/>
                            </p:stCondLst>
                            <p:childTnLst>
                              <p:par>
                                <p:cTn id="72" presetID="16" presetClass="entr" presetSubtype="42" fill="hold" nodeType="afterEffect">
                                  <p:stCondLst>
                                    <p:cond delay="1000"/>
                                  </p:stCondLst>
                                  <p:childTnLst>
                                    <p:set>
                                      <p:cBhvr>
                                        <p:cTn id="73" dur="1" fill="hold">
                                          <p:stCondLst>
                                            <p:cond delay="0"/>
                                          </p:stCondLst>
                                        </p:cTn>
                                        <p:tgtEl>
                                          <p:spTgt spid="39"/>
                                        </p:tgtEl>
                                        <p:attrNameLst>
                                          <p:attrName>style.visibility</p:attrName>
                                        </p:attrNameLst>
                                      </p:cBhvr>
                                      <p:to>
                                        <p:strVal val="visible"/>
                                      </p:to>
                                    </p:set>
                                    <p:animEffect transition="in" filter="barn(outHorizontal)">
                                      <p:cBhvr>
                                        <p:cTn id="74" dur="3000"/>
                                        <p:tgtEl>
                                          <p:spTgt spid="39"/>
                                        </p:tgtEl>
                                      </p:cBhvr>
                                    </p:animEffect>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childTnLst>
                          </p:cTn>
                        </p:par>
                        <p:par>
                          <p:cTn id="75" fill="hold">
                            <p:stCondLst>
                              <p:cond delay="47000"/>
                            </p:stCondLst>
                            <p:childTnLst>
                              <p:par>
                                <p:cTn id="76" presetID="17" presetClass="entr" presetSubtype="2" fill="hold" grpId="0" nodeType="afterEffect">
                                  <p:stCondLst>
                                    <p:cond delay="1000"/>
                                  </p:stCondLst>
                                  <p:childTnLst>
                                    <p:set>
                                      <p:cBhvr>
                                        <p:cTn id="77" dur="1" fill="hold">
                                          <p:stCondLst>
                                            <p:cond delay="0"/>
                                          </p:stCondLst>
                                        </p:cTn>
                                        <p:tgtEl>
                                          <p:spTgt spid="40"/>
                                        </p:tgtEl>
                                        <p:attrNameLst>
                                          <p:attrName>style.visibility</p:attrName>
                                        </p:attrNameLst>
                                      </p:cBhvr>
                                      <p:to>
                                        <p:strVal val="visible"/>
                                      </p:to>
                                    </p:set>
                                    <p:anim calcmode="lin" valueType="num">
                                      <p:cBhvr>
                                        <p:cTn id="78" dur="3000" fill="hold"/>
                                        <p:tgtEl>
                                          <p:spTgt spid="40"/>
                                        </p:tgtEl>
                                        <p:attrNameLst>
                                          <p:attrName>ppt_x</p:attrName>
                                        </p:attrNameLst>
                                      </p:cBhvr>
                                      <p:tavLst>
                                        <p:tav tm="0">
                                          <p:val>
                                            <p:strVal val="#ppt_x+#ppt_w/2"/>
                                          </p:val>
                                        </p:tav>
                                        <p:tav tm="100000">
                                          <p:val>
                                            <p:strVal val="#ppt_x"/>
                                          </p:val>
                                        </p:tav>
                                      </p:tavLst>
                                    </p:anim>
                                    <p:anim calcmode="lin" valueType="num">
                                      <p:cBhvr>
                                        <p:cTn id="79" dur="3000" fill="hold"/>
                                        <p:tgtEl>
                                          <p:spTgt spid="40"/>
                                        </p:tgtEl>
                                        <p:attrNameLst>
                                          <p:attrName>ppt_y</p:attrName>
                                        </p:attrNameLst>
                                      </p:cBhvr>
                                      <p:tavLst>
                                        <p:tav tm="0">
                                          <p:val>
                                            <p:strVal val="#ppt_y"/>
                                          </p:val>
                                        </p:tav>
                                        <p:tav tm="100000">
                                          <p:val>
                                            <p:strVal val="#ppt_y"/>
                                          </p:val>
                                        </p:tav>
                                      </p:tavLst>
                                    </p:anim>
                                    <p:anim calcmode="lin" valueType="num">
                                      <p:cBhvr>
                                        <p:cTn id="80" dur="3000" fill="hold"/>
                                        <p:tgtEl>
                                          <p:spTgt spid="40"/>
                                        </p:tgtEl>
                                        <p:attrNameLst>
                                          <p:attrName>ppt_w</p:attrName>
                                        </p:attrNameLst>
                                      </p:cBhvr>
                                      <p:tavLst>
                                        <p:tav tm="0">
                                          <p:val>
                                            <p:fltVal val="0"/>
                                          </p:val>
                                        </p:tav>
                                        <p:tav tm="100000">
                                          <p:val>
                                            <p:strVal val="#ppt_w"/>
                                          </p:val>
                                        </p:tav>
                                      </p:tavLst>
                                    </p:anim>
                                    <p:anim calcmode="lin" valueType="num">
                                      <p:cBhvr>
                                        <p:cTn id="81" dur="3000" fill="hold"/>
                                        <p:tgtEl>
                                          <p:spTgt spid="4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4" name="CHIMES.WAV"/>
                                        </p:tgtEl>
                                      </p:cMediaNode>
                                    </p:audio>
                                  </p:subTnLst>
                                </p:cTn>
                              </p:par>
                            </p:childTnLst>
                          </p:cTn>
                        </p:par>
                        <p:par>
                          <p:cTn id="82" fill="hold">
                            <p:stCondLst>
                              <p:cond delay="51000"/>
                            </p:stCondLst>
                            <p:childTnLst>
                              <p:par>
                                <p:cTn id="83" presetID="23" presetClass="entr" presetSubtype="32" fill="hold" grpId="0" nodeType="afterEffect">
                                  <p:stCondLst>
                                    <p:cond delay="1000"/>
                                  </p:stCondLst>
                                  <p:childTnLst>
                                    <p:set>
                                      <p:cBhvr>
                                        <p:cTn id="84" dur="1" fill="hold">
                                          <p:stCondLst>
                                            <p:cond delay="0"/>
                                          </p:stCondLst>
                                        </p:cTn>
                                        <p:tgtEl>
                                          <p:spTgt spid="33"/>
                                        </p:tgtEl>
                                        <p:attrNameLst>
                                          <p:attrName>style.visibility</p:attrName>
                                        </p:attrNameLst>
                                      </p:cBhvr>
                                      <p:to>
                                        <p:strVal val="visible"/>
                                      </p:to>
                                    </p:set>
                                    <p:anim calcmode="lin" valueType="num">
                                      <p:cBhvr>
                                        <p:cTn id="85" dur="5000" fill="hold"/>
                                        <p:tgtEl>
                                          <p:spTgt spid="33"/>
                                        </p:tgtEl>
                                        <p:attrNameLst>
                                          <p:attrName>ppt_w</p:attrName>
                                        </p:attrNameLst>
                                      </p:cBhvr>
                                      <p:tavLst>
                                        <p:tav tm="0">
                                          <p:val>
                                            <p:strVal val="4*#ppt_w"/>
                                          </p:val>
                                        </p:tav>
                                        <p:tav tm="100000">
                                          <p:val>
                                            <p:strVal val="#ppt_w"/>
                                          </p:val>
                                        </p:tav>
                                      </p:tavLst>
                                    </p:anim>
                                    <p:anim calcmode="lin" valueType="num">
                                      <p:cBhvr>
                                        <p:cTn id="86" dur="5000" fill="hold"/>
                                        <p:tgtEl>
                                          <p:spTgt spid="3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3"/>
                                            </p:cond>
                                          </p:stCondLst>
                                          <p:endCondLst>
                                            <p:cond evt="onStopAudio" delay="0">
                                              <p:tgtEl>
                                                <p:sldTgt/>
                                              </p:tgtEl>
                                            </p:cond>
                                          </p:endCondLst>
                                        </p:cTn>
                                        <p:tgtEl>
                                          <p:sndTgt r:embed="rId4" name="CHIMES.WAV"/>
                                        </p:tgtEl>
                                      </p:cMediaNode>
                                    </p:audio>
                                  </p:subTnLst>
                                </p:cTn>
                              </p:par>
                            </p:childTnLst>
                          </p:cTn>
                        </p:par>
                        <p:par>
                          <p:cTn id="87" fill="hold">
                            <p:stCondLst>
                              <p:cond delay="57000"/>
                            </p:stCondLst>
                            <p:childTnLst>
                              <p:par>
                                <p:cTn id="88" presetID="17" presetClass="entr" presetSubtype="8" fill="hold" grpId="0" nodeType="afterEffect">
                                  <p:stCondLst>
                                    <p:cond delay="1000"/>
                                  </p:stCondLst>
                                  <p:childTnLst>
                                    <p:set>
                                      <p:cBhvr>
                                        <p:cTn id="89" dur="1" fill="hold">
                                          <p:stCondLst>
                                            <p:cond delay="0"/>
                                          </p:stCondLst>
                                        </p:cTn>
                                        <p:tgtEl>
                                          <p:spTgt spid="30"/>
                                        </p:tgtEl>
                                        <p:attrNameLst>
                                          <p:attrName>style.visibility</p:attrName>
                                        </p:attrNameLst>
                                      </p:cBhvr>
                                      <p:to>
                                        <p:strVal val="visible"/>
                                      </p:to>
                                    </p:set>
                                    <p:anim calcmode="lin" valueType="num">
                                      <p:cBhvr>
                                        <p:cTn id="90" dur="5000" fill="hold"/>
                                        <p:tgtEl>
                                          <p:spTgt spid="30"/>
                                        </p:tgtEl>
                                        <p:attrNameLst>
                                          <p:attrName>ppt_x</p:attrName>
                                        </p:attrNameLst>
                                      </p:cBhvr>
                                      <p:tavLst>
                                        <p:tav tm="0">
                                          <p:val>
                                            <p:strVal val="#ppt_x-#ppt_w/2"/>
                                          </p:val>
                                        </p:tav>
                                        <p:tav tm="100000">
                                          <p:val>
                                            <p:strVal val="#ppt_x"/>
                                          </p:val>
                                        </p:tav>
                                      </p:tavLst>
                                    </p:anim>
                                    <p:anim calcmode="lin" valueType="num">
                                      <p:cBhvr>
                                        <p:cTn id="91" dur="5000" fill="hold"/>
                                        <p:tgtEl>
                                          <p:spTgt spid="30"/>
                                        </p:tgtEl>
                                        <p:attrNameLst>
                                          <p:attrName>ppt_y</p:attrName>
                                        </p:attrNameLst>
                                      </p:cBhvr>
                                      <p:tavLst>
                                        <p:tav tm="0">
                                          <p:val>
                                            <p:strVal val="#ppt_y"/>
                                          </p:val>
                                        </p:tav>
                                        <p:tav tm="100000">
                                          <p:val>
                                            <p:strVal val="#ppt_y"/>
                                          </p:val>
                                        </p:tav>
                                      </p:tavLst>
                                    </p:anim>
                                    <p:anim calcmode="lin" valueType="num">
                                      <p:cBhvr>
                                        <p:cTn id="92" dur="5000" fill="hold"/>
                                        <p:tgtEl>
                                          <p:spTgt spid="30"/>
                                        </p:tgtEl>
                                        <p:attrNameLst>
                                          <p:attrName>ppt_w</p:attrName>
                                        </p:attrNameLst>
                                      </p:cBhvr>
                                      <p:tavLst>
                                        <p:tav tm="0">
                                          <p:val>
                                            <p:fltVal val="0"/>
                                          </p:val>
                                        </p:tav>
                                        <p:tav tm="100000">
                                          <p:val>
                                            <p:strVal val="#ppt_w"/>
                                          </p:val>
                                        </p:tav>
                                      </p:tavLst>
                                    </p:anim>
                                    <p:anim calcmode="lin" valueType="num">
                                      <p:cBhvr>
                                        <p:cTn id="93" dur="5000" fill="hold"/>
                                        <p:tgtEl>
                                          <p:spTgt spid="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4" name="CHIMES.WAV"/>
                                        </p:tgtEl>
                                      </p:cMediaNode>
                                    </p:audio>
                                  </p:subTnLst>
                                </p:cTn>
                              </p:par>
                            </p:childTnLst>
                          </p:cTn>
                        </p:par>
                        <p:par>
                          <p:cTn id="94" fill="hold">
                            <p:stCondLst>
                              <p:cond delay="63000"/>
                            </p:stCondLst>
                            <p:childTnLst>
                              <p:par>
                                <p:cTn id="95" presetID="17" presetClass="entr" presetSubtype="8" fill="hold" nodeType="afterEffect">
                                  <p:stCondLst>
                                    <p:cond delay="1000"/>
                                  </p:stCondLst>
                                  <p:childTnLst>
                                    <p:set>
                                      <p:cBhvr>
                                        <p:cTn id="96" dur="1" fill="hold">
                                          <p:stCondLst>
                                            <p:cond delay="0"/>
                                          </p:stCondLst>
                                        </p:cTn>
                                        <p:tgtEl>
                                          <p:spTgt spid="28"/>
                                        </p:tgtEl>
                                        <p:attrNameLst>
                                          <p:attrName>style.visibility</p:attrName>
                                        </p:attrNameLst>
                                      </p:cBhvr>
                                      <p:to>
                                        <p:strVal val="visible"/>
                                      </p:to>
                                    </p:set>
                                    <p:anim calcmode="lin" valueType="num">
                                      <p:cBhvr>
                                        <p:cTn id="97" dur="5000" fill="hold"/>
                                        <p:tgtEl>
                                          <p:spTgt spid="28"/>
                                        </p:tgtEl>
                                        <p:attrNameLst>
                                          <p:attrName>ppt_x</p:attrName>
                                        </p:attrNameLst>
                                      </p:cBhvr>
                                      <p:tavLst>
                                        <p:tav tm="0">
                                          <p:val>
                                            <p:strVal val="#ppt_x-#ppt_w/2"/>
                                          </p:val>
                                        </p:tav>
                                        <p:tav tm="100000">
                                          <p:val>
                                            <p:strVal val="#ppt_x"/>
                                          </p:val>
                                        </p:tav>
                                      </p:tavLst>
                                    </p:anim>
                                    <p:anim calcmode="lin" valueType="num">
                                      <p:cBhvr>
                                        <p:cTn id="98" dur="5000" fill="hold"/>
                                        <p:tgtEl>
                                          <p:spTgt spid="28"/>
                                        </p:tgtEl>
                                        <p:attrNameLst>
                                          <p:attrName>ppt_y</p:attrName>
                                        </p:attrNameLst>
                                      </p:cBhvr>
                                      <p:tavLst>
                                        <p:tav tm="0">
                                          <p:val>
                                            <p:strVal val="#ppt_y"/>
                                          </p:val>
                                        </p:tav>
                                        <p:tav tm="100000">
                                          <p:val>
                                            <p:strVal val="#ppt_y"/>
                                          </p:val>
                                        </p:tav>
                                      </p:tavLst>
                                    </p:anim>
                                    <p:anim calcmode="lin" valueType="num">
                                      <p:cBhvr>
                                        <p:cTn id="99" dur="5000" fill="hold"/>
                                        <p:tgtEl>
                                          <p:spTgt spid="28"/>
                                        </p:tgtEl>
                                        <p:attrNameLst>
                                          <p:attrName>ppt_w</p:attrName>
                                        </p:attrNameLst>
                                      </p:cBhvr>
                                      <p:tavLst>
                                        <p:tav tm="0">
                                          <p:val>
                                            <p:fltVal val="0"/>
                                          </p:val>
                                        </p:tav>
                                        <p:tav tm="100000">
                                          <p:val>
                                            <p:strVal val="#ppt_w"/>
                                          </p:val>
                                        </p:tav>
                                      </p:tavLst>
                                    </p:anim>
                                    <p:anim calcmode="lin" valueType="num">
                                      <p:cBhvr>
                                        <p:cTn id="100" dur="5000" fill="hold"/>
                                        <p:tgtEl>
                                          <p:spTgt spid="2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5"/>
                                            </p:cond>
                                          </p:stCondLst>
                                          <p:endCondLst>
                                            <p:cond evt="onStopAudio" delay="0">
                                              <p:tgtEl>
                                                <p:sldTgt/>
                                              </p:tgtEl>
                                            </p:cond>
                                          </p:endCondLst>
                                        </p:cTn>
                                        <p:tgtEl>
                                          <p:sndTgt r:embed="rId4" name="CHIMES.WAV"/>
                                        </p:tgtEl>
                                      </p:cMediaNode>
                                    </p:audio>
                                  </p:subTnLst>
                                </p:cTn>
                              </p:par>
                            </p:childTnLst>
                          </p:cTn>
                        </p:par>
                        <p:par>
                          <p:cTn id="101" fill="hold">
                            <p:stCondLst>
                              <p:cond delay="69000"/>
                            </p:stCondLst>
                            <p:childTnLst>
                              <p:par>
                                <p:cTn id="102" presetID="17" presetClass="entr" presetSubtype="10" fill="hold" grpId="0" nodeType="afterEffect">
                                  <p:stCondLst>
                                    <p:cond delay="0"/>
                                  </p:stCondLst>
                                  <p:childTnLst>
                                    <p:set>
                                      <p:cBhvr>
                                        <p:cTn id="103" dur="1" fill="hold">
                                          <p:stCondLst>
                                            <p:cond delay="0"/>
                                          </p:stCondLst>
                                        </p:cTn>
                                        <p:tgtEl>
                                          <p:spTgt spid="31"/>
                                        </p:tgtEl>
                                        <p:attrNameLst>
                                          <p:attrName>style.visibility</p:attrName>
                                        </p:attrNameLst>
                                      </p:cBhvr>
                                      <p:to>
                                        <p:strVal val="visible"/>
                                      </p:to>
                                    </p:set>
                                    <p:anim calcmode="lin" valueType="num">
                                      <p:cBhvr>
                                        <p:cTn id="104" dur="5000" fill="hold"/>
                                        <p:tgtEl>
                                          <p:spTgt spid="31"/>
                                        </p:tgtEl>
                                        <p:attrNameLst>
                                          <p:attrName>ppt_w</p:attrName>
                                        </p:attrNameLst>
                                      </p:cBhvr>
                                      <p:tavLst>
                                        <p:tav tm="0">
                                          <p:val>
                                            <p:fltVal val="0"/>
                                          </p:val>
                                        </p:tav>
                                        <p:tav tm="100000">
                                          <p:val>
                                            <p:strVal val="#ppt_w"/>
                                          </p:val>
                                        </p:tav>
                                      </p:tavLst>
                                    </p:anim>
                                    <p:anim calcmode="lin" valueType="num">
                                      <p:cBhvr>
                                        <p:cTn id="105" dur="5000" fill="hold"/>
                                        <p:tgtEl>
                                          <p:spTgt spid="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5" name="CAMERA.WAV"/>
                                        </p:tgtEl>
                                      </p:cMediaNode>
                                    </p:audio>
                                  </p:subTnLst>
                                </p:cTn>
                              </p:par>
                            </p:childTnLst>
                          </p:cTn>
                        </p:par>
                        <p:par>
                          <p:cTn id="106" fill="hold">
                            <p:stCondLst>
                              <p:cond delay="74000"/>
                            </p:stCondLst>
                            <p:childTnLst>
                              <p:par>
                                <p:cTn id="107" presetID="16" presetClass="entr" presetSubtype="42" fill="hold" nodeType="afterEffect">
                                  <p:stCondLst>
                                    <p:cond delay="1000"/>
                                  </p:stCondLst>
                                  <p:childTnLst>
                                    <p:set>
                                      <p:cBhvr>
                                        <p:cTn id="108" dur="1" fill="hold">
                                          <p:stCondLst>
                                            <p:cond delay="0"/>
                                          </p:stCondLst>
                                        </p:cTn>
                                        <p:tgtEl>
                                          <p:spTgt spid="29"/>
                                        </p:tgtEl>
                                        <p:attrNameLst>
                                          <p:attrName>style.visibility</p:attrName>
                                        </p:attrNameLst>
                                      </p:cBhvr>
                                      <p:to>
                                        <p:strVal val="visible"/>
                                      </p:to>
                                    </p:set>
                                    <p:animEffect transition="in" filter="barn(outHorizontal)">
                                      <p:cBhvr>
                                        <p:cTn id="109" dur="5000"/>
                                        <p:tgtEl>
                                          <p:spTgt spid="29"/>
                                        </p:tgtEl>
                                      </p:cBhvr>
                                    </p:animEffect>
                                  </p:childTnLst>
                                  <p:subTnLst>
                                    <p:audio>
                                      <p:cMediaNode>
                                        <p:cTn display="0" masterRel="sameClick">
                                          <p:stCondLst>
                                            <p:cond evt="begin" delay="0">
                                              <p:tn val="107"/>
                                            </p:cond>
                                          </p:stCondLst>
                                          <p:endCondLst>
                                            <p:cond evt="onStopAudio" delay="0">
                                              <p:tgtEl>
                                                <p:sldTgt/>
                                              </p:tgtEl>
                                            </p:cond>
                                          </p:endCondLst>
                                        </p:cTn>
                                        <p:tgtEl>
                                          <p:sndTgt r:embed="rId4" name="CHIMES.WAV"/>
                                        </p:tgtEl>
                                      </p:cMediaNode>
                                    </p:audio>
                                  </p:sub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4"/>
                                        </p:tgtEl>
                                        <p:attrNameLst>
                                          <p:attrName>style.visibility</p:attrName>
                                        </p:attrNameLst>
                                      </p:cBhvr>
                                      <p:to>
                                        <p:strVal val="visible"/>
                                      </p:to>
                                    </p:set>
                                    <p:animEffect transition="in" filter="wipe(left)">
                                      <p:cBhvr>
                                        <p:cTn id="118" dur="3000"/>
                                        <p:tgtEl>
                                          <p:spTgt spid="4"/>
                                        </p:tgtEl>
                                      </p:cBhvr>
                                    </p:animEffect>
                                  </p:childTnLst>
                                  <p:subTnLst>
                                    <p:audio>
                                      <p:cMediaNode>
                                        <p:cTn display="0" masterRel="sameClick">
                                          <p:stCondLst>
                                            <p:cond evt="begin" delay="0">
                                              <p:tn val="116"/>
                                            </p:cond>
                                          </p:stCondLst>
                                          <p:endCondLst>
                                            <p:cond evt="onStopAudio" delay="0">
                                              <p:tgtEl>
                                                <p:sldTgt/>
                                              </p:tgtEl>
                                            </p:cond>
                                          </p:endCondLst>
                                        </p:cTn>
                                        <p:tgtEl>
                                          <p:sndTgt r:embed="rId5" name="CAMERA.WAV"/>
                                        </p:tgtEl>
                                      </p:cMediaNode>
                                    </p:audio>
                                  </p:subTnLst>
                                </p:cTn>
                              </p:par>
                            </p:childTnLst>
                          </p:cTn>
                        </p:par>
                        <p:par>
                          <p:cTn id="119" fill="hold">
                            <p:stCondLst>
                              <p:cond delay="3000"/>
                            </p:stCondLst>
                            <p:childTnLst>
                              <p:par>
                                <p:cTn id="120" presetID="17" presetClass="entr" presetSubtype="10" fill="hold" grpId="0" nodeType="afterEffect">
                                  <p:stCondLst>
                                    <p:cond delay="1000"/>
                                  </p:stCondLst>
                                  <p:childTnLst>
                                    <p:set>
                                      <p:cBhvr>
                                        <p:cTn id="121" dur="1" fill="hold">
                                          <p:stCondLst>
                                            <p:cond delay="0"/>
                                          </p:stCondLst>
                                        </p:cTn>
                                        <p:tgtEl>
                                          <p:spTgt spid="32"/>
                                        </p:tgtEl>
                                        <p:attrNameLst>
                                          <p:attrName>style.visibility</p:attrName>
                                        </p:attrNameLst>
                                      </p:cBhvr>
                                      <p:to>
                                        <p:strVal val="visible"/>
                                      </p:to>
                                    </p:set>
                                    <p:anim calcmode="lin" valueType="num">
                                      <p:cBhvr>
                                        <p:cTn id="122" dur="5000" fill="hold"/>
                                        <p:tgtEl>
                                          <p:spTgt spid="32"/>
                                        </p:tgtEl>
                                        <p:attrNameLst>
                                          <p:attrName>ppt_w</p:attrName>
                                        </p:attrNameLst>
                                      </p:cBhvr>
                                      <p:tavLst>
                                        <p:tav tm="0">
                                          <p:val>
                                            <p:fltVal val="0"/>
                                          </p:val>
                                        </p:tav>
                                        <p:tav tm="100000">
                                          <p:val>
                                            <p:strVal val="#ppt_w"/>
                                          </p:val>
                                        </p:tav>
                                      </p:tavLst>
                                    </p:anim>
                                    <p:anim calcmode="lin" valueType="num">
                                      <p:cBhvr>
                                        <p:cTn id="123" dur="5000" fill="hold"/>
                                        <p:tgtEl>
                                          <p:spTgt spid="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5"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36"/>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5"/>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45" grpId="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40" grpId="0" autoUpdateAnimBg="0"/>
      <p:bldP spid="42" grpId="0" autoUpdateAnimBg="0"/>
      <p:bldP spid="44" grpId="0" autoUpdateAnimBg="0"/>
      <p:bldP spid="47" grpId="0" autoUpdateAnimBg="0"/>
      <p:bldP spid="51" grpId="0"/>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752184" y="1530984"/>
            <a:ext cx="4162738" cy="3133013"/>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7765" y="884653"/>
            <a:ext cx="2991525"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弯曲切应力简介 </a:t>
            </a:r>
          </a:p>
        </p:txBody>
      </p:sp>
      <p:sp>
        <p:nvSpPr>
          <p:cNvPr id="111" name="Text Box 1032"/>
          <p:cNvSpPr txBox="1">
            <a:spLocks noChangeArrowheads="1"/>
          </p:cNvSpPr>
          <p:nvPr/>
        </p:nvSpPr>
        <p:spPr bwMode="auto">
          <a:xfrm>
            <a:off x="631035" y="1371244"/>
            <a:ext cx="6854122" cy="3150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梁的内力除弯矩外还有剪力，称为横力弯曲。因此，梁在横力弯曲下，其横截面上还存在切应力。一般情况下切应力对强度的影响不大。但对短梁或载荷靠近支座的梁以及腹板较薄的组合截面梁则应考虑切应力的存在。</a:t>
            </a:r>
          </a:p>
        </p:txBody>
      </p:sp>
      <p:grpSp>
        <p:nvGrpSpPr>
          <p:cNvPr id="91" name="Group 4"/>
          <p:cNvGrpSpPr>
            <a:grpSpLocks/>
          </p:cNvGrpSpPr>
          <p:nvPr/>
        </p:nvGrpSpPr>
        <p:grpSpPr bwMode="auto">
          <a:xfrm>
            <a:off x="8280913" y="1586191"/>
            <a:ext cx="2314575" cy="3017838"/>
            <a:chOff x="3512" y="377"/>
            <a:chExt cx="1458" cy="1901"/>
          </a:xfrm>
        </p:grpSpPr>
        <p:sp>
          <p:nvSpPr>
            <p:cNvPr id="93" name="Rectangle 6"/>
            <p:cNvSpPr>
              <a:spLocks noChangeAspect="1" noChangeArrowheads="1"/>
            </p:cNvSpPr>
            <p:nvPr/>
          </p:nvSpPr>
          <p:spPr bwMode="auto">
            <a:xfrm>
              <a:off x="3749" y="713"/>
              <a:ext cx="739" cy="1330"/>
            </a:xfrm>
            <a:prstGeom prst="rect">
              <a:avLst/>
            </a:prstGeom>
            <a:gradFill rotWithShape="1">
              <a:gsLst>
                <a:gs pos="0">
                  <a:srgbClr val="A3A3A3"/>
                </a:gs>
                <a:gs pos="50000">
                  <a:srgbClr val="EAEAEA"/>
                </a:gs>
                <a:gs pos="100000">
                  <a:srgbClr val="A3A3A3"/>
                </a:gs>
              </a:gsLst>
              <a:lin ang="5400000" scaled="1"/>
            </a:gra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4" name="Line 7"/>
            <p:cNvSpPr>
              <a:spLocks noChangeAspect="1" noChangeShapeType="1"/>
            </p:cNvSpPr>
            <p:nvPr/>
          </p:nvSpPr>
          <p:spPr bwMode="auto">
            <a:xfrm>
              <a:off x="3512" y="1383"/>
              <a:ext cx="1278"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5" name="Line 8"/>
            <p:cNvSpPr>
              <a:spLocks noChangeAspect="1" noChangeShapeType="1"/>
            </p:cNvSpPr>
            <p:nvPr/>
          </p:nvSpPr>
          <p:spPr bwMode="auto">
            <a:xfrm flipH="1" flipV="1">
              <a:off x="4118" y="478"/>
              <a:ext cx="0" cy="180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6" name="Text Box 9"/>
            <p:cNvSpPr txBox="1">
              <a:spLocks noChangeAspect="1" noChangeArrowheads="1"/>
            </p:cNvSpPr>
            <p:nvPr/>
          </p:nvSpPr>
          <p:spPr bwMode="auto">
            <a:xfrm>
              <a:off x="4634" y="1303"/>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z</a:t>
              </a:r>
            </a:p>
          </p:txBody>
        </p:sp>
        <p:sp>
          <p:nvSpPr>
            <p:cNvPr id="97" name="Text Box 10"/>
            <p:cNvSpPr txBox="1">
              <a:spLocks noChangeAspect="1" noChangeArrowheads="1"/>
            </p:cNvSpPr>
            <p:nvPr/>
          </p:nvSpPr>
          <p:spPr bwMode="auto">
            <a:xfrm>
              <a:off x="3866" y="377"/>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y</a:t>
              </a:r>
            </a:p>
          </p:txBody>
        </p:sp>
      </p:grpSp>
      <p:grpSp>
        <p:nvGrpSpPr>
          <p:cNvPr id="98" name="Group 11"/>
          <p:cNvGrpSpPr>
            <a:grpSpLocks noChangeAspect="1"/>
          </p:cNvGrpSpPr>
          <p:nvPr/>
        </p:nvGrpSpPr>
        <p:grpSpPr bwMode="auto">
          <a:xfrm>
            <a:off x="8658737" y="2597429"/>
            <a:ext cx="1149350" cy="266700"/>
            <a:chOff x="3794" y="1679"/>
            <a:chExt cx="517" cy="120"/>
          </a:xfrm>
        </p:grpSpPr>
        <p:sp>
          <p:nvSpPr>
            <p:cNvPr id="99" name="Line 12"/>
            <p:cNvSpPr>
              <a:spLocks noChangeAspect="1" noChangeShapeType="1"/>
            </p:cNvSpPr>
            <p:nvPr/>
          </p:nvSpPr>
          <p:spPr bwMode="auto">
            <a:xfrm>
              <a:off x="3794" y="1679"/>
              <a:ext cx="51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13"/>
            <p:cNvSpPr>
              <a:spLocks noChangeAspect="1" noChangeShapeType="1"/>
            </p:cNvSpPr>
            <p:nvPr/>
          </p:nvSpPr>
          <p:spPr bwMode="auto">
            <a:xfrm>
              <a:off x="4057"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14"/>
            <p:cNvSpPr>
              <a:spLocks noChangeAspect="1" noChangeShapeType="1"/>
            </p:cNvSpPr>
            <p:nvPr/>
          </p:nvSpPr>
          <p:spPr bwMode="auto">
            <a:xfrm>
              <a:off x="4155"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15"/>
            <p:cNvSpPr>
              <a:spLocks noChangeAspect="1" noChangeShapeType="1"/>
            </p:cNvSpPr>
            <p:nvPr/>
          </p:nvSpPr>
          <p:spPr bwMode="auto">
            <a:xfrm>
              <a:off x="4251"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16"/>
            <p:cNvSpPr>
              <a:spLocks noChangeAspect="1" noChangeShapeType="1"/>
            </p:cNvSpPr>
            <p:nvPr/>
          </p:nvSpPr>
          <p:spPr bwMode="auto">
            <a:xfrm>
              <a:off x="3878"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17"/>
            <p:cNvSpPr>
              <a:spLocks noChangeAspect="1" noChangeShapeType="1"/>
            </p:cNvSpPr>
            <p:nvPr/>
          </p:nvSpPr>
          <p:spPr bwMode="auto">
            <a:xfrm>
              <a:off x="3975"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nvGrpSpPr>
          <p:cNvPr id="105" name="Group 18"/>
          <p:cNvGrpSpPr>
            <a:grpSpLocks noChangeAspect="1"/>
          </p:cNvGrpSpPr>
          <p:nvPr/>
        </p:nvGrpSpPr>
        <p:grpSpPr bwMode="auto">
          <a:xfrm>
            <a:off x="10514525" y="2143404"/>
            <a:ext cx="417512" cy="2082800"/>
            <a:chOff x="4922" y="1475"/>
            <a:chExt cx="188" cy="937"/>
          </a:xfrm>
        </p:grpSpPr>
        <p:sp>
          <p:nvSpPr>
            <p:cNvPr id="106" name="Arc 19" descr="浅色横线"/>
            <p:cNvSpPr>
              <a:spLocks noChangeAspect="1"/>
            </p:cNvSpPr>
            <p:nvPr/>
          </p:nvSpPr>
          <p:spPr bwMode="auto">
            <a:xfrm rot="5400000">
              <a:off x="4571" y="1850"/>
              <a:ext cx="907" cy="170"/>
            </a:xfrm>
            <a:custGeom>
              <a:avLst/>
              <a:gdLst>
                <a:gd name="T0" fmla="*/ 0 w 43200"/>
                <a:gd name="T1" fmla="*/ 1 h 24845"/>
                <a:gd name="T2" fmla="*/ 19 w 43200"/>
                <a:gd name="T3" fmla="*/ 1 h 24845"/>
                <a:gd name="T4" fmla="*/ 10 w 43200"/>
                <a:gd name="T5" fmla="*/ 1 h 24845"/>
                <a:gd name="T6" fmla="*/ 0 60000 65536"/>
                <a:gd name="T7" fmla="*/ 0 60000 65536"/>
                <a:gd name="T8" fmla="*/ 0 60000 65536"/>
                <a:gd name="T9" fmla="*/ 0 w 43200"/>
                <a:gd name="T10" fmla="*/ 0 h 24845"/>
                <a:gd name="T11" fmla="*/ 43200 w 43200"/>
                <a:gd name="T12" fmla="*/ 24845 h 24845"/>
              </a:gdLst>
              <a:ahLst/>
              <a:cxnLst>
                <a:cxn ang="T6">
                  <a:pos x="T0" y="T1"/>
                </a:cxn>
                <a:cxn ang="T7">
                  <a:pos x="T2" y="T3"/>
                </a:cxn>
                <a:cxn ang="T8">
                  <a:pos x="T4" y="T5"/>
                </a:cxn>
              </a:cxnLst>
              <a:rect l="T9" t="T10" r="T11" b="T12"/>
              <a:pathLst>
                <a:path w="43200" h="24845" fill="none"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path>
                <a:path w="43200" h="24845" stroke="0"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lnTo>
                    <a:pt x="21600" y="21600"/>
                  </a:lnTo>
                  <a:close/>
                </a:path>
              </a:pathLst>
            </a:custGeom>
            <a:pattFill prst="ltHorz">
              <a:fgClr>
                <a:srgbClr val="000000"/>
              </a:fgClr>
              <a:bgClr>
                <a:srgbClr val="FFFF99"/>
              </a:bgClr>
            </a:pattFill>
            <a:ln w="28575">
              <a:solidFill>
                <a:srgbClr val="000000"/>
              </a:solidFill>
              <a:round/>
              <a:headEnd/>
              <a:tailEnd/>
            </a:ln>
          </p:spPr>
          <p:txBody>
            <a:bodyPr/>
            <a:lstStyle/>
            <a:p>
              <a:endParaRPr kumimoji="1" lang="zh-CN" altLang="en-US" b="0" i="0">
                <a:solidFill>
                  <a:srgbClr val="FFFFFF"/>
                </a:solidFill>
                <a:ea typeface="黑体" panose="02010609060101010101" pitchFamily="49" charset="-122"/>
              </a:endParaRPr>
            </a:p>
          </p:txBody>
        </p:sp>
        <p:sp>
          <p:nvSpPr>
            <p:cNvPr id="107" name="Line 20"/>
            <p:cNvSpPr>
              <a:spLocks noChangeAspect="1" noChangeShapeType="1"/>
            </p:cNvSpPr>
            <p:nvPr/>
          </p:nvSpPr>
          <p:spPr bwMode="auto">
            <a:xfrm>
              <a:off x="4946" y="1475"/>
              <a:ext cx="0" cy="9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8" name="Line 21"/>
            <p:cNvSpPr>
              <a:spLocks noChangeAspect="1" noChangeShapeType="1"/>
            </p:cNvSpPr>
            <p:nvPr/>
          </p:nvSpPr>
          <p:spPr bwMode="auto">
            <a:xfrm>
              <a:off x="4922" y="1943"/>
              <a:ext cx="18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09" name="Text Box 22"/>
          <p:cNvSpPr txBox="1">
            <a:spLocks noChangeAspect="1" noChangeArrowheads="1"/>
          </p:cNvSpPr>
          <p:nvPr/>
        </p:nvSpPr>
        <p:spPr bwMode="auto">
          <a:xfrm>
            <a:off x="10808212" y="2822854"/>
            <a:ext cx="10414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a:solidFill>
                  <a:srgbClr val="FF0000"/>
                </a:solidFill>
                <a:latin typeface="" pitchFamily="18" charset="-52"/>
                <a:ea typeface="宋体" panose="02010600030101010101" pitchFamily="2" charset="-122"/>
              </a:rPr>
              <a:t>max</a:t>
            </a:r>
          </a:p>
        </p:txBody>
      </p:sp>
      <p:sp>
        <p:nvSpPr>
          <p:cNvPr id="110" name="AutoShape 23"/>
          <p:cNvSpPr>
            <a:spLocks noChangeAspect="1" noChangeArrowheads="1"/>
          </p:cNvSpPr>
          <p:nvPr/>
        </p:nvSpPr>
        <p:spPr bwMode="auto">
          <a:xfrm>
            <a:off x="9109587" y="2410104"/>
            <a:ext cx="293688" cy="1282700"/>
          </a:xfrm>
          <a:prstGeom prst="downArrow">
            <a:avLst>
              <a:gd name="adj1" fmla="val 50000"/>
              <a:gd name="adj2" fmla="val 109189"/>
            </a:avLst>
          </a:prstGeom>
          <a:solidFill>
            <a:srgbClr val="FF66CC"/>
          </a:solidFill>
          <a:ln w="28575">
            <a:solidFill>
              <a:srgbClr val="000000"/>
            </a:solidFill>
            <a:miter lim="800000"/>
            <a:headEnd/>
            <a:tailEnd/>
          </a:ln>
        </p:spPr>
        <p:txBody>
          <a:bodyPr vert="eaVert"/>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7" name="Text Box 24"/>
          <p:cNvSpPr txBox="1">
            <a:spLocks noChangeAspect="1" noChangeArrowheads="1"/>
          </p:cNvSpPr>
          <p:nvPr/>
        </p:nvSpPr>
        <p:spPr bwMode="auto">
          <a:xfrm>
            <a:off x="9322312" y="3210204"/>
            <a:ext cx="72072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i="0" baseline="-25000">
                <a:solidFill>
                  <a:srgbClr val="FF0000"/>
                </a:solidFill>
                <a:latin typeface="" pitchFamily="18" charset="-52"/>
                <a:ea typeface="宋体" panose="02010600030101010101" pitchFamily="2" charset="-122"/>
              </a:rPr>
              <a:t>Q</a:t>
            </a:r>
            <a:endParaRPr lang="en-US" altLang="zh-CN" b="0" i="0">
              <a:solidFill>
                <a:srgbClr val="FF0000"/>
              </a:solidFill>
              <a:latin typeface="" pitchFamily="18" charset="-52"/>
              <a:ea typeface="宋体" panose="02010600030101010101" pitchFamily="2" charset="-122"/>
            </a:endParaRPr>
          </a:p>
        </p:txBody>
      </p:sp>
      <p:sp>
        <p:nvSpPr>
          <p:cNvPr id="168" name="Rectangle 25" descr="宽上对角线"/>
          <p:cNvSpPr>
            <a:spLocks noChangeArrowheads="1"/>
          </p:cNvSpPr>
          <p:nvPr/>
        </p:nvSpPr>
        <p:spPr bwMode="auto">
          <a:xfrm>
            <a:off x="8669850" y="3757891"/>
            <a:ext cx="1173162" cy="463550"/>
          </a:xfrm>
          <a:prstGeom prst="rect">
            <a:avLst/>
          </a:prstGeom>
          <a:pattFill prst="wdUpDiag">
            <a:fgClr>
              <a:srgbClr val="000000"/>
            </a:fgClr>
            <a:bgClr>
              <a:srgbClr val="00FFFF"/>
            </a:bgClr>
          </a:patt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69" name="Group 26"/>
          <p:cNvGrpSpPr>
            <a:grpSpLocks noChangeAspect="1"/>
          </p:cNvGrpSpPr>
          <p:nvPr/>
        </p:nvGrpSpPr>
        <p:grpSpPr bwMode="auto">
          <a:xfrm>
            <a:off x="8657150" y="3746779"/>
            <a:ext cx="1146175" cy="266700"/>
            <a:chOff x="3793" y="2196"/>
            <a:chExt cx="516" cy="120"/>
          </a:xfrm>
        </p:grpSpPr>
        <p:sp>
          <p:nvSpPr>
            <p:cNvPr id="170" name="Line 27"/>
            <p:cNvSpPr>
              <a:spLocks noChangeAspect="1" noChangeShapeType="1"/>
            </p:cNvSpPr>
            <p:nvPr/>
          </p:nvSpPr>
          <p:spPr bwMode="auto">
            <a:xfrm>
              <a:off x="3793" y="2196"/>
              <a:ext cx="51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1" name="Line 28"/>
            <p:cNvSpPr>
              <a:spLocks noChangeAspect="1" noChangeShapeType="1"/>
            </p:cNvSpPr>
            <p:nvPr/>
          </p:nvSpPr>
          <p:spPr bwMode="auto">
            <a:xfrm>
              <a:off x="4055"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2" name="Line 29"/>
            <p:cNvSpPr>
              <a:spLocks noChangeAspect="1" noChangeShapeType="1"/>
            </p:cNvSpPr>
            <p:nvPr/>
          </p:nvSpPr>
          <p:spPr bwMode="auto">
            <a:xfrm>
              <a:off x="4153"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3" name="Line 30"/>
            <p:cNvSpPr>
              <a:spLocks noChangeAspect="1" noChangeShapeType="1"/>
            </p:cNvSpPr>
            <p:nvPr/>
          </p:nvSpPr>
          <p:spPr bwMode="auto">
            <a:xfrm>
              <a:off x="4249"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4" name="Line 31"/>
            <p:cNvSpPr>
              <a:spLocks noChangeAspect="1" noChangeShapeType="1"/>
            </p:cNvSpPr>
            <p:nvPr/>
          </p:nvSpPr>
          <p:spPr bwMode="auto">
            <a:xfrm>
              <a:off x="3877"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5" name="Line 32"/>
            <p:cNvSpPr>
              <a:spLocks noChangeAspect="1" noChangeShapeType="1"/>
            </p:cNvSpPr>
            <p:nvPr/>
          </p:nvSpPr>
          <p:spPr bwMode="auto">
            <a:xfrm>
              <a:off x="3973"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76" name="Text Box 1032"/>
          <p:cNvSpPr txBox="1">
            <a:spLocks noChangeArrowheads="1"/>
          </p:cNvSpPr>
          <p:nvPr/>
        </p:nvSpPr>
        <p:spPr bwMode="auto">
          <a:xfrm>
            <a:off x="636115" y="4516361"/>
            <a:ext cx="10716469"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．矩形截面梁横截面上的切应力</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 1</a:t>
            </a:r>
            <a:r>
              <a:rPr kumimoji="1" lang="zh-CN" altLang="en-US" sz="2800" i="0" dirty="0">
                <a:latin typeface="+mn-lt"/>
                <a:ea typeface="微软雅黑" panose="020B0503020204020204" pitchFamily="34" charset="-122"/>
              </a:rPr>
              <a:t>）横截面上各点的切应力方向和剪力</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zh-CN" altLang="en-US" sz="2800" i="0" dirty="0">
                <a:latin typeface="+mn-lt"/>
                <a:ea typeface="微软雅黑" panose="020B0503020204020204" pitchFamily="34" charset="-122"/>
              </a:rPr>
              <a:t>的方向一致。</a:t>
            </a:r>
          </a:p>
          <a:p>
            <a:pPr lvl="0">
              <a:lnSpc>
                <a:spcPct val="130000"/>
              </a:lnSpc>
            </a:pPr>
            <a:r>
              <a:rPr kumimoji="1" lang="en-US" altLang="zh-CN" sz="2800" i="0" dirty="0">
                <a:latin typeface="+mn-lt"/>
                <a:ea typeface="微软雅黑" panose="020B0503020204020204" pitchFamily="34" charset="-122"/>
              </a:rPr>
              <a:t>      2</a:t>
            </a:r>
            <a:r>
              <a:rPr kumimoji="1" lang="zh-CN" altLang="en-US" sz="2800" i="0" dirty="0">
                <a:latin typeface="+mn-lt"/>
                <a:ea typeface="微软雅黑" panose="020B0503020204020204" pitchFamily="34" charset="-122"/>
              </a:rPr>
              <a:t>）切应力的大小与距中性轴 </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的距离 </a:t>
            </a:r>
            <a:r>
              <a:rPr kumimoji="1" lang="en-US" altLang="zh-CN" sz="2800" b="0" dirty="0">
                <a:latin typeface="+mn-lt"/>
                <a:ea typeface="微软雅黑" panose="020B0503020204020204" pitchFamily="34" charset="-122"/>
              </a:rPr>
              <a:t>y</a:t>
            </a:r>
            <a:r>
              <a:rPr kumimoji="1" lang="zh-CN" altLang="en-US" sz="2800" i="0" dirty="0">
                <a:latin typeface="+mn-lt"/>
                <a:ea typeface="微软雅黑" panose="020B0503020204020204" pitchFamily="34" charset="-122"/>
              </a:rPr>
              <a:t>有关。</a:t>
            </a:r>
          </a:p>
        </p:txBody>
      </p:sp>
    </p:spTree>
    <p:extLst>
      <p:ext uri="{BB962C8B-B14F-4D97-AF65-F5344CB8AC3E}">
        <p14:creationId xmlns:p14="http://schemas.microsoft.com/office/powerpoint/2010/main" val="6766262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ox(out)">
                                      <p:cBhvr>
                                        <p:cTn id="12" dur="30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wipe(up)">
                                      <p:cBhvr>
                                        <p:cTn id="17" dur="5000"/>
                                        <p:tgtEl>
                                          <p:spTgt spid="110"/>
                                        </p:tgtEl>
                                      </p:cBhvr>
                                    </p:animEffect>
                                  </p:childTnLst>
                                  <p:subTnLst>
                                    <p:animClr clrSpc="rgb" dir="cw">
                                      <p:cBhvr override="childStyle">
                                        <p:cTn dur="1" fill="hold" display="0" masterRel="nextClick" afterEffect="1"/>
                                        <p:tgtEl>
                                          <p:spTgt spid="110"/>
                                        </p:tgtEl>
                                        <p:attrNameLst>
                                          <p:attrName>ppt_c</p:attrName>
                                        </p:attrNameLst>
                                      </p:cBhvr>
                                      <p:to>
                                        <a:schemeClr val="tx2"/>
                                      </p:to>
                                    </p:animClr>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0"/>
                            </p:stCondLst>
                            <p:childTnLst>
                              <p:par>
                                <p:cTn id="19" presetID="17" presetClass="entr" presetSubtype="10" fill="hold" grpId="0" nodeType="afterEffect">
                                  <p:stCondLst>
                                    <p:cond delay="300"/>
                                  </p:stCondLst>
                                  <p:childTnLst>
                                    <p:set>
                                      <p:cBhvr>
                                        <p:cTn id="20" dur="1" fill="hold">
                                          <p:stCondLst>
                                            <p:cond delay="0"/>
                                          </p:stCondLst>
                                        </p:cTn>
                                        <p:tgtEl>
                                          <p:spTgt spid="167"/>
                                        </p:tgtEl>
                                        <p:attrNameLst>
                                          <p:attrName>style.visibility</p:attrName>
                                        </p:attrNameLst>
                                      </p:cBhvr>
                                      <p:to>
                                        <p:strVal val="visible"/>
                                      </p:to>
                                    </p:set>
                                    <p:anim calcmode="lin" valueType="num">
                                      <p:cBhvr>
                                        <p:cTn id="21" dur="2000" fill="hold"/>
                                        <p:tgtEl>
                                          <p:spTgt spid="167"/>
                                        </p:tgtEl>
                                        <p:attrNameLst>
                                          <p:attrName>ppt_w</p:attrName>
                                        </p:attrNameLst>
                                      </p:cBhvr>
                                      <p:tavLst>
                                        <p:tav tm="0">
                                          <p:val>
                                            <p:fltVal val="0"/>
                                          </p:val>
                                        </p:tav>
                                        <p:tav tm="100000">
                                          <p:val>
                                            <p:strVal val="#ppt_w"/>
                                          </p:val>
                                        </p:tav>
                                      </p:tavLst>
                                    </p:anim>
                                    <p:anim calcmode="lin" valueType="num">
                                      <p:cBhvr>
                                        <p:cTn id="22" dur="2000" fill="hold"/>
                                        <p:tgtEl>
                                          <p:spTgt spid="167"/>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67"/>
                                        </p:tgtEl>
                                        <p:attrNameLst>
                                          <p:attrName>ppt_c</p:attrName>
                                        </p:attrNameLst>
                                      </p:cBhvr>
                                      <p:to>
                                        <a:schemeClr val="bg2"/>
                                      </p:to>
                                    </p:animClr>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8"/>
                                        </p:tgtEl>
                                        <p:attrNameLst>
                                          <p:attrName>style.visibility</p:attrName>
                                        </p:attrNameLst>
                                      </p:cBhvr>
                                      <p:to>
                                        <p:strVal val="visible"/>
                                      </p:to>
                                    </p:set>
                                    <p:animEffect transition="in" filter="wipe(up)">
                                      <p:cBhvr>
                                        <p:cTn id="27" dur="3000"/>
                                        <p:tgtEl>
                                          <p:spTgt spid="9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22" presetClass="entr" presetSubtype="1" fill="hold" nodeType="withEffect">
                                  <p:stCondLst>
                                    <p:cond delay="0"/>
                                  </p:stCondLst>
                                  <p:childTnLst>
                                    <p:set>
                                      <p:cBhvr>
                                        <p:cTn id="29" dur="1" fill="hold">
                                          <p:stCondLst>
                                            <p:cond delay="0"/>
                                          </p:stCondLst>
                                        </p:cTn>
                                        <p:tgtEl>
                                          <p:spTgt spid="169"/>
                                        </p:tgtEl>
                                        <p:attrNameLst>
                                          <p:attrName>style.visibility</p:attrName>
                                        </p:attrNameLst>
                                      </p:cBhvr>
                                      <p:to>
                                        <p:strVal val="visible"/>
                                      </p:to>
                                    </p:set>
                                    <p:animEffect transition="in" filter="wipe(up)">
                                      <p:cBhvr>
                                        <p:cTn id="30" dur="3000"/>
                                        <p:tgtEl>
                                          <p:spTgt spid="169"/>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wipe(left)">
                                      <p:cBhvr>
                                        <p:cTn id="35" dur="5000"/>
                                        <p:tgtEl>
                                          <p:spTgt spid="105"/>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5000"/>
                            </p:stCondLst>
                            <p:childTnLst>
                              <p:par>
                                <p:cTn id="37" presetID="19" presetClass="entr" presetSubtype="10" fill="hold" grpId="0" nodeType="afterEffect">
                                  <p:stCondLst>
                                    <p:cond delay="1000"/>
                                  </p:stCondLst>
                                  <p:childTnLst>
                                    <p:set>
                                      <p:cBhvr>
                                        <p:cTn id="38" dur="1" fill="hold">
                                          <p:stCondLst>
                                            <p:cond delay="0"/>
                                          </p:stCondLst>
                                        </p:cTn>
                                        <p:tgtEl>
                                          <p:spTgt spid="109"/>
                                        </p:tgtEl>
                                        <p:attrNameLst>
                                          <p:attrName>style.visibility</p:attrName>
                                        </p:attrNameLst>
                                      </p:cBhvr>
                                      <p:to>
                                        <p:strVal val="visible"/>
                                      </p:to>
                                    </p:set>
                                    <p:anim calcmode="lin" valueType="num">
                                      <p:cBhvr>
                                        <p:cTn id="39" dur="5000" fill="hold"/>
                                        <p:tgtEl>
                                          <p:spTgt spid="109"/>
                                        </p:tgtEl>
                                        <p:attrNameLst>
                                          <p:attrName>ppt_w</p:attrName>
                                        </p:attrNameLst>
                                      </p:cBhvr>
                                      <p:tavLst>
                                        <p:tav tm="0" fmla="#ppt_w*sin(2.5*pi*$)">
                                          <p:val>
                                            <p:fltVal val="0"/>
                                          </p:val>
                                        </p:tav>
                                        <p:tav tm="100000">
                                          <p:val>
                                            <p:fltVal val="1"/>
                                          </p:val>
                                        </p:tav>
                                      </p:tavLst>
                                    </p:anim>
                                    <p:anim calcmode="lin" valueType="num">
                                      <p:cBhvr>
                                        <p:cTn id="40"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1" fill="hold">
                            <p:stCondLst>
                              <p:cond delay="11000"/>
                            </p:stCondLst>
                            <p:childTnLst>
                              <p:par>
                                <p:cTn id="42" presetID="17" presetClass="entr" presetSubtype="1" fill="hold" grpId="0" nodeType="afterEffect">
                                  <p:stCondLst>
                                    <p:cond delay="0"/>
                                  </p:stCondLst>
                                  <p:childTnLst>
                                    <p:set>
                                      <p:cBhvr>
                                        <p:cTn id="43" dur="1" fill="hold">
                                          <p:stCondLst>
                                            <p:cond delay="0"/>
                                          </p:stCondLst>
                                        </p:cTn>
                                        <p:tgtEl>
                                          <p:spTgt spid="168"/>
                                        </p:tgtEl>
                                        <p:attrNameLst>
                                          <p:attrName>style.visibility</p:attrName>
                                        </p:attrNameLst>
                                      </p:cBhvr>
                                      <p:to>
                                        <p:strVal val="visible"/>
                                      </p:to>
                                    </p:set>
                                    <p:anim calcmode="lin" valueType="num">
                                      <p:cBhvr>
                                        <p:cTn id="44" dur="3000" fill="hold"/>
                                        <p:tgtEl>
                                          <p:spTgt spid="168"/>
                                        </p:tgtEl>
                                        <p:attrNameLst>
                                          <p:attrName>ppt_x</p:attrName>
                                        </p:attrNameLst>
                                      </p:cBhvr>
                                      <p:tavLst>
                                        <p:tav tm="0">
                                          <p:val>
                                            <p:strVal val="#ppt_x"/>
                                          </p:val>
                                        </p:tav>
                                        <p:tav tm="100000">
                                          <p:val>
                                            <p:strVal val="#ppt_x"/>
                                          </p:val>
                                        </p:tav>
                                      </p:tavLst>
                                    </p:anim>
                                    <p:anim calcmode="lin" valueType="num">
                                      <p:cBhvr>
                                        <p:cTn id="45" dur="3000" fill="hold"/>
                                        <p:tgtEl>
                                          <p:spTgt spid="168"/>
                                        </p:tgtEl>
                                        <p:attrNameLst>
                                          <p:attrName>ppt_y</p:attrName>
                                        </p:attrNameLst>
                                      </p:cBhvr>
                                      <p:tavLst>
                                        <p:tav tm="0">
                                          <p:val>
                                            <p:strVal val="#ppt_y-#ppt_h/2"/>
                                          </p:val>
                                        </p:tav>
                                        <p:tav tm="100000">
                                          <p:val>
                                            <p:strVal val="#ppt_y"/>
                                          </p:val>
                                        </p:tav>
                                      </p:tavLst>
                                    </p:anim>
                                    <p:anim calcmode="lin" valueType="num">
                                      <p:cBhvr>
                                        <p:cTn id="46" dur="3000" fill="hold"/>
                                        <p:tgtEl>
                                          <p:spTgt spid="168"/>
                                        </p:tgtEl>
                                        <p:attrNameLst>
                                          <p:attrName>ppt_w</p:attrName>
                                        </p:attrNameLst>
                                      </p:cBhvr>
                                      <p:tavLst>
                                        <p:tav tm="0">
                                          <p:val>
                                            <p:strVal val="#ppt_w"/>
                                          </p:val>
                                        </p:tav>
                                        <p:tav tm="100000">
                                          <p:val>
                                            <p:strVal val="#ppt_w"/>
                                          </p:val>
                                        </p:tav>
                                      </p:tavLst>
                                    </p:anim>
                                    <p:anim calcmode="lin" valueType="num">
                                      <p:cBhvr>
                                        <p:cTn id="47" dur="3000" fill="hold"/>
                                        <p:tgtEl>
                                          <p:spTgt spid="168"/>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1" grpId="0" autoUpdateAnimBg="0"/>
      <p:bldP spid="109" grpId="0" autoUpdateAnimBg="0"/>
      <p:bldP spid="110" grpId="0" animBg="1"/>
      <p:bldP spid="167" grpId="0" autoUpdateAnimBg="0"/>
      <p:bldP spid="168" grpId="0" animBg="1"/>
      <p:bldP spid="17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11" name="Text Box 1032"/>
          <p:cNvSpPr txBox="1">
            <a:spLocks noChangeArrowheads="1"/>
          </p:cNvSpPr>
          <p:nvPr/>
        </p:nvSpPr>
        <p:spPr bwMode="auto">
          <a:xfrm>
            <a:off x="631034" y="867814"/>
            <a:ext cx="1121857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当矩形截面梁横截面的高度 </a:t>
            </a:r>
            <a:r>
              <a:rPr kumimoji="1" lang="en-US" altLang="zh-CN" sz="2800" b="0" dirty="0">
                <a:latin typeface="+mn-lt"/>
                <a:ea typeface="微软雅黑" panose="020B0503020204020204" pitchFamily="34" charset="-122"/>
              </a:rPr>
              <a:t>h</a:t>
            </a:r>
            <a:r>
              <a:rPr kumimoji="1" lang="zh-CN" altLang="en-US" sz="2800" i="0" dirty="0">
                <a:latin typeface="+mn-lt"/>
                <a:ea typeface="微软雅黑" panose="020B0503020204020204" pitchFamily="34" charset="-122"/>
              </a:rPr>
              <a:t>大于宽度 </a:t>
            </a:r>
            <a:r>
              <a:rPr kumimoji="1" lang="en-US" altLang="zh-CN" sz="2800" b="0" dirty="0">
                <a:latin typeface="+mn-lt"/>
                <a:ea typeface="微软雅黑" panose="020B0503020204020204" pitchFamily="34" charset="-122"/>
              </a:rPr>
              <a:t>b</a:t>
            </a:r>
            <a:r>
              <a:rPr kumimoji="1" lang="zh-CN" altLang="en-US" sz="2800" i="0" dirty="0">
                <a:latin typeface="+mn-lt"/>
                <a:ea typeface="微软雅黑" panose="020B0503020204020204" pitchFamily="34" charset="-122"/>
              </a:rPr>
              <a:t>时，上述假设基本符合实际情况。据此可以推导出矩形截面梁横截面距中性轴为 </a:t>
            </a:r>
            <a:r>
              <a:rPr kumimoji="1" lang="en-US" altLang="zh-CN" sz="2800" b="0" dirty="0">
                <a:latin typeface="+mn-lt"/>
                <a:ea typeface="微软雅黑" panose="020B0503020204020204" pitchFamily="34" charset="-122"/>
              </a:rPr>
              <a:t>y </a:t>
            </a:r>
            <a:r>
              <a:rPr kumimoji="1" lang="zh-CN" altLang="en-US" sz="2800" i="0" dirty="0">
                <a:latin typeface="+mn-lt"/>
                <a:ea typeface="微软雅黑" panose="020B0503020204020204" pitchFamily="34" charset="-122"/>
              </a:rPr>
              <a:t>处的切应力为</a:t>
            </a:r>
            <a:endParaRPr kumimoji="1" lang="zh-CN" altLang="en-US" sz="2800" i="0" dirty="0">
              <a:latin typeface="+mj-lt"/>
              <a:ea typeface="微软雅黑" panose="020B0503020204020204" pitchFamily="34" charset="-122"/>
            </a:endParaRPr>
          </a:p>
        </p:txBody>
      </p:sp>
      <p:graphicFrame>
        <p:nvGraphicFramePr>
          <p:cNvPr id="35" name="Object 41">
            <a:extLst>
              <a:ext uri="{FF2B5EF4-FFF2-40B4-BE49-F238E27FC236}">
                <a16:creationId xmlns:a16="http://schemas.microsoft.com/office/drawing/2014/main" id="{BD7EC75D-192C-1EE2-F958-24DB96D2C8D7}"/>
              </a:ext>
            </a:extLst>
          </p:cNvPr>
          <p:cNvGraphicFramePr>
            <a:graphicFrameLocks noChangeAspect="1"/>
          </p:cNvGraphicFramePr>
          <p:nvPr>
            <p:extLst>
              <p:ext uri="{D42A27DB-BD31-4B8C-83A1-F6EECF244321}">
                <p14:modId xmlns:p14="http://schemas.microsoft.com/office/powerpoint/2010/main" val="134928130"/>
              </p:ext>
            </p:extLst>
          </p:nvPr>
        </p:nvGraphicFramePr>
        <p:xfrm>
          <a:off x="2351584" y="1951077"/>
          <a:ext cx="2501725" cy="1120527"/>
        </p:xfrm>
        <a:graphic>
          <a:graphicData uri="http://schemas.openxmlformats.org/presentationml/2006/ole">
            <mc:AlternateContent xmlns:mc="http://schemas.openxmlformats.org/markup-compatibility/2006">
              <mc:Choice xmlns:v="urn:schemas-microsoft-com:vml" Requires="v">
                <p:oleObj spid="_x0000_s12377" name="Equation" r:id="rId5" imgW="1028520" imgH="469800" progId="Equation.DSMT4">
                  <p:embed/>
                </p:oleObj>
              </mc:Choice>
              <mc:Fallback>
                <p:oleObj name="Equation" r:id="rId5" imgW="1028520" imgH="469800" progId="Equation.DSMT4">
                  <p:embed/>
                  <p:pic>
                    <p:nvPicPr>
                      <p:cNvPr id="0" name=""/>
                      <p:cNvPicPr>
                        <a:picLocks noChangeAspect="1" noChangeArrowheads="1"/>
                      </p:cNvPicPr>
                      <p:nvPr/>
                    </p:nvPicPr>
                    <p:blipFill>
                      <a:blip r:embed="rId6"/>
                      <a:srcRect/>
                      <a:stretch>
                        <a:fillRect/>
                      </a:stretch>
                    </p:blipFill>
                    <p:spPr bwMode="auto">
                      <a:xfrm>
                        <a:off x="2351584" y="1951077"/>
                        <a:ext cx="2501725" cy="1120527"/>
                      </a:xfrm>
                      <a:prstGeom prst="rect">
                        <a:avLst/>
                      </a:prstGeom>
                      <a:noFill/>
                      <a:ln>
                        <a:noFill/>
                      </a:ln>
                    </p:spPr>
                  </p:pic>
                </p:oleObj>
              </mc:Fallback>
            </mc:AlternateContent>
          </a:graphicData>
        </a:graphic>
      </p:graphicFrame>
      <p:sp>
        <p:nvSpPr>
          <p:cNvPr id="36" name="Text Box 1032"/>
          <p:cNvSpPr txBox="1">
            <a:spLocks noChangeArrowheads="1"/>
          </p:cNvSpPr>
          <p:nvPr/>
        </p:nvSpPr>
        <p:spPr bwMode="auto">
          <a:xfrm>
            <a:off x="631034" y="2931961"/>
            <a:ext cx="1121857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j-lt"/>
                <a:ea typeface="微软雅黑" panose="020B0503020204020204" pitchFamily="34" charset="-122"/>
              </a:rPr>
              <a:t>式中</a:t>
            </a: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为横截面上的剪力；</a:t>
            </a:r>
            <a:r>
              <a:rPr kumimoji="1" lang="en-US" altLang="zh-CN" sz="2800" b="0" dirty="0">
                <a:latin typeface="+mj-lt"/>
                <a:ea typeface="微软雅黑" panose="020B0503020204020204" pitchFamily="34" charset="-122"/>
              </a:rPr>
              <a:t>S</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为图上打剖面线的矩形截面面积</a:t>
            </a:r>
            <a:r>
              <a:rPr kumimoji="1" lang="en-US" altLang="zh-CN" sz="2800" b="0" dirty="0">
                <a:latin typeface="+mj-lt"/>
                <a:ea typeface="微软雅黑" panose="020B0503020204020204" pitchFamily="34" charset="-122"/>
              </a:rPr>
              <a:t>A</a:t>
            </a:r>
            <a:r>
              <a:rPr kumimoji="1" lang="en-US" altLang="zh-CN" sz="2800" b="0" i="0" dirty="0">
                <a:ea typeface="微软雅黑" panose="020B0503020204020204" pitchFamily="34" charset="-122"/>
              </a:rPr>
              <a:t>*</a:t>
            </a:r>
            <a:r>
              <a:rPr kumimoji="1" lang="zh-CN" altLang="en-US" sz="2800" i="0" dirty="0">
                <a:latin typeface="+mj-lt"/>
                <a:ea typeface="微软雅黑" panose="020B0503020204020204" pitchFamily="34" charset="-122"/>
              </a:rPr>
              <a:t> 对中性轴</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的静距；</a:t>
            </a: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i="0" dirty="0">
                <a:latin typeface="+mj-lt"/>
                <a:ea typeface="微软雅黑" panose="020B0503020204020204" pitchFamily="34" charset="-122"/>
              </a:rPr>
              <a:t>为截面对中性轴</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的惯性矩；</a:t>
            </a:r>
            <a:r>
              <a:rPr kumimoji="1" lang="en-US" altLang="zh-CN" sz="2800" b="0" dirty="0">
                <a:latin typeface="+mj-lt"/>
                <a:ea typeface="微软雅黑" panose="020B0503020204020204" pitchFamily="34" charset="-122"/>
              </a:rPr>
              <a:t>b</a:t>
            </a:r>
            <a:r>
              <a:rPr kumimoji="1" lang="zh-CN" altLang="en-US" sz="2800" i="0" dirty="0">
                <a:latin typeface="+mj-lt"/>
                <a:ea typeface="微软雅黑" panose="020B0503020204020204" pitchFamily="34" charset="-122"/>
              </a:rPr>
              <a:t>为截面宽度。</a:t>
            </a:r>
          </a:p>
        </p:txBody>
      </p:sp>
      <p:graphicFrame>
        <p:nvGraphicFramePr>
          <p:cNvPr id="38" name="Object 41">
            <a:extLst>
              <a:ext uri="{FF2B5EF4-FFF2-40B4-BE49-F238E27FC236}">
                <a16:creationId xmlns:a16="http://schemas.microsoft.com/office/drawing/2014/main" id="{BD7EC75D-192C-1EE2-F958-24DB96D2C8D7}"/>
              </a:ext>
            </a:extLst>
          </p:cNvPr>
          <p:cNvGraphicFramePr>
            <a:graphicFrameLocks noChangeAspect="1"/>
          </p:cNvGraphicFramePr>
          <p:nvPr>
            <p:extLst>
              <p:ext uri="{D42A27DB-BD31-4B8C-83A1-F6EECF244321}">
                <p14:modId xmlns:p14="http://schemas.microsoft.com/office/powerpoint/2010/main" val="553973334"/>
              </p:ext>
            </p:extLst>
          </p:nvPr>
        </p:nvGraphicFramePr>
        <p:xfrm>
          <a:off x="2283708" y="3953445"/>
          <a:ext cx="6329363" cy="996950"/>
        </p:xfrm>
        <a:graphic>
          <a:graphicData uri="http://schemas.openxmlformats.org/presentationml/2006/ole">
            <mc:AlternateContent xmlns:mc="http://schemas.openxmlformats.org/markup-compatibility/2006">
              <mc:Choice xmlns:v="urn:schemas-microsoft-com:vml" Requires="v">
                <p:oleObj spid="_x0000_s12378" name="Equation" r:id="rId7" imgW="2603160" imgH="419040" progId="Equation.DSMT4">
                  <p:embed/>
                </p:oleObj>
              </mc:Choice>
              <mc:Fallback>
                <p:oleObj name="Equation" r:id="rId7" imgW="2603160" imgH="419040" progId="Equation.DSMT4">
                  <p:embed/>
                  <p:pic>
                    <p:nvPicPr>
                      <p:cNvPr id="0" name=""/>
                      <p:cNvPicPr>
                        <a:picLocks noChangeAspect="1" noChangeArrowheads="1"/>
                      </p:cNvPicPr>
                      <p:nvPr/>
                    </p:nvPicPr>
                    <p:blipFill>
                      <a:blip r:embed="rId8"/>
                      <a:srcRect/>
                      <a:stretch>
                        <a:fillRect/>
                      </a:stretch>
                    </p:blipFill>
                    <p:spPr bwMode="auto">
                      <a:xfrm>
                        <a:off x="2283708" y="3953445"/>
                        <a:ext cx="6329363" cy="996950"/>
                      </a:xfrm>
                      <a:prstGeom prst="rect">
                        <a:avLst/>
                      </a:prstGeom>
                      <a:noFill/>
                      <a:ln>
                        <a:noFill/>
                      </a:ln>
                    </p:spPr>
                  </p:pic>
                </p:oleObj>
              </mc:Fallback>
            </mc:AlternateContent>
          </a:graphicData>
        </a:graphic>
      </p:graphicFrame>
      <p:sp>
        <p:nvSpPr>
          <p:cNvPr id="39" name="Text Box 1032"/>
          <p:cNvSpPr txBox="1">
            <a:spLocks noChangeArrowheads="1"/>
          </p:cNvSpPr>
          <p:nvPr/>
        </p:nvSpPr>
        <p:spPr bwMode="auto">
          <a:xfrm>
            <a:off x="631034" y="4818297"/>
            <a:ext cx="112185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r>
              <a:rPr kumimoji="1" lang="en-US" altLang="zh-CN" sz="2800" b="0" dirty="0">
                <a:latin typeface="+mj-lt"/>
                <a:ea typeface="微软雅黑" panose="020B0503020204020204" pitchFamily="34" charset="-122"/>
              </a:rPr>
              <a:t>y</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为面积</a:t>
            </a:r>
            <a:r>
              <a:rPr kumimoji="1" lang="en-US" altLang="zh-CN" sz="2800" b="0" dirty="0">
                <a:latin typeface="+mj-lt"/>
                <a:ea typeface="微软雅黑" panose="020B0503020204020204" pitchFamily="34" charset="-122"/>
              </a:rPr>
              <a:t>A</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的形心坐标。</a:t>
            </a:r>
          </a:p>
        </p:txBody>
      </p:sp>
      <p:graphicFrame>
        <p:nvGraphicFramePr>
          <p:cNvPr id="40" name="Object 41">
            <a:extLst>
              <a:ext uri="{FF2B5EF4-FFF2-40B4-BE49-F238E27FC236}">
                <a16:creationId xmlns:a16="http://schemas.microsoft.com/office/drawing/2014/main" id="{BD7EC75D-192C-1EE2-F958-24DB96D2C8D7}"/>
              </a:ext>
            </a:extLst>
          </p:cNvPr>
          <p:cNvGraphicFramePr>
            <a:graphicFrameLocks noChangeAspect="1"/>
          </p:cNvGraphicFramePr>
          <p:nvPr>
            <p:extLst>
              <p:ext uri="{D42A27DB-BD31-4B8C-83A1-F6EECF244321}">
                <p14:modId xmlns:p14="http://schemas.microsoft.com/office/powerpoint/2010/main" val="4170152921"/>
              </p:ext>
            </p:extLst>
          </p:nvPr>
        </p:nvGraphicFramePr>
        <p:xfrm>
          <a:off x="2057400" y="5284785"/>
          <a:ext cx="3089275" cy="1090612"/>
        </p:xfrm>
        <a:graphic>
          <a:graphicData uri="http://schemas.openxmlformats.org/presentationml/2006/ole">
            <mc:AlternateContent xmlns:mc="http://schemas.openxmlformats.org/markup-compatibility/2006">
              <mc:Choice xmlns:v="urn:schemas-microsoft-com:vml" Requires="v">
                <p:oleObj spid="_x0000_s12379" name="Equation" r:id="rId9" imgW="1269720" imgH="457200" progId="Equation.DSMT4">
                  <p:embed/>
                </p:oleObj>
              </mc:Choice>
              <mc:Fallback>
                <p:oleObj name="Equation" r:id="rId9" imgW="1269720" imgH="457200" progId="Equation.DSMT4">
                  <p:embed/>
                  <p:pic>
                    <p:nvPicPr>
                      <p:cNvPr id="0" name=""/>
                      <p:cNvPicPr>
                        <a:picLocks noChangeAspect="1" noChangeArrowheads="1"/>
                      </p:cNvPicPr>
                      <p:nvPr/>
                    </p:nvPicPr>
                    <p:blipFill>
                      <a:blip r:embed="rId10"/>
                      <a:srcRect/>
                      <a:stretch>
                        <a:fillRect/>
                      </a:stretch>
                    </p:blipFill>
                    <p:spPr bwMode="auto">
                      <a:xfrm>
                        <a:off x="2057400" y="5284785"/>
                        <a:ext cx="3089275" cy="10906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780635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3000"/>
                                        <p:tgtEl>
                                          <p:spTgt spid="35"/>
                                        </p:tgtEl>
                                      </p:cBhvr>
                                    </p:animEffect>
                                  </p:childTnLst>
                                  <p:subTnLst>
                                    <p:audio>
                                      <p:cMediaNode>
                                        <p:cTn display="0" masterRel="sameClick">
                                          <p:stCondLst>
                                            <p:cond evt="begin" delay="0">
                                              <p:tn val="9"/>
                                            </p:cond>
                                          </p:stCondLst>
                                          <p:endCondLst>
                                            <p:cond evt="onStopAudio" delay="0">
                                              <p:tgtEl>
                                                <p:sldTgt/>
                                              </p:tgtEl>
                                            </p:cond>
                                          </p:endCondLst>
                                        </p:cTn>
                                        <p:tgtEl>
                                          <p:sndTgt r:embed="rId4"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3000"/>
                                        <p:tgtEl>
                                          <p:spTgt spid="38"/>
                                        </p:tgtEl>
                                      </p:cBhvr>
                                    </p:animEffect>
                                  </p:childTnLst>
                                  <p:subTnLst>
                                    <p:audio>
                                      <p:cMediaNode>
                                        <p:cTn display="0" masterRel="sameClick">
                                          <p:stCondLst>
                                            <p:cond evt="begin" delay="0">
                                              <p:tn val="18"/>
                                            </p:cond>
                                          </p:stCondLst>
                                          <p:endCondLst>
                                            <p:cond evt="onStopAudio" delay="0">
                                              <p:tgtEl>
                                                <p:sldTgt/>
                                              </p:tgtEl>
                                            </p:cond>
                                          </p:endCondLst>
                                        </p:cTn>
                                        <p:tgtEl>
                                          <p:sndTgt r:embed="rId4"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left)">
                                      <p:cBhvr>
                                        <p:cTn id="29" dur="3000"/>
                                        <p:tgtEl>
                                          <p:spTgt spid="40"/>
                                        </p:tgtEl>
                                      </p:cBhvr>
                                    </p:animEffect>
                                  </p:childTnLst>
                                  <p:subTnLst>
                                    <p:audio>
                                      <p:cMediaNode>
                                        <p:cTn display="0" masterRel="sameClick">
                                          <p:stCondLst>
                                            <p:cond evt="begin" delay="0">
                                              <p:tn val="27"/>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utoUpdateAnimBg="0"/>
      <p:bldP spid="36" grpId="0" autoUpdateAnimBg="0"/>
      <p:bldP spid="39"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104112" y="894711"/>
            <a:ext cx="4968551" cy="2858325"/>
          </a:xfrm>
          <a:prstGeom prst="rect">
            <a:avLst/>
          </a:prstGeom>
          <a:solidFill>
            <a:srgbClr val="B9CDE5"/>
          </a:solidFill>
          <a:ln>
            <a:noFill/>
          </a:ln>
          <a:effectLst/>
        </p:spPr>
        <p:txBody>
          <a:bodyPr wrap="none" anchor="ctr"/>
          <a:lstStyle/>
          <a:p>
            <a:endParaRPr lang="zh-CN" altLang="en-US" dirty="0"/>
          </a:p>
        </p:txBody>
      </p:sp>
      <p:grpSp>
        <p:nvGrpSpPr>
          <p:cNvPr id="91" name="Group 4"/>
          <p:cNvGrpSpPr>
            <a:grpSpLocks/>
          </p:cNvGrpSpPr>
          <p:nvPr/>
        </p:nvGrpSpPr>
        <p:grpSpPr bwMode="auto">
          <a:xfrm>
            <a:off x="8615878" y="931263"/>
            <a:ext cx="2308226" cy="2967038"/>
            <a:chOff x="3723" y="544"/>
            <a:chExt cx="1454" cy="1869"/>
          </a:xfrm>
        </p:grpSpPr>
        <p:sp>
          <p:nvSpPr>
            <p:cNvPr id="94" name="Line 7"/>
            <p:cNvSpPr>
              <a:spLocks noChangeAspect="1" noChangeShapeType="1"/>
            </p:cNvSpPr>
            <p:nvPr/>
          </p:nvSpPr>
          <p:spPr bwMode="auto">
            <a:xfrm>
              <a:off x="3723" y="1383"/>
              <a:ext cx="862" cy="0"/>
            </a:xfrm>
            <a:prstGeom prst="line">
              <a:avLst/>
            </a:prstGeom>
            <a:noFill/>
            <a:ln w="12700">
              <a:solidFill>
                <a:srgbClr val="000000"/>
              </a:solidFill>
              <a:prstDash val="dashDot"/>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5" name="Line 8"/>
            <p:cNvSpPr>
              <a:spLocks noChangeAspect="1" noChangeShapeType="1"/>
            </p:cNvSpPr>
            <p:nvPr/>
          </p:nvSpPr>
          <p:spPr bwMode="auto">
            <a:xfrm flipH="1" flipV="1">
              <a:off x="4118" y="666"/>
              <a:ext cx="0" cy="1459"/>
            </a:xfrm>
            <a:prstGeom prst="line">
              <a:avLst/>
            </a:prstGeom>
            <a:noFill/>
            <a:ln w="9525">
              <a:solidFill>
                <a:srgbClr val="000000"/>
              </a:solidFill>
              <a:prstDash val="dashDot"/>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6" name="Text Box 9"/>
            <p:cNvSpPr txBox="1">
              <a:spLocks noChangeAspect="1" noChangeArrowheads="1"/>
            </p:cNvSpPr>
            <p:nvPr/>
          </p:nvSpPr>
          <p:spPr bwMode="auto">
            <a:xfrm>
              <a:off x="4387" y="1133"/>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z</a:t>
              </a:r>
            </a:p>
          </p:txBody>
        </p:sp>
        <p:sp>
          <p:nvSpPr>
            <p:cNvPr id="97" name="Text Box 10"/>
            <p:cNvSpPr txBox="1">
              <a:spLocks noChangeAspect="1" noChangeArrowheads="1"/>
            </p:cNvSpPr>
            <p:nvPr/>
          </p:nvSpPr>
          <p:spPr bwMode="auto">
            <a:xfrm>
              <a:off x="3866" y="544"/>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y</a:t>
              </a:r>
            </a:p>
          </p:txBody>
        </p:sp>
        <p:sp>
          <p:nvSpPr>
            <p:cNvPr id="62" name="Text Box 9"/>
            <p:cNvSpPr txBox="1">
              <a:spLocks noChangeAspect="1" noChangeArrowheads="1"/>
            </p:cNvSpPr>
            <p:nvPr/>
          </p:nvSpPr>
          <p:spPr bwMode="auto">
            <a:xfrm>
              <a:off x="4194" y="1402"/>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b</a:t>
              </a:r>
            </a:p>
          </p:txBody>
        </p:sp>
        <p:sp>
          <p:nvSpPr>
            <p:cNvPr id="63" name="Line 7"/>
            <p:cNvSpPr>
              <a:spLocks noChangeAspect="1" noChangeShapeType="1"/>
            </p:cNvSpPr>
            <p:nvPr/>
          </p:nvSpPr>
          <p:spPr bwMode="auto">
            <a:xfrm>
              <a:off x="4519" y="995"/>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4" name="Line 7"/>
            <p:cNvSpPr>
              <a:spLocks noChangeAspect="1" noChangeShapeType="1"/>
            </p:cNvSpPr>
            <p:nvPr/>
          </p:nvSpPr>
          <p:spPr bwMode="auto">
            <a:xfrm>
              <a:off x="4519" y="1810"/>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5" name="Text Box 9"/>
            <p:cNvSpPr txBox="1">
              <a:spLocks noChangeAspect="1" noChangeArrowheads="1"/>
            </p:cNvSpPr>
            <p:nvPr/>
          </p:nvSpPr>
          <p:spPr bwMode="auto">
            <a:xfrm>
              <a:off x="4614" y="1229"/>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h</a:t>
              </a:r>
            </a:p>
          </p:txBody>
        </p:sp>
        <p:sp>
          <p:nvSpPr>
            <p:cNvPr id="103" name="Line 7"/>
            <p:cNvSpPr>
              <a:spLocks noChangeAspect="1" noChangeShapeType="1"/>
            </p:cNvSpPr>
            <p:nvPr/>
          </p:nvSpPr>
          <p:spPr bwMode="auto">
            <a:xfrm>
              <a:off x="4721" y="857"/>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Line 7"/>
            <p:cNvSpPr>
              <a:spLocks noChangeAspect="1" noChangeShapeType="1"/>
            </p:cNvSpPr>
            <p:nvPr/>
          </p:nvSpPr>
          <p:spPr bwMode="auto">
            <a:xfrm>
              <a:off x="4721" y="1949"/>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Text Box 9"/>
            <p:cNvSpPr txBox="1">
              <a:spLocks noChangeAspect="1" noChangeArrowheads="1"/>
            </p:cNvSpPr>
            <p:nvPr/>
          </p:nvSpPr>
          <p:spPr bwMode="auto">
            <a:xfrm>
              <a:off x="4841" y="1229"/>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H</a:t>
              </a:r>
            </a:p>
          </p:txBody>
        </p:sp>
        <p:sp>
          <p:nvSpPr>
            <p:cNvPr id="125" name="Text Box 9"/>
            <p:cNvSpPr txBox="1">
              <a:spLocks noChangeAspect="1" noChangeArrowheads="1"/>
            </p:cNvSpPr>
            <p:nvPr/>
          </p:nvSpPr>
          <p:spPr bwMode="auto">
            <a:xfrm>
              <a:off x="3963" y="2077"/>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B</a:t>
              </a:r>
            </a:p>
          </p:txBody>
        </p:sp>
      </p:grpSp>
      <p:grpSp>
        <p:nvGrpSpPr>
          <p:cNvPr id="105" name="Group 18"/>
          <p:cNvGrpSpPr>
            <a:grpSpLocks noChangeAspect="1"/>
          </p:cNvGrpSpPr>
          <p:nvPr/>
        </p:nvGrpSpPr>
        <p:grpSpPr bwMode="auto">
          <a:xfrm>
            <a:off x="10769331" y="1644863"/>
            <a:ext cx="346446" cy="1298138"/>
            <a:chOff x="4920" y="1664"/>
            <a:chExt cx="156" cy="584"/>
          </a:xfrm>
        </p:grpSpPr>
        <p:sp>
          <p:nvSpPr>
            <p:cNvPr id="106" name="Arc 19" descr="浅色横线"/>
            <p:cNvSpPr>
              <a:spLocks noChangeAspect="1"/>
            </p:cNvSpPr>
            <p:nvPr/>
          </p:nvSpPr>
          <p:spPr bwMode="auto">
            <a:xfrm rot="5400000">
              <a:off x="4722" y="1901"/>
              <a:ext cx="583" cy="110"/>
            </a:xfrm>
            <a:custGeom>
              <a:avLst/>
              <a:gdLst>
                <a:gd name="T0" fmla="*/ 0 w 43200"/>
                <a:gd name="T1" fmla="*/ 1 h 24845"/>
                <a:gd name="T2" fmla="*/ 19 w 43200"/>
                <a:gd name="T3" fmla="*/ 1 h 24845"/>
                <a:gd name="T4" fmla="*/ 10 w 43200"/>
                <a:gd name="T5" fmla="*/ 1 h 24845"/>
                <a:gd name="T6" fmla="*/ 0 60000 65536"/>
                <a:gd name="T7" fmla="*/ 0 60000 65536"/>
                <a:gd name="T8" fmla="*/ 0 60000 65536"/>
                <a:gd name="T9" fmla="*/ 0 w 43200"/>
                <a:gd name="T10" fmla="*/ 0 h 24845"/>
                <a:gd name="T11" fmla="*/ 43200 w 43200"/>
                <a:gd name="T12" fmla="*/ 24845 h 24845"/>
              </a:gdLst>
              <a:ahLst/>
              <a:cxnLst>
                <a:cxn ang="T6">
                  <a:pos x="T0" y="T1"/>
                </a:cxn>
                <a:cxn ang="T7">
                  <a:pos x="T2" y="T3"/>
                </a:cxn>
                <a:cxn ang="T8">
                  <a:pos x="T4" y="T5"/>
                </a:cxn>
              </a:cxnLst>
              <a:rect l="T9" t="T10" r="T11" b="T12"/>
              <a:pathLst>
                <a:path w="43200" h="24845" fill="none"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path>
                <a:path w="43200" h="24845" stroke="0"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lnTo>
                    <a:pt x="21600" y="21600"/>
                  </a:lnTo>
                  <a:close/>
                </a:path>
              </a:pathLst>
            </a:custGeom>
            <a:pattFill prst="ltHorz">
              <a:fgClr>
                <a:srgbClr val="000000"/>
              </a:fgClr>
              <a:bgClr>
                <a:srgbClr val="FF0000"/>
              </a:bgClr>
            </a:pattFill>
            <a:ln w="28575">
              <a:solidFill>
                <a:srgbClr val="000000"/>
              </a:solidFill>
              <a:round/>
              <a:headEnd/>
              <a:tailEnd/>
            </a:ln>
          </p:spPr>
          <p:txBody>
            <a:bodyPr/>
            <a:lstStyle/>
            <a:p>
              <a:endParaRPr kumimoji="1" lang="zh-CN" altLang="en-US" b="0" i="0">
                <a:solidFill>
                  <a:srgbClr val="FFFFFF"/>
                </a:solidFill>
                <a:ea typeface="黑体" panose="02010609060101010101" pitchFamily="49" charset="-122"/>
              </a:endParaRPr>
            </a:p>
          </p:txBody>
        </p:sp>
        <p:sp>
          <p:nvSpPr>
            <p:cNvPr id="107" name="Line 20"/>
            <p:cNvSpPr>
              <a:spLocks noChangeAspect="1" noChangeShapeType="1"/>
            </p:cNvSpPr>
            <p:nvPr/>
          </p:nvSpPr>
          <p:spPr bwMode="auto">
            <a:xfrm>
              <a:off x="4925" y="1665"/>
              <a:ext cx="0" cy="58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8" name="Line 21"/>
            <p:cNvSpPr>
              <a:spLocks noChangeAspect="1" noChangeShapeType="1"/>
            </p:cNvSpPr>
            <p:nvPr/>
          </p:nvSpPr>
          <p:spPr bwMode="auto">
            <a:xfrm>
              <a:off x="4920" y="1943"/>
              <a:ext cx="15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09" name="Text Box 22"/>
          <p:cNvSpPr txBox="1">
            <a:spLocks noChangeAspect="1" noChangeArrowheads="1"/>
          </p:cNvSpPr>
          <p:nvPr/>
        </p:nvSpPr>
        <p:spPr bwMode="auto">
          <a:xfrm>
            <a:off x="11067464" y="1904197"/>
            <a:ext cx="914904"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 pitchFamily="18" charset="-52"/>
                <a:ea typeface="宋体" panose="02010600030101010101" pitchFamily="2" charset="-122"/>
              </a:rPr>
              <a:t>max</a:t>
            </a:r>
          </a:p>
        </p:txBody>
      </p:sp>
      <p:sp>
        <p:nvSpPr>
          <p:cNvPr id="176" name="Text Box 1032"/>
          <p:cNvSpPr txBox="1">
            <a:spLocks noChangeArrowheads="1"/>
          </p:cNvSpPr>
          <p:nvPr/>
        </p:nvSpPr>
        <p:spPr bwMode="auto">
          <a:xfrm>
            <a:off x="440658" y="837144"/>
            <a:ext cx="6442137"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．横截面上的最大切应力公式</a:t>
            </a:r>
            <a:endParaRPr kumimoji="1" lang="en-US" altLang="zh-CN" sz="2800" i="0" dirty="0">
              <a:solidFill>
                <a:srgbClr val="FF00FF"/>
              </a:solidFill>
              <a:latin typeface="+mn-lt"/>
              <a:ea typeface="微软雅黑" panose="020B0503020204020204" pitchFamily="34" charset="-122"/>
            </a:endParaRPr>
          </a:p>
          <a:p>
            <a:pPr algn="just">
              <a:lnSpc>
                <a:spcPct val="130000"/>
              </a:lnSpc>
            </a:pPr>
            <a:r>
              <a:rPr kumimoji="1" lang="zh-CN" altLang="en-US" sz="2800" i="0" dirty="0">
                <a:latin typeface="+mn-lt"/>
                <a:ea typeface="微软雅黑" panose="020B0503020204020204" pitchFamily="34" charset="-122"/>
              </a:rPr>
              <a:t>对于矩形截面梁，其横截面上最大切应力发生在中性轴上（即</a:t>
            </a:r>
            <a:r>
              <a:rPr kumimoji="1" lang="en-US" altLang="zh-CN" sz="2800" b="0" dirty="0">
                <a:latin typeface="+mn-lt"/>
                <a:ea typeface="微软雅黑" panose="020B0503020204020204" pitchFamily="34" charset="-122"/>
              </a:rPr>
              <a:t>y</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a:t>
            </a:r>
            <a:r>
              <a:rPr kumimoji="1" lang="zh-CN" altLang="en-US" sz="2800" i="0" dirty="0">
                <a:latin typeface="+mn-lt"/>
                <a:ea typeface="微软雅黑" panose="020B0503020204020204" pitchFamily="34" charset="-122"/>
              </a:rPr>
              <a:t>处），为</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=3</a:t>
            </a:r>
            <a:r>
              <a:rPr kumimoji="1" lang="en-US" altLang="zh-CN" sz="2800" b="0" dirty="0">
                <a:latin typeface="+mn-lt"/>
                <a:ea typeface="微软雅黑" panose="020B0503020204020204" pitchFamily="34" charset="-122"/>
              </a:rPr>
              <a:t>F</a:t>
            </a:r>
            <a:r>
              <a:rPr kumimoji="1" lang="en-US" altLang="zh-CN" sz="2800" b="0" i="0" dirty="0">
                <a:latin typeface="+mn-lt"/>
                <a:ea typeface="微软雅黑" panose="020B0503020204020204" pitchFamily="34" charset="-122"/>
              </a:rPr>
              <a:t>/2</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p:txBody>
      </p:sp>
      <p:cxnSp>
        <p:nvCxnSpPr>
          <p:cNvPr id="3" name="直接连接符 2"/>
          <p:cNvCxnSpPr/>
          <p:nvPr/>
        </p:nvCxnSpPr>
        <p:spPr bwMode="auto">
          <a:xfrm>
            <a:off x="8657151" y="1428839"/>
            <a:ext cx="1173163"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5"/>
          <p:cNvCxnSpPr/>
          <p:nvPr/>
        </p:nvCxnSpPr>
        <p:spPr bwMode="auto">
          <a:xfrm>
            <a:off x="8662427" y="1428839"/>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8657151" y="1644863"/>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9824991" y="1428839"/>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9361806" y="1644863"/>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9120336" y="1644863"/>
            <a:ext cx="0" cy="129614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9361806" y="1644863"/>
            <a:ext cx="0" cy="129614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8657151" y="3162147"/>
            <a:ext cx="1173163"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8662427" y="2946123"/>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8657151" y="2941007"/>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9824991" y="2946123"/>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9361806" y="2941007"/>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10769782" y="1644863"/>
            <a:ext cx="12951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10769782" y="2941007"/>
            <a:ext cx="144016"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a:off x="9120336" y="2580967"/>
            <a:ext cx="241470" cy="0"/>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箭头连接符 63"/>
          <p:cNvCxnSpPr/>
          <p:nvPr/>
        </p:nvCxnSpPr>
        <p:spPr bwMode="auto">
          <a:xfrm>
            <a:off x="10061296" y="1644863"/>
            <a:ext cx="0" cy="1296144"/>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22"/>
          <p:cNvSpPr txBox="1">
            <a:spLocks noChangeAspect="1" noChangeArrowheads="1"/>
          </p:cNvSpPr>
          <p:nvPr/>
        </p:nvSpPr>
        <p:spPr bwMode="auto">
          <a:xfrm>
            <a:off x="11067464" y="1135520"/>
            <a:ext cx="914904"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 pitchFamily="18" charset="-52"/>
                <a:ea typeface="宋体" panose="02010600030101010101" pitchFamily="2" charset="-122"/>
              </a:rPr>
              <a:t>min</a:t>
            </a:r>
          </a:p>
        </p:txBody>
      </p:sp>
      <p:cxnSp>
        <p:nvCxnSpPr>
          <p:cNvPr id="102" name="直接箭头连接符 101"/>
          <p:cNvCxnSpPr/>
          <p:nvPr/>
        </p:nvCxnSpPr>
        <p:spPr bwMode="auto">
          <a:xfrm>
            <a:off x="10416480" y="1428151"/>
            <a:ext cx="0" cy="1733550"/>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箭头连接符 110"/>
          <p:cNvCxnSpPr/>
          <p:nvPr/>
        </p:nvCxnSpPr>
        <p:spPr bwMode="auto">
          <a:xfrm>
            <a:off x="8657151" y="3356992"/>
            <a:ext cx="1167840" cy="0"/>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Line 12">
            <a:extLst>
              <a:ext uri="{FF2B5EF4-FFF2-40B4-BE49-F238E27FC236}">
                <a16:creationId xmlns:a16="http://schemas.microsoft.com/office/drawing/2014/main" id="{135DD5FE-6D0A-E638-022B-C8E13EE6CC27}"/>
              </a:ext>
            </a:extLst>
          </p:cNvPr>
          <p:cNvSpPr>
            <a:spLocks noChangeAspect="1" noChangeShapeType="1"/>
          </p:cNvSpPr>
          <p:nvPr/>
        </p:nvSpPr>
        <p:spPr bwMode="auto">
          <a:xfrm>
            <a:off x="8657151" y="3216676"/>
            <a:ext cx="0" cy="2843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Line 12">
            <a:extLst>
              <a:ext uri="{FF2B5EF4-FFF2-40B4-BE49-F238E27FC236}">
                <a16:creationId xmlns:a16="http://schemas.microsoft.com/office/drawing/2014/main" id="{135DD5FE-6D0A-E638-022B-C8E13EE6CC27}"/>
              </a:ext>
            </a:extLst>
          </p:cNvPr>
          <p:cNvSpPr>
            <a:spLocks noChangeAspect="1" noChangeShapeType="1"/>
          </p:cNvSpPr>
          <p:nvPr/>
        </p:nvSpPr>
        <p:spPr bwMode="auto">
          <a:xfrm>
            <a:off x="9824991" y="3216676"/>
            <a:ext cx="0" cy="2843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aphicFrame>
        <p:nvGraphicFramePr>
          <p:cNvPr id="126" name="Object 24"/>
          <p:cNvGraphicFramePr>
            <a:graphicFrameLocks noChangeAspect="1"/>
          </p:cNvGraphicFramePr>
          <p:nvPr>
            <p:extLst>
              <p:ext uri="{D42A27DB-BD31-4B8C-83A1-F6EECF244321}">
                <p14:modId xmlns:p14="http://schemas.microsoft.com/office/powerpoint/2010/main" val="2540160317"/>
              </p:ext>
            </p:extLst>
          </p:nvPr>
        </p:nvGraphicFramePr>
        <p:xfrm>
          <a:off x="531813" y="3960214"/>
          <a:ext cx="3884612" cy="977900"/>
        </p:xfrm>
        <a:graphic>
          <a:graphicData uri="http://schemas.openxmlformats.org/presentationml/2006/ole">
            <mc:AlternateContent xmlns:mc="http://schemas.openxmlformats.org/markup-compatibility/2006">
              <mc:Choice xmlns:v="urn:schemas-microsoft-com:vml" Requires="v">
                <p:oleObj spid="_x0000_s23626" name="Equation" r:id="rId4" imgW="1917360" imgH="482400" progId="Equation.DSMT4">
                  <p:embed/>
                </p:oleObj>
              </mc:Choice>
              <mc:Fallback>
                <p:oleObj name="Equation" r:id="rId4" imgW="1917360" imgH="482400" progId="Equation.DSMT4">
                  <p:embed/>
                  <p:pic>
                    <p:nvPicPr>
                      <p:cNvPr id="0" name=""/>
                      <p:cNvPicPr>
                        <a:picLocks noChangeAspect="1" noChangeArrowheads="1"/>
                      </p:cNvPicPr>
                      <p:nvPr/>
                    </p:nvPicPr>
                    <p:blipFill>
                      <a:blip r:embed="rId5"/>
                      <a:srcRect/>
                      <a:stretch>
                        <a:fillRect/>
                      </a:stretch>
                    </p:blipFill>
                    <p:spPr bwMode="auto">
                      <a:xfrm>
                        <a:off x="531813" y="3960214"/>
                        <a:ext cx="3884612"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 name="Object 25"/>
          <p:cNvGraphicFramePr>
            <a:graphicFrameLocks noChangeAspect="1"/>
          </p:cNvGraphicFramePr>
          <p:nvPr>
            <p:extLst>
              <p:ext uri="{D42A27DB-BD31-4B8C-83A1-F6EECF244321}">
                <p14:modId xmlns:p14="http://schemas.microsoft.com/office/powerpoint/2010/main" val="2674487868"/>
              </p:ext>
            </p:extLst>
          </p:nvPr>
        </p:nvGraphicFramePr>
        <p:xfrm>
          <a:off x="4882071" y="3885962"/>
          <a:ext cx="3363912" cy="1022350"/>
        </p:xfrm>
        <a:graphic>
          <a:graphicData uri="http://schemas.openxmlformats.org/presentationml/2006/ole">
            <mc:AlternateContent xmlns:mc="http://schemas.openxmlformats.org/markup-compatibility/2006">
              <mc:Choice xmlns:v="urn:schemas-microsoft-com:vml" Requires="v">
                <p:oleObj spid="_x0000_s23627" name="Equation" r:id="rId6" imgW="1587240" imgH="482400" progId="Equation.DSMT4">
                  <p:embed/>
                </p:oleObj>
              </mc:Choice>
              <mc:Fallback>
                <p:oleObj name="Equation" r:id="rId6" imgW="1587240" imgH="482400" progId="Equation.DSMT4">
                  <p:embed/>
                  <p:pic>
                    <p:nvPicPr>
                      <p:cNvPr id="0" name=""/>
                      <p:cNvPicPr>
                        <a:picLocks noChangeAspect="1" noChangeArrowheads="1"/>
                      </p:cNvPicPr>
                      <p:nvPr/>
                    </p:nvPicPr>
                    <p:blipFill>
                      <a:blip r:embed="rId7"/>
                      <a:srcRect/>
                      <a:stretch>
                        <a:fillRect/>
                      </a:stretch>
                    </p:blipFill>
                    <p:spPr bwMode="auto">
                      <a:xfrm>
                        <a:off x="4882071" y="3885962"/>
                        <a:ext cx="3363912"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 name="Object 26"/>
          <p:cNvGraphicFramePr>
            <a:graphicFrameLocks noChangeAspect="1"/>
          </p:cNvGraphicFramePr>
          <p:nvPr>
            <p:extLst>
              <p:ext uri="{D42A27DB-BD31-4B8C-83A1-F6EECF244321}">
                <p14:modId xmlns:p14="http://schemas.microsoft.com/office/powerpoint/2010/main" val="957084665"/>
              </p:ext>
            </p:extLst>
          </p:nvPr>
        </p:nvGraphicFramePr>
        <p:xfrm>
          <a:off x="9150866" y="4173720"/>
          <a:ext cx="1457325" cy="514350"/>
        </p:xfrm>
        <a:graphic>
          <a:graphicData uri="http://schemas.openxmlformats.org/presentationml/2006/ole">
            <mc:AlternateContent xmlns:mc="http://schemas.openxmlformats.org/markup-compatibility/2006">
              <mc:Choice xmlns:v="urn:schemas-microsoft-com:vml" Requires="v">
                <p:oleObj spid="_x0000_s23628" name="Equation" r:id="rId8" imgW="647640" imgH="228600" progId="Equation.3">
                  <p:embed/>
                </p:oleObj>
              </mc:Choice>
              <mc:Fallback>
                <p:oleObj name="Equation" r:id="rId8" imgW="64764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0866" y="4173720"/>
                        <a:ext cx="145732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 name="Object 28"/>
          <p:cNvGraphicFramePr>
            <a:graphicFrameLocks noChangeAspect="1"/>
          </p:cNvGraphicFramePr>
          <p:nvPr>
            <p:extLst>
              <p:ext uri="{D42A27DB-BD31-4B8C-83A1-F6EECF244321}">
                <p14:modId xmlns:p14="http://schemas.microsoft.com/office/powerpoint/2010/main" val="692233394"/>
              </p:ext>
            </p:extLst>
          </p:nvPr>
        </p:nvGraphicFramePr>
        <p:xfrm>
          <a:off x="6477000" y="5357813"/>
          <a:ext cx="1065213" cy="950912"/>
        </p:xfrm>
        <a:graphic>
          <a:graphicData uri="http://schemas.openxmlformats.org/presentationml/2006/ole">
            <mc:AlternateContent xmlns:mc="http://schemas.openxmlformats.org/markup-compatibility/2006">
              <mc:Choice xmlns:v="urn:schemas-microsoft-com:vml" Requires="v">
                <p:oleObj spid="_x0000_s23629" name="Equation" r:id="rId10" imgW="469800" imgH="419040" progId="Equation.DSMT4">
                  <p:embed/>
                </p:oleObj>
              </mc:Choice>
              <mc:Fallback>
                <p:oleObj name="Equation" r:id="rId10" imgW="469800" imgH="419040" progId="Equation.DSMT4">
                  <p:embed/>
                  <p:pic>
                    <p:nvPicPr>
                      <p:cNvPr id="0" name=""/>
                      <p:cNvPicPr>
                        <a:picLocks noChangeAspect="1" noChangeArrowheads="1"/>
                      </p:cNvPicPr>
                      <p:nvPr/>
                    </p:nvPicPr>
                    <p:blipFill>
                      <a:blip r:embed="rId11"/>
                      <a:srcRect/>
                      <a:stretch>
                        <a:fillRect/>
                      </a:stretch>
                    </p:blipFill>
                    <p:spPr bwMode="auto">
                      <a:xfrm>
                        <a:off x="6477000" y="5357813"/>
                        <a:ext cx="1065213" cy="950912"/>
                      </a:xfrm>
                      <a:prstGeom prst="rect">
                        <a:avLst/>
                      </a:prstGeom>
                      <a:noFill/>
                      <a:ln>
                        <a:noFill/>
                      </a:ln>
                      <a:effectLst/>
                    </p:spPr>
                  </p:pic>
                </p:oleObj>
              </mc:Fallback>
            </mc:AlternateContent>
          </a:graphicData>
        </a:graphic>
      </p:graphicFrame>
      <p:sp>
        <p:nvSpPr>
          <p:cNvPr id="130" name="Text Box 1032"/>
          <p:cNvSpPr txBox="1">
            <a:spLocks noChangeArrowheads="1"/>
          </p:cNvSpPr>
          <p:nvPr/>
        </p:nvSpPr>
        <p:spPr bwMode="auto">
          <a:xfrm>
            <a:off x="440658" y="4779789"/>
            <a:ext cx="10167533"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kumimoji="1" lang="zh-CN" altLang="en-US" sz="2800" i="0" dirty="0">
                <a:latin typeface="+mn-lt"/>
                <a:ea typeface="微软雅黑" panose="020B0503020204020204" pitchFamily="34" charset="-122"/>
              </a:rPr>
              <a:t>翼缘上切应力分布较为复杂且量级很小，工字形截面梁的腹板承担了整个横截面</a:t>
            </a:r>
            <a:r>
              <a:rPr kumimoji="1" lang="en-US" altLang="zh-CN" sz="2800" i="0" dirty="0">
                <a:latin typeface="+mn-lt"/>
                <a:ea typeface="微软雅黑" panose="020B0503020204020204" pitchFamily="34" charset="-122"/>
              </a:rPr>
              <a:t>90%</a:t>
            </a:r>
            <a:r>
              <a:rPr kumimoji="1" lang="zh-CN" altLang="en-US" sz="2800" i="0" dirty="0">
                <a:latin typeface="+mn-lt"/>
                <a:ea typeface="微软雅黑" panose="020B0503020204020204" pitchFamily="34" charset="-122"/>
              </a:rPr>
              <a:t>以上</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endParaRPr kumimoji="1" lang="en-US" altLang="zh-CN" sz="2800" i="0" dirty="0">
              <a:latin typeface="+mn-lt"/>
              <a:ea typeface="微软雅黑" panose="020B0503020204020204" pitchFamily="34" charset="-122"/>
            </a:endParaRPr>
          </a:p>
        </p:txBody>
      </p:sp>
      <p:sp>
        <p:nvSpPr>
          <p:cNvPr id="150" name="Text Box 1032"/>
          <p:cNvSpPr txBox="1">
            <a:spLocks noChangeArrowheads="1"/>
          </p:cNvSpPr>
          <p:nvPr/>
        </p:nvSpPr>
        <p:spPr bwMode="auto">
          <a:xfrm>
            <a:off x="440658" y="3217538"/>
            <a:ext cx="6442137"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kumimoji="1" lang="zh-CN" altLang="en-US" sz="2800" i="0" dirty="0">
                <a:ea typeface="微软雅黑" panose="020B0503020204020204" pitchFamily="34" charset="-122"/>
              </a:rPr>
              <a:t>对于工字形截面梁</a:t>
            </a:r>
            <a:r>
              <a:rPr kumimoji="1" lang="zh-CN" altLang="en-US" sz="2800" i="0">
                <a:ea typeface="微软雅黑" panose="020B0503020204020204" pitchFamily="34" charset="-122"/>
              </a:rPr>
              <a:t>，腹板切应力</a:t>
            </a:r>
            <a:endParaRPr kumimoji="1" lang="en-US" altLang="zh-CN" sz="2800" i="0" dirty="0">
              <a:ea typeface="微软雅黑" panose="020B0503020204020204" pitchFamily="34" charset="-122"/>
            </a:endParaRPr>
          </a:p>
        </p:txBody>
      </p:sp>
    </p:spTree>
    <p:extLst>
      <p:ext uri="{BB962C8B-B14F-4D97-AF65-F5344CB8AC3E}">
        <p14:creationId xmlns:p14="http://schemas.microsoft.com/office/powerpoint/2010/main" val="179265264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26"/>
                                        </p:tgtEl>
                                        <p:attrNameLst>
                                          <p:attrName>style.visibility</p:attrName>
                                        </p:attrNameLst>
                                      </p:cBhvr>
                                      <p:to>
                                        <p:strVal val="visible"/>
                                      </p:to>
                                    </p:set>
                                    <p:anim calcmode="lin" valueType="num">
                                      <p:cBhvr additive="base">
                                        <p:cTn id="67" dur="500" fill="hold"/>
                                        <p:tgtEl>
                                          <p:spTgt spid="126"/>
                                        </p:tgtEl>
                                        <p:attrNameLst>
                                          <p:attrName>ppt_x</p:attrName>
                                        </p:attrNameLst>
                                      </p:cBhvr>
                                      <p:tavLst>
                                        <p:tav tm="0">
                                          <p:val>
                                            <p:strVal val="#ppt_x"/>
                                          </p:val>
                                        </p:tav>
                                        <p:tav tm="100000">
                                          <p:val>
                                            <p:strVal val="#ppt_x"/>
                                          </p:val>
                                        </p:tav>
                                      </p:tavLst>
                                    </p:anim>
                                    <p:anim calcmode="lin" valueType="num">
                                      <p:cBhvr additive="base">
                                        <p:cTn id="68"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7"/>
                                        </p:tgtEl>
                                        <p:attrNameLst>
                                          <p:attrName>style.visibility</p:attrName>
                                        </p:attrNameLst>
                                      </p:cBhvr>
                                      <p:to>
                                        <p:strVal val="visible"/>
                                      </p:to>
                                    </p:set>
                                    <p:anim calcmode="lin" valueType="num">
                                      <p:cBhvr additive="base">
                                        <p:cTn id="73" dur="500" fill="hold"/>
                                        <p:tgtEl>
                                          <p:spTgt spid="127"/>
                                        </p:tgtEl>
                                        <p:attrNameLst>
                                          <p:attrName>ppt_x</p:attrName>
                                        </p:attrNameLst>
                                      </p:cBhvr>
                                      <p:tavLst>
                                        <p:tav tm="0">
                                          <p:val>
                                            <p:strVal val="#ppt_x"/>
                                          </p:val>
                                        </p:tav>
                                        <p:tav tm="100000">
                                          <p:val>
                                            <p:strVal val="#ppt_x"/>
                                          </p:val>
                                        </p:tav>
                                      </p:tavLst>
                                    </p:anim>
                                    <p:anim calcmode="lin" valueType="num">
                                      <p:cBhvr additive="base">
                                        <p:cTn id="74"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28"/>
                                        </p:tgtEl>
                                        <p:attrNameLst>
                                          <p:attrName>style.visibility</p:attrName>
                                        </p:attrNameLst>
                                      </p:cBhvr>
                                      <p:to>
                                        <p:strVal val="visible"/>
                                      </p:to>
                                    </p:set>
                                    <p:anim calcmode="lin" valueType="num">
                                      <p:cBhvr additive="base">
                                        <p:cTn id="79" dur="500" fill="hold"/>
                                        <p:tgtEl>
                                          <p:spTgt spid="128"/>
                                        </p:tgtEl>
                                        <p:attrNameLst>
                                          <p:attrName>ppt_x</p:attrName>
                                        </p:attrNameLst>
                                      </p:cBhvr>
                                      <p:tavLst>
                                        <p:tav tm="0">
                                          <p:val>
                                            <p:strVal val="#ppt_x"/>
                                          </p:val>
                                        </p:tav>
                                        <p:tav tm="100000">
                                          <p:val>
                                            <p:strVal val="#ppt_x"/>
                                          </p:val>
                                        </p:tav>
                                      </p:tavLst>
                                    </p:anim>
                                    <p:anim calcmode="lin" valueType="num">
                                      <p:cBhvr additive="base">
                                        <p:cTn id="80" dur="500" fill="hold"/>
                                        <p:tgtEl>
                                          <p:spTgt spid="128"/>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29"/>
                                        </p:tgtEl>
                                        <p:attrNameLst>
                                          <p:attrName>style.visibility</p:attrName>
                                        </p:attrNameLst>
                                      </p:cBhvr>
                                      <p:to>
                                        <p:strVal val="visible"/>
                                      </p:to>
                                    </p:set>
                                    <p:anim calcmode="lin" valueType="num">
                                      <p:cBhvr additive="base">
                                        <p:cTn id="89" dur="500" fill="hold"/>
                                        <p:tgtEl>
                                          <p:spTgt spid="129"/>
                                        </p:tgtEl>
                                        <p:attrNameLst>
                                          <p:attrName>ppt_x</p:attrName>
                                        </p:attrNameLst>
                                      </p:cBhvr>
                                      <p:tavLst>
                                        <p:tav tm="0">
                                          <p:val>
                                            <p:strVal val="#ppt_x"/>
                                          </p:val>
                                        </p:tav>
                                        <p:tav tm="100000">
                                          <p:val>
                                            <p:strVal val="#ppt_x"/>
                                          </p:val>
                                        </p:tav>
                                      </p:tavLst>
                                    </p:anim>
                                    <p:anim calcmode="lin" valueType="num">
                                      <p:cBhvr additive="base">
                                        <p:cTn id="90"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9" grpId="0"/>
      <p:bldP spid="176" grpId="0" autoUpdateAnimBg="0"/>
      <p:bldP spid="82" grpId="0"/>
      <p:bldP spid="115" grpId="0" animBg="1"/>
      <p:bldP spid="124" grpId="0" animBg="1"/>
      <p:bldP spid="130" grpId="0" autoUpdateAnimBg="0"/>
      <p:bldP spid="150"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128153" y="1376772"/>
            <a:ext cx="4968551" cy="3163804"/>
          </a:xfrm>
          <a:prstGeom prst="rect">
            <a:avLst/>
          </a:prstGeom>
          <a:solidFill>
            <a:srgbClr val="B9CDE5"/>
          </a:solidFill>
          <a:ln>
            <a:noFill/>
          </a:ln>
          <a:effectLst/>
        </p:spPr>
        <p:txBody>
          <a:bodyPr wrap="none" anchor="ctr"/>
          <a:lstStyle/>
          <a:p>
            <a:endParaRPr lang="zh-CN" altLang="en-US" dirty="0"/>
          </a:p>
        </p:txBody>
      </p:sp>
      <p:sp>
        <p:nvSpPr>
          <p:cNvPr id="176" name="Text Box 1032"/>
          <p:cNvSpPr txBox="1">
            <a:spLocks noChangeArrowheads="1"/>
          </p:cNvSpPr>
          <p:nvPr/>
        </p:nvSpPr>
        <p:spPr bwMode="auto">
          <a:xfrm>
            <a:off x="440658" y="1448616"/>
            <a:ext cx="6442137" cy="2276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ea typeface="微软雅黑" panose="020B0503020204020204" pitchFamily="34" charset="-122"/>
              </a:rPr>
              <a:t>同样，圆形截面梁和圆环形截面梁的最大切应力，也发生在各自的中性轴上。对于圆形截面梁，</a:t>
            </a:r>
            <a:r>
              <a:rPr kumimoji="1" lang="zh-CN" altLang="en-US" sz="2800" b="0" dirty="0">
                <a:ea typeface="微软雅黑" panose="020B0503020204020204" pitchFamily="34" charset="-122"/>
                <a:sym typeface="Symbol" panose="05050102010706020507" pitchFamily="18" charset="2"/>
              </a:rPr>
              <a:t></a:t>
            </a:r>
            <a:r>
              <a:rPr kumimoji="1" lang="en-US" altLang="zh-CN" sz="2800" b="0" i="0" baseline="-25000" dirty="0">
                <a:ea typeface="微软雅黑" panose="020B0503020204020204" pitchFamily="34" charset="-122"/>
              </a:rPr>
              <a:t>max</a:t>
            </a:r>
            <a:r>
              <a:rPr kumimoji="1" lang="en-US" altLang="zh-CN" sz="2800" b="0" i="0" dirty="0">
                <a:ea typeface="微软雅黑" panose="020B0503020204020204" pitchFamily="34" charset="-122"/>
              </a:rPr>
              <a:t>=4</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dirty="0">
                <a:ea typeface="微软雅黑" panose="020B0503020204020204" pitchFamily="34" charset="-122"/>
              </a:rPr>
              <a:t>/</a:t>
            </a:r>
            <a:r>
              <a:rPr kumimoji="1" lang="en-US" altLang="zh-CN" sz="2800" b="0" i="0" dirty="0">
                <a:ea typeface="微软雅黑" panose="020B0503020204020204" pitchFamily="34" charset="-122"/>
              </a:rPr>
              <a:t>3</a:t>
            </a:r>
            <a:r>
              <a:rPr kumimoji="1" lang="en-US" altLang="zh-CN" sz="2800" b="0" dirty="0">
                <a:ea typeface="微软雅黑" panose="020B0503020204020204" pitchFamily="34" charset="-122"/>
              </a:rPr>
              <a:t>A</a:t>
            </a:r>
            <a:r>
              <a:rPr kumimoji="1" lang="zh-CN" altLang="en-US" sz="2800" i="0" dirty="0">
                <a:ea typeface="微软雅黑" panose="020B0503020204020204" pitchFamily="34" charset="-122"/>
              </a:rPr>
              <a:t>；对于圆环形截面梁；</a:t>
            </a:r>
            <a:r>
              <a:rPr kumimoji="1" lang="zh-CN" altLang="en-US" sz="2800" b="0" dirty="0">
                <a:ea typeface="微软雅黑" panose="020B0503020204020204" pitchFamily="34" charset="-122"/>
                <a:sym typeface="Symbol" panose="05050102010706020507" pitchFamily="18" charset="2"/>
              </a:rPr>
              <a:t></a:t>
            </a:r>
            <a:r>
              <a:rPr kumimoji="1" lang="en-US" altLang="zh-CN" sz="2800" b="0" i="0" baseline="-25000" dirty="0">
                <a:ea typeface="微软雅黑" panose="020B0503020204020204" pitchFamily="34" charset="-122"/>
              </a:rPr>
              <a:t>max</a:t>
            </a:r>
            <a:r>
              <a:rPr kumimoji="1" lang="en-US" altLang="zh-CN" sz="2800" b="0" i="0" dirty="0">
                <a:ea typeface="微软雅黑" panose="020B0503020204020204" pitchFamily="34" charset="-122"/>
              </a:rPr>
              <a:t>=2</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dirty="0">
                <a:ea typeface="微软雅黑" panose="020B0503020204020204" pitchFamily="34" charset="-122"/>
              </a:rPr>
              <a:t>/A</a:t>
            </a:r>
            <a:r>
              <a:rPr kumimoji="1" lang="zh-CN" altLang="en-US" sz="2800" i="0" dirty="0">
                <a:ea typeface="微软雅黑" panose="020B0503020204020204" pitchFamily="34" charset="-122"/>
              </a:rPr>
              <a:t>。 </a:t>
            </a:r>
          </a:p>
        </p:txBody>
      </p:sp>
      <p:grpSp>
        <p:nvGrpSpPr>
          <p:cNvPr id="78" name="Group 4">
            <a:extLst>
              <a:ext uri="{FF2B5EF4-FFF2-40B4-BE49-F238E27FC236}">
                <a16:creationId xmlns:a16="http://schemas.microsoft.com/office/drawing/2014/main" id="{C1BAA4CA-5BD2-959E-9A9E-B49B12393CD3}"/>
              </a:ext>
            </a:extLst>
          </p:cNvPr>
          <p:cNvGrpSpPr>
            <a:grpSpLocks/>
          </p:cNvGrpSpPr>
          <p:nvPr/>
        </p:nvGrpSpPr>
        <p:grpSpPr bwMode="auto">
          <a:xfrm>
            <a:off x="7119958" y="1704225"/>
            <a:ext cx="5240066" cy="2720122"/>
            <a:chOff x="3662" y="13"/>
            <a:chExt cx="3622" cy="1880"/>
          </a:xfrm>
        </p:grpSpPr>
        <p:sp>
          <p:nvSpPr>
            <p:cNvPr id="79" name="Oval 5" descr="宽上对角线">
              <a:extLst>
                <a:ext uri="{FF2B5EF4-FFF2-40B4-BE49-F238E27FC236}">
                  <a16:creationId xmlns:a16="http://schemas.microsoft.com/office/drawing/2014/main" id="{4019BC9E-4B4D-D931-8103-C182BCA1D2AB}"/>
                </a:ext>
              </a:extLst>
            </p:cNvPr>
            <p:cNvSpPr>
              <a:spLocks noChangeArrowheads="1"/>
            </p:cNvSpPr>
            <p:nvPr/>
          </p:nvSpPr>
          <p:spPr bwMode="auto">
            <a:xfrm>
              <a:off x="3816" y="423"/>
              <a:ext cx="1341" cy="1341"/>
            </a:xfrm>
            <a:prstGeom prst="ellipse">
              <a:avLst/>
            </a:prstGeom>
            <a:solidFill>
              <a:schemeClr val="bg2">
                <a:lumMod val="40000"/>
                <a:lumOff val="60000"/>
              </a:schemeClr>
            </a:solidFill>
            <a:ln w="38100"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80" name="Group 6">
              <a:extLst>
                <a:ext uri="{FF2B5EF4-FFF2-40B4-BE49-F238E27FC236}">
                  <a16:creationId xmlns:a16="http://schemas.microsoft.com/office/drawing/2014/main" id="{EA7D5394-0D7D-2998-EB1E-7E65C2CDB7C9}"/>
                </a:ext>
              </a:extLst>
            </p:cNvPr>
            <p:cNvGrpSpPr>
              <a:grpSpLocks/>
            </p:cNvGrpSpPr>
            <p:nvPr/>
          </p:nvGrpSpPr>
          <p:grpSpPr bwMode="auto">
            <a:xfrm>
              <a:off x="3662" y="13"/>
              <a:ext cx="3622" cy="1880"/>
              <a:chOff x="3662" y="13"/>
              <a:chExt cx="3622" cy="1880"/>
            </a:xfrm>
          </p:grpSpPr>
          <p:sp>
            <p:nvSpPr>
              <p:cNvPr id="89" name="Line 7">
                <a:extLst>
                  <a:ext uri="{FF2B5EF4-FFF2-40B4-BE49-F238E27FC236}">
                    <a16:creationId xmlns:a16="http://schemas.microsoft.com/office/drawing/2014/main" id="{2AB7A874-1A6B-0A31-5AB5-3228B0532BB8}"/>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0" name="Line 8">
                <a:extLst>
                  <a:ext uri="{FF2B5EF4-FFF2-40B4-BE49-F238E27FC236}">
                    <a16:creationId xmlns:a16="http://schemas.microsoft.com/office/drawing/2014/main" id="{FB697CBF-4F3A-7731-EF6C-F69E33902D44}"/>
                  </a:ext>
                </a:extLst>
              </p:cNvPr>
              <p:cNvSpPr>
                <a:spLocks noChangeAspect="1" noChangeShapeType="1"/>
              </p:cNvSpPr>
              <p:nvPr/>
            </p:nvSpPr>
            <p:spPr bwMode="auto">
              <a:xfrm>
                <a:off x="3662" y="1099"/>
                <a:ext cx="1758"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2"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5127"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z</a:t>
                </a:r>
              </a:p>
            </p:txBody>
          </p:sp>
          <p:sp>
            <p:nvSpPr>
              <p:cNvPr id="113"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y</a:t>
                </a:r>
              </a:p>
            </p:txBody>
          </p:sp>
          <p:sp>
            <p:nvSpPr>
              <p:cNvPr id="132"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6844"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z</a:t>
                </a:r>
              </a:p>
            </p:txBody>
          </p:sp>
          <p:sp>
            <p:nvSpPr>
              <p:cNvPr id="158"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76" y="1277"/>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mn-lt"/>
                    <a:ea typeface="宋体" panose="02010600030101010101" pitchFamily="2" charset="-122"/>
                  </a:rPr>
                  <a:t>Q</a:t>
                </a:r>
              </a:p>
            </p:txBody>
          </p:sp>
        </p:grpSp>
        <p:sp>
          <p:nvSpPr>
            <p:cNvPr id="85" name="Rectangle 19">
              <a:extLst>
                <a:ext uri="{FF2B5EF4-FFF2-40B4-BE49-F238E27FC236}">
                  <a16:creationId xmlns:a16="http://schemas.microsoft.com/office/drawing/2014/main" id="{7D1661B4-919A-8F9C-EB78-5029F1469B6D}"/>
                </a:ext>
              </a:extLst>
            </p:cNvPr>
            <p:cNvSpPr>
              <a:spLocks noChangeAspect="1" noChangeArrowheads="1"/>
            </p:cNvSpPr>
            <p:nvPr/>
          </p:nvSpPr>
          <p:spPr bwMode="auto">
            <a:xfrm rot="18745540">
              <a:off x="4519" y="739"/>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4" name="Line 21">
              <a:extLst>
                <a:ext uri="{FF2B5EF4-FFF2-40B4-BE49-F238E27FC236}">
                  <a16:creationId xmlns:a16="http://schemas.microsoft.com/office/drawing/2014/main" id="{CB1E302B-9900-053E-870E-864602480C84}"/>
                </a:ext>
              </a:extLst>
            </p:cNvPr>
            <p:cNvSpPr>
              <a:spLocks noChangeShapeType="1"/>
            </p:cNvSpPr>
            <p:nvPr/>
          </p:nvSpPr>
          <p:spPr bwMode="auto">
            <a:xfrm flipV="1">
              <a:off x="4496" y="664"/>
              <a:ext cx="520" cy="42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2225">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16" name="Group 26">
            <a:extLst>
              <a:ext uri="{FF2B5EF4-FFF2-40B4-BE49-F238E27FC236}">
                <a16:creationId xmlns:a16="http://schemas.microsoft.com/office/drawing/2014/main" id="{F8B87583-8922-8CCC-2B73-27D14E739DFE}"/>
              </a:ext>
            </a:extLst>
          </p:cNvPr>
          <p:cNvGrpSpPr>
            <a:grpSpLocks/>
          </p:cNvGrpSpPr>
          <p:nvPr/>
        </p:nvGrpSpPr>
        <p:grpSpPr bwMode="auto">
          <a:xfrm>
            <a:off x="7966880" y="1666852"/>
            <a:ext cx="4032976" cy="2778256"/>
            <a:chOff x="3285" y="1886"/>
            <a:chExt cx="2266" cy="1561"/>
          </a:xfrm>
        </p:grpSpPr>
        <p:sp>
          <p:nvSpPr>
            <p:cNvPr id="117" name="AutoShape 27">
              <a:extLst>
                <a:ext uri="{FF2B5EF4-FFF2-40B4-BE49-F238E27FC236}">
                  <a16:creationId xmlns:a16="http://schemas.microsoft.com/office/drawing/2014/main" id="{FF5A21CF-849D-79A0-96BD-8291D490CD87}"/>
                </a:ext>
              </a:extLst>
            </p:cNvPr>
            <p:cNvSpPr>
              <a:spLocks noChangeArrowheads="1"/>
            </p:cNvSpPr>
            <p:nvPr/>
          </p:nvSpPr>
          <p:spPr bwMode="auto">
            <a:xfrm>
              <a:off x="4242" y="2211"/>
              <a:ext cx="1144" cy="114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100000">
                  <a:srgbClr val="FFFFFF">
                    <a:gamma/>
                    <a:shade val="12549"/>
                    <a:invGamma/>
                  </a:srgbClr>
                </a:gs>
              </a:gsLst>
              <a:path path="rect">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118" name="Group 28">
              <a:extLst>
                <a:ext uri="{FF2B5EF4-FFF2-40B4-BE49-F238E27FC236}">
                  <a16:creationId xmlns:a16="http://schemas.microsoft.com/office/drawing/2014/main" id="{AE7DE12C-AA5F-D50F-6389-0AB6EB15958D}"/>
                </a:ext>
              </a:extLst>
            </p:cNvPr>
            <p:cNvGrpSpPr>
              <a:grpSpLocks/>
            </p:cNvGrpSpPr>
            <p:nvPr/>
          </p:nvGrpSpPr>
          <p:grpSpPr bwMode="auto">
            <a:xfrm>
              <a:off x="3285" y="2209"/>
              <a:ext cx="2101" cy="1144"/>
              <a:chOff x="2685" y="296"/>
              <a:chExt cx="2101" cy="1144"/>
            </a:xfrm>
          </p:grpSpPr>
          <p:sp>
            <p:nvSpPr>
              <p:cNvPr id="122" name="AutoShape 29" descr="宽上对角线">
                <a:extLst>
                  <a:ext uri="{FF2B5EF4-FFF2-40B4-BE49-F238E27FC236}">
                    <a16:creationId xmlns:a16="http://schemas.microsoft.com/office/drawing/2014/main" id="{C554A810-63D4-65F7-FEC4-39B9C871568E}"/>
                  </a:ext>
                </a:extLst>
              </p:cNvPr>
              <p:cNvSpPr>
                <a:spLocks noChangeArrowheads="1"/>
              </p:cNvSpPr>
              <p:nvPr/>
            </p:nvSpPr>
            <p:spPr bwMode="auto">
              <a:xfrm>
                <a:off x="3642" y="296"/>
                <a:ext cx="1144" cy="1144"/>
              </a:xfrm>
              <a:custGeom>
                <a:avLst/>
                <a:gdLst>
                  <a:gd name="T0" fmla="*/ 30 w 21600"/>
                  <a:gd name="T1" fmla="*/ 0 h 21600"/>
                  <a:gd name="T2" fmla="*/ 9 w 21600"/>
                  <a:gd name="T3" fmla="*/ 9 h 21600"/>
                  <a:gd name="T4" fmla="*/ 0 w 21600"/>
                  <a:gd name="T5" fmla="*/ 30 h 21600"/>
                  <a:gd name="T6" fmla="*/ 9 w 21600"/>
                  <a:gd name="T7" fmla="*/ 52 h 21600"/>
                  <a:gd name="T8" fmla="*/ 30 w 21600"/>
                  <a:gd name="T9" fmla="*/ 61 h 21600"/>
                  <a:gd name="T10" fmla="*/ 52 w 21600"/>
                  <a:gd name="T11" fmla="*/ 52 h 21600"/>
                  <a:gd name="T12" fmla="*/ 61 w 21600"/>
                  <a:gd name="T13" fmla="*/ 30 h 21600"/>
                  <a:gd name="T14" fmla="*/ 52 w 21600"/>
                  <a:gd name="T15" fmla="*/ 9 h 21600"/>
                  <a:gd name="T16" fmla="*/ 0 60000 65536"/>
                  <a:gd name="T17" fmla="*/ 0 60000 65536"/>
                  <a:gd name="T18" fmla="*/ 0 60000 65536"/>
                  <a:gd name="T19" fmla="*/ 0 60000 65536"/>
                  <a:gd name="T20" fmla="*/ 0 60000 65536"/>
                  <a:gd name="T21" fmla="*/ 0 60000 65536"/>
                  <a:gd name="T22" fmla="*/ 0 60000 65536"/>
                  <a:gd name="T23" fmla="*/ 0 60000 65536"/>
                  <a:gd name="T24" fmla="*/ 3172 w 21600"/>
                  <a:gd name="T25" fmla="*/ 3172 h 21600"/>
                  <a:gd name="T26" fmla="*/ 18428 w 21600"/>
                  <a:gd name="T27" fmla="*/ 1842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bg2">
                  <a:lumMod val="40000"/>
                  <a:lumOff val="60000"/>
                </a:schemeClr>
              </a:solidFill>
              <a:ln w="2857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3" name="Line 30">
                <a:extLst>
                  <a:ext uri="{FF2B5EF4-FFF2-40B4-BE49-F238E27FC236}">
                    <a16:creationId xmlns:a16="http://schemas.microsoft.com/office/drawing/2014/main" id="{5170D9C6-4AFD-285B-940A-62F9360DAAE3}"/>
                  </a:ext>
                </a:extLst>
              </p:cNvPr>
              <p:cNvSpPr>
                <a:spLocks noChangeAspect="1" noChangeShapeType="1"/>
              </p:cNvSpPr>
              <p:nvPr/>
            </p:nvSpPr>
            <p:spPr bwMode="auto">
              <a:xfrm flipV="1">
                <a:off x="3635" y="1062"/>
                <a:ext cx="114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2685" y="876"/>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sp>
            <p:nvSpPr>
              <p:cNvPr id="134"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4001" y="862"/>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grpSp>
        <p:sp>
          <p:nvSpPr>
            <p:cNvPr id="119" name="Line 41">
              <a:extLst>
                <a:ext uri="{FF2B5EF4-FFF2-40B4-BE49-F238E27FC236}">
                  <a16:creationId xmlns:a16="http://schemas.microsoft.com/office/drawing/2014/main" id="{CED8FB35-AD4F-D8ED-9595-104E74FF8C27}"/>
                </a:ext>
              </a:extLst>
            </p:cNvPr>
            <p:cNvSpPr>
              <a:spLocks noChangeAspect="1" noChangeShapeType="1"/>
            </p:cNvSpPr>
            <p:nvPr/>
          </p:nvSpPr>
          <p:spPr bwMode="auto">
            <a:xfrm flipH="1" flipV="1">
              <a:off x="4821" y="2009"/>
              <a:ext cx="0" cy="1426"/>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120" name="Line 42">
              <a:extLst>
                <a:ext uri="{FF2B5EF4-FFF2-40B4-BE49-F238E27FC236}">
                  <a16:creationId xmlns:a16="http://schemas.microsoft.com/office/drawing/2014/main" id="{36FB0DBE-B8CF-CF08-EE3A-4E8CD440CA41}"/>
                </a:ext>
              </a:extLst>
            </p:cNvPr>
            <p:cNvSpPr>
              <a:spLocks noChangeAspect="1" noChangeShapeType="1"/>
            </p:cNvSpPr>
            <p:nvPr/>
          </p:nvSpPr>
          <p:spPr bwMode="auto">
            <a:xfrm>
              <a:off x="4000" y="2787"/>
              <a:ext cx="1551"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1"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818" y="1886"/>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y</a:t>
              </a:r>
            </a:p>
          </p:txBody>
        </p:sp>
        <p:sp>
          <p:nvSpPr>
            <p:cNvPr id="194"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916" y="2930"/>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sz="2800" b="0" kern="0" dirty="0">
                  <a:solidFill>
                    <a:srgbClr val="000000"/>
                  </a:solidFill>
                  <a:ea typeface="宋体" panose="02010600030101010101" pitchFamily="2" charset="-122"/>
                </a:rPr>
                <a:t>F</a:t>
              </a:r>
              <a:r>
                <a:rPr lang="en-US" altLang="zh-CN" sz="2800" b="0" i="0" kern="0" baseline="-25000" dirty="0">
                  <a:solidFill>
                    <a:srgbClr val="000000"/>
                  </a:solidFill>
                  <a:ea typeface="宋体" panose="02010600030101010101" pitchFamily="2" charset="-122"/>
                </a:rPr>
                <a:t>Q</a:t>
              </a:r>
            </a:p>
          </p:txBody>
        </p:sp>
      </p:grpSp>
      <p:cxnSp>
        <p:nvCxnSpPr>
          <p:cNvPr id="25" name="直接箭头连接符 24"/>
          <p:cNvCxnSpPr/>
          <p:nvPr/>
        </p:nvCxnSpPr>
        <p:spPr bwMode="auto">
          <a:xfrm flipV="1">
            <a:off x="7339354"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直接箭头连接符 134"/>
          <p:cNvCxnSpPr/>
          <p:nvPr/>
        </p:nvCxnSpPr>
        <p:spPr bwMode="auto">
          <a:xfrm flipV="1">
            <a:off x="9669977" y="279004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箭头连接符 135"/>
          <p:cNvCxnSpPr/>
          <p:nvPr/>
        </p:nvCxnSpPr>
        <p:spPr bwMode="auto">
          <a:xfrm flipV="1">
            <a:off x="7536160"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箭头连接符 136"/>
          <p:cNvCxnSpPr/>
          <p:nvPr/>
        </p:nvCxnSpPr>
        <p:spPr bwMode="auto">
          <a:xfrm flipV="1">
            <a:off x="7752184"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直接箭头连接符 137"/>
          <p:cNvCxnSpPr/>
          <p:nvPr/>
        </p:nvCxnSpPr>
        <p:spPr bwMode="auto">
          <a:xfrm flipV="1">
            <a:off x="7965714"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直接箭头连接符 138"/>
          <p:cNvCxnSpPr/>
          <p:nvPr/>
        </p:nvCxnSpPr>
        <p:spPr bwMode="auto">
          <a:xfrm flipV="1">
            <a:off x="8184232"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箭头连接符 139"/>
          <p:cNvCxnSpPr/>
          <p:nvPr/>
        </p:nvCxnSpPr>
        <p:spPr bwMode="auto">
          <a:xfrm flipV="1">
            <a:off x="8454539"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箭头连接符 140"/>
          <p:cNvCxnSpPr/>
          <p:nvPr/>
        </p:nvCxnSpPr>
        <p:spPr bwMode="auto">
          <a:xfrm flipV="1">
            <a:off x="8670563"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接箭头连接符 141"/>
          <p:cNvCxnSpPr/>
          <p:nvPr/>
        </p:nvCxnSpPr>
        <p:spPr bwMode="auto">
          <a:xfrm flipV="1">
            <a:off x="8884093"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接箭头连接符 142"/>
          <p:cNvCxnSpPr/>
          <p:nvPr/>
        </p:nvCxnSpPr>
        <p:spPr bwMode="auto">
          <a:xfrm flipV="1">
            <a:off x="9102611"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接箭头连接符 143"/>
          <p:cNvCxnSpPr/>
          <p:nvPr/>
        </p:nvCxnSpPr>
        <p:spPr bwMode="auto">
          <a:xfrm flipV="1">
            <a:off x="9282824" y="2790043"/>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flipV="1">
            <a:off x="7339354" y="2779212"/>
            <a:ext cx="1943470" cy="10831"/>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Text Box 22"/>
          <p:cNvSpPr txBox="1">
            <a:spLocks noChangeAspect="1" noChangeArrowheads="1"/>
          </p:cNvSpPr>
          <p:nvPr/>
        </p:nvSpPr>
        <p:spPr bwMode="auto">
          <a:xfrm>
            <a:off x="7890965" y="2192044"/>
            <a:ext cx="92641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 pitchFamily="18" charset="-52"/>
                <a:ea typeface="宋体" panose="02010600030101010101" pitchFamily="2" charset="-122"/>
              </a:rPr>
              <a:t>max</a:t>
            </a:r>
          </a:p>
        </p:txBody>
      </p:sp>
      <p:cxnSp>
        <p:nvCxnSpPr>
          <p:cNvPr id="146" name="直接箭头连接符 145"/>
          <p:cNvCxnSpPr/>
          <p:nvPr/>
        </p:nvCxnSpPr>
        <p:spPr bwMode="auto">
          <a:xfrm flipV="1">
            <a:off x="9840416" y="279004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接箭头连接符 146"/>
          <p:cNvCxnSpPr/>
          <p:nvPr/>
        </p:nvCxnSpPr>
        <p:spPr bwMode="auto">
          <a:xfrm flipV="1">
            <a:off x="10020436" y="2787169"/>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接箭头连接符 147"/>
          <p:cNvCxnSpPr/>
          <p:nvPr/>
        </p:nvCxnSpPr>
        <p:spPr bwMode="auto">
          <a:xfrm flipV="1">
            <a:off x="10200456" y="279360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接连接符 148"/>
          <p:cNvCxnSpPr/>
          <p:nvPr/>
        </p:nvCxnSpPr>
        <p:spPr bwMode="auto">
          <a:xfrm flipV="1">
            <a:off x="9656594" y="2786951"/>
            <a:ext cx="554821" cy="3093"/>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接箭头连接符 150"/>
          <p:cNvCxnSpPr/>
          <p:nvPr/>
        </p:nvCxnSpPr>
        <p:spPr bwMode="auto">
          <a:xfrm flipV="1">
            <a:off x="11202904" y="279004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接箭头连接符 151"/>
          <p:cNvCxnSpPr/>
          <p:nvPr/>
        </p:nvCxnSpPr>
        <p:spPr bwMode="auto">
          <a:xfrm flipV="1">
            <a:off x="11373343" y="279004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接箭头连接符 152"/>
          <p:cNvCxnSpPr/>
          <p:nvPr/>
        </p:nvCxnSpPr>
        <p:spPr bwMode="auto">
          <a:xfrm flipV="1">
            <a:off x="11553363" y="2787169"/>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箭头连接符 153"/>
          <p:cNvCxnSpPr/>
          <p:nvPr/>
        </p:nvCxnSpPr>
        <p:spPr bwMode="auto">
          <a:xfrm flipV="1">
            <a:off x="11722045" y="2793603"/>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接连接符 154"/>
          <p:cNvCxnSpPr/>
          <p:nvPr/>
        </p:nvCxnSpPr>
        <p:spPr bwMode="auto">
          <a:xfrm flipV="1">
            <a:off x="11189521" y="2786951"/>
            <a:ext cx="554821" cy="3093"/>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22"/>
          <p:cNvSpPr txBox="1">
            <a:spLocks noChangeAspect="1" noChangeArrowheads="1"/>
          </p:cNvSpPr>
          <p:nvPr/>
        </p:nvSpPr>
        <p:spPr bwMode="auto">
          <a:xfrm>
            <a:off x="10993928" y="2192044"/>
            <a:ext cx="876004"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 pitchFamily="18" charset="-52"/>
                <a:ea typeface="宋体" panose="02010600030101010101" pitchFamily="2" charset="-122"/>
              </a:rPr>
              <a:t>max</a:t>
            </a:r>
          </a:p>
        </p:txBody>
      </p:sp>
      <p:cxnSp>
        <p:nvCxnSpPr>
          <p:cNvPr id="157" name="直接箭头连接符 156"/>
          <p:cNvCxnSpPr/>
          <p:nvPr/>
        </p:nvCxnSpPr>
        <p:spPr bwMode="auto">
          <a:xfrm flipH="1" flipV="1">
            <a:off x="8318175" y="3259614"/>
            <a:ext cx="8358" cy="700489"/>
          </a:xfrm>
          <a:prstGeom prst="straightConnector1">
            <a:avLst/>
          </a:prstGeom>
          <a:solidFill>
            <a:schemeClr val="accent1"/>
          </a:solidFill>
          <a:ln w="38100" cap="flat" cmpd="sng" algn="ctr">
            <a:solidFill>
              <a:schemeClr val="tx1"/>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直接箭头连接符 192"/>
          <p:cNvCxnSpPr/>
          <p:nvPr/>
        </p:nvCxnSpPr>
        <p:spPr bwMode="auto">
          <a:xfrm flipH="1" flipV="1">
            <a:off x="10691642" y="3259614"/>
            <a:ext cx="8358" cy="700489"/>
          </a:xfrm>
          <a:prstGeom prst="straightConnector1">
            <a:avLst/>
          </a:prstGeom>
          <a:solidFill>
            <a:schemeClr val="accent1"/>
          </a:solidFill>
          <a:ln w="38100" cap="flat" cmpd="sng" algn="ctr">
            <a:solidFill>
              <a:schemeClr val="tx1"/>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047169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6"/>
                                        </p:tgtEl>
                                        <p:attrNameLst>
                                          <p:attrName>style.visibility</p:attrName>
                                        </p:attrNameLst>
                                      </p:cBhvr>
                                      <p:to>
                                        <p:strVal val="visible"/>
                                      </p:to>
                                    </p:set>
                                  </p:childTnLst>
                                </p:cTn>
                              </p:par>
                            </p:childTnLst>
                          </p:cTn>
                        </p:par>
                        <p:par>
                          <p:cTn id="11" fill="hold">
                            <p:stCondLst>
                              <p:cond delay="500"/>
                            </p:stCondLst>
                            <p:childTnLst>
                              <p:par>
                                <p:cTn id="12" presetID="19" presetClass="entr" presetSubtype="10" fill="hold" grpId="0" nodeType="afterEffect">
                                  <p:stCondLst>
                                    <p:cond delay="1000"/>
                                  </p:stCondLst>
                                  <p:childTnLst>
                                    <p:set>
                                      <p:cBhvr>
                                        <p:cTn id="13" dur="1" fill="hold">
                                          <p:stCondLst>
                                            <p:cond delay="0"/>
                                          </p:stCondLst>
                                        </p:cTn>
                                        <p:tgtEl>
                                          <p:spTgt spid="145"/>
                                        </p:tgtEl>
                                        <p:attrNameLst>
                                          <p:attrName>style.visibility</p:attrName>
                                        </p:attrNameLst>
                                      </p:cBhvr>
                                      <p:to>
                                        <p:strVal val="visible"/>
                                      </p:to>
                                    </p:set>
                                    <p:anim calcmode="lin" valueType="num">
                                      <p:cBhvr>
                                        <p:cTn id="14" dur="5000" fill="hold"/>
                                        <p:tgtEl>
                                          <p:spTgt spid="145"/>
                                        </p:tgtEl>
                                        <p:attrNameLst>
                                          <p:attrName>ppt_w</p:attrName>
                                        </p:attrNameLst>
                                      </p:cBhvr>
                                      <p:tavLst>
                                        <p:tav tm="0" fmla="#ppt_w*sin(2.5*pi*$)">
                                          <p:val>
                                            <p:fltVal val="0"/>
                                          </p:val>
                                        </p:tav>
                                        <p:tav tm="100000">
                                          <p:val>
                                            <p:fltVal val="1"/>
                                          </p:val>
                                        </p:tav>
                                      </p:tavLst>
                                    </p:anim>
                                    <p:anim calcmode="lin" valueType="num">
                                      <p:cBhvr>
                                        <p:cTn id="15"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3" name="CAMERA.WAV"/>
                                        </p:tgtEl>
                                      </p:cMediaNode>
                                    </p:audio>
                                  </p:subTnLst>
                                </p:cTn>
                              </p:par>
                            </p:childTnLst>
                          </p:cTn>
                        </p:par>
                        <p:par>
                          <p:cTn id="16" fill="hold">
                            <p:stCondLst>
                              <p:cond delay="6500"/>
                            </p:stCondLst>
                            <p:childTnLst>
                              <p:par>
                                <p:cTn id="17" presetID="19" presetClass="entr" presetSubtype="10" fill="hold" grpId="0" nodeType="afterEffect">
                                  <p:stCondLst>
                                    <p:cond delay="1000"/>
                                  </p:stCondLst>
                                  <p:childTnLst>
                                    <p:set>
                                      <p:cBhvr>
                                        <p:cTn id="18" dur="1" fill="hold">
                                          <p:stCondLst>
                                            <p:cond delay="0"/>
                                          </p:stCondLst>
                                        </p:cTn>
                                        <p:tgtEl>
                                          <p:spTgt spid="156"/>
                                        </p:tgtEl>
                                        <p:attrNameLst>
                                          <p:attrName>style.visibility</p:attrName>
                                        </p:attrNameLst>
                                      </p:cBhvr>
                                      <p:to>
                                        <p:strVal val="visible"/>
                                      </p:to>
                                    </p:set>
                                    <p:anim calcmode="lin" valueType="num">
                                      <p:cBhvr>
                                        <p:cTn id="19" dur="5000" fill="hold"/>
                                        <p:tgtEl>
                                          <p:spTgt spid="156"/>
                                        </p:tgtEl>
                                        <p:attrNameLst>
                                          <p:attrName>ppt_w</p:attrName>
                                        </p:attrNameLst>
                                      </p:cBhvr>
                                      <p:tavLst>
                                        <p:tav tm="0" fmla="#ppt_w*sin(2.5*pi*$)">
                                          <p:val>
                                            <p:fltVal val="0"/>
                                          </p:val>
                                        </p:tav>
                                        <p:tav tm="100000">
                                          <p:val>
                                            <p:fltVal val="1"/>
                                          </p:val>
                                        </p:tav>
                                      </p:tavLst>
                                    </p:anim>
                                    <p:anim calcmode="lin" valueType="num">
                                      <p:cBhvr>
                                        <p:cTn id="20" dur="5000" fill="hold"/>
                                        <p:tgtEl>
                                          <p:spTgt spid="1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6" grpId="0" autoUpdateAnimBg="0"/>
      <p:bldP spid="145" grpId="0" autoUpdateAnimBg="0"/>
      <p:bldP spid="15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2492990"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梁的强度计算</a:t>
            </a:r>
          </a:p>
        </p:txBody>
      </p:sp>
      <p:sp>
        <p:nvSpPr>
          <p:cNvPr id="111" name="Text Box 1032"/>
          <p:cNvSpPr txBox="1">
            <a:spLocks noChangeArrowheads="1"/>
          </p:cNvSpPr>
          <p:nvPr/>
        </p:nvSpPr>
        <p:spPr bwMode="auto">
          <a:xfrm>
            <a:off x="631035" y="1371244"/>
            <a:ext cx="11153598"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pPr>
            <a:r>
              <a:rPr kumimoji="1" lang="zh-CN" altLang="en-US" sz="2800" i="0" dirty="0">
                <a:latin typeface="+mn-lt"/>
                <a:ea typeface="微软雅黑" panose="020B0503020204020204" pitchFamily="34" charset="-122"/>
              </a:rPr>
              <a:t>在进行梁的强度计算时，首先应确定梁的危险截面和危险点。一般情况下，对于等截面直梁，其危险点在弯矩最大的截面上的上下边缘处，即最大正应力所在处；对于短梁、载荷靠近支座的梁以及薄壁截面梁，则还要考虑其最大切应力所在的部位。</a:t>
            </a:r>
            <a:endParaRPr kumimoji="1" lang="en-US" altLang="zh-CN" sz="2800" i="0" dirty="0">
              <a:latin typeface="+mn-lt"/>
              <a:ea typeface="微软雅黑" panose="020B0503020204020204" pitchFamily="34" charset="-122"/>
            </a:endParaRPr>
          </a:p>
          <a:p>
            <a:pPr algn="just" eaLnBrk="1" hangingPunct="1">
              <a:lnSpc>
                <a:spcPct val="130000"/>
              </a:lnSpc>
            </a:pPr>
            <a:r>
              <a:rPr kumimoji="1" lang="zh-CN" altLang="en-US" sz="2800" i="0" dirty="0">
                <a:latin typeface="+mn-lt"/>
                <a:ea typeface="微软雅黑" panose="020B0503020204020204" pitchFamily="34" charset="-122"/>
              </a:rPr>
              <a:t>危险点的最大工作</a:t>
            </a:r>
            <a:r>
              <a:rPr kumimoji="1" lang="zh-CN" altLang="en-US" sz="2800" i="0" dirty="0">
                <a:solidFill>
                  <a:srgbClr val="FF00FF"/>
                </a:solidFill>
                <a:latin typeface="+mn-lt"/>
                <a:ea typeface="微软雅黑" panose="020B0503020204020204" pitchFamily="34" charset="-122"/>
              </a:rPr>
              <a:t>正应力</a:t>
            </a:r>
            <a:r>
              <a:rPr kumimoji="1" lang="zh-CN" altLang="en-US" sz="2800" i="0" dirty="0">
                <a:latin typeface="+mn-lt"/>
                <a:ea typeface="微软雅黑" panose="020B0503020204020204" pitchFamily="34" charset="-122"/>
              </a:rPr>
              <a:t>应不大于材料在单向受力时的许用应力，强度条件为 </a:t>
            </a:r>
          </a:p>
        </p:txBody>
      </p:sp>
      <p:graphicFrame>
        <p:nvGraphicFramePr>
          <p:cNvPr id="35" name="Object 5"/>
          <p:cNvGraphicFramePr>
            <a:graphicFrameLocks noChangeAspect="1"/>
          </p:cNvGraphicFramePr>
          <p:nvPr>
            <p:extLst>
              <p:ext uri="{D42A27DB-BD31-4B8C-83A1-F6EECF244321}">
                <p14:modId xmlns:p14="http://schemas.microsoft.com/office/powerpoint/2010/main" val="3509079135"/>
              </p:ext>
            </p:extLst>
          </p:nvPr>
        </p:nvGraphicFramePr>
        <p:xfrm>
          <a:off x="3998172" y="4396193"/>
          <a:ext cx="3432175" cy="1036637"/>
        </p:xfrm>
        <a:graphic>
          <a:graphicData uri="http://schemas.openxmlformats.org/presentationml/2006/ole">
            <mc:AlternateContent xmlns:mc="http://schemas.openxmlformats.org/markup-compatibility/2006">
              <mc:Choice xmlns:v="urn:schemas-microsoft-com:vml" Requires="v">
                <p:oleObj spid="_x0000_s13370" name="Equation" r:id="rId5" imgW="1396800" imgH="431640" progId="Equation.DSMT4">
                  <p:embed/>
                </p:oleObj>
              </mc:Choice>
              <mc:Fallback>
                <p:oleObj name="Equation" r:id="rId5" imgW="1396800" imgH="431640" progId="Equation.DSMT4">
                  <p:embed/>
                  <p:pic>
                    <p:nvPicPr>
                      <p:cNvPr id="0" name=""/>
                      <p:cNvPicPr>
                        <a:picLocks noChangeAspect="1" noChangeArrowheads="1"/>
                      </p:cNvPicPr>
                      <p:nvPr/>
                    </p:nvPicPr>
                    <p:blipFill>
                      <a:blip r:embed="rId6"/>
                      <a:srcRect/>
                      <a:stretch>
                        <a:fillRect/>
                      </a:stretch>
                    </p:blipFill>
                    <p:spPr bwMode="auto">
                      <a:xfrm>
                        <a:off x="3998172" y="4396193"/>
                        <a:ext cx="343217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Text Box 1032"/>
          <p:cNvSpPr txBox="1">
            <a:spLocks noChangeArrowheads="1"/>
          </p:cNvSpPr>
          <p:nvPr/>
        </p:nvSpPr>
        <p:spPr bwMode="auto">
          <a:xfrm>
            <a:off x="631035" y="5464451"/>
            <a:ext cx="442084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kumimoji="1" lang="zh-CN" altLang="en-US" sz="2800" i="0" dirty="0">
                <a:latin typeface="+mn-lt"/>
                <a:ea typeface="微软雅黑" panose="020B0503020204020204" pitchFamily="34" charset="-122"/>
              </a:rPr>
              <a:t>梁的</a:t>
            </a:r>
            <a:r>
              <a:rPr kumimoji="1" lang="zh-CN" altLang="en-US" sz="2800" i="0" dirty="0">
                <a:solidFill>
                  <a:srgbClr val="FF00FF"/>
                </a:solidFill>
                <a:latin typeface="+mn-lt"/>
                <a:ea typeface="微软雅黑" panose="020B0503020204020204" pitchFamily="34" charset="-122"/>
              </a:rPr>
              <a:t>切应力</a:t>
            </a:r>
            <a:r>
              <a:rPr kumimoji="1" lang="zh-CN" altLang="en-US" sz="2800" i="0" dirty="0">
                <a:latin typeface="+mn-lt"/>
                <a:ea typeface="微软雅黑" panose="020B0503020204020204" pitchFamily="34" charset="-122"/>
              </a:rPr>
              <a:t>校核条件为</a:t>
            </a:r>
          </a:p>
        </p:txBody>
      </p:sp>
      <p:graphicFrame>
        <p:nvGraphicFramePr>
          <p:cNvPr id="37" name="Object 5"/>
          <p:cNvGraphicFramePr>
            <a:graphicFrameLocks noChangeAspect="1"/>
          </p:cNvGraphicFramePr>
          <p:nvPr>
            <p:extLst>
              <p:ext uri="{D42A27DB-BD31-4B8C-83A1-F6EECF244321}">
                <p14:modId xmlns:p14="http://schemas.microsoft.com/office/powerpoint/2010/main" val="4239616561"/>
              </p:ext>
            </p:extLst>
          </p:nvPr>
        </p:nvGraphicFramePr>
        <p:xfrm>
          <a:off x="5004833" y="5508017"/>
          <a:ext cx="1684338" cy="549275"/>
        </p:xfrm>
        <a:graphic>
          <a:graphicData uri="http://schemas.openxmlformats.org/presentationml/2006/ole">
            <mc:AlternateContent xmlns:mc="http://schemas.openxmlformats.org/markup-compatibility/2006">
              <mc:Choice xmlns:v="urn:schemas-microsoft-com:vml" Requires="v">
                <p:oleObj spid="_x0000_s13371" name="Equation" r:id="rId7" imgW="685800" imgH="228600" progId="Equation.DSMT4">
                  <p:embed/>
                </p:oleObj>
              </mc:Choice>
              <mc:Fallback>
                <p:oleObj name="Equation" r:id="rId7" imgW="685800" imgH="228600" progId="Equation.DSMT4">
                  <p:embed/>
                  <p:pic>
                    <p:nvPicPr>
                      <p:cNvPr id="0" name=""/>
                      <p:cNvPicPr>
                        <a:picLocks noChangeAspect="1" noChangeArrowheads="1"/>
                      </p:cNvPicPr>
                      <p:nvPr/>
                    </p:nvPicPr>
                    <p:blipFill>
                      <a:blip r:embed="rId8"/>
                      <a:srcRect/>
                      <a:stretch>
                        <a:fillRect/>
                      </a:stretch>
                    </p:blipFill>
                    <p:spPr bwMode="auto">
                      <a:xfrm>
                        <a:off x="5004833" y="5508017"/>
                        <a:ext cx="16843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8736367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0"/>
                                        <p:tgtEl>
                                          <p:spTgt spid="35"/>
                                        </p:tgtEl>
                                      </p:cBhvr>
                                    </p:animEffect>
                                  </p:childTnLst>
                                  <p:subTnLst>
                                    <p:audio>
                                      <p:cMediaNode>
                                        <p:cTn display="0" masterRel="sameClick">
                                          <p:stCondLst>
                                            <p:cond evt="begin" delay="0">
                                              <p:tn val="9"/>
                                            </p:cond>
                                          </p:stCondLst>
                                          <p:endCondLst>
                                            <p:cond evt="onStopAudio" delay="0">
                                              <p:tgtEl>
                                                <p:sldTgt/>
                                              </p:tgtEl>
                                            </p:cond>
                                          </p:endCondLst>
                                        </p:cTn>
                                        <p:tgtEl>
                                          <p:sndTgt r:embed="rId4"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0"/>
                                        <p:tgtEl>
                                          <p:spTgt spid="37"/>
                                        </p:tgtEl>
                                      </p:cBhvr>
                                    </p:animEffect>
                                  </p:childTnLst>
                                  <p:subTnLst>
                                    <p:audio>
                                      <p:cMediaNode>
                                        <p:cTn display="0" masterRel="sameClick">
                                          <p:stCondLst>
                                            <p:cond evt="begin" delay="0">
                                              <p:tn val="18"/>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utoUpdateAnimBg="0"/>
      <p:bldP spid="3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321006" cy="1822743"/>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kumimoji="1" lang="zh-CN" altLang="en-US" i="0" dirty="0">
                <a:solidFill>
                  <a:schemeClr val="tx1"/>
                </a:solidFill>
                <a:ea typeface="黑体" panose="02010609060101010101" pitchFamily="49" charset="-122"/>
              </a:rPr>
              <a:t>一吊车用</a:t>
            </a:r>
            <a:r>
              <a:rPr kumimoji="1" lang="en-US" altLang="zh-CN" b="0" i="0" dirty="0">
                <a:solidFill>
                  <a:schemeClr val="tx1"/>
                </a:solidFill>
                <a:ea typeface="黑体" panose="02010609060101010101" pitchFamily="49" charset="-122"/>
              </a:rPr>
              <a:t>32c</a:t>
            </a:r>
            <a:r>
              <a:rPr kumimoji="1" lang="zh-CN" altLang="en-US" i="0" dirty="0">
                <a:solidFill>
                  <a:schemeClr val="tx1"/>
                </a:solidFill>
                <a:ea typeface="黑体" panose="02010609060101010101" pitchFamily="49" charset="-122"/>
              </a:rPr>
              <a:t>工字钢制成，将其简化为一简支梁，梁长</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=10m</a:t>
            </a:r>
            <a:r>
              <a:rPr kumimoji="1" lang="zh-CN" altLang="en-US" i="0" dirty="0">
                <a:solidFill>
                  <a:schemeClr val="tx1"/>
                </a:solidFill>
                <a:ea typeface="黑体" panose="02010609060101010101" pitchFamily="49" charset="-122"/>
              </a:rPr>
              <a:t>，自重不计。若最大起重载荷为</a:t>
            </a:r>
            <a:r>
              <a:rPr kumimoji="1" lang="en-US" altLang="zh-CN" b="0"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=35kN</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包括葫芦和钢丝绳</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，许用应力为</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]=130MPa</a:t>
            </a:r>
            <a:r>
              <a:rPr kumimoji="1" lang="zh-CN" altLang="en-US" i="0" dirty="0">
                <a:solidFill>
                  <a:schemeClr val="tx1"/>
                </a:solidFill>
                <a:ea typeface="黑体" panose="02010609060101010101" pitchFamily="49" charset="-122"/>
              </a:rPr>
              <a:t>，试校核梁的强度。</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2579493"/>
            <a:ext cx="6940090"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求最大弯矩。当载荷在梁中点时，该处产生最大弯矩。</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94046"/>
            <a:ext cx="4514874" cy="3194393"/>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51" name="矩形 50">
            <a:extLst>
              <a:ext uri="{FF2B5EF4-FFF2-40B4-BE49-F238E27FC236}">
                <a16:creationId xmlns:a16="http://schemas.microsoft.com/office/drawing/2014/main" id="{EA27CFAC-F17C-B51E-0846-9392A1254CF9}"/>
              </a:ext>
            </a:extLst>
          </p:cNvPr>
          <p:cNvSpPr/>
          <p:nvPr/>
        </p:nvSpPr>
        <p:spPr>
          <a:xfrm>
            <a:off x="211184" y="3421580"/>
            <a:ext cx="10637344" cy="523413"/>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Fl</a:t>
            </a:r>
            <a:r>
              <a:rPr kumimoji="1" lang="en-US" altLang="zh-CN" b="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4=(35</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 </a:t>
            </a:r>
            <a:r>
              <a:rPr kumimoji="1" lang="en-US" altLang="zh-CN" b="0" i="0" dirty="0" err="1">
                <a:solidFill>
                  <a:schemeClr val="tx1"/>
                </a:solidFill>
                <a:ea typeface="黑体" panose="02010609060101010101" pitchFamily="49" charset="-122"/>
              </a:rPr>
              <a:t>kN·m</a:t>
            </a:r>
            <a:r>
              <a:rPr kumimoji="1" lang="en-US" altLang="zh-CN" b="0" i="0" dirty="0">
                <a:solidFill>
                  <a:schemeClr val="tx1"/>
                </a:solidFill>
                <a:ea typeface="黑体" panose="02010609060101010101" pitchFamily="49" charset="-122"/>
              </a:rPr>
              <a:t> /4=87.5 </a:t>
            </a:r>
            <a:r>
              <a:rPr kumimoji="1" lang="en-US" altLang="zh-CN" b="0" i="0" dirty="0" err="1">
                <a:solidFill>
                  <a:schemeClr val="tx1"/>
                </a:solidFill>
                <a:ea typeface="黑体" panose="02010609060101010101" pitchFamily="49" charset="-122"/>
              </a:rPr>
              <a:t>kN·m</a:t>
            </a:r>
            <a:r>
              <a:rPr kumimoji="1" lang="en-US" altLang="zh-CN" b="0" i="0" dirty="0">
                <a:solidFill>
                  <a:schemeClr val="tx1"/>
                </a:solidFill>
                <a:ea typeface="黑体" panose="02010609060101010101" pitchFamily="49" charset="-122"/>
              </a:rPr>
              <a:t> </a:t>
            </a:r>
          </a:p>
        </p:txBody>
      </p:sp>
      <p:sp>
        <p:nvSpPr>
          <p:cNvPr id="52" name="AutoShape 78" descr="浅色竖线"/>
          <p:cNvSpPr>
            <a:spLocks noChangeArrowheads="1"/>
          </p:cNvSpPr>
          <p:nvPr/>
        </p:nvSpPr>
        <p:spPr bwMode="auto">
          <a:xfrm>
            <a:off x="8411749" y="3103454"/>
            <a:ext cx="2024062" cy="415925"/>
          </a:xfrm>
          <a:prstGeom prst="triangle">
            <a:avLst>
              <a:gd name="adj" fmla="val 50000"/>
            </a:avLst>
          </a:prstGeom>
          <a:pattFill prst="ltVert">
            <a:fgClr>
              <a:srgbClr val="000000"/>
            </a:fgClr>
            <a:bgClr>
              <a:srgbClr val="99FFCC"/>
            </a:bgClr>
          </a:patt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3" name="Group 69"/>
          <p:cNvGrpSpPr>
            <a:grpSpLocks/>
          </p:cNvGrpSpPr>
          <p:nvPr/>
        </p:nvGrpSpPr>
        <p:grpSpPr bwMode="auto">
          <a:xfrm>
            <a:off x="7946611" y="1136541"/>
            <a:ext cx="2792413" cy="1570038"/>
            <a:chOff x="3512" y="375"/>
            <a:chExt cx="1759" cy="989"/>
          </a:xfrm>
        </p:grpSpPr>
        <p:sp>
          <p:nvSpPr>
            <p:cNvPr id="54" name="Text Box 5"/>
            <p:cNvSpPr txBox="1">
              <a:spLocks noChangeAspect="1" noChangeArrowheads="1"/>
            </p:cNvSpPr>
            <p:nvPr/>
          </p:nvSpPr>
          <p:spPr bwMode="auto">
            <a:xfrm>
              <a:off x="3512" y="824"/>
              <a:ext cx="175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55" name="Line 6"/>
            <p:cNvSpPr>
              <a:spLocks noChangeAspect="1" noChangeShapeType="1"/>
            </p:cNvSpPr>
            <p:nvPr/>
          </p:nvSpPr>
          <p:spPr bwMode="auto">
            <a:xfrm flipV="1">
              <a:off x="3792" y="887"/>
              <a:ext cx="1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6" name="Line 7"/>
            <p:cNvSpPr>
              <a:spLocks noChangeAspect="1" noChangeShapeType="1"/>
            </p:cNvSpPr>
            <p:nvPr/>
          </p:nvSpPr>
          <p:spPr bwMode="auto">
            <a:xfrm>
              <a:off x="3804"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7" name="Line 16"/>
            <p:cNvSpPr>
              <a:spLocks noChangeAspect="1" noChangeShapeType="1"/>
            </p:cNvSpPr>
            <p:nvPr/>
          </p:nvSpPr>
          <p:spPr bwMode="auto">
            <a:xfrm>
              <a:off x="4409" y="406"/>
              <a:ext cx="0" cy="48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Line 17"/>
            <p:cNvSpPr>
              <a:spLocks noChangeAspect="1" noChangeShapeType="1"/>
            </p:cNvSpPr>
            <p:nvPr/>
          </p:nvSpPr>
          <p:spPr bwMode="auto">
            <a:xfrm>
              <a:off x="4414"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9" name="Line 18"/>
            <p:cNvSpPr>
              <a:spLocks noChangeAspect="1" noChangeShapeType="1"/>
            </p:cNvSpPr>
            <p:nvPr/>
          </p:nvSpPr>
          <p:spPr bwMode="auto">
            <a:xfrm>
              <a:off x="5046"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0" name="Line 19"/>
            <p:cNvSpPr>
              <a:spLocks noChangeAspect="1" noChangeShapeType="1"/>
            </p:cNvSpPr>
            <p:nvPr/>
          </p:nvSpPr>
          <p:spPr bwMode="auto">
            <a:xfrm flipV="1">
              <a:off x="3804" y="1306"/>
              <a:ext cx="622" cy="0"/>
            </a:xfrm>
            <a:prstGeom prst="line">
              <a:avLst/>
            </a:prstGeom>
            <a:noFill/>
            <a:ln w="31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1" name="Line 20"/>
            <p:cNvSpPr>
              <a:spLocks noChangeAspect="1" noChangeShapeType="1"/>
            </p:cNvSpPr>
            <p:nvPr/>
          </p:nvSpPr>
          <p:spPr bwMode="auto">
            <a:xfrm flipV="1">
              <a:off x="4402" y="1306"/>
              <a:ext cx="632" cy="0"/>
            </a:xfrm>
            <a:prstGeom prst="line">
              <a:avLst/>
            </a:prstGeom>
            <a:noFill/>
            <a:ln w="31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2" name="Text Box 22"/>
            <p:cNvSpPr txBox="1">
              <a:spLocks noChangeAspect="1" noChangeArrowheads="1"/>
            </p:cNvSpPr>
            <p:nvPr/>
          </p:nvSpPr>
          <p:spPr bwMode="auto">
            <a:xfrm>
              <a:off x="3655" y="1057"/>
              <a:ext cx="14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1">
                  <a:ln>
                    <a:noFill/>
                  </a:ln>
                  <a:solidFill>
                    <a:srgbClr val="FFFF66"/>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dirty="0">
                  <a:ln>
                    <a:noFill/>
                  </a:ln>
                  <a:solidFill>
                    <a:srgbClr val="FFFF66"/>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63" name="Text Box 24"/>
            <p:cNvSpPr txBox="1">
              <a:spLocks noChangeAspect="1" noChangeArrowheads="1"/>
            </p:cNvSpPr>
            <p:nvPr/>
          </p:nvSpPr>
          <p:spPr bwMode="auto">
            <a:xfrm>
              <a:off x="4421" y="375"/>
              <a:ext cx="31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grpSp>
          <p:nvGrpSpPr>
            <p:cNvPr id="64" name="Group 31"/>
            <p:cNvGrpSpPr>
              <a:grpSpLocks noChangeAspect="1"/>
            </p:cNvGrpSpPr>
            <p:nvPr/>
          </p:nvGrpSpPr>
          <p:grpSpPr bwMode="auto">
            <a:xfrm>
              <a:off x="3676" y="863"/>
              <a:ext cx="234" cy="247"/>
              <a:chOff x="1686" y="3521"/>
              <a:chExt cx="313" cy="330"/>
            </a:xfrm>
          </p:grpSpPr>
          <p:sp>
            <p:nvSpPr>
              <p:cNvPr id="71" name="AutoShape 32"/>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72"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73"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4" name="Oval 35"/>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65" name="Group 36"/>
            <p:cNvGrpSpPr>
              <a:grpSpLocks noChangeAspect="1"/>
            </p:cNvGrpSpPr>
            <p:nvPr/>
          </p:nvGrpSpPr>
          <p:grpSpPr bwMode="auto">
            <a:xfrm>
              <a:off x="4933" y="890"/>
              <a:ext cx="234" cy="269"/>
              <a:chOff x="3499" y="3511"/>
              <a:chExt cx="311" cy="358"/>
            </a:xfrm>
          </p:grpSpPr>
          <p:sp>
            <p:nvSpPr>
              <p:cNvPr id="66"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7"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8"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9" name="Oval 40"/>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70" name="Oval 41"/>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grpSp>
        <p:nvGrpSpPr>
          <p:cNvPr id="75" name="Group 61"/>
          <p:cNvGrpSpPr>
            <a:grpSpLocks/>
          </p:cNvGrpSpPr>
          <p:nvPr/>
        </p:nvGrpSpPr>
        <p:grpSpPr bwMode="auto">
          <a:xfrm>
            <a:off x="10567574" y="1149241"/>
            <a:ext cx="1295400" cy="1320800"/>
            <a:chOff x="4808" y="1033"/>
            <a:chExt cx="816" cy="832"/>
          </a:xfrm>
        </p:grpSpPr>
        <p:sp>
          <p:nvSpPr>
            <p:cNvPr id="76" name="Text Box 62"/>
            <p:cNvSpPr txBox="1">
              <a:spLocks noChangeAspect="1" noChangeArrowheads="1"/>
            </p:cNvSpPr>
            <p:nvPr/>
          </p:nvSpPr>
          <p:spPr bwMode="auto">
            <a:xfrm>
              <a:off x="5314" y="1323"/>
              <a:ext cx="31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z</a:t>
              </a:r>
            </a:p>
          </p:txBody>
        </p:sp>
        <p:sp>
          <p:nvSpPr>
            <p:cNvPr id="77" name="Freeform 63" descr="宽上对角线"/>
            <p:cNvSpPr>
              <a:spLocks/>
            </p:cNvSpPr>
            <p:nvPr/>
          </p:nvSpPr>
          <p:spPr bwMode="auto">
            <a:xfrm>
              <a:off x="4937" y="1152"/>
              <a:ext cx="211" cy="521"/>
            </a:xfrm>
            <a:custGeom>
              <a:avLst/>
              <a:gdLst>
                <a:gd name="T0" fmla="*/ 0 w 211"/>
                <a:gd name="T1" fmla="*/ 0 h 521"/>
                <a:gd name="T2" fmla="*/ 211 w 211"/>
                <a:gd name="T3" fmla="*/ 0 h 521"/>
                <a:gd name="T4" fmla="*/ 210 w 211"/>
                <a:gd name="T5" fmla="*/ 521 h 521"/>
                <a:gd name="T6" fmla="*/ 3 w 211"/>
                <a:gd name="T7" fmla="*/ 520 h 521"/>
                <a:gd name="T8" fmla="*/ 2 w 211"/>
                <a:gd name="T9" fmla="*/ 462 h 521"/>
                <a:gd name="T10" fmla="*/ 164 w 211"/>
                <a:gd name="T11" fmla="*/ 463 h 521"/>
                <a:gd name="T12" fmla="*/ 164 w 211"/>
                <a:gd name="T13" fmla="*/ 57 h 521"/>
                <a:gd name="T14" fmla="*/ 0 w 211"/>
                <a:gd name="T15" fmla="*/ 56 h 521"/>
                <a:gd name="T16" fmla="*/ 0 w 211"/>
                <a:gd name="T17" fmla="*/ 0 h 5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521"/>
                <a:gd name="T29" fmla="*/ 211 w 211"/>
                <a:gd name="T30" fmla="*/ 521 h 5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521">
                  <a:moveTo>
                    <a:pt x="0" y="0"/>
                  </a:moveTo>
                  <a:lnTo>
                    <a:pt x="211" y="0"/>
                  </a:lnTo>
                  <a:lnTo>
                    <a:pt x="210" y="521"/>
                  </a:lnTo>
                  <a:lnTo>
                    <a:pt x="3" y="520"/>
                  </a:lnTo>
                  <a:lnTo>
                    <a:pt x="2" y="462"/>
                  </a:lnTo>
                  <a:lnTo>
                    <a:pt x="164" y="463"/>
                  </a:lnTo>
                  <a:lnTo>
                    <a:pt x="164" y="57"/>
                  </a:lnTo>
                  <a:lnTo>
                    <a:pt x="0" y="56"/>
                  </a:lnTo>
                  <a:lnTo>
                    <a:pt x="0" y="0"/>
                  </a:lnTo>
                  <a:close/>
                </a:path>
              </a:pathLst>
            </a:custGeom>
            <a:pattFill prst="wdUpDiag">
              <a:fgClr>
                <a:srgbClr val="000000"/>
              </a:fgClr>
              <a:bgClr>
                <a:srgbClr val="FFFFCC"/>
              </a:bgClr>
            </a:pattFill>
            <a:ln w="2857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Text Box 64"/>
            <p:cNvSpPr txBox="1">
              <a:spLocks noChangeAspect="1" noChangeArrowheads="1"/>
            </p:cNvSpPr>
            <p:nvPr/>
          </p:nvSpPr>
          <p:spPr bwMode="auto">
            <a:xfrm>
              <a:off x="4870" y="1609"/>
              <a:ext cx="40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zh-CN" sz="24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sp>
          <p:nvSpPr>
            <p:cNvPr id="79" name="Freeform 65" descr="宽上对角线"/>
            <p:cNvSpPr>
              <a:spLocks/>
            </p:cNvSpPr>
            <p:nvPr/>
          </p:nvSpPr>
          <p:spPr bwMode="auto">
            <a:xfrm flipH="1">
              <a:off x="5143" y="1152"/>
              <a:ext cx="211" cy="521"/>
            </a:xfrm>
            <a:custGeom>
              <a:avLst/>
              <a:gdLst>
                <a:gd name="T0" fmla="*/ 0 w 211"/>
                <a:gd name="T1" fmla="*/ 0 h 521"/>
                <a:gd name="T2" fmla="*/ 211 w 211"/>
                <a:gd name="T3" fmla="*/ 0 h 521"/>
                <a:gd name="T4" fmla="*/ 210 w 211"/>
                <a:gd name="T5" fmla="*/ 521 h 521"/>
                <a:gd name="T6" fmla="*/ 3 w 211"/>
                <a:gd name="T7" fmla="*/ 520 h 521"/>
                <a:gd name="T8" fmla="*/ 2 w 211"/>
                <a:gd name="T9" fmla="*/ 462 h 521"/>
                <a:gd name="T10" fmla="*/ 164 w 211"/>
                <a:gd name="T11" fmla="*/ 463 h 521"/>
                <a:gd name="T12" fmla="*/ 164 w 211"/>
                <a:gd name="T13" fmla="*/ 57 h 521"/>
                <a:gd name="T14" fmla="*/ 0 w 211"/>
                <a:gd name="T15" fmla="*/ 56 h 521"/>
                <a:gd name="T16" fmla="*/ 0 w 211"/>
                <a:gd name="T17" fmla="*/ 0 h 5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521"/>
                <a:gd name="T29" fmla="*/ 211 w 211"/>
                <a:gd name="T30" fmla="*/ 521 h 5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521">
                  <a:moveTo>
                    <a:pt x="0" y="0"/>
                  </a:moveTo>
                  <a:lnTo>
                    <a:pt x="211" y="0"/>
                  </a:lnTo>
                  <a:lnTo>
                    <a:pt x="210" y="521"/>
                  </a:lnTo>
                  <a:lnTo>
                    <a:pt x="3" y="520"/>
                  </a:lnTo>
                  <a:lnTo>
                    <a:pt x="2" y="462"/>
                  </a:lnTo>
                  <a:lnTo>
                    <a:pt x="164" y="463"/>
                  </a:lnTo>
                  <a:lnTo>
                    <a:pt x="164" y="57"/>
                  </a:lnTo>
                  <a:lnTo>
                    <a:pt x="0" y="56"/>
                  </a:lnTo>
                  <a:lnTo>
                    <a:pt x="0"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0" name="Line 66"/>
            <p:cNvSpPr>
              <a:spLocks noChangeAspect="1" noChangeShapeType="1"/>
            </p:cNvSpPr>
            <p:nvPr/>
          </p:nvSpPr>
          <p:spPr bwMode="auto">
            <a:xfrm rot="5400000">
              <a:off x="4754" y="1421"/>
              <a:ext cx="775" cy="0"/>
            </a:xfrm>
            <a:prstGeom prst="line">
              <a:avLst/>
            </a:prstGeom>
            <a:noFill/>
            <a:ln w="19050">
              <a:solidFill>
                <a:srgbClr val="000000"/>
              </a:solidFill>
              <a:prstDash val="lgDashDot"/>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67"/>
            <p:cNvSpPr>
              <a:spLocks noChangeAspect="1" noChangeShapeType="1"/>
            </p:cNvSpPr>
            <p:nvPr/>
          </p:nvSpPr>
          <p:spPr bwMode="auto">
            <a:xfrm rot="16200000" flipH="1">
              <a:off x="5147" y="1069"/>
              <a:ext cx="0" cy="677"/>
            </a:xfrm>
            <a:prstGeom prst="line">
              <a:avLst/>
            </a:prstGeom>
            <a:noFill/>
            <a:ln w="1905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82" name="Text Box 68"/>
          <p:cNvSpPr txBox="1">
            <a:spLocks noChangeAspect="1" noChangeArrowheads="1"/>
          </p:cNvSpPr>
          <p:nvPr/>
        </p:nvSpPr>
        <p:spPr bwMode="auto">
          <a:xfrm>
            <a:off x="10459624" y="2393841"/>
            <a:ext cx="13096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N</a:t>
            </a:r>
            <a:r>
              <a:rPr kumimoji="1" lang="en-US" altLang="zh-CN" sz="2400" b="0" i="0" u="sng"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o</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32c</a:t>
            </a:r>
          </a:p>
        </p:txBody>
      </p:sp>
      <p:grpSp>
        <p:nvGrpSpPr>
          <p:cNvPr id="83" name="Group 70"/>
          <p:cNvGrpSpPr>
            <a:grpSpLocks noChangeAspect="1"/>
          </p:cNvGrpSpPr>
          <p:nvPr/>
        </p:nvGrpSpPr>
        <p:grpSpPr bwMode="auto">
          <a:xfrm>
            <a:off x="9251536" y="3170129"/>
            <a:ext cx="334963" cy="287337"/>
            <a:chOff x="3142" y="1410"/>
            <a:chExt cx="176" cy="150"/>
          </a:xfrm>
        </p:grpSpPr>
        <p:sp>
          <p:nvSpPr>
            <p:cNvPr id="84" name="Oval 71"/>
            <p:cNvSpPr>
              <a:spLocks noChangeAspect="1" noChangeArrowheads="1"/>
            </p:cNvSpPr>
            <p:nvPr/>
          </p:nvSpPr>
          <p:spPr bwMode="auto">
            <a:xfrm>
              <a:off x="3195" y="1477"/>
              <a:ext cx="62" cy="6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5" name="Text Box 72"/>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 pitchFamily="18" charset="-52"/>
                  <a:ea typeface="宋体" panose="02010600030101010101" pitchFamily="2" charset="-122"/>
                </a:rPr>
                <a:t>+</a:t>
              </a:r>
            </a:p>
          </p:txBody>
        </p:sp>
      </p:grpSp>
      <p:sp>
        <p:nvSpPr>
          <p:cNvPr id="86" name="Text Box 73"/>
          <p:cNvSpPr txBox="1">
            <a:spLocks noChangeAspect="1" noChangeArrowheads="1"/>
          </p:cNvSpPr>
          <p:nvPr/>
        </p:nvSpPr>
        <p:spPr bwMode="auto">
          <a:xfrm flipH="1">
            <a:off x="10594561" y="3382854"/>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87" name="Line 74"/>
          <p:cNvSpPr>
            <a:spLocks noChangeShapeType="1"/>
          </p:cNvSpPr>
          <p:nvPr/>
        </p:nvSpPr>
        <p:spPr bwMode="auto">
          <a:xfrm rot="16200000">
            <a:off x="7941054" y="3072498"/>
            <a:ext cx="8874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88" name="Text Box 75"/>
          <p:cNvSpPr txBox="1">
            <a:spLocks noChangeAspect="1" noChangeArrowheads="1"/>
          </p:cNvSpPr>
          <p:nvPr/>
        </p:nvSpPr>
        <p:spPr bwMode="auto">
          <a:xfrm flipH="1">
            <a:off x="8221249" y="2593866"/>
            <a:ext cx="69373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a:solidFill>
                <a:srgbClr val="CC00FF"/>
              </a:solidFill>
              <a:ea typeface="宋体" panose="02010600030101010101" pitchFamily="2" charset="-122"/>
            </a:endParaRPr>
          </a:p>
        </p:txBody>
      </p:sp>
      <p:sp>
        <p:nvSpPr>
          <p:cNvPr id="89" name="Text Box 76"/>
          <p:cNvSpPr txBox="1">
            <a:spLocks noChangeAspect="1" noChangeArrowheads="1"/>
          </p:cNvSpPr>
          <p:nvPr/>
        </p:nvSpPr>
        <p:spPr bwMode="auto">
          <a:xfrm>
            <a:off x="7975186" y="3212991"/>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90" name="Freeform 77"/>
          <p:cNvSpPr>
            <a:spLocks/>
          </p:cNvSpPr>
          <p:nvPr/>
        </p:nvSpPr>
        <p:spPr bwMode="auto">
          <a:xfrm flipV="1">
            <a:off x="8376824" y="3478104"/>
            <a:ext cx="2359025" cy="42862"/>
          </a:xfrm>
          <a:custGeom>
            <a:avLst/>
            <a:gdLst>
              <a:gd name="T0" fmla="*/ 0 w 2227"/>
              <a:gd name="T1" fmla="*/ 0 h 1"/>
              <a:gd name="T2" fmla="*/ 2359025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000000"/>
              </a:solidFill>
              <a:ea typeface="黑体" panose="02010609060101010101" pitchFamily="49" charset="-122"/>
            </a:endParaRPr>
          </a:p>
        </p:txBody>
      </p:sp>
      <p:sp>
        <p:nvSpPr>
          <p:cNvPr id="91" name="Text Box 81"/>
          <p:cNvSpPr txBox="1">
            <a:spLocks noChangeArrowheads="1"/>
          </p:cNvSpPr>
          <p:nvPr/>
        </p:nvSpPr>
        <p:spPr bwMode="auto">
          <a:xfrm>
            <a:off x="9242011" y="2619266"/>
            <a:ext cx="846138"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Fl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/4</a:t>
            </a:r>
          </a:p>
        </p:txBody>
      </p:sp>
      <p:sp>
        <p:nvSpPr>
          <p:cNvPr id="92" name="矩形 91">
            <a:extLst>
              <a:ext uri="{FF2B5EF4-FFF2-40B4-BE49-F238E27FC236}">
                <a16:creationId xmlns:a16="http://schemas.microsoft.com/office/drawing/2014/main" id="{E8DB0D0A-8BE9-6ADA-6C58-96049487BA32}"/>
              </a:ext>
            </a:extLst>
          </p:cNvPr>
          <p:cNvSpPr/>
          <p:nvPr/>
        </p:nvSpPr>
        <p:spPr>
          <a:xfrm>
            <a:off x="211184" y="4074292"/>
            <a:ext cx="6940090"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校核梁的强度。查型钢表得</a:t>
            </a:r>
            <a:r>
              <a:rPr kumimoji="1" lang="en-US" altLang="zh-CN" i="0" dirty="0">
                <a:solidFill>
                  <a:schemeClr val="tx1"/>
                </a:solidFill>
                <a:ea typeface="黑体" panose="02010609060101010101" pitchFamily="49" charset="-122"/>
              </a:rPr>
              <a:t>32c</a:t>
            </a:r>
            <a:r>
              <a:rPr kumimoji="1" lang="zh-CN" altLang="en-US" i="0" dirty="0">
                <a:solidFill>
                  <a:schemeClr val="tx1"/>
                </a:solidFill>
                <a:ea typeface="黑体" panose="02010609060101010101" pitchFamily="49" charset="-122"/>
              </a:rPr>
              <a:t>工字钢的抗弯截面系数</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=760cm</a:t>
            </a:r>
            <a:r>
              <a:rPr kumimoji="1" lang="en-US" altLang="zh-CN" b="0" i="0" baseline="3000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，所以 </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93" name="矩形 92">
            <a:extLst>
              <a:ext uri="{FF2B5EF4-FFF2-40B4-BE49-F238E27FC236}">
                <a16:creationId xmlns:a16="http://schemas.microsoft.com/office/drawing/2014/main" id="{E8DB0D0A-8BE9-6ADA-6C58-96049487BA32}"/>
              </a:ext>
            </a:extLst>
          </p:cNvPr>
          <p:cNvSpPr/>
          <p:nvPr/>
        </p:nvSpPr>
        <p:spPr>
          <a:xfrm>
            <a:off x="211184" y="4997981"/>
            <a:ext cx="8441100" cy="1015663"/>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 </a:t>
            </a:r>
            <a:r>
              <a:rPr kumimoji="1" lang="en-US" altLang="zh-CN" b="0" dirty="0" err="1">
                <a:solidFill>
                  <a:schemeClr val="tx1"/>
                </a:solidFill>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rPr>
              <a:t>/</a:t>
            </a:r>
            <a:r>
              <a:rPr kumimoji="1" lang="en-US" altLang="zh-CN" b="0" dirty="0" err="1">
                <a:solidFill>
                  <a:schemeClr val="tx1"/>
                </a:solidFill>
              </a:rPr>
              <a:t>W</a:t>
            </a:r>
            <a:r>
              <a:rPr kumimoji="1" lang="en-US" altLang="zh-CN" b="0" baseline="-25000" dirty="0" err="1">
                <a:solidFill>
                  <a:schemeClr val="tx1"/>
                </a:solidFill>
              </a:rPr>
              <a:t>z</a:t>
            </a:r>
            <a:r>
              <a:rPr kumimoji="1" lang="en-US" altLang="zh-CN" b="0" i="0" dirty="0">
                <a:solidFill>
                  <a:schemeClr val="tx1"/>
                </a:solidFill>
                <a:ea typeface="黑体" panose="02010609060101010101" pitchFamily="49" charset="-122"/>
              </a:rPr>
              <a:t>=87.5</a:t>
            </a:r>
            <a:r>
              <a:rPr kumimoji="1" lang="en-US" altLang="zh-CN" b="0" i="0" dirty="0">
                <a:solidFill>
                  <a:schemeClr val="tx1"/>
                </a:solidFill>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6</a:t>
            </a:r>
            <a:r>
              <a:rPr kumimoji="1" lang="en-US" altLang="zh-CN" b="0" i="0" dirty="0">
                <a:solidFill>
                  <a:schemeClr val="tx1"/>
                </a:solidFill>
                <a:ea typeface="黑体" panose="02010609060101010101" pitchFamily="49" charset="-122"/>
              </a:rPr>
              <a:t>/(760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 </a:t>
            </a:r>
            <a:r>
              <a:rPr kumimoji="1" lang="en-US" altLang="zh-CN" b="0" i="0" dirty="0" err="1">
                <a:solidFill>
                  <a:schemeClr val="tx1"/>
                </a:solidFill>
                <a:ea typeface="黑体" panose="02010609060101010101" pitchFamily="49" charset="-122"/>
              </a:rPr>
              <a:t>MPa</a:t>
            </a:r>
            <a:r>
              <a:rPr kumimoji="1" lang="en-US" altLang="zh-CN" b="0" i="0" dirty="0">
                <a:solidFill>
                  <a:schemeClr val="tx1"/>
                </a:solidFill>
                <a:ea typeface="黑体" panose="02010609060101010101" pitchFamily="49" charset="-122"/>
              </a:rPr>
              <a:t>=115.1MPa &lt;[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a:t>
            </a:r>
          </a:p>
          <a:p>
            <a:pPr>
              <a:lnSpc>
                <a:spcPct val="120000"/>
              </a:lnSpc>
            </a:pPr>
            <a:endParaRPr lang="en-US" altLang="zh-CN" i="0" dirty="0">
              <a:solidFill>
                <a:schemeClr val="tx1"/>
              </a:solidFill>
              <a:latin typeface="黑体" panose="02010609060101010101" pitchFamily="49" charset="-122"/>
              <a:ea typeface="黑体" panose="02010609060101010101" pitchFamily="49" charset="-122"/>
            </a:endParaRPr>
          </a:p>
        </p:txBody>
      </p:sp>
      <p:sp>
        <p:nvSpPr>
          <p:cNvPr id="94" name="矩形 93">
            <a:extLst>
              <a:ext uri="{FF2B5EF4-FFF2-40B4-BE49-F238E27FC236}">
                <a16:creationId xmlns:a16="http://schemas.microsoft.com/office/drawing/2014/main" id="{E8DB0D0A-8BE9-6ADA-6C58-96049487BA32}"/>
              </a:ext>
            </a:extLst>
          </p:cNvPr>
          <p:cNvSpPr/>
          <p:nvPr/>
        </p:nvSpPr>
        <p:spPr>
          <a:xfrm>
            <a:off x="1127448" y="5661248"/>
            <a:ext cx="3940600" cy="493148"/>
          </a:xfrm>
          <a:prstGeom prst="rect">
            <a:avLst/>
          </a:prstGeom>
        </p:spPr>
        <p:txBody>
          <a:bodyPr wrap="square">
            <a:spAutoFit/>
          </a:bodyPr>
          <a:lstStyle/>
          <a:p>
            <a:pPr>
              <a:lnSpc>
                <a:spcPct val="120000"/>
              </a:lnSpc>
            </a:pPr>
            <a:r>
              <a:rPr kumimoji="1" lang="zh-CN" altLang="en-US" i="0" dirty="0">
                <a:ea typeface="黑体" panose="02010609060101010101" pitchFamily="49" charset="-122"/>
              </a:rPr>
              <a:t>说明梁的工作是安全的。</a:t>
            </a:r>
            <a:endParaRPr kumimoji="1" lang="en-US" altLang="zh-CN" i="0" dirty="0">
              <a:ea typeface="黑体" panose="02010609060101010101" pitchFamily="49" charset="-122"/>
            </a:endParaRPr>
          </a:p>
        </p:txBody>
      </p:sp>
    </p:spTree>
    <p:extLst>
      <p:ext uri="{BB962C8B-B14F-4D97-AF65-F5344CB8AC3E}">
        <p14:creationId xmlns:p14="http://schemas.microsoft.com/office/powerpoint/2010/main" val="39788611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0"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wedge">
                                      <p:cBhvr>
                                        <p:cTn id="9" dur="2000"/>
                                        <p:tgtEl>
                                          <p:spTgt spid="53"/>
                                        </p:tgtEl>
                                      </p:cBhvr>
                                    </p:animEffect>
                                  </p:childTnLst>
                                </p:cTn>
                              </p:par>
                              <p:par>
                                <p:cTn id="10" presetID="12" presetClass="entr" presetSubtype="1" fill="hold" nodeType="with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slide(fromTop)">
                                      <p:cBhvr>
                                        <p:cTn id="12" dur="30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20" presetClass="entr" presetSubtype="0" fill="hold" grpId="0" nodeType="withEffect">
                                  <p:stCondLst>
                                    <p:cond delay="3000"/>
                                  </p:stCondLst>
                                  <p:childTnLst>
                                    <p:set>
                                      <p:cBhvr>
                                        <p:cTn id="26" dur="1" fill="hold">
                                          <p:stCondLst>
                                            <p:cond delay="0"/>
                                          </p:stCondLst>
                                        </p:cTn>
                                        <p:tgtEl>
                                          <p:spTgt spid="82"/>
                                        </p:tgtEl>
                                        <p:attrNameLst>
                                          <p:attrName>style.visibility</p:attrName>
                                        </p:attrNameLst>
                                      </p:cBhvr>
                                      <p:to>
                                        <p:strVal val="visible"/>
                                      </p:to>
                                    </p:set>
                                    <p:animEffect transition="in" filter="wedge">
                                      <p:cBhvr>
                                        <p:cTn id="27" dur="2000"/>
                                        <p:tgtEl>
                                          <p:spTgt spid="82"/>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90"/>
                                        </p:tgtEl>
                                        <p:attrNameLst>
                                          <p:attrName>style.visibility</p:attrName>
                                        </p:attrNameLst>
                                      </p:cBhvr>
                                      <p:to>
                                        <p:strVal val="visible"/>
                                      </p:to>
                                    </p:set>
                                    <p:animEffect transition="in" filter="slide(fromLeft)">
                                      <p:cBhvr>
                                        <p:cTn id="30" dur="5000"/>
                                        <p:tgtEl>
                                          <p:spTgt spid="90"/>
                                        </p:tgtEl>
                                      </p:cBhvr>
                                    </p:animEffect>
                                  </p:childTnLst>
                                </p:cTn>
                              </p:par>
                              <p:par>
                                <p:cTn id="31" presetID="19" presetClass="entr" presetSubtype="1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anim calcmode="lin" valueType="num">
                                      <p:cBhvr>
                                        <p:cTn id="33" dur="5000" fill="hold"/>
                                        <p:tgtEl>
                                          <p:spTgt spid="86"/>
                                        </p:tgtEl>
                                        <p:attrNameLst>
                                          <p:attrName>ppt_w</p:attrName>
                                        </p:attrNameLst>
                                      </p:cBhvr>
                                      <p:tavLst>
                                        <p:tav tm="0" fmla="#ppt_w*sin(2.5*pi*$)">
                                          <p:val>
                                            <p:fltVal val="0"/>
                                          </p:val>
                                        </p:tav>
                                        <p:tav tm="100000">
                                          <p:val>
                                            <p:fltVal val="1"/>
                                          </p:val>
                                        </p:tav>
                                      </p:tavLst>
                                    </p:anim>
                                    <p:anim calcmode="lin" valueType="num">
                                      <p:cBhvr>
                                        <p:cTn id="34" dur="5000" fill="hold"/>
                                        <p:tgtEl>
                                          <p:spTgt spid="86"/>
                                        </p:tgtEl>
                                        <p:attrNameLst>
                                          <p:attrName>ppt_h</p:attrName>
                                        </p:attrNameLst>
                                      </p:cBhvr>
                                      <p:tavLst>
                                        <p:tav tm="0">
                                          <p:val>
                                            <p:strVal val="#ppt_h"/>
                                          </p:val>
                                        </p:tav>
                                        <p:tav tm="100000">
                                          <p:val>
                                            <p:strVal val="#ppt_h"/>
                                          </p:val>
                                        </p:tav>
                                      </p:tavLst>
                                    </p:anim>
                                  </p:childTnLst>
                                </p:cTn>
                              </p:par>
                              <p:par>
                                <p:cTn id="35" presetID="12" presetClass="entr" presetSubtype="4" fill="hold" grpId="0" nodeType="with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slide(fromBottom)">
                                      <p:cBhvr>
                                        <p:cTn id="37" dur="5000"/>
                                        <p:tgtEl>
                                          <p:spTgt spid="87"/>
                                        </p:tgtEl>
                                      </p:cBhvr>
                                    </p:animEffect>
                                  </p:childTnLst>
                                </p:cTn>
                              </p:par>
                              <p:par>
                                <p:cTn id="38" presetID="19" presetClass="entr" presetSubtype="10" fill="hold" nodeType="withEffect">
                                  <p:stCondLst>
                                    <p:cond delay="0"/>
                                  </p:stCondLst>
                                  <p:childTnLst>
                                    <p:set>
                                      <p:cBhvr>
                                        <p:cTn id="39" dur="1" fill="hold">
                                          <p:stCondLst>
                                            <p:cond delay="0"/>
                                          </p:stCondLst>
                                        </p:cTn>
                                        <p:tgtEl>
                                          <p:spTgt spid="88"/>
                                        </p:tgtEl>
                                        <p:attrNameLst>
                                          <p:attrName>style.visibility</p:attrName>
                                        </p:attrNameLst>
                                      </p:cBhvr>
                                      <p:to>
                                        <p:strVal val="visible"/>
                                      </p:to>
                                    </p:set>
                                    <p:anim calcmode="lin" valueType="num">
                                      <p:cBhvr>
                                        <p:cTn id="40" dur="5000" fill="hold"/>
                                        <p:tgtEl>
                                          <p:spTgt spid="88"/>
                                        </p:tgtEl>
                                        <p:attrNameLst>
                                          <p:attrName>ppt_w</p:attrName>
                                        </p:attrNameLst>
                                      </p:cBhvr>
                                      <p:tavLst>
                                        <p:tav tm="0" fmla="#ppt_w*sin(2.5*pi*$)">
                                          <p:val>
                                            <p:fltVal val="0"/>
                                          </p:val>
                                        </p:tav>
                                        <p:tav tm="100000">
                                          <p:val>
                                            <p:fltVal val="1"/>
                                          </p:val>
                                        </p:tav>
                                      </p:tavLst>
                                    </p:anim>
                                    <p:anim calcmode="lin" valueType="num">
                                      <p:cBhvr>
                                        <p:cTn id="41" dur="5000" fill="hold"/>
                                        <p:tgtEl>
                                          <p:spTgt spid="88"/>
                                        </p:tgtEl>
                                        <p:attrNameLst>
                                          <p:attrName>ppt_h</p:attrName>
                                        </p:attrNameLst>
                                      </p:cBhvr>
                                      <p:tavLst>
                                        <p:tav tm="0">
                                          <p:val>
                                            <p:strVal val="#ppt_h"/>
                                          </p:val>
                                        </p:tav>
                                        <p:tav tm="100000">
                                          <p:val>
                                            <p:strVal val="#ppt_h"/>
                                          </p:val>
                                        </p:tav>
                                      </p:tavLst>
                                    </p:anim>
                                  </p:childTnLst>
                                </p:cTn>
                              </p:par>
                              <p:par>
                                <p:cTn id="42" presetID="19" presetClass="entr" presetSubtype="10" fill="hold" grpId="0" nodeType="withEffect">
                                  <p:stCondLst>
                                    <p:cond delay="0"/>
                                  </p:stCondLst>
                                  <p:childTnLst>
                                    <p:set>
                                      <p:cBhvr>
                                        <p:cTn id="43" dur="1" fill="hold">
                                          <p:stCondLst>
                                            <p:cond delay="0"/>
                                          </p:stCondLst>
                                        </p:cTn>
                                        <p:tgtEl>
                                          <p:spTgt spid="89"/>
                                        </p:tgtEl>
                                        <p:attrNameLst>
                                          <p:attrName>style.visibility</p:attrName>
                                        </p:attrNameLst>
                                      </p:cBhvr>
                                      <p:to>
                                        <p:strVal val="visible"/>
                                      </p:to>
                                    </p:set>
                                    <p:anim calcmode="lin" valueType="num">
                                      <p:cBhvr>
                                        <p:cTn id="44" dur="5000" fill="hold"/>
                                        <p:tgtEl>
                                          <p:spTgt spid="89"/>
                                        </p:tgtEl>
                                        <p:attrNameLst>
                                          <p:attrName>ppt_w</p:attrName>
                                        </p:attrNameLst>
                                      </p:cBhvr>
                                      <p:tavLst>
                                        <p:tav tm="0" fmla="#ppt_w*sin(2.5*pi*$)">
                                          <p:val>
                                            <p:fltVal val="0"/>
                                          </p:val>
                                        </p:tav>
                                        <p:tav tm="100000">
                                          <p:val>
                                            <p:fltVal val="1"/>
                                          </p:val>
                                        </p:tav>
                                      </p:tavLst>
                                    </p:anim>
                                    <p:anim calcmode="lin" valueType="num">
                                      <p:cBhvr>
                                        <p:cTn id="45" dur="5000" fill="hold"/>
                                        <p:tgtEl>
                                          <p:spTgt spid="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6" fill="hold">
                            <p:stCondLst>
                              <p:cond delay="5000"/>
                            </p:stCondLst>
                            <p:childTnLst>
                              <p:par>
                                <p:cTn id="47" presetID="22" presetClass="entr" presetSubtype="8" fill="hold" grpId="0" nodeType="after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wipe(left)">
                                      <p:cBhvr>
                                        <p:cTn id="49" dur="5000"/>
                                        <p:tgtEl>
                                          <p:spTgt spid="52"/>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91">
                                            <p:txEl>
                                              <p:pRg st="0" end="0"/>
                                            </p:txEl>
                                          </p:spTgt>
                                        </p:tgtEl>
                                        <p:attrNameLst>
                                          <p:attrName>style.visibility</p:attrName>
                                        </p:attrNameLst>
                                      </p:cBhvr>
                                      <p:to>
                                        <p:strVal val="visible"/>
                                      </p:to>
                                    </p:set>
                                    <p:anim calcmode="lin" valueType="num">
                                      <p:cBhvr>
                                        <p:cTn id="52" dur="5000" fill="hold"/>
                                        <p:tgtEl>
                                          <p:spTgt spid="91">
                                            <p:txEl>
                                              <p:pRg st="0" end="0"/>
                                            </p:txEl>
                                          </p:spTgt>
                                        </p:tgtEl>
                                        <p:attrNameLst>
                                          <p:attrName>ppt_w</p:attrName>
                                        </p:attrNameLst>
                                      </p:cBhvr>
                                      <p:tavLst>
                                        <p:tav tm="0" fmla="#ppt_w*sin(2.5*pi*$)">
                                          <p:val>
                                            <p:fltVal val="0"/>
                                          </p:val>
                                        </p:tav>
                                        <p:tav tm="100000">
                                          <p:val>
                                            <p:fltVal val="1"/>
                                          </p:val>
                                        </p:tav>
                                      </p:tavLst>
                                    </p:anim>
                                    <p:anim calcmode="lin" valueType="num">
                                      <p:cBhvr>
                                        <p:cTn id="53" dur="5000" fill="hold"/>
                                        <p:tgtEl>
                                          <p:spTgt spid="91">
                                            <p:txEl>
                                              <p:pRg st="0" end="0"/>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4" fill="hold">
                            <p:stCondLst>
                              <p:cond delay="10000"/>
                            </p:stCondLst>
                            <p:childTnLst>
                              <p:par>
                                <p:cTn id="55" presetID="15" presetClass="entr" presetSubtype="0" fill="hold" nodeType="afterEffect">
                                  <p:stCondLst>
                                    <p:cond delay="0"/>
                                  </p:stCondLst>
                                  <p:childTnLst>
                                    <p:set>
                                      <p:cBhvr>
                                        <p:cTn id="56" dur="1" fill="hold">
                                          <p:stCondLst>
                                            <p:cond delay="0"/>
                                          </p:stCondLst>
                                        </p:cTn>
                                        <p:tgtEl>
                                          <p:spTgt spid="83"/>
                                        </p:tgtEl>
                                        <p:attrNameLst>
                                          <p:attrName>style.visibility</p:attrName>
                                        </p:attrNameLst>
                                      </p:cBhvr>
                                      <p:to>
                                        <p:strVal val="visible"/>
                                      </p:to>
                                    </p:set>
                                    <p:anim calcmode="lin" valueType="num">
                                      <p:cBhvr>
                                        <p:cTn id="57" dur="2000" fill="hold"/>
                                        <p:tgtEl>
                                          <p:spTgt spid="83"/>
                                        </p:tgtEl>
                                        <p:attrNameLst>
                                          <p:attrName>ppt_w</p:attrName>
                                        </p:attrNameLst>
                                      </p:cBhvr>
                                      <p:tavLst>
                                        <p:tav tm="0">
                                          <p:val>
                                            <p:fltVal val="0"/>
                                          </p:val>
                                        </p:tav>
                                        <p:tav tm="100000">
                                          <p:val>
                                            <p:strVal val="#ppt_w"/>
                                          </p:val>
                                        </p:tav>
                                      </p:tavLst>
                                    </p:anim>
                                    <p:anim calcmode="lin" valueType="num">
                                      <p:cBhvr>
                                        <p:cTn id="58" dur="2000" fill="hold"/>
                                        <p:tgtEl>
                                          <p:spTgt spid="83"/>
                                        </p:tgtEl>
                                        <p:attrNameLst>
                                          <p:attrName>ppt_h</p:attrName>
                                        </p:attrNameLst>
                                      </p:cBhvr>
                                      <p:tavLst>
                                        <p:tav tm="0">
                                          <p:val>
                                            <p:fltVal val="0"/>
                                          </p:val>
                                        </p:tav>
                                        <p:tav tm="100000">
                                          <p:val>
                                            <p:strVal val="#ppt_h"/>
                                          </p:val>
                                        </p:tav>
                                      </p:tavLst>
                                    </p:anim>
                                    <p:anim calcmode="lin" valueType="num">
                                      <p:cBhvr>
                                        <p:cTn id="59" dur="2000" fill="hold"/>
                                        <p:tgtEl>
                                          <p:spTgt spid="83"/>
                                        </p:tgtEl>
                                        <p:attrNameLst>
                                          <p:attrName>ppt_x</p:attrName>
                                        </p:attrNameLst>
                                      </p:cBhvr>
                                      <p:tavLst>
                                        <p:tav tm="0" fmla="#ppt_x+(cos(-2*pi*(1-$))*-#ppt_x-sin(-2*pi*(1-$))*(1-#ppt_y))*(1-$)">
                                          <p:val>
                                            <p:fltVal val="0"/>
                                          </p:val>
                                        </p:tav>
                                        <p:tav tm="100000">
                                          <p:val>
                                            <p:fltVal val="1"/>
                                          </p:val>
                                        </p:tav>
                                      </p:tavLst>
                                    </p:anim>
                                    <p:anim calcmode="lin" valueType="num">
                                      <p:cBhvr>
                                        <p:cTn id="60" dur="2000" fill="hold"/>
                                        <p:tgtEl>
                                          <p:spTgt spid="8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51" grpId="0"/>
      <p:bldP spid="52" grpId="0" animBg="1"/>
      <p:bldP spid="82" grpId="0"/>
      <p:bldP spid="87" grpId="0" animBg="1"/>
      <p:bldP spid="89" grpId="0" autoUpdateAnimBg="0"/>
      <p:bldP spid="90" grpId="0" animBg="1"/>
      <p:bldP spid="91" grpId="0" build="p" autoUpdateAnimBg="0"/>
      <p:bldP spid="92" grpId="0"/>
      <p:bldP spid="93" grpId="0"/>
      <p:bldP spid="9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11576347" cy="978729"/>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kumimoji="1" lang="en-US" altLang="zh-CN" i="0" dirty="0">
                <a:solidFill>
                  <a:schemeClr val="tx1"/>
                </a:solidFill>
                <a:ea typeface="黑体" panose="02010609060101010101" pitchFamily="49" charset="-122"/>
              </a:rPr>
              <a:t>T</a:t>
            </a:r>
            <a:r>
              <a:rPr kumimoji="1" lang="zh-CN" altLang="en-US" i="0" dirty="0">
                <a:solidFill>
                  <a:schemeClr val="tx1"/>
                </a:solidFill>
                <a:ea typeface="黑体" panose="02010609060101010101" pitchFamily="49" charset="-122"/>
              </a:rPr>
              <a:t>形截面外伸梁尺寸及受载如图，截面对形心轴</a:t>
            </a:r>
            <a:r>
              <a:rPr kumimoji="1" lang="en-US" altLang="zh-CN" dirty="0">
                <a:solidFill>
                  <a:schemeClr val="tx1"/>
                </a:solidFill>
                <a:ea typeface="黑体" panose="02010609060101010101" pitchFamily="49" charset="-122"/>
              </a:rPr>
              <a:t>z</a:t>
            </a:r>
            <a:r>
              <a:rPr kumimoji="1" lang="zh-CN" altLang="en-US" i="0" dirty="0">
                <a:solidFill>
                  <a:schemeClr val="tx1"/>
                </a:solidFill>
                <a:ea typeface="黑体" panose="02010609060101010101" pitchFamily="49" charset="-122"/>
              </a:rPr>
              <a:t>的惯性矩</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=86.8cm</a:t>
            </a:r>
            <a:r>
              <a:rPr kumimoji="1" lang="en-US" altLang="zh-CN" b="0" i="0" baseline="30000" dirty="0">
                <a:solidFill>
                  <a:schemeClr val="tx1"/>
                </a:solidFill>
                <a:ea typeface="黑体" panose="02010609060101010101" pitchFamily="49" charset="-122"/>
              </a:rPr>
              <a:t>4</a:t>
            </a:r>
            <a:r>
              <a:rPr kumimoji="1" lang="zh-CN" altLang="en-US"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y</a:t>
            </a:r>
            <a:r>
              <a:rPr kumimoji="1" lang="en-US" altLang="zh-CN" b="0" i="0" baseline="-25000" dirty="0" err="1">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=3.8cm</a:t>
            </a:r>
            <a:r>
              <a:rPr kumimoji="1" lang="zh-CN" altLang="en-US" i="0" dirty="0">
                <a:solidFill>
                  <a:schemeClr val="tx1"/>
                </a:solidFill>
                <a:ea typeface="黑体" panose="02010609060101010101" pitchFamily="49" charset="-122"/>
              </a:rPr>
              <a:t>，材料的许用拉应力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]=30MPa</a:t>
            </a:r>
            <a:r>
              <a:rPr kumimoji="1" lang="zh-CN" altLang="en-US" i="0" dirty="0">
                <a:solidFill>
                  <a:schemeClr val="tx1"/>
                </a:solidFill>
                <a:ea typeface="黑体" panose="02010609060101010101" pitchFamily="49" charset="-122"/>
              </a:rPr>
              <a:t>，许用压应力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]=60MPa</a:t>
            </a:r>
            <a:r>
              <a:rPr kumimoji="1" lang="zh-CN" altLang="en-US" i="0" dirty="0">
                <a:solidFill>
                  <a:schemeClr val="tx1"/>
                </a:solidFill>
                <a:ea typeface="黑体" panose="02010609060101010101" pitchFamily="49" charset="-122"/>
              </a:rPr>
              <a:t>。试校核强度。</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1663587"/>
            <a:ext cx="6274894" cy="2012859"/>
          </a:xfrm>
          <a:prstGeom prst="rect">
            <a:avLst/>
          </a:prstGeom>
        </p:spPr>
        <p:txBody>
          <a:bodyPr wrap="square">
            <a:spAutoFit/>
          </a:bodyPr>
          <a:lstStyle/>
          <a:p>
            <a:pPr lvl="0" algn="just">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由静力平衡方程求出梁的支反力</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=0.6kN</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=2.2kN</a:t>
            </a:r>
            <a:r>
              <a:rPr kumimoji="1" lang="zh-CN" altLang="en-US" i="0" dirty="0">
                <a:solidFill>
                  <a:schemeClr val="tx1"/>
                </a:solidFill>
                <a:ea typeface="黑体" panose="02010609060101010101" pitchFamily="49" charset="-122"/>
              </a:rPr>
              <a:t>作弯矩图。</a:t>
            </a:r>
            <a:endParaRPr kumimoji="1" lang="en-US" altLang="zh-CN" i="0" dirty="0">
              <a:solidFill>
                <a:schemeClr val="tx1"/>
              </a:solidFill>
              <a:ea typeface="黑体" panose="02010609060101010101" pitchFamily="49" charset="-122"/>
            </a:endParaRPr>
          </a:p>
          <a:p>
            <a:pPr algn="just">
              <a:lnSpc>
                <a:spcPct val="130000"/>
              </a:lnSpc>
            </a:pPr>
            <a:r>
              <a:rPr lang="zh-CN" altLang="en-US" i="0" dirty="0">
                <a:solidFill>
                  <a:schemeClr val="tx1"/>
                </a:solidFill>
                <a:latin typeface="+mn-lt"/>
                <a:ea typeface="黑体" panose="02010609060101010101" pitchFamily="49" charset="-122"/>
              </a:rPr>
              <a:t>得最大正弯矩在截面</a:t>
            </a:r>
            <a:r>
              <a:rPr lang="en-US" altLang="zh-CN" b="0" dirty="0">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处，</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C</a:t>
            </a:r>
            <a:r>
              <a:rPr lang="en-US" altLang="zh-CN" b="0" i="0" dirty="0">
                <a:solidFill>
                  <a:schemeClr val="tx1"/>
                </a:solidFill>
                <a:latin typeface="+mn-lt"/>
                <a:ea typeface="黑体" panose="02010609060101010101" pitchFamily="49" charset="-122"/>
              </a:rPr>
              <a:t>=0.6kN·m</a:t>
            </a:r>
            <a:r>
              <a:rPr lang="zh-CN" altLang="en-US" i="0" dirty="0">
                <a:solidFill>
                  <a:schemeClr val="tx1"/>
                </a:solidFill>
                <a:latin typeface="+mn-lt"/>
                <a:ea typeface="黑体" panose="02010609060101010101" pitchFamily="49" charset="-122"/>
              </a:rPr>
              <a:t>，最大负弯矩在截面</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处，</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a:t>
            </a:r>
            <a:r>
              <a:rPr lang="en-US" altLang="zh-CN" b="0" i="0" dirty="0">
                <a:solidFill>
                  <a:schemeClr val="tx1"/>
                </a:solidFill>
                <a:latin typeface="+mj-ea"/>
                <a:ea typeface="+mj-ea"/>
              </a:rPr>
              <a:t>-</a:t>
            </a:r>
            <a:r>
              <a:rPr lang="en-US" altLang="zh-CN" b="0" i="0" dirty="0">
                <a:solidFill>
                  <a:schemeClr val="tx1"/>
                </a:solidFill>
                <a:latin typeface="+mn-lt"/>
                <a:ea typeface="黑体" panose="02010609060101010101" pitchFamily="49" charset="-122"/>
              </a:rPr>
              <a:t>0.8kN·m</a:t>
            </a:r>
            <a:r>
              <a:rPr lang="zh-CN" altLang="en-US" i="0" dirty="0">
                <a:solidFill>
                  <a:schemeClr val="tx1"/>
                </a:solidFill>
                <a:latin typeface="+mn-lt"/>
                <a:ea typeface="黑体" panose="02010609060101010101" pitchFamily="49" charset="-122"/>
              </a:rPr>
              <a:t>。 </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479728" y="1869408"/>
            <a:ext cx="5592936" cy="3636404"/>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4" y="3527453"/>
            <a:ext cx="6249495"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校核梁的强度。显然截面</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和截面</a:t>
            </a:r>
            <a:r>
              <a:rPr kumimoji="1" lang="en-US" altLang="zh-CN" b="0" dirty="0">
                <a:solidFill>
                  <a:schemeClr val="tx1"/>
                </a:solidFill>
                <a:ea typeface="黑体" panose="02010609060101010101" pitchFamily="49" charset="-122"/>
              </a:rPr>
              <a:t>B</a:t>
            </a:r>
            <a:r>
              <a:rPr kumimoji="1" lang="zh-CN" altLang="en-US" i="0" dirty="0">
                <a:solidFill>
                  <a:schemeClr val="tx1"/>
                </a:solidFill>
                <a:ea typeface="黑体" panose="02010609060101010101" pitchFamily="49" charset="-122"/>
              </a:rPr>
              <a:t>均为危险截面，都要进行强度校核</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95" name="Group 3"/>
          <p:cNvGrpSpPr>
            <a:grpSpLocks/>
          </p:cNvGrpSpPr>
          <p:nvPr/>
        </p:nvGrpSpPr>
        <p:grpSpPr bwMode="auto">
          <a:xfrm>
            <a:off x="6479728" y="1855120"/>
            <a:ext cx="4102100" cy="1908175"/>
            <a:chOff x="2322" y="1043"/>
            <a:chExt cx="2584" cy="1202"/>
          </a:xfrm>
        </p:grpSpPr>
        <p:grpSp>
          <p:nvGrpSpPr>
            <p:cNvPr id="96" name="Group 4"/>
            <p:cNvGrpSpPr>
              <a:grpSpLocks/>
            </p:cNvGrpSpPr>
            <p:nvPr/>
          </p:nvGrpSpPr>
          <p:grpSpPr bwMode="auto">
            <a:xfrm>
              <a:off x="2322" y="1043"/>
              <a:ext cx="2584" cy="1202"/>
              <a:chOff x="2322" y="1043"/>
              <a:chExt cx="2584" cy="1202"/>
            </a:xfrm>
          </p:grpSpPr>
          <p:sp>
            <p:nvSpPr>
              <p:cNvPr id="98" name="Text Box 5"/>
              <p:cNvSpPr txBox="1">
                <a:spLocks noChangeAspect="1" noChangeArrowheads="1"/>
              </p:cNvSpPr>
              <p:nvPr/>
            </p:nvSpPr>
            <p:spPr bwMode="auto">
              <a:xfrm flipH="1">
                <a:off x="4274" y="1052"/>
                <a:ext cx="63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0.8kN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99" name="Text Box 6"/>
              <p:cNvSpPr txBox="1">
                <a:spLocks noChangeAspect="1" noChangeArrowheads="1"/>
              </p:cNvSpPr>
              <p:nvPr/>
            </p:nvSpPr>
            <p:spPr bwMode="auto">
              <a:xfrm flipH="1">
                <a:off x="4113" y="1650"/>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100" name="Line 7"/>
              <p:cNvSpPr>
                <a:spLocks noChangeShapeType="1"/>
              </p:cNvSpPr>
              <p:nvPr/>
            </p:nvSpPr>
            <p:spPr bwMode="auto">
              <a:xfrm>
                <a:off x="2575" y="1695"/>
                <a:ext cx="170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Text Box 8"/>
              <p:cNvSpPr txBox="1">
                <a:spLocks noChangeAspect="1" noChangeArrowheads="1"/>
              </p:cNvSpPr>
              <p:nvPr/>
            </p:nvSpPr>
            <p:spPr bwMode="auto">
              <a:xfrm>
                <a:off x="2606" y="1950"/>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2" name="Line 9"/>
              <p:cNvSpPr>
                <a:spLocks noChangeAspect="1" noChangeShapeType="1"/>
              </p:cNvSpPr>
              <p:nvPr/>
            </p:nvSpPr>
            <p:spPr bwMode="auto">
              <a:xfrm>
                <a:off x="3149" y="207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10"/>
              <p:cNvSpPr>
                <a:spLocks noChangeAspect="1" noChangeShapeType="1"/>
              </p:cNvSpPr>
              <p:nvPr/>
            </p:nvSpPr>
            <p:spPr bwMode="auto">
              <a:xfrm>
                <a:off x="3699" y="2199"/>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11"/>
              <p:cNvSpPr txBox="1">
                <a:spLocks noChangeAspect="1" noChangeArrowheads="1"/>
              </p:cNvSpPr>
              <p:nvPr/>
            </p:nvSpPr>
            <p:spPr bwMode="auto">
              <a:xfrm>
                <a:off x="3100"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5" name="Text Box 12"/>
              <p:cNvSpPr txBox="1">
                <a:spLocks noChangeAspect="1" noChangeArrowheads="1"/>
              </p:cNvSpPr>
              <p:nvPr/>
            </p:nvSpPr>
            <p:spPr bwMode="auto">
              <a:xfrm flipH="1">
                <a:off x="2943" y="1643"/>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06" name="Line 13"/>
              <p:cNvSpPr>
                <a:spLocks noChangeAspect="1" noChangeShapeType="1"/>
              </p:cNvSpPr>
              <p:nvPr/>
            </p:nvSpPr>
            <p:spPr bwMode="auto">
              <a:xfrm>
                <a:off x="258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Text Box 14"/>
              <p:cNvSpPr txBox="1">
                <a:spLocks noChangeAspect="1" noChangeArrowheads="1"/>
              </p:cNvSpPr>
              <p:nvPr/>
            </p:nvSpPr>
            <p:spPr bwMode="auto">
              <a:xfrm flipH="1">
                <a:off x="2322" y="1595"/>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A</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Line 15"/>
              <p:cNvSpPr>
                <a:spLocks noChangeAspect="1" noChangeShapeType="1"/>
              </p:cNvSpPr>
              <p:nvPr/>
            </p:nvSpPr>
            <p:spPr bwMode="auto">
              <a:xfrm flipH="1">
                <a:off x="3144" y="1145"/>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Line 16"/>
              <p:cNvSpPr>
                <a:spLocks noChangeAspect="1" noChangeShapeType="1"/>
              </p:cNvSpPr>
              <p:nvPr/>
            </p:nvSpPr>
            <p:spPr bwMode="auto">
              <a:xfrm>
                <a:off x="369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7"/>
              <p:cNvSpPr>
                <a:spLocks noChangeAspect="1" noChangeShapeType="1"/>
              </p:cNvSpPr>
              <p:nvPr/>
            </p:nvSpPr>
            <p:spPr bwMode="auto">
              <a:xfrm>
                <a:off x="4258"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8"/>
              <p:cNvSpPr txBox="1">
                <a:spLocks noChangeAspect="1" noChangeArrowheads="1"/>
              </p:cNvSpPr>
              <p:nvPr/>
            </p:nvSpPr>
            <p:spPr bwMode="auto">
              <a:xfrm>
                <a:off x="3657"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12" name="Text Box 19"/>
              <p:cNvSpPr txBox="1">
                <a:spLocks noChangeAspect="1" noChangeArrowheads="1"/>
              </p:cNvSpPr>
              <p:nvPr/>
            </p:nvSpPr>
            <p:spPr bwMode="auto">
              <a:xfrm flipH="1">
                <a:off x="3142" y="1043"/>
                <a:ext cx="61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2kN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13" name="Line 20"/>
              <p:cNvSpPr>
                <a:spLocks noChangeAspect="1" noChangeShapeType="1"/>
              </p:cNvSpPr>
              <p:nvPr/>
            </p:nvSpPr>
            <p:spPr bwMode="auto">
              <a:xfrm>
                <a:off x="2593"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Line 21"/>
              <p:cNvSpPr>
                <a:spLocks noChangeAspect="1" noChangeShapeType="1"/>
              </p:cNvSpPr>
              <p:nvPr/>
            </p:nvSpPr>
            <p:spPr bwMode="auto">
              <a:xfrm>
                <a:off x="3145"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2"/>
              <p:cNvSpPr txBox="1">
                <a:spLocks noChangeAspect="1" noChangeArrowheads="1"/>
              </p:cNvSpPr>
              <p:nvPr/>
            </p:nvSpPr>
            <p:spPr bwMode="auto">
              <a:xfrm flipH="1">
                <a:off x="3683" y="1658"/>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B</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97" name="Line 23"/>
            <p:cNvSpPr>
              <a:spLocks noChangeAspect="1" noChangeShapeType="1"/>
            </p:cNvSpPr>
            <p:nvPr/>
          </p:nvSpPr>
          <p:spPr bwMode="auto">
            <a:xfrm flipH="1">
              <a:off x="4273" y="1164"/>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7" name="Freeform 26" descr="浅色竖线"/>
          <p:cNvSpPr>
            <a:spLocks noChangeAspect="1"/>
          </p:cNvSpPr>
          <p:nvPr/>
        </p:nvSpPr>
        <p:spPr bwMode="auto">
          <a:xfrm>
            <a:off x="6882953" y="4533232"/>
            <a:ext cx="2652713" cy="750888"/>
          </a:xfrm>
          <a:custGeom>
            <a:avLst/>
            <a:gdLst>
              <a:gd name="T0" fmla="*/ 0 w 1671"/>
              <a:gd name="T1" fmla="*/ 338138 h 473"/>
              <a:gd name="T2" fmla="*/ 862013 w 1671"/>
              <a:gd name="T3" fmla="*/ 0 h 473"/>
              <a:gd name="T4" fmla="*/ 1228725 w 1671"/>
              <a:gd name="T5" fmla="*/ 314325 h 473"/>
              <a:gd name="T6" fmla="*/ 1812926 w 1671"/>
              <a:gd name="T7" fmla="*/ 750888 h 473"/>
              <a:gd name="T8" fmla="*/ 2652713 w 1671"/>
              <a:gd name="T9" fmla="*/ 333375 h 473"/>
              <a:gd name="T10" fmla="*/ 0 w 1671"/>
              <a:gd name="T11" fmla="*/ 338138 h 473"/>
              <a:gd name="T12" fmla="*/ 0 60000 65536"/>
              <a:gd name="T13" fmla="*/ 0 60000 65536"/>
              <a:gd name="T14" fmla="*/ 0 60000 65536"/>
              <a:gd name="T15" fmla="*/ 0 60000 65536"/>
              <a:gd name="T16" fmla="*/ 0 60000 65536"/>
              <a:gd name="T17" fmla="*/ 0 60000 65536"/>
              <a:gd name="T18" fmla="*/ 0 w 1671"/>
              <a:gd name="T19" fmla="*/ 0 h 473"/>
              <a:gd name="T20" fmla="*/ 1671 w 1671"/>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671" h="473">
                <a:moveTo>
                  <a:pt x="0" y="213"/>
                </a:moveTo>
                <a:lnTo>
                  <a:pt x="543" y="0"/>
                </a:lnTo>
                <a:lnTo>
                  <a:pt x="774" y="198"/>
                </a:lnTo>
                <a:cubicBezTo>
                  <a:pt x="894" y="282"/>
                  <a:pt x="1014" y="402"/>
                  <a:pt x="1142" y="473"/>
                </a:cubicBezTo>
                <a:cubicBezTo>
                  <a:pt x="1317" y="382"/>
                  <a:pt x="1446" y="318"/>
                  <a:pt x="1671" y="210"/>
                </a:cubicBezTo>
                <a:cubicBezTo>
                  <a:pt x="833" y="213"/>
                  <a:pt x="0" y="213"/>
                  <a:pt x="0" y="213"/>
                </a:cubicBezTo>
                <a:close/>
              </a:path>
            </a:pathLst>
          </a:custGeom>
          <a:pattFill prst="ltVert">
            <a:fgClr>
              <a:srgbClr val="000000"/>
            </a:fgClr>
            <a:bgClr>
              <a:srgbClr val="A3FFD1"/>
            </a:bgClr>
          </a:patt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Text Box 27"/>
          <p:cNvSpPr txBox="1">
            <a:spLocks noChangeAspect="1" noChangeArrowheads="1"/>
          </p:cNvSpPr>
          <p:nvPr/>
        </p:nvSpPr>
        <p:spPr bwMode="auto">
          <a:xfrm>
            <a:off x="6859141" y="3579145"/>
            <a:ext cx="7207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 pitchFamily="18" charset="-52"/>
                <a:ea typeface="宋体" panose="02010600030101010101" pitchFamily="2" charset="-122"/>
              </a:rPr>
              <a:t>F</a:t>
            </a:r>
            <a:r>
              <a:rPr lang="en-US" altLang="zh-CN" b="0" baseline="-25000" dirty="0">
                <a:solidFill>
                  <a:srgbClr val="FF0000"/>
                </a:solidFill>
                <a:latin typeface="" pitchFamily="18" charset="-52"/>
                <a:ea typeface="宋体" panose="02010600030101010101" pitchFamily="2" charset="-122"/>
              </a:rPr>
              <a:t>A</a:t>
            </a:r>
            <a:endParaRPr lang="en-US" altLang="zh-CN" b="0" i="0" dirty="0">
              <a:solidFill>
                <a:srgbClr val="FF0000"/>
              </a:solidFill>
              <a:latin typeface="" pitchFamily="18" charset="-52"/>
              <a:ea typeface="宋体" panose="02010600030101010101" pitchFamily="2" charset="-122"/>
            </a:endParaRPr>
          </a:p>
        </p:txBody>
      </p:sp>
      <p:sp>
        <p:nvSpPr>
          <p:cNvPr id="119" name="Text Box 28"/>
          <p:cNvSpPr txBox="1">
            <a:spLocks noChangeAspect="1" noChangeArrowheads="1"/>
          </p:cNvSpPr>
          <p:nvPr/>
        </p:nvSpPr>
        <p:spPr bwMode="auto">
          <a:xfrm>
            <a:off x="8610153" y="3595020"/>
            <a:ext cx="6238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baseline="-25000">
                <a:solidFill>
                  <a:srgbClr val="FF0000"/>
                </a:solidFill>
                <a:latin typeface="" pitchFamily="18" charset="-52"/>
                <a:ea typeface="宋体" panose="02010600030101010101" pitchFamily="2" charset="-122"/>
              </a:rPr>
              <a:t>B</a:t>
            </a:r>
            <a:endParaRPr lang="en-US" altLang="zh-CN" b="0" i="0">
              <a:solidFill>
                <a:srgbClr val="FF0000"/>
              </a:solidFill>
              <a:latin typeface="" pitchFamily="18" charset="-52"/>
              <a:ea typeface="宋体" panose="02010600030101010101" pitchFamily="2" charset="-122"/>
            </a:endParaRPr>
          </a:p>
        </p:txBody>
      </p:sp>
      <p:sp>
        <p:nvSpPr>
          <p:cNvPr id="120" name="Text Box 29"/>
          <p:cNvSpPr txBox="1">
            <a:spLocks noChangeAspect="1" noChangeArrowheads="1"/>
          </p:cNvSpPr>
          <p:nvPr/>
        </p:nvSpPr>
        <p:spPr bwMode="auto">
          <a:xfrm>
            <a:off x="7705278" y="4249070"/>
            <a:ext cx="638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0.6</a:t>
            </a:r>
          </a:p>
        </p:txBody>
      </p:sp>
      <p:sp>
        <p:nvSpPr>
          <p:cNvPr id="121" name="Freeform 30"/>
          <p:cNvSpPr>
            <a:spLocks noChangeAspect="1"/>
          </p:cNvSpPr>
          <p:nvPr/>
        </p:nvSpPr>
        <p:spPr bwMode="auto">
          <a:xfrm>
            <a:off x="6887716" y="4542757"/>
            <a:ext cx="854075" cy="322263"/>
          </a:xfrm>
          <a:custGeom>
            <a:avLst/>
            <a:gdLst>
              <a:gd name="T0" fmla="*/ 0 w 538"/>
              <a:gd name="T1" fmla="*/ 322263 h 203"/>
              <a:gd name="T2" fmla="*/ 854075 w 538"/>
              <a:gd name="T3" fmla="*/ 0 h 203"/>
              <a:gd name="T4" fmla="*/ 0 60000 65536"/>
              <a:gd name="T5" fmla="*/ 0 60000 65536"/>
              <a:gd name="T6" fmla="*/ 0 w 538"/>
              <a:gd name="T7" fmla="*/ 0 h 203"/>
              <a:gd name="T8" fmla="*/ 538 w 538"/>
              <a:gd name="T9" fmla="*/ 203 h 203"/>
            </a:gdLst>
            <a:ahLst/>
            <a:cxnLst>
              <a:cxn ang="T4">
                <a:pos x="T0" y="T1"/>
              </a:cxn>
              <a:cxn ang="T5">
                <a:pos x="T2" y="T3"/>
              </a:cxn>
            </a:cxnLst>
            <a:rect l="T6" t="T7" r="T8" b="T9"/>
            <a:pathLst>
              <a:path w="538" h="203">
                <a:moveTo>
                  <a:pt x="0" y="203"/>
                </a:moveTo>
                <a:lnTo>
                  <a:pt x="538"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Freeform 31"/>
          <p:cNvSpPr>
            <a:spLocks noChangeAspect="1"/>
          </p:cNvSpPr>
          <p:nvPr/>
        </p:nvSpPr>
        <p:spPr bwMode="auto">
          <a:xfrm>
            <a:off x="7754491" y="4555457"/>
            <a:ext cx="911225" cy="720725"/>
          </a:xfrm>
          <a:custGeom>
            <a:avLst/>
            <a:gdLst>
              <a:gd name="T0" fmla="*/ 0 w 574"/>
              <a:gd name="T1" fmla="*/ 0 h 454"/>
              <a:gd name="T2" fmla="*/ 911225 w 574"/>
              <a:gd name="T3" fmla="*/ 720725 h 454"/>
              <a:gd name="T4" fmla="*/ 0 60000 65536"/>
              <a:gd name="T5" fmla="*/ 0 60000 65536"/>
              <a:gd name="T6" fmla="*/ 0 w 574"/>
              <a:gd name="T7" fmla="*/ 0 h 454"/>
              <a:gd name="T8" fmla="*/ 574 w 574"/>
              <a:gd name="T9" fmla="*/ 454 h 454"/>
            </a:gdLst>
            <a:ahLst/>
            <a:cxnLst>
              <a:cxn ang="T4">
                <a:pos x="T0" y="T1"/>
              </a:cxn>
              <a:cxn ang="T5">
                <a:pos x="T2" y="T3"/>
              </a:cxn>
            </a:cxnLst>
            <a:rect l="T6" t="T7" r="T8" b="T9"/>
            <a:pathLst>
              <a:path w="574" h="454">
                <a:moveTo>
                  <a:pt x="0" y="0"/>
                </a:moveTo>
                <a:lnTo>
                  <a:pt x="574" y="454"/>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Text Box 32"/>
          <p:cNvSpPr txBox="1">
            <a:spLocks noChangeAspect="1" noChangeArrowheads="1"/>
          </p:cNvSpPr>
          <p:nvPr/>
        </p:nvSpPr>
        <p:spPr bwMode="auto">
          <a:xfrm>
            <a:off x="8632378" y="5136482"/>
            <a:ext cx="693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0.8</a:t>
            </a:r>
          </a:p>
        </p:txBody>
      </p:sp>
      <p:grpSp>
        <p:nvGrpSpPr>
          <p:cNvPr id="124" name="Group 33"/>
          <p:cNvGrpSpPr>
            <a:grpSpLocks noChangeAspect="1"/>
          </p:cNvGrpSpPr>
          <p:nvPr/>
        </p:nvGrpSpPr>
        <p:grpSpPr bwMode="auto">
          <a:xfrm>
            <a:off x="7541766" y="4544345"/>
            <a:ext cx="334962" cy="287337"/>
            <a:chOff x="3142" y="1410"/>
            <a:chExt cx="176" cy="150"/>
          </a:xfrm>
        </p:grpSpPr>
        <p:sp>
          <p:nvSpPr>
            <p:cNvPr id="125" name="Oval 34"/>
            <p:cNvSpPr>
              <a:spLocks noChangeAspect="1" noChangeArrowheads="1"/>
            </p:cNvSpPr>
            <p:nvPr/>
          </p:nvSpPr>
          <p:spPr bwMode="auto">
            <a:xfrm>
              <a:off x="3195" y="1477"/>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6" name="Text Box 35"/>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sp>
        <p:nvSpPr>
          <p:cNvPr id="127" name="Oval 36"/>
          <p:cNvSpPr>
            <a:spLocks noChangeAspect="1" noChangeArrowheads="1"/>
          </p:cNvSpPr>
          <p:nvPr/>
        </p:nvSpPr>
        <p:spPr bwMode="auto">
          <a:xfrm>
            <a:off x="7702103" y="4490370"/>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8" name="Oval 37"/>
          <p:cNvSpPr>
            <a:spLocks noChangeAspect="1" noChangeArrowheads="1"/>
          </p:cNvSpPr>
          <p:nvPr/>
        </p:nvSpPr>
        <p:spPr bwMode="auto">
          <a:xfrm>
            <a:off x="8653016" y="5231732"/>
            <a:ext cx="90487" cy="90488"/>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9" name="Oval 38"/>
          <p:cNvSpPr>
            <a:spLocks noChangeAspect="1" noChangeArrowheads="1"/>
          </p:cNvSpPr>
          <p:nvPr/>
        </p:nvSpPr>
        <p:spPr bwMode="auto">
          <a:xfrm>
            <a:off x="9484866" y="4815807"/>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30" name="Group 39"/>
          <p:cNvGrpSpPr>
            <a:grpSpLocks noChangeAspect="1"/>
          </p:cNvGrpSpPr>
          <p:nvPr/>
        </p:nvGrpSpPr>
        <p:grpSpPr bwMode="auto">
          <a:xfrm>
            <a:off x="8592691" y="4717382"/>
            <a:ext cx="334962" cy="379413"/>
            <a:chOff x="3677" y="1454"/>
            <a:chExt cx="176" cy="185"/>
          </a:xfrm>
        </p:grpSpPr>
        <p:sp>
          <p:nvSpPr>
            <p:cNvPr id="131" name="Oval 40"/>
            <p:cNvSpPr>
              <a:spLocks noChangeAspect="1" noChangeArrowheads="1"/>
            </p:cNvSpPr>
            <p:nvPr/>
          </p:nvSpPr>
          <p:spPr bwMode="auto">
            <a:xfrm>
              <a:off x="3729" y="1569"/>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Text Box 41"/>
            <p:cNvSpPr txBox="1">
              <a:spLocks noChangeAspect="1" noChangeArrowheads="1"/>
            </p:cNvSpPr>
            <p:nvPr/>
          </p:nvSpPr>
          <p:spPr bwMode="auto">
            <a:xfrm>
              <a:off x="3677" y="1454"/>
              <a:ext cx="17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_</a:t>
              </a:r>
            </a:p>
          </p:txBody>
        </p:sp>
      </p:grpSp>
      <p:grpSp>
        <p:nvGrpSpPr>
          <p:cNvPr id="133" name="Group 42"/>
          <p:cNvGrpSpPr>
            <a:grpSpLocks/>
          </p:cNvGrpSpPr>
          <p:nvPr/>
        </p:nvGrpSpPr>
        <p:grpSpPr bwMode="auto">
          <a:xfrm>
            <a:off x="9638853" y="2525045"/>
            <a:ext cx="2419350" cy="1397000"/>
            <a:chOff x="4184" y="1417"/>
            <a:chExt cx="1524" cy="880"/>
          </a:xfrm>
        </p:grpSpPr>
        <p:grpSp>
          <p:nvGrpSpPr>
            <p:cNvPr id="134" name="Group 43"/>
            <p:cNvGrpSpPr>
              <a:grpSpLocks/>
            </p:cNvGrpSpPr>
            <p:nvPr/>
          </p:nvGrpSpPr>
          <p:grpSpPr bwMode="auto">
            <a:xfrm>
              <a:off x="4198" y="1417"/>
              <a:ext cx="1510" cy="880"/>
              <a:chOff x="4198" y="1417"/>
              <a:chExt cx="1510" cy="880"/>
            </a:xfrm>
          </p:grpSpPr>
          <p:sp>
            <p:nvSpPr>
              <p:cNvPr id="136" name="Text Box 44"/>
              <p:cNvSpPr txBox="1">
                <a:spLocks noChangeAspect="1" noChangeArrowheads="1"/>
              </p:cNvSpPr>
              <p:nvPr/>
            </p:nvSpPr>
            <p:spPr bwMode="auto">
              <a:xfrm rot="-5400000">
                <a:off x="4205" y="1930"/>
                <a:ext cx="291"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y</a:t>
                </a:r>
                <a:r>
                  <a:rPr kumimoji="1" lang="en-US" altLang="zh-CN" sz="2400" b="0" i="0" u="none" strike="noStrike" kern="0" cap="none" spc="0" normalizeH="0" baseline="-25000" noProof="0" dirty="0">
                    <a:ln>
                      <a:noFill/>
                    </a:ln>
                    <a:solidFill>
                      <a:srgbClr val="000000"/>
                    </a:solidFill>
                    <a:effectLst/>
                    <a:uLnTx/>
                    <a:uFillTx/>
                    <a:latin typeface="+mj-lt"/>
                    <a:ea typeface="宋体" panose="02010600030101010101" pitchFamily="2" charset="-122"/>
                  </a:rPr>
                  <a:t>1</a:t>
                </a:r>
              </a:p>
            </p:txBody>
          </p:sp>
          <p:sp>
            <p:nvSpPr>
              <p:cNvPr id="137" name="Line 45"/>
              <p:cNvSpPr>
                <a:spLocks noChangeAspect="1" noChangeShapeType="1"/>
              </p:cNvSpPr>
              <p:nvPr/>
            </p:nvSpPr>
            <p:spPr bwMode="auto">
              <a:xfrm>
                <a:off x="4490" y="1730"/>
                <a:ext cx="0" cy="56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Freeform 46" descr="宽上对角线"/>
              <p:cNvSpPr>
                <a:spLocks noChangeAspect="1"/>
              </p:cNvSpPr>
              <p:nvPr/>
            </p:nvSpPr>
            <p:spPr bwMode="auto">
              <a:xfrm>
                <a:off x="4550" y="1422"/>
                <a:ext cx="837" cy="867"/>
              </a:xfrm>
              <a:custGeom>
                <a:avLst/>
                <a:gdLst>
                  <a:gd name="T0" fmla="*/ 1 w 961"/>
                  <a:gd name="T1" fmla="*/ 0 h 994"/>
                  <a:gd name="T2" fmla="*/ 834 w 961"/>
                  <a:gd name="T3" fmla="*/ 0 h 994"/>
                  <a:gd name="T4" fmla="*/ 837 w 961"/>
                  <a:gd name="T5" fmla="*/ 218 h 994"/>
                  <a:gd name="T6" fmla="*/ 550 w 961"/>
                  <a:gd name="T7" fmla="*/ 224 h 994"/>
                  <a:gd name="T8" fmla="*/ 550 w 961"/>
                  <a:gd name="T9" fmla="*/ 867 h 994"/>
                  <a:gd name="T10" fmla="*/ 303 w 961"/>
                  <a:gd name="T11" fmla="*/ 867 h 994"/>
                  <a:gd name="T12" fmla="*/ 303 w 961"/>
                  <a:gd name="T13" fmla="*/ 224 h 994"/>
                  <a:gd name="T14" fmla="*/ 0 w 961"/>
                  <a:gd name="T15" fmla="*/ 222 h 994"/>
                  <a:gd name="T16" fmla="*/ 1 w 961"/>
                  <a:gd name="T17" fmla="*/ 0 h 9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61"/>
                  <a:gd name="T28" fmla="*/ 0 h 994"/>
                  <a:gd name="T29" fmla="*/ 961 w 961"/>
                  <a:gd name="T30" fmla="*/ 994 h 9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61" h="994">
                    <a:moveTo>
                      <a:pt x="1" y="0"/>
                    </a:moveTo>
                    <a:lnTo>
                      <a:pt x="958" y="0"/>
                    </a:lnTo>
                    <a:lnTo>
                      <a:pt x="961" y="250"/>
                    </a:lnTo>
                    <a:lnTo>
                      <a:pt x="631" y="257"/>
                    </a:lnTo>
                    <a:lnTo>
                      <a:pt x="631" y="994"/>
                    </a:lnTo>
                    <a:lnTo>
                      <a:pt x="348" y="994"/>
                    </a:lnTo>
                    <a:lnTo>
                      <a:pt x="348" y="257"/>
                    </a:lnTo>
                    <a:lnTo>
                      <a:pt x="0" y="255"/>
                    </a:lnTo>
                    <a:lnTo>
                      <a:pt x="1"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47"/>
              <p:cNvSpPr>
                <a:spLocks noChangeAspect="1" noChangeShapeType="1"/>
              </p:cNvSpPr>
              <p:nvPr/>
            </p:nvSpPr>
            <p:spPr bwMode="auto">
              <a:xfrm>
                <a:off x="4442" y="2290"/>
                <a:ext cx="1266" cy="0"/>
              </a:xfrm>
              <a:prstGeom prst="line">
                <a:avLst/>
              </a:prstGeom>
              <a:noFill/>
              <a:ln w="31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48"/>
              <p:cNvSpPr txBox="1">
                <a:spLocks noChangeAspect="1" noChangeArrowheads="1"/>
              </p:cNvSpPr>
              <p:nvPr/>
            </p:nvSpPr>
            <p:spPr bwMode="auto">
              <a:xfrm>
                <a:off x="5250" y="1625"/>
                <a:ext cx="322"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n-lt"/>
                    <a:ea typeface="宋体" panose="02010600030101010101" pitchFamily="2" charset="-122"/>
                  </a:rPr>
                  <a:t>z</a:t>
                </a:r>
                <a:r>
                  <a:rPr kumimoji="1" lang="en-US" altLang="zh-CN" sz="2400" b="0" u="none" strike="noStrike" kern="0" cap="none" spc="0" normalizeH="0" baseline="-25000" noProof="0" dirty="0" err="1">
                    <a:ln>
                      <a:noFill/>
                    </a:ln>
                    <a:solidFill>
                      <a:srgbClr val="000000"/>
                    </a:solidFill>
                    <a:effectLst/>
                    <a:uLnTx/>
                    <a:uFillTx/>
                    <a:latin typeface="+mn-lt"/>
                  </a:rPr>
                  <a:t>C</a:t>
                </a:r>
                <a:endParaRPr kumimoji="1" lang="en-US" altLang="zh-CN" sz="2400" b="0" u="none" strike="noStrike" kern="0" cap="none" spc="0" normalizeH="0" baseline="-25000" noProof="0" dirty="0">
                  <a:ln>
                    <a:noFill/>
                  </a:ln>
                  <a:solidFill>
                    <a:srgbClr val="000000"/>
                  </a:solidFill>
                  <a:effectLst/>
                  <a:uLnTx/>
                  <a:uFillTx/>
                  <a:latin typeface="+mn-lt"/>
                </a:endParaRPr>
              </a:p>
            </p:txBody>
          </p:sp>
          <p:sp>
            <p:nvSpPr>
              <p:cNvPr id="141" name="Line 49"/>
              <p:cNvSpPr>
                <a:spLocks noChangeAspect="1" noChangeShapeType="1"/>
              </p:cNvSpPr>
              <p:nvPr/>
            </p:nvSpPr>
            <p:spPr bwMode="auto">
              <a:xfrm>
                <a:off x="4414" y="1422"/>
                <a:ext cx="1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2" name="Line 50"/>
              <p:cNvSpPr>
                <a:spLocks noChangeAspect="1" noChangeShapeType="1"/>
              </p:cNvSpPr>
              <p:nvPr/>
            </p:nvSpPr>
            <p:spPr bwMode="auto">
              <a:xfrm>
                <a:off x="5624" y="1417"/>
                <a:ext cx="0" cy="88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Text Box 51"/>
              <p:cNvSpPr txBox="1">
                <a:spLocks noChangeAspect="1" noChangeArrowheads="1"/>
              </p:cNvSpPr>
              <p:nvPr/>
            </p:nvSpPr>
            <p:spPr bwMode="auto">
              <a:xfrm rot="-5400000">
                <a:off x="5269" y="1761"/>
                <a:ext cx="5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 pitchFamily="18" charset="-52"/>
                    <a:ea typeface="宋体" panose="02010600030101010101" pitchFamily="2" charset="-122"/>
                  </a:rPr>
                  <a:t>6cm</a:t>
                </a:r>
              </a:p>
            </p:txBody>
          </p:sp>
          <p:sp>
            <p:nvSpPr>
              <p:cNvPr id="144" name="Line 52"/>
              <p:cNvSpPr>
                <a:spLocks noChangeAspect="1" noChangeShapeType="1"/>
              </p:cNvSpPr>
              <p:nvPr/>
            </p:nvSpPr>
            <p:spPr bwMode="auto">
              <a:xfrm>
                <a:off x="4418" y="1736"/>
                <a:ext cx="1107"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Line 53"/>
              <p:cNvSpPr>
                <a:spLocks noChangeAspect="1" noChangeShapeType="1"/>
              </p:cNvSpPr>
              <p:nvPr/>
            </p:nvSpPr>
            <p:spPr bwMode="auto">
              <a:xfrm>
                <a:off x="4488" y="1417"/>
                <a:ext cx="0" cy="3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5" name="Text Box 54"/>
            <p:cNvSpPr txBox="1">
              <a:spLocks noChangeAspect="1" noChangeArrowheads="1"/>
            </p:cNvSpPr>
            <p:nvPr/>
          </p:nvSpPr>
          <p:spPr bwMode="auto">
            <a:xfrm rot="-5400000">
              <a:off x="4182" y="1450"/>
              <a:ext cx="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y</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grpSp>
      <p:grpSp>
        <p:nvGrpSpPr>
          <p:cNvPr id="146" name="Group 55"/>
          <p:cNvGrpSpPr>
            <a:grpSpLocks/>
          </p:cNvGrpSpPr>
          <p:nvPr/>
        </p:nvGrpSpPr>
        <p:grpSpPr bwMode="auto">
          <a:xfrm flipH="1">
            <a:off x="6660703" y="2872707"/>
            <a:ext cx="496888" cy="523875"/>
            <a:chOff x="1686" y="3521"/>
            <a:chExt cx="313" cy="330"/>
          </a:xfrm>
        </p:grpSpPr>
        <p:sp>
          <p:nvSpPr>
            <p:cNvPr id="147" name="AutoShape 5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Rectangle 5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9" name="Line 5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0" name="Oval 5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51" name="Group 60"/>
          <p:cNvGrpSpPr>
            <a:grpSpLocks/>
          </p:cNvGrpSpPr>
          <p:nvPr/>
        </p:nvGrpSpPr>
        <p:grpSpPr bwMode="auto">
          <a:xfrm flipH="1">
            <a:off x="8422828" y="2879057"/>
            <a:ext cx="493713" cy="568325"/>
            <a:chOff x="3499" y="3511"/>
            <a:chExt cx="311" cy="358"/>
          </a:xfrm>
        </p:grpSpPr>
        <p:sp>
          <p:nvSpPr>
            <p:cNvPr id="152" name="Line 6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Rectangle 6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Line 6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Oval 6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6" name="Oval 6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57" name="Line 66"/>
          <p:cNvSpPr>
            <a:spLocks noChangeAspect="1" noChangeShapeType="1"/>
          </p:cNvSpPr>
          <p:nvPr/>
        </p:nvSpPr>
        <p:spPr bwMode="auto">
          <a:xfrm flipV="1">
            <a:off x="6902003" y="3060032"/>
            <a:ext cx="0" cy="8191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Line 67"/>
          <p:cNvSpPr>
            <a:spLocks noChangeAspect="1" noChangeShapeType="1"/>
          </p:cNvSpPr>
          <p:nvPr/>
        </p:nvSpPr>
        <p:spPr bwMode="auto">
          <a:xfrm flipV="1">
            <a:off x="8664128" y="2991770"/>
            <a:ext cx="0" cy="7635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9" name="Text Box 73"/>
          <p:cNvSpPr txBox="1">
            <a:spLocks noChangeAspect="1" noChangeArrowheads="1"/>
          </p:cNvSpPr>
          <p:nvPr/>
        </p:nvSpPr>
        <p:spPr bwMode="auto">
          <a:xfrm flipH="1">
            <a:off x="9908728" y="477135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60" name="Line 74"/>
          <p:cNvSpPr>
            <a:spLocks noChangeShapeType="1"/>
          </p:cNvSpPr>
          <p:nvPr/>
        </p:nvSpPr>
        <p:spPr bwMode="auto">
          <a:xfrm rot="16200000">
            <a:off x="6451947" y="4419726"/>
            <a:ext cx="8874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Text Box 75"/>
          <p:cNvSpPr txBox="1">
            <a:spLocks noChangeAspect="1" noChangeArrowheads="1"/>
          </p:cNvSpPr>
          <p:nvPr/>
        </p:nvSpPr>
        <p:spPr bwMode="auto">
          <a:xfrm flipH="1">
            <a:off x="6925816" y="3941095"/>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r>
              <a:rPr lang="en-US" altLang="zh-CN" b="0" i="0">
                <a:solidFill>
                  <a:srgbClr val="CC00FF"/>
                </a:solidFill>
                <a:ea typeface="宋体" panose="02010600030101010101" pitchFamily="2" charset="-122"/>
              </a:rPr>
              <a:t>/kN·m</a:t>
            </a:r>
          </a:p>
        </p:txBody>
      </p:sp>
      <p:sp>
        <p:nvSpPr>
          <p:cNvPr id="162" name="Text Box 76"/>
          <p:cNvSpPr txBox="1">
            <a:spLocks noChangeAspect="1" noChangeArrowheads="1"/>
          </p:cNvSpPr>
          <p:nvPr/>
        </p:nvSpPr>
        <p:spPr bwMode="auto">
          <a:xfrm>
            <a:off x="6486078" y="4560220"/>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63" name="Freeform 77"/>
          <p:cNvSpPr>
            <a:spLocks/>
          </p:cNvSpPr>
          <p:nvPr/>
        </p:nvSpPr>
        <p:spPr bwMode="auto">
          <a:xfrm>
            <a:off x="6887716" y="4866607"/>
            <a:ext cx="3535362" cy="1588"/>
          </a:xfrm>
          <a:custGeom>
            <a:avLst/>
            <a:gdLst>
              <a:gd name="T0" fmla="*/ 0 w 2227"/>
              <a:gd name="T1" fmla="*/ 0 h 1"/>
              <a:gd name="T2" fmla="*/ 3535362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4" name="Freeform 78"/>
          <p:cNvSpPr>
            <a:spLocks noChangeAspect="1"/>
          </p:cNvSpPr>
          <p:nvPr/>
        </p:nvSpPr>
        <p:spPr bwMode="auto">
          <a:xfrm>
            <a:off x="8687941" y="4863432"/>
            <a:ext cx="849312" cy="417513"/>
          </a:xfrm>
          <a:custGeom>
            <a:avLst/>
            <a:gdLst>
              <a:gd name="T0" fmla="*/ 0 w 535"/>
              <a:gd name="T1" fmla="*/ 417513 h 272"/>
              <a:gd name="T2" fmla="*/ 849312 w 535"/>
              <a:gd name="T3" fmla="*/ 0 h 272"/>
              <a:gd name="T4" fmla="*/ 0 60000 65536"/>
              <a:gd name="T5" fmla="*/ 0 60000 65536"/>
              <a:gd name="T6" fmla="*/ 0 w 535"/>
              <a:gd name="T7" fmla="*/ 0 h 272"/>
              <a:gd name="T8" fmla="*/ 535 w 535"/>
              <a:gd name="T9" fmla="*/ 272 h 272"/>
            </a:gdLst>
            <a:ahLst/>
            <a:cxnLst>
              <a:cxn ang="T4">
                <a:pos x="T0" y="T1"/>
              </a:cxn>
              <a:cxn ang="T5">
                <a:pos x="T2" y="T3"/>
              </a:cxn>
            </a:cxnLst>
            <a:rect l="T6" t="T7" r="T8" b="T9"/>
            <a:pathLst>
              <a:path w="535" h="272">
                <a:moveTo>
                  <a:pt x="0" y="272"/>
                </a:moveTo>
                <a:lnTo>
                  <a:pt x="535"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5" name="Oval 79"/>
          <p:cNvSpPr>
            <a:spLocks noChangeAspect="1" noChangeArrowheads="1"/>
          </p:cNvSpPr>
          <p:nvPr/>
        </p:nvSpPr>
        <p:spPr bwMode="auto">
          <a:xfrm>
            <a:off x="6849616" y="4822157"/>
            <a:ext cx="90487"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矩形 165">
            <a:extLst>
              <a:ext uri="{FF2B5EF4-FFF2-40B4-BE49-F238E27FC236}">
                <a16:creationId xmlns:a16="http://schemas.microsoft.com/office/drawing/2014/main" id="{E8DB0D0A-8BE9-6ADA-6C58-96049487BA32}"/>
              </a:ext>
            </a:extLst>
          </p:cNvPr>
          <p:cNvSpPr/>
          <p:nvPr/>
        </p:nvSpPr>
        <p:spPr>
          <a:xfrm>
            <a:off x="211184" y="4421647"/>
            <a:ext cx="6274894" cy="978729"/>
          </a:xfrm>
          <a:prstGeom prst="rect">
            <a:avLst/>
          </a:prstGeom>
        </p:spPr>
        <p:txBody>
          <a:bodyPr wrap="square">
            <a:spAutoFit/>
          </a:bodyPr>
          <a:lstStyle/>
          <a:p>
            <a:pPr lvl="0">
              <a:lnSpc>
                <a:spcPct val="120000"/>
              </a:lnSpc>
            </a:pPr>
            <a:r>
              <a:rPr kumimoji="1" lang="zh-CN" altLang="en-US" i="0" dirty="0">
                <a:solidFill>
                  <a:schemeClr val="tx1"/>
                </a:solidFill>
                <a:latin typeface="+mn-lt"/>
                <a:ea typeface="黑体" panose="02010609060101010101" pitchFamily="49" charset="-122"/>
              </a:rPr>
              <a:t>截面</a:t>
            </a:r>
            <a:r>
              <a:rPr kumimoji="1" lang="en-US" altLang="zh-CN" b="0" dirty="0">
                <a:solidFill>
                  <a:schemeClr val="tx1"/>
                </a:solidFill>
                <a:latin typeface="+mn-lt"/>
                <a:ea typeface="黑体" panose="02010609060101010101" pitchFamily="49" charset="-122"/>
              </a:rPr>
              <a:t>B</a:t>
            </a:r>
            <a:r>
              <a:rPr kumimoji="1" lang="zh-CN" altLang="en-US" i="0" dirty="0">
                <a:solidFill>
                  <a:schemeClr val="tx1"/>
                </a:solidFill>
                <a:latin typeface="+mn-lt"/>
                <a:ea typeface="黑体" panose="02010609060101010101" pitchFamily="49" charset="-122"/>
              </a:rPr>
              <a:t>处：最大拉应力发生于截面上边缘各点处，得 </a:t>
            </a:r>
            <a:r>
              <a:rPr kumimoji="1" lang="zh-CN" altLang="en-US" b="0" dirty="0">
                <a:solidFill>
                  <a:schemeClr val="tx1"/>
                </a:solidFill>
                <a:latin typeface="+mn-lt"/>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latin typeface="+mn-lt"/>
                <a:ea typeface="黑体" panose="02010609060101010101" pitchFamily="49" charset="-122"/>
              </a:rPr>
              <a:t>=20.3MPa&lt;[</a:t>
            </a:r>
            <a:r>
              <a:rPr kumimoji="1" lang="en-US" altLang="zh-CN" b="0" dirty="0">
                <a:solidFill>
                  <a:schemeClr val="tx1"/>
                </a:solidFill>
                <a:latin typeface="+mn-lt"/>
                <a:ea typeface="黑体" panose="02010609060101010101" pitchFamily="49" charset="-122"/>
                <a:sym typeface="Symbol" panose="05050102010706020507" pitchFamily="18" charset="2"/>
              </a:rPr>
              <a:t></a:t>
            </a:r>
            <a:r>
              <a:rPr kumimoji="1" lang="en-US" altLang="zh-CN" b="0" i="0" baseline="-25000" dirty="0">
                <a:solidFill>
                  <a:schemeClr val="tx1"/>
                </a:solidFill>
                <a:latin typeface="+mn-lt"/>
                <a:ea typeface="黑体" panose="02010609060101010101" pitchFamily="49" charset="-122"/>
              </a:rPr>
              <a:t>l</a:t>
            </a:r>
            <a:r>
              <a:rPr kumimoji="1" lang="en-US" altLang="zh-CN" b="0" i="0" dirty="0">
                <a:solidFill>
                  <a:schemeClr val="tx1"/>
                </a:solidFill>
                <a:latin typeface="+mn-lt"/>
                <a:ea typeface="黑体" panose="02010609060101010101" pitchFamily="49" charset="-122"/>
              </a:rPr>
              <a:t>]</a:t>
            </a:r>
          </a:p>
        </p:txBody>
      </p:sp>
      <p:sp>
        <p:nvSpPr>
          <p:cNvPr id="167" name="矩形 166">
            <a:extLst>
              <a:ext uri="{FF2B5EF4-FFF2-40B4-BE49-F238E27FC236}">
                <a16:creationId xmlns:a16="http://schemas.microsoft.com/office/drawing/2014/main" id="{E8DB0D0A-8BE9-6ADA-6C58-96049487BA32}"/>
              </a:ext>
            </a:extLst>
          </p:cNvPr>
          <p:cNvSpPr/>
          <p:nvPr/>
        </p:nvSpPr>
        <p:spPr>
          <a:xfrm>
            <a:off x="211184" y="5329799"/>
            <a:ext cx="6274894" cy="904863"/>
          </a:xfrm>
          <a:prstGeom prst="rect">
            <a:avLst/>
          </a:prstGeom>
        </p:spPr>
        <p:txBody>
          <a:bodyPr wrap="square">
            <a:spAutoFit/>
          </a:bodyPr>
          <a:lstStyle/>
          <a:p>
            <a:pPr lvl="0">
              <a:lnSpc>
                <a:spcPct val="110000"/>
              </a:lnSpc>
            </a:pPr>
            <a:r>
              <a:rPr kumimoji="1" lang="zh-CN" altLang="en-US" i="0" dirty="0">
                <a:solidFill>
                  <a:schemeClr val="tx1"/>
                </a:solidFill>
                <a:ea typeface="黑体" panose="02010609060101010101" pitchFamily="49" charset="-122"/>
              </a:rPr>
              <a:t>                  最大压应力发生于截面下边缘各点处，得        </a:t>
            </a:r>
            <a:r>
              <a:rPr kumimoji="1" lang="zh-CN" altLang="en-US"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rPr>
              <a:t>=</a:t>
            </a:r>
            <a:r>
              <a:rPr kumimoji="1" lang="en-US" altLang="zh-CN" b="0" i="0" dirty="0">
                <a:solidFill>
                  <a:schemeClr val="tx1"/>
                </a:solidFill>
                <a:ea typeface="黑体" panose="02010609060101010101" pitchFamily="49" charset="-122"/>
              </a:rPr>
              <a:t>35.2MPa&lt;[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 </a:t>
            </a:r>
            <a:endParaRPr lang="en-US" altLang="zh-CN" b="0"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160948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0"/>
                                  </p:stCondLst>
                                  <p:childTnLst>
                                    <p:set>
                                      <p:cBhvr>
                                        <p:cTn id="8" dur="1" fill="hold">
                                          <p:stCondLst>
                                            <p:cond delay="0"/>
                                          </p:stCondLst>
                                        </p:cTn>
                                        <p:tgtEl>
                                          <p:spTgt spid="133"/>
                                        </p:tgtEl>
                                        <p:attrNameLst>
                                          <p:attrName>style.visibility</p:attrName>
                                        </p:attrNameLst>
                                      </p:cBhvr>
                                      <p:to>
                                        <p:strVal val="visible"/>
                                      </p:to>
                                    </p:set>
                                    <p:animEffect transition="in" filter="box(in)">
                                      <p:cBhvr>
                                        <p:cTn id="9" dur="3000"/>
                                        <p:tgtEl>
                                          <p:spTgt spid="133"/>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157"/>
                                        </p:tgtEl>
                                        <p:attrNameLst>
                                          <p:attrName>style.visibility</p:attrName>
                                        </p:attrNameLst>
                                      </p:cBhvr>
                                      <p:to>
                                        <p:strVal val="visible"/>
                                      </p:to>
                                    </p:set>
                                    <p:animEffect transition="in" filter="slide(fromBottom)">
                                      <p:cBhvr>
                                        <p:cTn id="12" dur="3000"/>
                                        <p:tgtEl>
                                          <p:spTgt spid="15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3000"/>
                            </p:stCondLst>
                            <p:childTnLst>
                              <p:par>
                                <p:cTn id="14" presetID="12" presetClass="entr" presetSubtype="4" fill="hold" grpId="0" nodeType="afterEffect">
                                  <p:stCondLst>
                                    <p:cond delay="0"/>
                                  </p:stCondLst>
                                  <p:childTnLst>
                                    <p:set>
                                      <p:cBhvr>
                                        <p:cTn id="15" dur="1" fill="hold">
                                          <p:stCondLst>
                                            <p:cond delay="0"/>
                                          </p:stCondLst>
                                        </p:cTn>
                                        <p:tgtEl>
                                          <p:spTgt spid="158"/>
                                        </p:tgtEl>
                                        <p:attrNameLst>
                                          <p:attrName>style.visibility</p:attrName>
                                        </p:attrNameLst>
                                      </p:cBhvr>
                                      <p:to>
                                        <p:strVal val="visible"/>
                                      </p:to>
                                    </p:set>
                                    <p:animEffect transition="in" filter="slide(fromBottom)">
                                      <p:cBhvr>
                                        <p:cTn id="16" dur="3000"/>
                                        <p:tgtEl>
                                          <p:spTgt spid="158"/>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par>
                                <p:cTn id="17" presetID="4" presetClass="entr" presetSubtype="16" fill="hold" nodeType="with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box(in)">
                                      <p:cBhvr>
                                        <p:cTn id="19" dur="3000"/>
                                        <p:tgtEl>
                                          <p:spTgt spid="95"/>
                                        </p:tgtEl>
                                      </p:cBhvr>
                                    </p:animEffect>
                                  </p:childTnLst>
                                </p:cTn>
                              </p:par>
                              <p:par>
                                <p:cTn id="20" presetID="4" presetClass="entr" presetSubtype="32" fill="hold" nodeType="withEffect">
                                  <p:stCondLst>
                                    <p:cond delay="0"/>
                                  </p:stCondLst>
                                  <p:childTnLst>
                                    <p:set>
                                      <p:cBhvr>
                                        <p:cTn id="21" dur="1" fill="hold">
                                          <p:stCondLst>
                                            <p:cond delay="0"/>
                                          </p:stCondLst>
                                        </p:cTn>
                                        <p:tgtEl>
                                          <p:spTgt spid="151"/>
                                        </p:tgtEl>
                                        <p:attrNameLst>
                                          <p:attrName>style.visibility</p:attrName>
                                        </p:attrNameLst>
                                      </p:cBhvr>
                                      <p:to>
                                        <p:strVal val="visible"/>
                                      </p:to>
                                    </p:set>
                                    <p:animEffect transition="in" filter="box(out)">
                                      <p:cBhvr>
                                        <p:cTn id="22" dur="3000"/>
                                        <p:tgtEl>
                                          <p:spTgt spid="151"/>
                                        </p:tgtEl>
                                      </p:cBhvr>
                                    </p:animEffect>
                                  </p:childTnLst>
                                </p:cTn>
                              </p:par>
                              <p:par>
                                <p:cTn id="23" presetID="9" presetClass="emph" presetSubtype="0" nodeType="withEffect">
                                  <p:stCondLst>
                                    <p:cond delay="0"/>
                                  </p:stCondLst>
                                  <p:childTnLst>
                                    <p:set>
                                      <p:cBhvr rctx="PPT">
                                        <p:cTn id="24" dur="indefinite"/>
                                        <p:tgtEl>
                                          <p:spTgt spid="151"/>
                                        </p:tgtEl>
                                        <p:attrNameLst>
                                          <p:attrName>style.opacity</p:attrName>
                                        </p:attrNameLst>
                                      </p:cBhvr>
                                      <p:to>
                                        <p:strVal val="0.5"/>
                                      </p:to>
                                    </p:set>
                                    <p:animEffect filter="image" prLst="opacity: 0.5">
                                      <p:cBhvr rctx="IE">
                                        <p:cTn id="25" dur="indefinite"/>
                                        <p:tgtEl>
                                          <p:spTgt spid="151"/>
                                        </p:tgtEl>
                                      </p:cBhvr>
                                    </p:animEffect>
                                  </p:childTnLst>
                                </p:cTn>
                              </p:par>
                              <p:par>
                                <p:cTn id="26" presetID="17" presetClass="entr" presetSubtype="10" fill="hold" grpId="0" nodeType="withEffect">
                                  <p:stCondLst>
                                    <p:cond delay="0"/>
                                  </p:stCondLst>
                                  <p:childTnLst>
                                    <p:set>
                                      <p:cBhvr>
                                        <p:cTn id="27" dur="1" fill="hold">
                                          <p:stCondLst>
                                            <p:cond delay="0"/>
                                          </p:stCondLst>
                                        </p:cTn>
                                        <p:tgtEl>
                                          <p:spTgt spid="118"/>
                                        </p:tgtEl>
                                        <p:attrNameLst>
                                          <p:attrName>style.visibility</p:attrName>
                                        </p:attrNameLst>
                                      </p:cBhvr>
                                      <p:to>
                                        <p:strVal val="visible"/>
                                      </p:to>
                                    </p:set>
                                    <p:anim calcmode="lin" valueType="num">
                                      <p:cBhvr>
                                        <p:cTn id="28" dur="3000" fill="hold"/>
                                        <p:tgtEl>
                                          <p:spTgt spid="118"/>
                                        </p:tgtEl>
                                        <p:attrNameLst>
                                          <p:attrName>ppt_w</p:attrName>
                                        </p:attrNameLst>
                                      </p:cBhvr>
                                      <p:tavLst>
                                        <p:tav tm="0">
                                          <p:val>
                                            <p:fltVal val="0"/>
                                          </p:val>
                                        </p:tav>
                                        <p:tav tm="100000">
                                          <p:val>
                                            <p:strVal val="#ppt_w"/>
                                          </p:val>
                                        </p:tav>
                                      </p:tavLst>
                                    </p:anim>
                                    <p:anim calcmode="lin" valueType="num">
                                      <p:cBhvr>
                                        <p:cTn id="29" dur="3000" fill="hold"/>
                                        <p:tgtEl>
                                          <p:spTgt spid="11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par>
                                <p:cTn id="30" presetID="17" presetClass="entr" presetSubtype="10" fill="hold" grpId="0" nodeType="withEffect">
                                  <p:stCondLst>
                                    <p:cond delay="0"/>
                                  </p:stCondLst>
                                  <p:childTnLst>
                                    <p:set>
                                      <p:cBhvr>
                                        <p:cTn id="31" dur="1" fill="hold">
                                          <p:stCondLst>
                                            <p:cond delay="0"/>
                                          </p:stCondLst>
                                        </p:cTn>
                                        <p:tgtEl>
                                          <p:spTgt spid="119"/>
                                        </p:tgtEl>
                                        <p:attrNameLst>
                                          <p:attrName>style.visibility</p:attrName>
                                        </p:attrNameLst>
                                      </p:cBhvr>
                                      <p:to>
                                        <p:strVal val="visible"/>
                                      </p:to>
                                    </p:set>
                                    <p:anim calcmode="lin" valueType="num">
                                      <p:cBhvr>
                                        <p:cTn id="32" dur="3000" fill="hold"/>
                                        <p:tgtEl>
                                          <p:spTgt spid="119"/>
                                        </p:tgtEl>
                                        <p:attrNameLst>
                                          <p:attrName>ppt_w</p:attrName>
                                        </p:attrNameLst>
                                      </p:cBhvr>
                                      <p:tavLst>
                                        <p:tav tm="0">
                                          <p:val>
                                            <p:fltVal val="0"/>
                                          </p:val>
                                        </p:tav>
                                        <p:tav tm="100000">
                                          <p:val>
                                            <p:strVal val="#ppt_w"/>
                                          </p:val>
                                        </p:tav>
                                      </p:tavLst>
                                    </p:anim>
                                    <p:anim calcmode="lin" valueType="num">
                                      <p:cBhvr>
                                        <p:cTn id="33" dur="3000" fill="hold"/>
                                        <p:tgtEl>
                                          <p:spTgt spid="1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4" presetID="4" presetClass="entr" presetSubtype="32" fill="hold" nodeType="withEffect">
                                  <p:stCondLst>
                                    <p:cond delay="0"/>
                                  </p:stCondLst>
                                  <p:childTnLst>
                                    <p:set>
                                      <p:cBhvr>
                                        <p:cTn id="35" dur="1" fill="hold">
                                          <p:stCondLst>
                                            <p:cond delay="0"/>
                                          </p:stCondLst>
                                        </p:cTn>
                                        <p:tgtEl>
                                          <p:spTgt spid="146"/>
                                        </p:tgtEl>
                                        <p:attrNameLst>
                                          <p:attrName>style.visibility</p:attrName>
                                        </p:attrNameLst>
                                      </p:cBhvr>
                                      <p:to>
                                        <p:strVal val="visible"/>
                                      </p:to>
                                    </p:set>
                                    <p:animEffect transition="in" filter="box(out)">
                                      <p:cBhvr>
                                        <p:cTn id="36" dur="3000"/>
                                        <p:tgtEl>
                                          <p:spTgt spid="146"/>
                                        </p:tgtEl>
                                      </p:cBhvr>
                                    </p:animEffect>
                                  </p:childTnLst>
                                </p:cTn>
                              </p:par>
                              <p:par>
                                <p:cTn id="37" presetID="9" presetClass="emph" presetSubtype="0" nodeType="withEffect">
                                  <p:stCondLst>
                                    <p:cond delay="0"/>
                                  </p:stCondLst>
                                  <p:childTnLst>
                                    <p:set>
                                      <p:cBhvr rctx="PPT">
                                        <p:cTn id="38" dur="indefinite"/>
                                        <p:tgtEl>
                                          <p:spTgt spid="146"/>
                                        </p:tgtEl>
                                        <p:attrNameLst>
                                          <p:attrName>style.opacity</p:attrName>
                                        </p:attrNameLst>
                                      </p:cBhvr>
                                      <p:to>
                                        <p:strVal val="0.5"/>
                                      </p:to>
                                    </p:set>
                                    <p:animEffect filter="image" prLst="opacity: 0.5">
                                      <p:cBhvr rctx="IE">
                                        <p:cTn id="39" dur="indefinite"/>
                                        <p:tgtEl>
                                          <p:spTgt spid="146"/>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childTnLst>
                                </p:cTn>
                              </p:par>
                              <p:par>
                                <p:cTn id="52" presetID="12" presetClass="entr" presetSubtype="8" fill="hold" grpId="0" nodeType="withEffect">
                                  <p:stCondLst>
                                    <p:cond delay="0"/>
                                  </p:stCondLst>
                                  <p:childTnLst>
                                    <p:set>
                                      <p:cBhvr>
                                        <p:cTn id="53" dur="1" fill="hold">
                                          <p:stCondLst>
                                            <p:cond delay="0"/>
                                          </p:stCondLst>
                                        </p:cTn>
                                        <p:tgtEl>
                                          <p:spTgt spid="163"/>
                                        </p:tgtEl>
                                        <p:attrNameLst>
                                          <p:attrName>style.visibility</p:attrName>
                                        </p:attrNameLst>
                                      </p:cBhvr>
                                      <p:to>
                                        <p:strVal val="visible"/>
                                      </p:to>
                                    </p:set>
                                    <p:animEffect transition="in" filter="slide(fromLeft)">
                                      <p:cBhvr>
                                        <p:cTn id="54" dur="5000"/>
                                        <p:tgtEl>
                                          <p:spTgt spid="163"/>
                                        </p:tgtEl>
                                      </p:cBhvr>
                                    </p:animEffect>
                                  </p:childTnLst>
                                </p:cTn>
                              </p:par>
                              <p:par>
                                <p:cTn id="55" presetID="19" presetClass="entr" presetSubtype="10" fill="hold" nodeType="withEffect">
                                  <p:stCondLst>
                                    <p:cond delay="0"/>
                                  </p:stCondLst>
                                  <p:childTnLst>
                                    <p:set>
                                      <p:cBhvr>
                                        <p:cTn id="56" dur="1" fill="hold">
                                          <p:stCondLst>
                                            <p:cond delay="0"/>
                                          </p:stCondLst>
                                        </p:cTn>
                                        <p:tgtEl>
                                          <p:spTgt spid="159"/>
                                        </p:tgtEl>
                                        <p:attrNameLst>
                                          <p:attrName>style.visibility</p:attrName>
                                        </p:attrNameLst>
                                      </p:cBhvr>
                                      <p:to>
                                        <p:strVal val="visible"/>
                                      </p:to>
                                    </p:set>
                                    <p:anim calcmode="lin" valueType="num">
                                      <p:cBhvr>
                                        <p:cTn id="57" dur="5000" fill="hold"/>
                                        <p:tgtEl>
                                          <p:spTgt spid="159"/>
                                        </p:tgtEl>
                                        <p:attrNameLst>
                                          <p:attrName>ppt_w</p:attrName>
                                        </p:attrNameLst>
                                      </p:cBhvr>
                                      <p:tavLst>
                                        <p:tav tm="0" fmla="#ppt_w*sin(2.5*pi*$)">
                                          <p:val>
                                            <p:fltVal val="0"/>
                                          </p:val>
                                        </p:tav>
                                        <p:tav tm="100000">
                                          <p:val>
                                            <p:fltVal val="1"/>
                                          </p:val>
                                        </p:tav>
                                      </p:tavLst>
                                    </p:anim>
                                    <p:anim calcmode="lin" valueType="num">
                                      <p:cBhvr>
                                        <p:cTn id="58" dur="5000" fill="hold"/>
                                        <p:tgtEl>
                                          <p:spTgt spid="159"/>
                                        </p:tgtEl>
                                        <p:attrNameLst>
                                          <p:attrName>ppt_h</p:attrName>
                                        </p:attrNameLst>
                                      </p:cBhvr>
                                      <p:tavLst>
                                        <p:tav tm="0">
                                          <p:val>
                                            <p:strVal val="#ppt_h"/>
                                          </p:val>
                                        </p:tav>
                                        <p:tav tm="100000">
                                          <p:val>
                                            <p:strVal val="#ppt_h"/>
                                          </p:val>
                                        </p:tav>
                                      </p:tavLst>
                                    </p:anim>
                                  </p:childTnLst>
                                </p:cTn>
                              </p:par>
                              <p:par>
                                <p:cTn id="59" presetID="12" presetClass="entr" presetSubtype="4" fill="hold" grpId="0" nodeType="withEffect">
                                  <p:stCondLst>
                                    <p:cond delay="0"/>
                                  </p:stCondLst>
                                  <p:childTnLst>
                                    <p:set>
                                      <p:cBhvr>
                                        <p:cTn id="60" dur="1" fill="hold">
                                          <p:stCondLst>
                                            <p:cond delay="0"/>
                                          </p:stCondLst>
                                        </p:cTn>
                                        <p:tgtEl>
                                          <p:spTgt spid="160"/>
                                        </p:tgtEl>
                                        <p:attrNameLst>
                                          <p:attrName>style.visibility</p:attrName>
                                        </p:attrNameLst>
                                      </p:cBhvr>
                                      <p:to>
                                        <p:strVal val="visible"/>
                                      </p:to>
                                    </p:set>
                                    <p:animEffect transition="in" filter="slide(fromBottom)">
                                      <p:cBhvr>
                                        <p:cTn id="61" dur="5000"/>
                                        <p:tgtEl>
                                          <p:spTgt spid="160"/>
                                        </p:tgtEl>
                                      </p:cBhvr>
                                    </p:animEffect>
                                  </p:childTnLst>
                                </p:cTn>
                              </p:par>
                              <p:par>
                                <p:cTn id="62" presetID="19" presetClass="entr" presetSubtype="10" fill="hold" nodeType="withEffect">
                                  <p:stCondLst>
                                    <p:cond delay="0"/>
                                  </p:stCondLst>
                                  <p:childTnLst>
                                    <p:set>
                                      <p:cBhvr>
                                        <p:cTn id="63" dur="1" fill="hold">
                                          <p:stCondLst>
                                            <p:cond delay="0"/>
                                          </p:stCondLst>
                                        </p:cTn>
                                        <p:tgtEl>
                                          <p:spTgt spid="161"/>
                                        </p:tgtEl>
                                        <p:attrNameLst>
                                          <p:attrName>style.visibility</p:attrName>
                                        </p:attrNameLst>
                                      </p:cBhvr>
                                      <p:to>
                                        <p:strVal val="visible"/>
                                      </p:to>
                                    </p:set>
                                    <p:anim calcmode="lin" valueType="num">
                                      <p:cBhvr>
                                        <p:cTn id="64" dur="5000" fill="hold"/>
                                        <p:tgtEl>
                                          <p:spTgt spid="161"/>
                                        </p:tgtEl>
                                        <p:attrNameLst>
                                          <p:attrName>ppt_w</p:attrName>
                                        </p:attrNameLst>
                                      </p:cBhvr>
                                      <p:tavLst>
                                        <p:tav tm="0" fmla="#ppt_w*sin(2.5*pi*$)">
                                          <p:val>
                                            <p:fltVal val="0"/>
                                          </p:val>
                                        </p:tav>
                                        <p:tav tm="100000">
                                          <p:val>
                                            <p:fltVal val="1"/>
                                          </p:val>
                                        </p:tav>
                                      </p:tavLst>
                                    </p:anim>
                                    <p:anim calcmode="lin" valueType="num">
                                      <p:cBhvr>
                                        <p:cTn id="65" dur="5000" fill="hold"/>
                                        <p:tgtEl>
                                          <p:spTgt spid="161"/>
                                        </p:tgtEl>
                                        <p:attrNameLst>
                                          <p:attrName>ppt_h</p:attrName>
                                        </p:attrNameLst>
                                      </p:cBhvr>
                                      <p:tavLst>
                                        <p:tav tm="0">
                                          <p:val>
                                            <p:strVal val="#ppt_h"/>
                                          </p:val>
                                        </p:tav>
                                        <p:tav tm="100000">
                                          <p:val>
                                            <p:strVal val="#ppt_h"/>
                                          </p:val>
                                        </p:tav>
                                      </p:tavLst>
                                    </p:anim>
                                  </p:childTnLst>
                                </p:cTn>
                              </p:par>
                              <p:par>
                                <p:cTn id="66" presetID="19" presetClass="entr" presetSubtype="10" fill="hold" grpId="0" nodeType="withEffect">
                                  <p:stCondLst>
                                    <p:cond delay="0"/>
                                  </p:stCondLst>
                                  <p:childTnLst>
                                    <p:set>
                                      <p:cBhvr>
                                        <p:cTn id="67" dur="1" fill="hold">
                                          <p:stCondLst>
                                            <p:cond delay="0"/>
                                          </p:stCondLst>
                                        </p:cTn>
                                        <p:tgtEl>
                                          <p:spTgt spid="162"/>
                                        </p:tgtEl>
                                        <p:attrNameLst>
                                          <p:attrName>style.visibility</p:attrName>
                                        </p:attrNameLst>
                                      </p:cBhvr>
                                      <p:to>
                                        <p:strVal val="visible"/>
                                      </p:to>
                                    </p:set>
                                    <p:anim calcmode="lin" valueType="num">
                                      <p:cBhvr>
                                        <p:cTn id="68" dur="5000" fill="hold"/>
                                        <p:tgtEl>
                                          <p:spTgt spid="162"/>
                                        </p:tgtEl>
                                        <p:attrNameLst>
                                          <p:attrName>ppt_w</p:attrName>
                                        </p:attrNameLst>
                                      </p:cBhvr>
                                      <p:tavLst>
                                        <p:tav tm="0" fmla="#ppt_w*sin(2.5*pi*$)">
                                          <p:val>
                                            <p:fltVal val="0"/>
                                          </p:val>
                                        </p:tav>
                                        <p:tav tm="100000">
                                          <p:val>
                                            <p:fltVal val="1"/>
                                          </p:val>
                                        </p:tav>
                                      </p:tavLst>
                                    </p:anim>
                                    <p:anim calcmode="lin" valueType="num">
                                      <p:cBhvr>
                                        <p:cTn id="69"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15" presetClass="entr" presetSubtype="0" fill="hold" grpId="0" nodeType="clickEffect">
                                  <p:stCondLst>
                                    <p:cond delay="0"/>
                                  </p:stCondLst>
                                  <p:childTnLst>
                                    <p:set>
                                      <p:cBhvr>
                                        <p:cTn id="73" dur="1" fill="hold">
                                          <p:stCondLst>
                                            <p:cond delay="0"/>
                                          </p:stCondLst>
                                        </p:cTn>
                                        <p:tgtEl>
                                          <p:spTgt spid="165"/>
                                        </p:tgtEl>
                                        <p:attrNameLst>
                                          <p:attrName>style.visibility</p:attrName>
                                        </p:attrNameLst>
                                      </p:cBhvr>
                                      <p:to>
                                        <p:strVal val="visible"/>
                                      </p:to>
                                    </p:set>
                                    <p:anim calcmode="lin" valueType="num">
                                      <p:cBhvr>
                                        <p:cTn id="74" dur="2000" fill="hold"/>
                                        <p:tgtEl>
                                          <p:spTgt spid="165"/>
                                        </p:tgtEl>
                                        <p:attrNameLst>
                                          <p:attrName>ppt_w</p:attrName>
                                        </p:attrNameLst>
                                      </p:cBhvr>
                                      <p:tavLst>
                                        <p:tav tm="0">
                                          <p:val>
                                            <p:fltVal val="0"/>
                                          </p:val>
                                        </p:tav>
                                        <p:tav tm="100000">
                                          <p:val>
                                            <p:strVal val="#ppt_w"/>
                                          </p:val>
                                        </p:tav>
                                      </p:tavLst>
                                    </p:anim>
                                    <p:anim calcmode="lin" valueType="num">
                                      <p:cBhvr>
                                        <p:cTn id="75" dur="2000" fill="hold"/>
                                        <p:tgtEl>
                                          <p:spTgt spid="165"/>
                                        </p:tgtEl>
                                        <p:attrNameLst>
                                          <p:attrName>ppt_h</p:attrName>
                                        </p:attrNameLst>
                                      </p:cBhvr>
                                      <p:tavLst>
                                        <p:tav tm="0">
                                          <p:val>
                                            <p:fltVal val="0"/>
                                          </p:val>
                                        </p:tav>
                                        <p:tav tm="100000">
                                          <p:val>
                                            <p:strVal val="#ppt_h"/>
                                          </p:val>
                                        </p:tav>
                                      </p:tavLst>
                                    </p:anim>
                                    <p:anim calcmode="lin" valueType="num">
                                      <p:cBhvr>
                                        <p:cTn id="76" dur="2000" fill="hold"/>
                                        <p:tgtEl>
                                          <p:spTgt spid="165"/>
                                        </p:tgtEl>
                                        <p:attrNameLst>
                                          <p:attrName>ppt_x</p:attrName>
                                        </p:attrNameLst>
                                      </p:cBhvr>
                                      <p:tavLst>
                                        <p:tav tm="0" fmla="#ppt_x+(cos(-2*pi*(1-$))*-#ppt_x-sin(-2*pi*(1-$))*(1-#ppt_y))*(1-$)">
                                          <p:val>
                                            <p:fltVal val="0"/>
                                          </p:val>
                                        </p:tav>
                                        <p:tav tm="100000">
                                          <p:val>
                                            <p:fltVal val="1"/>
                                          </p:val>
                                        </p:tav>
                                      </p:tavLst>
                                    </p:anim>
                                    <p:anim calcmode="lin" valueType="num">
                                      <p:cBhvr>
                                        <p:cTn id="77" dur="2000" fill="hold"/>
                                        <p:tgtEl>
                                          <p:spTgt spid="16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2"/>
                                            </p:cond>
                                          </p:stCondLst>
                                          <p:endCondLst>
                                            <p:cond evt="onStopAudio" delay="0">
                                              <p:tgtEl>
                                                <p:sldTgt/>
                                              </p:tgtEl>
                                            </p:cond>
                                          </p:endCondLst>
                                        </p:cTn>
                                        <p:tgtEl>
                                          <p:sndTgt r:embed="rId4" name="LASER.WAV"/>
                                        </p:tgtEl>
                                      </p:cMediaNode>
                                    </p:audio>
                                  </p:subTnLst>
                                </p:cTn>
                              </p:par>
                            </p:childTnLst>
                          </p:cTn>
                        </p:par>
                        <p:par>
                          <p:cTn id="78" fill="hold">
                            <p:stCondLst>
                              <p:cond delay="2000"/>
                            </p:stCondLst>
                            <p:childTnLst>
                              <p:par>
                                <p:cTn id="79" presetID="15" presetClass="entr" presetSubtype="0" fill="hold" grpId="0" nodeType="afterEffect">
                                  <p:stCondLst>
                                    <p:cond delay="300"/>
                                  </p:stCondLst>
                                  <p:childTnLst>
                                    <p:set>
                                      <p:cBhvr>
                                        <p:cTn id="80" dur="1" fill="hold">
                                          <p:stCondLst>
                                            <p:cond delay="0"/>
                                          </p:stCondLst>
                                        </p:cTn>
                                        <p:tgtEl>
                                          <p:spTgt spid="127"/>
                                        </p:tgtEl>
                                        <p:attrNameLst>
                                          <p:attrName>style.visibility</p:attrName>
                                        </p:attrNameLst>
                                      </p:cBhvr>
                                      <p:to>
                                        <p:strVal val="visible"/>
                                      </p:to>
                                    </p:set>
                                    <p:anim calcmode="lin" valueType="num">
                                      <p:cBhvr>
                                        <p:cTn id="81" dur="2000" fill="hold"/>
                                        <p:tgtEl>
                                          <p:spTgt spid="127"/>
                                        </p:tgtEl>
                                        <p:attrNameLst>
                                          <p:attrName>ppt_w</p:attrName>
                                        </p:attrNameLst>
                                      </p:cBhvr>
                                      <p:tavLst>
                                        <p:tav tm="0">
                                          <p:val>
                                            <p:fltVal val="0"/>
                                          </p:val>
                                        </p:tav>
                                        <p:tav tm="100000">
                                          <p:val>
                                            <p:strVal val="#ppt_w"/>
                                          </p:val>
                                        </p:tav>
                                      </p:tavLst>
                                    </p:anim>
                                    <p:anim calcmode="lin" valueType="num">
                                      <p:cBhvr>
                                        <p:cTn id="82" dur="2000" fill="hold"/>
                                        <p:tgtEl>
                                          <p:spTgt spid="127"/>
                                        </p:tgtEl>
                                        <p:attrNameLst>
                                          <p:attrName>ppt_h</p:attrName>
                                        </p:attrNameLst>
                                      </p:cBhvr>
                                      <p:tavLst>
                                        <p:tav tm="0">
                                          <p:val>
                                            <p:fltVal val="0"/>
                                          </p:val>
                                        </p:tav>
                                        <p:tav tm="100000">
                                          <p:val>
                                            <p:strVal val="#ppt_h"/>
                                          </p:val>
                                        </p:tav>
                                      </p:tavLst>
                                    </p:anim>
                                    <p:anim calcmode="lin" valueType="num">
                                      <p:cBhvr>
                                        <p:cTn id="83" dur="2000" fill="hold"/>
                                        <p:tgtEl>
                                          <p:spTgt spid="127"/>
                                        </p:tgtEl>
                                        <p:attrNameLst>
                                          <p:attrName>ppt_x</p:attrName>
                                        </p:attrNameLst>
                                      </p:cBhvr>
                                      <p:tavLst>
                                        <p:tav tm="0" fmla="#ppt_x+(cos(-2*pi*(1-$))*-#ppt_x-sin(-2*pi*(1-$))*(1-#ppt_y))*(1-$)">
                                          <p:val>
                                            <p:fltVal val="0"/>
                                          </p:val>
                                        </p:tav>
                                        <p:tav tm="100000">
                                          <p:val>
                                            <p:fltVal val="1"/>
                                          </p:val>
                                        </p:tav>
                                      </p:tavLst>
                                    </p:anim>
                                    <p:anim calcmode="lin" valueType="num">
                                      <p:cBhvr>
                                        <p:cTn id="84" dur="2000" fill="hold"/>
                                        <p:tgtEl>
                                          <p:spTgt spid="12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9"/>
                                            </p:cond>
                                          </p:stCondLst>
                                          <p:endCondLst>
                                            <p:cond evt="onStopAudio" delay="0">
                                              <p:tgtEl>
                                                <p:sldTgt/>
                                              </p:tgtEl>
                                            </p:cond>
                                          </p:endCondLst>
                                        </p:cTn>
                                        <p:tgtEl>
                                          <p:sndTgt r:embed="rId4" name="LASER.WAV"/>
                                        </p:tgtEl>
                                      </p:cMediaNode>
                                    </p:audio>
                                  </p:subTnLst>
                                </p:cTn>
                              </p:par>
                            </p:childTnLst>
                          </p:cTn>
                        </p:par>
                        <p:par>
                          <p:cTn id="85" fill="hold">
                            <p:stCondLst>
                              <p:cond delay="4300"/>
                            </p:stCondLst>
                            <p:childTnLst>
                              <p:par>
                                <p:cTn id="86" presetID="17" presetClass="entr" presetSubtype="10" fill="hold" grpId="0" nodeType="afterEffect">
                                  <p:stCondLst>
                                    <p:cond delay="0"/>
                                  </p:stCondLst>
                                  <p:childTnLst>
                                    <p:set>
                                      <p:cBhvr>
                                        <p:cTn id="87" dur="1" fill="hold">
                                          <p:stCondLst>
                                            <p:cond delay="0"/>
                                          </p:stCondLst>
                                        </p:cTn>
                                        <p:tgtEl>
                                          <p:spTgt spid="120"/>
                                        </p:tgtEl>
                                        <p:attrNameLst>
                                          <p:attrName>style.visibility</p:attrName>
                                        </p:attrNameLst>
                                      </p:cBhvr>
                                      <p:to>
                                        <p:strVal val="visible"/>
                                      </p:to>
                                    </p:set>
                                    <p:anim calcmode="lin" valueType="num">
                                      <p:cBhvr>
                                        <p:cTn id="88" dur="2000" fill="hold"/>
                                        <p:tgtEl>
                                          <p:spTgt spid="120"/>
                                        </p:tgtEl>
                                        <p:attrNameLst>
                                          <p:attrName>ppt_w</p:attrName>
                                        </p:attrNameLst>
                                      </p:cBhvr>
                                      <p:tavLst>
                                        <p:tav tm="0">
                                          <p:val>
                                            <p:fltVal val="0"/>
                                          </p:val>
                                        </p:tav>
                                        <p:tav tm="100000">
                                          <p:val>
                                            <p:strVal val="#ppt_w"/>
                                          </p:val>
                                        </p:tav>
                                      </p:tavLst>
                                    </p:anim>
                                    <p:anim calcmode="lin" valueType="num">
                                      <p:cBhvr>
                                        <p:cTn id="89" dur="2000" fill="hold"/>
                                        <p:tgtEl>
                                          <p:spTgt spid="12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6300"/>
                            </p:stCondLst>
                            <p:childTnLst>
                              <p:par>
                                <p:cTn id="91" presetID="15" presetClass="entr" presetSubtype="0" fill="hold" grpId="0" nodeType="afterEffect">
                                  <p:stCondLst>
                                    <p:cond delay="300"/>
                                  </p:stCondLst>
                                  <p:childTnLst>
                                    <p:set>
                                      <p:cBhvr>
                                        <p:cTn id="92" dur="1" fill="hold">
                                          <p:stCondLst>
                                            <p:cond delay="0"/>
                                          </p:stCondLst>
                                        </p:cTn>
                                        <p:tgtEl>
                                          <p:spTgt spid="128"/>
                                        </p:tgtEl>
                                        <p:attrNameLst>
                                          <p:attrName>style.visibility</p:attrName>
                                        </p:attrNameLst>
                                      </p:cBhvr>
                                      <p:to>
                                        <p:strVal val="visible"/>
                                      </p:to>
                                    </p:set>
                                    <p:anim calcmode="lin" valueType="num">
                                      <p:cBhvr>
                                        <p:cTn id="93" dur="2000" fill="hold"/>
                                        <p:tgtEl>
                                          <p:spTgt spid="128"/>
                                        </p:tgtEl>
                                        <p:attrNameLst>
                                          <p:attrName>ppt_w</p:attrName>
                                        </p:attrNameLst>
                                      </p:cBhvr>
                                      <p:tavLst>
                                        <p:tav tm="0">
                                          <p:val>
                                            <p:fltVal val="0"/>
                                          </p:val>
                                        </p:tav>
                                        <p:tav tm="100000">
                                          <p:val>
                                            <p:strVal val="#ppt_w"/>
                                          </p:val>
                                        </p:tav>
                                      </p:tavLst>
                                    </p:anim>
                                    <p:anim calcmode="lin" valueType="num">
                                      <p:cBhvr>
                                        <p:cTn id="94" dur="2000" fill="hold"/>
                                        <p:tgtEl>
                                          <p:spTgt spid="128"/>
                                        </p:tgtEl>
                                        <p:attrNameLst>
                                          <p:attrName>ppt_h</p:attrName>
                                        </p:attrNameLst>
                                      </p:cBhvr>
                                      <p:tavLst>
                                        <p:tav tm="0">
                                          <p:val>
                                            <p:fltVal val="0"/>
                                          </p:val>
                                        </p:tav>
                                        <p:tav tm="100000">
                                          <p:val>
                                            <p:strVal val="#ppt_h"/>
                                          </p:val>
                                        </p:tav>
                                      </p:tavLst>
                                    </p:anim>
                                    <p:anim calcmode="lin" valueType="num">
                                      <p:cBhvr>
                                        <p:cTn id="95" dur="2000" fill="hold"/>
                                        <p:tgtEl>
                                          <p:spTgt spid="128"/>
                                        </p:tgtEl>
                                        <p:attrNameLst>
                                          <p:attrName>ppt_x</p:attrName>
                                        </p:attrNameLst>
                                      </p:cBhvr>
                                      <p:tavLst>
                                        <p:tav tm="0" fmla="#ppt_x+(cos(-2*pi*(1-$))*-#ppt_x-sin(-2*pi*(1-$))*(1-#ppt_y))*(1-$)">
                                          <p:val>
                                            <p:fltVal val="0"/>
                                          </p:val>
                                        </p:tav>
                                        <p:tav tm="100000">
                                          <p:val>
                                            <p:fltVal val="1"/>
                                          </p:val>
                                        </p:tav>
                                      </p:tavLst>
                                    </p:anim>
                                    <p:anim calcmode="lin" valueType="num">
                                      <p:cBhvr>
                                        <p:cTn id="96" dur="2000" fill="hold"/>
                                        <p:tgtEl>
                                          <p:spTgt spid="12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1"/>
                                            </p:cond>
                                          </p:stCondLst>
                                          <p:endCondLst>
                                            <p:cond evt="onStopAudio" delay="0">
                                              <p:tgtEl>
                                                <p:sldTgt/>
                                              </p:tgtEl>
                                            </p:cond>
                                          </p:endCondLst>
                                        </p:cTn>
                                        <p:tgtEl>
                                          <p:sndTgt r:embed="rId4" name="LASER.WAV"/>
                                        </p:tgtEl>
                                      </p:cMediaNode>
                                    </p:audio>
                                  </p:subTnLst>
                                </p:cTn>
                              </p:par>
                            </p:childTnLst>
                          </p:cTn>
                        </p:par>
                        <p:par>
                          <p:cTn id="97" fill="hold">
                            <p:stCondLst>
                              <p:cond delay="8600"/>
                            </p:stCondLst>
                            <p:childTnLst>
                              <p:par>
                                <p:cTn id="98" presetID="17" presetClass="entr" presetSubtype="10" fill="hold" grpId="0" nodeType="afterEffect">
                                  <p:stCondLst>
                                    <p:cond delay="0"/>
                                  </p:stCondLst>
                                  <p:childTnLst>
                                    <p:set>
                                      <p:cBhvr>
                                        <p:cTn id="99" dur="1" fill="hold">
                                          <p:stCondLst>
                                            <p:cond delay="0"/>
                                          </p:stCondLst>
                                        </p:cTn>
                                        <p:tgtEl>
                                          <p:spTgt spid="123"/>
                                        </p:tgtEl>
                                        <p:attrNameLst>
                                          <p:attrName>style.visibility</p:attrName>
                                        </p:attrNameLst>
                                      </p:cBhvr>
                                      <p:to>
                                        <p:strVal val="visible"/>
                                      </p:to>
                                    </p:set>
                                    <p:anim calcmode="lin" valueType="num">
                                      <p:cBhvr>
                                        <p:cTn id="100" dur="2000" fill="hold"/>
                                        <p:tgtEl>
                                          <p:spTgt spid="123"/>
                                        </p:tgtEl>
                                        <p:attrNameLst>
                                          <p:attrName>ppt_w</p:attrName>
                                        </p:attrNameLst>
                                      </p:cBhvr>
                                      <p:tavLst>
                                        <p:tav tm="0">
                                          <p:val>
                                            <p:fltVal val="0"/>
                                          </p:val>
                                        </p:tav>
                                        <p:tav tm="100000">
                                          <p:val>
                                            <p:strVal val="#ppt_w"/>
                                          </p:val>
                                        </p:tav>
                                      </p:tavLst>
                                    </p:anim>
                                    <p:anim calcmode="lin" valueType="num">
                                      <p:cBhvr>
                                        <p:cTn id="101" dur="2000" fill="hold"/>
                                        <p:tgtEl>
                                          <p:spTgt spid="1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par>
                          <p:cTn id="102" fill="hold">
                            <p:stCondLst>
                              <p:cond delay="10600"/>
                            </p:stCondLst>
                            <p:childTnLst>
                              <p:par>
                                <p:cTn id="103" presetID="15" presetClass="entr" presetSubtype="0" fill="hold" grpId="0" nodeType="afterEffect">
                                  <p:stCondLst>
                                    <p:cond delay="300"/>
                                  </p:stCondLst>
                                  <p:childTnLst>
                                    <p:set>
                                      <p:cBhvr>
                                        <p:cTn id="104" dur="1" fill="hold">
                                          <p:stCondLst>
                                            <p:cond delay="0"/>
                                          </p:stCondLst>
                                        </p:cTn>
                                        <p:tgtEl>
                                          <p:spTgt spid="129"/>
                                        </p:tgtEl>
                                        <p:attrNameLst>
                                          <p:attrName>style.visibility</p:attrName>
                                        </p:attrNameLst>
                                      </p:cBhvr>
                                      <p:to>
                                        <p:strVal val="visible"/>
                                      </p:to>
                                    </p:set>
                                    <p:anim calcmode="lin" valueType="num">
                                      <p:cBhvr>
                                        <p:cTn id="105" dur="2000" fill="hold"/>
                                        <p:tgtEl>
                                          <p:spTgt spid="129"/>
                                        </p:tgtEl>
                                        <p:attrNameLst>
                                          <p:attrName>ppt_w</p:attrName>
                                        </p:attrNameLst>
                                      </p:cBhvr>
                                      <p:tavLst>
                                        <p:tav tm="0">
                                          <p:val>
                                            <p:fltVal val="0"/>
                                          </p:val>
                                        </p:tav>
                                        <p:tav tm="100000">
                                          <p:val>
                                            <p:strVal val="#ppt_w"/>
                                          </p:val>
                                        </p:tav>
                                      </p:tavLst>
                                    </p:anim>
                                    <p:anim calcmode="lin" valueType="num">
                                      <p:cBhvr>
                                        <p:cTn id="106" dur="2000" fill="hold"/>
                                        <p:tgtEl>
                                          <p:spTgt spid="129"/>
                                        </p:tgtEl>
                                        <p:attrNameLst>
                                          <p:attrName>ppt_h</p:attrName>
                                        </p:attrNameLst>
                                      </p:cBhvr>
                                      <p:tavLst>
                                        <p:tav tm="0">
                                          <p:val>
                                            <p:fltVal val="0"/>
                                          </p:val>
                                        </p:tav>
                                        <p:tav tm="100000">
                                          <p:val>
                                            <p:strVal val="#ppt_h"/>
                                          </p:val>
                                        </p:tav>
                                      </p:tavLst>
                                    </p:anim>
                                    <p:anim calcmode="lin" valueType="num">
                                      <p:cBhvr>
                                        <p:cTn id="107" dur="2000" fill="hold"/>
                                        <p:tgtEl>
                                          <p:spTgt spid="129"/>
                                        </p:tgtEl>
                                        <p:attrNameLst>
                                          <p:attrName>ppt_x</p:attrName>
                                        </p:attrNameLst>
                                      </p:cBhvr>
                                      <p:tavLst>
                                        <p:tav tm="0" fmla="#ppt_x+(cos(-2*pi*(1-$))*-#ppt_x-sin(-2*pi*(1-$))*(1-#ppt_y))*(1-$)">
                                          <p:val>
                                            <p:fltVal val="0"/>
                                          </p:val>
                                        </p:tav>
                                        <p:tav tm="100000">
                                          <p:val>
                                            <p:fltVal val="1"/>
                                          </p:val>
                                        </p:tav>
                                      </p:tavLst>
                                    </p:anim>
                                    <p:anim calcmode="lin" valueType="num">
                                      <p:cBhvr>
                                        <p:cTn id="108" dur="2000" fill="hold"/>
                                        <p:tgtEl>
                                          <p:spTgt spid="12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3"/>
                                            </p:cond>
                                          </p:stCondLst>
                                          <p:endCondLst>
                                            <p:cond evt="onStopAudio" delay="0">
                                              <p:tgtEl>
                                                <p:sldTgt/>
                                              </p:tgtEl>
                                            </p:cond>
                                          </p:endCondLst>
                                        </p:cTn>
                                        <p:tgtEl>
                                          <p:sndTgt r:embed="rId4" name="LASER.WAV"/>
                                        </p:tgtEl>
                                      </p:cMediaNode>
                                    </p:audio>
                                  </p:subTnLst>
                                </p:cTn>
                              </p:par>
                            </p:childTnLst>
                          </p:cTn>
                        </p:par>
                        <p:par>
                          <p:cTn id="109" fill="hold">
                            <p:stCondLst>
                              <p:cond delay="12900"/>
                            </p:stCondLst>
                            <p:childTnLst>
                              <p:par>
                                <p:cTn id="110" presetID="18" presetClass="entr" presetSubtype="3" fill="hold" grpId="0" nodeType="afterEffect">
                                  <p:stCondLst>
                                    <p:cond delay="1000"/>
                                  </p:stCondLst>
                                  <p:childTnLst>
                                    <p:set>
                                      <p:cBhvr>
                                        <p:cTn id="111" dur="1" fill="hold">
                                          <p:stCondLst>
                                            <p:cond delay="0"/>
                                          </p:stCondLst>
                                        </p:cTn>
                                        <p:tgtEl>
                                          <p:spTgt spid="121"/>
                                        </p:tgtEl>
                                        <p:attrNameLst>
                                          <p:attrName>style.visibility</p:attrName>
                                        </p:attrNameLst>
                                      </p:cBhvr>
                                      <p:to>
                                        <p:strVal val="visible"/>
                                      </p:to>
                                    </p:set>
                                    <p:animEffect transition="in" filter="strips(upRight)">
                                      <p:cBhvr>
                                        <p:cTn id="112" dur="5000"/>
                                        <p:tgtEl>
                                          <p:spTgt spid="121"/>
                                        </p:tgtEl>
                                      </p:cBhvr>
                                    </p:animEffect>
                                  </p:childTnLst>
                                  <p:subTnLst>
                                    <p:audio>
                                      <p:cMediaNode>
                                        <p:cTn display="0" masterRel="sameClick">
                                          <p:stCondLst>
                                            <p:cond evt="begin" delay="0">
                                              <p:tn val="110"/>
                                            </p:cond>
                                          </p:stCondLst>
                                          <p:endCondLst>
                                            <p:cond evt="onStopAudio" delay="0">
                                              <p:tgtEl>
                                                <p:sldTgt/>
                                              </p:tgtEl>
                                            </p:cond>
                                          </p:endCondLst>
                                        </p:cTn>
                                        <p:tgtEl>
                                          <p:sndTgt r:embed="rId5" name="CHIMES.WAV"/>
                                        </p:tgtEl>
                                      </p:cMediaNode>
                                    </p:audio>
                                  </p:subTnLst>
                                </p:cTn>
                              </p:par>
                            </p:childTnLst>
                          </p:cTn>
                        </p:par>
                        <p:par>
                          <p:cTn id="113" fill="hold">
                            <p:stCondLst>
                              <p:cond delay="18900"/>
                            </p:stCondLst>
                            <p:childTnLst>
                              <p:par>
                                <p:cTn id="114" presetID="18" presetClass="entr" presetSubtype="6" fill="hold" grpId="0" nodeType="afterEffect">
                                  <p:stCondLst>
                                    <p:cond delay="0"/>
                                  </p:stCondLst>
                                  <p:childTnLst>
                                    <p:set>
                                      <p:cBhvr>
                                        <p:cTn id="115" dur="1" fill="hold">
                                          <p:stCondLst>
                                            <p:cond delay="0"/>
                                          </p:stCondLst>
                                        </p:cTn>
                                        <p:tgtEl>
                                          <p:spTgt spid="122"/>
                                        </p:tgtEl>
                                        <p:attrNameLst>
                                          <p:attrName>style.visibility</p:attrName>
                                        </p:attrNameLst>
                                      </p:cBhvr>
                                      <p:to>
                                        <p:strVal val="visible"/>
                                      </p:to>
                                    </p:set>
                                    <p:animEffect transition="in" filter="strips(downRight)">
                                      <p:cBhvr>
                                        <p:cTn id="116" dur="5000"/>
                                        <p:tgtEl>
                                          <p:spTgt spid="122"/>
                                        </p:tgtEl>
                                      </p:cBhvr>
                                    </p:animEffect>
                                  </p:childTnLst>
                                  <p:subTnLst>
                                    <p:audio>
                                      <p:cMediaNode>
                                        <p:cTn display="0" masterRel="sameClick">
                                          <p:stCondLst>
                                            <p:cond evt="begin" delay="0">
                                              <p:tn val="114"/>
                                            </p:cond>
                                          </p:stCondLst>
                                          <p:endCondLst>
                                            <p:cond evt="onStopAudio" delay="0">
                                              <p:tgtEl>
                                                <p:sldTgt/>
                                              </p:tgtEl>
                                            </p:cond>
                                          </p:endCondLst>
                                        </p:cTn>
                                        <p:tgtEl>
                                          <p:sndTgt r:embed="rId5" name="CHIMES.WAV"/>
                                        </p:tgtEl>
                                      </p:cMediaNode>
                                    </p:audio>
                                  </p:subTnLst>
                                </p:cTn>
                              </p:par>
                            </p:childTnLst>
                          </p:cTn>
                        </p:par>
                        <p:par>
                          <p:cTn id="117" fill="hold">
                            <p:stCondLst>
                              <p:cond delay="23900"/>
                            </p:stCondLst>
                            <p:childTnLst>
                              <p:par>
                                <p:cTn id="118" presetID="18" presetClass="entr" presetSubtype="3" fill="hold" grpId="0" nodeType="afterEffect">
                                  <p:stCondLst>
                                    <p:cond delay="0"/>
                                  </p:stCondLst>
                                  <p:childTnLst>
                                    <p:set>
                                      <p:cBhvr>
                                        <p:cTn id="119" dur="1" fill="hold">
                                          <p:stCondLst>
                                            <p:cond delay="0"/>
                                          </p:stCondLst>
                                        </p:cTn>
                                        <p:tgtEl>
                                          <p:spTgt spid="164"/>
                                        </p:tgtEl>
                                        <p:attrNameLst>
                                          <p:attrName>style.visibility</p:attrName>
                                        </p:attrNameLst>
                                      </p:cBhvr>
                                      <p:to>
                                        <p:strVal val="visible"/>
                                      </p:to>
                                    </p:set>
                                    <p:animEffect transition="in" filter="strips(upRight)">
                                      <p:cBhvr>
                                        <p:cTn id="120" dur="5000"/>
                                        <p:tgtEl>
                                          <p:spTgt spid="164"/>
                                        </p:tgtEl>
                                      </p:cBhvr>
                                    </p:animEffect>
                                  </p:childTnLst>
                                  <p:subTnLst>
                                    <p:audio>
                                      <p:cMediaNode>
                                        <p:cTn display="0" masterRel="sameClick">
                                          <p:stCondLst>
                                            <p:cond evt="begin" delay="0">
                                              <p:tn val="118"/>
                                            </p:cond>
                                          </p:stCondLst>
                                          <p:endCondLst>
                                            <p:cond evt="onStopAudio" delay="0">
                                              <p:tgtEl>
                                                <p:sldTgt/>
                                              </p:tgtEl>
                                            </p:cond>
                                          </p:endCondLst>
                                        </p:cTn>
                                        <p:tgtEl>
                                          <p:sndTgt r:embed="rId5" name="CHIMES.WAV"/>
                                        </p:tgtEl>
                                      </p:cMediaNode>
                                    </p:audio>
                                  </p:subTnLst>
                                </p:cTn>
                              </p:par>
                            </p:childTnLst>
                          </p:cTn>
                        </p:par>
                        <p:par>
                          <p:cTn id="121" fill="hold">
                            <p:stCondLst>
                              <p:cond delay="28900"/>
                            </p:stCondLst>
                            <p:childTnLst>
                              <p:par>
                                <p:cTn id="122" presetID="22" presetClass="entr" presetSubtype="8" fill="hold" grpId="0" nodeType="afterEffect">
                                  <p:stCondLst>
                                    <p:cond delay="0"/>
                                  </p:stCondLst>
                                  <p:childTnLst>
                                    <p:set>
                                      <p:cBhvr>
                                        <p:cTn id="123" dur="1" fill="hold">
                                          <p:stCondLst>
                                            <p:cond delay="0"/>
                                          </p:stCondLst>
                                        </p:cTn>
                                        <p:tgtEl>
                                          <p:spTgt spid="117"/>
                                        </p:tgtEl>
                                        <p:attrNameLst>
                                          <p:attrName>style.visibility</p:attrName>
                                        </p:attrNameLst>
                                      </p:cBhvr>
                                      <p:to>
                                        <p:strVal val="visible"/>
                                      </p:to>
                                    </p:set>
                                    <p:animEffect transition="in" filter="wipe(left)">
                                      <p:cBhvr>
                                        <p:cTn id="124" dur="5000"/>
                                        <p:tgtEl>
                                          <p:spTgt spid="117"/>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par>
                          <p:cTn id="125" fill="hold">
                            <p:stCondLst>
                              <p:cond delay="33900"/>
                            </p:stCondLst>
                            <p:childTnLst>
                              <p:par>
                                <p:cTn id="126" presetID="15" presetClass="entr" presetSubtype="0" fill="hold" nodeType="afterEffect">
                                  <p:stCondLst>
                                    <p:cond delay="300"/>
                                  </p:stCondLst>
                                  <p:childTnLst>
                                    <p:set>
                                      <p:cBhvr>
                                        <p:cTn id="127" dur="1" fill="hold">
                                          <p:stCondLst>
                                            <p:cond delay="0"/>
                                          </p:stCondLst>
                                        </p:cTn>
                                        <p:tgtEl>
                                          <p:spTgt spid="124"/>
                                        </p:tgtEl>
                                        <p:attrNameLst>
                                          <p:attrName>style.visibility</p:attrName>
                                        </p:attrNameLst>
                                      </p:cBhvr>
                                      <p:to>
                                        <p:strVal val="visible"/>
                                      </p:to>
                                    </p:set>
                                    <p:anim calcmode="lin" valueType="num">
                                      <p:cBhvr>
                                        <p:cTn id="128" dur="2000" fill="hold"/>
                                        <p:tgtEl>
                                          <p:spTgt spid="124"/>
                                        </p:tgtEl>
                                        <p:attrNameLst>
                                          <p:attrName>ppt_w</p:attrName>
                                        </p:attrNameLst>
                                      </p:cBhvr>
                                      <p:tavLst>
                                        <p:tav tm="0">
                                          <p:val>
                                            <p:fltVal val="0"/>
                                          </p:val>
                                        </p:tav>
                                        <p:tav tm="100000">
                                          <p:val>
                                            <p:strVal val="#ppt_w"/>
                                          </p:val>
                                        </p:tav>
                                      </p:tavLst>
                                    </p:anim>
                                    <p:anim calcmode="lin" valueType="num">
                                      <p:cBhvr>
                                        <p:cTn id="129" dur="2000" fill="hold"/>
                                        <p:tgtEl>
                                          <p:spTgt spid="124"/>
                                        </p:tgtEl>
                                        <p:attrNameLst>
                                          <p:attrName>ppt_h</p:attrName>
                                        </p:attrNameLst>
                                      </p:cBhvr>
                                      <p:tavLst>
                                        <p:tav tm="0">
                                          <p:val>
                                            <p:fltVal val="0"/>
                                          </p:val>
                                        </p:tav>
                                        <p:tav tm="100000">
                                          <p:val>
                                            <p:strVal val="#ppt_h"/>
                                          </p:val>
                                        </p:tav>
                                      </p:tavLst>
                                    </p:anim>
                                    <p:anim calcmode="lin" valueType="num">
                                      <p:cBhvr>
                                        <p:cTn id="130" dur="2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31" dur="2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6"/>
                                            </p:cond>
                                          </p:stCondLst>
                                          <p:endCondLst>
                                            <p:cond evt="onStopAudio" delay="0">
                                              <p:tgtEl>
                                                <p:sldTgt/>
                                              </p:tgtEl>
                                            </p:cond>
                                          </p:endCondLst>
                                        </p:cTn>
                                        <p:tgtEl>
                                          <p:sndTgt r:embed="rId4" name="LASER.WAV"/>
                                        </p:tgtEl>
                                      </p:cMediaNode>
                                    </p:audio>
                                  </p:subTnLst>
                                </p:cTn>
                              </p:par>
                            </p:childTnLst>
                          </p:cTn>
                        </p:par>
                        <p:par>
                          <p:cTn id="132" fill="hold">
                            <p:stCondLst>
                              <p:cond delay="36200"/>
                            </p:stCondLst>
                            <p:childTnLst>
                              <p:par>
                                <p:cTn id="133" presetID="15" presetClass="entr" presetSubtype="0" fill="hold" nodeType="afterEffect">
                                  <p:stCondLst>
                                    <p:cond delay="0"/>
                                  </p:stCondLst>
                                  <p:childTnLst>
                                    <p:set>
                                      <p:cBhvr>
                                        <p:cTn id="134" dur="1" fill="hold">
                                          <p:stCondLst>
                                            <p:cond delay="0"/>
                                          </p:stCondLst>
                                        </p:cTn>
                                        <p:tgtEl>
                                          <p:spTgt spid="130"/>
                                        </p:tgtEl>
                                        <p:attrNameLst>
                                          <p:attrName>style.visibility</p:attrName>
                                        </p:attrNameLst>
                                      </p:cBhvr>
                                      <p:to>
                                        <p:strVal val="visible"/>
                                      </p:to>
                                    </p:set>
                                    <p:anim calcmode="lin" valueType="num">
                                      <p:cBhvr>
                                        <p:cTn id="135" dur="2000" fill="hold"/>
                                        <p:tgtEl>
                                          <p:spTgt spid="130"/>
                                        </p:tgtEl>
                                        <p:attrNameLst>
                                          <p:attrName>ppt_w</p:attrName>
                                        </p:attrNameLst>
                                      </p:cBhvr>
                                      <p:tavLst>
                                        <p:tav tm="0">
                                          <p:val>
                                            <p:fltVal val="0"/>
                                          </p:val>
                                        </p:tav>
                                        <p:tav tm="100000">
                                          <p:val>
                                            <p:strVal val="#ppt_w"/>
                                          </p:val>
                                        </p:tav>
                                      </p:tavLst>
                                    </p:anim>
                                    <p:anim calcmode="lin" valueType="num">
                                      <p:cBhvr>
                                        <p:cTn id="136" dur="2000" fill="hold"/>
                                        <p:tgtEl>
                                          <p:spTgt spid="130"/>
                                        </p:tgtEl>
                                        <p:attrNameLst>
                                          <p:attrName>ppt_h</p:attrName>
                                        </p:attrNameLst>
                                      </p:cBhvr>
                                      <p:tavLst>
                                        <p:tav tm="0">
                                          <p:val>
                                            <p:fltVal val="0"/>
                                          </p:val>
                                        </p:tav>
                                        <p:tav tm="100000">
                                          <p:val>
                                            <p:strVal val="#ppt_h"/>
                                          </p:val>
                                        </p:tav>
                                      </p:tavLst>
                                    </p:anim>
                                    <p:anim calcmode="lin" valueType="num">
                                      <p:cBhvr>
                                        <p:cTn id="137" dur="2000" fill="hold"/>
                                        <p:tgtEl>
                                          <p:spTgt spid="130"/>
                                        </p:tgtEl>
                                        <p:attrNameLst>
                                          <p:attrName>ppt_x</p:attrName>
                                        </p:attrNameLst>
                                      </p:cBhvr>
                                      <p:tavLst>
                                        <p:tav tm="0" fmla="#ppt_x+(cos(-2*pi*(1-$))*-#ppt_x-sin(-2*pi*(1-$))*(1-#ppt_y))*(1-$)">
                                          <p:val>
                                            <p:fltVal val="0"/>
                                          </p:val>
                                        </p:tav>
                                        <p:tav tm="100000">
                                          <p:val>
                                            <p:fltVal val="1"/>
                                          </p:val>
                                        </p:tav>
                                      </p:tavLst>
                                    </p:anim>
                                    <p:anim calcmode="lin" valueType="num">
                                      <p:cBhvr>
                                        <p:cTn id="138" dur="2000" fill="hold"/>
                                        <p:tgtEl>
                                          <p:spTgt spid="13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3"/>
                                            </p:cond>
                                          </p:stCondLst>
                                          <p:endCondLst>
                                            <p:cond evt="onStopAudio" delay="0">
                                              <p:tgtEl>
                                                <p:sldTgt/>
                                              </p:tgtEl>
                                            </p:cond>
                                          </p:endCondLst>
                                        </p:cTn>
                                        <p:tgtEl>
                                          <p:sndTgt r:embed="rId4" name="LASER.WAV"/>
                                        </p:tgtEl>
                                      </p:cMediaNode>
                                    </p:audio>
                                  </p:sub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6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117" grpId="0" animBg="1"/>
      <p:bldP spid="118" grpId="0" autoUpdateAnimBg="0"/>
      <p:bldP spid="119" grpId="0" autoUpdateAnimBg="0"/>
      <p:bldP spid="120" grpId="0" autoUpdateAnimBg="0"/>
      <p:bldP spid="121" grpId="0" animBg="1"/>
      <p:bldP spid="122" grpId="0" animBg="1"/>
      <p:bldP spid="123" grpId="0" autoUpdateAnimBg="0"/>
      <p:bldP spid="127" grpId="0" animBg="1"/>
      <p:bldP spid="128" grpId="0" animBg="1"/>
      <p:bldP spid="129" grpId="0" animBg="1"/>
      <p:bldP spid="157" grpId="0" animBg="1"/>
      <p:bldP spid="158" grpId="0" animBg="1"/>
      <p:bldP spid="160" grpId="0" animBg="1"/>
      <p:bldP spid="162" grpId="0" autoUpdateAnimBg="0"/>
      <p:bldP spid="163" grpId="0" animBg="1"/>
      <p:bldP spid="164" grpId="0" animBg="1"/>
      <p:bldP spid="165" grpId="0" animBg="1"/>
      <p:bldP spid="166" grpId="0"/>
      <p:bldP spid="16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479728" y="1168371"/>
            <a:ext cx="5592936" cy="3636404"/>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grpSp>
        <p:nvGrpSpPr>
          <p:cNvPr id="95" name="Group 3"/>
          <p:cNvGrpSpPr>
            <a:grpSpLocks/>
          </p:cNvGrpSpPr>
          <p:nvPr/>
        </p:nvGrpSpPr>
        <p:grpSpPr bwMode="auto">
          <a:xfrm>
            <a:off x="6479728" y="1154083"/>
            <a:ext cx="4102100" cy="1908175"/>
            <a:chOff x="2322" y="1043"/>
            <a:chExt cx="2584" cy="1202"/>
          </a:xfrm>
        </p:grpSpPr>
        <p:grpSp>
          <p:nvGrpSpPr>
            <p:cNvPr id="96" name="Group 4"/>
            <p:cNvGrpSpPr>
              <a:grpSpLocks/>
            </p:cNvGrpSpPr>
            <p:nvPr/>
          </p:nvGrpSpPr>
          <p:grpSpPr bwMode="auto">
            <a:xfrm>
              <a:off x="2322" y="1043"/>
              <a:ext cx="2584" cy="1202"/>
              <a:chOff x="2322" y="1043"/>
              <a:chExt cx="2584" cy="1202"/>
            </a:xfrm>
          </p:grpSpPr>
          <p:sp>
            <p:nvSpPr>
              <p:cNvPr id="98" name="Text Box 5"/>
              <p:cNvSpPr txBox="1">
                <a:spLocks noChangeAspect="1" noChangeArrowheads="1"/>
              </p:cNvSpPr>
              <p:nvPr/>
            </p:nvSpPr>
            <p:spPr bwMode="auto">
              <a:xfrm flipH="1">
                <a:off x="4274" y="1052"/>
                <a:ext cx="63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0.8kN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99" name="Text Box 6"/>
              <p:cNvSpPr txBox="1">
                <a:spLocks noChangeAspect="1" noChangeArrowheads="1"/>
              </p:cNvSpPr>
              <p:nvPr/>
            </p:nvSpPr>
            <p:spPr bwMode="auto">
              <a:xfrm flipH="1">
                <a:off x="4113" y="1650"/>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100" name="Line 7"/>
              <p:cNvSpPr>
                <a:spLocks noChangeShapeType="1"/>
              </p:cNvSpPr>
              <p:nvPr/>
            </p:nvSpPr>
            <p:spPr bwMode="auto">
              <a:xfrm>
                <a:off x="2575" y="1695"/>
                <a:ext cx="170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Text Box 8"/>
              <p:cNvSpPr txBox="1">
                <a:spLocks noChangeAspect="1" noChangeArrowheads="1"/>
              </p:cNvSpPr>
              <p:nvPr/>
            </p:nvSpPr>
            <p:spPr bwMode="auto">
              <a:xfrm>
                <a:off x="2606" y="1950"/>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2" name="Line 9"/>
              <p:cNvSpPr>
                <a:spLocks noChangeAspect="1" noChangeShapeType="1"/>
              </p:cNvSpPr>
              <p:nvPr/>
            </p:nvSpPr>
            <p:spPr bwMode="auto">
              <a:xfrm>
                <a:off x="3149" y="207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10"/>
              <p:cNvSpPr>
                <a:spLocks noChangeAspect="1" noChangeShapeType="1"/>
              </p:cNvSpPr>
              <p:nvPr/>
            </p:nvSpPr>
            <p:spPr bwMode="auto">
              <a:xfrm>
                <a:off x="3699" y="2199"/>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11"/>
              <p:cNvSpPr txBox="1">
                <a:spLocks noChangeAspect="1" noChangeArrowheads="1"/>
              </p:cNvSpPr>
              <p:nvPr/>
            </p:nvSpPr>
            <p:spPr bwMode="auto">
              <a:xfrm>
                <a:off x="3100"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5" name="Text Box 12"/>
              <p:cNvSpPr txBox="1">
                <a:spLocks noChangeAspect="1" noChangeArrowheads="1"/>
              </p:cNvSpPr>
              <p:nvPr/>
            </p:nvSpPr>
            <p:spPr bwMode="auto">
              <a:xfrm flipH="1">
                <a:off x="2943" y="1643"/>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06" name="Line 13"/>
              <p:cNvSpPr>
                <a:spLocks noChangeAspect="1" noChangeShapeType="1"/>
              </p:cNvSpPr>
              <p:nvPr/>
            </p:nvSpPr>
            <p:spPr bwMode="auto">
              <a:xfrm>
                <a:off x="258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Text Box 14"/>
              <p:cNvSpPr txBox="1">
                <a:spLocks noChangeAspect="1" noChangeArrowheads="1"/>
              </p:cNvSpPr>
              <p:nvPr/>
            </p:nvSpPr>
            <p:spPr bwMode="auto">
              <a:xfrm flipH="1">
                <a:off x="2322" y="1595"/>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A</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Line 15"/>
              <p:cNvSpPr>
                <a:spLocks noChangeAspect="1" noChangeShapeType="1"/>
              </p:cNvSpPr>
              <p:nvPr/>
            </p:nvSpPr>
            <p:spPr bwMode="auto">
              <a:xfrm flipH="1">
                <a:off x="3144" y="1145"/>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Line 16"/>
              <p:cNvSpPr>
                <a:spLocks noChangeAspect="1" noChangeShapeType="1"/>
              </p:cNvSpPr>
              <p:nvPr/>
            </p:nvSpPr>
            <p:spPr bwMode="auto">
              <a:xfrm>
                <a:off x="369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7"/>
              <p:cNvSpPr>
                <a:spLocks noChangeAspect="1" noChangeShapeType="1"/>
              </p:cNvSpPr>
              <p:nvPr/>
            </p:nvSpPr>
            <p:spPr bwMode="auto">
              <a:xfrm>
                <a:off x="4258"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8"/>
              <p:cNvSpPr txBox="1">
                <a:spLocks noChangeAspect="1" noChangeArrowheads="1"/>
              </p:cNvSpPr>
              <p:nvPr/>
            </p:nvSpPr>
            <p:spPr bwMode="auto">
              <a:xfrm>
                <a:off x="3657"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12" name="Text Box 19"/>
              <p:cNvSpPr txBox="1">
                <a:spLocks noChangeAspect="1" noChangeArrowheads="1"/>
              </p:cNvSpPr>
              <p:nvPr/>
            </p:nvSpPr>
            <p:spPr bwMode="auto">
              <a:xfrm flipH="1">
                <a:off x="3142" y="1043"/>
                <a:ext cx="61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2kN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13" name="Line 20"/>
              <p:cNvSpPr>
                <a:spLocks noChangeAspect="1" noChangeShapeType="1"/>
              </p:cNvSpPr>
              <p:nvPr/>
            </p:nvSpPr>
            <p:spPr bwMode="auto">
              <a:xfrm>
                <a:off x="2593"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Line 21"/>
              <p:cNvSpPr>
                <a:spLocks noChangeAspect="1" noChangeShapeType="1"/>
              </p:cNvSpPr>
              <p:nvPr/>
            </p:nvSpPr>
            <p:spPr bwMode="auto">
              <a:xfrm>
                <a:off x="3145"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2"/>
              <p:cNvSpPr txBox="1">
                <a:spLocks noChangeAspect="1" noChangeArrowheads="1"/>
              </p:cNvSpPr>
              <p:nvPr/>
            </p:nvSpPr>
            <p:spPr bwMode="auto">
              <a:xfrm flipH="1">
                <a:off x="3683" y="1658"/>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B</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97" name="Line 23"/>
            <p:cNvSpPr>
              <a:spLocks noChangeAspect="1" noChangeShapeType="1"/>
            </p:cNvSpPr>
            <p:nvPr/>
          </p:nvSpPr>
          <p:spPr bwMode="auto">
            <a:xfrm flipH="1">
              <a:off x="4273" y="1164"/>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7" name="Freeform 26" descr="浅色竖线"/>
          <p:cNvSpPr>
            <a:spLocks noChangeAspect="1"/>
          </p:cNvSpPr>
          <p:nvPr/>
        </p:nvSpPr>
        <p:spPr bwMode="auto">
          <a:xfrm>
            <a:off x="6882953" y="3832195"/>
            <a:ext cx="2652713" cy="750888"/>
          </a:xfrm>
          <a:custGeom>
            <a:avLst/>
            <a:gdLst>
              <a:gd name="T0" fmla="*/ 0 w 1671"/>
              <a:gd name="T1" fmla="*/ 338138 h 473"/>
              <a:gd name="T2" fmla="*/ 862013 w 1671"/>
              <a:gd name="T3" fmla="*/ 0 h 473"/>
              <a:gd name="T4" fmla="*/ 1228725 w 1671"/>
              <a:gd name="T5" fmla="*/ 314325 h 473"/>
              <a:gd name="T6" fmla="*/ 1812926 w 1671"/>
              <a:gd name="T7" fmla="*/ 750888 h 473"/>
              <a:gd name="T8" fmla="*/ 2652713 w 1671"/>
              <a:gd name="T9" fmla="*/ 333375 h 473"/>
              <a:gd name="T10" fmla="*/ 0 w 1671"/>
              <a:gd name="T11" fmla="*/ 338138 h 473"/>
              <a:gd name="T12" fmla="*/ 0 60000 65536"/>
              <a:gd name="T13" fmla="*/ 0 60000 65536"/>
              <a:gd name="T14" fmla="*/ 0 60000 65536"/>
              <a:gd name="T15" fmla="*/ 0 60000 65536"/>
              <a:gd name="T16" fmla="*/ 0 60000 65536"/>
              <a:gd name="T17" fmla="*/ 0 60000 65536"/>
              <a:gd name="T18" fmla="*/ 0 w 1671"/>
              <a:gd name="T19" fmla="*/ 0 h 473"/>
              <a:gd name="T20" fmla="*/ 1671 w 1671"/>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671" h="473">
                <a:moveTo>
                  <a:pt x="0" y="213"/>
                </a:moveTo>
                <a:lnTo>
                  <a:pt x="543" y="0"/>
                </a:lnTo>
                <a:lnTo>
                  <a:pt x="774" y="198"/>
                </a:lnTo>
                <a:cubicBezTo>
                  <a:pt x="894" y="282"/>
                  <a:pt x="1014" y="402"/>
                  <a:pt x="1142" y="473"/>
                </a:cubicBezTo>
                <a:cubicBezTo>
                  <a:pt x="1317" y="382"/>
                  <a:pt x="1446" y="318"/>
                  <a:pt x="1671" y="210"/>
                </a:cubicBezTo>
                <a:cubicBezTo>
                  <a:pt x="833" y="213"/>
                  <a:pt x="0" y="213"/>
                  <a:pt x="0" y="213"/>
                </a:cubicBezTo>
                <a:close/>
              </a:path>
            </a:pathLst>
          </a:custGeom>
          <a:pattFill prst="ltVert">
            <a:fgClr>
              <a:srgbClr val="000000"/>
            </a:fgClr>
            <a:bgClr>
              <a:srgbClr val="A3FFD1"/>
            </a:bgClr>
          </a:patt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Text Box 27"/>
          <p:cNvSpPr txBox="1">
            <a:spLocks noChangeAspect="1" noChangeArrowheads="1"/>
          </p:cNvSpPr>
          <p:nvPr/>
        </p:nvSpPr>
        <p:spPr bwMode="auto">
          <a:xfrm>
            <a:off x="6859141" y="2878108"/>
            <a:ext cx="7207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baseline="-25000">
                <a:solidFill>
                  <a:srgbClr val="FF0000"/>
                </a:solidFill>
                <a:latin typeface="" pitchFamily="18" charset="-52"/>
                <a:ea typeface="宋体" panose="02010600030101010101" pitchFamily="2" charset="-122"/>
              </a:rPr>
              <a:t>A</a:t>
            </a:r>
            <a:endParaRPr lang="en-US" altLang="zh-CN" b="0" i="0">
              <a:solidFill>
                <a:srgbClr val="FF0000"/>
              </a:solidFill>
              <a:latin typeface="" pitchFamily="18" charset="-52"/>
              <a:ea typeface="宋体" panose="02010600030101010101" pitchFamily="2" charset="-122"/>
            </a:endParaRPr>
          </a:p>
        </p:txBody>
      </p:sp>
      <p:sp>
        <p:nvSpPr>
          <p:cNvPr id="119" name="Text Box 28"/>
          <p:cNvSpPr txBox="1">
            <a:spLocks noChangeAspect="1" noChangeArrowheads="1"/>
          </p:cNvSpPr>
          <p:nvPr/>
        </p:nvSpPr>
        <p:spPr bwMode="auto">
          <a:xfrm>
            <a:off x="8610153" y="2893983"/>
            <a:ext cx="6238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baseline="-25000">
                <a:solidFill>
                  <a:srgbClr val="FF0000"/>
                </a:solidFill>
                <a:latin typeface="" pitchFamily="18" charset="-52"/>
                <a:ea typeface="宋体" panose="02010600030101010101" pitchFamily="2" charset="-122"/>
              </a:rPr>
              <a:t>B</a:t>
            </a:r>
            <a:endParaRPr lang="en-US" altLang="zh-CN" b="0" i="0">
              <a:solidFill>
                <a:srgbClr val="FF0000"/>
              </a:solidFill>
              <a:latin typeface="" pitchFamily="18" charset="-52"/>
              <a:ea typeface="宋体" panose="02010600030101010101" pitchFamily="2" charset="-122"/>
            </a:endParaRPr>
          </a:p>
        </p:txBody>
      </p:sp>
      <p:sp>
        <p:nvSpPr>
          <p:cNvPr id="120" name="Text Box 29"/>
          <p:cNvSpPr txBox="1">
            <a:spLocks noChangeAspect="1" noChangeArrowheads="1"/>
          </p:cNvSpPr>
          <p:nvPr/>
        </p:nvSpPr>
        <p:spPr bwMode="auto">
          <a:xfrm>
            <a:off x="7705278" y="3548033"/>
            <a:ext cx="638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0.6</a:t>
            </a:r>
          </a:p>
        </p:txBody>
      </p:sp>
      <p:sp>
        <p:nvSpPr>
          <p:cNvPr id="121" name="Freeform 30"/>
          <p:cNvSpPr>
            <a:spLocks noChangeAspect="1"/>
          </p:cNvSpPr>
          <p:nvPr/>
        </p:nvSpPr>
        <p:spPr bwMode="auto">
          <a:xfrm>
            <a:off x="6887716" y="3841720"/>
            <a:ext cx="854075" cy="322263"/>
          </a:xfrm>
          <a:custGeom>
            <a:avLst/>
            <a:gdLst>
              <a:gd name="T0" fmla="*/ 0 w 538"/>
              <a:gd name="T1" fmla="*/ 322263 h 203"/>
              <a:gd name="T2" fmla="*/ 854075 w 538"/>
              <a:gd name="T3" fmla="*/ 0 h 203"/>
              <a:gd name="T4" fmla="*/ 0 60000 65536"/>
              <a:gd name="T5" fmla="*/ 0 60000 65536"/>
              <a:gd name="T6" fmla="*/ 0 w 538"/>
              <a:gd name="T7" fmla="*/ 0 h 203"/>
              <a:gd name="T8" fmla="*/ 538 w 538"/>
              <a:gd name="T9" fmla="*/ 203 h 203"/>
            </a:gdLst>
            <a:ahLst/>
            <a:cxnLst>
              <a:cxn ang="T4">
                <a:pos x="T0" y="T1"/>
              </a:cxn>
              <a:cxn ang="T5">
                <a:pos x="T2" y="T3"/>
              </a:cxn>
            </a:cxnLst>
            <a:rect l="T6" t="T7" r="T8" b="T9"/>
            <a:pathLst>
              <a:path w="538" h="203">
                <a:moveTo>
                  <a:pt x="0" y="203"/>
                </a:moveTo>
                <a:lnTo>
                  <a:pt x="538"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Freeform 31"/>
          <p:cNvSpPr>
            <a:spLocks noChangeAspect="1"/>
          </p:cNvSpPr>
          <p:nvPr/>
        </p:nvSpPr>
        <p:spPr bwMode="auto">
          <a:xfrm>
            <a:off x="7754491" y="3854420"/>
            <a:ext cx="911225" cy="720725"/>
          </a:xfrm>
          <a:custGeom>
            <a:avLst/>
            <a:gdLst>
              <a:gd name="T0" fmla="*/ 0 w 574"/>
              <a:gd name="T1" fmla="*/ 0 h 454"/>
              <a:gd name="T2" fmla="*/ 911225 w 574"/>
              <a:gd name="T3" fmla="*/ 720725 h 454"/>
              <a:gd name="T4" fmla="*/ 0 60000 65536"/>
              <a:gd name="T5" fmla="*/ 0 60000 65536"/>
              <a:gd name="T6" fmla="*/ 0 w 574"/>
              <a:gd name="T7" fmla="*/ 0 h 454"/>
              <a:gd name="T8" fmla="*/ 574 w 574"/>
              <a:gd name="T9" fmla="*/ 454 h 454"/>
            </a:gdLst>
            <a:ahLst/>
            <a:cxnLst>
              <a:cxn ang="T4">
                <a:pos x="T0" y="T1"/>
              </a:cxn>
              <a:cxn ang="T5">
                <a:pos x="T2" y="T3"/>
              </a:cxn>
            </a:cxnLst>
            <a:rect l="T6" t="T7" r="T8" b="T9"/>
            <a:pathLst>
              <a:path w="574" h="454">
                <a:moveTo>
                  <a:pt x="0" y="0"/>
                </a:moveTo>
                <a:lnTo>
                  <a:pt x="574" y="454"/>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Text Box 32"/>
          <p:cNvSpPr txBox="1">
            <a:spLocks noChangeAspect="1" noChangeArrowheads="1"/>
          </p:cNvSpPr>
          <p:nvPr/>
        </p:nvSpPr>
        <p:spPr bwMode="auto">
          <a:xfrm>
            <a:off x="8632378" y="4435445"/>
            <a:ext cx="693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0.8</a:t>
            </a:r>
          </a:p>
        </p:txBody>
      </p:sp>
      <p:grpSp>
        <p:nvGrpSpPr>
          <p:cNvPr id="124" name="Group 33"/>
          <p:cNvGrpSpPr>
            <a:grpSpLocks noChangeAspect="1"/>
          </p:cNvGrpSpPr>
          <p:nvPr/>
        </p:nvGrpSpPr>
        <p:grpSpPr bwMode="auto">
          <a:xfrm>
            <a:off x="7541766" y="3843308"/>
            <a:ext cx="334962" cy="287337"/>
            <a:chOff x="3142" y="1410"/>
            <a:chExt cx="176" cy="150"/>
          </a:xfrm>
        </p:grpSpPr>
        <p:sp>
          <p:nvSpPr>
            <p:cNvPr id="125" name="Oval 34"/>
            <p:cNvSpPr>
              <a:spLocks noChangeAspect="1" noChangeArrowheads="1"/>
            </p:cNvSpPr>
            <p:nvPr/>
          </p:nvSpPr>
          <p:spPr bwMode="auto">
            <a:xfrm>
              <a:off x="3195" y="1477"/>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6" name="Text Box 35"/>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sp>
        <p:nvSpPr>
          <p:cNvPr id="127" name="Oval 36"/>
          <p:cNvSpPr>
            <a:spLocks noChangeAspect="1" noChangeArrowheads="1"/>
          </p:cNvSpPr>
          <p:nvPr/>
        </p:nvSpPr>
        <p:spPr bwMode="auto">
          <a:xfrm>
            <a:off x="7702103" y="3789333"/>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8" name="Oval 37"/>
          <p:cNvSpPr>
            <a:spLocks noChangeAspect="1" noChangeArrowheads="1"/>
          </p:cNvSpPr>
          <p:nvPr/>
        </p:nvSpPr>
        <p:spPr bwMode="auto">
          <a:xfrm>
            <a:off x="8653016" y="4530695"/>
            <a:ext cx="90487" cy="90488"/>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9" name="Oval 38"/>
          <p:cNvSpPr>
            <a:spLocks noChangeAspect="1" noChangeArrowheads="1"/>
          </p:cNvSpPr>
          <p:nvPr/>
        </p:nvSpPr>
        <p:spPr bwMode="auto">
          <a:xfrm>
            <a:off x="9484866" y="4114770"/>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30" name="Group 39"/>
          <p:cNvGrpSpPr>
            <a:grpSpLocks noChangeAspect="1"/>
          </p:cNvGrpSpPr>
          <p:nvPr/>
        </p:nvGrpSpPr>
        <p:grpSpPr bwMode="auto">
          <a:xfrm>
            <a:off x="8592691" y="4016345"/>
            <a:ext cx="334962" cy="379413"/>
            <a:chOff x="3677" y="1454"/>
            <a:chExt cx="176" cy="185"/>
          </a:xfrm>
        </p:grpSpPr>
        <p:sp>
          <p:nvSpPr>
            <p:cNvPr id="131" name="Oval 40"/>
            <p:cNvSpPr>
              <a:spLocks noChangeAspect="1" noChangeArrowheads="1"/>
            </p:cNvSpPr>
            <p:nvPr/>
          </p:nvSpPr>
          <p:spPr bwMode="auto">
            <a:xfrm>
              <a:off x="3729" y="1569"/>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Text Box 41"/>
            <p:cNvSpPr txBox="1">
              <a:spLocks noChangeAspect="1" noChangeArrowheads="1"/>
            </p:cNvSpPr>
            <p:nvPr/>
          </p:nvSpPr>
          <p:spPr bwMode="auto">
            <a:xfrm>
              <a:off x="3677" y="1454"/>
              <a:ext cx="17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_</a:t>
              </a:r>
            </a:p>
          </p:txBody>
        </p:sp>
      </p:grpSp>
      <p:grpSp>
        <p:nvGrpSpPr>
          <p:cNvPr id="133" name="Group 42"/>
          <p:cNvGrpSpPr>
            <a:grpSpLocks/>
          </p:cNvGrpSpPr>
          <p:nvPr/>
        </p:nvGrpSpPr>
        <p:grpSpPr bwMode="auto">
          <a:xfrm>
            <a:off x="9638853" y="1824008"/>
            <a:ext cx="2419350" cy="1397000"/>
            <a:chOff x="4184" y="1417"/>
            <a:chExt cx="1524" cy="880"/>
          </a:xfrm>
        </p:grpSpPr>
        <p:grpSp>
          <p:nvGrpSpPr>
            <p:cNvPr id="134" name="Group 43"/>
            <p:cNvGrpSpPr>
              <a:grpSpLocks/>
            </p:cNvGrpSpPr>
            <p:nvPr/>
          </p:nvGrpSpPr>
          <p:grpSpPr bwMode="auto">
            <a:xfrm>
              <a:off x="4198" y="1417"/>
              <a:ext cx="1510" cy="880"/>
              <a:chOff x="4198" y="1417"/>
              <a:chExt cx="1510" cy="880"/>
            </a:xfrm>
          </p:grpSpPr>
          <p:sp>
            <p:nvSpPr>
              <p:cNvPr id="136" name="Text Box 44"/>
              <p:cNvSpPr txBox="1">
                <a:spLocks noChangeAspect="1" noChangeArrowheads="1"/>
              </p:cNvSpPr>
              <p:nvPr/>
            </p:nvSpPr>
            <p:spPr bwMode="auto">
              <a:xfrm rot="-5400000">
                <a:off x="4205" y="1930"/>
                <a:ext cx="291"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y</a:t>
                </a:r>
                <a:r>
                  <a:rPr kumimoji="1" lang="en-US" altLang="zh-CN" sz="2400" b="0" i="0" u="none" strike="noStrike" kern="0" cap="none" spc="0" normalizeH="0" baseline="-25000" noProof="0" dirty="0">
                    <a:ln>
                      <a:noFill/>
                    </a:ln>
                    <a:solidFill>
                      <a:srgbClr val="000000"/>
                    </a:solidFill>
                    <a:effectLst/>
                    <a:uLnTx/>
                    <a:uFillTx/>
                    <a:latin typeface="" pitchFamily="18" charset="-52"/>
                    <a:ea typeface="宋体" panose="02010600030101010101" pitchFamily="2" charset="-122"/>
                  </a:rPr>
                  <a:t>1</a:t>
                </a:r>
              </a:p>
            </p:txBody>
          </p:sp>
          <p:sp>
            <p:nvSpPr>
              <p:cNvPr id="137" name="Line 45"/>
              <p:cNvSpPr>
                <a:spLocks noChangeAspect="1" noChangeShapeType="1"/>
              </p:cNvSpPr>
              <p:nvPr/>
            </p:nvSpPr>
            <p:spPr bwMode="auto">
              <a:xfrm>
                <a:off x="4490" y="1730"/>
                <a:ext cx="0" cy="56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Freeform 46" descr="宽上对角线"/>
              <p:cNvSpPr>
                <a:spLocks noChangeAspect="1"/>
              </p:cNvSpPr>
              <p:nvPr/>
            </p:nvSpPr>
            <p:spPr bwMode="auto">
              <a:xfrm>
                <a:off x="4550" y="1422"/>
                <a:ext cx="837" cy="867"/>
              </a:xfrm>
              <a:custGeom>
                <a:avLst/>
                <a:gdLst>
                  <a:gd name="T0" fmla="*/ 1 w 961"/>
                  <a:gd name="T1" fmla="*/ 0 h 994"/>
                  <a:gd name="T2" fmla="*/ 834 w 961"/>
                  <a:gd name="T3" fmla="*/ 0 h 994"/>
                  <a:gd name="T4" fmla="*/ 837 w 961"/>
                  <a:gd name="T5" fmla="*/ 218 h 994"/>
                  <a:gd name="T6" fmla="*/ 550 w 961"/>
                  <a:gd name="T7" fmla="*/ 224 h 994"/>
                  <a:gd name="T8" fmla="*/ 550 w 961"/>
                  <a:gd name="T9" fmla="*/ 867 h 994"/>
                  <a:gd name="T10" fmla="*/ 303 w 961"/>
                  <a:gd name="T11" fmla="*/ 867 h 994"/>
                  <a:gd name="T12" fmla="*/ 303 w 961"/>
                  <a:gd name="T13" fmla="*/ 224 h 994"/>
                  <a:gd name="T14" fmla="*/ 0 w 961"/>
                  <a:gd name="T15" fmla="*/ 222 h 994"/>
                  <a:gd name="T16" fmla="*/ 1 w 961"/>
                  <a:gd name="T17" fmla="*/ 0 h 9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61"/>
                  <a:gd name="T28" fmla="*/ 0 h 994"/>
                  <a:gd name="T29" fmla="*/ 961 w 961"/>
                  <a:gd name="T30" fmla="*/ 994 h 9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61" h="994">
                    <a:moveTo>
                      <a:pt x="1" y="0"/>
                    </a:moveTo>
                    <a:lnTo>
                      <a:pt x="958" y="0"/>
                    </a:lnTo>
                    <a:lnTo>
                      <a:pt x="961" y="250"/>
                    </a:lnTo>
                    <a:lnTo>
                      <a:pt x="631" y="257"/>
                    </a:lnTo>
                    <a:lnTo>
                      <a:pt x="631" y="994"/>
                    </a:lnTo>
                    <a:lnTo>
                      <a:pt x="348" y="994"/>
                    </a:lnTo>
                    <a:lnTo>
                      <a:pt x="348" y="257"/>
                    </a:lnTo>
                    <a:lnTo>
                      <a:pt x="0" y="255"/>
                    </a:lnTo>
                    <a:lnTo>
                      <a:pt x="1"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47"/>
              <p:cNvSpPr>
                <a:spLocks noChangeAspect="1" noChangeShapeType="1"/>
              </p:cNvSpPr>
              <p:nvPr/>
            </p:nvSpPr>
            <p:spPr bwMode="auto">
              <a:xfrm>
                <a:off x="4442" y="2290"/>
                <a:ext cx="1266" cy="0"/>
              </a:xfrm>
              <a:prstGeom prst="line">
                <a:avLst/>
              </a:prstGeom>
              <a:noFill/>
              <a:ln w="31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48"/>
              <p:cNvSpPr txBox="1">
                <a:spLocks noChangeAspect="1" noChangeArrowheads="1"/>
              </p:cNvSpPr>
              <p:nvPr/>
            </p:nvSpPr>
            <p:spPr bwMode="auto">
              <a:xfrm>
                <a:off x="5250" y="1625"/>
                <a:ext cx="322"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 pitchFamily="18" charset="-52"/>
                    <a:ea typeface="宋体" panose="02010600030101010101" pitchFamily="2" charset="-122"/>
                  </a:rPr>
                  <a:t>z</a:t>
                </a:r>
                <a:r>
                  <a:rPr kumimoji="1" lang="en-US" altLang="zh-CN" sz="2400" b="0" u="none" strike="noStrike" kern="0" cap="none" spc="0" normalizeH="0" baseline="-25000" noProof="0" dirty="0" err="1">
                    <a:ln>
                      <a:noFill/>
                    </a:ln>
                    <a:solidFill>
                      <a:srgbClr val="000000"/>
                    </a:solidFill>
                    <a:effectLst/>
                    <a:uLnTx/>
                    <a:uFillTx/>
                  </a:rPr>
                  <a:t>C</a:t>
                </a:r>
                <a:endParaRPr kumimoji="1" lang="en-US" altLang="zh-CN" sz="2400" b="0" u="none" strike="noStrike" kern="0" cap="none" spc="0" normalizeH="0" baseline="-25000" noProof="0" dirty="0">
                  <a:ln>
                    <a:noFill/>
                  </a:ln>
                  <a:solidFill>
                    <a:srgbClr val="000000"/>
                  </a:solidFill>
                  <a:effectLst/>
                  <a:uLnTx/>
                  <a:uFillTx/>
                </a:endParaRPr>
              </a:p>
            </p:txBody>
          </p:sp>
          <p:sp>
            <p:nvSpPr>
              <p:cNvPr id="141" name="Line 49"/>
              <p:cNvSpPr>
                <a:spLocks noChangeAspect="1" noChangeShapeType="1"/>
              </p:cNvSpPr>
              <p:nvPr/>
            </p:nvSpPr>
            <p:spPr bwMode="auto">
              <a:xfrm>
                <a:off x="4414" y="1422"/>
                <a:ext cx="1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2" name="Line 50"/>
              <p:cNvSpPr>
                <a:spLocks noChangeAspect="1" noChangeShapeType="1"/>
              </p:cNvSpPr>
              <p:nvPr/>
            </p:nvSpPr>
            <p:spPr bwMode="auto">
              <a:xfrm>
                <a:off x="5624" y="1417"/>
                <a:ext cx="0" cy="88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Text Box 51"/>
              <p:cNvSpPr txBox="1">
                <a:spLocks noChangeAspect="1" noChangeArrowheads="1"/>
              </p:cNvSpPr>
              <p:nvPr/>
            </p:nvSpPr>
            <p:spPr bwMode="auto">
              <a:xfrm rot="-5400000">
                <a:off x="5269" y="1761"/>
                <a:ext cx="5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 pitchFamily="18" charset="-52"/>
                    <a:ea typeface="宋体" panose="02010600030101010101" pitchFamily="2" charset="-122"/>
                  </a:rPr>
                  <a:t>6cm</a:t>
                </a:r>
              </a:p>
            </p:txBody>
          </p:sp>
          <p:sp>
            <p:nvSpPr>
              <p:cNvPr id="144" name="Line 52"/>
              <p:cNvSpPr>
                <a:spLocks noChangeAspect="1" noChangeShapeType="1"/>
              </p:cNvSpPr>
              <p:nvPr/>
            </p:nvSpPr>
            <p:spPr bwMode="auto">
              <a:xfrm>
                <a:off x="4418" y="1736"/>
                <a:ext cx="1107"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Line 53"/>
              <p:cNvSpPr>
                <a:spLocks noChangeAspect="1" noChangeShapeType="1"/>
              </p:cNvSpPr>
              <p:nvPr/>
            </p:nvSpPr>
            <p:spPr bwMode="auto">
              <a:xfrm>
                <a:off x="4488" y="1417"/>
                <a:ext cx="0" cy="3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5" name="Text Box 54"/>
            <p:cNvSpPr txBox="1">
              <a:spLocks noChangeAspect="1" noChangeArrowheads="1"/>
            </p:cNvSpPr>
            <p:nvPr/>
          </p:nvSpPr>
          <p:spPr bwMode="auto">
            <a:xfrm rot="-5400000">
              <a:off x="4182" y="1450"/>
              <a:ext cx="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y</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grpSp>
      <p:grpSp>
        <p:nvGrpSpPr>
          <p:cNvPr id="146" name="Group 55"/>
          <p:cNvGrpSpPr>
            <a:grpSpLocks/>
          </p:cNvGrpSpPr>
          <p:nvPr/>
        </p:nvGrpSpPr>
        <p:grpSpPr bwMode="auto">
          <a:xfrm flipH="1">
            <a:off x="6660703" y="2171670"/>
            <a:ext cx="496888" cy="523875"/>
            <a:chOff x="1686" y="3521"/>
            <a:chExt cx="313" cy="330"/>
          </a:xfrm>
        </p:grpSpPr>
        <p:sp>
          <p:nvSpPr>
            <p:cNvPr id="147" name="AutoShape 5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Rectangle 5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9" name="Line 5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0" name="Oval 5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51" name="Group 60"/>
          <p:cNvGrpSpPr>
            <a:grpSpLocks/>
          </p:cNvGrpSpPr>
          <p:nvPr/>
        </p:nvGrpSpPr>
        <p:grpSpPr bwMode="auto">
          <a:xfrm flipH="1">
            <a:off x="8422828" y="2178020"/>
            <a:ext cx="493713" cy="568325"/>
            <a:chOff x="3499" y="3511"/>
            <a:chExt cx="311" cy="358"/>
          </a:xfrm>
        </p:grpSpPr>
        <p:sp>
          <p:nvSpPr>
            <p:cNvPr id="152" name="Line 6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Rectangle 6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Line 6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Oval 6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6" name="Oval 6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57" name="Line 66"/>
          <p:cNvSpPr>
            <a:spLocks noChangeAspect="1" noChangeShapeType="1"/>
          </p:cNvSpPr>
          <p:nvPr/>
        </p:nvSpPr>
        <p:spPr bwMode="auto">
          <a:xfrm flipV="1">
            <a:off x="6902003" y="2358995"/>
            <a:ext cx="0" cy="8191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Line 67"/>
          <p:cNvSpPr>
            <a:spLocks noChangeAspect="1" noChangeShapeType="1"/>
          </p:cNvSpPr>
          <p:nvPr/>
        </p:nvSpPr>
        <p:spPr bwMode="auto">
          <a:xfrm flipV="1">
            <a:off x="8664128" y="2290733"/>
            <a:ext cx="0" cy="7635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9" name="Text Box 73"/>
          <p:cNvSpPr txBox="1">
            <a:spLocks noChangeAspect="1" noChangeArrowheads="1"/>
          </p:cNvSpPr>
          <p:nvPr/>
        </p:nvSpPr>
        <p:spPr bwMode="auto">
          <a:xfrm flipH="1">
            <a:off x="9908728" y="4070320"/>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60" name="Line 74"/>
          <p:cNvSpPr>
            <a:spLocks noChangeShapeType="1"/>
          </p:cNvSpPr>
          <p:nvPr/>
        </p:nvSpPr>
        <p:spPr bwMode="auto">
          <a:xfrm rot="16200000">
            <a:off x="6451947" y="3718689"/>
            <a:ext cx="8874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Text Box 75"/>
          <p:cNvSpPr txBox="1">
            <a:spLocks noChangeAspect="1" noChangeArrowheads="1"/>
          </p:cNvSpPr>
          <p:nvPr/>
        </p:nvSpPr>
        <p:spPr bwMode="auto">
          <a:xfrm flipH="1">
            <a:off x="6925816" y="3240058"/>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r>
              <a:rPr lang="en-US" altLang="zh-CN" b="0" i="0">
                <a:solidFill>
                  <a:srgbClr val="CC00FF"/>
                </a:solidFill>
                <a:ea typeface="宋体" panose="02010600030101010101" pitchFamily="2" charset="-122"/>
              </a:rPr>
              <a:t>/kN·m</a:t>
            </a:r>
          </a:p>
        </p:txBody>
      </p:sp>
      <p:sp>
        <p:nvSpPr>
          <p:cNvPr id="162" name="Text Box 76"/>
          <p:cNvSpPr txBox="1">
            <a:spLocks noChangeAspect="1" noChangeArrowheads="1"/>
          </p:cNvSpPr>
          <p:nvPr/>
        </p:nvSpPr>
        <p:spPr bwMode="auto">
          <a:xfrm>
            <a:off x="6486078" y="3859183"/>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63" name="Freeform 77"/>
          <p:cNvSpPr>
            <a:spLocks/>
          </p:cNvSpPr>
          <p:nvPr/>
        </p:nvSpPr>
        <p:spPr bwMode="auto">
          <a:xfrm>
            <a:off x="6887716" y="4165570"/>
            <a:ext cx="3535362" cy="1588"/>
          </a:xfrm>
          <a:custGeom>
            <a:avLst/>
            <a:gdLst>
              <a:gd name="T0" fmla="*/ 0 w 2227"/>
              <a:gd name="T1" fmla="*/ 0 h 1"/>
              <a:gd name="T2" fmla="*/ 3535362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4" name="Freeform 78"/>
          <p:cNvSpPr>
            <a:spLocks noChangeAspect="1"/>
          </p:cNvSpPr>
          <p:nvPr/>
        </p:nvSpPr>
        <p:spPr bwMode="auto">
          <a:xfrm>
            <a:off x="8687941" y="4162395"/>
            <a:ext cx="849312" cy="417513"/>
          </a:xfrm>
          <a:custGeom>
            <a:avLst/>
            <a:gdLst>
              <a:gd name="T0" fmla="*/ 0 w 535"/>
              <a:gd name="T1" fmla="*/ 417513 h 272"/>
              <a:gd name="T2" fmla="*/ 849312 w 535"/>
              <a:gd name="T3" fmla="*/ 0 h 272"/>
              <a:gd name="T4" fmla="*/ 0 60000 65536"/>
              <a:gd name="T5" fmla="*/ 0 60000 65536"/>
              <a:gd name="T6" fmla="*/ 0 w 535"/>
              <a:gd name="T7" fmla="*/ 0 h 272"/>
              <a:gd name="T8" fmla="*/ 535 w 535"/>
              <a:gd name="T9" fmla="*/ 272 h 272"/>
            </a:gdLst>
            <a:ahLst/>
            <a:cxnLst>
              <a:cxn ang="T4">
                <a:pos x="T0" y="T1"/>
              </a:cxn>
              <a:cxn ang="T5">
                <a:pos x="T2" y="T3"/>
              </a:cxn>
            </a:cxnLst>
            <a:rect l="T6" t="T7" r="T8" b="T9"/>
            <a:pathLst>
              <a:path w="535" h="272">
                <a:moveTo>
                  <a:pt x="0" y="272"/>
                </a:moveTo>
                <a:lnTo>
                  <a:pt x="535"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5" name="Oval 79"/>
          <p:cNvSpPr>
            <a:spLocks noChangeAspect="1" noChangeArrowheads="1"/>
          </p:cNvSpPr>
          <p:nvPr/>
        </p:nvSpPr>
        <p:spPr bwMode="auto">
          <a:xfrm>
            <a:off x="6849616" y="4121120"/>
            <a:ext cx="90487"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矩形 165">
            <a:extLst>
              <a:ext uri="{FF2B5EF4-FFF2-40B4-BE49-F238E27FC236}">
                <a16:creationId xmlns:a16="http://schemas.microsoft.com/office/drawing/2014/main" id="{E8DB0D0A-8BE9-6ADA-6C58-96049487BA32}"/>
              </a:ext>
            </a:extLst>
          </p:cNvPr>
          <p:cNvSpPr/>
          <p:nvPr/>
        </p:nvSpPr>
        <p:spPr>
          <a:xfrm>
            <a:off x="211184" y="1093889"/>
            <a:ext cx="6274894" cy="2492990"/>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截面</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处：虽然</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处的弯矩绝对值比</a:t>
            </a:r>
            <a:r>
              <a:rPr kumimoji="1" lang="en-US" altLang="zh-CN" dirty="0">
                <a:solidFill>
                  <a:schemeClr val="tx1"/>
                </a:solidFill>
                <a:ea typeface="黑体" panose="02010609060101010101" pitchFamily="49" charset="-122"/>
              </a:rPr>
              <a:t>B</a:t>
            </a:r>
            <a:r>
              <a:rPr kumimoji="1" lang="zh-CN" altLang="en-US" i="0" dirty="0">
                <a:solidFill>
                  <a:schemeClr val="tx1"/>
                </a:solidFill>
                <a:ea typeface="黑体" panose="02010609060101010101" pitchFamily="49" charset="-122"/>
              </a:rPr>
              <a:t>处的小，但最大拉应力发生于截面下边缘各点处，而这些点到中性轴的距离比上边缘处各点到中性轴的距离大，且材料的许用拉应力</a:t>
            </a:r>
            <a:r>
              <a:rPr kumimoji="1" lang="en-US" altLang="zh-CN"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l</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小于许用压应力</a:t>
            </a:r>
            <a:r>
              <a:rPr kumimoji="1" lang="en-US" altLang="zh-CN"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，所以还需校核最大拉应力</a:t>
            </a:r>
            <a:endParaRPr kumimoji="1" lang="en-US" altLang="zh-CN" i="0" dirty="0">
              <a:solidFill>
                <a:schemeClr val="tx1"/>
              </a:solidFill>
              <a:latin typeface="+mn-lt"/>
              <a:ea typeface="黑体" panose="02010609060101010101" pitchFamily="49" charset="-122"/>
            </a:endParaRPr>
          </a:p>
        </p:txBody>
      </p:sp>
      <p:sp>
        <p:nvSpPr>
          <p:cNvPr id="167" name="矩形 166">
            <a:extLst>
              <a:ext uri="{FF2B5EF4-FFF2-40B4-BE49-F238E27FC236}">
                <a16:creationId xmlns:a16="http://schemas.microsoft.com/office/drawing/2014/main" id="{E8DB0D0A-8BE9-6ADA-6C58-96049487BA32}"/>
              </a:ext>
            </a:extLst>
          </p:cNvPr>
          <p:cNvSpPr/>
          <p:nvPr/>
        </p:nvSpPr>
        <p:spPr>
          <a:xfrm>
            <a:off x="211184" y="3662338"/>
            <a:ext cx="6274894" cy="904863"/>
          </a:xfrm>
          <a:prstGeom prst="rect">
            <a:avLst/>
          </a:prstGeom>
        </p:spPr>
        <p:txBody>
          <a:bodyPr wrap="square">
            <a:spAutoFit/>
          </a:bodyPr>
          <a:lstStyle/>
          <a:p>
            <a:pPr>
              <a:lnSpc>
                <a:spcPct val="110000"/>
              </a:lnSpc>
            </a:pPr>
            <a:r>
              <a:rPr kumimoji="1" lang="zh-CN" altLang="en-US"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rPr>
              <a:t>=</a:t>
            </a:r>
            <a:r>
              <a:rPr kumimoji="1" lang="en-US" altLang="zh-CN" b="0" i="0" dirty="0">
                <a:solidFill>
                  <a:schemeClr val="tx1"/>
                </a:solidFill>
                <a:ea typeface="黑体" panose="02010609060101010101" pitchFamily="49" charset="-122"/>
              </a:rPr>
              <a:t> </a:t>
            </a:r>
            <a:r>
              <a:rPr lang="en-US" altLang="zh-CN" b="0" i="0" dirty="0">
                <a:solidFill>
                  <a:schemeClr val="tx1"/>
                </a:solidFill>
              </a:rPr>
              <a:t>26.4MPa&lt;[</a:t>
            </a:r>
            <a:r>
              <a:rPr lang="en-US" altLang="zh-CN" b="0" dirty="0">
                <a:solidFill>
                  <a:schemeClr val="tx1"/>
                </a:solidFill>
                <a:sym typeface="Symbol" panose="05050102010706020507" pitchFamily="18" charset="2"/>
              </a:rPr>
              <a:t></a:t>
            </a:r>
            <a:r>
              <a:rPr lang="en-US" altLang="zh-CN" b="0" i="0" baseline="-25000" dirty="0">
                <a:solidFill>
                  <a:schemeClr val="tx1"/>
                </a:solidFill>
              </a:rPr>
              <a:t>l</a:t>
            </a:r>
            <a:r>
              <a:rPr lang="en-US" altLang="zh-CN" b="0" i="0" dirty="0">
                <a:solidFill>
                  <a:schemeClr val="tx1"/>
                </a:solidFill>
              </a:rPr>
              <a:t>]</a:t>
            </a:r>
          </a:p>
          <a:p>
            <a:pPr lvl="0">
              <a:lnSpc>
                <a:spcPct val="110000"/>
              </a:lnSpc>
            </a:pPr>
            <a:endParaRPr lang="en-US" altLang="zh-CN" b="0" i="0" dirty="0">
              <a:solidFill>
                <a:schemeClr val="tx1"/>
              </a:solidFill>
              <a:latin typeface="+mn-lt"/>
              <a:ea typeface="黑体" panose="02010609060101010101" pitchFamily="49" charset="-122"/>
            </a:endParaRPr>
          </a:p>
        </p:txBody>
      </p:sp>
      <p:sp>
        <p:nvSpPr>
          <p:cNvPr id="80" name="矩形 79">
            <a:extLst>
              <a:ext uri="{FF2B5EF4-FFF2-40B4-BE49-F238E27FC236}">
                <a16:creationId xmlns:a16="http://schemas.microsoft.com/office/drawing/2014/main" id="{E8DB0D0A-8BE9-6ADA-6C58-96049487BA32}"/>
              </a:ext>
            </a:extLst>
          </p:cNvPr>
          <p:cNvSpPr/>
          <p:nvPr/>
        </p:nvSpPr>
        <p:spPr>
          <a:xfrm>
            <a:off x="1127448" y="4373815"/>
            <a:ext cx="3940600" cy="493148"/>
          </a:xfrm>
          <a:prstGeom prst="rect">
            <a:avLst/>
          </a:prstGeom>
        </p:spPr>
        <p:txBody>
          <a:bodyPr wrap="square">
            <a:spAutoFit/>
          </a:bodyPr>
          <a:lstStyle/>
          <a:p>
            <a:pPr>
              <a:lnSpc>
                <a:spcPct val="120000"/>
              </a:lnSpc>
            </a:pPr>
            <a:r>
              <a:rPr kumimoji="1" lang="zh-CN" altLang="en-US" i="0" dirty="0">
                <a:ea typeface="黑体" panose="02010609060101010101" pitchFamily="49" charset="-122"/>
              </a:rPr>
              <a:t>说明梁的工作是安全的。</a:t>
            </a:r>
            <a:endParaRPr kumimoji="1" lang="en-US" altLang="zh-CN" i="0" dirty="0">
              <a:ea typeface="黑体" panose="02010609060101010101" pitchFamily="49" charset="-122"/>
            </a:endParaRPr>
          </a:p>
        </p:txBody>
      </p:sp>
    </p:spTree>
    <p:extLst>
      <p:ext uri="{BB962C8B-B14F-4D97-AF65-F5344CB8AC3E}">
        <p14:creationId xmlns:p14="http://schemas.microsoft.com/office/powerpoint/2010/main" val="42203238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4" presetClass="entr" presetSubtype="16" fill="hold" nodeType="withEffect">
                                  <p:stCondLst>
                                    <p:cond delay="3000"/>
                                  </p:stCondLst>
                                  <p:childTnLst>
                                    <p:set>
                                      <p:cBhvr>
                                        <p:cTn id="12" dur="1" fill="hold">
                                          <p:stCondLst>
                                            <p:cond delay="0"/>
                                          </p:stCondLst>
                                        </p:cTn>
                                        <p:tgtEl>
                                          <p:spTgt spid="95"/>
                                        </p:tgtEl>
                                        <p:attrNameLst>
                                          <p:attrName>style.visibility</p:attrName>
                                        </p:attrNameLst>
                                      </p:cBhvr>
                                      <p:to>
                                        <p:strVal val="visible"/>
                                      </p:to>
                                    </p:set>
                                    <p:animEffect transition="in" filter="box(in)">
                                      <p:cBhvr>
                                        <p:cTn id="13" dur="3000"/>
                                        <p:tgtEl>
                                          <p:spTgt spid="95"/>
                                        </p:tgtEl>
                                      </p:cBhvr>
                                    </p:animEffect>
                                  </p:childTnLst>
                                </p:cTn>
                              </p:par>
                              <p:par>
                                <p:cTn id="14" presetID="4" presetClass="entr" presetSubtype="16" fill="hold" nodeType="withEffect">
                                  <p:stCondLst>
                                    <p:cond delay="3000"/>
                                  </p:stCondLst>
                                  <p:childTnLst>
                                    <p:set>
                                      <p:cBhvr>
                                        <p:cTn id="15" dur="1" fill="hold">
                                          <p:stCondLst>
                                            <p:cond delay="0"/>
                                          </p:stCondLst>
                                        </p:cTn>
                                        <p:tgtEl>
                                          <p:spTgt spid="133"/>
                                        </p:tgtEl>
                                        <p:attrNameLst>
                                          <p:attrName>style.visibility</p:attrName>
                                        </p:attrNameLst>
                                      </p:cBhvr>
                                      <p:to>
                                        <p:strVal val="visible"/>
                                      </p:to>
                                    </p:set>
                                    <p:animEffect transition="in" filter="box(in)">
                                      <p:cBhvr>
                                        <p:cTn id="16" dur="3000"/>
                                        <p:tgtEl>
                                          <p:spTgt spid="133"/>
                                        </p:tgtEl>
                                      </p:cBhvr>
                                    </p:animEffect>
                                  </p:childTnLst>
                                </p:cTn>
                              </p:par>
                              <p:par>
                                <p:cTn id="17" presetID="4" presetClass="entr" presetSubtype="32" fill="hold" nodeType="withEffect">
                                  <p:stCondLst>
                                    <p:cond delay="4500"/>
                                  </p:stCondLst>
                                  <p:childTnLst>
                                    <p:set>
                                      <p:cBhvr>
                                        <p:cTn id="18" dur="1" fill="hold">
                                          <p:stCondLst>
                                            <p:cond delay="0"/>
                                          </p:stCondLst>
                                        </p:cTn>
                                        <p:tgtEl>
                                          <p:spTgt spid="146"/>
                                        </p:tgtEl>
                                        <p:attrNameLst>
                                          <p:attrName>style.visibility</p:attrName>
                                        </p:attrNameLst>
                                      </p:cBhvr>
                                      <p:to>
                                        <p:strVal val="visible"/>
                                      </p:to>
                                    </p:set>
                                    <p:animEffect transition="in" filter="box(out)">
                                      <p:cBhvr>
                                        <p:cTn id="19" dur="3000"/>
                                        <p:tgtEl>
                                          <p:spTgt spid="146"/>
                                        </p:tgtEl>
                                      </p:cBhvr>
                                    </p:animEffect>
                                  </p:childTnLst>
                                </p:cTn>
                              </p:par>
                              <p:par>
                                <p:cTn id="20" presetID="4" presetClass="entr" presetSubtype="32" fill="hold" nodeType="withEffect">
                                  <p:stCondLst>
                                    <p:cond delay="4500"/>
                                  </p:stCondLst>
                                  <p:childTnLst>
                                    <p:set>
                                      <p:cBhvr>
                                        <p:cTn id="21" dur="1" fill="hold">
                                          <p:stCondLst>
                                            <p:cond delay="0"/>
                                          </p:stCondLst>
                                        </p:cTn>
                                        <p:tgtEl>
                                          <p:spTgt spid="151"/>
                                        </p:tgtEl>
                                        <p:attrNameLst>
                                          <p:attrName>style.visibility</p:attrName>
                                        </p:attrNameLst>
                                      </p:cBhvr>
                                      <p:to>
                                        <p:strVal val="visible"/>
                                      </p:to>
                                    </p:set>
                                    <p:animEffect transition="in" filter="box(out)">
                                      <p:cBhvr>
                                        <p:cTn id="22" dur="3000"/>
                                        <p:tgtEl>
                                          <p:spTgt spid="151"/>
                                        </p:tgtEl>
                                      </p:cBhvr>
                                    </p:animEffect>
                                  </p:childTnLst>
                                </p:cTn>
                              </p:par>
                            </p:childTnLst>
                          </p:cTn>
                        </p:par>
                        <p:par>
                          <p:cTn id="23" fill="hold">
                            <p:stCondLst>
                              <p:cond delay="7500"/>
                            </p:stCondLst>
                            <p:childTnLst>
                              <p:par>
                                <p:cTn id="24" presetID="12" presetClass="entr" presetSubtype="4" fill="hold" grpId="0" nodeType="afterEffect">
                                  <p:stCondLst>
                                    <p:cond delay="0"/>
                                  </p:stCondLst>
                                  <p:childTnLst>
                                    <p:set>
                                      <p:cBhvr>
                                        <p:cTn id="25" dur="1" fill="hold">
                                          <p:stCondLst>
                                            <p:cond delay="0"/>
                                          </p:stCondLst>
                                        </p:cTn>
                                        <p:tgtEl>
                                          <p:spTgt spid="158"/>
                                        </p:tgtEl>
                                        <p:attrNameLst>
                                          <p:attrName>style.visibility</p:attrName>
                                        </p:attrNameLst>
                                      </p:cBhvr>
                                      <p:to>
                                        <p:strVal val="visible"/>
                                      </p:to>
                                    </p:set>
                                    <p:animEffect transition="in" filter="slide(fromBottom)">
                                      <p:cBhvr>
                                        <p:cTn id="26" dur="3000"/>
                                        <p:tgtEl>
                                          <p:spTgt spid="158"/>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9" presetClass="emph" presetSubtype="0" nodeType="withEffect">
                                  <p:stCondLst>
                                    <p:cond delay="0"/>
                                  </p:stCondLst>
                                  <p:childTnLst>
                                    <p:set>
                                      <p:cBhvr rctx="PPT">
                                        <p:cTn id="28" dur="indefinite"/>
                                        <p:tgtEl>
                                          <p:spTgt spid="151"/>
                                        </p:tgtEl>
                                        <p:attrNameLst>
                                          <p:attrName>style.opacity</p:attrName>
                                        </p:attrNameLst>
                                      </p:cBhvr>
                                      <p:to>
                                        <p:strVal val="0.5"/>
                                      </p:to>
                                    </p:set>
                                    <p:animEffect filter="image" prLst="opacity: 0.5">
                                      <p:cBhvr rctx="IE">
                                        <p:cTn id="29" dur="indefinite"/>
                                        <p:tgtEl>
                                          <p:spTgt spid="151"/>
                                        </p:tgtEl>
                                      </p:cBhvr>
                                    </p:animEffect>
                                  </p:childTnLst>
                                </p:cTn>
                              </p:par>
                              <p:par>
                                <p:cTn id="30" presetID="17" presetClass="entr" presetSubtype="10" fill="hold" grpId="0" nodeType="withEffect">
                                  <p:stCondLst>
                                    <p:cond delay="0"/>
                                  </p:stCondLst>
                                  <p:childTnLst>
                                    <p:set>
                                      <p:cBhvr>
                                        <p:cTn id="31" dur="1" fill="hold">
                                          <p:stCondLst>
                                            <p:cond delay="0"/>
                                          </p:stCondLst>
                                        </p:cTn>
                                        <p:tgtEl>
                                          <p:spTgt spid="119"/>
                                        </p:tgtEl>
                                        <p:attrNameLst>
                                          <p:attrName>style.visibility</p:attrName>
                                        </p:attrNameLst>
                                      </p:cBhvr>
                                      <p:to>
                                        <p:strVal val="visible"/>
                                      </p:to>
                                    </p:set>
                                    <p:anim calcmode="lin" valueType="num">
                                      <p:cBhvr>
                                        <p:cTn id="32" dur="3000" fill="hold"/>
                                        <p:tgtEl>
                                          <p:spTgt spid="119"/>
                                        </p:tgtEl>
                                        <p:attrNameLst>
                                          <p:attrName>ppt_w</p:attrName>
                                        </p:attrNameLst>
                                      </p:cBhvr>
                                      <p:tavLst>
                                        <p:tav tm="0">
                                          <p:val>
                                            <p:fltVal val="0"/>
                                          </p:val>
                                        </p:tav>
                                        <p:tav tm="100000">
                                          <p:val>
                                            <p:strVal val="#ppt_w"/>
                                          </p:val>
                                        </p:tav>
                                      </p:tavLst>
                                    </p:anim>
                                    <p:anim calcmode="lin" valueType="num">
                                      <p:cBhvr>
                                        <p:cTn id="33" dur="3000" fill="hold"/>
                                        <p:tgtEl>
                                          <p:spTgt spid="1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4" presetID="12" presetClass="entr" presetSubtype="4" fill="hold" grpId="0" nodeType="withEffect">
                                  <p:stCondLst>
                                    <p:cond delay="0"/>
                                  </p:stCondLst>
                                  <p:childTnLst>
                                    <p:set>
                                      <p:cBhvr>
                                        <p:cTn id="35" dur="1" fill="hold">
                                          <p:stCondLst>
                                            <p:cond delay="0"/>
                                          </p:stCondLst>
                                        </p:cTn>
                                        <p:tgtEl>
                                          <p:spTgt spid="157"/>
                                        </p:tgtEl>
                                        <p:attrNameLst>
                                          <p:attrName>style.visibility</p:attrName>
                                        </p:attrNameLst>
                                      </p:cBhvr>
                                      <p:to>
                                        <p:strVal val="visible"/>
                                      </p:to>
                                    </p:set>
                                    <p:animEffect transition="in" filter="slide(fromBottom)">
                                      <p:cBhvr>
                                        <p:cTn id="36" dur="3000"/>
                                        <p:tgtEl>
                                          <p:spTgt spid="157"/>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9" presetClass="emph" presetSubtype="0" nodeType="withEffect">
                                  <p:stCondLst>
                                    <p:cond delay="0"/>
                                  </p:stCondLst>
                                  <p:childTnLst>
                                    <p:set>
                                      <p:cBhvr rctx="PPT">
                                        <p:cTn id="38" dur="indefinite"/>
                                        <p:tgtEl>
                                          <p:spTgt spid="146"/>
                                        </p:tgtEl>
                                        <p:attrNameLst>
                                          <p:attrName>style.opacity</p:attrName>
                                        </p:attrNameLst>
                                      </p:cBhvr>
                                      <p:to>
                                        <p:strVal val="0.5"/>
                                      </p:to>
                                    </p:set>
                                    <p:animEffect filter="image" prLst="opacity: 0.5">
                                      <p:cBhvr rctx="IE">
                                        <p:cTn id="39" dur="indefinite"/>
                                        <p:tgtEl>
                                          <p:spTgt spid="146"/>
                                        </p:tgtEl>
                                      </p:cBhvr>
                                    </p:animEffect>
                                  </p:childTnLst>
                                </p:cTn>
                              </p:par>
                              <p:par>
                                <p:cTn id="40" presetID="17" presetClass="entr" presetSubtype="10" fill="hold" grpId="0" nodeType="withEffect">
                                  <p:stCondLst>
                                    <p:cond delay="0"/>
                                  </p:stCondLst>
                                  <p:childTnLst>
                                    <p:set>
                                      <p:cBhvr>
                                        <p:cTn id="41" dur="1" fill="hold">
                                          <p:stCondLst>
                                            <p:cond delay="0"/>
                                          </p:stCondLst>
                                        </p:cTn>
                                        <p:tgtEl>
                                          <p:spTgt spid="118"/>
                                        </p:tgtEl>
                                        <p:attrNameLst>
                                          <p:attrName>style.visibility</p:attrName>
                                        </p:attrNameLst>
                                      </p:cBhvr>
                                      <p:to>
                                        <p:strVal val="visible"/>
                                      </p:to>
                                    </p:set>
                                    <p:anim calcmode="lin" valueType="num">
                                      <p:cBhvr>
                                        <p:cTn id="42" dur="3000" fill="hold"/>
                                        <p:tgtEl>
                                          <p:spTgt spid="118"/>
                                        </p:tgtEl>
                                        <p:attrNameLst>
                                          <p:attrName>ppt_w</p:attrName>
                                        </p:attrNameLst>
                                      </p:cBhvr>
                                      <p:tavLst>
                                        <p:tav tm="0">
                                          <p:val>
                                            <p:fltVal val="0"/>
                                          </p:val>
                                        </p:tav>
                                        <p:tav tm="100000">
                                          <p:val>
                                            <p:strVal val="#ppt_w"/>
                                          </p:val>
                                        </p:tav>
                                      </p:tavLst>
                                    </p:anim>
                                    <p:anim calcmode="lin" valueType="num">
                                      <p:cBhvr>
                                        <p:cTn id="43" dur="3000" fill="hold"/>
                                        <p:tgtEl>
                                          <p:spTgt spid="11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par>
                                <p:cTn id="44" presetID="12" presetClass="entr" presetSubtype="8" fill="hold" grpId="0" nodeType="withEffect">
                                  <p:stCondLst>
                                    <p:cond delay="0"/>
                                  </p:stCondLst>
                                  <p:childTnLst>
                                    <p:set>
                                      <p:cBhvr>
                                        <p:cTn id="45" dur="1" fill="hold">
                                          <p:stCondLst>
                                            <p:cond delay="0"/>
                                          </p:stCondLst>
                                        </p:cTn>
                                        <p:tgtEl>
                                          <p:spTgt spid="163"/>
                                        </p:tgtEl>
                                        <p:attrNameLst>
                                          <p:attrName>style.visibility</p:attrName>
                                        </p:attrNameLst>
                                      </p:cBhvr>
                                      <p:to>
                                        <p:strVal val="visible"/>
                                      </p:to>
                                    </p:set>
                                    <p:animEffect transition="in" filter="slide(fromLeft)">
                                      <p:cBhvr>
                                        <p:cTn id="46" dur="5000"/>
                                        <p:tgtEl>
                                          <p:spTgt spid="163"/>
                                        </p:tgtEl>
                                      </p:cBhvr>
                                    </p:animEffect>
                                  </p:childTnLst>
                                </p:cTn>
                              </p:par>
                              <p:par>
                                <p:cTn id="47" presetID="19" presetClass="entr" presetSubtype="10" fill="hold" nodeType="withEffect">
                                  <p:stCondLst>
                                    <p:cond delay="0"/>
                                  </p:stCondLst>
                                  <p:childTnLst>
                                    <p:set>
                                      <p:cBhvr>
                                        <p:cTn id="48" dur="1" fill="hold">
                                          <p:stCondLst>
                                            <p:cond delay="0"/>
                                          </p:stCondLst>
                                        </p:cTn>
                                        <p:tgtEl>
                                          <p:spTgt spid="159"/>
                                        </p:tgtEl>
                                        <p:attrNameLst>
                                          <p:attrName>style.visibility</p:attrName>
                                        </p:attrNameLst>
                                      </p:cBhvr>
                                      <p:to>
                                        <p:strVal val="visible"/>
                                      </p:to>
                                    </p:set>
                                    <p:anim calcmode="lin" valueType="num">
                                      <p:cBhvr>
                                        <p:cTn id="49" dur="5000" fill="hold"/>
                                        <p:tgtEl>
                                          <p:spTgt spid="159"/>
                                        </p:tgtEl>
                                        <p:attrNameLst>
                                          <p:attrName>ppt_w</p:attrName>
                                        </p:attrNameLst>
                                      </p:cBhvr>
                                      <p:tavLst>
                                        <p:tav tm="0" fmla="#ppt_w*sin(2.5*pi*$)">
                                          <p:val>
                                            <p:fltVal val="0"/>
                                          </p:val>
                                        </p:tav>
                                        <p:tav tm="100000">
                                          <p:val>
                                            <p:fltVal val="1"/>
                                          </p:val>
                                        </p:tav>
                                      </p:tavLst>
                                    </p:anim>
                                    <p:anim calcmode="lin" valueType="num">
                                      <p:cBhvr>
                                        <p:cTn id="50" dur="5000" fill="hold"/>
                                        <p:tgtEl>
                                          <p:spTgt spid="159"/>
                                        </p:tgtEl>
                                        <p:attrNameLst>
                                          <p:attrName>ppt_h</p:attrName>
                                        </p:attrNameLst>
                                      </p:cBhvr>
                                      <p:tavLst>
                                        <p:tav tm="0">
                                          <p:val>
                                            <p:strVal val="#ppt_h"/>
                                          </p:val>
                                        </p:tav>
                                        <p:tav tm="100000">
                                          <p:val>
                                            <p:strVal val="#ppt_h"/>
                                          </p:val>
                                        </p:tav>
                                      </p:tavLst>
                                    </p:anim>
                                  </p:childTnLst>
                                </p:cTn>
                              </p:par>
                              <p:par>
                                <p:cTn id="51" presetID="12" presetClass="entr" presetSubtype="4" fill="hold" grpId="0" nodeType="withEffect">
                                  <p:stCondLst>
                                    <p:cond delay="0"/>
                                  </p:stCondLst>
                                  <p:childTnLst>
                                    <p:set>
                                      <p:cBhvr>
                                        <p:cTn id="52" dur="1" fill="hold">
                                          <p:stCondLst>
                                            <p:cond delay="0"/>
                                          </p:stCondLst>
                                        </p:cTn>
                                        <p:tgtEl>
                                          <p:spTgt spid="160"/>
                                        </p:tgtEl>
                                        <p:attrNameLst>
                                          <p:attrName>style.visibility</p:attrName>
                                        </p:attrNameLst>
                                      </p:cBhvr>
                                      <p:to>
                                        <p:strVal val="visible"/>
                                      </p:to>
                                    </p:set>
                                    <p:animEffect transition="in" filter="slide(fromBottom)">
                                      <p:cBhvr>
                                        <p:cTn id="53" dur="5000"/>
                                        <p:tgtEl>
                                          <p:spTgt spid="160"/>
                                        </p:tgtEl>
                                      </p:cBhvr>
                                    </p:animEffect>
                                  </p:childTnLst>
                                </p:cTn>
                              </p:par>
                              <p:par>
                                <p:cTn id="54" presetID="19" presetClass="entr" presetSubtype="10" fill="hold" nodeType="withEffect">
                                  <p:stCondLst>
                                    <p:cond delay="0"/>
                                  </p:stCondLst>
                                  <p:childTnLst>
                                    <p:set>
                                      <p:cBhvr>
                                        <p:cTn id="55" dur="1" fill="hold">
                                          <p:stCondLst>
                                            <p:cond delay="0"/>
                                          </p:stCondLst>
                                        </p:cTn>
                                        <p:tgtEl>
                                          <p:spTgt spid="161"/>
                                        </p:tgtEl>
                                        <p:attrNameLst>
                                          <p:attrName>style.visibility</p:attrName>
                                        </p:attrNameLst>
                                      </p:cBhvr>
                                      <p:to>
                                        <p:strVal val="visible"/>
                                      </p:to>
                                    </p:set>
                                    <p:anim calcmode="lin" valueType="num">
                                      <p:cBhvr>
                                        <p:cTn id="56" dur="5000" fill="hold"/>
                                        <p:tgtEl>
                                          <p:spTgt spid="161"/>
                                        </p:tgtEl>
                                        <p:attrNameLst>
                                          <p:attrName>ppt_w</p:attrName>
                                        </p:attrNameLst>
                                      </p:cBhvr>
                                      <p:tavLst>
                                        <p:tav tm="0" fmla="#ppt_w*sin(2.5*pi*$)">
                                          <p:val>
                                            <p:fltVal val="0"/>
                                          </p:val>
                                        </p:tav>
                                        <p:tav tm="100000">
                                          <p:val>
                                            <p:fltVal val="1"/>
                                          </p:val>
                                        </p:tav>
                                      </p:tavLst>
                                    </p:anim>
                                    <p:anim calcmode="lin" valueType="num">
                                      <p:cBhvr>
                                        <p:cTn id="57" dur="5000" fill="hold"/>
                                        <p:tgtEl>
                                          <p:spTgt spid="161"/>
                                        </p:tgtEl>
                                        <p:attrNameLst>
                                          <p:attrName>ppt_h</p:attrName>
                                        </p:attrNameLst>
                                      </p:cBhvr>
                                      <p:tavLst>
                                        <p:tav tm="0">
                                          <p:val>
                                            <p:strVal val="#ppt_h"/>
                                          </p:val>
                                        </p:tav>
                                        <p:tav tm="100000">
                                          <p:val>
                                            <p:strVal val="#ppt_h"/>
                                          </p:val>
                                        </p:tav>
                                      </p:tavLst>
                                    </p:anim>
                                  </p:childTnLst>
                                </p:cTn>
                              </p:par>
                              <p:par>
                                <p:cTn id="58" presetID="19" presetClass="entr" presetSubtype="10" fill="hold" grpId="0" nodeType="withEffect">
                                  <p:stCondLst>
                                    <p:cond delay="0"/>
                                  </p:stCondLst>
                                  <p:childTnLst>
                                    <p:set>
                                      <p:cBhvr>
                                        <p:cTn id="59" dur="1" fill="hold">
                                          <p:stCondLst>
                                            <p:cond delay="0"/>
                                          </p:stCondLst>
                                        </p:cTn>
                                        <p:tgtEl>
                                          <p:spTgt spid="162"/>
                                        </p:tgtEl>
                                        <p:attrNameLst>
                                          <p:attrName>style.visibility</p:attrName>
                                        </p:attrNameLst>
                                      </p:cBhvr>
                                      <p:to>
                                        <p:strVal val="visible"/>
                                      </p:to>
                                    </p:set>
                                    <p:anim calcmode="lin" valueType="num">
                                      <p:cBhvr>
                                        <p:cTn id="60" dur="5000" fill="hold"/>
                                        <p:tgtEl>
                                          <p:spTgt spid="162"/>
                                        </p:tgtEl>
                                        <p:attrNameLst>
                                          <p:attrName>ppt_w</p:attrName>
                                        </p:attrNameLst>
                                      </p:cBhvr>
                                      <p:tavLst>
                                        <p:tav tm="0" fmla="#ppt_w*sin(2.5*pi*$)">
                                          <p:val>
                                            <p:fltVal val="0"/>
                                          </p:val>
                                        </p:tav>
                                        <p:tav tm="100000">
                                          <p:val>
                                            <p:fltVal val="1"/>
                                          </p:val>
                                        </p:tav>
                                      </p:tavLst>
                                    </p:anim>
                                    <p:anim calcmode="lin" valueType="num">
                                      <p:cBhvr>
                                        <p:cTn id="61"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2" fill="hold">
                      <p:stCondLst>
                        <p:cond delay="indefinite"/>
                      </p:stCondLst>
                      <p:childTnLst>
                        <p:par>
                          <p:cTn id="63" fill="hold">
                            <p:stCondLst>
                              <p:cond delay="0"/>
                            </p:stCondLst>
                            <p:childTnLst>
                              <p:par>
                                <p:cTn id="64" presetID="15" presetClass="entr" presetSubtype="0" fill="hold" grpId="0" nodeType="clickEffect">
                                  <p:stCondLst>
                                    <p:cond delay="0"/>
                                  </p:stCondLst>
                                  <p:childTnLst>
                                    <p:set>
                                      <p:cBhvr>
                                        <p:cTn id="65" dur="1" fill="hold">
                                          <p:stCondLst>
                                            <p:cond delay="0"/>
                                          </p:stCondLst>
                                        </p:cTn>
                                        <p:tgtEl>
                                          <p:spTgt spid="165"/>
                                        </p:tgtEl>
                                        <p:attrNameLst>
                                          <p:attrName>style.visibility</p:attrName>
                                        </p:attrNameLst>
                                      </p:cBhvr>
                                      <p:to>
                                        <p:strVal val="visible"/>
                                      </p:to>
                                    </p:set>
                                    <p:anim calcmode="lin" valueType="num">
                                      <p:cBhvr>
                                        <p:cTn id="66" dur="2000" fill="hold"/>
                                        <p:tgtEl>
                                          <p:spTgt spid="165"/>
                                        </p:tgtEl>
                                        <p:attrNameLst>
                                          <p:attrName>ppt_w</p:attrName>
                                        </p:attrNameLst>
                                      </p:cBhvr>
                                      <p:tavLst>
                                        <p:tav tm="0">
                                          <p:val>
                                            <p:fltVal val="0"/>
                                          </p:val>
                                        </p:tav>
                                        <p:tav tm="100000">
                                          <p:val>
                                            <p:strVal val="#ppt_w"/>
                                          </p:val>
                                        </p:tav>
                                      </p:tavLst>
                                    </p:anim>
                                    <p:anim calcmode="lin" valueType="num">
                                      <p:cBhvr>
                                        <p:cTn id="67" dur="2000" fill="hold"/>
                                        <p:tgtEl>
                                          <p:spTgt spid="165"/>
                                        </p:tgtEl>
                                        <p:attrNameLst>
                                          <p:attrName>ppt_h</p:attrName>
                                        </p:attrNameLst>
                                      </p:cBhvr>
                                      <p:tavLst>
                                        <p:tav tm="0">
                                          <p:val>
                                            <p:fltVal val="0"/>
                                          </p:val>
                                        </p:tav>
                                        <p:tav tm="100000">
                                          <p:val>
                                            <p:strVal val="#ppt_h"/>
                                          </p:val>
                                        </p:tav>
                                      </p:tavLst>
                                    </p:anim>
                                    <p:anim calcmode="lin" valueType="num">
                                      <p:cBhvr>
                                        <p:cTn id="68" dur="2000" fill="hold"/>
                                        <p:tgtEl>
                                          <p:spTgt spid="165"/>
                                        </p:tgtEl>
                                        <p:attrNameLst>
                                          <p:attrName>ppt_x</p:attrName>
                                        </p:attrNameLst>
                                      </p:cBhvr>
                                      <p:tavLst>
                                        <p:tav tm="0" fmla="#ppt_x+(cos(-2*pi*(1-$))*-#ppt_x-sin(-2*pi*(1-$))*(1-#ppt_y))*(1-$)">
                                          <p:val>
                                            <p:fltVal val="0"/>
                                          </p:val>
                                        </p:tav>
                                        <p:tav tm="100000">
                                          <p:val>
                                            <p:fltVal val="1"/>
                                          </p:val>
                                        </p:tav>
                                      </p:tavLst>
                                    </p:anim>
                                    <p:anim calcmode="lin" valueType="num">
                                      <p:cBhvr>
                                        <p:cTn id="69" dur="2000" fill="hold"/>
                                        <p:tgtEl>
                                          <p:spTgt spid="16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4"/>
                                            </p:cond>
                                          </p:stCondLst>
                                          <p:endCondLst>
                                            <p:cond evt="onStopAudio" delay="0">
                                              <p:tgtEl>
                                                <p:sldTgt/>
                                              </p:tgtEl>
                                            </p:cond>
                                          </p:endCondLst>
                                        </p:cTn>
                                        <p:tgtEl>
                                          <p:sndTgt r:embed="rId4" name="LASER.WAV"/>
                                        </p:tgtEl>
                                      </p:cMediaNode>
                                    </p:audio>
                                  </p:subTnLst>
                                </p:cTn>
                              </p:par>
                            </p:childTnLst>
                          </p:cTn>
                        </p:par>
                        <p:par>
                          <p:cTn id="70" fill="hold">
                            <p:stCondLst>
                              <p:cond delay="2000"/>
                            </p:stCondLst>
                            <p:childTnLst>
                              <p:par>
                                <p:cTn id="71" presetID="15" presetClass="entr" presetSubtype="0" fill="hold" grpId="0" nodeType="afterEffect">
                                  <p:stCondLst>
                                    <p:cond delay="300"/>
                                  </p:stCondLst>
                                  <p:childTnLst>
                                    <p:set>
                                      <p:cBhvr>
                                        <p:cTn id="72" dur="1" fill="hold">
                                          <p:stCondLst>
                                            <p:cond delay="0"/>
                                          </p:stCondLst>
                                        </p:cTn>
                                        <p:tgtEl>
                                          <p:spTgt spid="127"/>
                                        </p:tgtEl>
                                        <p:attrNameLst>
                                          <p:attrName>style.visibility</p:attrName>
                                        </p:attrNameLst>
                                      </p:cBhvr>
                                      <p:to>
                                        <p:strVal val="visible"/>
                                      </p:to>
                                    </p:set>
                                    <p:anim calcmode="lin" valueType="num">
                                      <p:cBhvr>
                                        <p:cTn id="73" dur="2000" fill="hold"/>
                                        <p:tgtEl>
                                          <p:spTgt spid="127"/>
                                        </p:tgtEl>
                                        <p:attrNameLst>
                                          <p:attrName>ppt_w</p:attrName>
                                        </p:attrNameLst>
                                      </p:cBhvr>
                                      <p:tavLst>
                                        <p:tav tm="0">
                                          <p:val>
                                            <p:fltVal val="0"/>
                                          </p:val>
                                        </p:tav>
                                        <p:tav tm="100000">
                                          <p:val>
                                            <p:strVal val="#ppt_w"/>
                                          </p:val>
                                        </p:tav>
                                      </p:tavLst>
                                    </p:anim>
                                    <p:anim calcmode="lin" valueType="num">
                                      <p:cBhvr>
                                        <p:cTn id="74" dur="2000" fill="hold"/>
                                        <p:tgtEl>
                                          <p:spTgt spid="127"/>
                                        </p:tgtEl>
                                        <p:attrNameLst>
                                          <p:attrName>ppt_h</p:attrName>
                                        </p:attrNameLst>
                                      </p:cBhvr>
                                      <p:tavLst>
                                        <p:tav tm="0">
                                          <p:val>
                                            <p:fltVal val="0"/>
                                          </p:val>
                                        </p:tav>
                                        <p:tav tm="100000">
                                          <p:val>
                                            <p:strVal val="#ppt_h"/>
                                          </p:val>
                                        </p:tav>
                                      </p:tavLst>
                                    </p:anim>
                                    <p:anim calcmode="lin" valueType="num">
                                      <p:cBhvr>
                                        <p:cTn id="75" dur="2000" fill="hold"/>
                                        <p:tgtEl>
                                          <p:spTgt spid="127"/>
                                        </p:tgtEl>
                                        <p:attrNameLst>
                                          <p:attrName>ppt_x</p:attrName>
                                        </p:attrNameLst>
                                      </p:cBhvr>
                                      <p:tavLst>
                                        <p:tav tm="0" fmla="#ppt_x+(cos(-2*pi*(1-$))*-#ppt_x-sin(-2*pi*(1-$))*(1-#ppt_y))*(1-$)">
                                          <p:val>
                                            <p:fltVal val="0"/>
                                          </p:val>
                                        </p:tav>
                                        <p:tav tm="100000">
                                          <p:val>
                                            <p:fltVal val="1"/>
                                          </p:val>
                                        </p:tav>
                                      </p:tavLst>
                                    </p:anim>
                                    <p:anim calcmode="lin" valueType="num">
                                      <p:cBhvr>
                                        <p:cTn id="76" dur="2000" fill="hold"/>
                                        <p:tgtEl>
                                          <p:spTgt spid="12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1"/>
                                            </p:cond>
                                          </p:stCondLst>
                                          <p:endCondLst>
                                            <p:cond evt="onStopAudio" delay="0">
                                              <p:tgtEl>
                                                <p:sldTgt/>
                                              </p:tgtEl>
                                            </p:cond>
                                          </p:endCondLst>
                                        </p:cTn>
                                        <p:tgtEl>
                                          <p:sndTgt r:embed="rId4" name="LASER.WAV"/>
                                        </p:tgtEl>
                                      </p:cMediaNode>
                                    </p:audio>
                                  </p:subTnLst>
                                </p:cTn>
                              </p:par>
                            </p:childTnLst>
                          </p:cTn>
                        </p:par>
                        <p:par>
                          <p:cTn id="77" fill="hold">
                            <p:stCondLst>
                              <p:cond delay="4300"/>
                            </p:stCondLst>
                            <p:childTnLst>
                              <p:par>
                                <p:cTn id="78" presetID="17" presetClass="entr" presetSubtype="10" fill="hold" grpId="0" nodeType="afterEffect">
                                  <p:stCondLst>
                                    <p:cond delay="0"/>
                                  </p:stCondLst>
                                  <p:childTnLst>
                                    <p:set>
                                      <p:cBhvr>
                                        <p:cTn id="79" dur="1" fill="hold">
                                          <p:stCondLst>
                                            <p:cond delay="0"/>
                                          </p:stCondLst>
                                        </p:cTn>
                                        <p:tgtEl>
                                          <p:spTgt spid="120"/>
                                        </p:tgtEl>
                                        <p:attrNameLst>
                                          <p:attrName>style.visibility</p:attrName>
                                        </p:attrNameLst>
                                      </p:cBhvr>
                                      <p:to>
                                        <p:strVal val="visible"/>
                                      </p:to>
                                    </p:set>
                                    <p:anim calcmode="lin" valueType="num">
                                      <p:cBhvr>
                                        <p:cTn id="80" dur="2000" fill="hold"/>
                                        <p:tgtEl>
                                          <p:spTgt spid="120"/>
                                        </p:tgtEl>
                                        <p:attrNameLst>
                                          <p:attrName>ppt_w</p:attrName>
                                        </p:attrNameLst>
                                      </p:cBhvr>
                                      <p:tavLst>
                                        <p:tav tm="0">
                                          <p:val>
                                            <p:fltVal val="0"/>
                                          </p:val>
                                        </p:tav>
                                        <p:tav tm="100000">
                                          <p:val>
                                            <p:strVal val="#ppt_w"/>
                                          </p:val>
                                        </p:tav>
                                      </p:tavLst>
                                    </p:anim>
                                    <p:anim calcmode="lin" valueType="num">
                                      <p:cBhvr>
                                        <p:cTn id="81" dur="2000" fill="hold"/>
                                        <p:tgtEl>
                                          <p:spTgt spid="12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6300"/>
                            </p:stCondLst>
                            <p:childTnLst>
                              <p:par>
                                <p:cTn id="83" presetID="15" presetClass="entr" presetSubtype="0" fill="hold" grpId="0" nodeType="afterEffect">
                                  <p:stCondLst>
                                    <p:cond delay="300"/>
                                  </p:stCondLst>
                                  <p:childTnLst>
                                    <p:set>
                                      <p:cBhvr>
                                        <p:cTn id="84" dur="1" fill="hold">
                                          <p:stCondLst>
                                            <p:cond delay="0"/>
                                          </p:stCondLst>
                                        </p:cTn>
                                        <p:tgtEl>
                                          <p:spTgt spid="128"/>
                                        </p:tgtEl>
                                        <p:attrNameLst>
                                          <p:attrName>style.visibility</p:attrName>
                                        </p:attrNameLst>
                                      </p:cBhvr>
                                      <p:to>
                                        <p:strVal val="visible"/>
                                      </p:to>
                                    </p:set>
                                    <p:anim calcmode="lin" valueType="num">
                                      <p:cBhvr>
                                        <p:cTn id="85" dur="2000" fill="hold"/>
                                        <p:tgtEl>
                                          <p:spTgt spid="128"/>
                                        </p:tgtEl>
                                        <p:attrNameLst>
                                          <p:attrName>ppt_w</p:attrName>
                                        </p:attrNameLst>
                                      </p:cBhvr>
                                      <p:tavLst>
                                        <p:tav tm="0">
                                          <p:val>
                                            <p:fltVal val="0"/>
                                          </p:val>
                                        </p:tav>
                                        <p:tav tm="100000">
                                          <p:val>
                                            <p:strVal val="#ppt_w"/>
                                          </p:val>
                                        </p:tav>
                                      </p:tavLst>
                                    </p:anim>
                                    <p:anim calcmode="lin" valueType="num">
                                      <p:cBhvr>
                                        <p:cTn id="86" dur="2000" fill="hold"/>
                                        <p:tgtEl>
                                          <p:spTgt spid="128"/>
                                        </p:tgtEl>
                                        <p:attrNameLst>
                                          <p:attrName>ppt_h</p:attrName>
                                        </p:attrNameLst>
                                      </p:cBhvr>
                                      <p:tavLst>
                                        <p:tav tm="0">
                                          <p:val>
                                            <p:fltVal val="0"/>
                                          </p:val>
                                        </p:tav>
                                        <p:tav tm="100000">
                                          <p:val>
                                            <p:strVal val="#ppt_h"/>
                                          </p:val>
                                        </p:tav>
                                      </p:tavLst>
                                    </p:anim>
                                    <p:anim calcmode="lin" valueType="num">
                                      <p:cBhvr>
                                        <p:cTn id="87" dur="2000" fill="hold"/>
                                        <p:tgtEl>
                                          <p:spTgt spid="128"/>
                                        </p:tgtEl>
                                        <p:attrNameLst>
                                          <p:attrName>ppt_x</p:attrName>
                                        </p:attrNameLst>
                                      </p:cBhvr>
                                      <p:tavLst>
                                        <p:tav tm="0" fmla="#ppt_x+(cos(-2*pi*(1-$))*-#ppt_x-sin(-2*pi*(1-$))*(1-#ppt_y))*(1-$)">
                                          <p:val>
                                            <p:fltVal val="0"/>
                                          </p:val>
                                        </p:tav>
                                        <p:tav tm="100000">
                                          <p:val>
                                            <p:fltVal val="1"/>
                                          </p:val>
                                        </p:tav>
                                      </p:tavLst>
                                    </p:anim>
                                    <p:anim calcmode="lin" valueType="num">
                                      <p:cBhvr>
                                        <p:cTn id="88" dur="2000" fill="hold"/>
                                        <p:tgtEl>
                                          <p:spTgt spid="12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3"/>
                                            </p:cond>
                                          </p:stCondLst>
                                          <p:endCondLst>
                                            <p:cond evt="onStopAudio" delay="0">
                                              <p:tgtEl>
                                                <p:sldTgt/>
                                              </p:tgtEl>
                                            </p:cond>
                                          </p:endCondLst>
                                        </p:cTn>
                                        <p:tgtEl>
                                          <p:sndTgt r:embed="rId4" name="LASER.WAV"/>
                                        </p:tgtEl>
                                      </p:cMediaNode>
                                    </p:audio>
                                  </p:subTnLst>
                                </p:cTn>
                              </p:par>
                            </p:childTnLst>
                          </p:cTn>
                        </p:par>
                        <p:par>
                          <p:cTn id="89" fill="hold">
                            <p:stCondLst>
                              <p:cond delay="8600"/>
                            </p:stCondLst>
                            <p:childTnLst>
                              <p:par>
                                <p:cTn id="90" presetID="17" presetClass="entr" presetSubtype="10" fill="hold" grpId="0" nodeType="afterEffect">
                                  <p:stCondLst>
                                    <p:cond delay="0"/>
                                  </p:stCondLst>
                                  <p:childTnLst>
                                    <p:set>
                                      <p:cBhvr>
                                        <p:cTn id="91" dur="1" fill="hold">
                                          <p:stCondLst>
                                            <p:cond delay="0"/>
                                          </p:stCondLst>
                                        </p:cTn>
                                        <p:tgtEl>
                                          <p:spTgt spid="123"/>
                                        </p:tgtEl>
                                        <p:attrNameLst>
                                          <p:attrName>style.visibility</p:attrName>
                                        </p:attrNameLst>
                                      </p:cBhvr>
                                      <p:to>
                                        <p:strVal val="visible"/>
                                      </p:to>
                                    </p:set>
                                    <p:anim calcmode="lin" valueType="num">
                                      <p:cBhvr>
                                        <p:cTn id="92" dur="2000" fill="hold"/>
                                        <p:tgtEl>
                                          <p:spTgt spid="123"/>
                                        </p:tgtEl>
                                        <p:attrNameLst>
                                          <p:attrName>ppt_w</p:attrName>
                                        </p:attrNameLst>
                                      </p:cBhvr>
                                      <p:tavLst>
                                        <p:tav tm="0">
                                          <p:val>
                                            <p:fltVal val="0"/>
                                          </p:val>
                                        </p:tav>
                                        <p:tav tm="100000">
                                          <p:val>
                                            <p:strVal val="#ppt_w"/>
                                          </p:val>
                                        </p:tav>
                                      </p:tavLst>
                                    </p:anim>
                                    <p:anim calcmode="lin" valueType="num">
                                      <p:cBhvr>
                                        <p:cTn id="93" dur="2000" fill="hold"/>
                                        <p:tgtEl>
                                          <p:spTgt spid="1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4" fill="hold">
                            <p:stCondLst>
                              <p:cond delay="10600"/>
                            </p:stCondLst>
                            <p:childTnLst>
                              <p:par>
                                <p:cTn id="95" presetID="15" presetClass="entr" presetSubtype="0" fill="hold" grpId="0" nodeType="afterEffect">
                                  <p:stCondLst>
                                    <p:cond delay="300"/>
                                  </p:stCondLst>
                                  <p:childTnLst>
                                    <p:set>
                                      <p:cBhvr>
                                        <p:cTn id="96" dur="1" fill="hold">
                                          <p:stCondLst>
                                            <p:cond delay="0"/>
                                          </p:stCondLst>
                                        </p:cTn>
                                        <p:tgtEl>
                                          <p:spTgt spid="129"/>
                                        </p:tgtEl>
                                        <p:attrNameLst>
                                          <p:attrName>style.visibility</p:attrName>
                                        </p:attrNameLst>
                                      </p:cBhvr>
                                      <p:to>
                                        <p:strVal val="visible"/>
                                      </p:to>
                                    </p:set>
                                    <p:anim calcmode="lin" valueType="num">
                                      <p:cBhvr>
                                        <p:cTn id="97" dur="2000" fill="hold"/>
                                        <p:tgtEl>
                                          <p:spTgt spid="129"/>
                                        </p:tgtEl>
                                        <p:attrNameLst>
                                          <p:attrName>ppt_w</p:attrName>
                                        </p:attrNameLst>
                                      </p:cBhvr>
                                      <p:tavLst>
                                        <p:tav tm="0">
                                          <p:val>
                                            <p:fltVal val="0"/>
                                          </p:val>
                                        </p:tav>
                                        <p:tav tm="100000">
                                          <p:val>
                                            <p:strVal val="#ppt_w"/>
                                          </p:val>
                                        </p:tav>
                                      </p:tavLst>
                                    </p:anim>
                                    <p:anim calcmode="lin" valueType="num">
                                      <p:cBhvr>
                                        <p:cTn id="98" dur="2000" fill="hold"/>
                                        <p:tgtEl>
                                          <p:spTgt spid="129"/>
                                        </p:tgtEl>
                                        <p:attrNameLst>
                                          <p:attrName>ppt_h</p:attrName>
                                        </p:attrNameLst>
                                      </p:cBhvr>
                                      <p:tavLst>
                                        <p:tav tm="0">
                                          <p:val>
                                            <p:fltVal val="0"/>
                                          </p:val>
                                        </p:tav>
                                        <p:tav tm="100000">
                                          <p:val>
                                            <p:strVal val="#ppt_h"/>
                                          </p:val>
                                        </p:tav>
                                      </p:tavLst>
                                    </p:anim>
                                    <p:anim calcmode="lin" valueType="num">
                                      <p:cBhvr>
                                        <p:cTn id="99" dur="2000" fill="hold"/>
                                        <p:tgtEl>
                                          <p:spTgt spid="129"/>
                                        </p:tgtEl>
                                        <p:attrNameLst>
                                          <p:attrName>ppt_x</p:attrName>
                                        </p:attrNameLst>
                                      </p:cBhvr>
                                      <p:tavLst>
                                        <p:tav tm="0" fmla="#ppt_x+(cos(-2*pi*(1-$))*-#ppt_x-sin(-2*pi*(1-$))*(1-#ppt_y))*(1-$)">
                                          <p:val>
                                            <p:fltVal val="0"/>
                                          </p:val>
                                        </p:tav>
                                        <p:tav tm="100000">
                                          <p:val>
                                            <p:fltVal val="1"/>
                                          </p:val>
                                        </p:tav>
                                      </p:tavLst>
                                    </p:anim>
                                    <p:anim calcmode="lin" valueType="num">
                                      <p:cBhvr>
                                        <p:cTn id="100" dur="2000" fill="hold"/>
                                        <p:tgtEl>
                                          <p:spTgt spid="12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5"/>
                                            </p:cond>
                                          </p:stCondLst>
                                          <p:endCondLst>
                                            <p:cond evt="onStopAudio" delay="0">
                                              <p:tgtEl>
                                                <p:sldTgt/>
                                              </p:tgtEl>
                                            </p:cond>
                                          </p:endCondLst>
                                        </p:cTn>
                                        <p:tgtEl>
                                          <p:sndTgt r:embed="rId4" name="LASER.WAV"/>
                                        </p:tgtEl>
                                      </p:cMediaNode>
                                    </p:audio>
                                  </p:subTnLst>
                                </p:cTn>
                              </p:par>
                            </p:childTnLst>
                          </p:cTn>
                        </p:par>
                        <p:par>
                          <p:cTn id="101" fill="hold">
                            <p:stCondLst>
                              <p:cond delay="12900"/>
                            </p:stCondLst>
                            <p:childTnLst>
                              <p:par>
                                <p:cTn id="102" presetID="18" presetClass="entr" presetSubtype="3" fill="hold" grpId="0" nodeType="afterEffect">
                                  <p:stCondLst>
                                    <p:cond delay="1000"/>
                                  </p:stCondLst>
                                  <p:childTnLst>
                                    <p:set>
                                      <p:cBhvr>
                                        <p:cTn id="103" dur="1" fill="hold">
                                          <p:stCondLst>
                                            <p:cond delay="0"/>
                                          </p:stCondLst>
                                        </p:cTn>
                                        <p:tgtEl>
                                          <p:spTgt spid="121"/>
                                        </p:tgtEl>
                                        <p:attrNameLst>
                                          <p:attrName>style.visibility</p:attrName>
                                        </p:attrNameLst>
                                      </p:cBhvr>
                                      <p:to>
                                        <p:strVal val="visible"/>
                                      </p:to>
                                    </p:set>
                                    <p:animEffect transition="in" filter="strips(upRight)">
                                      <p:cBhvr>
                                        <p:cTn id="104" dur="5000"/>
                                        <p:tgtEl>
                                          <p:spTgt spid="121"/>
                                        </p:tgtEl>
                                      </p:cBhvr>
                                    </p:animEffect>
                                  </p:childTnLst>
                                  <p:subTnLst>
                                    <p:audio>
                                      <p:cMediaNode>
                                        <p:cTn display="0" masterRel="sameClick">
                                          <p:stCondLst>
                                            <p:cond evt="begin" delay="0">
                                              <p:tn val="102"/>
                                            </p:cond>
                                          </p:stCondLst>
                                          <p:endCondLst>
                                            <p:cond evt="onStopAudio" delay="0">
                                              <p:tgtEl>
                                                <p:sldTgt/>
                                              </p:tgtEl>
                                            </p:cond>
                                          </p:endCondLst>
                                        </p:cTn>
                                        <p:tgtEl>
                                          <p:sndTgt r:embed="rId5" name="CHIMES.WAV"/>
                                        </p:tgtEl>
                                      </p:cMediaNode>
                                    </p:audio>
                                  </p:subTnLst>
                                </p:cTn>
                              </p:par>
                            </p:childTnLst>
                          </p:cTn>
                        </p:par>
                        <p:par>
                          <p:cTn id="105" fill="hold">
                            <p:stCondLst>
                              <p:cond delay="18900"/>
                            </p:stCondLst>
                            <p:childTnLst>
                              <p:par>
                                <p:cTn id="106" presetID="18" presetClass="entr" presetSubtype="6" fill="hold" grpId="0" nodeType="afterEffect">
                                  <p:stCondLst>
                                    <p:cond delay="0"/>
                                  </p:stCondLst>
                                  <p:childTnLst>
                                    <p:set>
                                      <p:cBhvr>
                                        <p:cTn id="107" dur="1" fill="hold">
                                          <p:stCondLst>
                                            <p:cond delay="0"/>
                                          </p:stCondLst>
                                        </p:cTn>
                                        <p:tgtEl>
                                          <p:spTgt spid="122"/>
                                        </p:tgtEl>
                                        <p:attrNameLst>
                                          <p:attrName>style.visibility</p:attrName>
                                        </p:attrNameLst>
                                      </p:cBhvr>
                                      <p:to>
                                        <p:strVal val="visible"/>
                                      </p:to>
                                    </p:set>
                                    <p:animEffect transition="in" filter="strips(downRight)">
                                      <p:cBhvr>
                                        <p:cTn id="108" dur="5000"/>
                                        <p:tgtEl>
                                          <p:spTgt spid="122"/>
                                        </p:tgtEl>
                                      </p:cBhvr>
                                    </p:animEffect>
                                  </p:childTnLst>
                                  <p:subTnLst>
                                    <p:audio>
                                      <p:cMediaNode>
                                        <p:cTn display="0" masterRel="sameClick">
                                          <p:stCondLst>
                                            <p:cond evt="begin" delay="0">
                                              <p:tn val="106"/>
                                            </p:cond>
                                          </p:stCondLst>
                                          <p:endCondLst>
                                            <p:cond evt="onStopAudio" delay="0">
                                              <p:tgtEl>
                                                <p:sldTgt/>
                                              </p:tgtEl>
                                            </p:cond>
                                          </p:endCondLst>
                                        </p:cTn>
                                        <p:tgtEl>
                                          <p:sndTgt r:embed="rId5" name="CHIMES.WAV"/>
                                        </p:tgtEl>
                                      </p:cMediaNode>
                                    </p:audio>
                                  </p:subTnLst>
                                </p:cTn>
                              </p:par>
                            </p:childTnLst>
                          </p:cTn>
                        </p:par>
                        <p:par>
                          <p:cTn id="109" fill="hold">
                            <p:stCondLst>
                              <p:cond delay="23900"/>
                            </p:stCondLst>
                            <p:childTnLst>
                              <p:par>
                                <p:cTn id="110" presetID="18" presetClass="entr" presetSubtype="3" fill="hold" grpId="0" nodeType="afterEffect">
                                  <p:stCondLst>
                                    <p:cond delay="0"/>
                                  </p:stCondLst>
                                  <p:childTnLst>
                                    <p:set>
                                      <p:cBhvr>
                                        <p:cTn id="111" dur="1" fill="hold">
                                          <p:stCondLst>
                                            <p:cond delay="0"/>
                                          </p:stCondLst>
                                        </p:cTn>
                                        <p:tgtEl>
                                          <p:spTgt spid="164"/>
                                        </p:tgtEl>
                                        <p:attrNameLst>
                                          <p:attrName>style.visibility</p:attrName>
                                        </p:attrNameLst>
                                      </p:cBhvr>
                                      <p:to>
                                        <p:strVal val="visible"/>
                                      </p:to>
                                    </p:set>
                                    <p:animEffect transition="in" filter="strips(upRight)">
                                      <p:cBhvr>
                                        <p:cTn id="112" dur="5000"/>
                                        <p:tgtEl>
                                          <p:spTgt spid="164"/>
                                        </p:tgtEl>
                                      </p:cBhvr>
                                    </p:animEffect>
                                  </p:childTnLst>
                                  <p:subTnLst>
                                    <p:audio>
                                      <p:cMediaNode>
                                        <p:cTn display="0" masterRel="sameClick">
                                          <p:stCondLst>
                                            <p:cond evt="begin" delay="0">
                                              <p:tn val="110"/>
                                            </p:cond>
                                          </p:stCondLst>
                                          <p:endCondLst>
                                            <p:cond evt="onStopAudio" delay="0">
                                              <p:tgtEl>
                                                <p:sldTgt/>
                                              </p:tgtEl>
                                            </p:cond>
                                          </p:endCondLst>
                                        </p:cTn>
                                        <p:tgtEl>
                                          <p:sndTgt r:embed="rId5" name="CHIMES.WAV"/>
                                        </p:tgtEl>
                                      </p:cMediaNode>
                                    </p:audio>
                                  </p:subTnLst>
                                </p:cTn>
                              </p:par>
                            </p:childTnLst>
                          </p:cTn>
                        </p:par>
                        <p:par>
                          <p:cTn id="113" fill="hold">
                            <p:stCondLst>
                              <p:cond delay="28900"/>
                            </p:stCondLst>
                            <p:childTnLst>
                              <p:par>
                                <p:cTn id="114" presetID="22" presetClass="entr" presetSubtype="8" fill="hold" grpId="0" nodeType="afterEffect">
                                  <p:stCondLst>
                                    <p:cond delay="0"/>
                                  </p:stCondLst>
                                  <p:childTnLst>
                                    <p:set>
                                      <p:cBhvr>
                                        <p:cTn id="115" dur="1" fill="hold">
                                          <p:stCondLst>
                                            <p:cond delay="0"/>
                                          </p:stCondLst>
                                        </p:cTn>
                                        <p:tgtEl>
                                          <p:spTgt spid="117"/>
                                        </p:tgtEl>
                                        <p:attrNameLst>
                                          <p:attrName>style.visibility</p:attrName>
                                        </p:attrNameLst>
                                      </p:cBhvr>
                                      <p:to>
                                        <p:strVal val="visible"/>
                                      </p:to>
                                    </p:set>
                                    <p:animEffect transition="in" filter="wipe(left)">
                                      <p:cBhvr>
                                        <p:cTn id="116" dur="5000"/>
                                        <p:tgtEl>
                                          <p:spTgt spid="117"/>
                                        </p:tgtEl>
                                      </p:cBhvr>
                                    </p:animEffect>
                                  </p:childTnLst>
                                  <p:subTnLst>
                                    <p:audio>
                                      <p:cMediaNode>
                                        <p:cTn display="0" masterRel="sameClick">
                                          <p:stCondLst>
                                            <p:cond evt="begin" delay="0">
                                              <p:tn val="114"/>
                                            </p:cond>
                                          </p:stCondLst>
                                          <p:endCondLst>
                                            <p:cond evt="onStopAudio" delay="0">
                                              <p:tgtEl>
                                                <p:sldTgt/>
                                              </p:tgtEl>
                                            </p:cond>
                                          </p:endCondLst>
                                        </p:cTn>
                                        <p:tgtEl>
                                          <p:sndTgt r:embed="rId3" name="CAMERA.WAV"/>
                                        </p:tgtEl>
                                      </p:cMediaNode>
                                    </p:audio>
                                  </p:subTnLst>
                                </p:cTn>
                              </p:par>
                            </p:childTnLst>
                          </p:cTn>
                        </p:par>
                        <p:par>
                          <p:cTn id="117" fill="hold">
                            <p:stCondLst>
                              <p:cond delay="33900"/>
                            </p:stCondLst>
                            <p:childTnLst>
                              <p:par>
                                <p:cTn id="118" presetID="15" presetClass="entr" presetSubtype="0" fill="hold" nodeType="afterEffect">
                                  <p:stCondLst>
                                    <p:cond delay="300"/>
                                  </p:stCondLst>
                                  <p:childTnLst>
                                    <p:set>
                                      <p:cBhvr>
                                        <p:cTn id="119" dur="1" fill="hold">
                                          <p:stCondLst>
                                            <p:cond delay="0"/>
                                          </p:stCondLst>
                                        </p:cTn>
                                        <p:tgtEl>
                                          <p:spTgt spid="124"/>
                                        </p:tgtEl>
                                        <p:attrNameLst>
                                          <p:attrName>style.visibility</p:attrName>
                                        </p:attrNameLst>
                                      </p:cBhvr>
                                      <p:to>
                                        <p:strVal val="visible"/>
                                      </p:to>
                                    </p:set>
                                    <p:anim calcmode="lin" valueType="num">
                                      <p:cBhvr>
                                        <p:cTn id="120" dur="2000" fill="hold"/>
                                        <p:tgtEl>
                                          <p:spTgt spid="124"/>
                                        </p:tgtEl>
                                        <p:attrNameLst>
                                          <p:attrName>ppt_w</p:attrName>
                                        </p:attrNameLst>
                                      </p:cBhvr>
                                      <p:tavLst>
                                        <p:tav tm="0">
                                          <p:val>
                                            <p:fltVal val="0"/>
                                          </p:val>
                                        </p:tav>
                                        <p:tav tm="100000">
                                          <p:val>
                                            <p:strVal val="#ppt_w"/>
                                          </p:val>
                                        </p:tav>
                                      </p:tavLst>
                                    </p:anim>
                                    <p:anim calcmode="lin" valueType="num">
                                      <p:cBhvr>
                                        <p:cTn id="121" dur="2000" fill="hold"/>
                                        <p:tgtEl>
                                          <p:spTgt spid="124"/>
                                        </p:tgtEl>
                                        <p:attrNameLst>
                                          <p:attrName>ppt_h</p:attrName>
                                        </p:attrNameLst>
                                      </p:cBhvr>
                                      <p:tavLst>
                                        <p:tav tm="0">
                                          <p:val>
                                            <p:fltVal val="0"/>
                                          </p:val>
                                        </p:tav>
                                        <p:tav tm="100000">
                                          <p:val>
                                            <p:strVal val="#ppt_h"/>
                                          </p:val>
                                        </p:tav>
                                      </p:tavLst>
                                    </p:anim>
                                    <p:anim calcmode="lin" valueType="num">
                                      <p:cBhvr>
                                        <p:cTn id="122" dur="2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23" dur="2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8"/>
                                            </p:cond>
                                          </p:stCondLst>
                                          <p:endCondLst>
                                            <p:cond evt="onStopAudio" delay="0">
                                              <p:tgtEl>
                                                <p:sldTgt/>
                                              </p:tgtEl>
                                            </p:cond>
                                          </p:endCondLst>
                                        </p:cTn>
                                        <p:tgtEl>
                                          <p:sndTgt r:embed="rId4" name="LASER.WAV"/>
                                        </p:tgtEl>
                                      </p:cMediaNode>
                                    </p:audio>
                                  </p:subTnLst>
                                </p:cTn>
                              </p:par>
                            </p:childTnLst>
                          </p:cTn>
                        </p:par>
                        <p:par>
                          <p:cTn id="124" fill="hold">
                            <p:stCondLst>
                              <p:cond delay="36200"/>
                            </p:stCondLst>
                            <p:childTnLst>
                              <p:par>
                                <p:cTn id="125" presetID="15" presetClass="entr" presetSubtype="0" fill="hold" nodeType="afterEffect">
                                  <p:stCondLst>
                                    <p:cond delay="0"/>
                                  </p:stCondLst>
                                  <p:childTnLst>
                                    <p:set>
                                      <p:cBhvr>
                                        <p:cTn id="126" dur="1" fill="hold">
                                          <p:stCondLst>
                                            <p:cond delay="0"/>
                                          </p:stCondLst>
                                        </p:cTn>
                                        <p:tgtEl>
                                          <p:spTgt spid="130"/>
                                        </p:tgtEl>
                                        <p:attrNameLst>
                                          <p:attrName>style.visibility</p:attrName>
                                        </p:attrNameLst>
                                      </p:cBhvr>
                                      <p:to>
                                        <p:strVal val="visible"/>
                                      </p:to>
                                    </p:set>
                                    <p:anim calcmode="lin" valueType="num">
                                      <p:cBhvr>
                                        <p:cTn id="127" dur="2000" fill="hold"/>
                                        <p:tgtEl>
                                          <p:spTgt spid="130"/>
                                        </p:tgtEl>
                                        <p:attrNameLst>
                                          <p:attrName>ppt_w</p:attrName>
                                        </p:attrNameLst>
                                      </p:cBhvr>
                                      <p:tavLst>
                                        <p:tav tm="0">
                                          <p:val>
                                            <p:fltVal val="0"/>
                                          </p:val>
                                        </p:tav>
                                        <p:tav tm="100000">
                                          <p:val>
                                            <p:strVal val="#ppt_w"/>
                                          </p:val>
                                        </p:tav>
                                      </p:tavLst>
                                    </p:anim>
                                    <p:anim calcmode="lin" valueType="num">
                                      <p:cBhvr>
                                        <p:cTn id="128" dur="2000" fill="hold"/>
                                        <p:tgtEl>
                                          <p:spTgt spid="130"/>
                                        </p:tgtEl>
                                        <p:attrNameLst>
                                          <p:attrName>ppt_h</p:attrName>
                                        </p:attrNameLst>
                                      </p:cBhvr>
                                      <p:tavLst>
                                        <p:tav tm="0">
                                          <p:val>
                                            <p:fltVal val="0"/>
                                          </p:val>
                                        </p:tav>
                                        <p:tav tm="100000">
                                          <p:val>
                                            <p:strVal val="#ppt_h"/>
                                          </p:val>
                                        </p:tav>
                                      </p:tavLst>
                                    </p:anim>
                                    <p:anim calcmode="lin" valueType="num">
                                      <p:cBhvr>
                                        <p:cTn id="129" dur="2000" fill="hold"/>
                                        <p:tgtEl>
                                          <p:spTgt spid="130"/>
                                        </p:tgtEl>
                                        <p:attrNameLst>
                                          <p:attrName>ppt_x</p:attrName>
                                        </p:attrNameLst>
                                      </p:cBhvr>
                                      <p:tavLst>
                                        <p:tav tm="0" fmla="#ppt_x+(cos(-2*pi*(1-$))*-#ppt_x-sin(-2*pi*(1-$))*(1-#ppt_y))*(1-$)">
                                          <p:val>
                                            <p:fltVal val="0"/>
                                          </p:val>
                                        </p:tav>
                                        <p:tav tm="100000">
                                          <p:val>
                                            <p:fltVal val="1"/>
                                          </p:val>
                                        </p:tav>
                                      </p:tavLst>
                                    </p:anim>
                                    <p:anim calcmode="lin" valueType="num">
                                      <p:cBhvr>
                                        <p:cTn id="130" dur="2000" fill="hold"/>
                                        <p:tgtEl>
                                          <p:spTgt spid="13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5"/>
                                            </p:cond>
                                          </p:stCondLst>
                                          <p:endCondLst>
                                            <p:cond evt="onStopAudio" delay="0">
                                              <p:tgtEl>
                                                <p:sldTgt/>
                                              </p:tgtEl>
                                            </p:cond>
                                          </p:endCondLst>
                                        </p:cTn>
                                        <p:tgtEl>
                                          <p:sndTgt r:embed="rId4" name="LASER.WAV"/>
                                        </p:tgtEl>
                                      </p:cMediaNode>
                                    </p:audio>
                                  </p:sub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6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6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5" grpId="0"/>
      <p:bldP spid="117" grpId="0" animBg="1"/>
      <p:bldP spid="118" grpId="0" autoUpdateAnimBg="0"/>
      <p:bldP spid="119" grpId="0" autoUpdateAnimBg="0"/>
      <p:bldP spid="120" grpId="0" autoUpdateAnimBg="0"/>
      <p:bldP spid="121" grpId="0" animBg="1"/>
      <p:bldP spid="122" grpId="0" animBg="1"/>
      <p:bldP spid="123" grpId="0" autoUpdateAnimBg="0"/>
      <p:bldP spid="127" grpId="0" animBg="1"/>
      <p:bldP spid="128" grpId="0" animBg="1"/>
      <p:bldP spid="129" grpId="0" animBg="1"/>
      <p:bldP spid="157" grpId="0" animBg="1"/>
      <p:bldP spid="158" grpId="0" animBg="1"/>
      <p:bldP spid="160" grpId="0" animBg="1"/>
      <p:bldP spid="162" grpId="0" autoUpdateAnimBg="0"/>
      <p:bldP spid="163" grpId="0" animBg="1"/>
      <p:bldP spid="164" grpId="0" animBg="1"/>
      <p:bldP spid="165" grpId="0" animBg="1"/>
      <p:bldP spid="166" grpId="0"/>
      <p:bldP spid="167" grpId="0"/>
      <p:bldP spid="8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812781" cy="978729"/>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   </a:t>
            </a:r>
            <a:r>
              <a:rPr kumimoji="1" lang="zh-CN" altLang="en-US" i="0" dirty="0">
                <a:solidFill>
                  <a:schemeClr val="tx1"/>
                </a:solidFill>
                <a:ea typeface="黑体" panose="02010609060101010101" pitchFamily="49" charset="-122"/>
              </a:rPr>
              <a:t>图示为简支梁。材料的许用正应力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]=140MPa</a:t>
            </a:r>
            <a:r>
              <a:rPr kumimoji="1" lang="zh-CN" altLang="en-US" i="0" dirty="0">
                <a:solidFill>
                  <a:schemeClr val="tx1"/>
                </a:solidFill>
                <a:ea typeface="黑体" panose="02010609060101010101" pitchFamily="49" charset="-122"/>
              </a:rPr>
              <a:t>，许用切应力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]=80MPa</a:t>
            </a:r>
            <a:r>
              <a:rPr kumimoji="1" lang="zh-CN" altLang="en-US" i="0" dirty="0">
                <a:solidFill>
                  <a:schemeClr val="tx1"/>
                </a:solidFill>
                <a:ea typeface="黑体" panose="02010609060101010101" pitchFamily="49" charset="-122"/>
              </a:rPr>
              <a:t>。试选合适的工字钢型号。</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1836860"/>
            <a:ext cx="6813453" cy="1532727"/>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由静力平衡方程求出梁的支反力</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=54kN</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=6kN</a:t>
            </a:r>
            <a:r>
              <a:rPr kumimoji="1" lang="zh-CN" altLang="en-US" i="0" dirty="0">
                <a:solidFill>
                  <a:schemeClr val="tx1"/>
                </a:solidFill>
                <a:ea typeface="黑体" panose="02010609060101010101" pitchFamily="49" charset="-122"/>
              </a:rPr>
              <a:t>，并作剪力图和弯矩图</a:t>
            </a:r>
            <a:endParaRPr kumimoji="1" lang="en-US" altLang="zh-CN" i="0" dirty="0">
              <a:solidFill>
                <a:schemeClr val="tx1"/>
              </a:solidFill>
              <a:ea typeface="黑体" panose="02010609060101010101" pitchFamily="49" charset="-122"/>
            </a:endParaRPr>
          </a:p>
          <a:p>
            <a:pPr>
              <a:lnSpc>
                <a:spcPct val="130000"/>
              </a:lnSpc>
            </a:pPr>
            <a:r>
              <a:rPr lang="zh-CN" altLang="en-US" i="0" dirty="0">
                <a:solidFill>
                  <a:schemeClr val="tx1"/>
                </a:solidFill>
                <a:latin typeface="+mn-lt"/>
                <a:ea typeface="黑体" panose="02010609060101010101" pitchFamily="49" charset="-122"/>
              </a:rPr>
              <a:t>         </a:t>
            </a:r>
            <a:r>
              <a:rPr lang="en-US" altLang="zh-CN"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得</a:t>
            </a:r>
            <a:r>
              <a:rPr lang="en-US" altLang="zh-CN" b="0" dirty="0" err="1">
                <a:solidFill>
                  <a:schemeClr val="tx1"/>
                </a:solidFill>
                <a:latin typeface="+mn-lt"/>
                <a:ea typeface="黑体" panose="02010609060101010101" pitchFamily="49" charset="-122"/>
              </a:rPr>
              <a:t>F</a:t>
            </a:r>
            <a:r>
              <a:rPr lang="en-US" altLang="zh-CN" b="0" i="0" baseline="-25000" dirty="0" err="1">
                <a:solidFill>
                  <a:schemeClr val="tx1"/>
                </a:solidFill>
                <a:latin typeface="+mn-lt"/>
                <a:ea typeface="黑体" panose="02010609060101010101" pitchFamily="49" charset="-122"/>
              </a:rPr>
              <a:t>Qmax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54kN</a:t>
            </a:r>
            <a:r>
              <a:rPr lang="zh-CN" altLang="en-US" i="0" dirty="0">
                <a:solidFill>
                  <a:schemeClr val="tx1"/>
                </a:solidFill>
                <a:latin typeface="+mn-lt"/>
                <a:ea typeface="黑体" panose="02010609060101010101" pitchFamily="49" charset="-122"/>
              </a:rPr>
              <a:t>，</a:t>
            </a:r>
            <a:r>
              <a:rPr lang="en-US" altLang="zh-CN" b="0" dirty="0" err="1">
                <a:solidFill>
                  <a:schemeClr val="tx1"/>
                </a:solidFill>
                <a:latin typeface="+mn-lt"/>
                <a:ea typeface="黑体" panose="02010609060101010101" pitchFamily="49" charset="-122"/>
              </a:rPr>
              <a:t>M</a:t>
            </a:r>
            <a:r>
              <a:rPr lang="en-US" altLang="zh-CN" b="0" i="0" baseline="-25000" dirty="0" err="1">
                <a:solidFill>
                  <a:schemeClr val="tx1"/>
                </a:solidFill>
                <a:latin typeface="+mn-lt"/>
                <a:ea typeface="黑体" panose="02010609060101010101" pitchFamily="49" charset="-122"/>
              </a:rPr>
              <a:t>max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10.8kN·m</a:t>
            </a:r>
            <a:r>
              <a:rPr lang="en-US" altLang="zh-CN" i="0" dirty="0">
                <a:solidFill>
                  <a:schemeClr val="tx1"/>
                </a:solidFill>
                <a:latin typeface="+mn-lt"/>
                <a:ea typeface="黑体" panose="02010609060101010101" pitchFamily="49" charset="-122"/>
              </a:rPr>
              <a:t>. </a:t>
            </a:r>
            <a:endParaRPr kumimoji="1" lang="zh-CN" altLang="en-US"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210498" y="919582"/>
            <a:ext cx="3862165" cy="5299572"/>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3" y="3318837"/>
            <a:ext cx="8110443" cy="2012859"/>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选择工字钢型号。由正应力强度条件得</a:t>
            </a:r>
            <a:endParaRPr kumimoji="1" lang="en-US" altLang="zh-CN" i="0" dirty="0">
              <a:solidFill>
                <a:schemeClr val="tx1"/>
              </a:solidFill>
              <a:ea typeface="黑体" panose="02010609060101010101" pitchFamily="49" charset="-122"/>
            </a:endParaRPr>
          </a:p>
          <a:p>
            <a:pPr>
              <a:lnSpc>
                <a:spcPct val="130000"/>
              </a:lnSpc>
            </a:pPr>
            <a:r>
              <a:rPr kumimoji="1" lang="en-US" altLang="zh-CN"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l-GR"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a:t>
            </a:r>
            <a:r>
              <a:rPr kumimoji="1" lang="el-GR" altLang="zh-CN" b="0" i="0" dirty="0">
                <a:solidFill>
                  <a:schemeClr val="tx1"/>
                </a:solidFill>
                <a:ea typeface="黑体" panose="02010609060101010101" pitchFamily="49" charset="-122"/>
              </a:rPr>
              <a:t>[</a:t>
            </a:r>
            <a:r>
              <a:rPr kumimoji="1" lang="el-GR" altLang="zh-CN" b="0" dirty="0">
                <a:solidFill>
                  <a:schemeClr val="tx1"/>
                </a:solidFill>
                <a:ea typeface="黑体" panose="02010609060101010101" pitchFamily="49" charset="-122"/>
                <a:sym typeface="Symbol" panose="05050102010706020507" pitchFamily="18" charset="2"/>
              </a:rPr>
              <a:t></a:t>
            </a:r>
            <a:r>
              <a:rPr kumimoji="1" lang="el-GR" altLang="zh-CN"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=77.1</a:t>
            </a:r>
            <a:r>
              <a:rPr kumimoji="1" lang="el-GR" altLang="zh-CN" b="0" i="0" dirty="0">
                <a:solidFill>
                  <a:schemeClr val="tx1"/>
                </a:solidFill>
                <a:sym typeface="Symbol" panose="05050102010706020507" pitchFamily="18" charset="2"/>
              </a:rPr>
              <a:t></a:t>
            </a:r>
            <a:r>
              <a:rPr kumimoji="1" lang="en-US" altLang="zh-CN" b="0" i="0" dirty="0">
                <a:solidFill>
                  <a:schemeClr val="tx1"/>
                </a:solidFill>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rPr>
              <a:t>mm</a:t>
            </a:r>
            <a:r>
              <a:rPr kumimoji="1" lang="en-US" altLang="zh-CN" b="0" i="0" baseline="30000" dirty="0">
                <a:solidFill>
                  <a:schemeClr val="tx1"/>
                </a:solidFill>
                <a:ea typeface="黑体" panose="02010609060101010101" pitchFamily="49" charset="-122"/>
              </a:rPr>
              <a:t>3</a:t>
            </a:r>
            <a:endParaRPr kumimoji="1" lang="el-GR" altLang="zh-CN" b="0" i="0" baseline="30000" dirty="0">
              <a:solidFill>
                <a:schemeClr val="tx1"/>
              </a:solidFill>
              <a:ea typeface="黑体" panose="02010609060101010101" pitchFamily="49" charset="-122"/>
            </a:endParaRPr>
          </a:p>
          <a:p>
            <a:pPr lvl="0">
              <a:lnSpc>
                <a:spcPct val="130000"/>
              </a:lnSpc>
            </a:pPr>
            <a:r>
              <a:rPr kumimoji="1" lang="en-US" altLang="zh-CN" i="0" dirty="0">
                <a:solidFill>
                  <a:schemeClr val="tx1"/>
                </a:solidFill>
                <a:ea typeface="黑体" panose="02010609060101010101" pitchFamily="49" charset="-122"/>
              </a:rPr>
              <a:t>            </a:t>
            </a:r>
            <a:r>
              <a:rPr kumimoji="1" lang="zh-CN" altLang="el-GR" i="0" dirty="0">
                <a:solidFill>
                  <a:schemeClr val="tx1"/>
                </a:solidFill>
                <a:ea typeface="黑体" panose="02010609060101010101" pitchFamily="49" charset="-122"/>
              </a:rPr>
              <a:t>查型钢表，选用</a:t>
            </a:r>
            <a:r>
              <a:rPr kumimoji="1" lang="en-US" altLang="zh-CN" i="0" dirty="0">
                <a:solidFill>
                  <a:schemeClr val="tx1"/>
                </a:solidFill>
                <a:ea typeface="黑体" panose="02010609060101010101" pitchFamily="49" charset="-122"/>
              </a:rPr>
              <a:t>12.6</a:t>
            </a:r>
            <a:r>
              <a:rPr kumimoji="1" lang="zh-CN" altLang="en-US" i="0" dirty="0">
                <a:solidFill>
                  <a:schemeClr val="tx1"/>
                </a:solidFill>
                <a:ea typeface="黑体" panose="02010609060101010101" pitchFamily="49" charset="-122"/>
              </a:rPr>
              <a:t>号工字钢，</a:t>
            </a:r>
            <a:endParaRPr kumimoji="1" lang="en-US" altLang="zh-CN" i="0" dirty="0">
              <a:solidFill>
                <a:schemeClr val="tx1"/>
              </a:solidFill>
              <a:ea typeface="黑体" panose="02010609060101010101" pitchFamily="49" charset="-122"/>
            </a:endParaRP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=77.529</a:t>
            </a:r>
            <a:r>
              <a:rPr kumimoji="1" lang="el-GR"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mm</a:t>
            </a:r>
            <a:r>
              <a:rPr kumimoji="1" lang="en-US" altLang="zh-CN" b="0" i="0" baseline="30000" dirty="0">
                <a:solidFill>
                  <a:schemeClr val="tx1"/>
                </a:solidFill>
                <a:ea typeface="黑体" panose="02010609060101010101" pitchFamily="49" charset="-122"/>
              </a:rPr>
              <a:t>3</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a:t>
            </a:r>
            <a:r>
              <a:rPr kumimoji="1" lang="en-US" altLang="zh-CN" b="0" i="0" dirty="0">
                <a:solidFill>
                  <a:schemeClr val="tx1"/>
                </a:solidFill>
                <a:ea typeface="黑体" panose="02010609060101010101" pitchFamily="49" charset="-122"/>
              </a:rPr>
              <a:t>=126mm</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=8.4mm</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=5mm</a:t>
            </a:r>
            <a:r>
              <a:rPr kumimoji="1" lang="zh-CN" altLang="en-US" b="0" i="0" dirty="0">
                <a:solidFill>
                  <a:schemeClr val="tx1"/>
                </a:solidFill>
                <a:ea typeface="黑体" panose="02010609060101010101" pitchFamily="49" charset="-122"/>
              </a:rPr>
              <a:t>。</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80" name="Group 51"/>
          <p:cNvGrpSpPr>
            <a:grpSpLocks/>
          </p:cNvGrpSpPr>
          <p:nvPr/>
        </p:nvGrpSpPr>
        <p:grpSpPr bwMode="auto">
          <a:xfrm>
            <a:off x="8372424" y="828004"/>
            <a:ext cx="3435350" cy="2144713"/>
            <a:chOff x="3596" y="0"/>
            <a:chExt cx="2164" cy="1351"/>
          </a:xfrm>
        </p:grpSpPr>
        <p:sp>
          <p:nvSpPr>
            <p:cNvPr id="81" name="Text Box 6"/>
            <p:cNvSpPr txBox="1">
              <a:spLocks noChangeAspect="1" noChangeArrowheads="1"/>
            </p:cNvSpPr>
            <p:nvPr/>
          </p:nvSpPr>
          <p:spPr bwMode="auto">
            <a:xfrm flipH="1">
              <a:off x="4574" y="95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2m</a:t>
              </a:r>
            </a:p>
          </p:txBody>
        </p:sp>
        <p:sp>
          <p:nvSpPr>
            <p:cNvPr id="82" name="Text Box 7"/>
            <p:cNvSpPr txBox="1">
              <a:spLocks noChangeAspect="1" noChangeArrowheads="1"/>
            </p:cNvSpPr>
            <p:nvPr/>
          </p:nvSpPr>
          <p:spPr bwMode="auto">
            <a:xfrm>
              <a:off x="3596" y="48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3" name="Text Box 8"/>
            <p:cNvSpPr txBox="1">
              <a:spLocks noChangeAspect="1" noChangeArrowheads="1"/>
            </p:cNvSpPr>
            <p:nvPr/>
          </p:nvSpPr>
          <p:spPr bwMode="auto">
            <a:xfrm>
              <a:off x="5467" y="49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84" name="Line 9"/>
            <p:cNvSpPr>
              <a:spLocks noChangeAspect="1" noChangeShapeType="1"/>
            </p:cNvSpPr>
            <p:nvPr/>
          </p:nvSpPr>
          <p:spPr bwMode="auto">
            <a:xfrm flipH="1">
              <a:off x="3817" y="388"/>
              <a:ext cx="0" cy="9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10"/>
            <p:cNvSpPr>
              <a:spLocks noChangeAspect="1" noChangeShapeType="1"/>
            </p:cNvSpPr>
            <p:nvPr/>
          </p:nvSpPr>
          <p:spPr bwMode="auto">
            <a:xfrm flipH="1">
              <a:off x="3817" y="123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11"/>
            <p:cNvSpPr>
              <a:spLocks noChangeAspect="1" noChangeShapeType="1"/>
            </p:cNvSpPr>
            <p:nvPr/>
          </p:nvSpPr>
          <p:spPr bwMode="auto">
            <a:xfrm flipH="1">
              <a:off x="5482" y="98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Freeform 12"/>
            <p:cNvSpPr>
              <a:spLocks noChangeAspect="1"/>
            </p:cNvSpPr>
            <p:nvPr/>
          </p:nvSpPr>
          <p:spPr bwMode="auto">
            <a:xfrm>
              <a:off x="3840" y="65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Text Box 13"/>
            <p:cNvSpPr txBox="1">
              <a:spLocks noChangeAspect="1" noChangeArrowheads="1"/>
            </p:cNvSpPr>
            <p:nvPr/>
          </p:nvSpPr>
          <p:spPr bwMode="auto">
            <a:xfrm>
              <a:off x="3954" y="0"/>
              <a:ext cx="58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60kN</a:t>
              </a:r>
              <a:endPar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89" name="Text Box 14"/>
            <p:cNvSpPr txBox="1">
              <a:spLocks noChangeAspect="1" noChangeArrowheads="1"/>
            </p:cNvSpPr>
            <p:nvPr/>
          </p:nvSpPr>
          <p:spPr bwMode="auto">
            <a:xfrm>
              <a:off x="3915" y="596"/>
              <a:ext cx="2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90" name="Line 18"/>
            <p:cNvSpPr>
              <a:spLocks noChangeAspect="1" noChangeShapeType="1"/>
            </p:cNvSpPr>
            <p:nvPr/>
          </p:nvSpPr>
          <p:spPr bwMode="auto">
            <a:xfrm flipH="1">
              <a:off x="3979" y="482"/>
              <a:ext cx="556" cy="0"/>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1" name="Text Box 21"/>
            <p:cNvSpPr txBox="1">
              <a:spLocks noChangeAspect="1" noChangeArrowheads="1"/>
            </p:cNvSpPr>
            <p:nvPr/>
          </p:nvSpPr>
          <p:spPr bwMode="auto">
            <a:xfrm flipH="1">
              <a:off x="4013" y="242"/>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0.2m</a:t>
              </a:r>
            </a:p>
          </p:txBody>
        </p:sp>
        <p:sp>
          <p:nvSpPr>
            <p:cNvPr id="93" name="Line 22"/>
            <p:cNvSpPr>
              <a:spLocks noChangeAspect="1" noChangeShapeType="1"/>
            </p:cNvSpPr>
            <p:nvPr/>
          </p:nvSpPr>
          <p:spPr bwMode="auto">
            <a:xfrm>
              <a:off x="3992" y="81"/>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94" name="Group 26"/>
            <p:cNvGrpSpPr>
              <a:grpSpLocks/>
            </p:cNvGrpSpPr>
            <p:nvPr/>
          </p:nvGrpSpPr>
          <p:grpSpPr bwMode="auto">
            <a:xfrm>
              <a:off x="3661" y="623"/>
              <a:ext cx="313" cy="330"/>
              <a:chOff x="1686" y="3521"/>
              <a:chExt cx="313" cy="330"/>
            </a:xfrm>
          </p:grpSpPr>
          <p:sp>
            <p:nvSpPr>
              <p:cNvPr id="174"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6"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7"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6" name="Group 31"/>
            <p:cNvGrpSpPr>
              <a:grpSpLocks/>
            </p:cNvGrpSpPr>
            <p:nvPr/>
          </p:nvGrpSpPr>
          <p:grpSpPr bwMode="auto">
            <a:xfrm>
              <a:off x="5326" y="622"/>
              <a:ext cx="311" cy="358"/>
              <a:chOff x="3499" y="3511"/>
              <a:chExt cx="311" cy="358"/>
            </a:xfrm>
          </p:grpSpPr>
          <p:sp>
            <p:nvSpPr>
              <p:cNvPr id="169"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0"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1"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2"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3"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8" name="Line 50"/>
            <p:cNvSpPr>
              <a:spLocks noChangeAspect="1" noChangeShapeType="1"/>
            </p:cNvSpPr>
            <p:nvPr/>
          </p:nvSpPr>
          <p:spPr bwMode="auto">
            <a:xfrm flipH="1">
              <a:off x="3817" y="477"/>
              <a:ext cx="168" cy="1"/>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8" name="Text Box 52"/>
          <p:cNvSpPr txBox="1">
            <a:spLocks noChangeAspect="1" noChangeArrowheads="1"/>
          </p:cNvSpPr>
          <p:nvPr/>
        </p:nvSpPr>
        <p:spPr bwMode="auto">
          <a:xfrm flipH="1">
            <a:off x="11293424" y="583021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79" name="Line 53"/>
          <p:cNvSpPr>
            <a:spLocks noChangeShapeType="1"/>
          </p:cNvSpPr>
          <p:nvPr/>
        </p:nvSpPr>
        <p:spPr bwMode="auto">
          <a:xfrm rot="16200000">
            <a:off x="8116043" y="5359523"/>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0" name="Text Box 54"/>
          <p:cNvSpPr txBox="1">
            <a:spLocks noChangeAspect="1" noChangeArrowheads="1"/>
          </p:cNvSpPr>
          <p:nvPr/>
        </p:nvSpPr>
        <p:spPr bwMode="auto">
          <a:xfrm flipH="1">
            <a:off x="8675637" y="46475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1" name="Text Box 56"/>
          <p:cNvSpPr txBox="1">
            <a:spLocks noChangeAspect="1" noChangeArrowheads="1"/>
          </p:cNvSpPr>
          <p:nvPr/>
        </p:nvSpPr>
        <p:spPr bwMode="auto">
          <a:xfrm flipH="1">
            <a:off x="8210499" y="28441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82" name="Text Box 58"/>
          <p:cNvSpPr txBox="1">
            <a:spLocks noChangeAspect="1" noChangeArrowheads="1"/>
          </p:cNvSpPr>
          <p:nvPr/>
        </p:nvSpPr>
        <p:spPr bwMode="auto">
          <a:xfrm>
            <a:off x="8296224" y="5646067"/>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83" name="AutoShape 59" descr="浅色竖线"/>
          <p:cNvSpPr>
            <a:spLocks noChangeArrowheads="1"/>
          </p:cNvSpPr>
          <p:nvPr/>
        </p:nvSpPr>
        <p:spPr bwMode="auto">
          <a:xfrm>
            <a:off x="8705799" y="5439692"/>
            <a:ext cx="2703513" cy="496887"/>
          </a:xfrm>
          <a:prstGeom prst="triangle">
            <a:avLst>
              <a:gd name="adj" fmla="val 15560"/>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4" name="Rectangle 60" descr="浅色竖线"/>
          <p:cNvSpPr>
            <a:spLocks noChangeArrowheads="1"/>
          </p:cNvSpPr>
          <p:nvPr/>
        </p:nvSpPr>
        <p:spPr bwMode="auto">
          <a:xfrm>
            <a:off x="9075687" y="4063329"/>
            <a:ext cx="2292350" cy="20002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5" name="Rectangle 61" descr="浅色竖线"/>
          <p:cNvSpPr>
            <a:spLocks noChangeArrowheads="1"/>
          </p:cNvSpPr>
          <p:nvPr/>
        </p:nvSpPr>
        <p:spPr bwMode="auto">
          <a:xfrm>
            <a:off x="8704212" y="3193379"/>
            <a:ext cx="360362" cy="86677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86" name="Group 63"/>
          <p:cNvGrpSpPr>
            <a:grpSpLocks/>
          </p:cNvGrpSpPr>
          <p:nvPr/>
        </p:nvGrpSpPr>
        <p:grpSpPr bwMode="auto">
          <a:xfrm>
            <a:off x="10144074" y="3964904"/>
            <a:ext cx="438150" cy="360363"/>
            <a:chOff x="4503" y="2280"/>
            <a:chExt cx="269" cy="231"/>
          </a:xfrm>
        </p:grpSpPr>
        <p:sp>
          <p:nvSpPr>
            <p:cNvPr id="18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15000"/>
                </a:lnSpc>
                <a:spcBef>
                  <a:spcPts val="0"/>
                </a:spcBef>
                <a:spcAft>
                  <a:spcPts val="0"/>
                </a:spcAft>
                <a:buClrTx/>
                <a:buSzTx/>
                <a:buFontTx/>
                <a:buNone/>
                <a:tabLst/>
                <a:defRPr/>
              </a:pPr>
              <a:r>
                <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a:t>
              </a:r>
            </a:p>
          </p:txBody>
        </p:sp>
      </p:grpSp>
      <p:sp>
        <p:nvSpPr>
          <p:cNvPr id="189" name="Text Box 66"/>
          <p:cNvSpPr txBox="1">
            <a:spLocks noChangeAspect="1" noChangeArrowheads="1"/>
          </p:cNvSpPr>
          <p:nvPr/>
        </p:nvSpPr>
        <p:spPr bwMode="auto">
          <a:xfrm>
            <a:off x="9051874" y="2999704"/>
            <a:ext cx="8715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54kN</a:t>
            </a:r>
          </a:p>
        </p:txBody>
      </p:sp>
      <p:grpSp>
        <p:nvGrpSpPr>
          <p:cNvPr id="190" name="Group 72"/>
          <p:cNvGrpSpPr>
            <a:grpSpLocks/>
          </p:cNvGrpSpPr>
          <p:nvPr/>
        </p:nvGrpSpPr>
        <p:grpSpPr bwMode="auto">
          <a:xfrm>
            <a:off x="9242374" y="5474617"/>
            <a:ext cx="592138" cy="523875"/>
            <a:chOff x="3767" y="1607"/>
            <a:chExt cx="373" cy="330"/>
          </a:xfrm>
        </p:grpSpPr>
        <p:sp>
          <p:nvSpPr>
            <p:cNvPr id="191" name="Oval 7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2" name="Text Box 7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pSp>
        <p:nvGrpSpPr>
          <p:cNvPr id="193" name="Group 77"/>
          <p:cNvGrpSpPr>
            <a:grpSpLocks/>
          </p:cNvGrpSpPr>
          <p:nvPr/>
        </p:nvGrpSpPr>
        <p:grpSpPr bwMode="auto">
          <a:xfrm>
            <a:off x="8605787" y="3266404"/>
            <a:ext cx="592137" cy="523875"/>
            <a:chOff x="3767" y="1607"/>
            <a:chExt cx="373" cy="330"/>
          </a:xfrm>
        </p:grpSpPr>
        <p:sp>
          <p:nvSpPr>
            <p:cNvPr id="194" name="Oval 7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Text Box 7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96" name="Line 81"/>
          <p:cNvSpPr>
            <a:spLocks noChangeShapeType="1"/>
          </p:cNvSpPr>
          <p:nvPr/>
        </p:nvSpPr>
        <p:spPr bwMode="auto">
          <a:xfrm>
            <a:off x="8685162" y="4066504"/>
            <a:ext cx="31226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7" name="Line 82"/>
          <p:cNvSpPr>
            <a:spLocks noChangeShapeType="1"/>
          </p:cNvSpPr>
          <p:nvPr/>
        </p:nvSpPr>
        <p:spPr bwMode="auto">
          <a:xfrm>
            <a:off x="8667699" y="5936579"/>
            <a:ext cx="297815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8" name="Line 55"/>
          <p:cNvSpPr>
            <a:spLocks noChangeShapeType="1"/>
          </p:cNvSpPr>
          <p:nvPr/>
        </p:nvSpPr>
        <p:spPr bwMode="auto">
          <a:xfrm rot="16200000">
            <a:off x="8120806" y="3514848"/>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9" name="Text Box 57"/>
          <p:cNvSpPr txBox="1">
            <a:spLocks noChangeAspect="1" noChangeArrowheads="1"/>
          </p:cNvSpPr>
          <p:nvPr/>
        </p:nvSpPr>
        <p:spPr bwMode="auto">
          <a:xfrm>
            <a:off x="8385124" y="3879179"/>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00" name="Text Box 83"/>
          <p:cNvSpPr txBox="1">
            <a:spLocks noChangeAspect="1" noChangeArrowheads="1"/>
          </p:cNvSpPr>
          <p:nvPr/>
        </p:nvSpPr>
        <p:spPr bwMode="auto">
          <a:xfrm flipH="1">
            <a:off x="11268024" y="392997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1" name="Text Box 84"/>
          <p:cNvSpPr txBox="1">
            <a:spLocks noChangeAspect="1" noChangeArrowheads="1"/>
          </p:cNvSpPr>
          <p:nvPr/>
        </p:nvSpPr>
        <p:spPr bwMode="auto">
          <a:xfrm>
            <a:off x="9644012" y="4198267"/>
            <a:ext cx="87153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6kN</a:t>
            </a:r>
          </a:p>
        </p:txBody>
      </p:sp>
      <p:sp>
        <p:nvSpPr>
          <p:cNvPr id="202" name="Rectangle 85"/>
          <p:cNvSpPr>
            <a:spLocks noChangeArrowheads="1"/>
          </p:cNvSpPr>
          <p:nvPr/>
        </p:nvSpPr>
        <p:spPr bwMode="auto">
          <a:xfrm>
            <a:off x="8883598" y="4980904"/>
            <a:ext cx="15341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10.8kN·m</a:t>
            </a:r>
          </a:p>
        </p:txBody>
      </p:sp>
      <p:sp>
        <p:nvSpPr>
          <p:cNvPr id="203" name="Text Box 86"/>
          <p:cNvSpPr txBox="1">
            <a:spLocks noChangeAspect="1" noChangeArrowheads="1"/>
          </p:cNvSpPr>
          <p:nvPr/>
        </p:nvSpPr>
        <p:spPr bwMode="auto">
          <a:xfrm>
            <a:off x="11344224" y="2399629"/>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B</a:t>
            </a:r>
          </a:p>
        </p:txBody>
      </p:sp>
      <p:sp>
        <p:nvSpPr>
          <p:cNvPr id="204" name="Text Box 87"/>
          <p:cNvSpPr txBox="1">
            <a:spLocks noChangeAspect="1" noChangeArrowheads="1"/>
          </p:cNvSpPr>
          <p:nvPr/>
        </p:nvSpPr>
        <p:spPr bwMode="auto">
          <a:xfrm>
            <a:off x="8697862" y="2337717"/>
            <a:ext cx="5810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A</a:t>
            </a:r>
          </a:p>
        </p:txBody>
      </p:sp>
      <p:sp>
        <p:nvSpPr>
          <p:cNvPr id="205" name="Line 88"/>
          <p:cNvSpPr>
            <a:spLocks noChangeAspect="1" noChangeShapeType="1"/>
          </p:cNvSpPr>
          <p:nvPr/>
        </p:nvSpPr>
        <p:spPr bwMode="auto">
          <a:xfrm flipV="1">
            <a:off x="8728024" y="1936079"/>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6" name="Line 89"/>
          <p:cNvSpPr>
            <a:spLocks noChangeAspect="1" noChangeShapeType="1"/>
          </p:cNvSpPr>
          <p:nvPr/>
        </p:nvSpPr>
        <p:spPr bwMode="auto">
          <a:xfrm flipV="1">
            <a:off x="11360099" y="1909092"/>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Tree>
    <p:extLst>
      <p:ext uri="{BB962C8B-B14F-4D97-AF65-F5344CB8AC3E}">
        <p14:creationId xmlns:p14="http://schemas.microsoft.com/office/powerpoint/2010/main" val="266202953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20" presetClass="entr" presetSubtype="0" fill="hold" nodeType="withEffect">
                                  <p:stCondLst>
                                    <p:cond delay="2000"/>
                                  </p:stCondLst>
                                  <p:childTnLst>
                                    <p:set>
                                      <p:cBhvr>
                                        <p:cTn id="12" dur="1" fill="hold">
                                          <p:stCondLst>
                                            <p:cond delay="0"/>
                                          </p:stCondLst>
                                        </p:cTn>
                                        <p:tgtEl>
                                          <p:spTgt spid="80"/>
                                        </p:tgtEl>
                                        <p:attrNameLst>
                                          <p:attrName>style.visibility</p:attrName>
                                        </p:attrNameLst>
                                      </p:cBhvr>
                                      <p:to>
                                        <p:strVal val="visible"/>
                                      </p:to>
                                    </p:set>
                                    <p:animEffect transition="in" filter="wedge">
                                      <p:cBhvr>
                                        <p:cTn id="13" dur="5000"/>
                                        <p:tgtEl>
                                          <p:spTgt spid="80"/>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06"/>
                                        </p:tgtEl>
                                        <p:attrNameLst>
                                          <p:attrName>style.visibility</p:attrName>
                                        </p:attrNameLst>
                                      </p:cBhvr>
                                      <p:to>
                                        <p:strVal val="visible"/>
                                      </p:to>
                                    </p:set>
                                    <p:animEffect transition="in" filter="slide(fromBottom)">
                                      <p:cBhvr>
                                        <p:cTn id="16" dur="3000"/>
                                        <p:tgtEl>
                                          <p:spTgt spid="206"/>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05"/>
                                        </p:tgtEl>
                                        <p:attrNameLst>
                                          <p:attrName>style.visibility</p:attrName>
                                        </p:attrNameLst>
                                      </p:cBhvr>
                                      <p:to>
                                        <p:strVal val="visible"/>
                                      </p:to>
                                    </p:set>
                                    <p:animEffect transition="in" filter="slide(fromBottom)">
                                      <p:cBhvr>
                                        <p:cTn id="19" dur="3000"/>
                                        <p:tgtEl>
                                          <p:spTgt spid="205"/>
                                        </p:tgtEl>
                                      </p:cBhvr>
                                    </p:animEffect>
                                  </p:childTnLst>
                                </p:cTn>
                              </p:par>
                              <p:par>
                                <p:cTn id="20" presetID="20" presetClass="entr" presetSubtype="0" fill="hold" grpId="0" nodeType="withEffect">
                                  <p:stCondLst>
                                    <p:cond delay="0"/>
                                  </p:stCondLst>
                                  <p:childTnLst>
                                    <p:set>
                                      <p:cBhvr>
                                        <p:cTn id="21" dur="1" fill="hold">
                                          <p:stCondLst>
                                            <p:cond delay="0"/>
                                          </p:stCondLst>
                                        </p:cTn>
                                        <p:tgtEl>
                                          <p:spTgt spid="204"/>
                                        </p:tgtEl>
                                        <p:attrNameLst>
                                          <p:attrName>style.visibility</p:attrName>
                                        </p:attrNameLst>
                                      </p:cBhvr>
                                      <p:to>
                                        <p:strVal val="visible"/>
                                      </p:to>
                                    </p:set>
                                    <p:animEffect transition="in" filter="wedge">
                                      <p:cBhvr>
                                        <p:cTn id="22" dur="2000"/>
                                        <p:tgtEl>
                                          <p:spTgt spid="204"/>
                                        </p:tgtEl>
                                      </p:cBhvr>
                                    </p:animEffect>
                                  </p:childTnLst>
                                </p:cTn>
                              </p:par>
                              <p:par>
                                <p:cTn id="23" presetID="20" presetClass="entr" presetSubtype="0" fill="hold" grpId="0" nodeType="withEffect">
                                  <p:stCondLst>
                                    <p:cond delay="0"/>
                                  </p:stCondLst>
                                  <p:childTnLst>
                                    <p:set>
                                      <p:cBhvr>
                                        <p:cTn id="24" dur="1" fill="hold">
                                          <p:stCondLst>
                                            <p:cond delay="0"/>
                                          </p:stCondLst>
                                        </p:cTn>
                                        <p:tgtEl>
                                          <p:spTgt spid="203"/>
                                        </p:tgtEl>
                                        <p:attrNameLst>
                                          <p:attrName>style.visibility</p:attrName>
                                        </p:attrNameLst>
                                      </p:cBhvr>
                                      <p:to>
                                        <p:strVal val="visible"/>
                                      </p:to>
                                    </p:set>
                                    <p:animEffect transition="in" filter="wedge">
                                      <p:cBhvr>
                                        <p:cTn id="25" dur="2000"/>
                                        <p:tgtEl>
                                          <p:spTgt spid="203"/>
                                        </p:tgtEl>
                                      </p:cBhvr>
                                    </p:animEffect>
                                  </p:childTnLst>
                                </p:cTn>
                              </p:par>
                              <p:par>
                                <p:cTn id="26" presetID="12" presetClass="entr" presetSubtype="8" fill="hold" grpId="0" nodeType="withEffect">
                                  <p:stCondLst>
                                    <p:cond delay="0"/>
                                  </p:stCondLst>
                                  <p:childTnLst>
                                    <p:set>
                                      <p:cBhvr>
                                        <p:cTn id="27" dur="1" fill="hold">
                                          <p:stCondLst>
                                            <p:cond delay="0"/>
                                          </p:stCondLst>
                                        </p:cTn>
                                        <p:tgtEl>
                                          <p:spTgt spid="197"/>
                                        </p:tgtEl>
                                        <p:attrNameLst>
                                          <p:attrName>style.visibility</p:attrName>
                                        </p:attrNameLst>
                                      </p:cBhvr>
                                      <p:to>
                                        <p:strVal val="visible"/>
                                      </p:to>
                                    </p:set>
                                    <p:animEffect transition="in" filter="slide(fromLeft)">
                                      <p:cBhvr>
                                        <p:cTn id="28" dur="5000"/>
                                        <p:tgtEl>
                                          <p:spTgt spid="197"/>
                                        </p:tgtEl>
                                      </p:cBhvr>
                                    </p:animEffect>
                                  </p:childTnLst>
                                </p:cTn>
                              </p:par>
                              <p:par>
                                <p:cTn id="29" presetID="19" presetClass="entr" presetSubtype="10" fill="hold" nodeType="withEffect">
                                  <p:stCondLst>
                                    <p:cond delay="500"/>
                                  </p:stCondLst>
                                  <p:childTnLst>
                                    <p:set>
                                      <p:cBhvr>
                                        <p:cTn id="30" dur="1" fill="hold">
                                          <p:stCondLst>
                                            <p:cond delay="0"/>
                                          </p:stCondLst>
                                        </p:cTn>
                                        <p:tgtEl>
                                          <p:spTgt spid="178"/>
                                        </p:tgtEl>
                                        <p:attrNameLst>
                                          <p:attrName>style.visibility</p:attrName>
                                        </p:attrNameLst>
                                      </p:cBhvr>
                                      <p:to>
                                        <p:strVal val="visible"/>
                                      </p:to>
                                    </p:set>
                                    <p:anim calcmode="lin" valueType="num">
                                      <p:cBhvr>
                                        <p:cTn id="31" dur="5000" fill="hold"/>
                                        <p:tgtEl>
                                          <p:spTgt spid="178"/>
                                        </p:tgtEl>
                                        <p:attrNameLst>
                                          <p:attrName>ppt_w</p:attrName>
                                        </p:attrNameLst>
                                      </p:cBhvr>
                                      <p:tavLst>
                                        <p:tav tm="0" fmla="#ppt_w*sin(2.5*pi*$)">
                                          <p:val>
                                            <p:fltVal val="0"/>
                                          </p:val>
                                        </p:tav>
                                        <p:tav tm="100000">
                                          <p:val>
                                            <p:fltVal val="1"/>
                                          </p:val>
                                        </p:tav>
                                      </p:tavLst>
                                    </p:anim>
                                    <p:anim calcmode="lin" valueType="num">
                                      <p:cBhvr>
                                        <p:cTn id="32" dur="5000" fill="hold"/>
                                        <p:tgtEl>
                                          <p:spTgt spid="178"/>
                                        </p:tgtEl>
                                        <p:attrNameLst>
                                          <p:attrName>ppt_h</p:attrName>
                                        </p:attrNameLst>
                                      </p:cBhvr>
                                      <p:tavLst>
                                        <p:tav tm="0">
                                          <p:val>
                                            <p:strVal val="#ppt_h"/>
                                          </p:val>
                                        </p:tav>
                                        <p:tav tm="100000">
                                          <p:val>
                                            <p:strVal val="#ppt_h"/>
                                          </p:val>
                                        </p:tav>
                                      </p:tavLst>
                                    </p:anim>
                                  </p:childTnLst>
                                </p:cTn>
                              </p:par>
                              <p:par>
                                <p:cTn id="33" presetID="12" presetClass="entr" presetSubtype="4" fill="hold" grpId="0" nodeType="withEffect">
                                  <p:stCondLst>
                                    <p:cond delay="500"/>
                                  </p:stCondLst>
                                  <p:childTnLst>
                                    <p:set>
                                      <p:cBhvr>
                                        <p:cTn id="34" dur="1" fill="hold">
                                          <p:stCondLst>
                                            <p:cond delay="0"/>
                                          </p:stCondLst>
                                        </p:cTn>
                                        <p:tgtEl>
                                          <p:spTgt spid="179"/>
                                        </p:tgtEl>
                                        <p:attrNameLst>
                                          <p:attrName>style.visibility</p:attrName>
                                        </p:attrNameLst>
                                      </p:cBhvr>
                                      <p:to>
                                        <p:strVal val="visible"/>
                                      </p:to>
                                    </p:set>
                                    <p:animEffect transition="in" filter="slide(fromBottom)">
                                      <p:cBhvr>
                                        <p:cTn id="35" dur="5000"/>
                                        <p:tgtEl>
                                          <p:spTgt spid="179"/>
                                        </p:tgtEl>
                                      </p:cBhvr>
                                    </p:animEffect>
                                  </p:childTnLst>
                                </p:cTn>
                              </p:par>
                              <p:par>
                                <p:cTn id="36" presetID="19" presetClass="entr" presetSubtype="10" fill="hold" nodeType="withEffect">
                                  <p:stCondLst>
                                    <p:cond delay="500"/>
                                  </p:stCondLst>
                                  <p:childTnLst>
                                    <p:set>
                                      <p:cBhvr>
                                        <p:cTn id="37" dur="1" fill="hold">
                                          <p:stCondLst>
                                            <p:cond delay="0"/>
                                          </p:stCondLst>
                                        </p:cTn>
                                        <p:tgtEl>
                                          <p:spTgt spid="180"/>
                                        </p:tgtEl>
                                        <p:attrNameLst>
                                          <p:attrName>style.visibility</p:attrName>
                                        </p:attrNameLst>
                                      </p:cBhvr>
                                      <p:to>
                                        <p:strVal val="visible"/>
                                      </p:to>
                                    </p:set>
                                    <p:anim calcmode="lin" valueType="num">
                                      <p:cBhvr>
                                        <p:cTn id="38" dur="5000" fill="hold"/>
                                        <p:tgtEl>
                                          <p:spTgt spid="180"/>
                                        </p:tgtEl>
                                        <p:attrNameLst>
                                          <p:attrName>ppt_w</p:attrName>
                                        </p:attrNameLst>
                                      </p:cBhvr>
                                      <p:tavLst>
                                        <p:tav tm="0" fmla="#ppt_w*sin(2.5*pi*$)">
                                          <p:val>
                                            <p:fltVal val="0"/>
                                          </p:val>
                                        </p:tav>
                                        <p:tav tm="100000">
                                          <p:val>
                                            <p:fltVal val="1"/>
                                          </p:val>
                                        </p:tav>
                                      </p:tavLst>
                                    </p:anim>
                                    <p:anim calcmode="lin" valueType="num">
                                      <p:cBhvr>
                                        <p:cTn id="39" dur="5000" fill="hold"/>
                                        <p:tgtEl>
                                          <p:spTgt spid="180"/>
                                        </p:tgtEl>
                                        <p:attrNameLst>
                                          <p:attrName>ppt_h</p:attrName>
                                        </p:attrNameLst>
                                      </p:cBhvr>
                                      <p:tavLst>
                                        <p:tav tm="0">
                                          <p:val>
                                            <p:strVal val="#ppt_h"/>
                                          </p:val>
                                        </p:tav>
                                        <p:tav tm="100000">
                                          <p:val>
                                            <p:strVal val="#ppt_h"/>
                                          </p:val>
                                        </p:tav>
                                      </p:tavLst>
                                    </p:anim>
                                  </p:childTnLst>
                                </p:cTn>
                              </p:par>
                              <p:par>
                                <p:cTn id="40" presetID="12" presetClass="entr" presetSubtype="8" fill="hold" grpId="0" nodeType="withEffect">
                                  <p:stCondLst>
                                    <p:cond delay="500"/>
                                  </p:stCondLst>
                                  <p:childTnLst>
                                    <p:set>
                                      <p:cBhvr>
                                        <p:cTn id="41" dur="1" fill="hold">
                                          <p:stCondLst>
                                            <p:cond delay="0"/>
                                          </p:stCondLst>
                                        </p:cTn>
                                        <p:tgtEl>
                                          <p:spTgt spid="196"/>
                                        </p:tgtEl>
                                        <p:attrNameLst>
                                          <p:attrName>style.visibility</p:attrName>
                                        </p:attrNameLst>
                                      </p:cBhvr>
                                      <p:to>
                                        <p:strVal val="visible"/>
                                      </p:to>
                                    </p:set>
                                    <p:animEffect transition="in" filter="slide(fromLeft)">
                                      <p:cBhvr>
                                        <p:cTn id="42" dur="5000"/>
                                        <p:tgtEl>
                                          <p:spTgt spid="196"/>
                                        </p:tgtEl>
                                      </p:cBhvr>
                                    </p:animEffect>
                                  </p:childTnLst>
                                </p:cTn>
                              </p:par>
                              <p:par>
                                <p:cTn id="43" presetID="19" presetClass="entr" presetSubtype="10" fill="hold" grpId="0" nodeType="withEffect">
                                  <p:stCondLst>
                                    <p:cond delay="500"/>
                                  </p:stCondLst>
                                  <p:childTnLst>
                                    <p:set>
                                      <p:cBhvr>
                                        <p:cTn id="44" dur="1" fill="hold">
                                          <p:stCondLst>
                                            <p:cond delay="0"/>
                                          </p:stCondLst>
                                        </p:cTn>
                                        <p:tgtEl>
                                          <p:spTgt spid="182"/>
                                        </p:tgtEl>
                                        <p:attrNameLst>
                                          <p:attrName>style.visibility</p:attrName>
                                        </p:attrNameLst>
                                      </p:cBhvr>
                                      <p:to>
                                        <p:strVal val="visible"/>
                                      </p:to>
                                    </p:set>
                                    <p:anim calcmode="lin" valueType="num">
                                      <p:cBhvr>
                                        <p:cTn id="45" dur="5000" fill="hold"/>
                                        <p:tgtEl>
                                          <p:spTgt spid="182"/>
                                        </p:tgtEl>
                                        <p:attrNameLst>
                                          <p:attrName>ppt_w</p:attrName>
                                        </p:attrNameLst>
                                      </p:cBhvr>
                                      <p:tavLst>
                                        <p:tav tm="0" fmla="#ppt_w*sin(2.5*pi*$)">
                                          <p:val>
                                            <p:fltVal val="0"/>
                                          </p:val>
                                        </p:tav>
                                        <p:tav tm="100000">
                                          <p:val>
                                            <p:fltVal val="1"/>
                                          </p:val>
                                        </p:tav>
                                      </p:tavLst>
                                    </p:anim>
                                    <p:anim calcmode="lin" valueType="num">
                                      <p:cBhvr>
                                        <p:cTn id="46"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par>
                                <p:cTn id="47" presetID="19" presetClass="entr" presetSubtype="10" fill="hold" grpId="0" nodeType="withEffect">
                                  <p:stCondLst>
                                    <p:cond delay="500"/>
                                  </p:stCondLst>
                                  <p:childTnLst>
                                    <p:set>
                                      <p:cBhvr>
                                        <p:cTn id="48" dur="1" fill="hold">
                                          <p:stCondLst>
                                            <p:cond delay="0"/>
                                          </p:stCondLst>
                                        </p:cTn>
                                        <p:tgtEl>
                                          <p:spTgt spid="181"/>
                                        </p:tgtEl>
                                        <p:attrNameLst>
                                          <p:attrName>style.visibility</p:attrName>
                                        </p:attrNameLst>
                                      </p:cBhvr>
                                      <p:to>
                                        <p:strVal val="visible"/>
                                      </p:to>
                                    </p:set>
                                    <p:anim calcmode="lin" valueType="num">
                                      <p:cBhvr>
                                        <p:cTn id="49" dur="5000" fill="hold"/>
                                        <p:tgtEl>
                                          <p:spTgt spid="181"/>
                                        </p:tgtEl>
                                        <p:attrNameLst>
                                          <p:attrName>ppt_w</p:attrName>
                                        </p:attrNameLst>
                                      </p:cBhvr>
                                      <p:tavLst>
                                        <p:tav tm="0" fmla="#ppt_w*sin(2.5*pi*$)">
                                          <p:val>
                                            <p:fltVal val="0"/>
                                          </p:val>
                                        </p:tav>
                                        <p:tav tm="100000">
                                          <p:val>
                                            <p:fltVal val="1"/>
                                          </p:val>
                                        </p:tav>
                                      </p:tavLst>
                                    </p:anim>
                                    <p:anim calcmode="lin" valueType="num">
                                      <p:cBhvr>
                                        <p:cTn id="50" dur="5000" fill="hold"/>
                                        <p:tgtEl>
                                          <p:spTgt spid="181"/>
                                        </p:tgtEl>
                                        <p:attrNameLst>
                                          <p:attrName>ppt_h</p:attrName>
                                        </p:attrNameLst>
                                      </p:cBhvr>
                                      <p:tavLst>
                                        <p:tav tm="0">
                                          <p:val>
                                            <p:strVal val="#ppt_h"/>
                                          </p:val>
                                        </p:tav>
                                        <p:tav tm="100000">
                                          <p:val>
                                            <p:strVal val="#ppt_h"/>
                                          </p:val>
                                        </p:tav>
                                      </p:tavLst>
                                    </p:anim>
                                  </p:childTnLst>
                                </p:cTn>
                              </p:par>
                              <p:par>
                                <p:cTn id="51" presetID="12" presetClass="entr" presetSubtype="4" fill="hold" grpId="0" nodeType="withEffect">
                                  <p:stCondLst>
                                    <p:cond delay="500"/>
                                  </p:stCondLst>
                                  <p:childTnLst>
                                    <p:set>
                                      <p:cBhvr>
                                        <p:cTn id="52" dur="1" fill="hold">
                                          <p:stCondLst>
                                            <p:cond delay="0"/>
                                          </p:stCondLst>
                                        </p:cTn>
                                        <p:tgtEl>
                                          <p:spTgt spid="198"/>
                                        </p:tgtEl>
                                        <p:attrNameLst>
                                          <p:attrName>style.visibility</p:attrName>
                                        </p:attrNameLst>
                                      </p:cBhvr>
                                      <p:to>
                                        <p:strVal val="visible"/>
                                      </p:to>
                                    </p:set>
                                    <p:animEffect transition="in" filter="slide(fromBottom)">
                                      <p:cBhvr>
                                        <p:cTn id="53" dur="5000"/>
                                        <p:tgtEl>
                                          <p:spTgt spid="198"/>
                                        </p:tgtEl>
                                      </p:cBhvr>
                                    </p:animEffect>
                                  </p:childTnLst>
                                </p:cTn>
                              </p:par>
                              <p:par>
                                <p:cTn id="54" presetID="19" presetClass="entr" presetSubtype="10" fill="hold" grpId="0" nodeType="withEffect">
                                  <p:stCondLst>
                                    <p:cond delay="500"/>
                                  </p:stCondLst>
                                  <p:childTnLst>
                                    <p:set>
                                      <p:cBhvr>
                                        <p:cTn id="55" dur="1" fill="hold">
                                          <p:stCondLst>
                                            <p:cond delay="0"/>
                                          </p:stCondLst>
                                        </p:cTn>
                                        <p:tgtEl>
                                          <p:spTgt spid="199"/>
                                        </p:tgtEl>
                                        <p:attrNameLst>
                                          <p:attrName>style.visibility</p:attrName>
                                        </p:attrNameLst>
                                      </p:cBhvr>
                                      <p:to>
                                        <p:strVal val="visible"/>
                                      </p:to>
                                    </p:set>
                                    <p:anim calcmode="lin" valueType="num">
                                      <p:cBhvr>
                                        <p:cTn id="56" dur="5000" fill="hold"/>
                                        <p:tgtEl>
                                          <p:spTgt spid="199"/>
                                        </p:tgtEl>
                                        <p:attrNameLst>
                                          <p:attrName>ppt_w</p:attrName>
                                        </p:attrNameLst>
                                      </p:cBhvr>
                                      <p:tavLst>
                                        <p:tav tm="0" fmla="#ppt_w*sin(2.5*pi*$)">
                                          <p:val>
                                            <p:fltVal val="0"/>
                                          </p:val>
                                        </p:tav>
                                        <p:tav tm="100000">
                                          <p:val>
                                            <p:fltVal val="1"/>
                                          </p:val>
                                        </p:tav>
                                      </p:tavLst>
                                    </p:anim>
                                    <p:anim calcmode="lin" valueType="num">
                                      <p:cBhvr>
                                        <p:cTn id="57" dur="5000" fill="hold"/>
                                        <p:tgtEl>
                                          <p:spTgt spid="19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par>
                                <p:cTn id="58" presetID="19" presetClass="entr" presetSubtype="10" fill="hold" nodeType="withEffect">
                                  <p:stCondLst>
                                    <p:cond delay="500"/>
                                  </p:stCondLst>
                                  <p:childTnLst>
                                    <p:set>
                                      <p:cBhvr>
                                        <p:cTn id="59" dur="1" fill="hold">
                                          <p:stCondLst>
                                            <p:cond delay="0"/>
                                          </p:stCondLst>
                                        </p:cTn>
                                        <p:tgtEl>
                                          <p:spTgt spid="200"/>
                                        </p:tgtEl>
                                        <p:attrNameLst>
                                          <p:attrName>style.visibility</p:attrName>
                                        </p:attrNameLst>
                                      </p:cBhvr>
                                      <p:to>
                                        <p:strVal val="visible"/>
                                      </p:to>
                                    </p:set>
                                    <p:anim calcmode="lin" valueType="num">
                                      <p:cBhvr>
                                        <p:cTn id="60" dur="5000" fill="hold"/>
                                        <p:tgtEl>
                                          <p:spTgt spid="200"/>
                                        </p:tgtEl>
                                        <p:attrNameLst>
                                          <p:attrName>ppt_w</p:attrName>
                                        </p:attrNameLst>
                                      </p:cBhvr>
                                      <p:tavLst>
                                        <p:tav tm="0" fmla="#ppt_w*sin(2.5*pi*$)">
                                          <p:val>
                                            <p:fltVal val="0"/>
                                          </p:val>
                                        </p:tav>
                                        <p:tav tm="100000">
                                          <p:val>
                                            <p:fltVal val="1"/>
                                          </p:val>
                                        </p:tav>
                                      </p:tavLst>
                                    </p:anim>
                                    <p:anim calcmode="lin" valueType="num">
                                      <p:cBhvr>
                                        <p:cTn id="61" dur="5000" fill="hold"/>
                                        <p:tgtEl>
                                          <p:spTgt spid="200"/>
                                        </p:tgtEl>
                                        <p:attrNameLst>
                                          <p:attrName>ppt_h</p:attrName>
                                        </p:attrNameLst>
                                      </p:cBhvr>
                                      <p:tavLst>
                                        <p:tav tm="0">
                                          <p:val>
                                            <p:strVal val="#ppt_h"/>
                                          </p:val>
                                        </p:tav>
                                        <p:tav tm="100000">
                                          <p:val>
                                            <p:strVal val="#ppt_h"/>
                                          </p:val>
                                        </p:tav>
                                      </p:tavLst>
                                    </p:anim>
                                  </p:childTnLst>
                                </p:cTn>
                              </p:par>
                            </p:childTnLst>
                          </p:cTn>
                        </p:par>
                        <p:par>
                          <p:cTn id="62" fill="hold">
                            <p:stCondLst>
                              <p:cond delay="7000"/>
                            </p:stCondLst>
                            <p:childTnLst>
                              <p:par>
                                <p:cTn id="63" presetID="22" presetClass="entr" presetSubtype="8" fill="hold" grpId="0" nodeType="afterEffect">
                                  <p:stCondLst>
                                    <p:cond delay="0"/>
                                  </p:stCondLst>
                                  <p:childTnLst>
                                    <p:set>
                                      <p:cBhvr>
                                        <p:cTn id="64" dur="1" fill="hold">
                                          <p:stCondLst>
                                            <p:cond delay="0"/>
                                          </p:stCondLst>
                                        </p:cTn>
                                        <p:tgtEl>
                                          <p:spTgt spid="185"/>
                                        </p:tgtEl>
                                        <p:attrNameLst>
                                          <p:attrName>style.visibility</p:attrName>
                                        </p:attrNameLst>
                                      </p:cBhvr>
                                      <p:to>
                                        <p:strVal val="visible"/>
                                      </p:to>
                                    </p:set>
                                    <p:animEffect transition="in" filter="wipe(left)">
                                      <p:cBhvr>
                                        <p:cTn id="65" dur="5000"/>
                                        <p:tgtEl>
                                          <p:spTgt spid="185"/>
                                        </p:tgtEl>
                                      </p:cBhvr>
                                    </p:animEffect>
                                  </p:childTnLst>
                                </p:cTn>
                              </p:par>
                              <p:par>
                                <p:cTn id="66" presetID="19" presetClass="entr" presetSubtype="10" fill="hold" grpId="0" nodeType="withEffect">
                                  <p:stCondLst>
                                    <p:cond delay="0"/>
                                  </p:stCondLst>
                                  <p:childTnLst>
                                    <p:set>
                                      <p:cBhvr>
                                        <p:cTn id="67" dur="1" fill="hold">
                                          <p:stCondLst>
                                            <p:cond delay="0"/>
                                          </p:stCondLst>
                                        </p:cTn>
                                        <p:tgtEl>
                                          <p:spTgt spid="189"/>
                                        </p:tgtEl>
                                        <p:attrNameLst>
                                          <p:attrName>style.visibility</p:attrName>
                                        </p:attrNameLst>
                                      </p:cBhvr>
                                      <p:to>
                                        <p:strVal val="visible"/>
                                      </p:to>
                                    </p:set>
                                    <p:anim calcmode="lin" valueType="num">
                                      <p:cBhvr>
                                        <p:cTn id="68" dur="5000" fill="hold"/>
                                        <p:tgtEl>
                                          <p:spTgt spid="189"/>
                                        </p:tgtEl>
                                        <p:attrNameLst>
                                          <p:attrName>ppt_w</p:attrName>
                                        </p:attrNameLst>
                                      </p:cBhvr>
                                      <p:tavLst>
                                        <p:tav tm="0" fmla="#ppt_w*sin(2.5*pi*$)">
                                          <p:val>
                                            <p:fltVal val="0"/>
                                          </p:val>
                                        </p:tav>
                                        <p:tav tm="100000">
                                          <p:val>
                                            <p:fltVal val="1"/>
                                          </p:val>
                                        </p:tav>
                                      </p:tavLst>
                                    </p:anim>
                                    <p:anim calcmode="lin" valueType="num">
                                      <p:cBhvr>
                                        <p:cTn id="69" dur="5000" fill="hold"/>
                                        <p:tgtEl>
                                          <p:spTgt spid="1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par>
                          <p:cTn id="70" fill="hold">
                            <p:stCondLst>
                              <p:cond delay="12000"/>
                            </p:stCondLst>
                            <p:childTnLst>
                              <p:par>
                                <p:cTn id="71" presetID="22" presetClass="entr" presetSubtype="8" fill="hold" grpId="0" nodeType="afterEffect">
                                  <p:stCondLst>
                                    <p:cond delay="0"/>
                                  </p:stCondLst>
                                  <p:childTnLst>
                                    <p:set>
                                      <p:cBhvr>
                                        <p:cTn id="72" dur="1" fill="hold">
                                          <p:stCondLst>
                                            <p:cond delay="0"/>
                                          </p:stCondLst>
                                        </p:cTn>
                                        <p:tgtEl>
                                          <p:spTgt spid="184"/>
                                        </p:tgtEl>
                                        <p:attrNameLst>
                                          <p:attrName>style.visibility</p:attrName>
                                        </p:attrNameLst>
                                      </p:cBhvr>
                                      <p:to>
                                        <p:strVal val="visible"/>
                                      </p:to>
                                    </p:set>
                                    <p:animEffect transition="in" filter="wipe(left)">
                                      <p:cBhvr>
                                        <p:cTn id="73" dur="5000"/>
                                        <p:tgtEl>
                                          <p:spTgt spid="184"/>
                                        </p:tgtEl>
                                      </p:cBhvr>
                                    </p:animEffect>
                                  </p:childTnLst>
                                </p:cTn>
                              </p:par>
                              <p:par>
                                <p:cTn id="74" presetID="19" presetClass="entr" presetSubtype="10" fill="hold" grpId="0" nodeType="withEffect">
                                  <p:stCondLst>
                                    <p:cond delay="0"/>
                                  </p:stCondLst>
                                  <p:childTnLst>
                                    <p:set>
                                      <p:cBhvr>
                                        <p:cTn id="75" dur="1" fill="hold">
                                          <p:stCondLst>
                                            <p:cond delay="0"/>
                                          </p:stCondLst>
                                        </p:cTn>
                                        <p:tgtEl>
                                          <p:spTgt spid="201"/>
                                        </p:tgtEl>
                                        <p:attrNameLst>
                                          <p:attrName>style.visibility</p:attrName>
                                        </p:attrNameLst>
                                      </p:cBhvr>
                                      <p:to>
                                        <p:strVal val="visible"/>
                                      </p:to>
                                    </p:set>
                                    <p:anim calcmode="lin" valueType="num">
                                      <p:cBhvr>
                                        <p:cTn id="76" dur="5000" fill="hold"/>
                                        <p:tgtEl>
                                          <p:spTgt spid="201"/>
                                        </p:tgtEl>
                                        <p:attrNameLst>
                                          <p:attrName>ppt_w</p:attrName>
                                        </p:attrNameLst>
                                      </p:cBhvr>
                                      <p:tavLst>
                                        <p:tav tm="0" fmla="#ppt_w*sin(2.5*pi*$)">
                                          <p:val>
                                            <p:fltVal val="0"/>
                                          </p:val>
                                        </p:tav>
                                        <p:tav tm="100000">
                                          <p:val>
                                            <p:fltVal val="1"/>
                                          </p:val>
                                        </p:tav>
                                      </p:tavLst>
                                    </p:anim>
                                    <p:anim calcmode="lin" valueType="num">
                                      <p:cBhvr>
                                        <p:cTn id="77"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par>
                          <p:cTn id="78" fill="hold">
                            <p:stCondLst>
                              <p:cond delay="17000"/>
                            </p:stCondLst>
                            <p:childTnLst>
                              <p:par>
                                <p:cTn id="79" presetID="15" presetClass="entr" presetSubtype="0" fill="hold" nodeType="afterEffect">
                                  <p:stCondLst>
                                    <p:cond delay="0"/>
                                  </p:stCondLst>
                                  <p:childTnLst>
                                    <p:set>
                                      <p:cBhvr>
                                        <p:cTn id="80" dur="1" fill="hold">
                                          <p:stCondLst>
                                            <p:cond delay="0"/>
                                          </p:stCondLst>
                                        </p:cTn>
                                        <p:tgtEl>
                                          <p:spTgt spid="193"/>
                                        </p:tgtEl>
                                        <p:attrNameLst>
                                          <p:attrName>style.visibility</p:attrName>
                                        </p:attrNameLst>
                                      </p:cBhvr>
                                      <p:to>
                                        <p:strVal val="visible"/>
                                      </p:to>
                                    </p:set>
                                    <p:anim calcmode="lin" valueType="num">
                                      <p:cBhvr>
                                        <p:cTn id="81" dur="3000" fill="hold"/>
                                        <p:tgtEl>
                                          <p:spTgt spid="193"/>
                                        </p:tgtEl>
                                        <p:attrNameLst>
                                          <p:attrName>ppt_w</p:attrName>
                                        </p:attrNameLst>
                                      </p:cBhvr>
                                      <p:tavLst>
                                        <p:tav tm="0">
                                          <p:val>
                                            <p:fltVal val="0"/>
                                          </p:val>
                                        </p:tav>
                                        <p:tav tm="100000">
                                          <p:val>
                                            <p:strVal val="#ppt_w"/>
                                          </p:val>
                                        </p:tav>
                                      </p:tavLst>
                                    </p:anim>
                                    <p:anim calcmode="lin" valueType="num">
                                      <p:cBhvr>
                                        <p:cTn id="82" dur="3000" fill="hold"/>
                                        <p:tgtEl>
                                          <p:spTgt spid="193"/>
                                        </p:tgtEl>
                                        <p:attrNameLst>
                                          <p:attrName>ppt_h</p:attrName>
                                        </p:attrNameLst>
                                      </p:cBhvr>
                                      <p:tavLst>
                                        <p:tav tm="0">
                                          <p:val>
                                            <p:fltVal val="0"/>
                                          </p:val>
                                        </p:tav>
                                        <p:tav tm="100000">
                                          <p:val>
                                            <p:strVal val="#ppt_h"/>
                                          </p:val>
                                        </p:tav>
                                      </p:tavLst>
                                    </p:anim>
                                    <p:anim calcmode="lin" valueType="num">
                                      <p:cBhvr>
                                        <p:cTn id="83" dur="3000" fill="hold"/>
                                        <p:tgtEl>
                                          <p:spTgt spid="193"/>
                                        </p:tgtEl>
                                        <p:attrNameLst>
                                          <p:attrName>ppt_x</p:attrName>
                                        </p:attrNameLst>
                                      </p:cBhvr>
                                      <p:tavLst>
                                        <p:tav tm="0" fmla="#ppt_x+(cos(-2*pi*(1-$))*-#ppt_x-sin(-2*pi*(1-$))*(1-#ppt_y))*(1-$)">
                                          <p:val>
                                            <p:fltVal val="0"/>
                                          </p:val>
                                        </p:tav>
                                        <p:tav tm="100000">
                                          <p:val>
                                            <p:fltVal val="1"/>
                                          </p:val>
                                        </p:tav>
                                      </p:tavLst>
                                    </p:anim>
                                    <p:anim calcmode="lin" valueType="num">
                                      <p:cBhvr>
                                        <p:cTn id="84" dur="3000" fill="hold"/>
                                        <p:tgtEl>
                                          <p:spTgt spid="193"/>
                                        </p:tgtEl>
                                        <p:attrNameLst>
                                          <p:attrName>ppt_y</p:attrName>
                                        </p:attrNameLst>
                                      </p:cBhvr>
                                      <p:tavLst>
                                        <p:tav tm="0" fmla="#ppt_y+(sin(-2*pi*(1-$))*-#ppt_x+cos(-2*pi*(1-$))*(1-#ppt_y))*(1-$)">
                                          <p:val>
                                            <p:fltVal val="0"/>
                                          </p:val>
                                        </p:tav>
                                        <p:tav tm="100000">
                                          <p:val>
                                            <p:fltVal val="1"/>
                                          </p:val>
                                        </p:tav>
                                      </p:tavLst>
                                    </p:anim>
                                  </p:childTnLst>
                                </p:cTn>
                              </p:par>
                            </p:childTnLst>
                          </p:cTn>
                        </p:par>
                        <p:par>
                          <p:cTn id="85" fill="hold">
                            <p:stCondLst>
                              <p:cond delay="20000"/>
                            </p:stCondLst>
                            <p:childTnLst>
                              <p:par>
                                <p:cTn id="86" presetID="15" presetClass="entr" presetSubtype="0" fill="hold" nodeType="afterEffect">
                                  <p:stCondLst>
                                    <p:cond delay="0"/>
                                  </p:stCondLst>
                                  <p:childTnLst>
                                    <p:set>
                                      <p:cBhvr>
                                        <p:cTn id="87" dur="1" fill="hold">
                                          <p:stCondLst>
                                            <p:cond delay="0"/>
                                          </p:stCondLst>
                                        </p:cTn>
                                        <p:tgtEl>
                                          <p:spTgt spid="186"/>
                                        </p:tgtEl>
                                        <p:attrNameLst>
                                          <p:attrName>style.visibility</p:attrName>
                                        </p:attrNameLst>
                                      </p:cBhvr>
                                      <p:to>
                                        <p:strVal val="visible"/>
                                      </p:to>
                                    </p:set>
                                    <p:anim calcmode="lin" valueType="num">
                                      <p:cBhvr>
                                        <p:cTn id="88" dur="3000" fill="hold"/>
                                        <p:tgtEl>
                                          <p:spTgt spid="186"/>
                                        </p:tgtEl>
                                        <p:attrNameLst>
                                          <p:attrName>ppt_w</p:attrName>
                                        </p:attrNameLst>
                                      </p:cBhvr>
                                      <p:tavLst>
                                        <p:tav tm="0">
                                          <p:val>
                                            <p:fltVal val="0"/>
                                          </p:val>
                                        </p:tav>
                                        <p:tav tm="100000">
                                          <p:val>
                                            <p:strVal val="#ppt_w"/>
                                          </p:val>
                                        </p:tav>
                                      </p:tavLst>
                                    </p:anim>
                                    <p:anim calcmode="lin" valueType="num">
                                      <p:cBhvr>
                                        <p:cTn id="89" dur="3000" fill="hold"/>
                                        <p:tgtEl>
                                          <p:spTgt spid="186"/>
                                        </p:tgtEl>
                                        <p:attrNameLst>
                                          <p:attrName>ppt_h</p:attrName>
                                        </p:attrNameLst>
                                      </p:cBhvr>
                                      <p:tavLst>
                                        <p:tav tm="0">
                                          <p:val>
                                            <p:fltVal val="0"/>
                                          </p:val>
                                        </p:tav>
                                        <p:tav tm="100000">
                                          <p:val>
                                            <p:strVal val="#ppt_h"/>
                                          </p:val>
                                        </p:tav>
                                      </p:tavLst>
                                    </p:anim>
                                    <p:anim calcmode="lin" valueType="num">
                                      <p:cBhvr>
                                        <p:cTn id="90" dur="3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91" dur="3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childTnLst>
                          </p:cTn>
                        </p:par>
                        <p:par>
                          <p:cTn id="92" fill="hold">
                            <p:stCondLst>
                              <p:cond delay="23000"/>
                            </p:stCondLst>
                            <p:childTnLst>
                              <p:par>
                                <p:cTn id="93" presetID="22" presetClass="entr" presetSubtype="8" fill="hold" grpId="0" nodeType="afterEffect">
                                  <p:stCondLst>
                                    <p:cond delay="0"/>
                                  </p:stCondLst>
                                  <p:childTnLst>
                                    <p:set>
                                      <p:cBhvr>
                                        <p:cTn id="94" dur="1" fill="hold">
                                          <p:stCondLst>
                                            <p:cond delay="0"/>
                                          </p:stCondLst>
                                        </p:cTn>
                                        <p:tgtEl>
                                          <p:spTgt spid="183"/>
                                        </p:tgtEl>
                                        <p:attrNameLst>
                                          <p:attrName>style.visibility</p:attrName>
                                        </p:attrNameLst>
                                      </p:cBhvr>
                                      <p:to>
                                        <p:strVal val="visible"/>
                                      </p:to>
                                    </p:set>
                                    <p:animEffect transition="in" filter="wipe(left)">
                                      <p:cBhvr>
                                        <p:cTn id="95" dur="5000"/>
                                        <p:tgtEl>
                                          <p:spTgt spid="183"/>
                                        </p:tgtEl>
                                      </p:cBhvr>
                                    </p:animEffect>
                                  </p:childTnLst>
                                </p:cTn>
                              </p:par>
                              <p:par>
                                <p:cTn id="96" presetID="19" presetClass="entr" presetSubtype="10" fill="hold" grpId="0" nodeType="withEffect">
                                  <p:stCondLst>
                                    <p:cond delay="0"/>
                                  </p:stCondLst>
                                  <p:childTnLst>
                                    <p:set>
                                      <p:cBhvr>
                                        <p:cTn id="97" dur="1" fill="hold">
                                          <p:stCondLst>
                                            <p:cond delay="0"/>
                                          </p:stCondLst>
                                        </p:cTn>
                                        <p:tgtEl>
                                          <p:spTgt spid="202"/>
                                        </p:tgtEl>
                                        <p:attrNameLst>
                                          <p:attrName>style.visibility</p:attrName>
                                        </p:attrNameLst>
                                      </p:cBhvr>
                                      <p:to>
                                        <p:strVal val="visible"/>
                                      </p:to>
                                    </p:set>
                                    <p:anim calcmode="lin" valueType="num">
                                      <p:cBhvr>
                                        <p:cTn id="98" dur="5000" fill="hold"/>
                                        <p:tgtEl>
                                          <p:spTgt spid="202"/>
                                        </p:tgtEl>
                                        <p:attrNameLst>
                                          <p:attrName>ppt_w</p:attrName>
                                        </p:attrNameLst>
                                      </p:cBhvr>
                                      <p:tavLst>
                                        <p:tav tm="0" fmla="#ppt_w*sin(2.5*pi*$)">
                                          <p:val>
                                            <p:fltVal val="0"/>
                                          </p:val>
                                        </p:tav>
                                        <p:tav tm="100000">
                                          <p:val>
                                            <p:fltVal val="1"/>
                                          </p:val>
                                        </p:tav>
                                      </p:tavLst>
                                    </p:anim>
                                    <p:anim calcmode="lin" valueType="num">
                                      <p:cBhvr>
                                        <p:cTn id="99" dur="5000" fill="hold"/>
                                        <p:tgtEl>
                                          <p:spTgt spid="202"/>
                                        </p:tgtEl>
                                        <p:attrNameLst>
                                          <p:attrName>ppt_h</p:attrName>
                                        </p:attrNameLst>
                                      </p:cBhvr>
                                      <p:tavLst>
                                        <p:tav tm="0">
                                          <p:val>
                                            <p:strVal val="#ppt_h"/>
                                          </p:val>
                                        </p:tav>
                                        <p:tav tm="100000">
                                          <p:val>
                                            <p:strVal val="#ppt_h"/>
                                          </p:val>
                                        </p:tav>
                                      </p:tavLst>
                                    </p:anim>
                                  </p:childTnLst>
                                </p:cTn>
                              </p:par>
                            </p:childTnLst>
                          </p:cTn>
                        </p:par>
                        <p:par>
                          <p:cTn id="100" fill="hold">
                            <p:stCondLst>
                              <p:cond delay="28000"/>
                            </p:stCondLst>
                            <p:childTnLst>
                              <p:par>
                                <p:cTn id="101" presetID="15" presetClass="entr" presetSubtype="0" fill="hold" nodeType="afterEffect">
                                  <p:stCondLst>
                                    <p:cond delay="0"/>
                                  </p:stCondLst>
                                  <p:childTnLst>
                                    <p:set>
                                      <p:cBhvr>
                                        <p:cTn id="102" dur="1" fill="hold">
                                          <p:stCondLst>
                                            <p:cond delay="0"/>
                                          </p:stCondLst>
                                        </p:cTn>
                                        <p:tgtEl>
                                          <p:spTgt spid="190"/>
                                        </p:tgtEl>
                                        <p:attrNameLst>
                                          <p:attrName>style.visibility</p:attrName>
                                        </p:attrNameLst>
                                      </p:cBhvr>
                                      <p:to>
                                        <p:strVal val="visible"/>
                                      </p:to>
                                    </p:set>
                                    <p:anim calcmode="lin" valueType="num">
                                      <p:cBhvr>
                                        <p:cTn id="103" dur="3000" fill="hold"/>
                                        <p:tgtEl>
                                          <p:spTgt spid="190"/>
                                        </p:tgtEl>
                                        <p:attrNameLst>
                                          <p:attrName>ppt_w</p:attrName>
                                        </p:attrNameLst>
                                      </p:cBhvr>
                                      <p:tavLst>
                                        <p:tav tm="0">
                                          <p:val>
                                            <p:fltVal val="0"/>
                                          </p:val>
                                        </p:tav>
                                        <p:tav tm="100000">
                                          <p:val>
                                            <p:strVal val="#ppt_w"/>
                                          </p:val>
                                        </p:tav>
                                      </p:tavLst>
                                    </p:anim>
                                    <p:anim calcmode="lin" valueType="num">
                                      <p:cBhvr>
                                        <p:cTn id="104" dur="3000" fill="hold"/>
                                        <p:tgtEl>
                                          <p:spTgt spid="190"/>
                                        </p:tgtEl>
                                        <p:attrNameLst>
                                          <p:attrName>ppt_h</p:attrName>
                                        </p:attrNameLst>
                                      </p:cBhvr>
                                      <p:tavLst>
                                        <p:tav tm="0">
                                          <p:val>
                                            <p:fltVal val="0"/>
                                          </p:val>
                                        </p:tav>
                                        <p:tav tm="100000">
                                          <p:val>
                                            <p:strVal val="#ppt_h"/>
                                          </p:val>
                                        </p:tav>
                                      </p:tavLst>
                                    </p:anim>
                                    <p:anim calcmode="lin" valueType="num">
                                      <p:cBhvr>
                                        <p:cTn id="105" dur="3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106" dur="3000" fill="hold"/>
                                        <p:tgtEl>
                                          <p:spTgt spid="1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179" grpId="0" animBg="1"/>
      <p:bldP spid="181" grpId="0"/>
      <p:bldP spid="182" grpId="0" autoUpdateAnimBg="0"/>
      <p:bldP spid="183" grpId="0" animBg="1"/>
      <p:bldP spid="184" grpId="0" animBg="1"/>
      <p:bldP spid="185" grpId="0" animBg="1"/>
      <p:bldP spid="189" grpId="0" autoUpdateAnimBg="0"/>
      <p:bldP spid="196" grpId="0" animBg="1"/>
      <p:bldP spid="197" grpId="0" animBg="1"/>
      <p:bldP spid="198" grpId="0" animBg="1"/>
      <p:bldP spid="199" grpId="0" autoUpdateAnimBg="0"/>
      <p:bldP spid="201" grpId="0" autoUpdateAnimBg="0"/>
      <p:bldP spid="202" grpId="0"/>
      <p:bldP spid="203" grpId="0"/>
      <p:bldP spid="204" grpId="0"/>
      <p:bldP spid="205" grpId="0" animBg="1"/>
      <p:bldP spid="20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210498" y="919582"/>
            <a:ext cx="3862165" cy="5299572"/>
          </a:xfrm>
          <a:prstGeom prst="rect">
            <a:avLst/>
          </a:prstGeom>
          <a:solidFill>
            <a:srgbClr val="B9CDE5"/>
          </a:solidFill>
          <a:ln>
            <a:noFill/>
          </a:ln>
          <a:effectLst/>
        </p:spPr>
        <p:txBody>
          <a:bodyPr wrap="none" anchor="ctr"/>
          <a:lstStyle/>
          <a:p>
            <a:endParaRPr lang="zh-CN" altLang="en-US"/>
          </a:p>
        </p:txBody>
      </p:sp>
      <p:grpSp>
        <p:nvGrpSpPr>
          <p:cNvPr id="80" name="Group 51"/>
          <p:cNvGrpSpPr>
            <a:grpSpLocks/>
          </p:cNvGrpSpPr>
          <p:nvPr/>
        </p:nvGrpSpPr>
        <p:grpSpPr bwMode="auto">
          <a:xfrm>
            <a:off x="8372424" y="828004"/>
            <a:ext cx="3435350" cy="2144713"/>
            <a:chOff x="3596" y="0"/>
            <a:chExt cx="2164" cy="1351"/>
          </a:xfrm>
        </p:grpSpPr>
        <p:sp>
          <p:nvSpPr>
            <p:cNvPr id="81" name="Text Box 6"/>
            <p:cNvSpPr txBox="1">
              <a:spLocks noChangeAspect="1" noChangeArrowheads="1"/>
            </p:cNvSpPr>
            <p:nvPr/>
          </p:nvSpPr>
          <p:spPr bwMode="auto">
            <a:xfrm flipH="1">
              <a:off x="4574" y="95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2m</a:t>
              </a:r>
            </a:p>
          </p:txBody>
        </p:sp>
        <p:sp>
          <p:nvSpPr>
            <p:cNvPr id="82" name="Text Box 7"/>
            <p:cNvSpPr txBox="1">
              <a:spLocks noChangeAspect="1" noChangeArrowheads="1"/>
            </p:cNvSpPr>
            <p:nvPr/>
          </p:nvSpPr>
          <p:spPr bwMode="auto">
            <a:xfrm>
              <a:off x="3596" y="48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3" name="Text Box 8"/>
            <p:cNvSpPr txBox="1">
              <a:spLocks noChangeAspect="1" noChangeArrowheads="1"/>
            </p:cNvSpPr>
            <p:nvPr/>
          </p:nvSpPr>
          <p:spPr bwMode="auto">
            <a:xfrm>
              <a:off x="5467" y="49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84" name="Line 9"/>
            <p:cNvSpPr>
              <a:spLocks noChangeAspect="1" noChangeShapeType="1"/>
            </p:cNvSpPr>
            <p:nvPr/>
          </p:nvSpPr>
          <p:spPr bwMode="auto">
            <a:xfrm flipH="1">
              <a:off x="3817" y="388"/>
              <a:ext cx="0" cy="9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10"/>
            <p:cNvSpPr>
              <a:spLocks noChangeAspect="1" noChangeShapeType="1"/>
            </p:cNvSpPr>
            <p:nvPr/>
          </p:nvSpPr>
          <p:spPr bwMode="auto">
            <a:xfrm flipH="1">
              <a:off x="3817" y="123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11"/>
            <p:cNvSpPr>
              <a:spLocks noChangeAspect="1" noChangeShapeType="1"/>
            </p:cNvSpPr>
            <p:nvPr/>
          </p:nvSpPr>
          <p:spPr bwMode="auto">
            <a:xfrm flipH="1">
              <a:off x="5482" y="98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Freeform 12"/>
            <p:cNvSpPr>
              <a:spLocks noChangeAspect="1"/>
            </p:cNvSpPr>
            <p:nvPr/>
          </p:nvSpPr>
          <p:spPr bwMode="auto">
            <a:xfrm>
              <a:off x="3840" y="65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Text Box 13"/>
            <p:cNvSpPr txBox="1">
              <a:spLocks noChangeAspect="1" noChangeArrowheads="1"/>
            </p:cNvSpPr>
            <p:nvPr/>
          </p:nvSpPr>
          <p:spPr bwMode="auto">
            <a:xfrm>
              <a:off x="3954" y="0"/>
              <a:ext cx="58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60kN</a:t>
              </a:r>
              <a:endPar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89" name="Text Box 14"/>
            <p:cNvSpPr txBox="1">
              <a:spLocks noChangeAspect="1" noChangeArrowheads="1"/>
            </p:cNvSpPr>
            <p:nvPr/>
          </p:nvSpPr>
          <p:spPr bwMode="auto">
            <a:xfrm>
              <a:off x="3915" y="596"/>
              <a:ext cx="2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90" name="Line 18"/>
            <p:cNvSpPr>
              <a:spLocks noChangeAspect="1" noChangeShapeType="1"/>
            </p:cNvSpPr>
            <p:nvPr/>
          </p:nvSpPr>
          <p:spPr bwMode="auto">
            <a:xfrm flipH="1">
              <a:off x="3979" y="482"/>
              <a:ext cx="556" cy="0"/>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1" name="Text Box 21"/>
            <p:cNvSpPr txBox="1">
              <a:spLocks noChangeAspect="1" noChangeArrowheads="1"/>
            </p:cNvSpPr>
            <p:nvPr/>
          </p:nvSpPr>
          <p:spPr bwMode="auto">
            <a:xfrm flipH="1">
              <a:off x="4013" y="242"/>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0.2m</a:t>
              </a:r>
            </a:p>
          </p:txBody>
        </p:sp>
        <p:sp>
          <p:nvSpPr>
            <p:cNvPr id="93" name="Line 22"/>
            <p:cNvSpPr>
              <a:spLocks noChangeAspect="1" noChangeShapeType="1"/>
            </p:cNvSpPr>
            <p:nvPr/>
          </p:nvSpPr>
          <p:spPr bwMode="auto">
            <a:xfrm>
              <a:off x="3992" y="81"/>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94" name="Group 26"/>
            <p:cNvGrpSpPr>
              <a:grpSpLocks/>
            </p:cNvGrpSpPr>
            <p:nvPr/>
          </p:nvGrpSpPr>
          <p:grpSpPr bwMode="auto">
            <a:xfrm>
              <a:off x="3661" y="623"/>
              <a:ext cx="313" cy="330"/>
              <a:chOff x="1686" y="3521"/>
              <a:chExt cx="313" cy="330"/>
            </a:xfrm>
          </p:grpSpPr>
          <p:sp>
            <p:nvSpPr>
              <p:cNvPr id="174"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6"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7"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6" name="Group 31"/>
            <p:cNvGrpSpPr>
              <a:grpSpLocks/>
            </p:cNvGrpSpPr>
            <p:nvPr/>
          </p:nvGrpSpPr>
          <p:grpSpPr bwMode="auto">
            <a:xfrm>
              <a:off x="5326" y="622"/>
              <a:ext cx="311" cy="358"/>
              <a:chOff x="3499" y="3511"/>
              <a:chExt cx="311" cy="358"/>
            </a:xfrm>
          </p:grpSpPr>
          <p:sp>
            <p:nvSpPr>
              <p:cNvPr id="169"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0"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1"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2"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3"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8" name="Line 50"/>
            <p:cNvSpPr>
              <a:spLocks noChangeAspect="1" noChangeShapeType="1"/>
            </p:cNvSpPr>
            <p:nvPr/>
          </p:nvSpPr>
          <p:spPr bwMode="auto">
            <a:xfrm flipH="1">
              <a:off x="3817" y="477"/>
              <a:ext cx="168" cy="1"/>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8" name="Text Box 52"/>
          <p:cNvSpPr txBox="1">
            <a:spLocks noChangeAspect="1" noChangeArrowheads="1"/>
          </p:cNvSpPr>
          <p:nvPr/>
        </p:nvSpPr>
        <p:spPr bwMode="auto">
          <a:xfrm flipH="1">
            <a:off x="11293424" y="583021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79" name="Line 53"/>
          <p:cNvSpPr>
            <a:spLocks noChangeShapeType="1"/>
          </p:cNvSpPr>
          <p:nvPr/>
        </p:nvSpPr>
        <p:spPr bwMode="auto">
          <a:xfrm rot="16200000">
            <a:off x="8116043" y="5359523"/>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0" name="Text Box 54"/>
          <p:cNvSpPr txBox="1">
            <a:spLocks noChangeAspect="1" noChangeArrowheads="1"/>
          </p:cNvSpPr>
          <p:nvPr/>
        </p:nvSpPr>
        <p:spPr bwMode="auto">
          <a:xfrm flipH="1">
            <a:off x="8675637" y="46475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1" name="Text Box 56"/>
          <p:cNvSpPr txBox="1">
            <a:spLocks noChangeAspect="1" noChangeArrowheads="1"/>
          </p:cNvSpPr>
          <p:nvPr/>
        </p:nvSpPr>
        <p:spPr bwMode="auto">
          <a:xfrm flipH="1">
            <a:off x="8210499" y="28441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82" name="Text Box 58"/>
          <p:cNvSpPr txBox="1">
            <a:spLocks noChangeAspect="1" noChangeArrowheads="1"/>
          </p:cNvSpPr>
          <p:nvPr/>
        </p:nvSpPr>
        <p:spPr bwMode="auto">
          <a:xfrm>
            <a:off x="8296224" y="5646067"/>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83" name="AutoShape 59" descr="浅色竖线"/>
          <p:cNvSpPr>
            <a:spLocks noChangeArrowheads="1"/>
          </p:cNvSpPr>
          <p:nvPr/>
        </p:nvSpPr>
        <p:spPr bwMode="auto">
          <a:xfrm>
            <a:off x="8705799" y="5439692"/>
            <a:ext cx="2703513" cy="496887"/>
          </a:xfrm>
          <a:prstGeom prst="triangle">
            <a:avLst>
              <a:gd name="adj" fmla="val 15560"/>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4" name="Rectangle 60" descr="浅色竖线"/>
          <p:cNvSpPr>
            <a:spLocks noChangeArrowheads="1"/>
          </p:cNvSpPr>
          <p:nvPr/>
        </p:nvSpPr>
        <p:spPr bwMode="auto">
          <a:xfrm>
            <a:off x="9075687" y="4063329"/>
            <a:ext cx="2292350" cy="20002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5" name="Rectangle 61" descr="浅色竖线"/>
          <p:cNvSpPr>
            <a:spLocks noChangeArrowheads="1"/>
          </p:cNvSpPr>
          <p:nvPr/>
        </p:nvSpPr>
        <p:spPr bwMode="auto">
          <a:xfrm>
            <a:off x="8704212" y="3193379"/>
            <a:ext cx="360362" cy="86677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86" name="Group 63"/>
          <p:cNvGrpSpPr>
            <a:grpSpLocks/>
          </p:cNvGrpSpPr>
          <p:nvPr/>
        </p:nvGrpSpPr>
        <p:grpSpPr bwMode="auto">
          <a:xfrm>
            <a:off x="10144074" y="3964904"/>
            <a:ext cx="438150" cy="360363"/>
            <a:chOff x="4503" y="2280"/>
            <a:chExt cx="269" cy="231"/>
          </a:xfrm>
        </p:grpSpPr>
        <p:sp>
          <p:nvSpPr>
            <p:cNvPr id="18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15000"/>
                </a:lnSpc>
                <a:spcBef>
                  <a:spcPts val="0"/>
                </a:spcBef>
                <a:spcAft>
                  <a:spcPts val="0"/>
                </a:spcAft>
                <a:buClrTx/>
                <a:buSzTx/>
                <a:buFontTx/>
                <a:buNone/>
                <a:tabLst/>
                <a:defRPr/>
              </a:pPr>
              <a:r>
                <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a:t>
              </a:r>
            </a:p>
          </p:txBody>
        </p:sp>
      </p:grpSp>
      <p:sp>
        <p:nvSpPr>
          <p:cNvPr id="189" name="Text Box 66"/>
          <p:cNvSpPr txBox="1">
            <a:spLocks noChangeAspect="1" noChangeArrowheads="1"/>
          </p:cNvSpPr>
          <p:nvPr/>
        </p:nvSpPr>
        <p:spPr bwMode="auto">
          <a:xfrm>
            <a:off x="9051874" y="2999704"/>
            <a:ext cx="8715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54kN</a:t>
            </a:r>
          </a:p>
        </p:txBody>
      </p:sp>
      <p:grpSp>
        <p:nvGrpSpPr>
          <p:cNvPr id="190" name="Group 72"/>
          <p:cNvGrpSpPr>
            <a:grpSpLocks/>
          </p:cNvGrpSpPr>
          <p:nvPr/>
        </p:nvGrpSpPr>
        <p:grpSpPr bwMode="auto">
          <a:xfrm>
            <a:off x="9242374" y="5474617"/>
            <a:ext cx="592138" cy="523875"/>
            <a:chOff x="3767" y="1607"/>
            <a:chExt cx="373" cy="330"/>
          </a:xfrm>
        </p:grpSpPr>
        <p:sp>
          <p:nvSpPr>
            <p:cNvPr id="191" name="Oval 7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2" name="Text Box 7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pSp>
        <p:nvGrpSpPr>
          <p:cNvPr id="193" name="Group 77"/>
          <p:cNvGrpSpPr>
            <a:grpSpLocks/>
          </p:cNvGrpSpPr>
          <p:nvPr/>
        </p:nvGrpSpPr>
        <p:grpSpPr bwMode="auto">
          <a:xfrm>
            <a:off x="8605787" y="3266404"/>
            <a:ext cx="592137" cy="523875"/>
            <a:chOff x="3767" y="1607"/>
            <a:chExt cx="373" cy="330"/>
          </a:xfrm>
        </p:grpSpPr>
        <p:sp>
          <p:nvSpPr>
            <p:cNvPr id="194" name="Oval 7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Text Box 7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96" name="Line 81"/>
          <p:cNvSpPr>
            <a:spLocks noChangeShapeType="1"/>
          </p:cNvSpPr>
          <p:nvPr/>
        </p:nvSpPr>
        <p:spPr bwMode="auto">
          <a:xfrm>
            <a:off x="8685162" y="4066504"/>
            <a:ext cx="31226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7" name="Line 82"/>
          <p:cNvSpPr>
            <a:spLocks noChangeShapeType="1"/>
          </p:cNvSpPr>
          <p:nvPr/>
        </p:nvSpPr>
        <p:spPr bwMode="auto">
          <a:xfrm>
            <a:off x="8667699" y="5936579"/>
            <a:ext cx="297815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8" name="Line 55"/>
          <p:cNvSpPr>
            <a:spLocks noChangeShapeType="1"/>
          </p:cNvSpPr>
          <p:nvPr/>
        </p:nvSpPr>
        <p:spPr bwMode="auto">
          <a:xfrm rot="16200000">
            <a:off x="8120806" y="3514848"/>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9" name="Text Box 57"/>
          <p:cNvSpPr txBox="1">
            <a:spLocks noChangeAspect="1" noChangeArrowheads="1"/>
          </p:cNvSpPr>
          <p:nvPr/>
        </p:nvSpPr>
        <p:spPr bwMode="auto">
          <a:xfrm>
            <a:off x="8385124" y="3879179"/>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00" name="Text Box 83"/>
          <p:cNvSpPr txBox="1">
            <a:spLocks noChangeAspect="1" noChangeArrowheads="1"/>
          </p:cNvSpPr>
          <p:nvPr/>
        </p:nvSpPr>
        <p:spPr bwMode="auto">
          <a:xfrm flipH="1">
            <a:off x="11268024" y="392997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1" name="Text Box 84"/>
          <p:cNvSpPr txBox="1">
            <a:spLocks noChangeAspect="1" noChangeArrowheads="1"/>
          </p:cNvSpPr>
          <p:nvPr/>
        </p:nvSpPr>
        <p:spPr bwMode="auto">
          <a:xfrm>
            <a:off x="9644012" y="4198267"/>
            <a:ext cx="87153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6kN</a:t>
            </a:r>
          </a:p>
        </p:txBody>
      </p:sp>
      <p:sp>
        <p:nvSpPr>
          <p:cNvPr id="202" name="Rectangle 85"/>
          <p:cNvSpPr>
            <a:spLocks noChangeArrowheads="1"/>
          </p:cNvSpPr>
          <p:nvPr/>
        </p:nvSpPr>
        <p:spPr bwMode="auto">
          <a:xfrm>
            <a:off x="8883599" y="4980904"/>
            <a:ext cx="13468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0.6kN·m</a:t>
            </a:r>
          </a:p>
        </p:txBody>
      </p:sp>
      <p:sp>
        <p:nvSpPr>
          <p:cNvPr id="203" name="Text Box 86"/>
          <p:cNvSpPr txBox="1">
            <a:spLocks noChangeAspect="1" noChangeArrowheads="1"/>
          </p:cNvSpPr>
          <p:nvPr/>
        </p:nvSpPr>
        <p:spPr bwMode="auto">
          <a:xfrm>
            <a:off x="11344224" y="2399629"/>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B</a:t>
            </a:r>
          </a:p>
        </p:txBody>
      </p:sp>
      <p:sp>
        <p:nvSpPr>
          <p:cNvPr id="204" name="Text Box 87"/>
          <p:cNvSpPr txBox="1">
            <a:spLocks noChangeAspect="1" noChangeArrowheads="1"/>
          </p:cNvSpPr>
          <p:nvPr/>
        </p:nvSpPr>
        <p:spPr bwMode="auto">
          <a:xfrm>
            <a:off x="8697862" y="2337717"/>
            <a:ext cx="5810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A</a:t>
            </a:r>
          </a:p>
        </p:txBody>
      </p:sp>
      <p:sp>
        <p:nvSpPr>
          <p:cNvPr id="205" name="Line 88"/>
          <p:cNvSpPr>
            <a:spLocks noChangeAspect="1" noChangeShapeType="1"/>
          </p:cNvSpPr>
          <p:nvPr/>
        </p:nvSpPr>
        <p:spPr bwMode="auto">
          <a:xfrm flipV="1">
            <a:off x="8728024" y="1936079"/>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6" name="Line 89"/>
          <p:cNvSpPr>
            <a:spLocks noChangeAspect="1" noChangeShapeType="1"/>
          </p:cNvSpPr>
          <p:nvPr/>
        </p:nvSpPr>
        <p:spPr bwMode="auto">
          <a:xfrm flipV="1">
            <a:off x="11360099" y="1909092"/>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7" name="矩形 206">
            <a:extLst>
              <a:ext uri="{FF2B5EF4-FFF2-40B4-BE49-F238E27FC236}">
                <a16:creationId xmlns:a16="http://schemas.microsoft.com/office/drawing/2014/main" id="{E8DB0D0A-8BE9-6ADA-6C58-96049487BA32}"/>
              </a:ext>
            </a:extLst>
          </p:cNvPr>
          <p:cNvSpPr/>
          <p:nvPr/>
        </p:nvSpPr>
        <p:spPr>
          <a:xfrm>
            <a:off x="211183" y="1021596"/>
            <a:ext cx="8110443" cy="1052596"/>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3)  </a:t>
            </a:r>
            <a:r>
              <a:rPr kumimoji="1" lang="zh-CN" altLang="en-US" i="0" dirty="0">
                <a:solidFill>
                  <a:schemeClr val="tx1"/>
                </a:solidFill>
                <a:ea typeface="黑体" panose="02010609060101010101" pitchFamily="49" charset="-122"/>
              </a:rPr>
              <a:t>切应力强度校核。</a:t>
            </a:r>
            <a:r>
              <a:rPr kumimoji="1" lang="en-US" altLang="zh-CN" i="0" dirty="0">
                <a:solidFill>
                  <a:schemeClr val="tx1"/>
                </a:solidFill>
                <a:ea typeface="黑体" panose="02010609060101010101" pitchFamily="49" charset="-122"/>
              </a:rPr>
              <a:t>12.6</a:t>
            </a:r>
            <a:r>
              <a:rPr kumimoji="1" lang="zh-CN" altLang="en-US" i="0" dirty="0">
                <a:solidFill>
                  <a:schemeClr val="tx1"/>
                </a:solidFill>
                <a:ea typeface="黑体" panose="02010609060101010101" pitchFamily="49" charset="-122"/>
              </a:rPr>
              <a:t>号工字钢腹板面积为</a:t>
            </a:r>
            <a:endParaRPr kumimoji="1" lang="zh-CN" altLang="en-US" dirty="0">
              <a:solidFill>
                <a:schemeClr val="tx1"/>
              </a:solidFill>
              <a:ea typeface="黑体" panose="02010609060101010101" pitchFamily="49" charset="-122"/>
            </a:endParaRPr>
          </a:p>
          <a:p>
            <a:pPr lvl="0">
              <a:lnSpc>
                <a:spcPct val="130000"/>
              </a:lnSpc>
            </a:pPr>
            <a:r>
              <a:rPr kumimoji="1" lang="en-US" altLang="zh-CN" b="0" dirty="0">
                <a:solidFill>
                  <a:schemeClr val="tx1"/>
                </a:solidFill>
                <a:ea typeface="黑体" panose="02010609060101010101" pitchFamily="49" charset="-122"/>
              </a:rPr>
              <a:t>             A </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a:t>
            </a:r>
            <a:r>
              <a:rPr kumimoji="1" lang="en-US" altLang="zh-CN" b="0" i="0" dirty="0">
                <a:solidFill>
                  <a:schemeClr val="tx1"/>
                </a:solidFill>
                <a:latin typeface="宋体" panose="02010600030101010101" pitchFamily="2" charset="-122"/>
              </a:rPr>
              <a:t>-</a:t>
            </a:r>
            <a:r>
              <a:rPr kumimoji="1" lang="en-US" altLang="zh-CN" b="0" i="0" dirty="0">
                <a:solidFill>
                  <a:schemeClr val="tx1"/>
                </a:solidFill>
              </a:rPr>
              <a:t>2</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=(126</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8.4)</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5mm</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=546mm</a:t>
            </a:r>
            <a:r>
              <a:rPr kumimoji="1" lang="en-US" altLang="zh-CN" b="0" i="0" baseline="30000" dirty="0">
                <a:solidFill>
                  <a:schemeClr val="tx1"/>
                </a:solidFill>
                <a:ea typeface="黑体" panose="02010609060101010101" pitchFamily="49" charset="-122"/>
              </a:rPr>
              <a:t>2</a:t>
            </a:r>
            <a:endParaRPr lang="en-US" altLang="zh-CN" i="0" dirty="0">
              <a:solidFill>
                <a:schemeClr val="tx1"/>
              </a:solidFill>
              <a:latin typeface="黑体" panose="02010609060101010101" pitchFamily="49" charset="-122"/>
              <a:ea typeface="黑体" panose="02010609060101010101" pitchFamily="49" charset="-122"/>
            </a:endParaRPr>
          </a:p>
        </p:txBody>
      </p:sp>
      <p:graphicFrame>
        <p:nvGraphicFramePr>
          <p:cNvPr id="208" name="Object 69"/>
          <p:cNvGraphicFramePr>
            <a:graphicFrameLocks noChangeAspect="1"/>
          </p:cNvGraphicFramePr>
          <p:nvPr>
            <p:extLst>
              <p:ext uri="{D42A27DB-BD31-4B8C-83A1-F6EECF244321}">
                <p14:modId xmlns:p14="http://schemas.microsoft.com/office/powerpoint/2010/main" val="2534562870"/>
              </p:ext>
            </p:extLst>
          </p:nvPr>
        </p:nvGraphicFramePr>
        <p:xfrm>
          <a:off x="1191368" y="2017084"/>
          <a:ext cx="6010275" cy="881063"/>
        </p:xfrm>
        <a:graphic>
          <a:graphicData uri="http://schemas.openxmlformats.org/presentationml/2006/ole">
            <mc:AlternateContent xmlns:mc="http://schemas.openxmlformats.org/markup-compatibility/2006">
              <mc:Choice xmlns:v="urn:schemas-microsoft-com:vml" Requires="v">
                <p:oleObj spid="_x0000_s14368" name="Equation" r:id="rId6" imgW="2768400" imgH="419040" progId="Equation.DSMT4">
                  <p:embed/>
                </p:oleObj>
              </mc:Choice>
              <mc:Fallback>
                <p:oleObj name="Equation" r:id="rId6" imgW="2768400" imgH="419040" progId="Equation.DSMT4">
                  <p:embed/>
                  <p:pic>
                    <p:nvPicPr>
                      <p:cNvPr id="0" name=""/>
                      <p:cNvPicPr>
                        <a:picLocks noChangeAspect="1" noChangeArrowheads="1"/>
                      </p:cNvPicPr>
                      <p:nvPr/>
                    </p:nvPicPr>
                    <p:blipFill>
                      <a:blip r:embed="rId7"/>
                      <a:srcRect/>
                      <a:stretch>
                        <a:fillRect/>
                      </a:stretch>
                    </p:blipFill>
                    <p:spPr bwMode="auto">
                      <a:xfrm>
                        <a:off x="1191368" y="2017084"/>
                        <a:ext cx="6010275"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9" name="矩形 208">
            <a:extLst>
              <a:ext uri="{FF2B5EF4-FFF2-40B4-BE49-F238E27FC236}">
                <a16:creationId xmlns:a16="http://schemas.microsoft.com/office/drawing/2014/main" id="{E8DB0D0A-8BE9-6ADA-6C58-96049487BA32}"/>
              </a:ext>
            </a:extLst>
          </p:cNvPr>
          <p:cNvSpPr/>
          <p:nvPr/>
        </p:nvSpPr>
        <p:spPr>
          <a:xfrm>
            <a:off x="211183" y="2841039"/>
            <a:ext cx="8110443" cy="2012859"/>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ea typeface="黑体" panose="02010609060101010101" pitchFamily="49" charset="-122"/>
              </a:rPr>
              <a:t>故需重选。选用</a:t>
            </a:r>
            <a:r>
              <a:rPr kumimoji="1" lang="en-US" altLang="zh-CN" i="0" dirty="0">
                <a:solidFill>
                  <a:schemeClr val="tx1"/>
                </a:solidFill>
                <a:ea typeface="黑体" panose="02010609060101010101" pitchFamily="49" charset="-122"/>
              </a:rPr>
              <a:t>14</a:t>
            </a:r>
            <a:r>
              <a:rPr kumimoji="1" lang="zh-CN" altLang="en-US" i="0" dirty="0">
                <a:solidFill>
                  <a:schemeClr val="tx1"/>
                </a:solidFill>
                <a:ea typeface="黑体" panose="02010609060101010101" pitchFamily="49" charset="-122"/>
              </a:rPr>
              <a:t>号工字钢，</a:t>
            </a:r>
            <a:r>
              <a:rPr kumimoji="1" lang="en-US" altLang="zh-CN" b="0" dirty="0">
                <a:solidFill>
                  <a:schemeClr val="tx1"/>
                </a:solidFill>
                <a:ea typeface="黑体" panose="02010609060101010101" pitchFamily="49" charset="-122"/>
              </a:rPr>
              <a:t>H</a:t>
            </a:r>
            <a:r>
              <a:rPr kumimoji="1" lang="en-US" altLang="zh-CN" b="0" i="0" dirty="0">
                <a:solidFill>
                  <a:schemeClr val="tx1"/>
                </a:solidFill>
                <a:ea typeface="黑体" panose="02010609060101010101" pitchFamily="49" charset="-122"/>
              </a:rPr>
              <a:t>=140mm</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=9.1mm</a:t>
            </a:r>
            <a:r>
              <a:rPr kumimoji="1" lang="zh-CN" altLang="en-US" i="0" dirty="0">
                <a:solidFill>
                  <a:schemeClr val="tx1"/>
                </a:solidFill>
                <a:ea typeface="黑体" panose="02010609060101010101" pitchFamily="49" charset="-122"/>
              </a:rPr>
              <a:t>，</a:t>
            </a:r>
            <a:endParaRPr kumimoji="1" lang="en-US" altLang="zh-CN" i="0" dirty="0">
              <a:solidFill>
                <a:schemeClr val="tx1"/>
              </a:solidFill>
              <a:ea typeface="黑体" panose="02010609060101010101" pitchFamily="49" charset="-122"/>
            </a:endParaRP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=5.5mm</a:t>
            </a:r>
            <a:r>
              <a:rPr kumimoji="1" lang="zh-CN" altLang="en-US" i="0" dirty="0">
                <a:solidFill>
                  <a:schemeClr val="tx1"/>
                </a:solidFill>
                <a:ea typeface="黑体" panose="02010609060101010101" pitchFamily="49" charset="-122"/>
              </a:rPr>
              <a:t>，则     </a:t>
            </a:r>
            <a:endParaRPr kumimoji="1" lang="en-US" altLang="zh-CN" i="0" dirty="0">
              <a:solidFill>
                <a:schemeClr val="tx1"/>
              </a:solidFill>
              <a:ea typeface="黑体" panose="02010609060101010101" pitchFamily="49" charset="-122"/>
            </a:endParaRPr>
          </a:p>
          <a:p>
            <a:pPr lvl="0">
              <a:lnSpc>
                <a:spcPct val="130000"/>
              </a:lnSpc>
            </a:pP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=(140</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9.1)</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5.5=669.9mm</a:t>
            </a:r>
            <a:r>
              <a:rPr kumimoji="1" lang="en-US" altLang="zh-CN" b="0" i="0" baseline="30000" dirty="0">
                <a:solidFill>
                  <a:schemeClr val="tx1"/>
                </a:solidFill>
                <a:ea typeface="黑体" panose="02010609060101010101" pitchFamily="49" charset="-122"/>
              </a:rPr>
              <a:t>2</a:t>
            </a:r>
            <a:endParaRPr kumimoji="1" lang="en-US" altLang="zh-CN" b="0" baseline="30000" dirty="0">
              <a:solidFill>
                <a:schemeClr val="tx1"/>
              </a:solidFill>
              <a:ea typeface="黑体" panose="02010609060101010101" pitchFamily="49" charset="-122"/>
            </a:endParaRPr>
          </a:p>
          <a:p>
            <a:pPr lvl="0">
              <a:lnSpc>
                <a:spcPct val="130000"/>
              </a:lnSpc>
            </a:pPr>
            <a:r>
              <a:rPr kumimoji="1" lang="en-US" altLang="zh-CN" b="0" baseline="30000" dirty="0">
                <a:solidFill>
                  <a:schemeClr val="tx1"/>
                </a:solidFill>
                <a:ea typeface="黑体" panose="02010609060101010101" pitchFamily="49" charset="-122"/>
                <a:sym typeface="Symbol" panose="05050102010706020507" pitchFamily="18" charset="2"/>
              </a:rPr>
              <a:t> </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=80.6MPa&gt;[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210" name="矩形 209">
            <a:extLst>
              <a:ext uri="{FF2B5EF4-FFF2-40B4-BE49-F238E27FC236}">
                <a16:creationId xmlns:a16="http://schemas.microsoft.com/office/drawing/2014/main" id="{E8DB0D0A-8BE9-6ADA-6C58-96049487BA32}"/>
              </a:ext>
            </a:extLst>
          </p:cNvPr>
          <p:cNvSpPr/>
          <p:nvPr/>
        </p:nvSpPr>
        <p:spPr>
          <a:xfrm>
            <a:off x="1065154" y="4823034"/>
            <a:ext cx="6937502" cy="1052596"/>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显然，最大切应力不超过许用切应力的</a:t>
            </a:r>
            <a:r>
              <a:rPr kumimoji="1" lang="en-US" altLang="zh-CN" i="0" dirty="0">
                <a:solidFill>
                  <a:schemeClr val="tx1"/>
                </a:solidFill>
                <a:ea typeface="黑体" panose="02010609060101010101" pitchFamily="49" charset="-122"/>
              </a:rPr>
              <a:t>5</a:t>
            </a:r>
            <a:r>
              <a:rPr kumimoji="1" lang="zh-CN" altLang="en-US" i="0" dirty="0">
                <a:solidFill>
                  <a:schemeClr val="tx1"/>
                </a:solidFill>
                <a:ea typeface="黑体" panose="02010609060101010101" pitchFamily="49" charset="-122"/>
              </a:rPr>
              <a:t>％，所以最后确定选用</a:t>
            </a:r>
            <a:r>
              <a:rPr kumimoji="1" lang="en-US" altLang="zh-CN" i="0" dirty="0">
                <a:solidFill>
                  <a:schemeClr val="tx1"/>
                </a:solidFill>
                <a:ea typeface="黑体" panose="02010609060101010101" pitchFamily="49" charset="-122"/>
              </a:rPr>
              <a:t>14</a:t>
            </a:r>
            <a:r>
              <a:rPr kumimoji="1" lang="zh-CN" altLang="en-US" i="0" dirty="0">
                <a:solidFill>
                  <a:schemeClr val="tx1"/>
                </a:solidFill>
                <a:ea typeface="黑体" panose="02010609060101010101" pitchFamily="49" charset="-122"/>
              </a:rPr>
              <a:t>号工字钢。</a:t>
            </a:r>
            <a:endParaRPr lang="en-US" altLang="zh-CN" i="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598227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0" presetClass="entr" presetSubtype="0" fill="hold" nodeType="withEffect">
                                  <p:stCondLst>
                                    <p:cond delay="2000"/>
                                  </p:stCondLst>
                                  <p:childTnLst>
                                    <p:set>
                                      <p:cBhvr>
                                        <p:cTn id="8" dur="1" fill="hold">
                                          <p:stCondLst>
                                            <p:cond delay="0"/>
                                          </p:stCondLst>
                                        </p:cTn>
                                        <p:tgtEl>
                                          <p:spTgt spid="80"/>
                                        </p:tgtEl>
                                        <p:attrNameLst>
                                          <p:attrName>style.visibility</p:attrName>
                                        </p:attrNameLst>
                                      </p:cBhvr>
                                      <p:to>
                                        <p:strVal val="visible"/>
                                      </p:to>
                                    </p:set>
                                    <p:animEffect transition="in" filter="wedge">
                                      <p:cBhvr>
                                        <p:cTn id="9" dur="5000"/>
                                        <p:tgtEl>
                                          <p:spTgt spid="80"/>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slide(fromBottom)">
                                      <p:cBhvr>
                                        <p:cTn id="12" dur="3000"/>
                                        <p:tgtEl>
                                          <p:spTgt spid="206"/>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05"/>
                                        </p:tgtEl>
                                        <p:attrNameLst>
                                          <p:attrName>style.visibility</p:attrName>
                                        </p:attrNameLst>
                                      </p:cBhvr>
                                      <p:to>
                                        <p:strVal val="visible"/>
                                      </p:to>
                                    </p:set>
                                    <p:animEffect transition="in" filter="slide(fromBottom)">
                                      <p:cBhvr>
                                        <p:cTn id="15" dur="3000"/>
                                        <p:tgtEl>
                                          <p:spTgt spid="205"/>
                                        </p:tgtEl>
                                      </p:cBhvr>
                                    </p:animEffect>
                                  </p:childTnLst>
                                </p:cTn>
                              </p:par>
                              <p:par>
                                <p:cTn id="16" presetID="20" presetClass="entr" presetSubtype="0" fill="hold" grpId="0" nodeType="withEffect">
                                  <p:stCondLst>
                                    <p:cond delay="0"/>
                                  </p:stCondLst>
                                  <p:childTnLst>
                                    <p:set>
                                      <p:cBhvr>
                                        <p:cTn id="17" dur="1" fill="hold">
                                          <p:stCondLst>
                                            <p:cond delay="0"/>
                                          </p:stCondLst>
                                        </p:cTn>
                                        <p:tgtEl>
                                          <p:spTgt spid="204"/>
                                        </p:tgtEl>
                                        <p:attrNameLst>
                                          <p:attrName>style.visibility</p:attrName>
                                        </p:attrNameLst>
                                      </p:cBhvr>
                                      <p:to>
                                        <p:strVal val="visible"/>
                                      </p:to>
                                    </p:set>
                                    <p:animEffect transition="in" filter="wedge">
                                      <p:cBhvr>
                                        <p:cTn id="18" dur="2000"/>
                                        <p:tgtEl>
                                          <p:spTgt spid="204"/>
                                        </p:tgtEl>
                                      </p:cBhvr>
                                    </p:animEffect>
                                  </p:childTnLst>
                                </p:cTn>
                              </p:par>
                              <p:par>
                                <p:cTn id="19" presetID="20"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animEffect transition="in" filter="wedge">
                                      <p:cBhvr>
                                        <p:cTn id="21" dur="2000"/>
                                        <p:tgtEl>
                                          <p:spTgt spid="203"/>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197"/>
                                        </p:tgtEl>
                                        <p:attrNameLst>
                                          <p:attrName>style.visibility</p:attrName>
                                        </p:attrNameLst>
                                      </p:cBhvr>
                                      <p:to>
                                        <p:strVal val="visible"/>
                                      </p:to>
                                    </p:set>
                                    <p:animEffect transition="in" filter="slide(fromLeft)">
                                      <p:cBhvr>
                                        <p:cTn id="24" dur="5000"/>
                                        <p:tgtEl>
                                          <p:spTgt spid="197"/>
                                        </p:tgtEl>
                                      </p:cBhvr>
                                    </p:animEffect>
                                  </p:childTnLst>
                                </p:cTn>
                              </p:par>
                              <p:par>
                                <p:cTn id="25" presetID="19" presetClass="entr" presetSubtype="10" fill="hold" nodeType="withEffect">
                                  <p:stCondLst>
                                    <p:cond delay="500"/>
                                  </p:stCondLst>
                                  <p:childTnLst>
                                    <p:set>
                                      <p:cBhvr>
                                        <p:cTn id="26" dur="1" fill="hold">
                                          <p:stCondLst>
                                            <p:cond delay="0"/>
                                          </p:stCondLst>
                                        </p:cTn>
                                        <p:tgtEl>
                                          <p:spTgt spid="178"/>
                                        </p:tgtEl>
                                        <p:attrNameLst>
                                          <p:attrName>style.visibility</p:attrName>
                                        </p:attrNameLst>
                                      </p:cBhvr>
                                      <p:to>
                                        <p:strVal val="visible"/>
                                      </p:to>
                                    </p:set>
                                    <p:anim calcmode="lin" valueType="num">
                                      <p:cBhvr>
                                        <p:cTn id="27" dur="5000" fill="hold"/>
                                        <p:tgtEl>
                                          <p:spTgt spid="178"/>
                                        </p:tgtEl>
                                        <p:attrNameLst>
                                          <p:attrName>ppt_w</p:attrName>
                                        </p:attrNameLst>
                                      </p:cBhvr>
                                      <p:tavLst>
                                        <p:tav tm="0" fmla="#ppt_w*sin(2.5*pi*$)">
                                          <p:val>
                                            <p:fltVal val="0"/>
                                          </p:val>
                                        </p:tav>
                                        <p:tav tm="100000">
                                          <p:val>
                                            <p:fltVal val="1"/>
                                          </p:val>
                                        </p:tav>
                                      </p:tavLst>
                                    </p:anim>
                                    <p:anim calcmode="lin" valueType="num">
                                      <p:cBhvr>
                                        <p:cTn id="28" dur="5000" fill="hold"/>
                                        <p:tgtEl>
                                          <p:spTgt spid="178"/>
                                        </p:tgtEl>
                                        <p:attrNameLst>
                                          <p:attrName>ppt_h</p:attrName>
                                        </p:attrNameLst>
                                      </p:cBhvr>
                                      <p:tavLst>
                                        <p:tav tm="0">
                                          <p:val>
                                            <p:strVal val="#ppt_h"/>
                                          </p:val>
                                        </p:tav>
                                        <p:tav tm="100000">
                                          <p:val>
                                            <p:strVal val="#ppt_h"/>
                                          </p:val>
                                        </p:tav>
                                      </p:tavLst>
                                    </p:anim>
                                  </p:childTnLst>
                                </p:cTn>
                              </p:par>
                              <p:par>
                                <p:cTn id="29" presetID="12" presetClass="entr" presetSubtype="4" fill="hold" grpId="0" nodeType="withEffect">
                                  <p:stCondLst>
                                    <p:cond delay="500"/>
                                  </p:stCondLst>
                                  <p:childTnLst>
                                    <p:set>
                                      <p:cBhvr>
                                        <p:cTn id="30" dur="1" fill="hold">
                                          <p:stCondLst>
                                            <p:cond delay="0"/>
                                          </p:stCondLst>
                                        </p:cTn>
                                        <p:tgtEl>
                                          <p:spTgt spid="179"/>
                                        </p:tgtEl>
                                        <p:attrNameLst>
                                          <p:attrName>style.visibility</p:attrName>
                                        </p:attrNameLst>
                                      </p:cBhvr>
                                      <p:to>
                                        <p:strVal val="visible"/>
                                      </p:to>
                                    </p:set>
                                    <p:animEffect transition="in" filter="slide(fromBottom)">
                                      <p:cBhvr>
                                        <p:cTn id="31" dur="5000"/>
                                        <p:tgtEl>
                                          <p:spTgt spid="179"/>
                                        </p:tgtEl>
                                      </p:cBhvr>
                                    </p:animEffect>
                                  </p:childTnLst>
                                </p:cTn>
                              </p:par>
                              <p:par>
                                <p:cTn id="32" presetID="19" presetClass="entr" presetSubtype="10" fill="hold" nodeType="withEffect">
                                  <p:stCondLst>
                                    <p:cond delay="500"/>
                                  </p:stCondLst>
                                  <p:childTnLst>
                                    <p:set>
                                      <p:cBhvr>
                                        <p:cTn id="33" dur="1" fill="hold">
                                          <p:stCondLst>
                                            <p:cond delay="0"/>
                                          </p:stCondLst>
                                        </p:cTn>
                                        <p:tgtEl>
                                          <p:spTgt spid="180"/>
                                        </p:tgtEl>
                                        <p:attrNameLst>
                                          <p:attrName>style.visibility</p:attrName>
                                        </p:attrNameLst>
                                      </p:cBhvr>
                                      <p:to>
                                        <p:strVal val="visible"/>
                                      </p:to>
                                    </p:set>
                                    <p:anim calcmode="lin" valueType="num">
                                      <p:cBhvr>
                                        <p:cTn id="34" dur="5000" fill="hold"/>
                                        <p:tgtEl>
                                          <p:spTgt spid="180"/>
                                        </p:tgtEl>
                                        <p:attrNameLst>
                                          <p:attrName>ppt_w</p:attrName>
                                        </p:attrNameLst>
                                      </p:cBhvr>
                                      <p:tavLst>
                                        <p:tav tm="0" fmla="#ppt_w*sin(2.5*pi*$)">
                                          <p:val>
                                            <p:fltVal val="0"/>
                                          </p:val>
                                        </p:tav>
                                        <p:tav tm="100000">
                                          <p:val>
                                            <p:fltVal val="1"/>
                                          </p:val>
                                        </p:tav>
                                      </p:tavLst>
                                    </p:anim>
                                    <p:anim calcmode="lin" valueType="num">
                                      <p:cBhvr>
                                        <p:cTn id="35" dur="5000" fill="hold"/>
                                        <p:tgtEl>
                                          <p:spTgt spid="180"/>
                                        </p:tgtEl>
                                        <p:attrNameLst>
                                          <p:attrName>ppt_h</p:attrName>
                                        </p:attrNameLst>
                                      </p:cBhvr>
                                      <p:tavLst>
                                        <p:tav tm="0">
                                          <p:val>
                                            <p:strVal val="#ppt_h"/>
                                          </p:val>
                                        </p:tav>
                                        <p:tav tm="100000">
                                          <p:val>
                                            <p:strVal val="#ppt_h"/>
                                          </p:val>
                                        </p:tav>
                                      </p:tavLst>
                                    </p:anim>
                                  </p:childTnLst>
                                </p:cTn>
                              </p:par>
                              <p:par>
                                <p:cTn id="36" presetID="12" presetClass="entr" presetSubtype="8" fill="hold" grpId="0" nodeType="withEffect">
                                  <p:stCondLst>
                                    <p:cond delay="500"/>
                                  </p:stCondLst>
                                  <p:childTnLst>
                                    <p:set>
                                      <p:cBhvr>
                                        <p:cTn id="37" dur="1" fill="hold">
                                          <p:stCondLst>
                                            <p:cond delay="0"/>
                                          </p:stCondLst>
                                        </p:cTn>
                                        <p:tgtEl>
                                          <p:spTgt spid="196"/>
                                        </p:tgtEl>
                                        <p:attrNameLst>
                                          <p:attrName>style.visibility</p:attrName>
                                        </p:attrNameLst>
                                      </p:cBhvr>
                                      <p:to>
                                        <p:strVal val="visible"/>
                                      </p:to>
                                    </p:set>
                                    <p:animEffect transition="in" filter="slide(fromLeft)">
                                      <p:cBhvr>
                                        <p:cTn id="38" dur="5000"/>
                                        <p:tgtEl>
                                          <p:spTgt spid="196"/>
                                        </p:tgtEl>
                                      </p:cBhvr>
                                    </p:animEffect>
                                  </p:childTnLst>
                                </p:cTn>
                              </p:par>
                              <p:par>
                                <p:cTn id="39" presetID="19" presetClass="entr" presetSubtype="10" fill="hold" grpId="0" nodeType="withEffect">
                                  <p:stCondLst>
                                    <p:cond delay="500"/>
                                  </p:stCondLst>
                                  <p:childTnLst>
                                    <p:set>
                                      <p:cBhvr>
                                        <p:cTn id="40" dur="1" fill="hold">
                                          <p:stCondLst>
                                            <p:cond delay="0"/>
                                          </p:stCondLst>
                                        </p:cTn>
                                        <p:tgtEl>
                                          <p:spTgt spid="182"/>
                                        </p:tgtEl>
                                        <p:attrNameLst>
                                          <p:attrName>style.visibility</p:attrName>
                                        </p:attrNameLst>
                                      </p:cBhvr>
                                      <p:to>
                                        <p:strVal val="visible"/>
                                      </p:to>
                                    </p:set>
                                    <p:anim calcmode="lin" valueType="num">
                                      <p:cBhvr>
                                        <p:cTn id="41" dur="5000" fill="hold"/>
                                        <p:tgtEl>
                                          <p:spTgt spid="182"/>
                                        </p:tgtEl>
                                        <p:attrNameLst>
                                          <p:attrName>ppt_w</p:attrName>
                                        </p:attrNameLst>
                                      </p:cBhvr>
                                      <p:tavLst>
                                        <p:tav tm="0" fmla="#ppt_w*sin(2.5*pi*$)">
                                          <p:val>
                                            <p:fltVal val="0"/>
                                          </p:val>
                                        </p:tav>
                                        <p:tav tm="100000">
                                          <p:val>
                                            <p:fltVal val="1"/>
                                          </p:val>
                                        </p:tav>
                                      </p:tavLst>
                                    </p:anim>
                                    <p:anim calcmode="lin" valueType="num">
                                      <p:cBhvr>
                                        <p:cTn id="42"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4" name="CAMERA.WAV"/>
                                        </p:tgtEl>
                                      </p:cMediaNode>
                                    </p:audio>
                                  </p:subTnLst>
                                </p:cTn>
                              </p:par>
                              <p:par>
                                <p:cTn id="43" presetID="19" presetClass="entr" presetSubtype="10" fill="hold" grpId="0" nodeType="withEffect">
                                  <p:stCondLst>
                                    <p:cond delay="500"/>
                                  </p:stCondLst>
                                  <p:childTnLst>
                                    <p:set>
                                      <p:cBhvr>
                                        <p:cTn id="44" dur="1" fill="hold">
                                          <p:stCondLst>
                                            <p:cond delay="0"/>
                                          </p:stCondLst>
                                        </p:cTn>
                                        <p:tgtEl>
                                          <p:spTgt spid="181"/>
                                        </p:tgtEl>
                                        <p:attrNameLst>
                                          <p:attrName>style.visibility</p:attrName>
                                        </p:attrNameLst>
                                      </p:cBhvr>
                                      <p:to>
                                        <p:strVal val="visible"/>
                                      </p:to>
                                    </p:set>
                                    <p:anim calcmode="lin" valueType="num">
                                      <p:cBhvr>
                                        <p:cTn id="45" dur="5000" fill="hold"/>
                                        <p:tgtEl>
                                          <p:spTgt spid="181"/>
                                        </p:tgtEl>
                                        <p:attrNameLst>
                                          <p:attrName>ppt_w</p:attrName>
                                        </p:attrNameLst>
                                      </p:cBhvr>
                                      <p:tavLst>
                                        <p:tav tm="0" fmla="#ppt_w*sin(2.5*pi*$)">
                                          <p:val>
                                            <p:fltVal val="0"/>
                                          </p:val>
                                        </p:tav>
                                        <p:tav tm="100000">
                                          <p:val>
                                            <p:fltVal val="1"/>
                                          </p:val>
                                        </p:tav>
                                      </p:tavLst>
                                    </p:anim>
                                    <p:anim calcmode="lin" valueType="num">
                                      <p:cBhvr>
                                        <p:cTn id="46" dur="5000" fill="hold"/>
                                        <p:tgtEl>
                                          <p:spTgt spid="181"/>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500"/>
                                  </p:stCondLst>
                                  <p:childTnLst>
                                    <p:set>
                                      <p:cBhvr>
                                        <p:cTn id="48" dur="1" fill="hold">
                                          <p:stCondLst>
                                            <p:cond delay="0"/>
                                          </p:stCondLst>
                                        </p:cTn>
                                        <p:tgtEl>
                                          <p:spTgt spid="198"/>
                                        </p:tgtEl>
                                        <p:attrNameLst>
                                          <p:attrName>style.visibility</p:attrName>
                                        </p:attrNameLst>
                                      </p:cBhvr>
                                      <p:to>
                                        <p:strVal val="visible"/>
                                      </p:to>
                                    </p:set>
                                    <p:animEffect transition="in" filter="slide(fromBottom)">
                                      <p:cBhvr>
                                        <p:cTn id="49" dur="5000"/>
                                        <p:tgtEl>
                                          <p:spTgt spid="198"/>
                                        </p:tgtEl>
                                      </p:cBhvr>
                                    </p:animEffect>
                                  </p:childTnLst>
                                </p:cTn>
                              </p:par>
                              <p:par>
                                <p:cTn id="50" presetID="19" presetClass="entr" presetSubtype="10" fill="hold" grpId="0" nodeType="withEffect">
                                  <p:stCondLst>
                                    <p:cond delay="500"/>
                                  </p:stCondLst>
                                  <p:childTnLst>
                                    <p:set>
                                      <p:cBhvr>
                                        <p:cTn id="51" dur="1" fill="hold">
                                          <p:stCondLst>
                                            <p:cond delay="0"/>
                                          </p:stCondLst>
                                        </p:cTn>
                                        <p:tgtEl>
                                          <p:spTgt spid="199"/>
                                        </p:tgtEl>
                                        <p:attrNameLst>
                                          <p:attrName>style.visibility</p:attrName>
                                        </p:attrNameLst>
                                      </p:cBhvr>
                                      <p:to>
                                        <p:strVal val="visible"/>
                                      </p:to>
                                    </p:set>
                                    <p:anim calcmode="lin" valueType="num">
                                      <p:cBhvr>
                                        <p:cTn id="52" dur="5000" fill="hold"/>
                                        <p:tgtEl>
                                          <p:spTgt spid="199"/>
                                        </p:tgtEl>
                                        <p:attrNameLst>
                                          <p:attrName>ppt_w</p:attrName>
                                        </p:attrNameLst>
                                      </p:cBhvr>
                                      <p:tavLst>
                                        <p:tav tm="0" fmla="#ppt_w*sin(2.5*pi*$)">
                                          <p:val>
                                            <p:fltVal val="0"/>
                                          </p:val>
                                        </p:tav>
                                        <p:tav tm="100000">
                                          <p:val>
                                            <p:fltVal val="1"/>
                                          </p:val>
                                        </p:tav>
                                      </p:tavLst>
                                    </p:anim>
                                    <p:anim calcmode="lin" valueType="num">
                                      <p:cBhvr>
                                        <p:cTn id="53" dur="5000" fill="hold"/>
                                        <p:tgtEl>
                                          <p:spTgt spid="19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AMERA.WAV"/>
                                        </p:tgtEl>
                                      </p:cMediaNode>
                                    </p:audio>
                                  </p:subTnLst>
                                </p:cTn>
                              </p:par>
                              <p:par>
                                <p:cTn id="54" presetID="19" presetClass="entr" presetSubtype="10" fill="hold" nodeType="withEffect">
                                  <p:stCondLst>
                                    <p:cond delay="500"/>
                                  </p:stCondLst>
                                  <p:childTnLst>
                                    <p:set>
                                      <p:cBhvr>
                                        <p:cTn id="55" dur="1" fill="hold">
                                          <p:stCondLst>
                                            <p:cond delay="0"/>
                                          </p:stCondLst>
                                        </p:cTn>
                                        <p:tgtEl>
                                          <p:spTgt spid="200"/>
                                        </p:tgtEl>
                                        <p:attrNameLst>
                                          <p:attrName>style.visibility</p:attrName>
                                        </p:attrNameLst>
                                      </p:cBhvr>
                                      <p:to>
                                        <p:strVal val="visible"/>
                                      </p:to>
                                    </p:set>
                                    <p:anim calcmode="lin" valueType="num">
                                      <p:cBhvr>
                                        <p:cTn id="56" dur="5000" fill="hold"/>
                                        <p:tgtEl>
                                          <p:spTgt spid="200"/>
                                        </p:tgtEl>
                                        <p:attrNameLst>
                                          <p:attrName>ppt_w</p:attrName>
                                        </p:attrNameLst>
                                      </p:cBhvr>
                                      <p:tavLst>
                                        <p:tav tm="0" fmla="#ppt_w*sin(2.5*pi*$)">
                                          <p:val>
                                            <p:fltVal val="0"/>
                                          </p:val>
                                        </p:tav>
                                        <p:tav tm="100000">
                                          <p:val>
                                            <p:fltVal val="1"/>
                                          </p:val>
                                        </p:tav>
                                      </p:tavLst>
                                    </p:anim>
                                    <p:anim calcmode="lin" valueType="num">
                                      <p:cBhvr>
                                        <p:cTn id="57" dur="5000" fill="hold"/>
                                        <p:tgtEl>
                                          <p:spTgt spid="200"/>
                                        </p:tgtEl>
                                        <p:attrNameLst>
                                          <p:attrName>ppt_h</p:attrName>
                                        </p:attrNameLst>
                                      </p:cBhvr>
                                      <p:tavLst>
                                        <p:tav tm="0">
                                          <p:val>
                                            <p:strVal val="#ppt_h"/>
                                          </p:val>
                                        </p:tav>
                                        <p:tav tm="100000">
                                          <p:val>
                                            <p:strVal val="#ppt_h"/>
                                          </p:val>
                                        </p:tav>
                                      </p:tavLst>
                                    </p:anim>
                                  </p:childTnLst>
                                </p:cTn>
                              </p:par>
                            </p:childTnLst>
                          </p:cTn>
                        </p:par>
                        <p:par>
                          <p:cTn id="58" fill="hold">
                            <p:stCondLst>
                              <p:cond delay="7000"/>
                            </p:stCondLst>
                            <p:childTnLst>
                              <p:par>
                                <p:cTn id="59" presetID="22" presetClass="entr" presetSubtype="8" fill="hold" grpId="0" nodeType="afterEffect">
                                  <p:stCondLst>
                                    <p:cond delay="0"/>
                                  </p:stCondLst>
                                  <p:childTnLst>
                                    <p:set>
                                      <p:cBhvr>
                                        <p:cTn id="60" dur="1" fill="hold">
                                          <p:stCondLst>
                                            <p:cond delay="0"/>
                                          </p:stCondLst>
                                        </p:cTn>
                                        <p:tgtEl>
                                          <p:spTgt spid="185"/>
                                        </p:tgtEl>
                                        <p:attrNameLst>
                                          <p:attrName>style.visibility</p:attrName>
                                        </p:attrNameLst>
                                      </p:cBhvr>
                                      <p:to>
                                        <p:strVal val="visible"/>
                                      </p:to>
                                    </p:set>
                                    <p:animEffect transition="in" filter="wipe(left)">
                                      <p:cBhvr>
                                        <p:cTn id="61" dur="5000"/>
                                        <p:tgtEl>
                                          <p:spTgt spid="185"/>
                                        </p:tgtEl>
                                      </p:cBhvr>
                                    </p:animEffect>
                                  </p:childTnLst>
                                </p:cTn>
                              </p:par>
                              <p:par>
                                <p:cTn id="62" presetID="19" presetClass="entr" presetSubtype="10" fill="hold" grpId="0" nodeType="withEffect">
                                  <p:stCondLst>
                                    <p:cond delay="0"/>
                                  </p:stCondLst>
                                  <p:childTnLst>
                                    <p:set>
                                      <p:cBhvr>
                                        <p:cTn id="63" dur="1" fill="hold">
                                          <p:stCondLst>
                                            <p:cond delay="0"/>
                                          </p:stCondLst>
                                        </p:cTn>
                                        <p:tgtEl>
                                          <p:spTgt spid="189"/>
                                        </p:tgtEl>
                                        <p:attrNameLst>
                                          <p:attrName>style.visibility</p:attrName>
                                        </p:attrNameLst>
                                      </p:cBhvr>
                                      <p:to>
                                        <p:strVal val="visible"/>
                                      </p:to>
                                    </p:set>
                                    <p:anim calcmode="lin" valueType="num">
                                      <p:cBhvr>
                                        <p:cTn id="64" dur="5000" fill="hold"/>
                                        <p:tgtEl>
                                          <p:spTgt spid="189"/>
                                        </p:tgtEl>
                                        <p:attrNameLst>
                                          <p:attrName>ppt_w</p:attrName>
                                        </p:attrNameLst>
                                      </p:cBhvr>
                                      <p:tavLst>
                                        <p:tav tm="0" fmla="#ppt_w*sin(2.5*pi*$)">
                                          <p:val>
                                            <p:fltVal val="0"/>
                                          </p:val>
                                        </p:tav>
                                        <p:tav tm="100000">
                                          <p:val>
                                            <p:fltVal val="1"/>
                                          </p:val>
                                        </p:tav>
                                      </p:tavLst>
                                    </p:anim>
                                    <p:anim calcmode="lin" valueType="num">
                                      <p:cBhvr>
                                        <p:cTn id="65" dur="5000" fill="hold"/>
                                        <p:tgtEl>
                                          <p:spTgt spid="1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5" name="CHIMES.WAV"/>
                                        </p:tgtEl>
                                      </p:cMediaNode>
                                    </p:audio>
                                  </p:subTnLst>
                                </p:cTn>
                              </p:par>
                            </p:childTnLst>
                          </p:cTn>
                        </p:par>
                        <p:par>
                          <p:cTn id="66" fill="hold">
                            <p:stCondLst>
                              <p:cond delay="12000"/>
                            </p:stCondLst>
                            <p:childTnLst>
                              <p:par>
                                <p:cTn id="67" presetID="22" presetClass="entr" presetSubtype="8" fill="hold" grpId="0" nodeType="afterEffect">
                                  <p:stCondLst>
                                    <p:cond delay="0"/>
                                  </p:stCondLst>
                                  <p:childTnLst>
                                    <p:set>
                                      <p:cBhvr>
                                        <p:cTn id="68" dur="1" fill="hold">
                                          <p:stCondLst>
                                            <p:cond delay="0"/>
                                          </p:stCondLst>
                                        </p:cTn>
                                        <p:tgtEl>
                                          <p:spTgt spid="184"/>
                                        </p:tgtEl>
                                        <p:attrNameLst>
                                          <p:attrName>style.visibility</p:attrName>
                                        </p:attrNameLst>
                                      </p:cBhvr>
                                      <p:to>
                                        <p:strVal val="visible"/>
                                      </p:to>
                                    </p:set>
                                    <p:animEffect transition="in" filter="wipe(left)">
                                      <p:cBhvr>
                                        <p:cTn id="69" dur="5000"/>
                                        <p:tgtEl>
                                          <p:spTgt spid="184"/>
                                        </p:tgtEl>
                                      </p:cBhvr>
                                    </p:animEffect>
                                  </p:childTnLst>
                                </p:cTn>
                              </p:par>
                              <p:par>
                                <p:cTn id="70" presetID="19" presetClass="entr" presetSubtype="10" fill="hold" grpId="0" nodeType="withEffect">
                                  <p:stCondLst>
                                    <p:cond delay="0"/>
                                  </p:stCondLst>
                                  <p:childTnLst>
                                    <p:set>
                                      <p:cBhvr>
                                        <p:cTn id="71" dur="1" fill="hold">
                                          <p:stCondLst>
                                            <p:cond delay="0"/>
                                          </p:stCondLst>
                                        </p:cTn>
                                        <p:tgtEl>
                                          <p:spTgt spid="201"/>
                                        </p:tgtEl>
                                        <p:attrNameLst>
                                          <p:attrName>style.visibility</p:attrName>
                                        </p:attrNameLst>
                                      </p:cBhvr>
                                      <p:to>
                                        <p:strVal val="visible"/>
                                      </p:to>
                                    </p:set>
                                    <p:anim calcmode="lin" valueType="num">
                                      <p:cBhvr>
                                        <p:cTn id="72" dur="5000" fill="hold"/>
                                        <p:tgtEl>
                                          <p:spTgt spid="201"/>
                                        </p:tgtEl>
                                        <p:attrNameLst>
                                          <p:attrName>ppt_w</p:attrName>
                                        </p:attrNameLst>
                                      </p:cBhvr>
                                      <p:tavLst>
                                        <p:tav tm="0" fmla="#ppt_w*sin(2.5*pi*$)">
                                          <p:val>
                                            <p:fltVal val="0"/>
                                          </p:val>
                                        </p:tav>
                                        <p:tav tm="100000">
                                          <p:val>
                                            <p:fltVal val="1"/>
                                          </p:val>
                                        </p:tav>
                                      </p:tavLst>
                                    </p:anim>
                                    <p:anim calcmode="lin" valueType="num">
                                      <p:cBhvr>
                                        <p:cTn id="73"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5" name="CHIMES.WAV"/>
                                        </p:tgtEl>
                                      </p:cMediaNode>
                                    </p:audio>
                                  </p:subTnLst>
                                </p:cTn>
                              </p:par>
                            </p:childTnLst>
                          </p:cTn>
                        </p:par>
                        <p:par>
                          <p:cTn id="74" fill="hold">
                            <p:stCondLst>
                              <p:cond delay="17000"/>
                            </p:stCondLst>
                            <p:childTnLst>
                              <p:par>
                                <p:cTn id="75" presetID="15" presetClass="entr" presetSubtype="0" fill="hold" nodeType="afterEffect">
                                  <p:stCondLst>
                                    <p:cond delay="0"/>
                                  </p:stCondLst>
                                  <p:childTnLst>
                                    <p:set>
                                      <p:cBhvr>
                                        <p:cTn id="76" dur="1" fill="hold">
                                          <p:stCondLst>
                                            <p:cond delay="0"/>
                                          </p:stCondLst>
                                        </p:cTn>
                                        <p:tgtEl>
                                          <p:spTgt spid="193"/>
                                        </p:tgtEl>
                                        <p:attrNameLst>
                                          <p:attrName>style.visibility</p:attrName>
                                        </p:attrNameLst>
                                      </p:cBhvr>
                                      <p:to>
                                        <p:strVal val="visible"/>
                                      </p:to>
                                    </p:set>
                                    <p:anim calcmode="lin" valueType="num">
                                      <p:cBhvr>
                                        <p:cTn id="77" dur="3000" fill="hold"/>
                                        <p:tgtEl>
                                          <p:spTgt spid="193"/>
                                        </p:tgtEl>
                                        <p:attrNameLst>
                                          <p:attrName>ppt_w</p:attrName>
                                        </p:attrNameLst>
                                      </p:cBhvr>
                                      <p:tavLst>
                                        <p:tav tm="0">
                                          <p:val>
                                            <p:fltVal val="0"/>
                                          </p:val>
                                        </p:tav>
                                        <p:tav tm="100000">
                                          <p:val>
                                            <p:strVal val="#ppt_w"/>
                                          </p:val>
                                        </p:tav>
                                      </p:tavLst>
                                    </p:anim>
                                    <p:anim calcmode="lin" valueType="num">
                                      <p:cBhvr>
                                        <p:cTn id="78" dur="3000" fill="hold"/>
                                        <p:tgtEl>
                                          <p:spTgt spid="193"/>
                                        </p:tgtEl>
                                        <p:attrNameLst>
                                          <p:attrName>ppt_h</p:attrName>
                                        </p:attrNameLst>
                                      </p:cBhvr>
                                      <p:tavLst>
                                        <p:tav tm="0">
                                          <p:val>
                                            <p:fltVal val="0"/>
                                          </p:val>
                                        </p:tav>
                                        <p:tav tm="100000">
                                          <p:val>
                                            <p:strVal val="#ppt_h"/>
                                          </p:val>
                                        </p:tav>
                                      </p:tavLst>
                                    </p:anim>
                                    <p:anim calcmode="lin" valueType="num">
                                      <p:cBhvr>
                                        <p:cTn id="79" dur="3000" fill="hold"/>
                                        <p:tgtEl>
                                          <p:spTgt spid="193"/>
                                        </p:tgtEl>
                                        <p:attrNameLst>
                                          <p:attrName>ppt_x</p:attrName>
                                        </p:attrNameLst>
                                      </p:cBhvr>
                                      <p:tavLst>
                                        <p:tav tm="0" fmla="#ppt_x+(cos(-2*pi*(1-$))*-#ppt_x-sin(-2*pi*(1-$))*(1-#ppt_y))*(1-$)">
                                          <p:val>
                                            <p:fltVal val="0"/>
                                          </p:val>
                                        </p:tav>
                                        <p:tav tm="100000">
                                          <p:val>
                                            <p:fltVal val="1"/>
                                          </p:val>
                                        </p:tav>
                                      </p:tavLst>
                                    </p:anim>
                                    <p:anim calcmode="lin" valueType="num">
                                      <p:cBhvr>
                                        <p:cTn id="80" dur="3000" fill="hold"/>
                                        <p:tgtEl>
                                          <p:spTgt spid="193"/>
                                        </p:tgtEl>
                                        <p:attrNameLst>
                                          <p:attrName>ppt_y</p:attrName>
                                        </p:attrNameLst>
                                      </p:cBhvr>
                                      <p:tavLst>
                                        <p:tav tm="0" fmla="#ppt_y+(sin(-2*pi*(1-$))*-#ppt_x+cos(-2*pi*(1-$))*(1-#ppt_y))*(1-$)">
                                          <p:val>
                                            <p:fltVal val="0"/>
                                          </p:val>
                                        </p:tav>
                                        <p:tav tm="100000">
                                          <p:val>
                                            <p:fltVal val="1"/>
                                          </p:val>
                                        </p:tav>
                                      </p:tavLst>
                                    </p:anim>
                                  </p:childTnLst>
                                </p:cTn>
                              </p:par>
                            </p:childTnLst>
                          </p:cTn>
                        </p:par>
                        <p:par>
                          <p:cTn id="81" fill="hold">
                            <p:stCondLst>
                              <p:cond delay="20000"/>
                            </p:stCondLst>
                            <p:childTnLst>
                              <p:par>
                                <p:cTn id="82" presetID="15" presetClass="entr" presetSubtype="0" fill="hold" nodeType="afterEffect">
                                  <p:stCondLst>
                                    <p:cond delay="0"/>
                                  </p:stCondLst>
                                  <p:childTnLst>
                                    <p:set>
                                      <p:cBhvr>
                                        <p:cTn id="83" dur="1" fill="hold">
                                          <p:stCondLst>
                                            <p:cond delay="0"/>
                                          </p:stCondLst>
                                        </p:cTn>
                                        <p:tgtEl>
                                          <p:spTgt spid="186"/>
                                        </p:tgtEl>
                                        <p:attrNameLst>
                                          <p:attrName>style.visibility</p:attrName>
                                        </p:attrNameLst>
                                      </p:cBhvr>
                                      <p:to>
                                        <p:strVal val="visible"/>
                                      </p:to>
                                    </p:set>
                                    <p:anim calcmode="lin" valueType="num">
                                      <p:cBhvr>
                                        <p:cTn id="84" dur="3000" fill="hold"/>
                                        <p:tgtEl>
                                          <p:spTgt spid="186"/>
                                        </p:tgtEl>
                                        <p:attrNameLst>
                                          <p:attrName>ppt_w</p:attrName>
                                        </p:attrNameLst>
                                      </p:cBhvr>
                                      <p:tavLst>
                                        <p:tav tm="0">
                                          <p:val>
                                            <p:fltVal val="0"/>
                                          </p:val>
                                        </p:tav>
                                        <p:tav tm="100000">
                                          <p:val>
                                            <p:strVal val="#ppt_w"/>
                                          </p:val>
                                        </p:tav>
                                      </p:tavLst>
                                    </p:anim>
                                    <p:anim calcmode="lin" valueType="num">
                                      <p:cBhvr>
                                        <p:cTn id="85" dur="3000" fill="hold"/>
                                        <p:tgtEl>
                                          <p:spTgt spid="186"/>
                                        </p:tgtEl>
                                        <p:attrNameLst>
                                          <p:attrName>ppt_h</p:attrName>
                                        </p:attrNameLst>
                                      </p:cBhvr>
                                      <p:tavLst>
                                        <p:tav tm="0">
                                          <p:val>
                                            <p:fltVal val="0"/>
                                          </p:val>
                                        </p:tav>
                                        <p:tav tm="100000">
                                          <p:val>
                                            <p:strVal val="#ppt_h"/>
                                          </p:val>
                                        </p:tav>
                                      </p:tavLst>
                                    </p:anim>
                                    <p:anim calcmode="lin" valueType="num">
                                      <p:cBhvr>
                                        <p:cTn id="86" dur="3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87" dur="3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2"/>
                                            </p:cond>
                                          </p:stCondLst>
                                          <p:endCondLst>
                                            <p:cond evt="onStopAudio" delay="0">
                                              <p:tgtEl>
                                                <p:sldTgt/>
                                              </p:tgtEl>
                                            </p:cond>
                                          </p:endCondLst>
                                        </p:cTn>
                                        <p:tgtEl>
                                          <p:sndTgt r:embed="rId5" name="CHIMES.WAV"/>
                                        </p:tgtEl>
                                      </p:cMediaNode>
                                    </p:audio>
                                  </p:subTnLst>
                                </p:cTn>
                              </p:par>
                            </p:childTnLst>
                          </p:cTn>
                        </p:par>
                        <p:par>
                          <p:cTn id="88" fill="hold">
                            <p:stCondLst>
                              <p:cond delay="23000"/>
                            </p:stCondLst>
                            <p:childTnLst>
                              <p:par>
                                <p:cTn id="89" presetID="22" presetClass="entr" presetSubtype="8" fill="hold" grpId="0" nodeType="afterEffect">
                                  <p:stCondLst>
                                    <p:cond delay="0"/>
                                  </p:stCondLst>
                                  <p:childTnLst>
                                    <p:set>
                                      <p:cBhvr>
                                        <p:cTn id="90" dur="1" fill="hold">
                                          <p:stCondLst>
                                            <p:cond delay="0"/>
                                          </p:stCondLst>
                                        </p:cTn>
                                        <p:tgtEl>
                                          <p:spTgt spid="183"/>
                                        </p:tgtEl>
                                        <p:attrNameLst>
                                          <p:attrName>style.visibility</p:attrName>
                                        </p:attrNameLst>
                                      </p:cBhvr>
                                      <p:to>
                                        <p:strVal val="visible"/>
                                      </p:to>
                                    </p:set>
                                    <p:animEffect transition="in" filter="wipe(left)">
                                      <p:cBhvr>
                                        <p:cTn id="91" dur="5000"/>
                                        <p:tgtEl>
                                          <p:spTgt spid="183"/>
                                        </p:tgtEl>
                                      </p:cBhvr>
                                    </p:animEffect>
                                  </p:childTnLst>
                                </p:cTn>
                              </p:par>
                              <p:par>
                                <p:cTn id="92" presetID="19" presetClass="entr" presetSubtype="10" fill="hold" grpId="0" nodeType="withEffect">
                                  <p:stCondLst>
                                    <p:cond delay="0"/>
                                  </p:stCondLst>
                                  <p:childTnLst>
                                    <p:set>
                                      <p:cBhvr>
                                        <p:cTn id="93" dur="1" fill="hold">
                                          <p:stCondLst>
                                            <p:cond delay="0"/>
                                          </p:stCondLst>
                                        </p:cTn>
                                        <p:tgtEl>
                                          <p:spTgt spid="202"/>
                                        </p:tgtEl>
                                        <p:attrNameLst>
                                          <p:attrName>style.visibility</p:attrName>
                                        </p:attrNameLst>
                                      </p:cBhvr>
                                      <p:to>
                                        <p:strVal val="visible"/>
                                      </p:to>
                                    </p:set>
                                    <p:anim calcmode="lin" valueType="num">
                                      <p:cBhvr>
                                        <p:cTn id="94" dur="5000" fill="hold"/>
                                        <p:tgtEl>
                                          <p:spTgt spid="202"/>
                                        </p:tgtEl>
                                        <p:attrNameLst>
                                          <p:attrName>ppt_w</p:attrName>
                                        </p:attrNameLst>
                                      </p:cBhvr>
                                      <p:tavLst>
                                        <p:tav tm="0" fmla="#ppt_w*sin(2.5*pi*$)">
                                          <p:val>
                                            <p:fltVal val="0"/>
                                          </p:val>
                                        </p:tav>
                                        <p:tav tm="100000">
                                          <p:val>
                                            <p:fltVal val="1"/>
                                          </p:val>
                                        </p:tav>
                                      </p:tavLst>
                                    </p:anim>
                                    <p:anim calcmode="lin" valueType="num">
                                      <p:cBhvr>
                                        <p:cTn id="95" dur="5000" fill="hold"/>
                                        <p:tgtEl>
                                          <p:spTgt spid="202"/>
                                        </p:tgtEl>
                                        <p:attrNameLst>
                                          <p:attrName>ppt_h</p:attrName>
                                        </p:attrNameLst>
                                      </p:cBhvr>
                                      <p:tavLst>
                                        <p:tav tm="0">
                                          <p:val>
                                            <p:strVal val="#ppt_h"/>
                                          </p:val>
                                        </p:tav>
                                        <p:tav tm="100000">
                                          <p:val>
                                            <p:strVal val="#ppt_h"/>
                                          </p:val>
                                        </p:tav>
                                      </p:tavLst>
                                    </p:anim>
                                  </p:childTnLst>
                                </p:cTn>
                              </p:par>
                            </p:childTnLst>
                          </p:cTn>
                        </p:par>
                        <p:par>
                          <p:cTn id="96" fill="hold">
                            <p:stCondLst>
                              <p:cond delay="28000"/>
                            </p:stCondLst>
                            <p:childTnLst>
                              <p:par>
                                <p:cTn id="97" presetID="15" presetClass="entr" presetSubtype="0" fill="hold" nodeType="afterEffect">
                                  <p:stCondLst>
                                    <p:cond delay="0"/>
                                  </p:stCondLst>
                                  <p:childTnLst>
                                    <p:set>
                                      <p:cBhvr>
                                        <p:cTn id="98" dur="1" fill="hold">
                                          <p:stCondLst>
                                            <p:cond delay="0"/>
                                          </p:stCondLst>
                                        </p:cTn>
                                        <p:tgtEl>
                                          <p:spTgt spid="190"/>
                                        </p:tgtEl>
                                        <p:attrNameLst>
                                          <p:attrName>style.visibility</p:attrName>
                                        </p:attrNameLst>
                                      </p:cBhvr>
                                      <p:to>
                                        <p:strVal val="visible"/>
                                      </p:to>
                                    </p:set>
                                    <p:anim calcmode="lin" valueType="num">
                                      <p:cBhvr>
                                        <p:cTn id="99" dur="3000" fill="hold"/>
                                        <p:tgtEl>
                                          <p:spTgt spid="190"/>
                                        </p:tgtEl>
                                        <p:attrNameLst>
                                          <p:attrName>ppt_w</p:attrName>
                                        </p:attrNameLst>
                                      </p:cBhvr>
                                      <p:tavLst>
                                        <p:tav tm="0">
                                          <p:val>
                                            <p:fltVal val="0"/>
                                          </p:val>
                                        </p:tav>
                                        <p:tav tm="100000">
                                          <p:val>
                                            <p:strVal val="#ppt_w"/>
                                          </p:val>
                                        </p:tav>
                                      </p:tavLst>
                                    </p:anim>
                                    <p:anim calcmode="lin" valueType="num">
                                      <p:cBhvr>
                                        <p:cTn id="100" dur="3000" fill="hold"/>
                                        <p:tgtEl>
                                          <p:spTgt spid="190"/>
                                        </p:tgtEl>
                                        <p:attrNameLst>
                                          <p:attrName>ppt_h</p:attrName>
                                        </p:attrNameLst>
                                      </p:cBhvr>
                                      <p:tavLst>
                                        <p:tav tm="0">
                                          <p:val>
                                            <p:fltVal val="0"/>
                                          </p:val>
                                        </p:tav>
                                        <p:tav tm="100000">
                                          <p:val>
                                            <p:strVal val="#ppt_h"/>
                                          </p:val>
                                        </p:tav>
                                      </p:tavLst>
                                    </p:anim>
                                    <p:anim calcmode="lin" valueType="num">
                                      <p:cBhvr>
                                        <p:cTn id="101" dur="3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1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08"/>
                                        </p:tgtEl>
                                        <p:attrNameLst>
                                          <p:attrName>style.visibility</p:attrName>
                                        </p:attrNameLst>
                                      </p:cBhvr>
                                      <p:to>
                                        <p:strVal val="visible"/>
                                      </p:to>
                                    </p:set>
                                    <p:animEffect transition="in" filter="wipe(left)">
                                      <p:cBhvr>
                                        <p:cTn id="111" dur="5000"/>
                                        <p:tgtEl>
                                          <p:spTgt spid="208"/>
                                        </p:tgtEl>
                                      </p:cBhvr>
                                    </p:animEffect>
                                  </p:childTnLst>
                                  <p:subTnLst>
                                    <p:audio>
                                      <p:cMediaNode>
                                        <p:cTn display="0" masterRel="sameClick">
                                          <p:stCondLst>
                                            <p:cond evt="begin" delay="0">
                                              <p:tn val="109"/>
                                            </p:cond>
                                          </p:stCondLst>
                                          <p:endCondLst>
                                            <p:cond evt="onStopAudio" delay="0">
                                              <p:tgtEl>
                                                <p:sldTgt/>
                                              </p:tgtEl>
                                            </p:cond>
                                          </p:endCondLst>
                                        </p:cTn>
                                        <p:tgtEl>
                                          <p:sndTgt r:embed="rId4"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20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9" grpId="0" animBg="1"/>
      <p:bldP spid="181" grpId="0"/>
      <p:bldP spid="182" grpId="0" autoUpdateAnimBg="0"/>
      <p:bldP spid="183" grpId="0" animBg="1"/>
      <p:bldP spid="184" grpId="0" animBg="1"/>
      <p:bldP spid="185" grpId="0" animBg="1"/>
      <p:bldP spid="189" grpId="0" autoUpdateAnimBg="0"/>
      <p:bldP spid="196" grpId="0" animBg="1"/>
      <p:bldP spid="197" grpId="0" animBg="1"/>
      <p:bldP spid="198" grpId="0" animBg="1"/>
      <p:bldP spid="199" grpId="0" autoUpdateAnimBg="0"/>
      <p:bldP spid="201" grpId="0" autoUpdateAnimBg="0"/>
      <p:bldP spid="202" grpId="0"/>
      <p:bldP spid="203" grpId="0"/>
      <p:bldP spid="204" grpId="0"/>
      <p:bldP spid="205" grpId="0" animBg="1"/>
      <p:bldP spid="206" grpId="0" animBg="1"/>
      <p:bldP spid="207" grpId="0"/>
      <p:bldP spid="209" grpId="0"/>
      <p:bldP spid="2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§10-3  </a:t>
            </a:r>
            <a:r>
              <a:rPr lang="zh-CN" altLang="en-US" sz="3000" i="0" dirty="0">
                <a:solidFill>
                  <a:schemeClr val="accent6">
                    <a:lumMod val="75000"/>
                  </a:schemeClr>
                </a:solidFill>
                <a:latin typeface="+mn-lt"/>
                <a:ea typeface="微软雅黑" panose="020B0503020204020204" pitchFamily="34" charset="-122"/>
              </a:rPr>
              <a:t>梁的刚度计算</a:t>
            </a:r>
          </a:p>
        </p:txBody>
      </p:sp>
      <p:sp>
        <p:nvSpPr>
          <p:cNvPr id="53" name="矩形 52"/>
          <p:cNvSpPr/>
          <p:nvPr/>
        </p:nvSpPr>
        <p:spPr>
          <a:xfrm>
            <a:off x="4466434" y="1205669"/>
            <a:ext cx="3376245" cy="1200329"/>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梁的弯曲变形概述 </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111" name="矩形 110">
            <a:extLst>
              <a:ext uri="{FF2B5EF4-FFF2-40B4-BE49-F238E27FC236}">
                <a16:creationId xmlns:a16="http://schemas.microsoft.com/office/drawing/2014/main" id="{E8DB0D0A-8BE9-6ADA-6C58-96049487BA32}"/>
              </a:ext>
            </a:extLst>
          </p:cNvPr>
          <p:cNvSpPr/>
          <p:nvPr/>
        </p:nvSpPr>
        <p:spPr>
          <a:xfrm>
            <a:off x="695400" y="1728489"/>
            <a:ext cx="11233248" cy="2462213"/>
          </a:xfrm>
          <a:prstGeom prst="rect">
            <a:avLst/>
          </a:prstGeom>
        </p:spPr>
        <p:txBody>
          <a:bodyPr wrap="square">
            <a:spAutoFit/>
          </a:bodyPr>
          <a:lstStyle/>
          <a:p>
            <a:pPr lvl="0"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梁满足强度条件，表明它能安全地工作， 但变形过大也会影响机器的正常运行。</a:t>
            </a:r>
            <a:r>
              <a:rPr kumimoji="1" lang="zh-CN" altLang="en-US" sz="2800" i="0" dirty="0">
                <a:solidFill>
                  <a:schemeClr val="tx1"/>
                </a:solidFill>
                <a:latin typeface="微软雅黑" panose="020B0503020204020204" pitchFamily="34" charset="-122"/>
                <a:ea typeface="微软雅黑" panose="020B0503020204020204" pitchFamily="34" charset="-122"/>
              </a:rPr>
              <a:t>例如轧钢机的轧辊，若弯曲变形过大，轧出的钢板将薄厚不均匀，产品不合格；如果是机床的主轴，则将严重影响机床的加工精度。</a:t>
            </a:r>
          </a:p>
          <a:p>
            <a:pPr lvl="0" algn="just">
              <a:lnSpc>
                <a:spcPct val="110000"/>
              </a:lnSpc>
            </a:pPr>
            <a:r>
              <a:rPr kumimoji="1" lang="zh-CN" altLang="en-US" sz="2800"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。因此，对某些构件而言，除满足强度条件外，还要将其变形限制在一定范围内，即满足刚度条件。</a:t>
            </a:r>
            <a:endParaRPr kumimoji="1" lang="en-US" altLang="zh-CN" i="0" dirty="0">
              <a:solidFill>
                <a:schemeClr val="tx1"/>
              </a:solidFill>
              <a:latin typeface="+mn-lt"/>
              <a:ea typeface="黑体" panose="02010609060101010101" pitchFamily="49" charset="-122"/>
            </a:endParaRPr>
          </a:p>
        </p:txBody>
      </p:sp>
      <p:sp>
        <p:nvSpPr>
          <p:cNvPr id="1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375914" y="4113076"/>
            <a:ext cx="11557283" cy="2142082"/>
          </a:xfrm>
          <a:prstGeom prst="rect">
            <a:avLst/>
          </a:prstGeom>
          <a:solidFill>
            <a:srgbClr val="B9CDE5"/>
          </a:solidFill>
          <a:ln>
            <a:noFill/>
          </a:ln>
          <a:effectLst/>
        </p:spPr>
        <p:txBody>
          <a:bodyPr wrap="none" anchor="ctr"/>
          <a:lstStyle/>
          <a:p>
            <a:endParaRPr lang="zh-CN" altLang="en-US"/>
          </a:p>
        </p:txBody>
      </p:sp>
      <p:pic>
        <p:nvPicPr>
          <p:cNvPr id="113" name="Picture 3" descr="z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46" y="4190702"/>
            <a:ext cx="2853058" cy="195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3754535" y="4200063"/>
            <a:ext cx="4466858" cy="1948986"/>
          </a:xfrm>
          <a:prstGeom prst="rect">
            <a:avLst/>
          </a:prstGeom>
        </p:spPr>
      </p:pic>
      <p:pic>
        <p:nvPicPr>
          <p:cNvPr id="3" name="图片 2"/>
          <p:cNvPicPr>
            <a:picLocks noChangeAspect="1"/>
          </p:cNvPicPr>
          <p:nvPr/>
        </p:nvPicPr>
        <p:blipFill>
          <a:blip r:embed="rId5"/>
          <a:stretch>
            <a:fillRect/>
          </a:stretch>
        </p:blipFill>
        <p:spPr>
          <a:xfrm>
            <a:off x="8616280" y="4182200"/>
            <a:ext cx="2774637" cy="2003834"/>
          </a:xfrm>
          <a:prstGeom prst="rect">
            <a:avLst/>
          </a:prstGeom>
        </p:spPr>
      </p:pic>
    </p:spTree>
    <p:extLst>
      <p:ext uri="{BB962C8B-B14F-4D97-AF65-F5344CB8AC3E}">
        <p14:creationId xmlns:p14="http://schemas.microsoft.com/office/powerpoint/2010/main" val="104714349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857411"/>
            <a:ext cx="7308811"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．挠度和转角</a:t>
            </a:r>
          </a:p>
          <a:p>
            <a:pPr algn="just">
              <a:lnSpc>
                <a:spcPct val="130000"/>
              </a:lnSpc>
            </a:pPr>
            <a:r>
              <a:rPr lang="zh-CN" altLang="en-US" sz="2800" i="0" dirty="0">
                <a:latin typeface="+mn-lt"/>
                <a:ea typeface="微软雅黑" panose="020B0503020204020204" pitchFamily="34" charset="-122"/>
              </a:rPr>
              <a:t>度量梁的变形的两个基本物理量是挠度和转角。它们主要因弯矩而产生， 剪力的影响可以忽略不计。</a:t>
            </a:r>
            <a:endParaRPr lang="en-US" altLang="zh-CN" sz="2800" i="0" dirty="0">
              <a:latin typeface="+mn-lt"/>
              <a:ea typeface="微软雅黑" panose="020B0503020204020204" pitchFamily="34" charset="-122"/>
            </a:endParaRPr>
          </a:p>
          <a:p>
            <a:pPr algn="just">
              <a:lnSpc>
                <a:spcPct val="130000"/>
              </a:lnSpc>
            </a:pPr>
            <a:r>
              <a:rPr lang="zh-CN" altLang="en-US" sz="2800" i="0" dirty="0">
                <a:latin typeface="+mn-lt"/>
                <a:ea typeface="微软雅黑" panose="020B0503020204020204" pitchFamily="34" charset="-122"/>
              </a:rPr>
              <a:t>以悬臂梁为例，变形前梁的轴线为直线</a:t>
            </a:r>
            <a:r>
              <a:rPr lang="en-US" altLang="zh-CN" sz="2800" b="0" dirty="0">
                <a:latin typeface="+mn-lt"/>
                <a:ea typeface="微软雅黑" panose="020B0503020204020204" pitchFamily="34" charset="-122"/>
              </a:rPr>
              <a:t>AB</a:t>
            </a:r>
            <a:r>
              <a:rPr lang="zh-CN" altLang="en-US"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是梁的某一横截面，变形后</a:t>
            </a:r>
            <a:r>
              <a:rPr lang="en-US" altLang="zh-CN" sz="2800" b="0" dirty="0">
                <a:latin typeface="+mn-lt"/>
                <a:ea typeface="微软雅黑" panose="020B0503020204020204" pitchFamily="34" charset="-122"/>
              </a:rPr>
              <a:t>AB</a:t>
            </a:r>
            <a:r>
              <a:rPr lang="zh-CN" altLang="en-US" sz="2800" i="0" dirty="0">
                <a:latin typeface="+mn-lt"/>
                <a:ea typeface="微软雅黑" panose="020B0503020204020204" pitchFamily="34" charset="-122"/>
              </a:rPr>
              <a:t>变为光滑的连续曲线</a:t>
            </a:r>
            <a:r>
              <a:rPr lang="en-US" altLang="zh-CN" sz="2800" b="0" dirty="0">
                <a:latin typeface="+mn-lt"/>
                <a:ea typeface="微软雅黑" panose="020B0503020204020204" pitchFamily="34" charset="-122"/>
              </a:rPr>
              <a:t>AB</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转到了</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1</a:t>
            </a:r>
            <a:r>
              <a:rPr lang="en-US" altLang="zh-CN" sz="2800" b="0" dirty="0">
                <a:latin typeface="+mn-lt"/>
                <a:ea typeface="微软雅黑" panose="020B0503020204020204" pitchFamily="34" charset="-122"/>
              </a:rPr>
              <a:t>n</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的位置。 </a:t>
            </a:r>
          </a:p>
          <a:p>
            <a:pPr algn="just">
              <a:lnSpc>
                <a:spcPct val="130000"/>
              </a:lnSpc>
            </a:pPr>
            <a:endParaRPr kumimoji="1" lang="zh-CN" altLang="en-US" sz="2800" i="0" dirty="0">
              <a:latin typeface="+mn-lt"/>
              <a:ea typeface="微软雅黑" panose="020B0503020204020204" pitchFamily="34" charset="-122"/>
            </a:endParaRPr>
          </a:p>
        </p:txBody>
      </p:sp>
      <p:sp>
        <p:nvSpPr>
          <p:cNvPr id="4"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932204" y="1664804"/>
            <a:ext cx="4140459" cy="2761446"/>
          </a:xfrm>
          <a:prstGeom prst="rect">
            <a:avLst/>
          </a:prstGeom>
          <a:solidFill>
            <a:srgbClr val="B9CDE5"/>
          </a:solidFill>
          <a:ln>
            <a:noFill/>
          </a:ln>
          <a:effectLst/>
        </p:spPr>
        <p:txBody>
          <a:bodyPr wrap="none" anchor="ctr"/>
          <a:lstStyle/>
          <a:p>
            <a:endParaRPr lang="zh-CN" altLang="en-US"/>
          </a:p>
        </p:txBody>
      </p:sp>
      <p:sp>
        <p:nvSpPr>
          <p:cNvPr id="5" name="Line 5"/>
          <p:cNvSpPr>
            <a:spLocks noChangeAspect="1" noChangeShapeType="1"/>
          </p:cNvSpPr>
          <p:nvPr/>
        </p:nvSpPr>
        <p:spPr bwMode="auto">
          <a:xfrm flipV="1">
            <a:off x="8221761" y="1854192"/>
            <a:ext cx="0" cy="9699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 name="Line 6"/>
          <p:cNvSpPr>
            <a:spLocks noChangeAspect="1" noChangeShapeType="1"/>
          </p:cNvSpPr>
          <p:nvPr/>
        </p:nvSpPr>
        <p:spPr bwMode="auto">
          <a:xfrm rot="16200000">
            <a:off x="11438830" y="2194711"/>
            <a:ext cx="0" cy="1135062"/>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 name="Arc 7"/>
          <p:cNvSpPr>
            <a:spLocks noChangeAspect="1"/>
          </p:cNvSpPr>
          <p:nvPr/>
        </p:nvSpPr>
        <p:spPr bwMode="auto">
          <a:xfrm>
            <a:off x="8239224" y="2746367"/>
            <a:ext cx="3122612" cy="911225"/>
          </a:xfrm>
          <a:custGeom>
            <a:avLst/>
            <a:gdLst>
              <a:gd name="T0" fmla="*/ 0 w 19735"/>
              <a:gd name="T1" fmla="*/ 0 h 21600"/>
              <a:gd name="T2" fmla="*/ 2147483647 w 19735"/>
              <a:gd name="T3" fmla="*/ 962506707 h 21600"/>
              <a:gd name="T4" fmla="*/ 0 w 19735"/>
              <a:gd name="T5" fmla="*/ 1621694396 h 21600"/>
              <a:gd name="T6" fmla="*/ 0 60000 65536"/>
              <a:gd name="T7" fmla="*/ 0 60000 65536"/>
              <a:gd name="T8" fmla="*/ 0 60000 65536"/>
              <a:gd name="T9" fmla="*/ 0 w 19735"/>
              <a:gd name="T10" fmla="*/ 0 h 21600"/>
              <a:gd name="T11" fmla="*/ 19735 w 19735"/>
              <a:gd name="T12" fmla="*/ 21600 h 21600"/>
            </a:gdLst>
            <a:ahLst/>
            <a:cxnLst>
              <a:cxn ang="T6">
                <a:pos x="T0" y="T1"/>
              </a:cxn>
              <a:cxn ang="T7">
                <a:pos x="T2" y="T3"/>
              </a:cxn>
              <a:cxn ang="T8">
                <a:pos x="T4" y="T5"/>
              </a:cxn>
            </a:cxnLst>
            <a:rect l="T9" t="T10" r="T11" b="T12"/>
            <a:pathLst>
              <a:path w="19735" h="21600" fill="none" extrusionOk="0">
                <a:moveTo>
                  <a:pt x="-1" y="0"/>
                </a:moveTo>
                <a:cubicBezTo>
                  <a:pt x="8533" y="0"/>
                  <a:pt x="16266" y="5023"/>
                  <a:pt x="19735" y="12819"/>
                </a:cubicBezTo>
              </a:path>
              <a:path w="19735" h="21600" stroke="0" extrusionOk="0">
                <a:moveTo>
                  <a:pt x="-1" y="0"/>
                </a:moveTo>
                <a:cubicBezTo>
                  <a:pt x="8533" y="0"/>
                  <a:pt x="16266" y="5023"/>
                  <a:pt x="19735" y="12819"/>
                </a:cubicBezTo>
                <a:lnTo>
                  <a:pt x="0" y="21600"/>
                </a:lnTo>
                <a:close/>
              </a:path>
            </a:pathLst>
          </a:custGeom>
          <a:noFill/>
          <a:ln w="38100">
            <a:solidFill>
              <a:srgbClr val="FF33CC"/>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 name="Line 8"/>
          <p:cNvSpPr>
            <a:spLocks noChangeAspect="1" noChangeShapeType="1"/>
          </p:cNvSpPr>
          <p:nvPr/>
        </p:nvSpPr>
        <p:spPr bwMode="auto">
          <a:xfrm>
            <a:off x="11388824" y="2049455"/>
            <a:ext cx="0" cy="7127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 name="Text Box 9"/>
          <p:cNvSpPr txBox="1">
            <a:spLocks noChangeAspect="1" noChangeArrowheads="1"/>
          </p:cNvSpPr>
          <p:nvPr/>
        </p:nvSpPr>
        <p:spPr bwMode="auto">
          <a:xfrm>
            <a:off x="11349136" y="1908167"/>
            <a:ext cx="56673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p>
        </p:txBody>
      </p:sp>
      <p:sp>
        <p:nvSpPr>
          <p:cNvPr id="11" name="Text Box 10"/>
          <p:cNvSpPr txBox="1">
            <a:spLocks noChangeAspect="1" noChangeArrowheads="1"/>
          </p:cNvSpPr>
          <p:nvPr/>
        </p:nvSpPr>
        <p:spPr bwMode="auto">
          <a:xfrm>
            <a:off x="11807924" y="1886845"/>
            <a:ext cx="4492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CC00CC"/>
                </a:solidFill>
                <a:latin typeface="" pitchFamily="18" charset="-52"/>
                <a:ea typeface="宋体" panose="02010600030101010101" pitchFamily="2" charset="-122"/>
              </a:rPr>
              <a:t>x</a:t>
            </a:r>
          </a:p>
        </p:txBody>
      </p:sp>
      <p:sp>
        <p:nvSpPr>
          <p:cNvPr id="12" name="Text Box 11"/>
          <p:cNvSpPr txBox="1">
            <a:spLocks noChangeAspect="1" noChangeArrowheads="1"/>
          </p:cNvSpPr>
          <p:nvPr/>
        </p:nvSpPr>
        <p:spPr bwMode="auto">
          <a:xfrm>
            <a:off x="8150324" y="1657342"/>
            <a:ext cx="41751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CC"/>
                </a:solidFill>
                <a:latin typeface="" pitchFamily="18" charset="-52"/>
                <a:ea typeface="宋体" panose="02010600030101010101" pitchFamily="2" charset="-122"/>
              </a:rPr>
              <a:t>y</a:t>
            </a:r>
          </a:p>
        </p:txBody>
      </p:sp>
      <p:sp>
        <p:nvSpPr>
          <p:cNvPr id="13" name="Text Box 12"/>
          <p:cNvSpPr txBox="1">
            <a:spLocks noChangeAspect="1" noChangeArrowheads="1"/>
          </p:cNvSpPr>
          <p:nvPr/>
        </p:nvSpPr>
        <p:spPr bwMode="auto">
          <a:xfrm>
            <a:off x="9658449" y="3175468"/>
            <a:ext cx="11350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000000"/>
                </a:solidFill>
                <a:latin typeface="" pitchFamily="18" charset="-52"/>
              </a:rPr>
              <a:t>挠曲线</a:t>
            </a:r>
          </a:p>
        </p:txBody>
      </p:sp>
      <p:sp>
        <p:nvSpPr>
          <p:cNvPr id="14" name="Line 13"/>
          <p:cNvSpPr>
            <a:spLocks noChangeAspect="1" noChangeShapeType="1"/>
          </p:cNvSpPr>
          <p:nvPr/>
        </p:nvSpPr>
        <p:spPr bwMode="auto">
          <a:xfrm flipH="1">
            <a:off x="10201374" y="2994017"/>
            <a:ext cx="238125" cy="260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 name="Text Box 14"/>
          <p:cNvSpPr txBox="1">
            <a:spLocks noChangeAspect="1" noChangeArrowheads="1"/>
          </p:cNvSpPr>
          <p:nvPr/>
        </p:nvSpPr>
        <p:spPr bwMode="auto">
          <a:xfrm>
            <a:off x="11401524" y="3049580"/>
            <a:ext cx="5207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 pitchFamily="18" charset="-52"/>
                <a:ea typeface="宋体" panose="02010600030101010101" pitchFamily="2" charset="-122"/>
              </a:rPr>
              <a:t>B</a:t>
            </a:r>
            <a:r>
              <a:rPr lang="en-US" altLang="zh-CN" b="0" i="0" baseline="-25000" dirty="0">
                <a:solidFill>
                  <a:srgbClr val="000000"/>
                </a:solidFill>
                <a:latin typeface="" pitchFamily="18" charset="-52"/>
                <a:ea typeface="宋体" panose="02010600030101010101" pitchFamily="2" charset="-122"/>
              </a:rPr>
              <a:t>1</a:t>
            </a:r>
          </a:p>
        </p:txBody>
      </p:sp>
      <p:grpSp>
        <p:nvGrpSpPr>
          <p:cNvPr id="16" name="Group 15"/>
          <p:cNvGrpSpPr>
            <a:grpSpLocks/>
          </p:cNvGrpSpPr>
          <p:nvPr/>
        </p:nvGrpSpPr>
        <p:grpSpPr bwMode="auto">
          <a:xfrm>
            <a:off x="8029674" y="2452680"/>
            <a:ext cx="3778250" cy="661987"/>
            <a:chOff x="3149" y="1288"/>
            <a:chExt cx="2380" cy="417"/>
          </a:xfrm>
        </p:grpSpPr>
        <p:sp>
          <p:nvSpPr>
            <p:cNvPr id="17" name="Line 16"/>
            <p:cNvSpPr>
              <a:spLocks noChangeAspect="1" noChangeShapeType="1"/>
            </p:cNvSpPr>
            <p:nvPr/>
          </p:nvSpPr>
          <p:spPr bwMode="auto">
            <a:xfrm>
              <a:off x="3281" y="1481"/>
              <a:ext cx="199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Rectangle 17" descr="宽上对角线"/>
            <p:cNvSpPr>
              <a:spLocks noChangeAspect="1" noChangeArrowheads="1"/>
            </p:cNvSpPr>
            <p:nvPr/>
          </p:nvSpPr>
          <p:spPr bwMode="auto">
            <a:xfrm>
              <a:off x="3149" y="1296"/>
              <a:ext cx="126" cy="379"/>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 name="Text Box 18"/>
            <p:cNvSpPr txBox="1">
              <a:spLocks noChangeAspect="1" noChangeArrowheads="1"/>
            </p:cNvSpPr>
            <p:nvPr/>
          </p:nvSpPr>
          <p:spPr bwMode="auto">
            <a:xfrm>
              <a:off x="3207" y="1421"/>
              <a:ext cx="32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A</a:t>
              </a:r>
            </a:p>
          </p:txBody>
        </p:sp>
        <p:sp>
          <p:nvSpPr>
            <p:cNvPr id="20" name="Text Box 19"/>
            <p:cNvSpPr txBox="1">
              <a:spLocks noChangeAspect="1" noChangeArrowheads="1"/>
            </p:cNvSpPr>
            <p:nvPr/>
          </p:nvSpPr>
          <p:spPr bwMode="auto">
            <a:xfrm>
              <a:off x="5202" y="1392"/>
              <a:ext cx="32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B</a:t>
              </a:r>
            </a:p>
          </p:txBody>
        </p:sp>
        <p:sp>
          <p:nvSpPr>
            <p:cNvPr id="21" name="Line 20"/>
            <p:cNvSpPr>
              <a:spLocks noChangeAspect="1" noChangeShapeType="1"/>
            </p:cNvSpPr>
            <p:nvPr/>
          </p:nvSpPr>
          <p:spPr bwMode="auto">
            <a:xfrm>
              <a:off x="3281" y="1288"/>
              <a:ext cx="0" cy="3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2" name="Line 21"/>
          <p:cNvSpPr>
            <a:spLocks noChangeAspect="1" noChangeShapeType="1"/>
          </p:cNvSpPr>
          <p:nvPr/>
        </p:nvSpPr>
        <p:spPr bwMode="auto">
          <a:xfrm>
            <a:off x="11399936" y="2605080"/>
            <a:ext cx="0" cy="7000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3" name="Text Box 22"/>
          <p:cNvSpPr txBox="1">
            <a:spLocks noChangeAspect="1" noChangeArrowheads="1"/>
          </p:cNvSpPr>
          <p:nvPr/>
        </p:nvSpPr>
        <p:spPr bwMode="auto">
          <a:xfrm>
            <a:off x="11360249" y="2340761"/>
            <a:ext cx="5667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 pitchFamily="18" charset="-52"/>
                <a:ea typeface="宋体" panose="02010600030101010101" pitchFamily="2" charset="-122"/>
              </a:rPr>
              <a:t>F</a:t>
            </a:r>
          </a:p>
        </p:txBody>
      </p:sp>
      <p:sp>
        <p:nvSpPr>
          <p:cNvPr id="24" name="Line 30"/>
          <p:cNvSpPr>
            <a:spLocks noChangeAspect="1" noChangeShapeType="1"/>
          </p:cNvSpPr>
          <p:nvPr/>
        </p:nvSpPr>
        <p:spPr bwMode="auto">
          <a:xfrm>
            <a:off x="11039574" y="2222492"/>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5" name="Text Box 31"/>
          <p:cNvSpPr txBox="1">
            <a:spLocks noChangeAspect="1" noChangeArrowheads="1"/>
          </p:cNvSpPr>
          <p:nvPr/>
        </p:nvSpPr>
        <p:spPr bwMode="auto">
          <a:xfrm>
            <a:off x="10695086" y="1930392"/>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26" name="Text Box 32"/>
          <p:cNvSpPr txBox="1">
            <a:spLocks noChangeAspect="1" noChangeArrowheads="1"/>
          </p:cNvSpPr>
          <p:nvPr/>
        </p:nvSpPr>
        <p:spPr bwMode="auto">
          <a:xfrm>
            <a:off x="10737155" y="3665530"/>
            <a:ext cx="482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27" name="Text Box 34"/>
          <p:cNvSpPr txBox="1">
            <a:spLocks noChangeAspect="1" noChangeArrowheads="1"/>
          </p:cNvSpPr>
          <p:nvPr/>
        </p:nvSpPr>
        <p:spPr bwMode="auto">
          <a:xfrm>
            <a:off x="11393586" y="2066917"/>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28" name="Text Box 35"/>
          <p:cNvSpPr txBox="1">
            <a:spLocks noChangeAspect="1" noChangeArrowheads="1"/>
          </p:cNvSpPr>
          <p:nvPr/>
        </p:nvSpPr>
        <p:spPr bwMode="auto">
          <a:xfrm>
            <a:off x="10356949" y="3452805"/>
            <a:ext cx="495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29" name="Line 36"/>
          <p:cNvSpPr>
            <a:spLocks noChangeAspect="1" noChangeShapeType="1"/>
          </p:cNvSpPr>
          <p:nvPr/>
        </p:nvSpPr>
        <p:spPr bwMode="auto">
          <a:xfrm>
            <a:off x="11026874" y="2222492"/>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0" name="Text Box 37"/>
          <p:cNvSpPr txBox="1">
            <a:spLocks noChangeAspect="1" noChangeArrowheads="1"/>
          </p:cNvSpPr>
          <p:nvPr/>
        </p:nvSpPr>
        <p:spPr bwMode="auto">
          <a:xfrm>
            <a:off x="10988774" y="3216267"/>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31" name="Text Box 38"/>
          <p:cNvSpPr txBox="1">
            <a:spLocks noChangeAspect="1" noChangeArrowheads="1"/>
          </p:cNvSpPr>
          <p:nvPr/>
        </p:nvSpPr>
        <p:spPr bwMode="auto">
          <a:xfrm>
            <a:off x="10609361" y="2365367"/>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Tree>
    <p:extLst>
      <p:ext uri="{BB962C8B-B14F-4D97-AF65-F5344CB8AC3E}">
        <p14:creationId xmlns:p14="http://schemas.microsoft.com/office/powerpoint/2010/main" val="28163659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7" presetClass="entr" presetSubtype="8"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3000" fill="hold"/>
                                        <p:tgtEl>
                                          <p:spTgt spid="16"/>
                                        </p:tgtEl>
                                        <p:attrNameLst>
                                          <p:attrName>ppt_x</p:attrName>
                                        </p:attrNameLst>
                                      </p:cBhvr>
                                      <p:tavLst>
                                        <p:tav tm="0">
                                          <p:val>
                                            <p:strVal val="#ppt_x-#ppt_w/2"/>
                                          </p:val>
                                        </p:tav>
                                        <p:tav tm="100000">
                                          <p:val>
                                            <p:strVal val="#ppt_x"/>
                                          </p:val>
                                        </p:tav>
                                      </p:tavLst>
                                    </p:anim>
                                    <p:anim calcmode="lin" valueType="num">
                                      <p:cBhvr>
                                        <p:cTn id="12" dur="3000" fill="hold"/>
                                        <p:tgtEl>
                                          <p:spTgt spid="16"/>
                                        </p:tgtEl>
                                        <p:attrNameLst>
                                          <p:attrName>ppt_y</p:attrName>
                                        </p:attrNameLst>
                                      </p:cBhvr>
                                      <p:tavLst>
                                        <p:tav tm="0">
                                          <p:val>
                                            <p:strVal val="#ppt_y"/>
                                          </p:val>
                                        </p:tav>
                                        <p:tav tm="100000">
                                          <p:val>
                                            <p:strVal val="#ppt_y"/>
                                          </p:val>
                                        </p:tav>
                                      </p:tavLst>
                                    </p:anim>
                                    <p:anim calcmode="lin" valueType="num">
                                      <p:cBhvr>
                                        <p:cTn id="13" dur="3000" fill="hold"/>
                                        <p:tgtEl>
                                          <p:spTgt spid="16"/>
                                        </p:tgtEl>
                                        <p:attrNameLst>
                                          <p:attrName>ppt_w</p:attrName>
                                        </p:attrNameLst>
                                      </p:cBhvr>
                                      <p:tavLst>
                                        <p:tav tm="0">
                                          <p:val>
                                            <p:fltVal val="0"/>
                                          </p:val>
                                        </p:tav>
                                        <p:tav tm="100000">
                                          <p:val>
                                            <p:strVal val="#ppt_w"/>
                                          </p:val>
                                        </p:tav>
                                      </p:tavLst>
                                    </p:anim>
                                    <p:anim calcmode="lin" valueType="num">
                                      <p:cBhvr>
                                        <p:cTn id="14" dur="3000" fill="hold"/>
                                        <p:tgtEl>
                                          <p:spTgt spid="16"/>
                                        </p:tgtEl>
                                        <p:attrNameLst>
                                          <p:attrName>ppt_h</p:attrName>
                                        </p:attrNameLst>
                                      </p:cBhvr>
                                      <p:tavLst>
                                        <p:tav tm="0">
                                          <p:val>
                                            <p:strVal val="#ppt_h"/>
                                          </p:val>
                                        </p:tav>
                                        <p:tav tm="100000">
                                          <p:val>
                                            <p:strVal val="#ppt_h"/>
                                          </p:val>
                                        </p:tav>
                                      </p:tavLst>
                                    </p:anim>
                                  </p:childTnLst>
                                </p:cTn>
                              </p:par>
                              <p:par>
                                <p:cTn id="15" presetID="1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3000"/>
                                        <p:tgtEl>
                                          <p:spTgt spid="6"/>
                                        </p:tgtEl>
                                      </p:cBhvr>
                                    </p:animEffect>
                                  </p:childTnLst>
                                </p:cTn>
                              </p:par>
                              <p:par>
                                <p:cTn id="18" presetID="19" presetClass="entr" presetSubtype="1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0" fill="hold"/>
                                        <p:tgtEl>
                                          <p:spTgt spid="11"/>
                                        </p:tgtEl>
                                        <p:attrNameLst>
                                          <p:attrName>ppt_w</p:attrName>
                                        </p:attrNameLst>
                                      </p:cBhvr>
                                      <p:tavLst>
                                        <p:tav tm="0" fmla="#ppt_w*sin(2.5*pi*$)">
                                          <p:val>
                                            <p:fltVal val="0"/>
                                          </p:val>
                                        </p:tav>
                                        <p:tav tm="100000">
                                          <p:val>
                                            <p:fltVal val="1"/>
                                          </p:val>
                                        </p:tav>
                                      </p:tavLst>
                                    </p:anim>
                                    <p:anim calcmode="lin" valueType="num">
                                      <p:cBhvr>
                                        <p:cTn id="21" dur="5000" fill="hold"/>
                                        <p:tgtEl>
                                          <p:spTgt spid="11"/>
                                        </p:tgtEl>
                                        <p:attrNameLst>
                                          <p:attrName>ppt_h</p:attrName>
                                        </p:attrNameLst>
                                      </p:cBhvr>
                                      <p:tavLst>
                                        <p:tav tm="0">
                                          <p:val>
                                            <p:strVal val="#ppt_h"/>
                                          </p:val>
                                        </p:tav>
                                        <p:tav tm="100000">
                                          <p:val>
                                            <p:strVal val="#ppt_h"/>
                                          </p:val>
                                        </p:tav>
                                      </p:tavLst>
                                    </p:anim>
                                  </p:childTnLst>
                                </p:cTn>
                              </p:par>
                              <p:par>
                                <p:cTn id="22" presetID="12" presetClass="entr" presetSubtype="4"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lide(fromBottom)">
                                      <p:cBhvr>
                                        <p:cTn id="24" dur="3000"/>
                                        <p:tgtEl>
                                          <p:spTgt spid="5"/>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0" fill="hold"/>
                                        <p:tgtEl>
                                          <p:spTgt spid="12"/>
                                        </p:tgtEl>
                                        <p:attrNameLst>
                                          <p:attrName>ppt_w</p:attrName>
                                        </p:attrNameLst>
                                      </p:cBhvr>
                                      <p:tavLst>
                                        <p:tav tm="0" fmla="#ppt_w*sin(2.5*pi*$)">
                                          <p:val>
                                            <p:fltVal val="0"/>
                                          </p:val>
                                        </p:tav>
                                        <p:tav tm="100000">
                                          <p:val>
                                            <p:fltVal val="1"/>
                                          </p:val>
                                        </p:tav>
                                      </p:tavLst>
                                    </p:anim>
                                    <p:anim calcmode="lin" valueType="num">
                                      <p:cBhvr>
                                        <p:cTn id="28" dur="5000" fill="hold"/>
                                        <p:tgtEl>
                                          <p:spTgt spid="12"/>
                                        </p:tgtEl>
                                        <p:attrNameLst>
                                          <p:attrName>ppt_h</p:attrName>
                                        </p:attrNameLst>
                                      </p:cBhvr>
                                      <p:tavLst>
                                        <p:tav tm="0">
                                          <p:val>
                                            <p:strVal val="#ppt_h"/>
                                          </p:val>
                                        </p:tav>
                                        <p:tav tm="100000">
                                          <p:val>
                                            <p:strVal val="#ppt_h"/>
                                          </p:val>
                                        </p:tav>
                                      </p:tavLst>
                                    </p:anim>
                                  </p:childTnLst>
                                </p:cTn>
                              </p:par>
                            </p:childTnLst>
                          </p:cTn>
                        </p:par>
                        <p:par>
                          <p:cTn id="29" fill="hold">
                            <p:stCondLst>
                              <p:cond delay="5000"/>
                            </p:stCondLst>
                            <p:childTnLst>
                              <p:par>
                                <p:cTn id="30" presetID="16" presetClass="entr" presetSubtype="42"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arn(outHorizontal)">
                                      <p:cBhvr>
                                        <p:cTn id="32" dur="5000"/>
                                        <p:tgtEl>
                                          <p:spTgt spid="24"/>
                                        </p:tgtEl>
                                      </p:cBhvr>
                                    </p:animEffect>
                                  </p:childTnLst>
                                </p:cTn>
                              </p:par>
                              <p:par>
                                <p:cTn id="33" presetID="19" presetClass="entr" presetSubtype="1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0" fill="hold"/>
                                        <p:tgtEl>
                                          <p:spTgt spid="25"/>
                                        </p:tgtEl>
                                        <p:attrNameLst>
                                          <p:attrName>ppt_w</p:attrName>
                                        </p:attrNameLst>
                                      </p:cBhvr>
                                      <p:tavLst>
                                        <p:tav tm="0" fmla="#ppt_w*sin(2.5*pi*$)">
                                          <p:val>
                                            <p:fltVal val="0"/>
                                          </p:val>
                                        </p:tav>
                                        <p:tav tm="100000">
                                          <p:val>
                                            <p:fltVal val="1"/>
                                          </p:val>
                                        </p:tav>
                                      </p:tavLst>
                                    </p:anim>
                                    <p:anim calcmode="lin" valueType="num">
                                      <p:cBhvr>
                                        <p:cTn id="36" dur="5000" fill="hold"/>
                                        <p:tgtEl>
                                          <p:spTgt spid="25"/>
                                        </p:tgtEl>
                                        <p:attrNameLst>
                                          <p:attrName>ppt_h</p:attrName>
                                        </p:attrNameLst>
                                      </p:cBhvr>
                                      <p:tavLst>
                                        <p:tav tm="0">
                                          <p:val>
                                            <p:strVal val="#ppt_h"/>
                                          </p:val>
                                        </p:tav>
                                        <p:tav tm="100000">
                                          <p:val>
                                            <p:strVal val="#ppt_h"/>
                                          </p:val>
                                        </p:tav>
                                      </p:tavLst>
                                    </p:anim>
                                  </p:childTnLst>
                                </p:cTn>
                              </p:par>
                              <p:par>
                                <p:cTn id="37" presetID="19" presetClass="entr" presetSubtype="1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p:cTn id="39" dur="5000" fill="hold"/>
                                        <p:tgtEl>
                                          <p:spTgt spid="26"/>
                                        </p:tgtEl>
                                        <p:attrNameLst>
                                          <p:attrName>ppt_w</p:attrName>
                                        </p:attrNameLst>
                                      </p:cBhvr>
                                      <p:tavLst>
                                        <p:tav tm="0" fmla="#ppt_w*sin(2.5*pi*$)">
                                          <p:val>
                                            <p:fltVal val="0"/>
                                          </p:val>
                                        </p:tav>
                                        <p:tav tm="100000">
                                          <p:val>
                                            <p:fltVal val="1"/>
                                          </p:val>
                                        </p:tav>
                                      </p:tavLst>
                                    </p:anim>
                                    <p:anim calcmode="lin" valueType="num">
                                      <p:cBhvr>
                                        <p:cTn id="40" dur="5000" fill="hold"/>
                                        <p:tgtEl>
                                          <p:spTgt spid="26"/>
                                        </p:tgtEl>
                                        <p:attrNameLst>
                                          <p:attrName>ppt_h</p:attrName>
                                        </p:attrNameLst>
                                      </p:cBhvr>
                                      <p:tavLst>
                                        <p:tav tm="0">
                                          <p:val>
                                            <p:strVal val="#ppt_h"/>
                                          </p:val>
                                        </p:tav>
                                        <p:tav tm="100000">
                                          <p:val>
                                            <p:strVal val="#ppt_h"/>
                                          </p:val>
                                        </p:tav>
                                      </p:tavLst>
                                    </p:anim>
                                  </p:childTnLst>
                                </p:cTn>
                              </p:par>
                              <p:par>
                                <p:cTn id="41" presetID="19" presetClass="entr" presetSubtype="1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0" fill="hold"/>
                                        <p:tgtEl>
                                          <p:spTgt spid="31"/>
                                        </p:tgtEl>
                                        <p:attrNameLst>
                                          <p:attrName>ppt_w</p:attrName>
                                        </p:attrNameLst>
                                      </p:cBhvr>
                                      <p:tavLst>
                                        <p:tav tm="0" fmla="#ppt_w*sin(2.5*pi*$)">
                                          <p:val>
                                            <p:fltVal val="0"/>
                                          </p:val>
                                        </p:tav>
                                        <p:tav tm="100000">
                                          <p:val>
                                            <p:fltVal val="1"/>
                                          </p:val>
                                        </p:tav>
                                      </p:tavLst>
                                    </p:anim>
                                    <p:anim calcmode="lin" valueType="num">
                                      <p:cBhvr>
                                        <p:cTn id="44" dur="5000" fill="hold"/>
                                        <p:tgtEl>
                                          <p:spTgt spid="31"/>
                                        </p:tgtEl>
                                        <p:attrNameLst>
                                          <p:attrName>ppt_h</p:attrName>
                                        </p:attrNameLst>
                                      </p:cBhvr>
                                      <p:tavLst>
                                        <p:tav tm="0">
                                          <p:val>
                                            <p:strVal val="#ppt_h"/>
                                          </p:val>
                                        </p:tav>
                                        <p:tav tm="100000">
                                          <p:val>
                                            <p:strVal val="#ppt_h"/>
                                          </p:val>
                                        </p:tav>
                                      </p:tavLst>
                                    </p:anim>
                                  </p:childTnLst>
                                </p:cTn>
                              </p:par>
                            </p:childTnLst>
                          </p:cTn>
                        </p:par>
                        <p:par>
                          <p:cTn id="45" fill="hold">
                            <p:stCondLst>
                              <p:cond delay="10000"/>
                            </p:stCondLst>
                            <p:childTnLst>
                              <p:par>
                                <p:cTn id="46" presetID="12" presetClass="entr" presetSubtype="1"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slide(fromTop)">
                                      <p:cBhvr>
                                        <p:cTn id="48" dur="5000"/>
                                        <p:tgtEl>
                                          <p:spTgt spid="9"/>
                                        </p:tgtEl>
                                      </p:cBhvr>
                                    </p:animEffect>
                                  </p:childTnLst>
                                </p:cTn>
                              </p:par>
                              <p:par>
                                <p:cTn id="49" presetID="19" presetClass="entr" presetSubtype="1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5000" fill="hold"/>
                                        <p:tgtEl>
                                          <p:spTgt spid="10"/>
                                        </p:tgtEl>
                                        <p:attrNameLst>
                                          <p:attrName>ppt_w</p:attrName>
                                        </p:attrNameLst>
                                      </p:cBhvr>
                                      <p:tavLst>
                                        <p:tav tm="0" fmla="#ppt_w*sin(2.5*pi*$)">
                                          <p:val>
                                            <p:fltVal val="0"/>
                                          </p:val>
                                        </p:tav>
                                        <p:tav tm="100000">
                                          <p:val>
                                            <p:fltVal val="1"/>
                                          </p:val>
                                        </p:tav>
                                      </p:tavLst>
                                    </p:anim>
                                    <p:anim calcmode="lin" valueType="num">
                                      <p:cBhvr>
                                        <p:cTn id="52" dur="5000" fill="hold"/>
                                        <p:tgtEl>
                                          <p:spTgt spid="10"/>
                                        </p:tgtEl>
                                        <p:attrNameLst>
                                          <p:attrName>ppt_h</p:attrName>
                                        </p:attrNameLst>
                                      </p:cBhvr>
                                      <p:tavLst>
                                        <p:tav tm="0">
                                          <p:val>
                                            <p:strVal val="#ppt_h"/>
                                          </p:val>
                                        </p:tav>
                                        <p:tav tm="100000">
                                          <p:val>
                                            <p:strVal val="#ppt_h"/>
                                          </p:val>
                                        </p:tav>
                                      </p:tavLst>
                                    </p:anim>
                                  </p:childTnLst>
                                </p:cTn>
                              </p:par>
                            </p:childTnLst>
                          </p:cTn>
                        </p:par>
                        <p:par>
                          <p:cTn id="53" fill="hold">
                            <p:stCondLst>
                              <p:cond delay="15000"/>
                            </p:stCondLst>
                            <p:childTnLst>
                              <p:par>
                                <p:cTn id="54" presetID="32" presetClass="emph" presetSubtype="0" fill="hold" nodeType="afterEffect">
                                  <p:stCondLst>
                                    <p:cond delay="0"/>
                                  </p:stCondLst>
                                  <p:childTnLst>
                                    <p:animClr clrSpc="rgb" dir="cw">
                                      <p:cBhvr override="childStyle">
                                        <p:cTn id="55" dur="50" fill="hold"/>
                                        <p:tgtEl>
                                          <p:spTgt spid="16"/>
                                        </p:tgtEl>
                                        <p:attrNameLst>
                                          <p:attrName>style.color</p:attrName>
                                        </p:attrNameLst>
                                      </p:cBhvr>
                                      <p:to>
                                        <a:schemeClr val="accent2"/>
                                      </p:to>
                                    </p:animClr>
                                    <p:animClr clrSpc="rgb" dir="cw">
                                      <p:cBhvr>
                                        <p:cTn id="56" dur="50" fill="hold"/>
                                        <p:tgtEl>
                                          <p:spTgt spid="16"/>
                                        </p:tgtEl>
                                        <p:attrNameLst>
                                          <p:attrName>fillcolor</p:attrName>
                                        </p:attrNameLst>
                                      </p:cBhvr>
                                      <p:to>
                                        <a:schemeClr val="accent2"/>
                                      </p:to>
                                    </p:animClr>
                                    <p:set>
                                      <p:cBhvr>
                                        <p:cTn id="57" dur="50" fill="hold"/>
                                        <p:tgtEl>
                                          <p:spTgt spid="16"/>
                                        </p:tgtEl>
                                        <p:attrNameLst>
                                          <p:attrName>fill.type</p:attrName>
                                        </p:attrNameLst>
                                      </p:cBhvr>
                                      <p:to>
                                        <p:strVal val="solid"/>
                                      </p:to>
                                    </p:set>
                                    <p:set>
                                      <p:cBhvr>
                                        <p:cTn id="58" dur="50" fill="hold"/>
                                        <p:tgtEl>
                                          <p:spTgt spid="16"/>
                                        </p:tgtEl>
                                        <p:attrNameLst>
                                          <p:attrName>fill.on</p:attrName>
                                        </p:attrNameLst>
                                      </p:cBhvr>
                                      <p:to>
                                        <p:strVal val="true"/>
                                      </p:to>
                                    </p:set>
                                    <p:animRot by="120000">
                                      <p:cBhvr>
                                        <p:cTn id="59" dur="50" fill="hold">
                                          <p:stCondLst>
                                            <p:cond delay="0"/>
                                          </p:stCondLst>
                                        </p:cTn>
                                        <p:tgtEl>
                                          <p:spTgt spid="16"/>
                                        </p:tgtEl>
                                        <p:attrNameLst>
                                          <p:attrName>r</p:attrName>
                                        </p:attrNameLst>
                                      </p:cBhvr>
                                    </p:animRot>
                                    <p:animRot by="-240000">
                                      <p:cBhvr>
                                        <p:cTn id="60" dur="100" fill="hold">
                                          <p:stCondLst>
                                            <p:cond delay="100"/>
                                          </p:stCondLst>
                                        </p:cTn>
                                        <p:tgtEl>
                                          <p:spTgt spid="16"/>
                                        </p:tgtEl>
                                        <p:attrNameLst>
                                          <p:attrName>r</p:attrName>
                                        </p:attrNameLst>
                                      </p:cBhvr>
                                    </p:animRot>
                                    <p:animRot by="240000">
                                      <p:cBhvr>
                                        <p:cTn id="61" dur="100" fill="hold">
                                          <p:stCondLst>
                                            <p:cond delay="200"/>
                                          </p:stCondLst>
                                        </p:cTn>
                                        <p:tgtEl>
                                          <p:spTgt spid="16"/>
                                        </p:tgtEl>
                                        <p:attrNameLst>
                                          <p:attrName>r</p:attrName>
                                        </p:attrNameLst>
                                      </p:cBhvr>
                                    </p:animRot>
                                    <p:animRot by="-240000">
                                      <p:cBhvr>
                                        <p:cTn id="62" dur="100" fill="hold">
                                          <p:stCondLst>
                                            <p:cond delay="300"/>
                                          </p:stCondLst>
                                        </p:cTn>
                                        <p:tgtEl>
                                          <p:spTgt spid="16"/>
                                        </p:tgtEl>
                                        <p:attrNameLst>
                                          <p:attrName>r</p:attrName>
                                        </p:attrNameLst>
                                      </p:cBhvr>
                                    </p:animRot>
                                    <p:animRot by="120000">
                                      <p:cBhvr>
                                        <p:cTn id="63" dur="100" fill="hold">
                                          <p:stCondLst>
                                            <p:cond delay="400"/>
                                          </p:stCondLst>
                                        </p:cTn>
                                        <p:tgtEl>
                                          <p:spTgt spid="16"/>
                                        </p:tgtEl>
                                        <p:attrNameLst>
                                          <p:attrName>r</p:attrName>
                                        </p:attrNameLst>
                                      </p:cBhvr>
                                    </p:animRot>
                                  </p:childTnLst>
                                </p:cTn>
                              </p:par>
                            </p:childTnLst>
                          </p:cTn>
                        </p:par>
                        <p:par>
                          <p:cTn id="64" fill="hold">
                            <p:stCondLst>
                              <p:cond delay="15500"/>
                            </p:stCondLst>
                            <p:childTnLst>
                              <p:par>
                                <p:cTn id="65" presetID="17" presetClass="entr" presetSubtype="1" fill="hold" grpId="0" nodeType="after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0" fill="hold"/>
                                        <p:tgtEl>
                                          <p:spTgt spid="8"/>
                                        </p:tgtEl>
                                        <p:attrNameLst>
                                          <p:attrName>ppt_x</p:attrName>
                                        </p:attrNameLst>
                                      </p:cBhvr>
                                      <p:tavLst>
                                        <p:tav tm="0">
                                          <p:val>
                                            <p:strVal val="#ppt_x"/>
                                          </p:val>
                                        </p:tav>
                                        <p:tav tm="100000">
                                          <p:val>
                                            <p:strVal val="#ppt_x"/>
                                          </p:val>
                                        </p:tav>
                                      </p:tavLst>
                                    </p:anim>
                                    <p:anim calcmode="lin" valueType="num">
                                      <p:cBhvr>
                                        <p:cTn id="68" dur="5000" fill="hold"/>
                                        <p:tgtEl>
                                          <p:spTgt spid="8"/>
                                        </p:tgtEl>
                                        <p:attrNameLst>
                                          <p:attrName>ppt_y</p:attrName>
                                        </p:attrNameLst>
                                      </p:cBhvr>
                                      <p:tavLst>
                                        <p:tav tm="0">
                                          <p:val>
                                            <p:strVal val="#ppt_y-#ppt_h/2"/>
                                          </p:val>
                                        </p:tav>
                                        <p:tav tm="100000">
                                          <p:val>
                                            <p:strVal val="#ppt_y"/>
                                          </p:val>
                                        </p:tav>
                                      </p:tavLst>
                                    </p:anim>
                                    <p:anim calcmode="lin" valueType="num">
                                      <p:cBhvr>
                                        <p:cTn id="69" dur="5000" fill="hold"/>
                                        <p:tgtEl>
                                          <p:spTgt spid="8"/>
                                        </p:tgtEl>
                                        <p:attrNameLst>
                                          <p:attrName>ppt_w</p:attrName>
                                        </p:attrNameLst>
                                      </p:cBhvr>
                                      <p:tavLst>
                                        <p:tav tm="0">
                                          <p:val>
                                            <p:strVal val="#ppt_w"/>
                                          </p:val>
                                        </p:tav>
                                        <p:tav tm="100000">
                                          <p:val>
                                            <p:strVal val="#ppt_w"/>
                                          </p:val>
                                        </p:tav>
                                      </p:tavLst>
                                    </p:anim>
                                    <p:anim calcmode="lin" valueType="num">
                                      <p:cBhvr>
                                        <p:cTn id="70" dur="5000" fill="hold"/>
                                        <p:tgtEl>
                                          <p:spTgt spid="8"/>
                                        </p:tgtEl>
                                        <p:attrNameLst>
                                          <p:attrName>ppt_h</p:attrName>
                                        </p:attrNameLst>
                                      </p:cBhvr>
                                      <p:tavLst>
                                        <p:tav tm="0">
                                          <p:val>
                                            <p:fltVal val="0"/>
                                          </p:val>
                                        </p:tav>
                                        <p:tav tm="100000">
                                          <p:val>
                                            <p:strVal val="#ppt_h"/>
                                          </p:val>
                                        </p:tav>
                                      </p:tavLst>
                                    </p:anim>
                                  </p:childTnLst>
                                </p:cTn>
                              </p:par>
                              <p:par>
                                <p:cTn id="71" presetID="8" presetClass="emph" presetSubtype="0" fill="hold" grpId="1" nodeType="withEffect">
                                  <p:stCondLst>
                                    <p:cond delay="0"/>
                                  </p:stCondLst>
                                  <p:childTnLst>
                                    <p:animRot by="1320000">
                                      <p:cBhvr>
                                        <p:cTn id="72" dur="5000" fill="hold"/>
                                        <p:tgtEl>
                                          <p:spTgt spid="24"/>
                                        </p:tgtEl>
                                        <p:attrNameLst>
                                          <p:attrName>r</p:attrName>
                                        </p:attrNameLst>
                                      </p:cBhvr>
                                    </p:animRot>
                                  </p:childTnLst>
                                </p:cTn>
                              </p:par>
                              <p:par>
                                <p:cTn id="73" presetID="1"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0" presetClass="path" presetSubtype="0" accel="50000" decel="50000" fill="hold" grpId="1" nodeType="withEffect">
                                  <p:stCondLst>
                                    <p:cond delay="0"/>
                                  </p:stCondLst>
                                  <p:childTnLst>
                                    <p:animMotion origin="layout" path="M 3.95833E-6 -2.22222E-6 L -0.00157 -0.08356 " pathEditMode="relative" rAng="0" ptsTypes="AA">
                                      <p:cBhvr>
                                        <p:cTn id="78" dur="5000" spd="-100000" fill="hold"/>
                                        <p:tgtEl>
                                          <p:spTgt spid="22"/>
                                        </p:tgtEl>
                                        <p:attrNameLst>
                                          <p:attrName>ppt_x</p:attrName>
                                          <p:attrName>ppt_y</p:attrName>
                                        </p:attrNameLst>
                                      </p:cBhvr>
                                      <p:rCtr x="-78" y="-4190"/>
                                    </p:animMotion>
                                  </p:childTnLst>
                                </p:cTn>
                              </p:par>
                              <p:par>
                                <p:cTn id="79" presetID="0" presetClass="path" presetSubtype="0" accel="50000" decel="50000" fill="hold" grpId="1" nodeType="withEffect">
                                  <p:stCondLst>
                                    <p:cond delay="0"/>
                                  </p:stCondLst>
                                  <p:childTnLst>
                                    <p:animMotion origin="layout" path="M 2.08333E-6 -4.81481E-6 L -0.00156 -0.08356 " pathEditMode="relative" rAng="0" ptsTypes="AA">
                                      <p:cBhvr>
                                        <p:cTn id="80" dur="5000" spd="-100000" fill="hold"/>
                                        <p:tgtEl>
                                          <p:spTgt spid="23"/>
                                        </p:tgtEl>
                                        <p:attrNameLst>
                                          <p:attrName>ppt_x</p:attrName>
                                          <p:attrName>ppt_y</p:attrName>
                                        </p:attrNameLst>
                                      </p:cBhvr>
                                      <p:rCtr x="-78" y="-4190"/>
                                    </p:animMotion>
                                  </p:childTnLst>
                                </p:cTn>
                              </p:par>
                              <p:par>
                                <p:cTn id="81" presetID="9" presetClass="emph" presetSubtype="0" grpId="1" nodeType="withEffect">
                                  <p:stCondLst>
                                    <p:cond delay="0"/>
                                  </p:stCondLst>
                                  <p:childTnLst>
                                    <p:set>
                                      <p:cBhvr rctx="PPT">
                                        <p:cTn id="82" dur="indefinite"/>
                                        <p:tgtEl>
                                          <p:spTgt spid="9"/>
                                        </p:tgtEl>
                                        <p:attrNameLst>
                                          <p:attrName>style.opacity</p:attrName>
                                        </p:attrNameLst>
                                      </p:cBhvr>
                                      <p:to>
                                        <p:strVal val="0.5"/>
                                      </p:to>
                                    </p:set>
                                    <p:animEffect filter="image" prLst="opacity: 0.5">
                                      <p:cBhvr rctx="IE">
                                        <p:cTn id="83" dur="indefinite"/>
                                        <p:tgtEl>
                                          <p:spTgt spid="9"/>
                                        </p:tgtEl>
                                      </p:cBhvr>
                                    </p:animEffect>
                                  </p:childTnLst>
                                </p:cTn>
                              </p:par>
                              <p:par>
                                <p:cTn id="84" presetID="9" presetClass="emph" presetSubtype="0" grpId="1" nodeType="withEffect">
                                  <p:stCondLst>
                                    <p:cond delay="0"/>
                                  </p:stCondLst>
                                  <p:childTnLst>
                                    <p:set>
                                      <p:cBhvr rctx="PPT">
                                        <p:cTn id="85" dur="indefinite"/>
                                        <p:tgtEl>
                                          <p:spTgt spid="10"/>
                                        </p:tgtEl>
                                        <p:attrNameLst>
                                          <p:attrName>style.opacity</p:attrName>
                                        </p:attrNameLst>
                                      </p:cBhvr>
                                      <p:to>
                                        <p:strVal val="0.5"/>
                                      </p:to>
                                    </p:set>
                                    <p:animEffect filter="image" prLst="opacity: 0.5">
                                      <p:cBhvr rctx="IE">
                                        <p:cTn id="86" dur="indefinite"/>
                                        <p:tgtEl>
                                          <p:spTgt spid="10"/>
                                        </p:tgtEl>
                                      </p:cBhvr>
                                    </p:animEffect>
                                  </p:childTnLst>
                                </p:cTn>
                              </p:par>
                              <p:par>
                                <p:cTn id="87" presetID="19" presetClass="entr" presetSubtype="1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p:cTn id="89" dur="5000" fill="hold"/>
                                        <p:tgtEl>
                                          <p:spTgt spid="15"/>
                                        </p:tgtEl>
                                        <p:attrNameLst>
                                          <p:attrName>ppt_w</p:attrName>
                                        </p:attrNameLst>
                                      </p:cBhvr>
                                      <p:tavLst>
                                        <p:tav tm="0" fmla="#ppt_w*sin(2.5*pi*$)">
                                          <p:val>
                                            <p:fltVal val="0"/>
                                          </p:val>
                                        </p:tav>
                                        <p:tav tm="100000">
                                          <p:val>
                                            <p:fltVal val="1"/>
                                          </p:val>
                                        </p:tav>
                                      </p:tavLst>
                                    </p:anim>
                                    <p:anim calcmode="lin" valueType="num">
                                      <p:cBhvr>
                                        <p:cTn id="90" dur="5000" fill="hold"/>
                                        <p:tgtEl>
                                          <p:spTgt spid="15"/>
                                        </p:tgtEl>
                                        <p:attrNameLst>
                                          <p:attrName>ppt_h</p:attrName>
                                        </p:attrNameLst>
                                      </p:cBhvr>
                                      <p:tavLst>
                                        <p:tav tm="0">
                                          <p:val>
                                            <p:strVal val="#ppt_h"/>
                                          </p:val>
                                        </p:tav>
                                        <p:tav tm="100000">
                                          <p:val>
                                            <p:strVal val="#ppt_h"/>
                                          </p:val>
                                        </p:tav>
                                      </p:tavLst>
                                    </p:anim>
                                  </p:childTnLst>
                                </p:cTn>
                              </p:par>
                              <p:par>
                                <p:cTn id="91" presetID="1"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par>
                                <p:cTn id="93" presetID="19" presetClass="entr" presetSubtype="1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p:cTn id="95" dur="5000" fill="hold"/>
                                        <p:tgtEl>
                                          <p:spTgt spid="30"/>
                                        </p:tgtEl>
                                        <p:attrNameLst>
                                          <p:attrName>ppt_w</p:attrName>
                                        </p:attrNameLst>
                                      </p:cBhvr>
                                      <p:tavLst>
                                        <p:tav tm="0" fmla="#ppt_w*sin(2.5*pi*$)">
                                          <p:val>
                                            <p:fltVal val="0"/>
                                          </p:val>
                                        </p:tav>
                                        <p:tav tm="100000">
                                          <p:val>
                                            <p:fltVal val="1"/>
                                          </p:val>
                                        </p:tav>
                                      </p:tavLst>
                                    </p:anim>
                                    <p:anim calcmode="lin" valueType="num">
                                      <p:cBhvr>
                                        <p:cTn id="96" dur="5000" fill="hold"/>
                                        <p:tgtEl>
                                          <p:spTgt spid="30"/>
                                        </p:tgtEl>
                                        <p:attrNameLst>
                                          <p:attrName>ppt_h</p:attrName>
                                        </p:attrNameLst>
                                      </p:cBhvr>
                                      <p:tavLst>
                                        <p:tav tm="0">
                                          <p:val>
                                            <p:strVal val="#ppt_h"/>
                                          </p:val>
                                        </p:tav>
                                        <p:tav tm="100000">
                                          <p:val>
                                            <p:strVal val="#ppt_h"/>
                                          </p:val>
                                        </p:tav>
                                      </p:tavLst>
                                    </p:anim>
                                  </p:childTnLst>
                                </p:cTn>
                              </p:par>
                            </p:childTnLst>
                          </p:cTn>
                        </p:par>
                        <p:par>
                          <p:cTn id="97" fill="hold">
                            <p:stCondLst>
                              <p:cond delay="20500"/>
                            </p:stCondLst>
                            <p:childTnLst>
                              <p:par>
                                <p:cTn id="98" presetID="9" presetClass="emph" presetSubtype="0" grpId="1" nodeType="afterEffect">
                                  <p:stCondLst>
                                    <p:cond delay="0"/>
                                  </p:stCondLst>
                                  <p:childTnLst>
                                    <p:set>
                                      <p:cBhvr rctx="PPT">
                                        <p:cTn id="99" dur="indefinite"/>
                                        <p:tgtEl>
                                          <p:spTgt spid="29"/>
                                        </p:tgtEl>
                                        <p:attrNameLst>
                                          <p:attrName>style.opacity</p:attrName>
                                        </p:attrNameLst>
                                      </p:cBhvr>
                                      <p:to>
                                        <p:strVal val="0.5"/>
                                      </p:to>
                                    </p:set>
                                    <p:animEffect filter="image" prLst="opacity: 0.5">
                                      <p:cBhvr rctx="IE">
                                        <p:cTn id="100" dur="indefinite"/>
                                        <p:tgtEl>
                                          <p:spTgt spid="29"/>
                                        </p:tgtEl>
                                      </p:cBhvr>
                                    </p:animEffect>
                                  </p:childTnLst>
                                </p:cTn>
                              </p:par>
                            </p:childTnLst>
                          </p:cTn>
                        </p:par>
                        <p:par>
                          <p:cTn id="101" fill="hold">
                            <p:stCondLst>
                              <p:cond delay="20500"/>
                            </p:stCondLst>
                            <p:childTnLst>
                              <p:par>
                                <p:cTn id="102" presetID="18" presetClass="entr" presetSubtype="12" fill="hold" grpId="0" nodeType="after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strips(downLeft)">
                                      <p:cBhvr>
                                        <p:cTn id="104" dur="3000"/>
                                        <p:tgtEl>
                                          <p:spTgt spid="14"/>
                                        </p:tgtEl>
                                      </p:cBhvr>
                                    </p:animEffect>
                                  </p:childTnLst>
                                </p:cTn>
                              </p:par>
                              <p:par>
                                <p:cTn id="105" presetID="19" presetClass="entr" presetSubtype="10" fill="hold" grpId="0" nodeType="with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p:cTn id="107" dur="5000" fill="hold"/>
                                        <p:tgtEl>
                                          <p:spTgt spid="13"/>
                                        </p:tgtEl>
                                        <p:attrNameLst>
                                          <p:attrName>ppt_w</p:attrName>
                                        </p:attrNameLst>
                                      </p:cBhvr>
                                      <p:tavLst>
                                        <p:tav tm="0" fmla="#ppt_w*sin(2.5*pi*$)">
                                          <p:val>
                                            <p:fltVal val="0"/>
                                          </p:val>
                                        </p:tav>
                                        <p:tav tm="100000">
                                          <p:val>
                                            <p:fltVal val="1"/>
                                          </p:val>
                                        </p:tav>
                                      </p:tavLst>
                                    </p:anim>
                                    <p:anim calcmode="lin" valueType="num">
                                      <p:cBhvr>
                                        <p:cTn id="108" dur="5000" fill="hold"/>
                                        <p:tgtEl>
                                          <p:spTgt spid="13"/>
                                        </p:tgtEl>
                                        <p:attrNameLst>
                                          <p:attrName>ppt_h</p:attrName>
                                        </p:attrNameLst>
                                      </p:cBhvr>
                                      <p:tavLst>
                                        <p:tav tm="0">
                                          <p:val>
                                            <p:strVal val="#ppt_h"/>
                                          </p:val>
                                        </p:tav>
                                        <p:tav tm="100000">
                                          <p:val>
                                            <p:strVal val="#ppt_h"/>
                                          </p:val>
                                        </p:tav>
                                      </p:tavLst>
                                    </p:anim>
                                  </p:childTnLst>
                                </p:cTn>
                              </p:par>
                              <p:par>
                                <p:cTn id="109" presetID="19" presetClass="entr" presetSubtype="1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 calcmode="lin" valueType="num">
                                      <p:cBhvr>
                                        <p:cTn id="111" dur="5000" fill="hold"/>
                                        <p:tgtEl>
                                          <p:spTgt spid="27"/>
                                        </p:tgtEl>
                                        <p:attrNameLst>
                                          <p:attrName>ppt_w</p:attrName>
                                        </p:attrNameLst>
                                      </p:cBhvr>
                                      <p:tavLst>
                                        <p:tav tm="0" fmla="#ppt_w*sin(2.5*pi*$)">
                                          <p:val>
                                            <p:fltVal val="0"/>
                                          </p:val>
                                        </p:tav>
                                        <p:tav tm="100000">
                                          <p:val>
                                            <p:fltVal val="1"/>
                                          </p:val>
                                        </p:tav>
                                      </p:tavLst>
                                    </p:anim>
                                    <p:anim calcmode="lin" valueType="num">
                                      <p:cBhvr>
                                        <p:cTn id="112" dur="5000" fill="hold"/>
                                        <p:tgtEl>
                                          <p:spTgt spid="27"/>
                                        </p:tgtEl>
                                        <p:attrNameLst>
                                          <p:attrName>ppt_h</p:attrName>
                                        </p:attrNameLst>
                                      </p:cBhvr>
                                      <p:tavLst>
                                        <p:tav tm="0">
                                          <p:val>
                                            <p:strVal val="#ppt_h"/>
                                          </p:val>
                                        </p:tav>
                                        <p:tav tm="100000">
                                          <p:val>
                                            <p:strVal val="#ppt_h"/>
                                          </p:val>
                                        </p:tav>
                                      </p:tavLst>
                                    </p:anim>
                                  </p:childTnLst>
                                </p:cTn>
                              </p:par>
                              <p:par>
                                <p:cTn id="113" presetID="19" presetClass="entr" presetSubtype="10"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 calcmode="lin" valueType="num">
                                      <p:cBhvr>
                                        <p:cTn id="115" dur="5000" fill="hold"/>
                                        <p:tgtEl>
                                          <p:spTgt spid="28"/>
                                        </p:tgtEl>
                                        <p:attrNameLst>
                                          <p:attrName>ppt_w</p:attrName>
                                        </p:attrNameLst>
                                      </p:cBhvr>
                                      <p:tavLst>
                                        <p:tav tm="0" fmla="#ppt_w*sin(2.5*pi*$)">
                                          <p:val>
                                            <p:fltVal val="0"/>
                                          </p:val>
                                        </p:tav>
                                        <p:tav tm="100000">
                                          <p:val>
                                            <p:fltVal val="1"/>
                                          </p:val>
                                        </p:tav>
                                      </p:tavLst>
                                    </p:anim>
                                    <p:anim calcmode="lin" valueType="num">
                                      <p:cBhvr>
                                        <p:cTn id="116" dur="5000" fill="hold"/>
                                        <p:tgtEl>
                                          <p:spTgt spid="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4" grpId="0" animBg="1"/>
      <p:bldP spid="5" grpId="0" animBg="1"/>
      <p:bldP spid="6" grpId="0" animBg="1"/>
      <p:bldP spid="8" grpId="0" animBg="1"/>
      <p:bldP spid="9" grpId="0" animBg="1"/>
      <p:bldP spid="9" grpId="1" animBg="1"/>
      <p:bldP spid="10" grpId="0"/>
      <p:bldP spid="10" grpId="1"/>
      <p:bldP spid="11" grpId="0"/>
      <p:bldP spid="12" grpId="0"/>
      <p:bldP spid="13" grpId="0"/>
      <p:bldP spid="14" grpId="0" animBg="1"/>
      <p:bldP spid="15" grpId="0"/>
      <p:bldP spid="22" grpId="0" animBg="1"/>
      <p:bldP spid="22" grpId="1" animBg="1"/>
      <p:bldP spid="23" grpId="0"/>
      <p:bldP spid="23" grpId="1"/>
      <p:bldP spid="24" grpId="0" animBg="1"/>
      <p:bldP spid="24" grpId="1" animBg="1"/>
      <p:bldP spid="25" grpId="0"/>
      <p:bldP spid="26" grpId="0"/>
      <p:bldP spid="27" grpId="0"/>
      <p:bldP spid="28" grpId="0"/>
      <p:bldP spid="29" grpId="0" animBg="1"/>
      <p:bldP spid="29" grpId="1" animBg="1"/>
      <p:bldP spid="30" grpId="0"/>
      <p:bldP spid="3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774234"/>
            <a:ext cx="742201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j-lt"/>
                <a:ea typeface="微软雅黑" panose="020B0503020204020204" pitchFamily="34" charset="-122"/>
              </a:rPr>
              <a:t>轴线上各点在</a:t>
            </a:r>
            <a:r>
              <a:rPr kumimoji="1" lang="en-US" altLang="zh-CN" sz="2800" b="0" dirty="0">
                <a:latin typeface="+mj-lt"/>
                <a:ea typeface="微软雅黑" panose="020B0503020204020204" pitchFamily="34" charset="-122"/>
              </a:rPr>
              <a:t>y</a:t>
            </a:r>
            <a:r>
              <a:rPr kumimoji="1" lang="zh-CN" altLang="en-US" sz="2800" i="0" dirty="0">
                <a:latin typeface="+mj-lt"/>
                <a:ea typeface="微软雅黑" panose="020B0503020204020204" pitchFamily="34" charset="-122"/>
              </a:rPr>
              <a:t>方向上的位移称为</a:t>
            </a:r>
            <a:r>
              <a:rPr kumimoji="1" lang="zh-CN" altLang="en-US" sz="2800" i="0" dirty="0">
                <a:solidFill>
                  <a:srgbClr val="FF00FF"/>
                </a:solidFill>
                <a:latin typeface="+mj-lt"/>
                <a:ea typeface="微软雅黑" panose="020B0503020204020204" pitchFamily="34" charset="-122"/>
              </a:rPr>
              <a:t>挠度</a:t>
            </a:r>
            <a:r>
              <a:rPr kumimoji="1" lang="zh-CN" altLang="en-US" sz="280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x</a:t>
            </a:r>
            <a:r>
              <a:rPr kumimoji="1" lang="zh-CN" altLang="en-US" sz="2800" i="0" dirty="0">
                <a:latin typeface="+mj-lt"/>
                <a:ea typeface="微软雅黑" panose="020B0503020204020204" pitchFamily="34" charset="-122"/>
              </a:rPr>
              <a:t>方向上的位移，可忽略不计）。各横截面相对原来位置转过的角度称为</a:t>
            </a:r>
            <a:r>
              <a:rPr kumimoji="1" lang="zh-CN" altLang="en-US" sz="2800" i="0" dirty="0">
                <a:solidFill>
                  <a:srgbClr val="FF00FF"/>
                </a:solidFill>
                <a:latin typeface="+mj-lt"/>
                <a:ea typeface="微软雅黑" panose="020B0503020204020204" pitchFamily="34" charset="-122"/>
              </a:rPr>
              <a:t>转角</a:t>
            </a:r>
            <a:r>
              <a:rPr kumimoji="1" lang="zh-CN" altLang="en-US" sz="2800" i="0" dirty="0">
                <a:latin typeface="+mj-lt"/>
                <a:ea typeface="微软雅黑" panose="020B0503020204020204" pitchFamily="34" charset="-122"/>
              </a:rPr>
              <a:t>。图中的</a:t>
            </a:r>
            <a:r>
              <a:rPr kumimoji="1" lang="en-US" altLang="zh-CN" sz="2800" b="0" dirty="0">
                <a:latin typeface="+mj-lt"/>
                <a:ea typeface="微软雅黑" panose="020B0503020204020204" pitchFamily="34" charset="-122"/>
              </a:rPr>
              <a:t>CC</a:t>
            </a:r>
            <a:r>
              <a:rPr kumimoji="1" lang="en-US" altLang="zh-CN" sz="2800" b="0" i="0" baseline="-25000" dirty="0">
                <a:latin typeface="+mj-lt"/>
                <a:ea typeface="微软雅黑" panose="020B0503020204020204" pitchFamily="34" charset="-122"/>
              </a:rPr>
              <a:t>1</a:t>
            </a:r>
            <a:r>
              <a:rPr kumimoji="1" lang="zh-CN" altLang="en-US" sz="2800" i="0" dirty="0">
                <a:latin typeface="+mj-lt"/>
                <a:ea typeface="微软雅黑" panose="020B0503020204020204" pitchFamily="34" charset="-122"/>
              </a:rPr>
              <a:t>即为</a:t>
            </a:r>
            <a:r>
              <a:rPr kumimoji="1" lang="en-US" altLang="zh-CN" sz="2800" b="0" dirty="0">
                <a:latin typeface="+mj-lt"/>
                <a:ea typeface="微软雅黑" panose="020B0503020204020204" pitchFamily="34" charset="-122"/>
              </a:rPr>
              <a:t>C</a:t>
            </a:r>
            <a:r>
              <a:rPr kumimoji="1" lang="zh-CN" altLang="en-US" sz="2800" i="0" dirty="0">
                <a:latin typeface="+mj-lt"/>
                <a:ea typeface="微软雅黑" panose="020B0503020204020204" pitchFamily="34" charset="-122"/>
              </a:rPr>
              <a:t>点的挠度。规定向上的挠度为正值，则</a:t>
            </a:r>
            <a:r>
              <a:rPr kumimoji="1" lang="en-US" altLang="zh-CN" sz="2800" b="0" dirty="0">
                <a:latin typeface="+mj-lt"/>
                <a:ea typeface="微软雅黑" panose="020B0503020204020204" pitchFamily="34" charset="-122"/>
              </a:rPr>
              <a:t>CC</a:t>
            </a:r>
            <a:r>
              <a:rPr kumimoji="1" lang="en-US" altLang="zh-CN" sz="2800" b="0" i="0" baseline="-25000" dirty="0">
                <a:latin typeface="+mj-lt"/>
                <a:ea typeface="微软雅黑" panose="020B0503020204020204" pitchFamily="34" charset="-122"/>
              </a:rPr>
              <a:t>1</a:t>
            </a:r>
            <a:r>
              <a:rPr kumimoji="1" lang="zh-CN" altLang="en-US" sz="2800" i="0" dirty="0">
                <a:latin typeface="+mj-lt"/>
                <a:ea typeface="微软雅黑" panose="020B0503020204020204" pitchFamily="34" charset="-122"/>
              </a:rPr>
              <a:t>为负值</a:t>
            </a:r>
            <a:r>
              <a:rPr kumimoji="1" lang="zh-CN" altLang="en-US" sz="2800" i="0" dirty="0">
                <a:latin typeface="+mn-lt"/>
                <a:ea typeface="微软雅黑" panose="020B0503020204020204" pitchFamily="34" charset="-122"/>
              </a:rPr>
              <a:t>。</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为</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截面的转角，规定逆时针转向的转角为正，反之为负。</a:t>
            </a:r>
            <a:r>
              <a:rPr kumimoji="1" lang="zh-CN" altLang="en-US" sz="2800" i="0" dirty="0">
                <a:latin typeface="+mn-lt"/>
                <a:ea typeface="微软雅黑" panose="020B0503020204020204" pitchFamily="34" charset="-122"/>
              </a:rPr>
              <a:t>转角的大小与挠曲线上的</a:t>
            </a:r>
            <a:r>
              <a:rPr kumimoji="1" lang="en-US" altLang="zh-CN" sz="2800" b="0" dirty="0">
                <a:latin typeface="+mn-lt"/>
                <a:ea typeface="微软雅黑" panose="020B0503020204020204" pitchFamily="34" charset="-122"/>
              </a:rPr>
              <a:t>C</a:t>
            </a:r>
            <a:r>
              <a:rPr kumimoji="1" lang="en-US" altLang="zh-CN" sz="2800" b="0" i="0" baseline="-25000" dirty="0">
                <a:latin typeface="+mn-lt"/>
                <a:ea typeface="微软雅黑" panose="020B0503020204020204" pitchFamily="34" charset="-122"/>
              </a:rPr>
              <a:t>1</a:t>
            </a:r>
            <a:r>
              <a:rPr kumimoji="1" lang="zh-CN" altLang="en-US" sz="2800" i="0" dirty="0">
                <a:latin typeface="+mn-lt"/>
                <a:ea typeface="微软雅黑" panose="020B0503020204020204" pitchFamily="34" charset="-122"/>
              </a:rPr>
              <a:t>点的切线与</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轴的夹角相等。 </a:t>
            </a:r>
          </a:p>
        </p:txBody>
      </p:sp>
      <p:sp>
        <p:nvSpPr>
          <p:cNvPr id="4"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932204" y="923238"/>
            <a:ext cx="4140459" cy="3117830"/>
          </a:xfrm>
          <a:prstGeom prst="rect">
            <a:avLst/>
          </a:prstGeom>
          <a:solidFill>
            <a:srgbClr val="B9CDE5"/>
          </a:solidFill>
          <a:ln>
            <a:noFill/>
          </a:ln>
          <a:effectLst/>
        </p:spPr>
        <p:txBody>
          <a:bodyPr wrap="none" anchor="ctr"/>
          <a:lstStyle/>
          <a:p>
            <a:endParaRPr lang="zh-CN" altLang="en-US"/>
          </a:p>
        </p:txBody>
      </p:sp>
      <p:sp>
        <p:nvSpPr>
          <p:cNvPr id="32" name="Text Box 3"/>
          <p:cNvSpPr txBox="1">
            <a:spLocks noChangeAspect="1" noChangeArrowheads="1"/>
          </p:cNvSpPr>
          <p:nvPr/>
        </p:nvSpPr>
        <p:spPr bwMode="auto">
          <a:xfrm>
            <a:off x="10727015" y="290794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33" name="Line 5"/>
          <p:cNvSpPr>
            <a:spLocks noChangeAspect="1" noChangeShapeType="1"/>
          </p:cNvSpPr>
          <p:nvPr/>
        </p:nvSpPr>
        <p:spPr bwMode="auto">
          <a:xfrm flipV="1">
            <a:off x="8244165" y="1180740"/>
            <a:ext cx="0" cy="9699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4" name="Line 6"/>
          <p:cNvSpPr>
            <a:spLocks noChangeAspect="1" noChangeShapeType="1"/>
          </p:cNvSpPr>
          <p:nvPr/>
        </p:nvSpPr>
        <p:spPr bwMode="auto">
          <a:xfrm rot="16200000">
            <a:off x="11446947" y="1622858"/>
            <a:ext cx="0" cy="11350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5" name="Arc 7"/>
          <p:cNvSpPr>
            <a:spLocks noChangeAspect="1"/>
          </p:cNvSpPr>
          <p:nvPr/>
        </p:nvSpPr>
        <p:spPr bwMode="auto">
          <a:xfrm>
            <a:off x="8247340" y="2174515"/>
            <a:ext cx="3122613" cy="911225"/>
          </a:xfrm>
          <a:custGeom>
            <a:avLst/>
            <a:gdLst>
              <a:gd name="T0" fmla="*/ 0 w 19735"/>
              <a:gd name="T1" fmla="*/ 0 h 21600"/>
              <a:gd name="T2" fmla="*/ 2147483647 w 19735"/>
              <a:gd name="T3" fmla="*/ 962506707 h 21600"/>
              <a:gd name="T4" fmla="*/ 0 w 19735"/>
              <a:gd name="T5" fmla="*/ 1621694396 h 21600"/>
              <a:gd name="T6" fmla="*/ 0 60000 65536"/>
              <a:gd name="T7" fmla="*/ 0 60000 65536"/>
              <a:gd name="T8" fmla="*/ 0 60000 65536"/>
              <a:gd name="T9" fmla="*/ 0 w 19735"/>
              <a:gd name="T10" fmla="*/ 0 h 21600"/>
              <a:gd name="T11" fmla="*/ 19735 w 19735"/>
              <a:gd name="T12" fmla="*/ 21600 h 21600"/>
            </a:gdLst>
            <a:ahLst/>
            <a:cxnLst>
              <a:cxn ang="T6">
                <a:pos x="T0" y="T1"/>
              </a:cxn>
              <a:cxn ang="T7">
                <a:pos x="T2" y="T3"/>
              </a:cxn>
              <a:cxn ang="T8">
                <a:pos x="T4" y="T5"/>
              </a:cxn>
            </a:cxnLst>
            <a:rect l="T9" t="T10" r="T11" b="T12"/>
            <a:pathLst>
              <a:path w="19735" h="21600" fill="none" extrusionOk="0">
                <a:moveTo>
                  <a:pt x="-1" y="0"/>
                </a:moveTo>
                <a:cubicBezTo>
                  <a:pt x="8533" y="0"/>
                  <a:pt x="16266" y="5023"/>
                  <a:pt x="19735" y="12819"/>
                </a:cubicBezTo>
              </a:path>
              <a:path w="19735" h="21600" stroke="0" extrusionOk="0">
                <a:moveTo>
                  <a:pt x="-1" y="0"/>
                </a:moveTo>
                <a:cubicBezTo>
                  <a:pt x="8533" y="0"/>
                  <a:pt x="16266" y="5023"/>
                  <a:pt x="19735" y="12819"/>
                </a:cubicBezTo>
                <a:lnTo>
                  <a:pt x="0" y="21600"/>
                </a:lnTo>
                <a:close/>
              </a:path>
            </a:pathLst>
          </a:custGeom>
          <a:noFill/>
          <a:ln w="38100">
            <a:solidFill>
              <a:srgbClr val="FF33CC"/>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36" name="Line 8"/>
          <p:cNvSpPr>
            <a:spLocks noChangeAspect="1" noChangeShapeType="1"/>
          </p:cNvSpPr>
          <p:nvPr/>
        </p:nvSpPr>
        <p:spPr bwMode="auto">
          <a:xfrm>
            <a:off x="11131828" y="2190390"/>
            <a:ext cx="0" cy="425450"/>
          </a:xfrm>
          <a:prstGeom prst="line">
            <a:avLst/>
          </a:prstGeom>
          <a:noFill/>
          <a:ln w="19050">
            <a:solidFill>
              <a:srgbClr val="FF0000"/>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7" name="Line 9"/>
          <p:cNvSpPr>
            <a:spLocks noChangeAspect="1" noChangeShapeType="1"/>
          </p:cNvSpPr>
          <p:nvPr/>
        </p:nvSpPr>
        <p:spPr bwMode="auto">
          <a:xfrm>
            <a:off x="11131828" y="2612665"/>
            <a:ext cx="0" cy="615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8" name="Freeform 10"/>
          <p:cNvSpPr>
            <a:spLocks noChangeAspect="1"/>
          </p:cNvSpPr>
          <p:nvPr/>
        </p:nvSpPr>
        <p:spPr bwMode="auto">
          <a:xfrm>
            <a:off x="10981015" y="2974631"/>
            <a:ext cx="149225" cy="77788"/>
          </a:xfrm>
          <a:custGeom>
            <a:avLst/>
            <a:gdLst>
              <a:gd name="T0" fmla="*/ 0 w 94"/>
              <a:gd name="T1" fmla="*/ 0 h 49"/>
              <a:gd name="T2" fmla="*/ 115927199 w 94"/>
              <a:gd name="T3" fmla="*/ 85685861 h 49"/>
              <a:gd name="T4" fmla="*/ 236894710 w 94"/>
              <a:gd name="T5" fmla="*/ 123489255 h 49"/>
              <a:gd name="T6" fmla="*/ 0 60000 65536"/>
              <a:gd name="T7" fmla="*/ 0 60000 65536"/>
              <a:gd name="T8" fmla="*/ 0 60000 65536"/>
              <a:gd name="T9" fmla="*/ 0 w 94"/>
              <a:gd name="T10" fmla="*/ 0 h 49"/>
              <a:gd name="T11" fmla="*/ 94 w 94"/>
              <a:gd name="T12" fmla="*/ 49 h 49"/>
            </a:gdLst>
            <a:ahLst/>
            <a:cxnLst>
              <a:cxn ang="T6">
                <a:pos x="T0" y="T1"/>
              </a:cxn>
              <a:cxn ang="T7">
                <a:pos x="T2" y="T3"/>
              </a:cxn>
              <a:cxn ang="T8">
                <a:pos x="T4" y="T5"/>
              </a:cxn>
            </a:cxnLst>
            <a:rect l="T9" t="T10" r="T11" b="T12"/>
            <a:pathLst>
              <a:path w="94" h="49">
                <a:moveTo>
                  <a:pt x="0" y="0"/>
                </a:moveTo>
                <a:cubicBezTo>
                  <a:pt x="8" y="6"/>
                  <a:pt x="30" y="26"/>
                  <a:pt x="46" y="34"/>
                </a:cubicBezTo>
                <a:cubicBezTo>
                  <a:pt x="62" y="42"/>
                  <a:pt x="84" y="46"/>
                  <a:pt x="94" y="49"/>
                </a:cubicBez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39" name="Line 11"/>
          <p:cNvSpPr>
            <a:spLocks noChangeAspect="1" noChangeShapeType="1"/>
          </p:cNvSpPr>
          <p:nvPr/>
        </p:nvSpPr>
        <p:spPr bwMode="auto">
          <a:xfrm>
            <a:off x="9430028" y="1880828"/>
            <a:ext cx="2033587" cy="849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0" name="Line 12"/>
          <p:cNvSpPr>
            <a:spLocks noChangeAspect="1" noChangeShapeType="1"/>
          </p:cNvSpPr>
          <p:nvPr/>
        </p:nvSpPr>
        <p:spPr bwMode="auto">
          <a:xfrm>
            <a:off x="11396940" y="1477603"/>
            <a:ext cx="0" cy="7127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1" name="Text Box 13"/>
          <p:cNvSpPr txBox="1">
            <a:spLocks noChangeAspect="1" noChangeArrowheads="1"/>
          </p:cNvSpPr>
          <p:nvPr/>
        </p:nvSpPr>
        <p:spPr bwMode="auto">
          <a:xfrm>
            <a:off x="11357253" y="1336315"/>
            <a:ext cx="5667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p>
        </p:txBody>
      </p:sp>
      <p:sp>
        <p:nvSpPr>
          <p:cNvPr id="42" name="Text Box 14"/>
          <p:cNvSpPr txBox="1">
            <a:spLocks noChangeAspect="1" noChangeArrowheads="1"/>
          </p:cNvSpPr>
          <p:nvPr/>
        </p:nvSpPr>
        <p:spPr bwMode="auto">
          <a:xfrm>
            <a:off x="10727117" y="2030053"/>
            <a:ext cx="42545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 pitchFamily="18" charset="-52"/>
                <a:ea typeface="宋体" panose="02010600030101010101" pitchFamily="2" charset="-122"/>
              </a:rPr>
              <a:t>y</a:t>
            </a:r>
          </a:p>
        </p:txBody>
      </p:sp>
      <p:sp>
        <p:nvSpPr>
          <p:cNvPr id="43" name="Arc 15"/>
          <p:cNvSpPr>
            <a:spLocks noChangeAspect="1"/>
          </p:cNvSpPr>
          <p:nvPr/>
        </p:nvSpPr>
        <p:spPr bwMode="auto">
          <a:xfrm flipH="1">
            <a:off x="9718582" y="1998303"/>
            <a:ext cx="23812" cy="206375"/>
          </a:xfrm>
          <a:custGeom>
            <a:avLst/>
            <a:gdLst>
              <a:gd name="T0" fmla="*/ 0 w 21600"/>
              <a:gd name="T1" fmla="*/ 0 h 30793"/>
              <a:gd name="T2" fmla="*/ 26188 w 21600"/>
              <a:gd name="T3" fmla="*/ 9269732 h 30793"/>
              <a:gd name="T4" fmla="*/ 0 w 21600"/>
              <a:gd name="T5" fmla="*/ 6502310 h 30793"/>
              <a:gd name="T6" fmla="*/ 0 60000 65536"/>
              <a:gd name="T7" fmla="*/ 0 60000 65536"/>
              <a:gd name="T8" fmla="*/ 0 60000 65536"/>
              <a:gd name="T9" fmla="*/ 0 w 21600"/>
              <a:gd name="T10" fmla="*/ 0 h 30793"/>
              <a:gd name="T11" fmla="*/ 21600 w 21600"/>
              <a:gd name="T12" fmla="*/ 30793 h 30793"/>
            </a:gdLst>
            <a:ahLst/>
            <a:cxnLst>
              <a:cxn ang="T6">
                <a:pos x="T0" y="T1"/>
              </a:cxn>
              <a:cxn ang="T7">
                <a:pos x="T2" y="T3"/>
              </a:cxn>
              <a:cxn ang="T8">
                <a:pos x="T4" y="T5"/>
              </a:cxn>
            </a:cxnLst>
            <a:rect l="T9" t="T10" r="T11" b="T12"/>
            <a:pathLst>
              <a:path w="21600" h="30793" fill="none" extrusionOk="0">
                <a:moveTo>
                  <a:pt x="-1" y="0"/>
                </a:moveTo>
                <a:cubicBezTo>
                  <a:pt x="11929" y="0"/>
                  <a:pt x="21600" y="9670"/>
                  <a:pt x="21600" y="21600"/>
                </a:cubicBezTo>
                <a:cubicBezTo>
                  <a:pt x="21600" y="24778"/>
                  <a:pt x="20898" y="27917"/>
                  <a:pt x="19546" y="30793"/>
                </a:cubicBezTo>
              </a:path>
              <a:path w="21600" h="30793" stroke="0" extrusionOk="0">
                <a:moveTo>
                  <a:pt x="-1" y="0"/>
                </a:moveTo>
                <a:cubicBezTo>
                  <a:pt x="11929" y="0"/>
                  <a:pt x="21600" y="9670"/>
                  <a:pt x="21600" y="21600"/>
                </a:cubicBezTo>
                <a:cubicBezTo>
                  <a:pt x="21600" y="24778"/>
                  <a:pt x="20898" y="27917"/>
                  <a:pt x="19546" y="30793"/>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44" name="Text Box 16"/>
          <p:cNvSpPr txBox="1">
            <a:spLocks noChangeAspect="1" noChangeArrowheads="1"/>
          </p:cNvSpPr>
          <p:nvPr/>
        </p:nvSpPr>
        <p:spPr bwMode="auto">
          <a:xfrm>
            <a:off x="9131579" y="1793515"/>
            <a:ext cx="566737"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45" name="Text Box 17"/>
          <p:cNvSpPr txBox="1">
            <a:spLocks noChangeAspect="1" noChangeArrowheads="1"/>
          </p:cNvSpPr>
          <p:nvPr/>
        </p:nvSpPr>
        <p:spPr bwMode="auto">
          <a:xfrm>
            <a:off x="11733490" y="2060215"/>
            <a:ext cx="449263"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CC00CC"/>
                </a:solidFill>
                <a:latin typeface="" pitchFamily="18" charset="-52"/>
                <a:ea typeface="宋体" panose="02010600030101010101" pitchFamily="2" charset="-122"/>
              </a:rPr>
              <a:t>x</a:t>
            </a:r>
          </a:p>
        </p:txBody>
      </p:sp>
      <p:sp>
        <p:nvSpPr>
          <p:cNvPr id="46" name="Text Box 18"/>
          <p:cNvSpPr txBox="1">
            <a:spLocks noChangeAspect="1" noChangeArrowheads="1"/>
          </p:cNvSpPr>
          <p:nvPr/>
        </p:nvSpPr>
        <p:spPr bwMode="auto">
          <a:xfrm>
            <a:off x="8293378" y="1117240"/>
            <a:ext cx="496887"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CC00CC"/>
                </a:solidFill>
                <a:latin typeface="" pitchFamily="18" charset="-52"/>
                <a:ea typeface="宋体" panose="02010600030101010101" pitchFamily="2" charset="-122"/>
              </a:rPr>
              <a:t>y</a:t>
            </a:r>
          </a:p>
        </p:txBody>
      </p:sp>
      <p:sp>
        <p:nvSpPr>
          <p:cNvPr id="47" name="Text Box 19"/>
          <p:cNvSpPr txBox="1">
            <a:spLocks noChangeAspect="1" noChangeArrowheads="1"/>
          </p:cNvSpPr>
          <p:nvPr/>
        </p:nvSpPr>
        <p:spPr bwMode="auto">
          <a:xfrm>
            <a:off x="9666565" y="2604860"/>
            <a:ext cx="11350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000000"/>
                </a:solidFill>
                <a:latin typeface="" pitchFamily="18" charset="-52"/>
              </a:rPr>
              <a:t>挠曲线</a:t>
            </a:r>
          </a:p>
        </p:txBody>
      </p:sp>
      <p:sp>
        <p:nvSpPr>
          <p:cNvPr id="48" name="Line 20"/>
          <p:cNvSpPr>
            <a:spLocks noChangeAspect="1" noChangeShapeType="1"/>
          </p:cNvSpPr>
          <p:nvPr/>
        </p:nvSpPr>
        <p:spPr bwMode="auto">
          <a:xfrm flipH="1">
            <a:off x="10209490" y="2422165"/>
            <a:ext cx="238125" cy="260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9" name="Text Box 21"/>
          <p:cNvSpPr txBox="1">
            <a:spLocks noChangeAspect="1" noChangeArrowheads="1"/>
          </p:cNvSpPr>
          <p:nvPr/>
        </p:nvSpPr>
        <p:spPr bwMode="auto">
          <a:xfrm>
            <a:off x="11409640" y="2477728"/>
            <a:ext cx="5207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 pitchFamily="18" charset="-52"/>
                <a:ea typeface="宋体" panose="02010600030101010101" pitchFamily="2" charset="-122"/>
              </a:rPr>
              <a:t>B</a:t>
            </a:r>
            <a:r>
              <a:rPr lang="en-US" altLang="zh-CN" b="0" i="0" baseline="-25000" dirty="0">
                <a:solidFill>
                  <a:srgbClr val="000000"/>
                </a:solidFill>
                <a:latin typeface="" pitchFamily="18" charset="-52"/>
                <a:ea typeface="宋体" panose="02010600030101010101" pitchFamily="2" charset="-122"/>
              </a:rPr>
              <a:t>1</a:t>
            </a:r>
          </a:p>
        </p:txBody>
      </p:sp>
      <p:grpSp>
        <p:nvGrpSpPr>
          <p:cNvPr id="50" name="Group 22"/>
          <p:cNvGrpSpPr>
            <a:grpSpLocks/>
          </p:cNvGrpSpPr>
          <p:nvPr/>
        </p:nvGrpSpPr>
        <p:grpSpPr bwMode="auto">
          <a:xfrm>
            <a:off x="8037790" y="1880828"/>
            <a:ext cx="3778250" cy="661987"/>
            <a:chOff x="3149" y="1288"/>
            <a:chExt cx="2380" cy="417"/>
          </a:xfrm>
        </p:grpSpPr>
        <p:sp>
          <p:nvSpPr>
            <p:cNvPr id="51" name="Line 23"/>
            <p:cNvSpPr>
              <a:spLocks noChangeAspect="1" noChangeShapeType="1"/>
            </p:cNvSpPr>
            <p:nvPr/>
          </p:nvSpPr>
          <p:spPr bwMode="auto">
            <a:xfrm>
              <a:off x="3281" y="1481"/>
              <a:ext cx="199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2" name="Rectangle 24" descr="宽上对角线"/>
            <p:cNvSpPr>
              <a:spLocks noChangeAspect="1" noChangeArrowheads="1"/>
            </p:cNvSpPr>
            <p:nvPr/>
          </p:nvSpPr>
          <p:spPr bwMode="auto">
            <a:xfrm>
              <a:off x="3149" y="1296"/>
              <a:ext cx="126" cy="379"/>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3" name="Text Box 25"/>
            <p:cNvSpPr txBox="1">
              <a:spLocks noChangeAspect="1" noChangeArrowheads="1"/>
            </p:cNvSpPr>
            <p:nvPr/>
          </p:nvSpPr>
          <p:spPr bwMode="auto">
            <a:xfrm>
              <a:off x="3207" y="1421"/>
              <a:ext cx="32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A</a:t>
              </a:r>
            </a:p>
          </p:txBody>
        </p:sp>
        <p:sp>
          <p:nvSpPr>
            <p:cNvPr id="54" name="Text Box 26"/>
            <p:cNvSpPr txBox="1">
              <a:spLocks noChangeAspect="1" noChangeArrowheads="1"/>
            </p:cNvSpPr>
            <p:nvPr/>
          </p:nvSpPr>
          <p:spPr bwMode="auto">
            <a:xfrm>
              <a:off x="5202" y="1392"/>
              <a:ext cx="32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B</a:t>
              </a:r>
            </a:p>
          </p:txBody>
        </p:sp>
        <p:sp>
          <p:nvSpPr>
            <p:cNvPr id="55" name="Line 27"/>
            <p:cNvSpPr>
              <a:spLocks noChangeAspect="1" noChangeShapeType="1"/>
            </p:cNvSpPr>
            <p:nvPr/>
          </p:nvSpPr>
          <p:spPr bwMode="auto">
            <a:xfrm>
              <a:off x="3281" y="1288"/>
              <a:ext cx="0" cy="3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6" name="Text Box 28"/>
          <p:cNvSpPr txBox="1">
            <a:spLocks noChangeArrowheads="1"/>
          </p:cNvSpPr>
          <p:nvPr/>
        </p:nvSpPr>
        <p:spPr bwMode="auto">
          <a:xfrm>
            <a:off x="9952315" y="1325203"/>
            <a:ext cx="84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50000"/>
              </a:spcBef>
            </a:pPr>
            <a:r>
              <a:rPr lang="zh-CN" altLang="en-US" i="0">
                <a:solidFill>
                  <a:srgbClr val="CC0099"/>
                </a:solidFill>
                <a:latin typeface="" pitchFamily="18" charset="-52"/>
              </a:rPr>
              <a:t>挠度</a:t>
            </a:r>
          </a:p>
        </p:txBody>
      </p:sp>
      <p:sp>
        <p:nvSpPr>
          <p:cNvPr id="57" name="Line 29"/>
          <p:cNvSpPr>
            <a:spLocks noChangeShapeType="1"/>
          </p:cNvSpPr>
          <p:nvPr/>
        </p:nvSpPr>
        <p:spPr bwMode="auto">
          <a:xfrm>
            <a:off x="10607953" y="1679215"/>
            <a:ext cx="493712" cy="774700"/>
          </a:xfrm>
          <a:prstGeom prst="line">
            <a:avLst/>
          </a:prstGeom>
          <a:noFill/>
          <a:ln w="9525">
            <a:solidFill>
              <a:srgbClr val="CC0099"/>
            </a:solidFill>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58" name="Text Box 30"/>
          <p:cNvSpPr txBox="1">
            <a:spLocks noChangeArrowheads="1"/>
          </p:cNvSpPr>
          <p:nvPr/>
        </p:nvSpPr>
        <p:spPr bwMode="auto">
          <a:xfrm>
            <a:off x="10211078" y="3436578"/>
            <a:ext cx="98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50000"/>
              </a:spcBef>
            </a:pPr>
            <a:r>
              <a:rPr lang="zh-CN" altLang="en-US" i="0">
                <a:solidFill>
                  <a:srgbClr val="CC0099"/>
                </a:solidFill>
                <a:latin typeface="" pitchFamily="18" charset="-52"/>
              </a:rPr>
              <a:t>转角</a:t>
            </a:r>
          </a:p>
        </p:txBody>
      </p:sp>
      <p:sp>
        <p:nvSpPr>
          <p:cNvPr id="59" name="Line 31"/>
          <p:cNvSpPr>
            <a:spLocks noChangeShapeType="1"/>
          </p:cNvSpPr>
          <p:nvPr/>
        </p:nvSpPr>
        <p:spPr bwMode="auto">
          <a:xfrm flipH="1">
            <a:off x="10673040" y="3258778"/>
            <a:ext cx="300038" cy="242887"/>
          </a:xfrm>
          <a:prstGeom prst="line">
            <a:avLst/>
          </a:prstGeom>
          <a:noFill/>
          <a:ln w="9525">
            <a:solidFill>
              <a:srgbClr val="CC0099"/>
            </a:solidFill>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60" name="Line 32"/>
          <p:cNvSpPr>
            <a:spLocks noChangeAspect="1" noChangeShapeType="1"/>
          </p:cNvSpPr>
          <p:nvPr/>
        </p:nvSpPr>
        <p:spPr bwMode="auto">
          <a:xfrm>
            <a:off x="11128653" y="1695090"/>
            <a:ext cx="0" cy="4810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1" name="Text Box 37"/>
          <p:cNvSpPr txBox="1">
            <a:spLocks noChangeAspect="1" noChangeArrowheads="1"/>
          </p:cNvSpPr>
          <p:nvPr/>
        </p:nvSpPr>
        <p:spPr bwMode="auto">
          <a:xfrm>
            <a:off x="11362015" y="151094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3" name="Text Box 38"/>
          <p:cNvSpPr txBox="1">
            <a:spLocks noChangeAspect="1" noChangeArrowheads="1"/>
          </p:cNvSpPr>
          <p:nvPr/>
        </p:nvSpPr>
        <p:spPr bwMode="auto">
          <a:xfrm>
            <a:off x="10784165" y="140299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4" name="Text Box 39"/>
          <p:cNvSpPr txBox="1">
            <a:spLocks noChangeAspect="1" noChangeArrowheads="1"/>
          </p:cNvSpPr>
          <p:nvPr/>
        </p:nvSpPr>
        <p:spPr bwMode="auto">
          <a:xfrm>
            <a:off x="11038165" y="3138128"/>
            <a:ext cx="482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5" name="Text Box 40"/>
          <p:cNvSpPr txBox="1">
            <a:spLocks noChangeAspect="1" noChangeArrowheads="1"/>
          </p:cNvSpPr>
          <p:nvPr/>
        </p:nvSpPr>
        <p:spPr bwMode="auto">
          <a:xfrm>
            <a:off x="10325378" y="2896828"/>
            <a:ext cx="495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6" name="Line 41"/>
          <p:cNvSpPr>
            <a:spLocks noChangeAspect="1" noChangeShapeType="1"/>
          </p:cNvSpPr>
          <p:nvPr/>
        </p:nvSpPr>
        <p:spPr bwMode="auto">
          <a:xfrm rot="1320000">
            <a:off x="11135003" y="1730015"/>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7" name="Text Box 42"/>
          <p:cNvSpPr txBox="1">
            <a:spLocks noChangeAspect="1" noChangeArrowheads="1"/>
          </p:cNvSpPr>
          <p:nvPr/>
        </p:nvSpPr>
        <p:spPr bwMode="auto">
          <a:xfrm>
            <a:off x="11082615" y="2612665"/>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8" name="Text Box 43"/>
          <p:cNvSpPr txBox="1">
            <a:spLocks noChangeAspect="1" noChangeArrowheads="1"/>
          </p:cNvSpPr>
          <p:nvPr/>
        </p:nvSpPr>
        <p:spPr bwMode="auto">
          <a:xfrm>
            <a:off x="10703203" y="1761765"/>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endPar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9" name="Text Box 1032"/>
          <p:cNvSpPr txBox="1">
            <a:spLocks noChangeArrowheads="1"/>
          </p:cNvSpPr>
          <p:nvPr/>
        </p:nvSpPr>
        <p:spPr bwMode="auto">
          <a:xfrm>
            <a:off x="467675" y="4437112"/>
            <a:ext cx="1160498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曲线</a:t>
            </a:r>
            <a:r>
              <a:rPr kumimoji="1" lang="en-US" altLang="zh-CN" sz="2800" b="0" dirty="0">
                <a:latin typeface="+mn-lt"/>
                <a:ea typeface="微软雅黑" panose="020B0503020204020204" pitchFamily="34" charset="-122"/>
              </a:rPr>
              <a:t>AB</a:t>
            </a:r>
            <a:r>
              <a:rPr kumimoji="1" lang="en-US" altLang="zh-CN" sz="2800" b="0" i="0" baseline="-25000" dirty="0">
                <a:latin typeface="+mn-lt"/>
                <a:ea typeface="微软雅黑" panose="020B0503020204020204" pitchFamily="34" charset="-122"/>
              </a:rPr>
              <a:t>1</a:t>
            </a:r>
            <a:r>
              <a:rPr kumimoji="1" lang="zh-CN" altLang="en-US" sz="2800" i="0" dirty="0">
                <a:latin typeface="+mn-lt"/>
                <a:ea typeface="微软雅黑" panose="020B0503020204020204" pitchFamily="34" charset="-122"/>
              </a:rPr>
              <a:t>表示了全梁各截面的挠度值，故称</a:t>
            </a:r>
            <a:r>
              <a:rPr kumimoji="1" lang="zh-CN" altLang="en-US" sz="2800" i="0" dirty="0">
                <a:solidFill>
                  <a:srgbClr val="FF00FF"/>
                </a:solidFill>
                <a:latin typeface="+mn-lt"/>
                <a:ea typeface="微软雅黑" panose="020B0503020204020204" pitchFamily="34" charset="-122"/>
              </a:rPr>
              <a:t>挠曲线</a:t>
            </a:r>
            <a:r>
              <a:rPr kumimoji="1" lang="zh-CN" altLang="en-US" sz="2800" i="0" dirty="0">
                <a:latin typeface="+mn-lt"/>
                <a:ea typeface="微软雅黑" panose="020B0503020204020204" pitchFamily="34" charset="-122"/>
              </a:rPr>
              <a:t>。悬臂梁的挠度和转角挠曲线显然是梁截面位置</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的函数，记作       </a:t>
            </a:r>
            <a:r>
              <a:rPr lang="en-US" altLang="zh-CN" sz="2800" b="0" dirty="0">
                <a:latin typeface="+mn-lt"/>
              </a:rPr>
              <a:t>y</a:t>
            </a:r>
            <a:r>
              <a:rPr lang="zh-CN" altLang="en-US" sz="2800" b="0" i="0" dirty="0">
                <a:latin typeface="+mn-lt"/>
              </a:rPr>
              <a:t>＝</a:t>
            </a:r>
            <a:r>
              <a:rPr lang="en-US" altLang="zh-CN" sz="2800" b="0" dirty="0">
                <a:latin typeface="+mn-lt"/>
              </a:rPr>
              <a:t>f </a:t>
            </a:r>
            <a:r>
              <a:rPr lang="en-US" altLang="zh-CN" sz="2800" b="0" i="0" dirty="0">
                <a:latin typeface="+mn-lt"/>
              </a:rPr>
              <a:t>(</a:t>
            </a:r>
            <a:r>
              <a:rPr lang="en-US" altLang="zh-CN" sz="2800" b="0" dirty="0">
                <a:latin typeface="+mn-lt"/>
              </a:rPr>
              <a:t>x</a:t>
            </a:r>
            <a:r>
              <a:rPr lang="en-US" altLang="zh-CN" sz="2800" b="0" i="0" dirty="0">
                <a:latin typeface="+mn-lt"/>
              </a:rPr>
              <a:t>)</a:t>
            </a:r>
            <a:r>
              <a:rPr lang="en-US" altLang="zh-CN" sz="2800" b="0" dirty="0">
                <a:latin typeface="+mn-lt"/>
              </a:rPr>
              <a:t>      </a:t>
            </a:r>
            <a:r>
              <a:rPr lang="en-US" altLang="zh-CN" sz="2800" b="0" dirty="0">
                <a:solidFill>
                  <a:srgbClr val="FF00FF"/>
                </a:solidFill>
                <a:latin typeface="+mn-lt"/>
              </a:rPr>
              <a:t>—— </a:t>
            </a:r>
            <a:r>
              <a:rPr kumimoji="1" lang="zh-CN" altLang="en-US" sz="2800" i="0" dirty="0">
                <a:solidFill>
                  <a:srgbClr val="FF00FF"/>
                </a:solidFill>
                <a:latin typeface="+mn-lt"/>
                <a:ea typeface="微软雅黑" panose="020B0503020204020204" pitchFamily="34" charset="-122"/>
              </a:rPr>
              <a:t>挠曲线方程</a:t>
            </a:r>
          </a:p>
        </p:txBody>
      </p:sp>
      <p:sp>
        <p:nvSpPr>
          <p:cNvPr id="70" name="Text Box 1032"/>
          <p:cNvSpPr txBox="1">
            <a:spLocks noChangeArrowheads="1"/>
          </p:cNvSpPr>
          <p:nvPr/>
        </p:nvSpPr>
        <p:spPr bwMode="auto">
          <a:xfrm>
            <a:off x="467675" y="5591454"/>
            <a:ext cx="11604987"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因为转角很小，所以           </a:t>
            </a:r>
            <a:r>
              <a:rPr kumimoji="1" lang="zh-CN" altLang="en-US" sz="2800" b="0" dirty="0">
                <a:ea typeface="黑体" panose="02010609060101010101" pitchFamily="49" charset="-122"/>
                <a:sym typeface="Symbol" panose="05050102010706020507" pitchFamily="18" charset="2"/>
              </a:rPr>
              <a:t></a:t>
            </a:r>
            <a:r>
              <a:rPr kumimoji="1" lang="zh-CN" altLang="en-US" sz="2800" b="0" i="0" dirty="0">
                <a:ea typeface="黑体" panose="02010609060101010101" pitchFamily="49" charset="-122"/>
              </a:rPr>
              <a:t> ≈</a:t>
            </a:r>
            <a:r>
              <a:rPr kumimoji="1" lang="en-US" altLang="zh-CN" sz="2800" b="0" i="0" dirty="0">
                <a:ea typeface="黑体" panose="02010609060101010101" pitchFamily="49" charset="-122"/>
              </a:rPr>
              <a:t>tan</a:t>
            </a:r>
            <a:r>
              <a:rPr kumimoji="1" lang="en-US" altLang="zh-CN" sz="2800" b="0" dirty="0">
                <a:ea typeface="黑体" panose="02010609060101010101" pitchFamily="49" charset="-122"/>
                <a:sym typeface="Symbol" panose="05050102010706020507" pitchFamily="18" charset="2"/>
              </a:rPr>
              <a:t></a:t>
            </a:r>
            <a:r>
              <a:rPr kumimoji="1" lang="en-US" altLang="zh-CN" sz="2800" b="0" i="0" dirty="0">
                <a:ea typeface="黑体" panose="02010609060101010101" pitchFamily="49" charset="-122"/>
              </a:rPr>
              <a:t> </a:t>
            </a:r>
            <a:r>
              <a:rPr kumimoji="1" lang="zh-CN" altLang="en-US" sz="2800" b="0" i="0" dirty="0">
                <a:ea typeface="黑体" panose="02010609060101010101" pitchFamily="49" charset="-122"/>
              </a:rPr>
              <a:t>＝</a:t>
            </a:r>
            <a:r>
              <a:rPr lang="en-US" altLang="zh-CN" sz="2800" b="0" dirty="0"/>
              <a:t>y</a:t>
            </a:r>
            <a:r>
              <a:rPr lang="en-US" altLang="zh-CN" sz="2800" b="0" dirty="0">
                <a:cs typeface="Times New Roman" panose="02020603050405020304" pitchFamily="18" charset="0"/>
              </a:rPr>
              <a:t>'</a:t>
            </a:r>
            <a:r>
              <a:rPr lang="en-US" altLang="zh-CN" sz="2800" b="0" dirty="0"/>
              <a:t> </a:t>
            </a:r>
            <a:r>
              <a:rPr kumimoji="1" lang="zh-CN" altLang="en-US" sz="2800" b="0" i="0" dirty="0">
                <a:ea typeface="黑体" panose="02010609060101010101" pitchFamily="49" charset="-122"/>
              </a:rPr>
              <a:t>＝</a:t>
            </a:r>
            <a:r>
              <a:rPr lang="en-US" altLang="zh-CN" sz="2800" b="0" dirty="0"/>
              <a:t>f </a:t>
            </a:r>
            <a:r>
              <a:rPr lang="en-US" altLang="zh-CN" sz="2800" b="0" dirty="0">
                <a:cs typeface="Times New Roman" panose="02020603050405020304" pitchFamily="18" charset="0"/>
              </a:rPr>
              <a:t>'</a:t>
            </a:r>
            <a:r>
              <a:rPr kumimoji="1" lang="en-US" altLang="zh-CN" sz="2800" b="0" i="0" dirty="0">
                <a:ea typeface="黑体" panose="02010609060101010101" pitchFamily="49" charset="-122"/>
              </a:rPr>
              <a:t>(</a:t>
            </a:r>
            <a:r>
              <a:rPr kumimoji="1" lang="en-US" altLang="zh-CN" sz="2800" b="0" dirty="0">
                <a:ea typeface="黑体" panose="02010609060101010101" pitchFamily="49" charset="-122"/>
              </a:rPr>
              <a:t>x</a:t>
            </a:r>
            <a:r>
              <a:rPr kumimoji="1" lang="en-US" altLang="zh-CN" sz="2800" b="0" i="0" dirty="0">
                <a:ea typeface="黑体" panose="02010609060101010101" pitchFamily="49" charset="-122"/>
              </a:rPr>
              <a:t>)</a:t>
            </a:r>
            <a:r>
              <a:rPr kumimoji="1" lang="zh-CN" altLang="en-US" sz="2800" i="0" dirty="0">
                <a:latin typeface="+mn-lt"/>
                <a:ea typeface="微软雅黑" panose="020B0503020204020204" pitchFamily="34" charset="-122"/>
              </a:rPr>
              <a:t> </a:t>
            </a:r>
            <a:r>
              <a:rPr lang="en-US" altLang="zh-CN" sz="2800" b="0" dirty="0">
                <a:latin typeface="+mn-lt"/>
              </a:rPr>
              <a:t> </a:t>
            </a:r>
            <a:r>
              <a:rPr lang="en-US" altLang="zh-CN" sz="2800" b="0" dirty="0">
                <a:solidFill>
                  <a:srgbClr val="FF00FF"/>
                </a:solidFill>
                <a:latin typeface="+mn-lt"/>
              </a:rPr>
              <a:t>—— </a:t>
            </a:r>
            <a:r>
              <a:rPr kumimoji="1" lang="zh-CN" altLang="en-US" sz="2800" i="0" dirty="0">
                <a:solidFill>
                  <a:srgbClr val="FF00FF"/>
                </a:solidFill>
                <a:latin typeface="+mn-lt"/>
                <a:ea typeface="微软雅黑" panose="020B0503020204020204" pitchFamily="34" charset="-122"/>
              </a:rPr>
              <a:t>转角方程 （单位：</a:t>
            </a:r>
            <a:r>
              <a:rPr kumimoji="1" lang="en-US" altLang="zh-CN" sz="2800" b="0" i="0" dirty="0">
                <a:solidFill>
                  <a:srgbClr val="FF00FF"/>
                </a:solidFill>
                <a:latin typeface="+mn-lt"/>
                <a:ea typeface="微软雅黑" panose="020B0503020204020204" pitchFamily="34" charset="-122"/>
              </a:rPr>
              <a:t>rad</a:t>
            </a:r>
            <a:r>
              <a:rPr kumimoji="1" lang="zh-CN" altLang="en-US" sz="2800" i="0" dirty="0">
                <a:solidFill>
                  <a:srgbClr val="FF00FF"/>
                </a:solidFill>
                <a:latin typeface="+mn-lt"/>
                <a:ea typeface="微软雅黑" panose="020B0503020204020204" pitchFamily="34" charset="-122"/>
              </a:rPr>
              <a:t>）</a:t>
            </a:r>
          </a:p>
        </p:txBody>
      </p:sp>
    </p:spTree>
    <p:extLst>
      <p:ext uri="{BB962C8B-B14F-4D97-AF65-F5344CB8AC3E}">
        <p14:creationId xmlns:p14="http://schemas.microsoft.com/office/powerpoint/2010/main" val="31329979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par>
                                <p:cTn id="7" presetID="9" presetClass="emph" presetSubtype="0" grpId="0" nodeType="withEffect">
                                  <p:stCondLst>
                                    <p:cond delay="0"/>
                                  </p:stCondLst>
                                  <p:childTnLst>
                                    <p:set>
                                      <p:cBhvr rctx="PPT">
                                        <p:cTn id="8" dur="indefinite"/>
                                        <p:tgtEl>
                                          <p:spTgt spid="40"/>
                                        </p:tgtEl>
                                        <p:attrNameLst>
                                          <p:attrName>style.opacity</p:attrName>
                                        </p:attrNameLst>
                                      </p:cBhvr>
                                      <p:to>
                                        <p:strVal val="0.5"/>
                                      </p:to>
                                    </p:set>
                                    <p:animEffect filter="image" prLst="opacity: 0.5">
                                      <p:cBhvr rctx="IE">
                                        <p:cTn id="9" dur="indefinite"/>
                                        <p:tgtEl>
                                          <p:spTgt spid="40"/>
                                        </p:tgtEl>
                                      </p:cBhvr>
                                    </p:animEffect>
                                  </p:childTnLst>
                                </p:cTn>
                              </p:par>
                              <p:par>
                                <p:cTn id="10" presetID="9" presetClass="emph" presetSubtype="0" grpId="0" nodeType="withEffect">
                                  <p:stCondLst>
                                    <p:cond delay="0"/>
                                  </p:stCondLst>
                                  <p:childTnLst>
                                    <p:set>
                                      <p:cBhvr rctx="PPT">
                                        <p:cTn id="11" dur="indefinite"/>
                                        <p:tgtEl>
                                          <p:spTgt spid="41"/>
                                        </p:tgtEl>
                                        <p:attrNameLst>
                                          <p:attrName>style.opacity</p:attrName>
                                        </p:attrNameLst>
                                      </p:cBhvr>
                                      <p:to>
                                        <p:strVal val="0.5"/>
                                      </p:to>
                                    </p:set>
                                    <p:animEffect filter="image" prLst="opacity: 0.5">
                                      <p:cBhvr rctx="IE">
                                        <p:cTn id="12" dur="indefinite"/>
                                        <p:tgtEl>
                                          <p:spTgt spid="41"/>
                                        </p:tgtEl>
                                      </p:cBhvr>
                                    </p:animEffect>
                                  </p:childTnLst>
                                </p:cTn>
                              </p:par>
                              <p:par>
                                <p:cTn id="13" presetID="35" presetClass="emph" presetSubtype="0" fill="hold" grpId="0" nodeType="withEffect">
                                  <p:stCondLst>
                                    <p:cond delay="0"/>
                                  </p:stCondLst>
                                  <p:childTnLst>
                                    <p:anim calcmode="discrete" valueType="str">
                                      <p:cBhvr>
                                        <p:cTn id="14" dur="1000" fill="hold"/>
                                        <p:tgtEl>
                                          <p:spTgt spid="60"/>
                                        </p:tgtEl>
                                        <p:attrNameLst>
                                          <p:attrName>style.visibility</p:attrName>
                                        </p:attrNameLst>
                                      </p:cBhvr>
                                      <p:tavLst>
                                        <p:tav tm="0">
                                          <p:val>
                                            <p:strVal val="hidden"/>
                                          </p:val>
                                        </p:tav>
                                        <p:tav tm="50000">
                                          <p:val>
                                            <p:strVal val="visible"/>
                                          </p:val>
                                        </p:tav>
                                      </p:tavLst>
                                    </p:anim>
                                  </p:childTnLst>
                                </p:cTn>
                              </p:par>
                              <p:par>
                                <p:cTn id="15" presetID="9" presetClass="emph" presetSubtype="0" grpId="0" nodeType="withEffect">
                                  <p:stCondLst>
                                    <p:cond delay="0"/>
                                  </p:stCondLst>
                                  <p:childTnLst>
                                    <p:set>
                                      <p:cBhvr rctx="PPT">
                                        <p:cTn id="16" dur="indefinite"/>
                                        <p:tgtEl>
                                          <p:spTgt spid="37"/>
                                        </p:tgtEl>
                                        <p:attrNameLst>
                                          <p:attrName>style.opacity</p:attrName>
                                        </p:attrNameLst>
                                      </p:cBhvr>
                                      <p:to>
                                        <p:strVal val="0.5"/>
                                      </p:to>
                                    </p:set>
                                    <p:animEffect filter="image" prLst="opacity: 0.5">
                                      <p:cBhvr rctx="IE">
                                        <p:cTn id="17" dur="indefinite"/>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outHorizontal)">
                                      <p:cBhvr>
                                        <p:cTn id="22" dur="3000"/>
                                        <p:tgtEl>
                                          <p:spTgt spid="36"/>
                                        </p:tgtEl>
                                      </p:cBhvr>
                                    </p:animEffect>
                                  </p:childTnLst>
                                </p:cTn>
                              </p:par>
                              <p:par>
                                <p:cTn id="23" presetID="19" presetClass="entr" presetSubtype="1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p:cTn id="25" dur="5000" fill="hold"/>
                                        <p:tgtEl>
                                          <p:spTgt spid="42"/>
                                        </p:tgtEl>
                                        <p:attrNameLst>
                                          <p:attrName>ppt_w</p:attrName>
                                        </p:attrNameLst>
                                      </p:cBhvr>
                                      <p:tavLst>
                                        <p:tav tm="0" fmla="#ppt_w*sin(2.5*pi*$)">
                                          <p:val>
                                            <p:fltVal val="0"/>
                                          </p:val>
                                        </p:tav>
                                        <p:tav tm="100000">
                                          <p:val>
                                            <p:fltVal val="1"/>
                                          </p:val>
                                        </p:tav>
                                      </p:tavLst>
                                    </p:anim>
                                    <p:anim calcmode="lin" valueType="num">
                                      <p:cBhvr>
                                        <p:cTn id="26" dur="5000" fill="hold"/>
                                        <p:tgtEl>
                                          <p:spTgt spid="42"/>
                                        </p:tgtEl>
                                        <p:attrNameLst>
                                          <p:attrName>ppt_h</p:attrName>
                                        </p:attrNameLst>
                                      </p:cBhvr>
                                      <p:tavLst>
                                        <p:tav tm="0">
                                          <p:val>
                                            <p:strVal val="#ppt_h"/>
                                          </p:val>
                                        </p:tav>
                                        <p:tav tm="100000">
                                          <p:val>
                                            <p:strVal val="#ppt_h"/>
                                          </p:val>
                                        </p:tav>
                                      </p:tavLst>
                                    </p:anim>
                                  </p:childTnLst>
                                </p:cTn>
                              </p:par>
                            </p:childTnLst>
                          </p:cTn>
                        </p:par>
                        <p:par>
                          <p:cTn id="27" fill="hold">
                            <p:stCondLst>
                              <p:cond delay="5000"/>
                            </p:stCondLst>
                            <p:childTnLst>
                              <p:par>
                                <p:cTn id="28" presetID="18" presetClass="entr" presetSubtype="9" fill="hold" grpId="0" nodeType="after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strips(upLeft)">
                                      <p:cBhvr>
                                        <p:cTn id="30" dur="5000"/>
                                        <p:tgtEl>
                                          <p:spTgt spid="57"/>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par>
                                <p:cTn id="31" presetID="19" presetClass="entr" presetSubtype="1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anim calcmode="lin" valueType="num">
                                      <p:cBhvr>
                                        <p:cTn id="33" dur="5000" fill="hold"/>
                                        <p:tgtEl>
                                          <p:spTgt spid="56"/>
                                        </p:tgtEl>
                                        <p:attrNameLst>
                                          <p:attrName>ppt_w</p:attrName>
                                        </p:attrNameLst>
                                      </p:cBhvr>
                                      <p:tavLst>
                                        <p:tav tm="0" fmla="#ppt_w*sin(2.5*pi*$)">
                                          <p:val>
                                            <p:fltVal val="0"/>
                                          </p:val>
                                        </p:tav>
                                        <p:tav tm="100000">
                                          <p:val>
                                            <p:fltVal val="1"/>
                                          </p:val>
                                        </p:tav>
                                      </p:tavLst>
                                    </p:anim>
                                    <p:anim calcmode="lin" valueType="num">
                                      <p:cBhvr>
                                        <p:cTn id="34" dur="5000" fill="hold"/>
                                        <p:tgtEl>
                                          <p:spTgt spid="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par>
                                <p:cTn id="35" presetID="22" presetClass="entr" presetSubtype="2"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right)">
                                      <p:cBhvr>
                                        <p:cTn id="37" dur="3000"/>
                                        <p:tgtEl>
                                          <p:spTgt spid="38"/>
                                        </p:tgtEl>
                                      </p:cBhvr>
                                    </p:animEffect>
                                  </p:childTnLst>
                                </p:cTn>
                              </p:par>
                              <p:par>
                                <p:cTn id="38" presetID="19" presetClass="entr" presetSubtype="1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p:cTn id="40" dur="5000" fill="hold"/>
                                        <p:tgtEl>
                                          <p:spTgt spid="32"/>
                                        </p:tgtEl>
                                        <p:attrNameLst>
                                          <p:attrName>ppt_w</p:attrName>
                                        </p:attrNameLst>
                                      </p:cBhvr>
                                      <p:tavLst>
                                        <p:tav tm="0" fmla="#ppt_w*sin(2.5*pi*$)">
                                          <p:val>
                                            <p:fltVal val="0"/>
                                          </p:val>
                                        </p:tav>
                                        <p:tav tm="100000">
                                          <p:val>
                                            <p:fltVal val="1"/>
                                          </p:val>
                                        </p:tav>
                                      </p:tavLst>
                                    </p:anim>
                                    <p:anim calcmode="lin" valueType="num">
                                      <p:cBhvr>
                                        <p:cTn id="41" dur="5000" fill="hold"/>
                                        <p:tgtEl>
                                          <p:spTgt spid="32"/>
                                        </p:tgtEl>
                                        <p:attrNameLst>
                                          <p:attrName>ppt_h</p:attrName>
                                        </p:attrNameLst>
                                      </p:cBhvr>
                                      <p:tavLst>
                                        <p:tav tm="0">
                                          <p:val>
                                            <p:strVal val="#ppt_h"/>
                                          </p:val>
                                        </p:tav>
                                        <p:tav tm="100000">
                                          <p:val>
                                            <p:strVal val="#ppt_h"/>
                                          </p:val>
                                        </p:tav>
                                      </p:tavLst>
                                    </p:anim>
                                  </p:childTnLst>
                                </p:cTn>
                              </p:par>
                            </p:childTnLst>
                          </p:cTn>
                        </p:par>
                        <p:par>
                          <p:cTn id="42" fill="hold">
                            <p:stCondLst>
                              <p:cond delay="10000"/>
                            </p:stCondLst>
                            <p:childTnLst>
                              <p:par>
                                <p:cTn id="43" presetID="18" presetClass="entr" presetSubtype="6" fill="hold" grpId="0" nodeType="after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strips(downRight)">
                                      <p:cBhvr>
                                        <p:cTn id="45" dur="5000"/>
                                        <p:tgtEl>
                                          <p:spTgt spid="59"/>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par>
                                <p:cTn id="46" presetID="19" presetClass="entr" presetSubtype="10" fill="hold" grpId="0" nodeType="withEffect">
                                  <p:stCondLst>
                                    <p:cond delay="0"/>
                                  </p:stCondLst>
                                  <p:childTnLst>
                                    <p:set>
                                      <p:cBhvr>
                                        <p:cTn id="47" dur="1" fill="hold">
                                          <p:stCondLst>
                                            <p:cond delay="0"/>
                                          </p:stCondLst>
                                        </p:cTn>
                                        <p:tgtEl>
                                          <p:spTgt spid="58"/>
                                        </p:tgtEl>
                                        <p:attrNameLst>
                                          <p:attrName>style.visibility</p:attrName>
                                        </p:attrNameLst>
                                      </p:cBhvr>
                                      <p:to>
                                        <p:strVal val="visible"/>
                                      </p:to>
                                    </p:set>
                                    <p:anim calcmode="lin" valueType="num">
                                      <p:cBhvr>
                                        <p:cTn id="48" dur="5000" fill="hold"/>
                                        <p:tgtEl>
                                          <p:spTgt spid="58"/>
                                        </p:tgtEl>
                                        <p:attrNameLst>
                                          <p:attrName>ppt_w</p:attrName>
                                        </p:attrNameLst>
                                      </p:cBhvr>
                                      <p:tavLst>
                                        <p:tav tm="0" fmla="#ppt_w*sin(2.5*pi*$)">
                                          <p:val>
                                            <p:fltVal val="0"/>
                                          </p:val>
                                        </p:tav>
                                        <p:tav tm="100000">
                                          <p:val>
                                            <p:fltVal val="1"/>
                                          </p:val>
                                        </p:tav>
                                      </p:tavLst>
                                    </p:anim>
                                    <p:anim calcmode="lin" valueType="num">
                                      <p:cBhvr>
                                        <p:cTn id="49" dur="5000" fill="hold"/>
                                        <p:tgtEl>
                                          <p:spTgt spid="5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9"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strips(upLeft)">
                                      <p:cBhvr>
                                        <p:cTn id="54" dur="3000"/>
                                        <p:tgtEl>
                                          <p:spTgt spid="39"/>
                                        </p:tgtEl>
                                      </p:cBhvr>
                                    </p:animEffect>
                                  </p:childTnLst>
                                </p:cTn>
                              </p:par>
                            </p:childTnLst>
                          </p:cTn>
                        </p:par>
                        <p:par>
                          <p:cTn id="55" fill="hold">
                            <p:stCondLst>
                              <p:cond delay="3000"/>
                            </p:stCondLst>
                            <p:childTnLst>
                              <p:par>
                                <p:cTn id="56" presetID="22" presetClass="entr" presetSubtype="4" fill="hold" grpId="0"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down)">
                                      <p:cBhvr>
                                        <p:cTn id="58" dur="3000"/>
                                        <p:tgtEl>
                                          <p:spTgt spid="43"/>
                                        </p:tgtEl>
                                      </p:cBhvr>
                                    </p:animEffect>
                                  </p:childTnLst>
                                </p:cTn>
                              </p:par>
                              <p:par>
                                <p:cTn id="59" presetID="19" presetClass="entr" presetSubtype="1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 calcmode="lin" valueType="num">
                                      <p:cBhvr>
                                        <p:cTn id="61" dur="5000" fill="hold"/>
                                        <p:tgtEl>
                                          <p:spTgt spid="44"/>
                                        </p:tgtEl>
                                        <p:attrNameLst>
                                          <p:attrName>ppt_w</p:attrName>
                                        </p:attrNameLst>
                                      </p:cBhvr>
                                      <p:tavLst>
                                        <p:tav tm="0" fmla="#ppt_w*sin(2.5*pi*$)">
                                          <p:val>
                                            <p:fltVal val="0"/>
                                          </p:val>
                                        </p:tav>
                                        <p:tav tm="100000">
                                          <p:val>
                                            <p:fltVal val="1"/>
                                          </p:val>
                                        </p:tav>
                                      </p:tavLst>
                                    </p:anim>
                                    <p:anim calcmode="lin" valueType="num">
                                      <p:cBhvr>
                                        <p:cTn id="62" dur="5000" fill="hold"/>
                                        <p:tgtEl>
                                          <p:spTgt spid="44"/>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6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32" grpId="0"/>
      <p:bldP spid="36" grpId="0" animBg="1"/>
      <p:bldP spid="37" grpId="0" animBg="1"/>
      <p:bldP spid="38" grpId="0" animBg="1"/>
      <p:bldP spid="39" grpId="0" animBg="1"/>
      <p:bldP spid="40" grpId="0" animBg="1"/>
      <p:bldP spid="41" grpId="0"/>
      <p:bldP spid="42" grpId="0"/>
      <p:bldP spid="43" grpId="0" animBg="1"/>
      <p:bldP spid="56" grpId="0" autoUpdateAnimBg="0"/>
      <p:bldP spid="57" grpId="0" animBg="1"/>
      <p:bldP spid="58" grpId="0" autoUpdateAnimBg="0"/>
      <p:bldP spid="59" grpId="0" animBg="1"/>
      <p:bldP spid="60" grpId="0" animBg="1"/>
      <p:bldP spid="69" grpId="0" autoUpdateAnimBg="0"/>
      <p:bldP spid="70"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857411"/>
            <a:ext cx="11424968" cy="401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．梁的刚度条件</a:t>
            </a:r>
          </a:p>
          <a:p>
            <a:pPr lvl="0">
              <a:lnSpc>
                <a:spcPct val="130000"/>
              </a:lnSpc>
            </a:pPr>
            <a:r>
              <a:rPr lang="zh-CN" altLang="en-US" sz="2800" i="0" dirty="0">
                <a:latin typeface="+mn-lt"/>
                <a:ea typeface="微软雅黑" panose="020B0503020204020204" pitchFamily="34" charset="-122"/>
              </a:rPr>
              <a:t>      梁的刚度条件为</a:t>
            </a:r>
          </a:p>
          <a:p>
            <a:pPr lvl="0">
              <a:lnSpc>
                <a:spcPct val="130000"/>
              </a:lnSpc>
            </a:pPr>
            <a:r>
              <a:rPr kumimoji="1" lang="zh-CN" altLang="en-US" sz="2800" b="0" i="0" dirty="0">
                <a:ea typeface="黑体" panose="02010609060101010101" pitchFamily="49" charset="-122"/>
              </a:rPr>
              <a:t>                    </a:t>
            </a:r>
            <a:r>
              <a:rPr kumimoji="1" lang="en-US" altLang="zh-CN" sz="2800" b="0" dirty="0" err="1">
                <a:ea typeface="黑体" panose="02010609060101010101" pitchFamily="49" charset="-122"/>
              </a:rPr>
              <a:t>y</a:t>
            </a:r>
            <a:r>
              <a:rPr kumimoji="1" lang="en-US" altLang="zh-CN" sz="2800" b="0" i="0" baseline="-25000" dirty="0" err="1">
                <a:ea typeface="黑体" panose="02010609060101010101" pitchFamily="49" charset="-122"/>
              </a:rPr>
              <a:t>max</a:t>
            </a:r>
            <a:r>
              <a:rPr kumimoji="1" lang="en-US" altLang="zh-CN" sz="2800" b="0" i="0" dirty="0">
                <a:ea typeface="黑体" panose="02010609060101010101" pitchFamily="49" charset="-122"/>
              </a:rPr>
              <a:t>≤[</a:t>
            </a:r>
            <a:r>
              <a:rPr kumimoji="1" lang="en-US" altLang="zh-CN" sz="2800" b="0" dirty="0">
                <a:ea typeface="黑体" panose="02010609060101010101" pitchFamily="49" charset="-122"/>
              </a:rPr>
              <a:t>y</a:t>
            </a:r>
            <a:r>
              <a:rPr kumimoji="1" lang="en-US" altLang="zh-CN" sz="2800" b="0" i="0" dirty="0">
                <a:ea typeface="黑体" panose="02010609060101010101" pitchFamily="49" charset="-122"/>
              </a:rPr>
              <a:t>]     </a:t>
            </a:r>
            <a:r>
              <a:rPr lang="zh-CN" altLang="en-US" sz="2800" i="0" dirty="0">
                <a:latin typeface="+mn-lt"/>
                <a:ea typeface="微软雅黑" panose="020B0503020204020204" pitchFamily="34" charset="-122"/>
              </a:rPr>
              <a:t>和</a:t>
            </a:r>
            <a:r>
              <a:rPr kumimoji="1" lang="zh-CN" altLang="en-US" sz="2800" b="0" i="0" dirty="0">
                <a:ea typeface="黑体" panose="02010609060101010101" pitchFamily="49" charset="-122"/>
              </a:rPr>
              <a:t>     </a:t>
            </a:r>
            <a:r>
              <a:rPr kumimoji="1" lang="zh-CN" altLang="en-US" sz="2800" b="0" dirty="0">
                <a:ea typeface="黑体" panose="02010609060101010101" pitchFamily="49" charset="-122"/>
                <a:sym typeface="Symbol" panose="05050102010706020507" pitchFamily="18" charset="2"/>
              </a:rPr>
              <a:t></a:t>
            </a:r>
            <a:r>
              <a:rPr kumimoji="1" lang="en-US" altLang="zh-CN" sz="2800" b="0" i="0" baseline="-25000" dirty="0">
                <a:ea typeface="黑体" panose="02010609060101010101" pitchFamily="49" charset="-122"/>
              </a:rPr>
              <a:t>max</a:t>
            </a:r>
            <a:r>
              <a:rPr kumimoji="1" lang="en-US" altLang="zh-CN" sz="2800" b="0" i="0" dirty="0">
                <a:ea typeface="黑体" panose="02010609060101010101" pitchFamily="49" charset="-122"/>
              </a:rPr>
              <a:t>≤[</a:t>
            </a:r>
            <a:r>
              <a:rPr kumimoji="1" lang="en-US" altLang="zh-CN" sz="2800" b="0" dirty="0">
                <a:ea typeface="黑体" panose="02010609060101010101" pitchFamily="49" charset="-122"/>
                <a:sym typeface="Symbol" panose="05050102010706020507" pitchFamily="18" charset="2"/>
              </a:rPr>
              <a:t> </a:t>
            </a:r>
            <a:r>
              <a:rPr kumimoji="1" lang="en-US" altLang="zh-CN" sz="2800" b="0" i="0" dirty="0">
                <a:ea typeface="黑体" panose="02010609060101010101" pitchFamily="49" charset="-122"/>
              </a:rPr>
              <a:t>]</a:t>
            </a:r>
          </a:p>
          <a:p>
            <a:pPr lvl="0">
              <a:lnSpc>
                <a:spcPct val="130000"/>
              </a:lnSpc>
            </a:pPr>
            <a:r>
              <a:rPr kumimoji="1" lang="zh-CN" altLang="en-US" sz="2800" i="0" dirty="0">
                <a:latin typeface="+mj-lt"/>
                <a:ea typeface="微软雅黑" panose="020B0503020204020204" pitchFamily="34" charset="-122"/>
              </a:rPr>
              <a:t>      式中，</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y</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为许用挠度，</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sym typeface="Symbol" panose="05050102010706020507" pitchFamily="18" charset="2"/>
              </a:rPr>
              <a:t> </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为许用转角，其值可根据工作要求或参照有关手册</a:t>
            </a:r>
            <a:r>
              <a:rPr lang="zh-CN" altLang="en-US" sz="2800" i="0" dirty="0">
                <a:latin typeface="+mn-lt"/>
                <a:ea typeface="微软雅黑" panose="020B0503020204020204" pitchFamily="34" charset="-122"/>
              </a:rPr>
              <a:t>确定。</a:t>
            </a:r>
            <a:endParaRPr lang="en-US" altLang="zh-CN" sz="2800" i="0" dirty="0">
              <a:latin typeface="+mn-lt"/>
              <a:ea typeface="微软雅黑" panose="020B0503020204020204" pitchFamily="34" charset="-122"/>
            </a:endParaRPr>
          </a:p>
          <a:p>
            <a:pPr lvl="0">
              <a:lnSpc>
                <a:spcPct val="130000"/>
              </a:lnSpc>
            </a:pPr>
            <a:r>
              <a:rPr kumimoji="1" lang="en-US" altLang="zh-CN" sz="2800" i="0" dirty="0">
                <a:latin typeface="+mn-lt"/>
                <a:ea typeface="微软雅黑" panose="020B0503020204020204" pitchFamily="34" charset="-122"/>
              </a:rPr>
              <a:t>      </a:t>
            </a:r>
            <a:r>
              <a:rPr kumimoji="1" lang="zh-CN" altLang="en-US" sz="2800" i="0" dirty="0">
                <a:latin typeface="+mj-lt"/>
                <a:ea typeface="微软雅黑" panose="020B0503020204020204" pitchFamily="34" charset="-122"/>
              </a:rPr>
              <a:t>在设计梁时，一般应先满足强度条件，再校核刚度条件。如所选截面不能满足刚度条件，再考虑重新选择。</a:t>
            </a:r>
            <a:endParaRPr kumimoji="1"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256384675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364715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用积分法求梁的变形</a:t>
            </a:r>
          </a:p>
        </p:txBody>
      </p:sp>
      <p:sp>
        <p:nvSpPr>
          <p:cNvPr id="8" name="Text Box 1032"/>
          <p:cNvSpPr txBox="1">
            <a:spLocks noChangeArrowheads="1"/>
          </p:cNvSpPr>
          <p:nvPr/>
        </p:nvSpPr>
        <p:spPr bwMode="auto">
          <a:xfrm>
            <a:off x="467676" y="1540187"/>
            <a:ext cx="11424968"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．挠曲线近似微分方程</a:t>
            </a:r>
            <a:endParaRPr kumimoji="1" lang="en-US" altLang="zh-CN" sz="2800" i="0" dirty="0">
              <a:solidFill>
                <a:srgbClr val="FF00FF"/>
              </a:solidFill>
              <a:latin typeface="+mn-lt"/>
              <a:ea typeface="微软雅黑" panose="020B0503020204020204" pitchFamily="34" charset="-122"/>
            </a:endParaRPr>
          </a:p>
          <a:p>
            <a:pPr>
              <a:lnSpc>
                <a:spcPct val="130000"/>
              </a:lnSpc>
            </a:pPr>
            <a:r>
              <a:rPr kumimoji="1" lang="zh-CN" altLang="en-US" sz="2800" b="0" i="0" dirty="0">
                <a:solidFill>
                  <a:srgbClr val="FFFFFF"/>
                </a:solidFill>
                <a:ea typeface="黑体" panose="02010609060101010101" pitchFamily="49" charset="-122"/>
              </a:rPr>
              <a:t>由  </a:t>
            </a:r>
            <a:r>
              <a:rPr lang="zh-CN" altLang="en-US" sz="2800" i="0" dirty="0">
                <a:latin typeface="+mn-lt"/>
                <a:ea typeface="微软雅黑" panose="020B0503020204020204" pitchFamily="34" charset="-122"/>
              </a:rPr>
              <a:t>剪力对梁弯曲变形的影响忽略不计，故可由纯弯曲梁变形基本公式建立梁的挠曲线方程。由</a:t>
            </a:r>
            <a:endParaRPr lang="en-US" altLang="zh-CN" sz="2800" i="0" dirty="0">
              <a:latin typeface="+mn-lt"/>
              <a:ea typeface="微软雅黑" panose="020B0503020204020204" pitchFamily="34" charset="-122"/>
            </a:endParaRPr>
          </a:p>
          <a:p>
            <a:pPr lvl="0">
              <a:lnSpc>
                <a:spcPct val="130000"/>
              </a:lnSpc>
            </a:pPr>
            <a:r>
              <a:rPr kumimoji="1" lang="zh-CN" altLang="en-US" sz="2800" b="0" i="0" dirty="0">
                <a:ea typeface="黑体" panose="02010609060101010101" pitchFamily="49" charset="-122"/>
              </a:rPr>
              <a:t>                       </a:t>
            </a:r>
            <a:r>
              <a:rPr kumimoji="1" lang="zh-CN" altLang="en-US" sz="2800" b="0" dirty="0">
                <a:ea typeface="微软雅黑" panose="020B0503020204020204" pitchFamily="34" charset="-122"/>
                <a:sym typeface="Symbol" panose="05050102010706020507" pitchFamily="18" charset="2"/>
              </a:rPr>
              <a:t> </a:t>
            </a:r>
            <a:r>
              <a:rPr kumimoji="1" lang="en-US" altLang="zh-CN" sz="2800" b="0" dirty="0">
                <a:ea typeface="微软雅黑" panose="020B0503020204020204" pitchFamily="34" charset="-122"/>
              </a:rPr>
              <a:t>=</a:t>
            </a:r>
            <a:r>
              <a:rPr kumimoji="1" lang="en-US" altLang="zh-CN" sz="2800" b="0" dirty="0" err="1">
                <a:ea typeface="微软雅黑" panose="020B0503020204020204" pitchFamily="34" charset="-122"/>
              </a:rPr>
              <a:t>Ky</a:t>
            </a:r>
            <a:r>
              <a:rPr kumimoji="1" lang="en-US" altLang="zh-CN" sz="2800" b="0" dirty="0">
                <a:ea typeface="微软雅黑" panose="020B0503020204020204" pitchFamily="34" charset="-122"/>
              </a:rPr>
              <a:t> =</a:t>
            </a:r>
            <a:r>
              <a:rPr kumimoji="1" lang="en-US" altLang="zh-CN" sz="2800" b="0" dirty="0">
                <a:solidFill>
                  <a:srgbClr val="FF00FF"/>
                </a:solidFill>
                <a:ea typeface="微软雅黑" panose="020B0503020204020204" pitchFamily="34" charset="-122"/>
              </a:rPr>
              <a:t> </a:t>
            </a:r>
            <a:r>
              <a:rPr kumimoji="1" lang="en-US" altLang="zh-CN" sz="2800" b="0" dirty="0" err="1">
                <a:ea typeface="微软雅黑" panose="020B0503020204020204" pitchFamily="34" charset="-122"/>
              </a:rPr>
              <a:t>Ey</a:t>
            </a:r>
            <a:r>
              <a:rPr kumimoji="1" lang="en-US" altLang="zh-CN" sz="2800" b="0" dirty="0">
                <a:ea typeface="微软雅黑" panose="020B0503020204020204" pitchFamily="34" charset="-122"/>
              </a:rPr>
              <a:t>/</a:t>
            </a:r>
            <a:r>
              <a:rPr kumimoji="1" lang="el-GR" altLang="zh-CN" sz="2800" b="0" dirty="0">
                <a:ea typeface="微软雅黑" panose="020B0503020204020204" pitchFamily="34" charset="-122"/>
              </a:rPr>
              <a:t>ρ</a:t>
            </a:r>
            <a:r>
              <a:rPr kumimoji="1" lang="en-US" altLang="zh-CN" sz="2800" b="0" dirty="0">
                <a:ea typeface="微软雅黑" panose="020B0503020204020204" pitchFamily="34" charset="-122"/>
              </a:rPr>
              <a:t>      </a:t>
            </a:r>
            <a:r>
              <a:rPr lang="zh-CN" altLang="en-US" sz="2800" i="0" dirty="0">
                <a:latin typeface="+mn-lt"/>
                <a:ea typeface="微软雅黑" panose="020B0503020204020204" pitchFamily="34" charset="-122"/>
              </a:rPr>
              <a:t>和</a:t>
            </a:r>
            <a:r>
              <a:rPr kumimoji="1" lang="zh-CN" altLang="en-US" sz="2800" b="0" i="0" dirty="0">
                <a:ea typeface="黑体" panose="02010609060101010101" pitchFamily="49" charset="-122"/>
              </a:rPr>
              <a:t>      </a:t>
            </a:r>
            <a:r>
              <a:rPr kumimoji="1" lang="zh-CN" altLang="en-US" sz="2800" b="0" dirty="0">
                <a:ea typeface="微软雅黑" panose="020B0503020204020204" pitchFamily="34" charset="-122"/>
                <a:sym typeface="Symbol" panose="05050102010706020507" pitchFamily="18" charset="2"/>
              </a:rPr>
              <a:t></a:t>
            </a:r>
            <a:r>
              <a:rPr kumimoji="1" lang="zh-CN" altLang="en-US" sz="2800" b="0" dirty="0">
                <a:ea typeface="微软雅黑" panose="020B0503020204020204" pitchFamily="34" charset="-122"/>
              </a:rPr>
              <a:t> </a:t>
            </a:r>
            <a:r>
              <a:rPr kumimoji="1" lang="en-US" altLang="zh-CN" sz="2800" b="0" dirty="0">
                <a:ea typeface="微软雅黑" panose="020B0503020204020204" pitchFamily="34" charset="-122"/>
              </a:rPr>
              <a:t>=My/</a:t>
            </a:r>
            <a:r>
              <a:rPr kumimoji="1" lang="en-US" altLang="zh-CN" sz="2800" b="0" dirty="0" err="1">
                <a:ea typeface="微软雅黑" panose="020B0503020204020204" pitchFamily="34" charset="-122"/>
              </a:rPr>
              <a:t>I</a:t>
            </a:r>
            <a:r>
              <a:rPr kumimoji="1" lang="en-US" altLang="zh-CN" sz="2800" b="0" baseline="-25000" dirty="0" err="1">
                <a:ea typeface="微软雅黑" panose="020B0503020204020204" pitchFamily="34" charset="-122"/>
              </a:rPr>
              <a:t>z</a:t>
            </a:r>
            <a:r>
              <a:rPr kumimoji="1" lang="en-US" altLang="zh-CN" sz="2800" b="0" dirty="0">
                <a:solidFill>
                  <a:srgbClr val="FF00FF"/>
                </a:solidFill>
                <a:ea typeface="微软雅黑" panose="020B0503020204020204" pitchFamily="34" charset="-122"/>
              </a:rPr>
              <a:t> </a:t>
            </a:r>
          </a:p>
          <a:p>
            <a:pPr lvl="0">
              <a:lnSpc>
                <a:spcPct val="130000"/>
              </a:lnSpc>
            </a:pPr>
            <a:r>
              <a:rPr kumimoji="1" lang="zh-CN" altLang="en-US" sz="2800" i="0" dirty="0">
                <a:latin typeface="+mj-lt"/>
                <a:ea typeface="微软雅黑" panose="020B0503020204020204" pitchFamily="34" charset="-122"/>
              </a:rPr>
              <a:t>可得</a:t>
            </a:r>
            <a:endParaRPr kumimoji="1" lang="zh-CN" altLang="en-US" sz="2800" i="0" dirty="0">
              <a:latin typeface="+mn-lt"/>
              <a:ea typeface="微软雅黑" panose="020B0503020204020204" pitchFamily="34" charset="-122"/>
            </a:endParaRPr>
          </a:p>
        </p:txBody>
      </p:sp>
      <p:graphicFrame>
        <p:nvGraphicFramePr>
          <p:cNvPr id="9" name="Object 4"/>
          <p:cNvGraphicFramePr>
            <a:graphicFrameLocks noChangeAspect="1"/>
          </p:cNvGraphicFramePr>
          <p:nvPr>
            <p:extLst/>
          </p:nvPr>
        </p:nvGraphicFramePr>
        <p:xfrm>
          <a:off x="2531604" y="3897052"/>
          <a:ext cx="1869613" cy="936104"/>
        </p:xfrm>
        <a:graphic>
          <a:graphicData uri="http://schemas.openxmlformats.org/presentationml/2006/ole">
            <mc:AlternateContent xmlns:mc="http://schemas.openxmlformats.org/markup-compatibility/2006">
              <mc:Choice xmlns:v="urn:schemas-microsoft-com:vml" Requires="v">
                <p:oleObj spid="_x0000_s28692" name="Equation" r:id="rId4" imgW="863280" imgH="431640" progId="Equation.DSMT4">
                  <p:embed/>
                </p:oleObj>
              </mc:Choice>
              <mc:Fallback>
                <p:oleObj name="Equation" r:id="rId4" imgW="863280" imgH="431640" progId="Equation.DSMT4">
                  <p:embed/>
                  <p:pic>
                    <p:nvPicPr>
                      <p:cNvPr id="9" name="Object 4"/>
                      <p:cNvPicPr>
                        <a:picLocks noChangeAspect="1" noChangeArrowheads="1"/>
                      </p:cNvPicPr>
                      <p:nvPr/>
                    </p:nvPicPr>
                    <p:blipFill>
                      <a:blip r:embed="rId5"/>
                      <a:srcRect/>
                      <a:stretch>
                        <a:fillRect/>
                      </a:stretch>
                    </p:blipFill>
                    <p:spPr bwMode="auto">
                      <a:xfrm>
                        <a:off x="2531604" y="3897052"/>
                        <a:ext cx="1869613" cy="936104"/>
                      </a:xfrm>
                      <a:prstGeom prst="rect">
                        <a:avLst/>
                      </a:prstGeom>
                      <a:noFill/>
                      <a:ln>
                        <a:noFill/>
                      </a:ln>
                      <a:effectLst/>
                    </p:spPr>
                  </p:pic>
                </p:oleObj>
              </mc:Fallback>
            </mc:AlternateContent>
          </a:graphicData>
        </a:graphic>
      </p:graphicFrame>
      <p:sp>
        <p:nvSpPr>
          <p:cNvPr id="12" name="Text Box 1032"/>
          <p:cNvSpPr txBox="1">
            <a:spLocks noChangeArrowheads="1"/>
          </p:cNvSpPr>
          <p:nvPr/>
        </p:nvSpPr>
        <p:spPr bwMode="auto">
          <a:xfrm>
            <a:off x="467676" y="4725144"/>
            <a:ext cx="11424968"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     由数学手册可得挠度</a:t>
            </a:r>
            <a:r>
              <a:rPr lang="en-US" altLang="zh-CN" sz="2800" b="0" dirty="0">
                <a:latin typeface="+mn-lt"/>
                <a:ea typeface="微软雅黑" panose="020B0503020204020204" pitchFamily="34" charset="-122"/>
              </a:rPr>
              <a:t>y</a:t>
            </a:r>
            <a:r>
              <a:rPr lang="zh-CN" altLang="en-US" sz="2800" i="0" dirty="0">
                <a:latin typeface="+mn-lt"/>
                <a:ea typeface="微软雅黑" panose="020B0503020204020204" pitchFamily="34" charset="-122"/>
              </a:rPr>
              <a:t>与曲率半径 </a:t>
            </a:r>
            <a:r>
              <a:rPr kumimoji="1" lang="el-GR" altLang="zh-CN" sz="2800" b="0" dirty="0">
                <a:ea typeface="微软雅黑" panose="020B0503020204020204" pitchFamily="34" charset="-122"/>
              </a:rPr>
              <a:t>ρ</a:t>
            </a:r>
            <a:r>
              <a:rPr lang="zh-CN" altLang="en-US" sz="2800" i="0" dirty="0">
                <a:latin typeface="+mn-lt"/>
                <a:ea typeface="微软雅黑" panose="020B0503020204020204" pitchFamily="34" charset="-122"/>
              </a:rPr>
              <a:t>之间的关系</a:t>
            </a:r>
          </a:p>
        </p:txBody>
      </p:sp>
      <p:graphicFrame>
        <p:nvGraphicFramePr>
          <p:cNvPr id="13" name="Object 3"/>
          <p:cNvGraphicFramePr>
            <a:graphicFrameLocks noChangeAspect="1"/>
          </p:cNvGraphicFramePr>
          <p:nvPr>
            <p:extLst/>
          </p:nvPr>
        </p:nvGraphicFramePr>
        <p:xfrm>
          <a:off x="2531604" y="5311406"/>
          <a:ext cx="2502104" cy="984871"/>
        </p:xfrm>
        <a:graphic>
          <a:graphicData uri="http://schemas.openxmlformats.org/presentationml/2006/ole">
            <mc:AlternateContent xmlns:mc="http://schemas.openxmlformats.org/markup-compatibility/2006">
              <mc:Choice xmlns:v="urn:schemas-microsoft-com:vml" Requires="v">
                <p:oleObj spid="_x0000_s28693" name="Equation" r:id="rId6" imgW="1193760" imgH="469800" progId="Equation.DSMT4">
                  <p:embed/>
                </p:oleObj>
              </mc:Choice>
              <mc:Fallback>
                <p:oleObj name="Equation" r:id="rId6" imgW="1193760" imgH="469800" progId="Equation.DSMT4">
                  <p:embed/>
                  <p:pic>
                    <p:nvPicPr>
                      <p:cNvPr id="13" name="Object 3"/>
                      <p:cNvPicPr>
                        <a:picLocks noChangeAspect="1" noChangeArrowheads="1"/>
                      </p:cNvPicPr>
                      <p:nvPr/>
                    </p:nvPicPr>
                    <p:blipFill>
                      <a:blip r:embed="rId7"/>
                      <a:srcRect/>
                      <a:stretch>
                        <a:fillRect/>
                      </a:stretch>
                    </p:blipFill>
                    <p:spPr bwMode="auto">
                      <a:xfrm>
                        <a:off x="2531604" y="5311406"/>
                        <a:ext cx="2502104" cy="98487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071422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Text Box 1032"/>
          <p:cNvSpPr txBox="1">
            <a:spLocks noChangeArrowheads="1"/>
          </p:cNvSpPr>
          <p:nvPr/>
        </p:nvSpPr>
        <p:spPr bwMode="auto">
          <a:xfrm>
            <a:off x="467676" y="3879783"/>
            <a:ext cx="11352960"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选取图中的坐标系，</a:t>
            </a:r>
            <a:r>
              <a:rPr lang="en-US" altLang="zh-CN" sz="2800" b="0" dirty="0">
                <a:latin typeface="+mn-lt"/>
                <a:ea typeface="微软雅黑" panose="020B0503020204020204" pitchFamily="34" charset="-122"/>
              </a:rPr>
              <a:t>y″</a:t>
            </a:r>
            <a:r>
              <a:rPr lang="zh-CN" altLang="en-US" sz="2800" i="0" dirty="0">
                <a:latin typeface="+mn-lt"/>
                <a:ea typeface="微软雅黑" panose="020B0503020204020204" pitchFamily="34" charset="-122"/>
              </a:rPr>
              <a:t>与</a:t>
            </a:r>
            <a:r>
              <a:rPr lang="en-US" altLang="zh-CN" sz="2800" b="0" dirty="0">
                <a:latin typeface="+mn-lt"/>
                <a:ea typeface="微软雅黑" panose="020B0503020204020204" pitchFamily="34" charset="-122"/>
              </a:rPr>
              <a:t>M</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rPr>
              <a:t>x</a:t>
            </a:r>
            <a:r>
              <a:rPr lang="en-US" altLang="zh-CN"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 始终同号，故上式取正号 。同时略去高阶小量</a:t>
            </a:r>
            <a:r>
              <a:rPr lang="en-US" altLang="zh-CN" sz="2800" i="0" dirty="0">
                <a:latin typeface="+mn-lt"/>
                <a:ea typeface="微软雅黑" panose="020B0503020204020204" pitchFamily="34" charset="-122"/>
              </a:rPr>
              <a:t>(</a:t>
            </a:r>
            <a:r>
              <a:rPr lang="en-US" altLang="zh-CN" sz="2800" b="0" dirty="0">
                <a:latin typeface="+mn-lt"/>
                <a:ea typeface="微软雅黑" panose="020B0503020204020204" pitchFamily="34" charset="-122"/>
              </a:rPr>
              <a:t>y′ </a:t>
            </a:r>
            <a:r>
              <a:rPr lang="en-US" altLang="zh-CN" sz="2800" b="0" i="0" baseline="30000" dirty="0">
                <a:latin typeface="+mn-lt"/>
                <a:ea typeface="微软雅黑" panose="020B0503020204020204" pitchFamily="34" charset="-122"/>
              </a:rPr>
              <a:t>2</a:t>
            </a:r>
            <a:r>
              <a:rPr lang="en-US" altLang="zh-CN" sz="2800" i="0" dirty="0">
                <a:latin typeface="+mn-lt"/>
                <a:ea typeface="微软雅黑" panose="020B0503020204020204" pitchFamily="34" charset="-122"/>
              </a:rPr>
              <a:t>)</a:t>
            </a:r>
            <a:r>
              <a:rPr lang="zh-CN" altLang="en-US" sz="2800" i="0" dirty="0">
                <a:ea typeface="微软雅黑" panose="020B0503020204020204" pitchFamily="34" charset="-122"/>
              </a:rPr>
              <a:t> ，可以得到</a:t>
            </a:r>
            <a:r>
              <a:rPr lang="zh-CN" altLang="en-US" sz="2800" i="0" dirty="0">
                <a:solidFill>
                  <a:srgbClr val="FF00FF"/>
                </a:solidFill>
                <a:ea typeface="微软雅黑" panose="020B0503020204020204" pitchFamily="34" charset="-122"/>
              </a:rPr>
              <a:t>挠曲线近似微分方程</a:t>
            </a:r>
            <a:endParaRPr lang="zh-CN" altLang="en-US" sz="2800" b="0" dirty="0">
              <a:solidFill>
                <a:srgbClr val="FF00FF"/>
              </a:solidFill>
              <a:latin typeface="+mn-lt"/>
              <a:ea typeface="微软雅黑" panose="020B0503020204020204" pitchFamily="34" charset="-122"/>
            </a:endParaRPr>
          </a:p>
        </p:txBody>
      </p:sp>
      <p:graphicFrame>
        <p:nvGraphicFramePr>
          <p:cNvPr id="13" name="Object 3"/>
          <p:cNvGraphicFramePr>
            <a:graphicFrameLocks noChangeAspect="1"/>
          </p:cNvGraphicFramePr>
          <p:nvPr>
            <p:extLst/>
          </p:nvPr>
        </p:nvGraphicFramePr>
        <p:xfrm>
          <a:off x="2387588" y="5270429"/>
          <a:ext cx="2233228" cy="574966"/>
        </p:xfrm>
        <a:graphic>
          <a:graphicData uri="http://schemas.openxmlformats.org/presentationml/2006/ole">
            <mc:AlternateContent xmlns:mc="http://schemas.openxmlformats.org/markup-compatibility/2006">
              <mc:Choice xmlns:v="urn:schemas-microsoft-com:vml" Requires="v">
                <p:oleObj spid="_x0000_s29706" name="Equation" r:id="rId4" imgW="888840" imgH="228600" progId="Equation.DSMT4">
                  <p:embed/>
                </p:oleObj>
              </mc:Choice>
              <mc:Fallback>
                <p:oleObj name="Equation" r:id="rId4" imgW="888840" imgH="228600" progId="Equation.DSMT4">
                  <p:embed/>
                  <p:pic>
                    <p:nvPicPr>
                      <p:cNvPr id="13" name="Object 3"/>
                      <p:cNvPicPr>
                        <a:picLocks noChangeAspect="1" noChangeArrowheads="1"/>
                      </p:cNvPicPr>
                      <p:nvPr/>
                    </p:nvPicPr>
                    <p:blipFill>
                      <a:blip r:embed="rId5"/>
                      <a:srcRect/>
                      <a:stretch>
                        <a:fillRect/>
                      </a:stretch>
                    </p:blipFill>
                    <p:spPr bwMode="auto">
                      <a:xfrm>
                        <a:off x="2387588" y="5270429"/>
                        <a:ext cx="2233228" cy="574966"/>
                      </a:xfrm>
                      <a:prstGeom prst="rect">
                        <a:avLst/>
                      </a:prstGeom>
                      <a:noFill/>
                      <a:ln>
                        <a:noFill/>
                      </a:ln>
                      <a:effectLst/>
                    </p:spPr>
                  </p:pic>
                </p:oleObj>
              </mc:Fallback>
            </mc:AlternateContent>
          </a:graphicData>
        </a:graphic>
      </p:graphicFrame>
      <p:sp>
        <p:nvSpPr>
          <p:cNvPr id="10" name="Rectangle 61">
            <a:extLst>
              <a:ext uri="{FF2B5EF4-FFF2-40B4-BE49-F238E27FC236}">
                <a16:creationId xmlns:a16="http://schemas.microsoft.com/office/drawing/2014/main" id="{55A2CE2A-C2E2-0590-752E-7456CAC75EA0}"/>
              </a:ext>
            </a:extLst>
          </p:cNvPr>
          <p:cNvSpPr>
            <a:spLocks noChangeArrowheads="1"/>
          </p:cNvSpPr>
          <p:nvPr/>
        </p:nvSpPr>
        <p:spPr bwMode="auto">
          <a:xfrm>
            <a:off x="2027548" y="1012631"/>
            <a:ext cx="8028892" cy="2634323"/>
          </a:xfrm>
          <a:prstGeom prst="rect">
            <a:avLst/>
          </a:prstGeom>
          <a:solidFill>
            <a:srgbClr val="B9CDE5"/>
          </a:solidFill>
          <a:ln>
            <a:noFill/>
          </a:ln>
          <a:effectLst/>
        </p:spPr>
        <p:txBody>
          <a:bodyPr wrap="none" anchor="ctr"/>
          <a:lstStyle/>
          <a:p>
            <a:endParaRPr lang="zh-CN" altLang="en-US"/>
          </a:p>
        </p:txBody>
      </p:sp>
      <p:pic>
        <p:nvPicPr>
          <p:cNvPr id="11" name="Picture 11" descr="m1"/>
          <p:cNvPicPr>
            <a:picLocks noChangeAspect="1" noChangeArrowheads="1"/>
          </p:cNvPicPr>
          <p:nvPr/>
        </p:nvPicPr>
        <p:blipFill>
          <a:blip r:embed="rId6" cstate="print">
            <a:extLst>
              <a:ext uri="{28A0092B-C50C-407E-A947-70E740481C1C}">
                <a14:useLocalDpi xmlns:a14="http://schemas.microsoft.com/office/drawing/2010/main" val="0"/>
              </a:ext>
            </a:extLst>
          </a:blip>
          <a:srcRect l="13383" t="36090" r="56120" b="24937"/>
          <a:stretch>
            <a:fillRect/>
          </a:stretch>
        </p:blipFill>
        <p:spPr bwMode="auto">
          <a:xfrm>
            <a:off x="2531604" y="1216956"/>
            <a:ext cx="3058766" cy="22256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2" descr="m2"/>
          <p:cNvPicPr>
            <a:picLocks noChangeAspect="1" noChangeArrowheads="1"/>
          </p:cNvPicPr>
          <p:nvPr/>
        </p:nvPicPr>
        <p:blipFill>
          <a:blip r:embed="rId7" cstate="print">
            <a:extLst>
              <a:ext uri="{28A0092B-C50C-407E-A947-70E740481C1C}">
                <a14:useLocalDpi xmlns:a14="http://schemas.microsoft.com/office/drawing/2010/main" val="0"/>
              </a:ext>
            </a:extLst>
          </a:blip>
          <a:srcRect l="48286" t="35808" r="19254" b="25502"/>
          <a:stretch>
            <a:fillRect/>
          </a:stretch>
        </p:blipFill>
        <p:spPr bwMode="auto">
          <a:xfrm>
            <a:off x="6312024" y="1216955"/>
            <a:ext cx="3277783" cy="222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79067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8" name="Text Box 1032"/>
          <p:cNvSpPr txBox="1">
            <a:spLocks noChangeArrowheads="1"/>
          </p:cNvSpPr>
          <p:nvPr/>
        </p:nvSpPr>
        <p:spPr bwMode="auto">
          <a:xfrm>
            <a:off x="467676" y="865956"/>
            <a:ext cx="11424968"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．用积分法求梁的变形</a:t>
            </a:r>
            <a:endParaRPr kumimoji="1" lang="en-US" altLang="zh-CN" sz="2800" i="0" dirty="0">
              <a:solidFill>
                <a:srgbClr val="FF00FF"/>
              </a:solidFill>
              <a:latin typeface="+mn-lt"/>
              <a:ea typeface="微软雅黑" panose="020B0503020204020204" pitchFamily="34" charset="-122"/>
            </a:endParaRPr>
          </a:p>
          <a:p>
            <a:pPr lvl="0">
              <a:lnSpc>
                <a:spcPct val="120000"/>
              </a:lnSpc>
            </a:pPr>
            <a:r>
              <a:rPr kumimoji="1" lang="zh-CN" altLang="en-US" sz="2800" b="0" i="0" dirty="0">
                <a:solidFill>
                  <a:srgbClr val="FFFFFF"/>
                </a:solidFill>
                <a:ea typeface="黑体" panose="02010609060101010101" pitchFamily="49" charset="-122"/>
              </a:rPr>
              <a:t>由  </a:t>
            </a:r>
            <a:r>
              <a:rPr lang="zh-CN" altLang="en-US" sz="2800" i="0" dirty="0">
                <a:latin typeface="+mn-lt"/>
                <a:ea typeface="微软雅黑" panose="020B0503020204020204" pitchFamily="34" charset="-122"/>
              </a:rPr>
              <a:t>要得到转角方程和挠曲线方程，可对挠曲线微分方程进行积分 。</a:t>
            </a:r>
            <a:endParaRPr lang="en-US" altLang="zh-CN" sz="2800" i="0" dirty="0">
              <a:latin typeface="+mn-lt"/>
              <a:ea typeface="微软雅黑" panose="020B0503020204020204" pitchFamily="34" charset="-122"/>
            </a:endParaRPr>
          </a:p>
          <a:p>
            <a:pPr>
              <a:lnSpc>
                <a:spcPct val="120000"/>
              </a:lnSpc>
            </a:pPr>
            <a:r>
              <a:rPr lang="zh-CN" altLang="en-US" sz="2800" i="0" dirty="0">
                <a:latin typeface="+mn-lt"/>
                <a:ea typeface="微软雅黑" panose="020B0503020204020204" pitchFamily="34" charset="-122"/>
              </a:rPr>
              <a:t>      积分一次得转角方程为：</a:t>
            </a:r>
          </a:p>
        </p:txBody>
      </p:sp>
      <p:sp>
        <p:nvSpPr>
          <p:cNvPr id="12" name="Text Box 1032"/>
          <p:cNvSpPr txBox="1">
            <a:spLocks noChangeArrowheads="1"/>
          </p:cNvSpPr>
          <p:nvPr/>
        </p:nvSpPr>
        <p:spPr bwMode="auto">
          <a:xfrm>
            <a:off x="424482" y="3356174"/>
            <a:ext cx="58155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r>
              <a:rPr lang="zh-CN" altLang="en-US" sz="2800" i="0" dirty="0">
                <a:latin typeface="+mn-lt"/>
                <a:ea typeface="微软雅黑" panose="020B0503020204020204" pitchFamily="34" charset="-122"/>
              </a:rPr>
              <a:t>      再积分一次得挠曲线方程为：</a:t>
            </a:r>
          </a:p>
        </p:txBody>
      </p:sp>
      <p:graphicFrame>
        <p:nvGraphicFramePr>
          <p:cNvPr id="10" name="Object 104"/>
          <p:cNvGraphicFramePr>
            <a:graphicFrameLocks noChangeAspect="1"/>
          </p:cNvGraphicFramePr>
          <p:nvPr>
            <p:extLst/>
          </p:nvPr>
        </p:nvGraphicFramePr>
        <p:xfrm>
          <a:off x="2006599" y="2468789"/>
          <a:ext cx="3203503" cy="863553"/>
        </p:xfrm>
        <a:graphic>
          <a:graphicData uri="http://schemas.openxmlformats.org/presentationml/2006/ole">
            <mc:AlternateContent xmlns:mc="http://schemas.openxmlformats.org/markup-compatibility/2006">
              <mc:Choice xmlns:v="urn:schemas-microsoft-com:vml" Requires="v">
                <p:oleObj spid="_x0000_s30778" name="Equation" r:id="rId4" imgW="1460160" imgH="393480" progId="Equation.DSMT4">
                  <p:embed/>
                </p:oleObj>
              </mc:Choice>
              <mc:Fallback>
                <p:oleObj name="Equation" r:id="rId4" imgW="1460160" imgH="393480" progId="Equation.DSMT4">
                  <p:embed/>
                  <p:pic>
                    <p:nvPicPr>
                      <p:cNvPr id="10" name="Object 104"/>
                      <p:cNvPicPr>
                        <a:picLocks noChangeAspect="1" noChangeArrowheads="1"/>
                      </p:cNvPicPr>
                      <p:nvPr/>
                    </p:nvPicPr>
                    <p:blipFill>
                      <a:blip r:embed="rId5"/>
                      <a:srcRect/>
                      <a:stretch>
                        <a:fillRect/>
                      </a:stretch>
                    </p:blipFill>
                    <p:spPr bwMode="auto">
                      <a:xfrm>
                        <a:off x="2006599" y="2468789"/>
                        <a:ext cx="3203503" cy="863553"/>
                      </a:xfrm>
                      <a:prstGeom prst="rect">
                        <a:avLst/>
                      </a:prstGeom>
                      <a:noFill/>
                      <a:ln>
                        <a:noFill/>
                      </a:ln>
                      <a:effectLst/>
                    </p:spPr>
                  </p:pic>
                </p:oleObj>
              </mc:Fallback>
            </mc:AlternateContent>
          </a:graphicData>
        </a:graphic>
      </p:graphicFrame>
      <p:graphicFrame>
        <p:nvGraphicFramePr>
          <p:cNvPr id="11" name="Object 104"/>
          <p:cNvGraphicFramePr>
            <a:graphicFrameLocks noChangeAspect="1"/>
          </p:cNvGraphicFramePr>
          <p:nvPr>
            <p:extLst/>
          </p:nvPr>
        </p:nvGraphicFramePr>
        <p:xfrm>
          <a:off x="1847528" y="3936958"/>
          <a:ext cx="4233863" cy="947737"/>
        </p:xfrm>
        <a:graphic>
          <a:graphicData uri="http://schemas.openxmlformats.org/presentationml/2006/ole">
            <mc:AlternateContent xmlns:mc="http://schemas.openxmlformats.org/markup-compatibility/2006">
              <mc:Choice xmlns:v="urn:schemas-microsoft-com:vml" Requires="v">
                <p:oleObj spid="_x0000_s30779" name="Equation" r:id="rId6" imgW="1930320" imgH="431640" progId="Equation.DSMT4">
                  <p:embed/>
                </p:oleObj>
              </mc:Choice>
              <mc:Fallback>
                <p:oleObj name="Equation" r:id="rId6" imgW="1930320" imgH="431640" progId="Equation.DSMT4">
                  <p:embed/>
                  <p:pic>
                    <p:nvPicPr>
                      <p:cNvPr id="11" name="Object 104"/>
                      <p:cNvPicPr>
                        <a:picLocks noChangeAspect="1" noChangeArrowheads="1"/>
                      </p:cNvPicPr>
                      <p:nvPr/>
                    </p:nvPicPr>
                    <p:blipFill>
                      <a:blip r:embed="rId7"/>
                      <a:srcRect/>
                      <a:stretch>
                        <a:fillRect/>
                      </a:stretch>
                    </p:blipFill>
                    <p:spPr bwMode="auto">
                      <a:xfrm>
                        <a:off x="1847528" y="3936958"/>
                        <a:ext cx="4233863" cy="947737"/>
                      </a:xfrm>
                      <a:prstGeom prst="rect">
                        <a:avLst/>
                      </a:prstGeom>
                      <a:noFill/>
                      <a:ln>
                        <a:noFill/>
                      </a:ln>
                      <a:effectLst/>
                    </p:spPr>
                  </p:pic>
                </p:oleObj>
              </mc:Fallback>
            </mc:AlternateContent>
          </a:graphicData>
        </a:graphic>
      </p:graphicFrame>
      <p:sp>
        <p:nvSpPr>
          <p:cNvPr id="14" name="Text Box 1032"/>
          <p:cNvSpPr txBox="1">
            <a:spLocks noChangeArrowheads="1"/>
          </p:cNvSpPr>
          <p:nvPr/>
        </p:nvSpPr>
        <p:spPr bwMode="auto">
          <a:xfrm>
            <a:off x="947428" y="4901768"/>
            <a:ext cx="1101722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2800" i="0" dirty="0">
                <a:latin typeface="+mn-lt"/>
                <a:ea typeface="微软雅黑" panose="020B0503020204020204" pitchFamily="34" charset="-122"/>
              </a:rPr>
              <a:t>积分常数</a:t>
            </a:r>
            <a:r>
              <a:rPr lang="en-US" altLang="zh-CN" sz="2800" b="0" dirty="0">
                <a:latin typeface="+mn-lt"/>
                <a:ea typeface="微软雅黑" panose="020B0503020204020204" pitchFamily="34" charset="-122"/>
              </a:rPr>
              <a:t>C</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b="0" dirty="0">
                <a:latin typeface="+mn-lt"/>
                <a:ea typeface="微软雅黑" panose="020B0503020204020204" pitchFamily="34" charset="-122"/>
              </a:rPr>
              <a:t>C</a:t>
            </a:r>
            <a:r>
              <a:rPr lang="en-US" altLang="zh-CN" sz="2800" b="0" i="0" baseline="-25000" dirty="0">
                <a:ea typeface="微软雅黑" panose="020B0503020204020204" pitchFamily="34" charset="-122"/>
              </a:rPr>
              <a:t>2</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由梁的位移边界条件和光滑连续条件确定。在</a:t>
            </a:r>
            <a:r>
              <a:rPr lang="zh-CN" altLang="en-US" sz="2800" i="0" dirty="0">
                <a:solidFill>
                  <a:srgbClr val="FF00FF"/>
                </a:solidFill>
                <a:latin typeface="+mn-lt"/>
                <a:ea typeface="微软雅黑" panose="020B0503020204020204" pitchFamily="34" charset="-122"/>
              </a:rPr>
              <a:t>固定端约束</a:t>
            </a:r>
            <a:r>
              <a:rPr lang="zh-CN" altLang="en-US" sz="2800" i="0" dirty="0">
                <a:latin typeface="+mn-lt"/>
                <a:ea typeface="微软雅黑" panose="020B0503020204020204" pitchFamily="34" charset="-122"/>
              </a:rPr>
              <a:t>处，</a:t>
            </a:r>
            <a:r>
              <a:rPr lang="zh-CN" altLang="en-US" sz="2800" i="0" dirty="0">
                <a:solidFill>
                  <a:srgbClr val="FF0000"/>
                </a:solidFill>
                <a:latin typeface="+mn-lt"/>
                <a:ea typeface="微软雅黑" panose="020B0503020204020204" pitchFamily="34" charset="-122"/>
              </a:rPr>
              <a:t>挠度和转角均为</a:t>
            </a:r>
            <a:r>
              <a:rPr lang="en-US" altLang="zh-CN" sz="2800" b="0" i="0" dirty="0">
                <a:solidFill>
                  <a:srgbClr val="FF0000"/>
                </a:solidFill>
                <a:latin typeface="+mn-lt"/>
                <a:ea typeface="微软雅黑" panose="020B0503020204020204" pitchFamily="34" charset="-122"/>
              </a:rPr>
              <a:t>0</a:t>
            </a:r>
            <a:r>
              <a:rPr lang="zh-CN" altLang="en-US" sz="2800" i="0" dirty="0">
                <a:latin typeface="+mn-lt"/>
                <a:ea typeface="微软雅黑" panose="020B0503020204020204" pitchFamily="34" charset="-122"/>
              </a:rPr>
              <a:t>，</a:t>
            </a:r>
            <a:r>
              <a:rPr lang="zh-CN" altLang="en-US" sz="2800" i="0" dirty="0">
                <a:solidFill>
                  <a:srgbClr val="FF00FF"/>
                </a:solidFill>
                <a:latin typeface="+mn-lt"/>
                <a:ea typeface="微软雅黑" panose="020B0503020204020204" pitchFamily="34" charset="-122"/>
              </a:rPr>
              <a:t>铰约束</a:t>
            </a:r>
            <a:r>
              <a:rPr lang="zh-CN" altLang="en-US" sz="2800" i="0" dirty="0">
                <a:latin typeface="+mn-lt"/>
                <a:ea typeface="微软雅黑" panose="020B0503020204020204" pitchFamily="34" charset="-122"/>
              </a:rPr>
              <a:t>处</a:t>
            </a:r>
            <a:r>
              <a:rPr lang="zh-CN" altLang="en-US" sz="2800" i="0" dirty="0">
                <a:solidFill>
                  <a:srgbClr val="FF0000"/>
                </a:solidFill>
                <a:latin typeface="+mn-lt"/>
                <a:ea typeface="微软雅黑" panose="020B0503020204020204" pitchFamily="34" charset="-122"/>
              </a:rPr>
              <a:t>挠度为</a:t>
            </a:r>
            <a:r>
              <a:rPr lang="en-US" altLang="zh-CN" sz="2800" b="0" i="0" dirty="0">
                <a:solidFill>
                  <a:srgbClr val="FF0000"/>
                </a:solidFill>
                <a:latin typeface="+mn-lt"/>
                <a:ea typeface="微软雅黑" panose="020B0503020204020204" pitchFamily="34" charset="-122"/>
              </a:rPr>
              <a:t>0</a:t>
            </a:r>
            <a:r>
              <a:rPr lang="zh-CN" altLang="en-US" sz="2800" i="0" dirty="0">
                <a:latin typeface="+mn-lt"/>
                <a:ea typeface="微软雅黑" panose="020B0503020204020204" pitchFamily="34" charset="-122"/>
              </a:rPr>
              <a:t>。梁变形时，截面</a:t>
            </a:r>
            <a:r>
              <a:rPr lang="zh-CN" altLang="en-US" sz="2800" i="0" dirty="0">
                <a:solidFill>
                  <a:srgbClr val="FF00FF"/>
                </a:solidFill>
                <a:latin typeface="+mn-lt"/>
                <a:ea typeface="微软雅黑" panose="020B0503020204020204" pitchFamily="34" charset="-122"/>
              </a:rPr>
              <a:t>左、右的挠度和转角</a:t>
            </a:r>
            <a:r>
              <a:rPr lang="zh-CN" altLang="en-US" sz="2800" i="0" dirty="0">
                <a:latin typeface="+mn-lt"/>
                <a:ea typeface="微软雅黑" panose="020B0503020204020204" pitchFamily="34" charset="-122"/>
              </a:rPr>
              <a:t>分别</a:t>
            </a:r>
            <a:r>
              <a:rPr lang="zh-CN" altLang="en-US" sz="2800" i="0" dirty="0">
                <a:solidFill>
                  <a:srgbClr val="FF0000"/>
                </a:solidFill>
                <a:latin typeface="+mn-lt"/>
                <a:ea typeface="微软雅黑" panose="020B0503020204020204" pitchFamily="34" charset="-122"/>
              </a:rPr>
              <a:t>相等</a:t>
            </a:r>
            <a:r>
              <a:rPr lang="zh-CN" altLang="en-US" sz="2800" i="0" dirty="0">
                <a:latin typeface="+mn-lt"/>
                <a:ea typeface="微软雅黑" panose="020B0503020204020204" pitchFamily="34" charset="-122"/>
              </a:rPr>
              <a:t>。</a:t>
            </a:r>
          </a:p>
          <a:p>
            <a:pPr lvl="0"/>
            <a:endParaRPr lang="zh-CN" altLang="en-US" sz="2800" i="0" dirty="0">
              <a:latin typeface="+mn-lt"/>
              <a:ea typeface="微软雅黑" panose="020B0503020204020204" pitchFamily="34" charset="-122"/>
            </a:endParaRPr>
          </a:p>
        </p:txBody>
      </p:sp>
      <p:sp>
        <p:nvSpPr>
          <p:cNvPr id="20"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240016" y="2024844"/>
            <a:ext cx="5724636" cy="2859851"/>
          </a:xfrm>
          <a:prstGeom prst="rect">
            <a:avLst/>
          </a:prstGeom>
          <a:solidFill>
            <a:srgbClr val="B9CDE5"/>
          </a:solidFill>
          <a:ln>
            <a:noFill/>
          </a:ln>
          <a:effectLst/>
        </p:spPr>
        <p:txBody>
          <a:bodyPr wrap="none" anchor="ctr"/>
          <a:lstStyle/>
          <a:p>
            <a:endParaRPr lang="zh-CN" altLang="en-US"/>
          </a:p>
        </p:txBody>
      </p:sp>
      <p:pic>
        <p:nvPicPr>
          <p:cNvPr id="15" name="Picture 3" descr="bianjie"/>
          <p:cNvPicPr>
            <a:picLocks noChangeAspect="1" noChangeArrowheads="1"/>
          </p:cNvPicPr>
          <p:nvPr/>
        </p:nvPicPr>
        <p:blipFill>
          <a:blip r:embed="rId8" cstate="print">
            <a:extLst>
              <a:ext uri="{28A0092B-C50C-407E-A947-70E740481C1C}">
                <a14:useLocalDpi xmlns:a14="http://schemas.microsoft.com/office/drawing/2010/main" val="0"/>
              </a:ext>
            </a:extLst>
          </a:blip>
          <a:srcRect l="17126" t="38377" r="72287" b="40413"/>
          <a:stretch>
            <a:fillRect/>
          </a:stretch>
        </p:blipFill>
        <p:spPr bwMode="auto">
          <a:xfrm>
            <a:off x="6542130" y="2198671"/>
            <a:ext cx="1290638" cy="14732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 descr="bianjie"/>
          <p:cNvPicPr>
            <a:picLocks noChangeAspect="1" noChangeArrowheads="1"/>
          </p:cNvPicPr>
          <p:nvPr/>
        </p:nvPicPr>
        <p:blipFill>
          <a:blip r:embed="rId8" cstate="print">
            <a:extLst>
              <a:ext uri="{28A0092B-C50C-407E-A947-70E740481C1C}">
                <a14:useLocalDpi xmlns:a14="http://schemas.microsoft.com/office/drawing/2010/main" val="0"/>
              </a:ext>
            </a:extLst>
          </a:blip>
          <a:srcRect l="33397" t="41228" r="58562" b="43578"/>
          <a:stretch>
            <a:fillRect/>
          </a:stretch>
        </p:blipFill>
        <p:spPr bwMode="auto">
          <a:xfrm>
            <a:off x="8293563" y="2363771"/>
            <a:ext cx="1138237" cy="12239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Object 8"/>
          <p:cNvGraphicFramePr>
            <a:graphicFrameLocks noChangeAspect="1"/>
          </p:cNvGraphicFramePr>
          <p:nvPr>
            <p:extLst/>
          </p:nvPr>
        </p:nvGraphicFramePr>
        <p:xfrm>
          <a:off x="6727825" y="3825875"/>
          <a:ext cx="863600" cy="457200"/>
        </p:xfrm>
        <a:graphic>
          <a:graphicData uri="http://schemas.openxmlformats.org/presentationml/2006/ole">
            <mc:AlternateContent xmlns:mc="http://schemas.openxmlformats.org/markup-compatibility/2006">
              <mc:Choice xmlns:v="urn:schemas-microsoft-com:vml" Requires="v">
                <p:oleObj spid="_x0000_s30780" name="Equation" r:id="rId9" imgW="431640" imgH="228600" progId="Equation.DSMT4">
                  <p:embed/>
                </p:oleObj>
              </mc:Choice>
              <mc:Fallback>
                <p:oleObj name="Equation" r:id="rId9" imgW="431640" imgH="228600" progId="Equation.DSMT4">
                  <p:embed/>
                  <p:pic>
                    <p:nvPicPr>
                      <p:cNvPr id="17" name="Object 8"/>
                      <p:cNvPicPr>
                        <a:picLocks noChangeAspect="1" noChangeArrowheads="1"/>
                      </p:cNvPicPr>
                      <p:nvPr/>
                    </p:nvPicPr>
                    <p:blipFill>
                      <a:blip r:embed="rId10"/>
                      <a:srcRect/>
                      <a:stretch>
                        <a:fillRect/>
                      </a:stretch>
                    </p:blipFill>
                    <p:spPr bwMode="auto">
                      <a:xfrm>
                        <a:off x="6727825" y="3825875"/>
                        <a:ext cx="86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9"/>
          <p:cNvGraphicFramePr>
            <a:graphicFrameLocks noChangeAspect="1"/>
          </p:cNvGraphicFramePr>
          <p:nvPr>
            <p:extLst/>
          </p:nvPr>
        </p:nvGraphicFramePr>
        <p:xfrm>
          <a:off x="8399463" y="3819525"/>
          <a:ext cx="863600" cy="457200"/>
        </p:xfrm>
        <a:graphic>
          <a:graphicData uri="http://schemas.openxmlformats.org/presentationml/2006/ole">
            <mc:AlternateContent xmlns:mc="http://schemas.openxmlformats.org/markup-compatibility/2006">
              <mc:Choice xmlns:v="urn:schemas-microsoft-com:vml" Requires="v">
                <p:oleObj spid="_x0000_s30781" name="Equation" r:id="rId11" imgW="431640" imgH="228600" progId="Equation.DSMT4">
                  <p:embed/>
                </p:oleObj>
              </mc:Choice>
              <mc:Fallback>
                <p:oleObj name="Equation" r:id="rId11" imgW="431640" imgH="228600" progId="Equation.DSMT4">
                  <p:embed/>
                  <p:pic>
                    <p:nvPicPr>
                      <p:cNvPr id="18" name="Object 9"/>
                      <p:cNvPicPr>
                        <a:picLocks noChangeAspect="1" noChangeArrowheads="1"/>
                      </p:cNvPicPr>
                      <p:nvPr/>
                    </p:nvPicPr>
                    <p:blipFill>
                      <a:blip r:embed="rId12"/>
                      <a:srcRect/>
                      <a:stretch>
                        <a:fillRect/>
                      </a:stretch>
                    </p:blipFill>
                    <p:spPr bwMode="auto">
                      <a:xfrm>
                        <a:off x="8399463" y="3819525"/>
                        <a:ext cx="86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0"/>
          <p:cNvGraphicFramePr>
            <a:graphicFrameLocks noChangeAspect="1"/>
          </p:cNvGraphicFramePr>
          <p:nvPr>
            <p:extLst/>
          </p:nvPr>
        </p:nvGraphicFramePr>
        <p:xfrm>
          <a:off x="8407400" y="4369340"/>
          <a:ext cx="836613" cy="457200"/>
        </p:xfrm>
        <a:graphic>
          <a:graphicData uri="http://schemas.openxmlformats.org/presentationml/2006/ole">
            <mc:AlternateContent xmlns:mc="http://schemas.openxmlformats.org/markup-compatibility/2006">
              <mc:Choice xmlns:v="urn:schemas-microsoft-com:vml" Requires="v">
                <p:oleObj spid="_x0000_s30782" name="Equation" r:id="rId13" imgW="419040" imgH="228600" progId="Equation.DSMT4">
                  <p:embed/>
                </p:oleObj>
              </mc:Choice>
              <mc:Fallback>
                <p:oleObj name="Equation" r:id="rId13" imgW="419040" imgH="228600" progId="Equation.DSMT4">
                  <p:embed/>
                  <p:pic>
                    <p:nvPicPr>
                      <p:cNvPr id="19" name="Object 10"/>
                      <p:cNvPicPr>
                        <a:picLocks noChangeAspect="1" noChangeArrowheads="1"/>
                      </p:cNvPicPr>
                      <p:nvPr/>
                    </p:nvPicPr>
                    <p:blipFill>
                      <a:blip r:embed="rId14"/>
                      <a:srcRect/>
                      <a:stretch>
                        <a:fillRect/>
                      </a:stretch>
                    </p:blipFill>
                    <p:spPr bwMode="auto">
                      <a:xfrm>
                        <a:off x="8407400" y="4369340"/>
                        <a:ext cx="836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 name="Picture 7" descr="bianjie"/>
          <p:cNvPicPr>
            <a:picLocks noChangeAspect="1" noChangeArrowheads="1"/>
          </p:cNvPicPr>
          <p:nvPr/>
        </p:nvPicPr>
        <p:blipFill>
          <a:blip r:embed="rId8" cstate="print">
            <a:extLst>
              <a:ext uri="{28A0092B-C50C-407E-A947-70E740481C1C}">
                <a14:useLocalDpi xmlns:a14="http://schemas.microsoft.com/office/drawing/2010/main" val="0"/>
              </a:ext>
            </a:extLst>
          </a:blip>
          <a:srcRect l="63625" t="40665" r="28197" b="43547"/>
          <a:stretch>
            <a:fillRect/>
          </a:stretch>
        </p:blipFill>
        <p:spPr bwMode="auto">
          <a:xfrm>
            <a:off x="10013704" y="2333666"/>
            <a:ext cx="1085646" cy="13187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3" name="Object 14"/>
          <p:cNvGraphicFramePr>
            <a:graphicFrameLocks noChangeAspect="1"/>
          </p:cNvGraphicFramePr>
          <p:nvPr>
            <p:extLst/>
          </p:nvPr>
        </p:nvGraphicFramePr>
        <p:xfrm>
          <a:off x="10002838" y="3808413"/>
          <a:ext cx="1219200" cy="455612"/>
        </p:xfrm>
        <a:graphic>
          <a:graphicData uri="http://schemas.openxmlformats.org/presentationml/2006/ole">
            <mc:AlternateContent xmlns:mc="http://schemas.openxmlformats.org/markup-compatibility/2006">
              <mc:Choice xmlns:v="urn:schemas-microsoft-com:vml" Requires="v">
                <p:oleObj spid="_x0000_s30783" name="Equation" r:id="rId15" imgW="609480" imgH="228600" progId="Equation.DSMT4">
                  <p:embed/>
                </p:oleObj>
              </mc:Choice>
              <mc:Fallback>
                <p:oleObj name="Equation" r:id="rId15" imgW="609480" imgH="228600" progId="Equation.DSMT4">
                  <p:embed/>
                  <p:pic>
                    <p:nvPicPr>
                      <p:cNvPr id="23" name="Object 14"/>
                      <p:cNvPicPr>
                        <a:picLocks noChangeAspect="1" noChangeArrowheads="1"/>
                      </p:cNvPicPr>
                      <p:nvPr/>
                    </p:nvPicPr>
                    <p:blipFill>
                      <a:blip r:embed="rId16"/>
                      <a:srcRect/>
                      <a:stretch>
                        <a:fillRect/>
                      </a:stretch>
                    </p:blipFill>
                    <p:spPr bwMode="auto">
                      <a:xfrm>
                        <a:off x="10002838" y="3808413"/>
                        <a:ext cx="12192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5"/>
          <p:cNvGraphicFramePr>
            <a:graphicFrameLocks noChangeAspect="1"/>
          </p:cNvGraphicFramePr>
          <p:nvPr>
            <p:extLst/>
          </p:nvPr>
        </p:nvGraphicFramePr>
        <p:xfrm>
          <a:off x="10002838" y="4348163"/>
          <a:ext cx="1168400" cy="455612"/>
        </p:xfrm>
        <a:graphic>
          <a:graphicData uri="http://schemas.openxmlformats.org/presentationml/2006/ole">
            <mc:AlternateContent xmlns:mc="http://schemas.openxmlformats.org/markup-compatibility/2006">
              <mc:Choice xmlns:v="urn:schemas-microsoft-com:vml" Requires="v">
                <p:oleObj spid="_x0000_s30784" name="Equation" r:id="rId17" imgW="583920" imgH="228600" progId="Equation.DSMT4">
                  <p:embed/>
                </p:oleObj>
              </mc:Choice>
              <mc:Fallback>
                <p:oleObj name="Equation" r:id="rId17" imgW="583920" imgH="228600" progId="Equation.DSMT4">
                  <p:embed/>
                  <p:pic>
                    <p:nvPicPr>
                      <p:cNvPr id="24" name="Object 15"/>
                      <p:cNvPicPr>
                        <a:picLocks noChangeAspect="1" noChangeArrowheads="1"/>
                      </p:cNvPicPr>
                      <p:nvPr/>
                    </p:nvPicPr>
                    <p:blipFill>
                      <a:blip r:embed="rId18"/>
                      <a:srcRect/>
                      <a:stretch>
                        <a:fillRect/>
                      </a:stretch>
                    </p:blipFill>
                    <p:spPr bwMode="auto">
                      <a:xfrm>
                        <a:off x="10002838" y="4348163"/>
                        <a:ext cx="11684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86637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2" grpId="0" autoUpdateAnimBg="0"/>
      <p:bldP spid="14" grpId="0" autoUpdateAnimBg="0"/>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369405" cy="1383264"/>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   </a:t>
            </a:r>
            <a:r>
              <a:rPr kumimoji="1" lang="zh-CN" altLang="en-US" i="0" dirty="0">
                <a:solidFill>
                  <a:schemeClr val="tx1"/>
                </a:solidFill>
                <a:ea typeface="黑体" panose="02010609060101010101" pitchFamily="49" charset="-122"/>
              </a:rPr>
              <a:t>图示悬臂梁，受集中载荷</a:t>
            </a:r>
            <a:r>
              <a:rPr kumimoji="1" lang="en-US" altLang="zh-CN" b="0" dirty="0">
                <a:solidFill>
                  <a:schemeClr val="tx1"/>
                </a:solidFill>
                <a:ea typeface="黑体" panose="02010609060101010101" pitchFamily="49" charset="-122"/>
              </a:rPr>
              <a:t>F</a:t>
            </a:r>
            <a:r>
              <a:rPr kumimoji="1" lang="zh-CN" altLang="en-US" i="0" dirty="0">
                <a:solidFill>
                  <a:schemeClr val="tx1"/>
                </a:solidFill>
                <a:ea typeface="黑体" panose="02010609060101010101" pitchFamily="49" charset="-122"/>
              </a:rPr>
              <a:t>作用，</a:t>
            </a:r>
            <a:r>
              <a:rPr kumimoji="1" lang="en-US" altLang="zh-CN" b="0" dirty="0" err="1">
                <a:solidFill>
                  <a:schemeClr val="tx1"/>
                </a:solidFill>
                <a:ea typeface="黑体" panose="02010609060101010101" pitchFamily="49" charset="-122"/>
              </a:rPr>
              <a:t>EI</a:t>
            </a:r>
            <a:r>
              <a:rPr kumimoji="1" lang="en-US" altLang="zh-CN" b="0" baseline="-25000" dirty="0" err="1">
                <a:solidFill>
                  <a:schemeClr val="tx1"/>
                </a:solidFill>
                <a:ea typeface="黑体" panose="02010609060101010101" pitchFamily="49" charset="-122"/>
              </a:rPr>
              <a:t>z</a:t>
            </a:r>
            <a:r>
              <a:rPr kumimoji="1" lang="zh-CN" altLang="en-US" i="0" dirty="0">
                <a:solidFill>
                  <a:schemeClr val="tx1"/>
                </a:solidFill>
                <a:ea typeface="黑体" panose="02010609060101010101" pitchFamily="49" charset="-122"/>
              </a:rPr>
              <a:t>为常数，求其转角方程和挠曲线方程。</a:t>
            </a:r>
          </a:p>
          <a:p>
            <a:pPr lvl="0" algn="just">
              <a:lnSpc>
                <a:spcPct val="120000"/>
              </a:lnSpc>
            </a:pP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1682808"/>
            <a:ext cx="6813453"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ea typeface="黑体" panose="02010609060101010101" pitchFamily="49" charset="-122"/>
              </a:rPr>
              <a:t>由梁的整体平衡分析可得</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3" y="2690331"/>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  </a:t>
            </a:r>
            <a:r>
              <a:rPr kumimoji="1" lang="zh-CN" altLang="en-US" i="0" dirty="0">
                <a:solidFill>
                  <a:srgbClr val="000000"/>
                </a:solidFill>
                <a:ea typeface="黑体" panose="02010609060101010101" pitchFamily="49" charset="-122"/>
              </a:rPr>
              <a:t>列距离为</a:t>
            </a:r>
            <a:r>
              <a:rPr kumimoji="1" lang="en-US" altLang="zh-CN" b="0" dirty="0">
                <a:solidFill>
                  <a:srgbClr val="000000"/>
                </a:solidFill>
                <a:ea typeface="黑体" panose="02010609060101010101" pitchFamily="49" charset="-122"/>
              </a:rPr>
              <a:t>x</a:t>
            </a:r>
            <a:r>
              <a:rPr kumimoji="1" lang="zh-CN" altLang="en-US" i="0" dirty="0">
                <a:solidFill>
                  <a:srgbClr val="000000"/>
                </a:solidFill>
                <a:ea typeface="黑体" panose="02010609060101010101" pitchFamily="49" charset="-122"/>
              </a:rPr>
              <a:t>截面处的弯矩方程</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4" name="Group 18">
            <a:extLst>
              <a:ext uri="{FF2B5EF4-FFF2-40B4-BE49-F238E27FC236}">
                <a16:creationId xmlns:a16="http://schemas.microsoft.com/office/drawing/2014/main" id="{1F1D6A8D-1750-45EF-552B-C3CB9F018AAF}"/>
              </a:ext>
            </a:extLst>
          </p:cNvPr>
          <p:cNvGrpSpPr>
            <a:grpSpLocks/>
          </p:cNvGrpSpPr>
          <p:nvPr/>
        </p:nvGrpSpPr>
        <p:grpSpPr bwMode="auto">
          <a:xfrm>
            <a:off x="7911093" y="1751771"/>
            <a:ext cx="3297905" cy="1788075"/>
            <a:chOff x="534" y="1352"/>
            <a:chExt cx="1695" cy="883"/>
          </a:xfrm>
        </p:grpSpPr>
        <p:sp>
          <p:nvSpPr>
            <p:cNvPr id="5" name="Arc 19">
              <a:extLst>
                <a:ext uri="{FF2B5EF4-FFF2-40B4-BE49-F238E27FC236}">
                  <a16:creationId xmlns:a16="http://schemas.microsoft.com/office/drawing/2014/main" id="{D5FF9335-74ED-1A46-CB5F-8D5A4EC1563F}"/>
                </a:ext>
              </a:extLst>
            </p:cNvPr>
            <p:cNvSpPr>
              <a:spLocks/>
            </p:cNvSpPr>
            <p:nvPr/>
          </p:nvSpPr>
          <p:spPr bwMode="auto">
            <a:xfrm>
              <a:off x="690" y="1793"/>
              <a:ext cx="1036" cy="262"/>
            </a:xfrm>
            <a:custGeom>
              <a:avLst/>
              <a:gdLst>
                <a:gd name="G0" fmla="+- 0 0 0"/>
                <a:gd name="G1" fmla="+- 21600 0 0"/>
                <a:gd name="G2" fmla="+- 21600 0 0"/>
                <a:gd name="T0" fmla="*/ 0 w 21267"/>
                <a:gd name="T1" fmla="*/ 0 h 21600"/>
                <a:gd name="T2" fmla="*/ 21267 w 21267"/>
                <a:gd name="T3" fmla="*/ 17822 h 21600"/>
                <a:gd name="T4" fmla="*/ 0 w 21267"/>
                <a:gd name="T5" fmla="*/ 21600 h 21600"/>
              </a:gdLst>
              <a:ahLst/>
              <a:cxnLst>
                <a:cxn ang="0">
                  <a:pos x="T0" y="T1"/>
                </a:cxn>
                <a:cxn ang="0">
                  <a:pos x="T2" y="T3"/>
                </a:cxn>
                <a:cxn ang="0">
                  <a:pos x="T4" y="T5"/>
                </a:cxn>
              </a:cxnLst>
              <a:rect l="0" t="0" r="r" b="b"/>
              <a:pathLst>
                <a:path w="21267" h="21600" fill="none" extrusionOk="0">
                  <a:moveTo>
                    <a:pt x="0" y="0"/>
                  </a:moveTo>
                  <a:cubicBezTo>
                    <a:pt x="10471" y="0"/>
                    <a:pt x="19435" y="7511"/>
                    <a:pt x="21267" y="17821"/>
                  </a:cubicBezTo>
                </a:path>
                <a:path w="21267" h="21600" stroke="0" extrusionOk="0">
                  <a:moveTo>
                    <a:pt x="0" y="0"/>
                  </a:moveTo>
                  <a:cubicBezTo>
                    <a:pt x="10471" y="0"/>
                    <a:pt x="19435" y="7511"/>
                    <a:pt x="21267" y="17821"/>
                  </a:cubicBezTo>
                  <a:lnTo>
                    <a:pt x="0" y="21600"/>
                  </a:lnTo>
                  <a:close/>
                </a:path>
              </a:pathLst>
            </a:custGeom>
            <a:noFill/>
            <a:ln w="31750">
              <a:solidFill>
                <a:srgbClr val="FF66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0">
              <a:extLst>
                <a:ext uri="{FF2B5EF4-FFF2-40B4-BE49-F238E27FC236}">
                  <a16:creationId xmlns:a16="http://schemas.microsoft.com/office/drawing/2014/main" id="{D439E993-6524-48A2-7BB4-8589C576B3E5}"/>
                </a:ext>
              </a:extLst>
            </p:cNvPr>
            <p:cNvGrpSpPr>
              <a:grpSpLocks/>
            </p:cNvGrpSpPr>
            <p:nvPr/>
          </p:nvGrpSpPr>
          <p:grpSpPr bwMode="auto">
            <a:xfrm>
              <a:off x="1704" y="1819"/>
              <a:ext cx="345" cy="305"/>
              <a:chOff x="1704" y="1819"/>
              <a:chExt cx="345" cy="305"/>
            </a:xfrm>
          </p:grpSpPr>
          <p:sp>
            <p:nvSpPr>
              <p:cNvPr id="35" name="Arc 21">
                <a:extLst>
                  <a:ext uri="{FF2B5EF4-FFF2-40B4-BE49-F238E27FC236}">
                    <a16:creationId xmlns:a16="http://schemas.microsoft.com/office/drawing/2014/main" id="{7EAD88FD-D241-D9C7-C6A7-8FD7DBACE42E}"/>
                  </a:ext>
                </a:extLst>
              </p:cNvPr>
              <p:cNvSpPr>
                <a:spLocks/>
              </p:cNvSpPr>
              <p:nvPr/>
            </p:nvSpPr>
            <p:spPr bwMode="auto">
              <a:xfrm rot="8947937" flipH="1">
                <a:off x="1747" y="1819"/>
                <a:ext cx="192" cy="209"/>
              </a:xfrm>
              <a:custGeom>
                <a:avLst/>
                <a:gdLst>
                  <a:gd name="G0" fmla="+- 0 0 0"/>
                  <a:gd name="G1" fmla="+- 21600 0 0"/>
                  <a:gd name="G2" fmla="+- 21600 0 0"/>
                  <a:gd name="T0" fmla="*/ 0 w 21600"/>
                  <a:gd name="T1" fmla="*/ 0 h 23551"/>
                  <a:gd name="T2" fmla="*/ 21512 w 21600"/>
                  <a:gd name="T3" fmla="*/ 23551 h 23551"/>
                  <a:gd name="T4" fmla="*/ 0 w 21600"/>
                  <a:gd name="T5" fmla="*/ 21600 h 23551"/>
                </a:gdLst>
                <a:ahLst/>
                <a:cxnLst>
                  <a:cxn ang="0">
                    <a:pos x="T0" y="T1"/>
                  </a:cxn>
                  <a:cxn ang="0">
                    <a:pos x="T2" y="T3"/>
                  </a:cxn>
                  <a:cxn ang="0">
                    <a:pos x="T4" y="T5"/>
                  </a:cxn>
                </a:cxnLst>
                <a:rect l="0" t="0" r="r" b="b"/>
                <a:pathLst>
                  <a:path w="21600" h="23551" fill="none" extrusionOk="0">
                    <a:moveTo>
                      <a:pt x="0" y="0"/>
                    </a:moveTo>
                    <a:cubicBezTo>
                      <a:pt x="11929" y="0"/>
                      <a:pt x="21600" y="9670"/>
                      <a:pt x="21600" y="21600"/>
                    </a:cubicBezTo>
                    <a:cubicBezTo>
                      <a:pt x="21600" y="22251"/>
                      <a:pt x="21570" y="22902"/>
                      <a:pt x="21511" y="23550"/>
                    </a:cubicBezTo>
                  </a:path>
                  <a:path w="21600" h="23551" stroke="0" extrusionOk="0">
                    <a:moveTo>
                      <a:pt x="0" y="0"/>
                    </a:moveTo>
                    <a:cubicBezTo>
                      <a:pt x="11929" y="0"/>
                      <a:pt x="21600" y="9670"/>
                      <a:pt x="21600" y="21600"/>
                    </a:cubicBezTo>
                    <a:cubicBezTo>
                      <a:pt x="21600" y="22251"/>
                      <a:pt x="21570" y="22902"/>
                      <a:pt x="21511" y="23550"/>
                    </a:cubicBezTo>
                    <a:lnTo>
                      <a:pt x="0" y="21600"/>
                    </a:lnTo>
                    <a:close/>
                  </a:path>
                </a:pathLst>
              </a:custGeom>
              <a:noFill/>
              <a:ln w="9525">
                <a:solidFill>
                  <a:srgbClr val="8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6" name="Object 22">
                <a:extLst>
                  <a:ext uri="{FF2B5EF4-FFF2-40B4-BE49-F238E27FC236}">
                    <a16:creationId xmlns:a16="http://schemas.microsoft.com/office/drawing/2014/main" id="{04D39117-89ED-53FD-ECDE-4E444907C014}"/>
                  </a:ext>
                </a:extLst>
              </p:cNvPr>
              <p:cNvGraphicFramePr>
                <a:graphicFrameLocks noChangeAspect="1"/>
              </p:cNvGraphicFramePr>
              <p:nvPr>
                <p:extLst/>
              </p:nvPr>
            </p:nvGraphicFramePr>
            <p:xfrm>
              <a:off x="1901" y="1889"/>
              <a:ext cx="148" cy="181"/>
            </p:xfrm>
            <a:graphic>
              <a:graphicData uri="http://schemas.openxmlformats.org/presentationml/2006/ole">
                <mc:AlternateContent xmlns:mc="http://schemas.openxmlformats.org/markup-compatibility/2006">
                  <mc:Choice xmlns:v="urn:schemas-microsoft-com:vml" Requires="v">
                    <p:oleObj spid="_x0000_s31850" name="公式" r:id="rId4" imgW="164880" imgH="203040" progId="Equation.3">
                      <p:embed/>
                    </p:oleObj>
                  </mc:Choice>
                  <mc:Fallback>
                    <p:oleObj name="公式" r:id="rId4" imgW="164880" imgH="203040" progId="Equation.3">
                      <p:embed/>
                      <p:pic>
                        <p:nvPicPr>
                          <p:cNvPr id="36" name="Object 22">
                            <a:extLst>
                              <a:ext uri="{FF2B5EF4-FFF2-40B4-BE49-F238E27FC236}">
                                <a16:creationId xmlns:a16="http://schemas.microsoft.com/office/drawing/2014/main" id="{04D39117-89ED-53FD-ECDE-4E444907C014}"/>
                              </a:ext>
                            </a:extLst>
                          </p:cNvPr>
                          <p:cNvPicPr>
                            <a:picLocks noChangeAspect="1" noChangeArrowheads="1"/>
                          </p:cNvPicPr>
                          <p:nvPr/>
                        </p:nvPicPr>
                        <p:blipFill>
                          <a:blip r:embed="rId5"/>
                          <a:srcRect/>
                          <a:stretch>
                            <a:fillRect/>
                          </a:stretch>
                        </p:blipFill>
                        <p:spPr bwMode="auto">
                          <a:xfrm>
                            <a:off x="1901" y="1889"/>
                            <a:ext cx="14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a:extLst>
                  <a:ext uri="{FF2B5EF4-FFF2-40B4-BE49-F238E27FC236}">
                    <a16:creationId xmlns:a16="http://schemas.microsoft.com/office/drawing/2014/main" id="{C16AEEDE-A385-BC00-7E2F-656E5D3313ED}"/>
                  </a:ext>
                </a:extLst>
              </p:cNvPr>
              <p:cNvSpPr>
                <a:spLocks noChangeShapeType="1"/>
              </p:cNvSpPr>
              <p:nvPr/>
            </p:nvSpPr>
            <p:spPr bwMode="auto">
              <a:xfrm>
                <a:off x="1704" y="1980"/>
                <a:ext cx="192" cy="144"/>
              </a:xfrm>
              <a:prstGeom prst="line">
                <a:avLst/>
              </a:prstGeom>
              <a:noFill/>
              <a:ln w="127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 name="Group 24">
              <a:extLst>
                <a:ext uri="{FF2B5EF4-FFF2-40B4-BE49-F238E27FC236}">
                  <a16:creationId xmlns:a16="http://schemas.microsoft.com/office/drawing/2014/main" id="{5E7B786F-8695-1D76-0EB3-09FF0D5464D9}"/>
                </a:ext>
              </a:extLst>
            </p:cNvPr>
            <p:cNvGrpSpPr>
              <a:grpSpLocks/>
            </p:cNvGrpSpPr>
            <p:nvPr/>
          </p:nvGrpSpPr>
          <p:grpSpPr bwMode="auto">
            <a:xfrm>
              <a:off x="534" y="1352"/>
              <a:ext cx="1695" cy="883"/>
              <a:chOff x="534" y="1352"/>
              <a:chExt cx="1695" cy="883"/>
            </a:xfrm>
          </p:grpSpPr>
          <p:sp>
            <p:nvSpPr>
              <p:cNvPr id="14" name="Line 25">
                <a:extLst>
                  <a:ext uri="{FF2B5EF4-FFF2-40B4-BE49-F238E27FC236}">
                    <a16:creationId xmlns:a16="http://schemas.microsoft.com/office/drawing/2014/main" id="{6A8BFC58-DDDB-C8DD-CF3D-40B380551B8C}"/>
                  </a:ext>
                </a:extLst>
              </p:cNvPr>
              <p:cNvSpPr>
                <a:spLocks noChangeShapeType="1"/>
              </p:cNvSpPr>
              <p:nvPr/>
            </p:nvSpPr>
            <p:spPr bwMode="auto">
              <a:xfrm>
                <a:off x="682" y="1649"/>
                <a:ext cx="0" cy="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6">
                <a:extLst>
                  <a:ext uri="{FF2B5EF4-FFF2-40B4-BE49-F238E27FC236}">
                    <a16:creationId xmlns:a16="http://schemas.microsoft.com/office/drawing/2014/main" id="{021D6BB4-1CD9-83E2-8A60-5853E2EA030D}"/>
                  </a:ext>
                </a:extLst>
              </p:cNvPr>
              <p:cNvSpPr>
                <a:spLocks noChangeShapeType="1"/>
              </p:cNvSpPr>
              <p:nvPr/>
            </p:nvSpPr>
            <p:spPr bwMode="auto">
              <a:xfrm>
                <a:off x="682" y="1781"/>
                <a:ext cx="1045" cy="0"/>
              </a:xfrm>
              <a:prstGeom prst="line">
                <a:avLst/>
              </a:prstGeom>
              <a:noFill/>
              <a:ln w="635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7">
                <a:extLst>
                  <a:ext uri="{FF2B5EF4-FFF2-40B4-BE49-F238E27FC236}">
                    <a16:creationId xmlns:a16="http://schemas.microsoft.com/office/drawing/2014/main" id="{22164607-DD0E-9F20-B30B-F6A5C5CEA7E5}"/>
                  </a:ext>
                </a:extLst>
              </p:cNvPr>
              <p:cNvSpPr>
                <a:spLocks noChangeShapeType="1"/>
              </p:cNvSpPr>
              <p:nvPr/>
            </p:nvSpPr>
            <p:spPr bwMode="auto">
              <a:xfrm>
                <a:off x="1812" y="1781"/>
                <a:ext cx="242"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7" name="Line 28">
                <a:extLst>
                  <a:ext uri="{FF2B5EF4-FFF2-40B4-BE49-F238E27FC236}">
                    <a16:creationId xmlns:a16="http://schemas.microsoft.com/office/drawing/2014/main" id="{8CAA4202-E08F-EDD1-8F1E-9ACE4D69FE1E}"/>
                  </a:ext>
                </a:extLst>
              </p:cNvPr>
              <p:cNvSpPr>
                <a:spLocks noChangeShapeType="1"/>
              </p:cNvSpPr>
              <p:nvPr/>
            </p:nvSpPr>
            <p:spPr bwMode="auto">
              <a:xfrm flipH="1">
                <a:off x="636" y="1675"/>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1DFAEFEA-37C9-9431-C287-342DC9330811}"/>
                  </a:ext>
                </a:extLst>
              </p:cNvPr>
              <p:cNvSpPr>
                <a:spLocks noChangeShapeType="1"/>
              </p:cNvSpPr>
              <p:nvPr/>
            </p:nvSpPr>
            <p:spPr bwMode="auto">
              <a:xfrm flipH="1">
                <a:off x="636" y="1740"/>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a:extLst>
                  <a:ext uri="{FF2B5EF4-FFF2-40B4-BE49-F238E27FC236}">
                    <a16:creationId xmlns:a16="http://schemas.microsoft.com/office/drawing/2014/main" id="{58CBE591-4A54-DC0F-1B59-21BA521C251F}"/>
                  </a:ext>
                </a:extLst>
              </p:cNvPr>
              <p:cNvSpPr>
                <a:spLocks noChangeShapeType="1"/>
              </p:cNvSpPr>
              <p:nvPr/>
            </p:nvSpPr>
            <p:spPr bwMode="auto">
              <a:xfrm flipH="1">
                <a:off x="636" y="1802"/>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1">
                <a:extLst>
                  <a:ext uri="{FF2B5EF4-FFF2-40B4-BE49-F238E27FC236}">
                    <a16:creationId xmlns:a16="http://schemas.microsoft.com/office/drawing/2014/main" id="{B801AB66-158C-3B52-0129-B104C9F8432B}"/>
                  </a:ext>
                </a:extLst>
              </p:cNvPr>
              <p:cNvSpPr>
                <a:spLocks noChangeShapeType="1"/>
              </p:cNvSpPr>
              <p:nvPr/>
            </p:nvSpPr>
            <p:spPr bwMode="auto">
              <a:xfrm flipH="1">
                <a:off x="636" y="1866"/>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32">
                <a:extLst>
                  <a:ext uri="{FF2B5EF4-FFF2-40B4-BE49-F238E27FC236}">
                    <a16:creationId xmlns:a16="http://schemas.microsoft.com/office/drawing/2014/main" id="{2091CEE8-FCCA-88F3-8B23-78DC1F8C59A0}"/>
                  </a:ext>
                </a:extLst>
              </p:cNvPr>
              <p:cNvSpPr>
                <a:spLocks noChangeShapeType="1"/>
              </p:cNvSpPr>
              <p:nvPr/>
            </p:nvSpPr>
            <p:spPr bwMode="auto">
              <a:xfrm flipV="1">
                <a:off x="684" y="1395"/>
                <a:ext cx="0" cy="211"/>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 name="Text Box 33">
                <a:extLst>
                  <a:ext uri="{FF2B5EF4-FFF2-40B4-BE49-F238E27FC236}">
                    <a16:creationId xmlns:a16="http://schemas.microsoft.com/office/drawing/2014/main" id="{C9FD7866-CA8F-3E58-990A-15B3AA1970C8}"/>
                  </a:ext>
                </a:extLst>
              </p:cNvPr>
              <p:cNvSpPr txBox="1">
                <a:spLocks noChangeArrowheads="1"/>
              </p:cNvSpPr>
              <p:nvPr/>
            </p:nvSpPr>
            <p:spPr bwMode="auto">
              <a:xfrm>
                <a:off x="534" y="1671"/>
                <a:ext cx="1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A</a:t>
                </a:r>
              </a:p>
            </p:txBody>
          </p:sp>
          <p:sp>
            <p:nvSpPr>
              <p:cNvPr id="23" name="Line 34">
                <a:extLst>
                  <a:ext uri="{FF2B5EF4-FFF2-40B4-BE49-F238E27FC236}">
                    <a16:creationId xmlns:a16="http://schemas.microsoft.com/office/drawing/2014/main" id="{C8E7A4E0-DAD0-3EF1-B65C-5FD15DF2514C}"/>
                  </a:ext>
                </a:extLst>
              </p:cNvPr>
              <p:cNvSpPr>
                <a:spLocks noChangeShapeType="1"/>
              </p:cNvSpPr>
              <p:nvPr/>
            </p:nvSpPr>
            <p:spPr bwMode="auto">
              <a:xfrm>
                <a:off x="1066" y="1914"/>
                <a:ext cx="0" cy="1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CAFA6F00-4C74-AFF9-2EBE-4A6F4557587D}"/>
                  </a:ext>
                </a:extLst>
              </p:cNvPr>
              <p:cNvSpPr>
                <a:spLocks noChangeShapeType="1"/>
              </p:cNvSpPr>
              <p:nvPr/>
            </p:nvSpPr>
            <p:spPr bwMode="auto">
              <a:xfrm>
                <a:off x="682" y="1957"/>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7A483E3-475A-EC7B-8C15-73BA1D741AC9}"/>
                  </a:ext>
                </a:extLst>
              </p:cNvPr>
              <p:cNvSpPr>
                <a:spLocks noChangeShapeType="1"/>
              </p:cNvSpPr>
              <p:nvPr/>
            </p:nvSpPr>
            <p:spPr bwMode="auto">
              <a:xfrm>
                <a:off x="1722" y="1799"/>
                <a:ext cx="1" cy="4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7">
                <a:extLst>
                  <a:ext uri="{FF2B5EF4-FFF2-40B4-BE49-F238E27FC236}">
                    <a16:creationId xmlns:a16="http://schemas.microsoft.com/office/drawing/2014/main" id="{F45ED6B6-4E64-6633-821C-081757E18C22}"/>
                  </a:ext>
                </a:extLst>
              </p:cNvPr>
              <p:cNvSpPr>
                <a:spLocks noChangeShapeType="1"/>
              </p:cNvSpPr>
              <p:nvPr/>
            </p:nvSpPr>
            <p:spPr bwMode="auto">
              <a:xfrm>
                <a:off x="684" y="2000"/>
                <a:ext cx="384" cy="0"/>
              </a:xfrm>
              <a:prstGeom prst="line">
                <a:avLst/>
              </a:prstGeom>
              <a:noFill/>
              <a:ln w="127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38">
                <a:extLst>
                  <a:ext uri="{FF2B5EF4-FFF2-40B4-BE49-F238E27FC236}">
                    <a16:creationId xmlns:a16="http://schemas.microsoft.com/office/drawing/2014/main" id="{C6C2C658-D52D-0C90-FCF8-853906EEB350}"/>
                  </a:ext>
                </a:extLst>
              </p:cNvPr>
              <p:cNvSpPr txBox="1">
                <a:spLocks noChangeArrowheads="1"/>
              </p:cNvSpPr>
              <p:nvPr/>
            </p:nvSpPr>
            <p:spPr bwMode="auto">
              <a:xfrm>
                <a:off x="1775" y="1610"/>
                <a:ext cx="10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B</a:t>
                </a:r>
              </a:p>
            </p:txBody>
          </p:sp>
          <p:graphicFrame>
            <p:nvGraphicFramePr>
              <p:cNvPr id="28" name="Object 39">
                <a:extLst>
                  <a:ext uri="{FF2B5EF4-FFF2-40B4-BE49-F238E27FC236}">
                    <a16:creationId xmlns:a16="http://schemas.microsoft.com/office/drawing/2014/main" id="{D7486ADE-3C36-9561-8E0B-2BA676C368D7}"/>
                  </a:ext>
                </a:extLst>
              </p:cNvPr>
              <p:cNvGraphicFramePr>
                <a:graphicFrameLocks noChangeAspect="1"/>
              </p:cNvGraphicFramePr>
              <p:nvPr>
                <p:extLst/>
              </p:nvPr>
            </p:nvGraphicFramePr>
            <p:xfrm>
              <a:off x="2096" y="1747"/>
              <a:ext cx="133" cy="150"/>
            </p:xfrm>
            <a:graphic>
              <a:graphicData uri="http://schemas.openxmlformats.org/presentationml/2006/ole">
                <mc:AlternateContent xmlns:mc="http://schemas.openxmlformats.org/markup-compatibility/2006">
                  <mc:Choice xmlns:v="urn:schemas-microsoft-com:vml" Requires="v">
                    <p:oleObj spid="_x0000_s31851" name="公式" r:id="rId6" imgW="114120" imgH="126720" progId="Equation.3">
                      <p:embed/>
                    </p:oleObj>
                  </mc:Choice>
                  <mc:Fallback>
                    <p:oleObj name="公式" r:id="rId6" imgW="114120" imgH="126720" progId="Equation.3">
                      <p:embed/>
                      <p:pic>
                        <p:nvPicPr>
                          <p:cNvPr id="28" name="Object 39">
                            <a:extLst>
                              <a:ext uri="{FF2B5EF4-FFF2-40B4-BE49-F238E27FC236}">
                                <a16:creationId xmlns:a16="http://schemas.microsoft.com/office/drawing/2014/main" id="{D7486ADE-3C36-9561-8E0B-2BA676C368D7}"/>
                              </a:ext>
                            </a:extLst>
                          </p:cNvPr>
                          <p:cNvPicPr>
                            <a:picLocks noChangeAspect="1" noChangeArrowheads="1"/>
                          </p:cNvPicPr>
                          <p:nvPr/>
                        </p:nvPicPr>
                        <p:blipFill>
                          <a:blip r:embed="rId7"/>
                          <a:srcRect/>
                          <a:stretch>
                            <a:fillRect/>
                          </a:stretch>
                        </p:blipFill>
                        <p:spPr bwMode="auto">
                          <a:xfrm>
                            <a:off x="2096" y="1747"/>
                            <a:ext cx="133"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40">
                <a:extLst>
                  <a:ext uri="{FF2B5EF4-FFF2-40B4-BE49-F238E27FC236}">
                    <a16:creationId xmlns:a16="http://schemas.microsoft.com/office/drawing/2014/main" id="{0A1F0090-3129-778A-2820-EDF30E4B979E}"/>
                  </a:ext>
                </a:extLst>
              </p:cNvPr>
              <p:cNvGraphicFramePr>
                <a:graphicFrameLocks noChangeAspect="1"/>
              </p:cNvGraphicFramePr>
              <p:nvPr>
                <p:extLst/>
              </p:nvPr>
            </p:nvGraphicFramePr>
            <p:xfrm>
              <a:off x="727" y="1352"/>
              <a:ext cx="136" cy="161"/>
            </p:xfrm>
            <a:graphic>
              <a:graphicData uri="http://schemas.openxmlformats.org/presentationml/2006/ole">
                <mc:AlternateContent xmlns:mc="http://schemas.openxmlformats.org/markup-compatibility/2006">
                  <mc:Choice xmlns:v="urn:schemas-microsoft-com:vml" Requires="v">
                    <p:oleObj spid="_x0000_s31852" name="公式" r:id="rId8" imgW="126720" imgH="152280" progId="Equation.3">
                      <p:embed/>
                    </p:oleObj>
                  </mc:Choice>
                  <mc:Fallback>
                    <p:oleObj name="公式" r:id="rId8" imgW="126720" imgH="152280" progId="Equation.3">
                      <p:embed/>
                      <p:pic>
                        <p:nvPicPr>
                          <p:cNvPr id="29" name="Object 40">
                            <a:extLst>
                              <a:ext uri="{FF2B5EF4-FFF2-40B4-BE49-F238E27FC236}">
                                <a16:creationId xmlns:a16="http://schemas.microsoft.com/office/drawing/2014/main" id="{0A1F0090-3129-778A-2820-EDF30E4B979E}"/>
                              </a:ext>
                            </a:extLst>
                          </p:cNvPr>
                          <p:cNvPicPr>
                            <a:picLocks noChangeAspect="1" noChangeArrowheads="1"/>
                          </p:cNvPicPr>
                          <p:nvPr/>
                        </p:nvPicPr>
                        <p:blipFill>
                          <a:blip r:embed="rId9"/>
                          <a:srcRect/>
                          <a:stretch>
                            <a:fillRect/>
                          </a:stretch>
                        </p:blipFill>
                        <p:spPr bwMode="auto">
                          <a:xfrm>
                            <a:off x="727" y="1352"/>
                            <a:ext cx="136"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41">
                <a:extLst>
                  <a:ext uri="{FF2B5EF4-FFF2-40B4-BE49-F238E27FC236}">
                    <a16:creationId xmlns:a16="http://schemas.microsoft.com/office/drawing/2014/main" id="{15FFB42D-F500-917C-6AFD-022CBDF99F8D}"/>
                  </a:ext>
                </a:extLst>
              </p:cNvPr>
              <p:cNvGraphicFramePr>
                <a:graphicFrameLocks noChangeAspect="1"/>
              </p:cNvGraphicFramePr>
              <p:nvPr>
                <p:extLst/>
              </p:nvPr>
            </p:nvGraphicFramePr>
            <p:xfrm>
              <a:off x="804" y="1860"/>
              <a:ext cx="114" cy="129"/>
            </p:xfrm>
            <a:graphic>
              <a:graphicData uri="http://schemas.openxmlformats.org/presentationml/2006/ole">
                <mc:AlternateContent xmlns:mc="http://schemas.openxmlformats.org/markup-compatibility/2006">
                  <mc:Choice xmlns:v="urn:schemas-microsoft-com:vml" Requires="v">
                    <p:oleObj spid="_x0000_s31853" name="公式" r:id="rId10" imgW="114120" imgH="126720" progId="Equation.3">
                      <p:embed/>
                    </p:oleObj>
                  </mc:Choice>
                  <mc:Fallback>
                    <p:oleObj name="公式" r:id="rId10" imgW="114120" imgH="126720" progId="Equation.3">
                      <p:embed/>
                      <p:pic>
                        <p:nvPicPr>
                          <p:cNvPr id="30" name="Object 41">
                            <a:extLst>
                              <a:ext uri="{FF2B5EF4-FFF2-40B4-BE49-F238E27FC236}">
                                <a16:creationId xmlns:a16="http://schemas.microsoft.com/office/drawing/2014/main" id="{15FFB42D-F500-917C-6AFD-022CBDF99F8D}"/>
                              </a:ext>
                            </a:extLst>
                          </p:cNvPr>
                          <p:cNvPicPr>
                            <a:picLocks noChangeAspect="1" noChangeArrowheads="1"/>
                          </p:cNvPicPr>
                          <p:nvPr/>
                        </p:nvPicPr>
                        <p:blipFill>
                          <a:blip r:embed="rId11"/>
                          <a:srcRect/>
                          <a:stretch>
                            <a:fillRect/>
                          </a:stretch>
                        </p:blipFill>
                        <p:spPr bwMode="auto">
                          <a:xfrm>
                            <a:off x="804" y="1860"/>
                            <a:ext cx="11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42">
                <a:extLst>
                  <a:ext uri="{FF2B5EF4-FFF2-40B4-BE49-F238E27FC236}">
                    <a16:creationId xmlns:a16="http://schemas.microsoft.com/office/drawing/2014/main" id="{F07521E1-E19D-F530-CB8C-9C3B8CA34811}"/>
                  </a:ext>
                </a:extLst>
              </p:cNvPr>
              <p:cNvGraphicFramePr>
                <a:graphicFrameLocks noChangeAspect="1"/>
              </p:cNvGraphicFramePr>
              <p:nvPr>
                <p:extLst/>
              </p:nvPr>
            </p:nvGraphicFramePr>
            <p:xfrm>
              <a:off x="1170" y="2031"/>
              <a:ext cx="85" cy="158"/>
            </p:xfrm>
            <a:graphic>
              <a:graphicData uri="http://schemas.openxmlformats.org/presentationml/2006/ole">
                <mc:AlternateContent xmlns:mc="http://schemas.openxmlformats.org/markup-compatibility/2006">
                  <mc:Choice xmlns:v="urn:schemas-microsoft-com:vml" Requires="v">
                    <p:oleObj spid="_x0000_s31854" name="公式" r:id="rId12" imgW="88560" imgH="164880" progId="Equation.3">
                      <p:embed/>
                    </p:oleObj>
                  </mc:Choice>
                  <mc:Fallback>
                    <p:oleObj name="公式" r:id="rId12" imgW="88560" imgH="164880" progId="Equation.3">
                      <p:embed/>
                      <p:pic>
                        <p:nvPicPr>
                          <p:cNvPr id="31" name="Object 42">
                            <a:extLst>
                              <a:ext uri="{FF2B5EF4-FFF2-40B4-BE49-F238E27FC236}">
                                <a16:creationId xmlns:a16="http://schemas.microsoft.com/office/drawing/2014/main" id="{F07521E1-E19D-F530-CB8C-9C3B8CA34811}"/>
                              </a:ext>
                            </a:extLst>
                          </p:cNvPr>
                          <p:cNvPicPr>
                            <a:picLocks noChangeAspect="1" noChangeArrowheads="1"/>
                          </p:cNvPicPr>
                          <p:nvPr/>
                        </p:nvPicPr>
                        <p:blipFill>
                          <a:blip r:embed="rId13"/>
                          <a:srcRect/>
                          <a:stretch>
                            <a:fillRect/>
                          </a:stretch>
                        </p:blipFill>
                        <p:spPr bwMode="auto">
                          <a:xfrm>
                            <a:off x="1170" y="2031"/>
                            <a:ext cx="85"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43">
                <a:extLst>
                  <a:ext uri="{FF2B5EF4-FFF2-40B4-BE49-F238E27FC236}">
                    <a16:creationId xmlns:a16="http://schemas.microsoft.com/office/drawing/2014/main" id="{60A63031-D3DB-36C6-E2AE-95C9B95F6CE5}"/>
                  </a:ext>
                </a:extLst>
              </p:cNvPr>
              <p:cNvSpPr>
                <a:spLocks noChangeShapeType="1"/>
              </p:cNvSpPr>
              <p:nvPr/>
            </p:nvSpPr>
            <p:spPr bwMode="auto">
              <a:xfrm>
                <a:off x="682" y="2193"/>
                <a:ext cx="1034" cy="0"/>
              </a:xfrm>
              <a:prstGeom prst="line">
                <a:avLst/>
              </a:prstGeom>
              <a:noFill/>
              <a:ln w="12700">
                <a:solidFill>
                  <a:schemeClr val="bg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4">
                <a:extLst>
                  <a:ext uri="{FF2B5EF4-FFF2-40B4-BE49-F238E27FC236}">
                    <a16:creationId xmlns:a16="http://schemas.microsoft.com/office/drawing/2014/main" id="{3870D893-B4C4-F725-960F-28238773BC5E}"/>
                  </a:ext>
                </a:extLst>
              </p:cNvPr>
              <p:cNvSpPr>
                <a:spLocks noChangeShapeType="1"/>
              </p:cNvSpPr>
              <p:nvPr/>
            </p:nvSpPr>
            <p:spPr bwMode="auto">
              <a:xfrm>
                <a:off x="1720" y="1438"/>
                <a:ext cx="0" cy="336"/>
              </a:xfrm>
              <a:prstGeom prst="line">
                <a:avLst/>
              </a:prstGeom>
              <a:noFill/>
              <a:ln w="254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Text Box 45">
                <a:extLst>
                  <a:ext uri="{FF2B5EF4-FFF2-40B4-BE49-F238E27FC236}">
                    <a16:creationId xmlns:a16="http://schemas.microsoft.com/office/drawing/2014/main" id="{4021613E-628E-A9F9-8607-110451E72AC6}"/>
                  </a:ext>
                </a:extLst>
              </p:cNvPr>
              <p:cNvSpPr txBox="1">
                <a:spLocks noChangeArrowheads="1"/>
              </p:cNvSpPr>
              <p:nvPr/>
            </p:nvSpPr>
            <p:spPr bwMode="auto">
              <a:xfrm>
                <a:off x="1770" y="1369"/>
                <a:ext cx="117"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just">
                  <a:spcBef>
                    <a:spcPct val="50000"/>
                  </a:spcBef>
                  <a:buFontTx/>
                  <a:buNone/>
                </a:pPr>
                <a:r>
                  <a:rPr kumimoji="1" lang="en-US" altLang="zh-CN" sz="2000" b="0" i="1" dirty="0">
                    <a:latin typeface="+mn-lt"/>
                    <a:ea typeface="黑体" pitchFamily="2" charset="-122"/>
                  </a:rPr>
                  <a:t>F</a:t>
                </a:r>
              </a:p>
            </p:txBody>
          </p:sp>
        </p:grpSp>
        <p:grpSp>
          <p:nvGrpSpPr>
            <p:cNvPr id="9" name="Group 46">
              <a:extLst>
                <a:ext uri="{FF2B5EF4-FFF2-40B4-BE49-F238E27FC236}">
                  <a16:creationId xmlns:a16="http://schemas.microsoft.com/office/drawing/2014/main" id="{C06CE8B3-DFD9-6D79-268E-BFC6C1D2F555}"/>
                </a:ext>
              </a:extLst>
            </p:cNvPr>
            <p:cNvGrpSpPr>
              <a:grpSpLocks/>
            </p:cNvGrpSpPr>
            <p:nvPr/>
          </p:nvGrpSpPr>
          <p:grpSpPr bwMode="auto">
            <a:xfrm>
              <a:off x="1372" y="1784"/>
              <a:ext cx="348" cy="220"/>
              <a:chOff x="1372" y="1784"/>
              <a:chExt cx="348" cy="220"/>
            </a:xfrm>
          </p:grpSpPr>
          <p:sp>
            <p:nvSpPr>
              <p:cNvPr id="10" name="Line 47">
                <a:extLst>
                  <a:ext uri="{FF2B5EF4-FFF2-40B4-BE49-F238E27FC236}">
                    <a16:creationId xmlns:a16="http://schemas.microsoft.com/office/drawing/2014/main" id="{C5585703-915E-BD77-3D06-E5B8A87D5556}"/>
                  </a:ext>
                </a:extLst>
              </p:cNvPr>
              <p:cNvSpPr>
                <a:spLocks noChangeShapeType="1"/>
              </p:cNvSpPr>
              <p:nvPr/>
            </p:nvSpPr>
            <p:spPr bwMode="auto">
              <a:xfrm>
                <a:off x="1572" y="1784"/>
                <a:ext cx="0" cy="212"/>
              </a:xfrm>
              <a:prstGeom prst="line">
                <a:avLst/>
              </a:prstGeom>
              <a:noFill/>
              <a:ln w="12700" cap="sq">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48">
                <a:extLst>
                  <a:ext uri="{FF2B5EF4-FFF2-40B4-BE49-F238E27FC236}">
                    <a16:creationId xmlns:a16="http://schemas.microsoft.com/office/drawing/2014/main" id="{D7EB4879-F7CF-5064-0FDC-DC5E5991D669}"/>
                  </a:ext>
                </a:extLst>
              </p:cNvPr>
              <p:cNvSpPr>
                <a:spLocks noChangeShapeType="1"/>
              </p:cNvSpPr>
              <p:nvPr/>
            </p:nvSpPr>
            <p:spPr bwMode="auto">
              <a:xfrm flipH="1">
                <a:off x="1532" y="2000"/>
                <a:ext cx="188" cy="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Object 49">
                <a:extLst>
                  <a:ext uri="{FF2B5EF4-FFF2-40B4-BE49-F238E27FC236}">
                    <a16:creationId xmlns:a16="http://schemas.microsoft.com/office/drawing/2014/main" id="{BF86D61B-0B01-514E-1E7B-CE80894BE860}"/>
                  </a:ext>
                </a:extLst>
              </p:cNvPr>
              <p:cNvGraphicFramePr>
                <a:graphicFrameLocks noChangeAspect="1"/>
              </p:cNvGraphicFramePr>
              <p:nvPr>
                <p:extLst/>
              </p:nvPr>
            </p:nvGraphicFramePr>
            <p:xfrm>
              <a:off x="1372" y="1805"/>
              <a:ext cx="157" cy="180"/>
            </p:xfrm>
            <a:graphic>
              <a:graphicData uri="http://schemas.openxmlformats.org/presentationml/2006/ole">
                <mc:AlternateContent xmlns:mc="http://schemas.openxmlformats.org/markup-compatibility/2006">
                  <mc:Choice xmlns:v="urn:schemas-microsoft-com:vml" Requires="v">
                    <p:oleObj spid="_x0000_s31855" name="公式" r:id="rId14" imgW="177480" imgH="203040" progId="Equation.3">
                      <p:embed/>
                    </p:oleObj>
                  </mc:Choice>
                  <mc:Fallback>
                    <p:oleObj name="公式" r:id="rId14" imgW="177480" imgH="203040" progId="Equation.3">
                      <p:embed/>
                      <p:pic>
                        <p:nvPicPr>
                          <p:cNvPr id="13" name="Object 49">
                            <a:extLst>
                              <a:ext uri="{FF2B5EF4-FFF2-40B4-BE49-F238E27FC236}">
                                <a16:creationId xmlns:a16="http://schemas.microsoft.com/office/drawing/2014/main" id="{BF86D61B-0B01-514E-1E7B-CE80894BE860}"/>
                              </a:ext>
                            </a:extLst>
                          </p:cNvPr>
                          <p:cNvPicPr>
                            <a:picLocks noChangeAspect="1" noChangeArrowheads="1"/>
                          </p:cNvPicPr>
                          <p:nvPr/>
                        </p:nvPicPr>
                        <p:blipFill>
                          <a:blip r:embed="rId15"/>
                          <a:srcRect/>
                          <a:stretch>
                            <a:fillRect/>
                          </a:stretch>
                        </p:blipFill>
                        <p:spPr bwMode="auto">
                          <a:xfrm>
                            <a:off x="1372" y="1805"/>
                            <a:ext cx="15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38" name="Group 55">
            <a:extLst>
              <a:ext uri="{FF2B5EF4-FFF2-40B4-BE49-F238E27FC236}">
                <a16:creationId xmlns:a16="http://schemas.microsoft.com/office/drawing/2014/main" id="{E7AA8D6B-991E-0BFB-F5A7-1F87BC417EDF}"/>
              </a:ext>
            </a:extLst>
          </p:cNvPr>
          <p:cNvGrpSpPr>
            <a:grpSpLocks/>
          </p:cNvGrpSpPr>
          <p:nvPr/>
        </p:nvGrpSpPr>
        <p:grpSpPr bwMode="auto">
          <a:xfrm>
            <a:off x="1193599" y="2184429"/>
            <a:ext cx="4301136" cy="647018"/>
            <a:chOff x="663" y="1445"/>
            <a:chExt cx="2678" cy="352"/>
          </a:xfrm>
        </p:grpSpPr>
        <p:graphicFrame>
          <p:nvGraphicFramePr>
            <p:cNvPr id="39" name="Object 7">
              <a:extLst>
                <a:ext uri="{FF2B5EF4-FFF2-40B4-BE49-F238E27FC236}">
                  <a16:creationId xmlns:a16="http://schemas.microsoft.com/office/drawing/2014/main" id="{329C299D-FC72-B2CA-A522-132DF61D0338}"/>
                </a:ext>
              </a:extLst>
            </p:cNvPr>
            <p:cNvGraphicFramePr>
              <a:graphicFrameLocks noChangeAspect="1"/>
            </p:cNvGraphicFramePr>
            <p:nvPr>
              <p:extLst/>
            </p:nvPr>
          </p:nvGraphicFramePr>
          <p:xfrm>
            <a:off x="663" y="1488"/>
            <a:ext cx="576" cy="256"/>
          </p:xfrm>
          <a:graphic>
            <a:graphicData uri="http://schemas.openxmlformats.org/presentationml/2006/ole">
              <mc:AlternateContent xmlns:mc="http://schemas.openxmlformats.org/markup-compatibility/2006">
                <mc:Choice xmlns:v="urn:schemas-microsoft-com:vml" Requires="v">
                  <p:oleObj spid="_x0000_s31856" name="公式" r:id="rId16" imgW="457200" imgH="203040" progId="Equation.3">
                    <p:embed/>
                  </p:oleObj>
                </mc:Choice>
                <mc:Fallback>
                  <p:oleObj name="公式" r:id="rId16" imgW="457200" imgH="203040" progId="Equation.3">
                    <p:embed/>
                    <p:pic>
                      <p:nvPicPr>
                        <p:cNvPr id="39" name="Object 7">
                          <a:extLst>
                            <a:ext uri="{FF2B5EF4-FFF2-40B4-BE49-F238E27FC236}">
                              <a16:creationId xmlns:a16="http://schemas.microsoft.com/office/drawing/2014/main" id="{329C299D-FC72-B2CA-A522-132DF61D0338}"/>
                            </a:ext>
                          </a:extLst>
                        </p:cNvPr>
                        <p:cNvPicPr>
                          <a:picLocks noChangeAspect="1" noChangeArrowheads="1"/>
                        </p:cNvPicPr>
                        <p:nvPr/>
                      </p:nvPicPr>
                      <p:blipFill>
                        <a:blip r:embed="rId17"/>
                        <a:srcRect/>
                        <a:stretch>
                          <a:fillRect/>
                        </a:stretch>
                      </p:blipFill>
                      <p:spPr bwMode="auto">
                        <a:xfrm>
                          <a:off x="663" y="1488"/>
                          <a:ext cx="576"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8">
              <a:extLst>
                <a:ext uri="{FF2B5EF4-FFF2-40B4-BE49-F238E27FC236}">
                  <a16:creationId xmlns:a16="http://schemas.microsoft.com/office/drawing/2014/main" id="{7A783EC9-1062-D1C9-2A1C-03AB160377D6}"/>
                </a:ext>
              </a:extLst>
            </p:cNvPr>
            <p:cNvGraphicFramePr>
              <a:graphicFrameLocks noChangeAspect="1"/>
            </p:cNvGraphicFramePr>
            <p:nvPr>
              <p:extLst/>
            </p:nvPr>
          </p:nvGraphicFramePr>
          <p:xfrm>
            <a:off x="1433" y="1464"/>
            <a:ext cx="848" cy="288"/>
          </p:xfrm>
          <a:graphic>
            <a:graphicData uri="http://schemas.openxmlformats.org/presentationml/2006/ole">
              <mc:AlternateContent xmlns:mc="http://schemas.openxmlformats.org/markup-compatibility/2006">
                <mc:Choice xmlns:v="urn:schemas-microsoft-com:vml" Requires="v">
                  <p:oleObj spid="_x0000_s31857" name="Equation" r:id="rId18" imgW="672840" imgH="228600" progId="Equation.DSMT4">
                    <p:embed/>
                  </p:oleObj>
                </mc:Choice>
                <mc:Fallback>
                  <p:oleObj name="Equation" r:id="rId18" imgW="672840" imgH="228600" progId="Equation.DSMT4">
                    <p:embed/>
                    <p:pic>
                      <p:nvPicPr>
                        <p:cNvPr id="40" name="Object 8">
                          <a:extLst>
                            <a:ext uri="{FF2B5EF4-FFF2-40B4-BE49-F238E27FC236}">
                              <a16:creationId xmlns:a16="http://schemas.microsoft.com/office/drawing/2014/main" id="{7A783EC9-1062-D1C9-2A1C-03AB160377D6}"/>
                            </a:ext>
                          </a:extLst>
                        </p:cNvPr>
                        <p:cNvPicPr>
                          <a:picLocks noChangeAspect="1" noChangeArrowheads="1"/>
                        </p:cNvPicPr>
                        <p:nvPr/>
                      </p:nvPicPr>
                      <p:blipFill>
                        <a:blip r:embed="rId19"/>
                        <a:srcRect/>
                        <a:stretch>
                          <a:fillRect/>
                        </a:stretch>
                      </p:blipFill>
                      <p:spPr bwMode="auto">
                        <a:xfrm>
                          <a:off x="1433" y="1464"/>
                          <a:ext cx="8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9">
              <a:extLst>
                <a:ext uri="{FF2B5EF4-FFF2-40B4-BE49-F238E27FC236}">
                  <a16:creationId xmlns:a16="http://schemas.microsoft.com/office/drawing/2014/main" id="{A039B885-EA1D-04B9-5BFD-3C4B00683C8F}"/>
                </a:ext>
              </a:extLst>
            </p:cNvPr>
            <p:cNvGraphicFramePr>
              <a:graphicFrameLocks noChangeAspect="1"/>
            </p:cNvGraphicFramePr>
            <p:nvPr>
              <p:extLst/>
            </p:nvPr>
          </p:nvGraphicFramePr>
          <p:xfrm>
            <a:off x="2429" y="1445"/>
            <a:ext cx="912" cy="352"/>
          </p:xfrm>
          <a:graphic>
            <a:graphicData uri="http://schemas.openxmlformats.org/presentationml/2006/ole">
              <mc:AlternateContent xmlns:mc="http://schemas.openxmlformats.org/markup-compatibility/2006">
                <mc:Choice xmlns:v="urn:schemas-microsoft-com:vml" Requires="v">
                  <p:oleObj spid="_x0000_s31858" name="公式" r:id="rId20" imgW="723600" imgH="279360" progId="Equation.3">
                    <p:embed/>
                  </p:oleObj>
                </mc:Choice>
                <mc:Fallback>
                  <p:oleObj name="公式" r:id="rId20" imgW="723600" imgH="279360" progId="Equation.3">
                    <p:embed/>
                    <p:pic>
                      <p:nvPicPr>
                        <p:cNvPr id="41" name="Object 9">
                          <a:extLst>
                            <a:ext uri="{FF2B5EF4-FFF2-40B4-BE49-F238E27FC236}">
                              <a16:creationId xmlns:a16="http://schemas.microsoft.com/office/drawing/2014/main" id="{A039B885-EA1D-04B9-5BFD-3C4B00683C8F}"/>
                            </a:ext>
                          </a:extLst>
                        </p:cNvPr>
                        <p:cNvPicPr>
                          <a:picLocks noChangeAspect="1" noChangeArrowheads="1"/>
                        </p:cNvPicPr>
                        <p:nvPr/>
                      </p:nvPicPr>
                      <p:blipFill>
                        <a:blip r:embed="rId21"/>
                        <a:srcRect/>
                        <a:stretch>
                          <a:fillRect/>
                        </a:stretch>
                      </p:blipFill>
                      <p:spPr bwMode="auto">
                        <a:xfrm>
                          <a:off x="2429" y="1445"/>
                          <a:ext cx="912"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AutoShape 10">
              <a:extLst>
                <a:ext uri="{FF2B5EF4-FFF2-40B4-BE49-F238E27FC236}">
                  <a16:creationId xmlns:a16="http://schemas.microsoft.com/office/drawing/2014/main" id="{1707A89A-1516-0D62-8D7A-10D305BFD580}"/>
                </a:ext>
              </a:extLst>
            </p:cNvPr>
            <p:cNvSpPr>
              <a:spLocks noChangeArrowheads="1"/>
            </p:cNvSpPr>
            <p:nvPr/>
          </p:nvSpPr>
          <p:spPr bwMode="auto">
            <a:xfrm>
              <a:off x="3114" y="1530"/>
              <a:ext cx="94" cy="156"/>
            </a:xfrm>
            <a:prstGeom prst="curvedRightArrow">
              <a:avLst>
                <a:gd name="adj1" fmla="val 33191"/>
                <a:gd name="adj2" fmla="val 66383"/>
                <a:gd name="adj3" fmla="val 33333"/>
              </a:avLst>
            </a:prstGeom>
            <a:solidFill>
              <a:schemeClr val="tx2"/>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graphicFrame>
        <p:nvGraphicFramePr>
          <p:cNvPr id="43" name="Object 12">
            <a:extLst>
              <a:ext uri="{FF2B5EF4-FFF2-40B4-BE49-F238E27FC236}">
                <a16:creationId xmlns:a16="http://schemas.microsoft.com/office/drawing/2014/main" id="{944A9ACC-07B6-8C5F-5343-FF8A59527F66}"/>
              </a:ext>
            </a:extLst>
          </p:cNvPr>
          <p:cNvGraphicFramePr>
            <a:graphicFrameLocks noChangeAspect="1"/>
          </p:cNvGraphicFramePr>
          <p:nvPr>
            <p:extLst/>
          </p:nvPr>
        </p:nvGraphicFramePr>
        <p:xfrm>
          <a:off x="1649413" y="3251200"/>
          <a:ext cx="2505075" cy="460375"/>
        </p:xfrm>
        <a:graphic>
          <a:graphicData uri="http://schemas.openxmlformats.org/presentationml/2006/ole">
            <mc:AlternateContent xmlns:mc="http://schemas.openxmlformats.org/markup-compatibility/2006">
              <mc:Choice xmlns:v="urn:schemas-microsoft-com:vml" Requires="v">
                <p:oleObj spid="_x0000_s31859" name="Equation" r:id="rId22" imgW="1104840" imgH="203040" progId="Equation.DSMT4">
                  <p:embed/>
                </p:oleObj>
              </mc:Choice>
              <mc:Fallback>
                <p:oleObj name="Equation" r:id="rId22" imgW="1104840" imgH="203040" progId="Equation.DSMT4">
                  <p:embed/>
                  <p:pic>
                    <p:nvPicPr>
                      <p:cNvPr id="43" name="Object 12">
                        <a:extLst>
                          <a:ext uri="{FF2B5EF4-FFF2-40B4-BE49-F238E27FC236}">
                            <a16:creationId xmlns:a16="http://schemas.microsoft.com/office/drawing/2014/main" id="{944A9ACC-07B6-8C5F-5343-FF8A59527F66}"/>
                          </a:ext>
                        </a:extLst>
                      </p:cNvPr>
                      <p:cNvPicPr>
                        <a:picLocks noChangeAspect="1" noChangeArrowheads="1"/>
                      </p:cNvPicPr>
                      <p:nvPr/>
                    </p:nvPicPr>
                    <p:blipFill>
                      <a:blip r:embed="rId23"/>
                      <a:srcRect/>
                      <a:stretch>
                        <a:fillRect/>
                      </a:stretch>
                    </p:blipFill>
                    <p:spPr bwMode="auto">
                      <a:xfrm>
                        <a:off x="1649413" y="3251200"/>
                        <a:ext cx="2505075" cy="460375"/>
                      </a:xfrm>
                      <a:prstGeom prst="rect">
                        <a:avLst/>
                      </a:prstGeom>
                      <a:noFill/>
                      <a:ln>
                        <a:noFill/>
                      </a:ln>
                      <a:effectLst/>
                    </p:spPr>
                  </p:pic>
                </p:oleObj>
              </mc:Fallback>
            </mc:AlternateContent>
          </a:graphicData>
        </a:graphic>
      </p:graphicFrame>
      <p:sp>
        <p:nvSpPr>
          <p:cNvPr id="44" name="矩形 43">
            <a:extLst>
              <a:ext uri="{FF2B5EF4-FFF2-40B4-BE49-F238E27FC236}">
                <a16:creationId xmlns:a16="http://schemas.microsoft.com/office/drawing/2014/main" id="{08211CFD-EFDE-57CB-1D38-EAC0B8497A77}"/>
              </a:ext>
            </a:extLst>
          </p:cNvPr>
          <p:cNvSpPr/>
          <p:nvPr/>
        </p:nvSpPr>
        <p:spPr>
          <a:xfrm>
            <a:off x="211183" y="3610784"/>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3)  </a:t>
            </a:r>
            <a:r>
              <a:rPr kumimoji="1" lang="zh-CN" altLang="en-US" i="0" dirty="0">
                <a:solidFill>
                  <a:srgbClr val="000000"/>
                </a:solidFill>
                <a:ea typeface="黑体" panose="02010609060101010101" pitchFamily="49" charset="-122"/>
              </a:rPr>
              <a:t>列挠曲线近似微分方程</a:t>
            </a:r>
            <a:endParaRPr kumimoji="1" lang="en-US" altLang="zh-CN" i="0" dirty="0">
              <a:solidFill>
                <a:srgbClr val="000000"/>
              </a:solidFill>
              <a:ea typeface="黑体" panose="02010609060101010101" pitchFamily="49" charset="-122"/>
            </a:endParaRPr>
          </a:p>
        </p:txBody>
      </p:sp>
      <p:graphicFrame>
        <p:nvGraphicFramePr>
          <p:cNvPr id="46" name="Object 13">
            <a:extLst>
              <a:ext uri="{FF2B5EF4-FFF2-40B4-BE49-F238E27FC236}">
                <a16:creationId xmlns:a16="http://schemas.microsoft.com/office/drawing/2014/main" id="{61642D48-FEBC-8A21-62AC-3CA411BBE28A}"/>
              </a:ext>
            </a:extLst>
          </p:cNvPr>
          <p:cNvGraphicFramePr>
            <a:graphicFrameLocks noChangeAspect="1"/>
          </p:cNvGraphicFramePr>
          <p:nvPr>
            <p:extLst/>
          </p:nvPr>
        </p:nvGraphicFramePr>
        <p:xfrm>
          <a:off x="1498382" y="4224338"/>
          <a:ext cx="3225800" cy="457200"/>
        </p:xfrm>
        <a:graphic>
          <a:graphicData uri="http://schemas.openxmlformats.org/presentationml/2006/ole">
            <mc:AlternateContent xmlns:mc="http://schemas.openxmlformats.org/markup-compatibility/2006">
              <mc:Choice xmlns:v="urn:schemas-microsoft-com:vml" Requires="v">
                <p:oleObj spid="_x0000_s31860" name="Equation" r:id="rId24" imgW="1612800" imgH="228600" progId="Equation.DSMT4">
                  <p:embed/>
                </p:oleObj>
              </mc:Choice>
              <mc:Fallback>
                <p:oleObj name="Equation" r:id="rId24" imgW="1612800" imgH="228600" progId="Equation.DSMT4">
                  <p:embed/>
                  <p:pic>
                    <p:nvPicPr>
                      <p:cNvPr id="46" name="Object 13">
                        <a:extLst>
                          <a:ext uri="{FF2B5EF4-FFF2-40B4-BE49-F238E27FC236}">
                            <a16:creationId xmlns:a16="http://schemas.microsoft.com/office/drawing/2014/main" id="{61642D48-FEBC-8A21-62AC-3CA411BBE28A}"/>
                          </a:ext>
                        </a:extLst>
                      </p:cNvPr>
                      <p:cNvPicPr>
                        <a:picLocks noChangeAspect="1" noChangeArrowheads="1"/>
                      </p:cNvPicPr>
                      <p:nvPr/>
                    </p:nvPicPr>
                    <p:blipFill>
                      <a:blip r:embed="rId25"/>
                      <a:srcRect/>
                      <a:stretch>
                        <a:fillRect/>
                      </a:stretch>
                    </p:blipFill>
                    <p:spPr bwMode="auto">
                      <a:xfrm>
                        <a:off x="1498382" y="4224338"/>
                        <a:ext cx="322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矩形 46">
            <a:extLst>
              <a:ext uri="{FF2B5EF4-FFF2-40B4-BE49-F238E27FC236}">
                <a16:creationId xmlns:a16="http://schemas.microsoft.com/office/drawing/2014/main" id="{6A583BE8-E57F-B644-4A48-E5826F964DE6}"/>
              </a:ext>
            </a:extLst>
          </p:cNvPr>
          <p:cNvSpPr/>
          <p:nvPr/>
        </p:nvSpPr>
        <p:spPr>
          <a:xfrm>
            <a:off x="211183" y="4559315"/>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4)  </a:t>
            </a:r>
            <a:r>
              <a:rPr kumimoji="1" lang="zh-CN" altLang="en-US" i="0" dirty="0">
                <a:solidFill>
                  <a:srgbClr val="000000"/>
                </a:solidFill>
                <a:ea typeface="黑体" panose="02010609060101010101" pitchFamily="49" charset="-122"/>
              </a:rPr>
              <a:t>积分得转角方程和挠曲线方程</a:t>
            </a:r>
            <a:endParaRPr kumimoji="1" lang="en-US" altLang="zh-CN" i="0" dirty="0">
              <a:solidFill>
                <a:srgbClr val="000000"/>
              </a:solidFill>
              <a:ea typeface="黑体" panose="02010609060101010101" pitchFamily="49" charset="-122"/>
            </a:endParaRPr>
          </a:p>
        </p:txBody>
      </p:sp>
      <p:graphicFrame>
        <p:nvGraphicFramePr>
          <p:cNvPr id="49" name="Object 13">
            <a:extLst>
              <a:ext uri="{FF2B5EF4-FFF2-40B4-BE49-F238E27FC236}">
                <a16:creationId xmlns:a16="http://schemas.microsoft.com/office/drawing/2014/main" id="{46196D26-4724-D4BE-8717-7ECB13CD6E13}"/>
              </a:ext>
            </a:extLst>
          </p:cNvPr>
          <p:cNvGraphicFramePr>
            <a:graphicFrameLocks noChangeAspect="1"/>
          </p:cNvGraphicFramePr>
          <p:nvPr>
            <p:extLst/>
          </p:nvPr>
        </p:nvGraphicFramePr>
        <p:xfrm>
          <a:off x="1349685" y="5162550"/>
          <a:ext cx="4216400" cy="482600"/>
        </p:xfrm>
        <a:graphic>
          <a:graphicData uri="http://schemas.openxmlformats.org/presentationml/2006/ole">
            <mc:AlternateContent xmlns:mc="http://schemas.openxmlformats.org/markup-compatibility/2006">
              <mc:Choice xmlns:v="urn:schemas-microsoft-com:vml" Requires="v">
                <p:oleObj spid="_x0000_s31861" name="Equation" r:id="rId26" imgW="2108160" imgH="241200" progId="Equation.DSMT4">
                  <p:embed/>
                </p:oleObj>
              </mc:Choice>
              <mc:Fallback>
                <p:oleObj name="Equation" r:id="rId26" imgW="2108160" imgH="241200" progId="Equation.DSMT4">
                  <p:embed/>
                  <p:pic>
                    <p:nvPicPr>
                      <p:cNvPr id="49" name="Object 13">
                        <a:extLst>
                          <a:ext uri="{FF2B5EF4-FFF2-40B4-BE49-F238E27FC236}">
                            <a16:creationId xmlns:a16="http://schemas.microsoft.com/office/drawing/2014/main" id="{46196D26-4724-D4BE-8717-7ECB13CD6E13}"/>
                          </a:ext>
                        </a:extLst>
                      </p:cNvPr>
                      <p:cNvPicPr>
                        <a:picLocks noChangeAspect="1" noChangeArrowheads="1"/>
                      </p:cNvPicPr>
                      <p:nvPr/>
                    </p:nvPicPr>
                    <p:blipFill>
                      <a:blip r:embed="rId27"/>
                      <a:srcRect/>
                      <a:stretch>
                        <a:fillRect/>
                      </a:stretch>
                    </p:blipFill>
                    <p:spPr bwMode="auto">
                      <a:xfrm>
                        <a:off x="1349685" y="5162550"/>
                        <a:ext cx="4216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3">
            <a:extLst>
              <a:ext uri="{FF2B5EF4-FFF2-40B4-BE49-F238E27FC236}">
                <a16:creationId xmlns:a16="http://schemas.microsoft.com/office/drawing/2014/main" id="{9FF185A8-6149-AA5B-C69E-16C17FF01918}"/>
              </a:ext>
            </a:extLst>
          </p:cNvPr>
          <p:cNvGraphicFramePr>
            <a:graphicFrameLocks noChangeAspect="1"/>
          </p:cNvGraphicFramePr>
          <p:nvPr>
            <p:extLst/>
          </p:nvPr>
        </p:nvGraphicFramePr>
        <p:xfrm>
          <a:off x="6170613" y="5162550"/>
          <a:ext cx="4445000" cy="482600"/>
        </p:xfrm>
        <a:graphic>
          <a:graphicData uri="http://schemas.openxmlformats.org/presentationml/2006/ole">
            <mc:AlternateContent xmlns:mc="http://schemas.openxmlformats.org/markup-compatibility/2006">
              <mc:Choice xmlns:v="urn:schemas-microsoft-com:vml" Requires="v">
                <p:oleObj spid="_x0000_s31862" name="Equation" r:id="rId28" imgW="2222280" imgH="241200" progId="Equation.DSMT4">
                  <p:embed/>
                </p:oleObj>
              </mc:Choice>
              <mc:Fallback>
                <p:oleObj name="Equation" r:id="rId28" imgW="2222280" imgH="241200" progId="Equation.DSMT4">
                  <p:embed/>
                  <p:pic>
                    <p:nvPicPr>
                      <p:cNvPr id="51" name="Object 13">
                        <a:extLst>
                          <a:ext uri="{FF2B5EF4-FFF2-40B4-BE49-F238E27FC236}">
                            <a16:creationId xmlns:a16="http://schemas.microsoft.com/office/drawing/2014/main" id="{9FF185A8-6149-AA5B-C69E-16C17FF01918}"/>
                          </a:ext>
                        </a:extLst>
                      </p:cNvPr>
                      <p:cNvPicPr>
                        <a:picLocks noChangeAspect="1" noChangeArrowheads="1"/>
                      </p:cNvPicPr>
                      <p:nvPr/>
                    </p:nvPicPr>
                    <p:blipFill>
                      <a:blip r:embed="rId29"/>
                      <a:srcRect/>
                      <a:stretch>
                        <a:fillRect/>
                      </a:stretch>
                    </p:blipFill>
                    <p:spPr bwMode="auto">
                      <a:xfrm>
                        <a:off x="6170613" y="5162550"/>
                        <a:ext cx="44450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782353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blinds(horizontal)">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wipe(left)">
                                      <p:cBhvr>
                                        <p:cTn id="46" dur="500"/>
                                        <p:tgtEl>
                                          <p:spTgt spid="4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wipe(left)">
                                      <p:cBhvr>
                                        <p:cTn id="5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44" grpId="0"/>
      <p:bldP spid="4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92" name="矩形 91">
            <a:extLst>
              <a:ext uri="{FF2B5EF4-FFF2-40B4-BE49-F238E27FC236}">
                <a16:creationId xmlns:a16="http://schemas.microsoft.com/office/drawing/2014/main" id="{E8DB0D0A-8BE9-6ADA-6C58-96049487BA32}"/>
              </a:ext>
            </a:extLst>
          </p:cNvPr>
          <p:cNvSpPr/>
          <p:nvPr/>
        </p:nvSpPr>
        <p:spPr>
          <a:xfrm>
            <a:off x="211183" y="814374"/>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5)</a:t>
            </a:r>
            <a:r>
              <a:rPr kumimoji="1" lang="zh-CN" altLang="en-US" b="0" i="0" dirty="0">
                <a:solidFill>
                  <a:srgbClr val="FFFFFF"/>
                </a:solidFill>
                <a:ea typeface="黑体" panose="02010609060101010101" pitchFamily="49" charset="-122"/>
              </a:rPr>
              <a:t>由</a:t>
            </a:r>
            <a:r>
              <a:rPr kumimoji="1" lang="zh-CN" altLang="en-US" i="0" dirty="0">
                <a:solidFill>
                  <a:srgbClr val="000000"/>
                </a:solidFill>
                <a:ea typeface="黑体" panose="02010609060101010101" pitchFamily="49" charset="-122"/>
              </a:rPr>
              <a:t>边界条件定积分常数。</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4" name="Group 18">
            <a:extLst>
              <a:ext uri="{FF2B5EF4-FFF2-40B4-BE49-F238E27FC236}">
                <a16:creationId xmlns:a16="http://schemas.microsoft.com/office/drawing/2014/main" id="{1F1D6A8D-1750-45EF-552B-C3CB9F018AAF}"/>
              </a:ext>
            </a:extLst>
          </p:cNvPr>
          <p:cNvGrpSpPr>
            <a:grpSpLocks/>
          </p:cNvGrpSpPr>
          <p:nvPr/>
        </p:nvGrpSpPr>
        <p:grpSpPr bwMode="auto">
          <a:xfrm>
            <a:off x="7911093" y="1751771"/>
            <a:ext cx="3297905" cy="1788075"/>
            <a:chOff x="534" y="1352"/>
            <a:chExt cx="1695" cy="883"/>
          </a:xfrm>
        </p:grpSpPr>
        <p:sp>
          <p:nvSpPr>
            <p:cNvPr id="5" name="Arc 19">
              <a:extLst>
                <a:ext uri="{FF2B5EF4-FFF2-40B4-BE49-F238E27FC236}">
                  <a16:creationId xmlns:a16="http://schemas.microsoft.com/office/drawing/2014/main" id="{D5FF9335-74ED-1A46-CB5F-8D5A4EC1563F}"/>
                </a:ext>
              </a:extLst>
            </p:cNvPr>
            <p:cNvSpPr>
              <a:spLocks/>
            </p:cNvSpPr>
            <p:nvPr/>
          </p:nvSpPr>
          <p:spPr bwMode="auto">
            <a:xfrm>
              <a:off x="690" y="1793"/>
              <a:ext cx="1036" cy="262"/>
            </a:xfrm>
            <a:custGeom>
              <a:avLst/>
              <a:gdLst>
                <a:gd name="G0" fmla="+- 0 0 0"/>
                <a:gd name="G1" fmla="+- 21600 0 0"/>
                <a:gd name="G2" fmla="+- 21600 0 0"/>
                <a:gd name="T0" fmla="*/ 0 w 21267"/>
                <a:gd name="T1" fmla="*/ 0 h 21600"/>
                <a:gd name="T2" fmla="*/ 21267 w 21267"/>
                <a:gd name="T3" fmla="*/ 17822 h 21600"/>
                <a:gd name="T4" fmla="*/ 0 w 21267"/>
                <a:gd name="T5" fmla="*/ 21600 h 21600"/>
              </a:gdLst>
              <a:ahLst/>
              <a:cxnLst>
                <a:cxn ang="0">
                  <a:pos x="T0" y="T1"/>
                </a:cxn>
                <a:cxn ang="0">
                  <a:pos x="T2" y="T3"/>
                </a:cxn>
                <a:cxn ang="0">
                  <a:pos x="T4" y="T5"/>
                </a:cxn>
              </a:cxnLst>
              <a:rect l="0" t="0" r="r" b="b"/>
              <a:pathLst>
                <a:path w="21267" h="21600" fill="none" extrusionOk="0">
                  <a:moveTo>
                    <a:pt x="0" y="0"/>
                  </a:moveTo>
                  <a:cubicBezTo>
                    <a:pt x="10471" y="0"/>
                    <a:pt x="19435" y="7511"/>
                    <a:pt x="21267" y="17821"/>
                  </a:cubicBezTo>
                </a:path>
                <a:path w="21267" h="21600" stroke="0" extrusionOk="0">
                  <a:moveTo>
                    <a:pt x="0" y="0"/>
                  </a:moveTo>
                  <a:cubicBezTo>
                    <a:pt x="10471" y="0"/>
                    <a:pt x="19435" y="7511"/>
                    <a:pt x="21267" y="17821"/>
                  </a:cubicBezTo>
                  <a:lnTo>
                    <a:pt x="0" y="21600"/>
                  </a:lnTo>
                  <a:close/>
                </a:path>
              </a:pathLst>
            </a:custGeom>
            <a:noFill/>
            <a:ln w="31750">
              <a:solidFill>
                <a:srgbClr val="FF66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0">
              <a:extLst>
                <a:ext uri="{FF2B5EF4-FFF2-40B4-BE49-F238E27FC236}">
                  <a16:creationId xmlns:a16="http://schemas.microsoft.com/office/drawing/2014/main" id="{D439E993-6524-48A2-7BB4-8589C576B3E5}"/>
                </a:ext>
              </a:extLst>
            </p:cNvPr>
            <p:cNvGrpSpPr>
              <a:grpSpLocks/>
            </p:cNvGrpSpPr>
            <p:nvPr/>
          </p:nvGrpSpPr>
          <p:grpSpPr bwMode="auto">
            <a:xfrm>
              <a:off x="1704" y="1819"/>
              <a:ext cx="345" cy="305"/>
              <a:chOff x="1704" y="1819"/>
              <a:chExt cx="345" cy="305"/>
            </a:xfrm>
          </p:grpSpPr>
          <p:sp>
            <p:nvSpPr>
              <p:cNvPr id="35" name="Arc 21">
                <a:extLst>
                  <a:ext uri="{FF2B5EF4-FFF2-40B4-BE49-F238E27FC236}">
                    <a16:creationId xmlns:a16="http://schemas.microsoft.com/office/drawing/2014/main" id="{7EAD88FD-D241-D9C7-C6A7-8FD7DBACE42E}"/>
                  </a:ext>
                </a:extLst>
              </p:cNvPr>
              <p:cNvSpPr>
                <a:spLocks/>
              </p:cNvSpPr>
              <p:nvPr/>
            </p:nvSpPr>
            <p:spPr bwMode="auto">
              <a:xfrm rot="8947937" flipH="1">
                <a:off x="1747" y="1819"/>
                <a:ext cx="192" cy="209"/>
              </a:xfrm>
              <a:custGeom>
                <a:avLst/>
                <a:gdLst>
                  <a:gd name="G0" fmla="+- 0 0 0"/>
                  <a:gd name="G1" fmla="+- 21600 0 0"/>
                  <a:gd name="G2" fmla="+- 21600 0 0"/>
                  <a:gd name="T0" fmla="*/ 0 w 21600"/>
                  <a:gd name="T1" fmla="*/ 0 h 23551"/>
                  <a:gd name="T2" fmla="*/ 21512 w 21600"/>
                  <a:gd name="T3" fmla="*/ 23551 h 23551"/>
                  <a:gd name="T4" fmla="*/ 0 w 21600"/>
                  <a:gd name="T5" fmla="*/ 21600 h 23551"/>
                </a:gdLst>
                <a:ahLst/>
                <a:cxnLst>
                  <a:cxn ang="0">
                    <a:pos x="T0" y="T1"/>
                  </a:cxn>
                  <a:cxn ang="0">
                    <a:pos x="T2" y="T3"/>
                  </a:cxn>
                  <a:cxn ang="0">
                    <a:pos x="T4" y="T5"/>
                  </a:cxn>
                </a:cxnLst>
                <a:rect l="0" t="0" r="r" b="b"/>
                <a:pathLst>
                  <a:path w="21600" h="23551" fill="none" extrusionOk="0">
                    <a:moveTo>
                      <a:pt x="0" y="0"/>
                    </a:moveTo>
                    <a:cubicBezTo>
                      <a:pt x="11929" y="0"/>
                      <a:pt x="21600" y="9670"/>
                      <a:pt x="21600" y="21600"/>
                    </a:cubicBezTo>
                    <a:cubicBezTo>
                      <a:pt x="21600" y="22251"/>
                      <a:pt x="21570" y="22902"/>
                      <a:pt x="21511" y="23550"/>
                    </a:cubicBezTo>
                  </a:path>
                  <a:path w="21600" h="23551" stroke="0" extrusionOk="0">
                    <a:moveTo>
                      <a:pt x="0" y="0"/>
                    </a:moveTo>
                    <a:cubicBezTo>
                      <a:pt x="11929" y="0"/>
                      <a:pt x="21600" y="9670"/>
                      <a:pt x="21600" y="21600"/>
                    </a:cubicBezTo>
                    <a:cubicBezTo>
                      <a:pt x="21600" y="22251"/>
                      <a:pt x="21570" y="22902"/>
                      <a:pt x="21511" y="23550"/>
                    </a:cubicBezTo>
                    <a:lnTo>
                      <a:pt x="0" y="21600"/>
                    </a:lnTo>
                    <a:close/>
                  </a:path>
                </a:pathLst>
              </a:custGeom>
              <a:noFill/>
              <a:ln w="9525">
                <a:solidFill>
                  <a:srgbClr val="8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6" name="Object 22">
                <a:extLst>
                  <a:ext uri="{FF2B5EF4-FFF2-40B4-BE49-F238E27FC236}">
                    <a16:creationId xmlns:a16="http://schemas.microsoft.com/office/drawing/2014/main" id="{04D39117-89ED-53FD-ECDE-4E444907C014}"/>
                  </a:ext>
                </a:extLst>
              </p:cNvPr>
              <p:cNvGraphicFramePr>
                <a:graphicFrameLocks noChangeAspect="1"/>
              </p:cNvGraphicFramePr>
              <p:nvPr/>
            </p:nvGraphicFramePr>
            <p:xfrm>
              <a:off x="1901" y="1889"/>
              <a:ext cx="148" cy="181"/>
            </p:xfrm>
            <a:graphic>
              <a:graphicData uri="http://schemas.openxmlformats.org/presentationml/2006/ole">
                <mc:AlternateContent xmlns:mc="http://schemas.openxmlformats.org/markup-compatibility/2006">
                  <mc:Choice xmlns:v="urn:schemas-microsoft-com:vml" Requires="v">
                    <p:oleObj spid="_x0000_s32858" name="公式" r:id="rId4" imgW="164880" imgH="203040" progId="Equation.3">
                      <p:embed/>
                    </p:oleObj>
                  </mc:Choice>
                  <mc:Fallback>
                    <p:oleObj name="公式" r:id="rId4" imgW="164880" imgH="203040" progId="Equation.3">
                      <p:embed/>
                      <p:pic>
                        <p:nvPicPr>
                          <p:cNvPr id="36" name="Object 22">
                            <a:extLst>
                              <a:ext uri="{FF2B5EF4-FFF2-40B4-BE49-F238E27FC236}">
                                <a16:creationId xmlns:a16="http://schemas.microsoft.com/office/drawing/2014/main" id="{04D39117-89ED-53FD-ECDE-4E444907C014}"/>
                              </a:ext>
                            </a:extLst>
                          </p:cNvPr>
                          <p:cNvPicPr>
                            <a:picLocks noChangeAspect="1" noChangeArrowheads="1"/>
                          </p:cNvPicPr>
                          <p:nvPr/>
                        </p:nvPicPr>
                        <p:blipFill>
                          <a:blip r:embed="rId5"/>
                          <a:srcRect/>
                          <a:stretch>
                            <a:fillRect/>
                          </a:stretch>
                        </p:blipFill>
                        <p:spPr bwMode="auto">
                          <a:xfrm>
                            <a:off x="1901" y="1889"/>
                            <a:ext cx="14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a:extLst>
                  <a:ext uri="{FF2B5EF4-FFF2-40B4-BE49-F238E27FC236}">
                    <a16:creationId xmlns:a16="http://schemas.microsoft.com/office/drawing/2014/main" id="{C16AEEDE-A385-BC00-7E2F-656E5D3313ED}"/>
                  </a:ext>
                </a:extLst>
              </p:cNvPr>
              <p:cNvSpPr>
                <a:spLocks noChangeShapeType="1"/>
              </p:cNvSpPr>
              <p:nvPr/>
            </p:nvSpPr>
            <p:spPr bwMode="auto">
              <a:xfrm>
                <a:off x="1704" y="1980"/>
                <a:ext cx="192" cy="144"/>
              </a:xfrm>
              <a:prstGeom prst="line">
                <a:avLst/>
              </a:prstGeom>
              <a:noFill/>
              <a:ln w="127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 name="Group 24">
              <a:extLst>
                <a:ext uri="{FF2B5EF4-FFF2-40B4-BE49-F238E27FC236}">
                  <a16:creationId xmlns:a16="http://schemas.microsoft.com/office/drawing/2014/main" id="{5E7B786F-8695-1D76-0EB3-09FF0D5464D9}"/>
                </a:ext>
              </a:extLst>
            </p:cNvPr>
            <p:cNvGrpSpPr>
              <a:grpSpLocks/>
            </p:cNvGrpSpPr>
            <p:nvPr/>
          </p:nvGrpSpPr>
          <p:grpSpPr bwMode="auto">
            <a:xfrm>
              <a:off x="534" y="1352"/>
              <a:ext cx="1695" cy="883"/>
              <a:chOff x="534" y="1352"/>
              <a:chExt cx="1695" cy="883"/>
            </a:xfrm>
          </p:grpSpPr>
          <p:sp>
            <p:nvSpPr>
              <p:cNvPr id="14" name="Line 25">
                <a:extLst>
                  <a:ext uri="{FF2B5EF4-FFF2-40B4-BE49-F238E27FC236}">
                    <a16:creationId xmlns:a16="http://schemas.microsoft.com/office/drawing/2014/main" id="{6A8BFC58-DDDB-C8DD-CF3D-40B380551B8C}"/>
                  </a:ext>
                </a:extLst>
              </p:cNvPr>
              <p:cNvSpPr>
                <a:spLocks noChangeShapeType="1"/>
              </p:cNvSpPr>
              <p:nvPr/>
            </p:nvSpPr>
            <p:spPr bwMode="auto">
              <a:xfrm>
                <a:off x="682" y="1649"/>
                <a:ext cx="0" cy="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6">
                <a:extLst>
                  <a:ext uri="{FF2B5EF4-FFF2-40B4-BE49-F238E27FC236}">
                    <a16:creationId xmlns:a16="http://schemas.microsoft.com/office/drawing/2014/main" id="{021D6BB4-1CD9-83E2-8A60-5853E2EA030D}"/>
                  </a:ext>
                </a:extLst>
              </p:cNvPr>
              <p:cNvSpPr>
                <a:spLocks noChangeShapeType="1"/>
              </p:cNvSpPr>
              <p:nvPr/>
            </p:nvSpPr>
            <p:spPr bwMode="auto">
              <a:xfrm>
                <a:off x="682" y="1781"/>
                <a:ext cx="1045" cy="0"/>
              </a:xfrm>
              <a:prstGeom prst="line">
                <a:avLst/>
              </a:prstGeom>
              <a:noFill/>
              <a:ln w="635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7">
                <a:extLst>
                  <a:ext uri="{FF2B5EF4-FFF2-40B4-BE49-F238E27FC236}">
                    <a16:creationId xmlns:a16="http://schemas.microsoft.com/office/drawing/2014/main" id="{22164607-DD0E-9F20-B30B-F6A5C5CEA7E5}"/>
                  </a:ext>
                </a:extLst>
              </p:cNvPr>
              <p:cNvSpPr>
                <a:spLocks noChangeShapeType="1"/>
              </p:cNvSpPr>
              <p:nvPr/>
            </p:nvSpPr>
            <p:spPr bwMode="auto">
              <a:xfrm>
                <a:off x="1812" y="1781"/>
                <a:ext cx="242"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7" name="Line 28">
                <a:extLst>
                  <a:ext uri="{FF2B5EF4-FFF2-40B4-BE49-F238E27FC236}">
                    <a16:creationId xmlns:a16="http://schemas.microsoft.com/office/drawing/2014/main" id="{8CAA4202-E08F-EDD1-8F1E-9ACE4D69FE1E}"/>
                  </a:ext>
                </a:extLst>
              </p:cNvPr>
              <p:cNvSpPr>
                <a:spLocks noChangeShapeType="1"/>
              </p:cNvSpPr>
              <p:nvPr/>
            </p:nvSpPr>
            <p:spPr bwMode="auto">
              <a:xfrm flipH="1">
                <a:off x="636" y="1675"/>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1DFAEFEA-37C9-9431-C287-342DC9330811}"/>
                  </a:ext>
                </a:extLst>
              </p:cNvPr>
              <p:cNvSpPr>
                <a:spLocks noChangeShapeType="1"/>
              </p:cNvSpPr>
              <p:nvPr/>
            </p:nvSpPr>
            <p:spPr bwMode="auto">
              <a:xfrm flipH="1">
                <a:off x="636" y="1740"/>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a:extLst>
                  <a:ext uri="{FF2B5EF4-FFF2-40B4-BE49-F238E27FC236}">
                    <a16:creationId xmlns:a16="http://schemas.microsoft.com/office/drawing/2014/main" id="{58CBE591-4A54-DC0F-1B59-21BA521C251F}"/>
                  </a:ext>
                </a:extLst>
              </p:cNvPr>
              <p:cNvSpPr>
                <a:spLocks noChangeShapeType="1"/>
              </p:cNvSpPr>
              <p:nvPr/>
            </p:nvSpPr>
            <p:spPr bwMode="auto">
              <a:xfrm flipH="1">
                <a:off x="636" y="1802"/>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1">
                <a:extLst>
                  <a:ext uri="{FF2B5EF4-FFF2-40B4-BE49-F238E27FC236}">
                    <a16:creationId xmlns:a16="http://schemas.microsoft.com/office/drawing/2014/main" id="{B801AB66-158C-3B52-0129-B104C9F8432B}"/>
                  </a:ext>
                </a:extLst>
              </p:cNvPr>
              <p:cNvSpPr>
                <a:spLocks noChangeShapeType="1"/>
              </p:cNvSpPr>
              <p:nvPr/>
            </p:nvSpPr>
            <p:spPr bwMode="auto">
              <a:xfrm flipH="1">
                <a:off x="636" y="1866"/>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32">
                <a:extLst>
                  <a:ext uri="{FF2B5EF4-FFF2-40B4-BE49-F238E27FC236}">
                    <a16:creationId xmlns:a16="http://schemas.microsoft.com/office/drawing/2014/main" id="{2091CEE8-FCCA-88F3-8B23-78DC1F8C59A0}"/>
                  </a:ext>
                </a:extLst>
              </p:cNvPr>
              <p:cNvSpPr>
                <a:spLocks noChangeShapeType="1"/>
              </p:cNvSpPr>
              <p:nvPr/>
            </p:nvSpPr>
            <p:spPr bwMode="auto">
              <a:xfrm flipV="1">
                <a:off x="684" y="1395"/>
                <a:ext cx="0" cy="211"/>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 name="Text Box 33">
                <a:extLst>
                  <a:ext uri="{FF2B5EF4-FFF2-40B4-BE49-F238E27FC236}">
                    <a16:creationId xmlns:a16="http://schemas.microsoft.com/office/drawing/2014/main" id="{C9FD7866-CA8F-3E58-990A-15B3AA1970C8}"/>
                  </a:ext>
                </a:extLst>
              </p:cNvPr>
              <p:cNvSpPr txBox="1">
                <a:spLocks noChangeArrowheads="1"/>
              </p:cNvSpPr>
              <p:nvPr/>
            </p:nvSpPr>
            <p:spPr bwMode="auto">
              <a:xfrm>
                <a:off x="534" y="1671"/>
                <a:ext cx="1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A</a:t>
                </a:r>
              </a:p>
            </p:txBody>
          </p:sp>
          <p:sp>
            <p:nvSpPr>
              <p:cNvPr id="23" name="Line 34">
                <a:extLst>
                  <a:ext uri="{FF2B5EF4-FFF2-40B4-BE49-F238E27FC236}">
                    <a16:creationId xmlns:a16="http://schemas.microsoft.com/office/drawing/2014/main" id="{C8E7A4E0-DAD0-3EF1-B65C-5FD15DF2514C}"/>
                  </a:ext>
                </a:extLst>
              </p:cNvPr>
              <p:cNvSpPr>
                <a:spLocks noChangeShapeType="1"/>
              </p:cNvSpPr>
              <p:nvPr/>
            </p:nvSpPr>
            <p:spPr bwMode="auto">
              <a:xfrm>
                <a:off x="1066" y="1914"/>
                <a:ext cx="0" cy="1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CAFA6F00-4C74-AFF9-2EBE-4A6F4557587D}"/>
                  </a:ext>
                </a:extLst>
              </p:cNvPr>
              <p:cNvSpPr>
                <a:spLocks noChangeShapeType="1"/>
              </p:cNvSpPr>
              <p:nvPr/>
            </p:nvSpPr>
            <p:spPr bwMode="auto">
              <a:xfrm>
                <a:off x="682" y="1957"/>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7A483E3-475A-EC7B-8C15-73BA1D741AC9}"/>
                  </a:ext>
                </a:extLst>
              </p:cNvPr>
              <p:cNvSpPr>
                <a:spLocks noChangeShapeType="1"/>
              </p:cNvSpPr>
              <p:nvPr/>
            </p:nvSpPr>
            <p:spPr bwMode="auto">
              <a:xfrm>
                <a:off x="1722" y="1799"/>
                <a:ext cx="1" cy="4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7">
                <a:extLst>
                  <a:ext uri="{FF2B5EF4-FFF2-40B4-BE49-F238E27FC236}">
                    <a16:creationId xmlns:a16="http://schemas.microsoft.com/office/drawing/2014/main" id="{F45ED6B6-4E64-6633-821C-081757E18C22}"/>
                  </a:ext>
                </a:extLst>
              </p:cNvPr>
              <p:cNvSpPr>
                <a:spLocks noChangeShapeType="1"/>
              </p:cNvSpPr>
              <p:nvPr/>
            </p:nvSpPr>
            <p:spPr bwMode="auto">
              <a:xfrm>
                <a:off x="684" y="2000"/>
                <a:ext cx="384" cy="0"/>
              </a:xfrm>
              <a:prstGeom prst="line">
                <a:avLst/>
              </a:prstGeom>
              <a:noFill/>
              <a:ln w="127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38">
                <a:extLst>
                  <a:ext uri="{FF2B5EF4-FFF2-40B4-BE49-F238E27FC236}">
                    <a16:creationId xmlns:a16="http://schemas.microsoft.com/office/drawing/2014/main" id="{C6C2C658-D52D-0C90-FCF8-853906EEB350}"/>
                  </a:ext>
                </a:extLst>
              </p:cNvPr>
              <p:cNvSpPr txBox="1">
                <a:spLocks noChangeArrowheads="1"/>
              </p:cNvSpPr>
              <p:nvPr/>
            </p:nvSpPr>
            <p:spPr bwMode="auto">
              <a:xfrm>
                <a:off x="1775" y="1610"/>
                <a:ext cx="10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B</a:t>
                </a:r>
              </a:p>
            </p:txBody>
          </p:sp>
          <p:graphicFrame>
            <p:nvGraphicFramePr>
              <p:cNvPr id="28" name="Object 39">
                <a:extLst>
                  <a:ext uri="{FF2B5EF4-FFF2-40B4-BE49-F238E27FC236}">
                    <a16:creationId xmlns:a16="http://schemas.microsoft.com/office/drawing/2014/main" id="{D7486ADE-3C36-9561-8E0B-2BA676C368D7}"/>
                  </a:ext>
                </a:extLst>
              </p:cNvPr>
              <p:cNvGraphicFramePr>
                <a:graphicFrameLocks noChangeAspect="1"/>
              </p:cNvGraphicFramePr>
              <p:nvPr/>
            </p:nvGraphicFramePr>
            <p:xfrm>
              <a:off x="2096" y="1747"/>
              <a:ext cx="133" cy="150"/>
            </p:xfrm>
            <a:graphic>
              <a:graphicData uri="http://schemas.openxmlformats.org/presentationml/2006/ole">
                <mc:AlternateContent xmlns:mc="http://schemas.openxmlformats.org/markup-compatibility/2006">
                  <mc:Choice xmlns:v="urn:schemas-microsoft-com:vml" Requires="v">
                    <p:oleObj spid="_x0000_s32859" name="公式" r:id="rId6" imgW="114120" imgH="126720" progId="Equation.3">
                      <p:embed/>
                    </p:oleObj>
                  </mc:Choice>
                  <mc:Fallback>
                    <p:oleObj name="公式" r:id="rId6" imgW="114120" imgH="126720" progId="Equation.3">
                      <p:embed/>
                      <p:pic>
                        <p:nvPicPr>
                          <p:cNvPr id="28" name="Object 39">
                            <a:extLst>
                              <a:ext uri="{FF2B5EF4-FFF2-40B4-BE49-F238E27FC236}">
                                <a16:creationId xmlns:a16="http://schemas.microsoft.com/office/drawing/2014/main" id="{D7486ADE-3C36-9561-8E0B-2BA676C368D7}"/>
                              </a:ext>
                            </a:extLst>
                          </p:cNvPr>
                          <p:cNvPicPr>
                            <a:picLocks noChangeAspect="1" noChangeArrowheads="1"/>
                          </p:cNvPicPr>
                          <p:nvPr/>
                        </p:nvPicPr>
                        <p:blipFill>
                          <a:blip r:embed="rId7"/>
                          <a:srcRect/>
                          <a:stretch>
                            <a:fillRect/>
                          </a:stretch>
                        </p:blipFill>
                        <p:spPr bwMode="auto">
                          <a:xfrm>
                            <a:off x="2096" y="1747"/>
                            <a:ext cx="133"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40">
                <a:extLst>
                  <a:ext uri="{FF2B5EF4-FFF2-40B4-BE49-F238E27FC236}">
                    <a16:creationId xmlns:a16="http://schemas.microsoft.com/office/drawing/2014/main" id="{0A1F0090-3129-778A-2820-EDF30E4B979E}"/>
                  </a:ext>
                </a:extLst>
              </p:cNvPr>
              <p:cNvGraphicFramePr>
                <a:graphicFrameLocks noChangeAspect="1"/>
              </p:cNvGraphicFramePr>
              <p:nvPr/>
            </p:nvGraphicFramePr>
            <p:xfrm>
              <a:off x="727" y="1352"/>
              <a:ext cx="136" cy="161"/>
            </p:xfrm>
            <a:graphic>
              <a:graphicData uri="http://schemas.openxmlformats.org/presentationml/2006/ole">
                <mc:AlternateContent xmlns:mc="http://schemas.openxmlformats.org/markup-compatibility/2006">
                  <mc:Choice xmlns:v="urn:schemas-microsoft-com:vml" Requires="v">
                    <p:oleObj spid="_x0000_s32860" name="公式" r:id="rId8" imgW="126720" imgH="152280" progId="Equation.3">
                      <p:embed/>
                    </p:oleObj>
                  </mc:Choice>
                  <mc:Fallback>
                    <p:oleObj name="公式" r:id="rId8" imgW="126720" imgH="152280" progId="Equation.3">
                      <p:embed/>
                      <p:pic>
                        <p:nvPicPr>
                          <p:cNvPr id="29" name="Object 40">
                            <a:extLst>
                              <a:ext uri="{FF2B5EF4-FFF2-40B4-BE49-F238E27FC236}">
                                <a16:creationId xmlns:a16="http://schemas.microsoft.com/office/drawing/2014/main" id="{0A1F0090-3129-778A-2820-EDF30E4B979E}"/>
                              </a:ext>
                            </a:extLst>
                          </p:cNvPr>
                          <p:cNvPicPr>
                            <a:picLocks noChangeAspect="1" noChangeArrowheads="1"/>
                          </p:cNvPicPr>
                          <p:nvPr/>
                        </p:nvPicPr>
                        <p:blipFill>
                          <a:blip r:embed="rId9"/>
                          <a:srcRect/>
                          <a:stretch>
                            <a:fillRect/>
                          </a:stretch>
                        </p:blipFill>
                        <p:spPr bwMode="auto">
                          <a:xfrm>
                            <a:off x="727" y="1352"/>
                            <a:ext cx="136"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41">
                <a:extLst>
                  <a:ext uri="{FF2B5EF4-FFF2-40B4-BE49-F238E27FC236}">
                    <a16:creationId xmlns:a16="http://schemas.microsoft.com/office/drawing/2014/main" id="{15FFB42D-F500-917C-6AFD-022CBDF99F8D}"/>
                  </a:ext>
                </a:extLst>
              </p:cNvPr>
              <p:cNvGraphicFramePr>
                <a:graphicFrameLocks noChangeAspect="1"/>
              </p:cNvGraphicFramePr>
              <p:nvPr/>
            </p:nvGraphicFramePr>
            <p:xfrm>
              <a:off x="804" y="1860"/>
              <a:ext cx="114" cy="129"/>
            </p:xfrm>
            <a:graphic>
              <a:graphicData uri="http://schemas.openxmlformats.org/presentationml/2006/ole">
                <mc:AlternateContent xmlns:mc="http://schemas.openxmlformats.org/markup-compatibility/2006">
                  <mc:Choice xmlns:v="urn:schemas-microsoft-com:vml" Requires="v">
                    <p:oleObj spid="_x0000_s32861" name="公式" r:id="rId10" imgW="114120" imgH="126720" progId="Equation.3">
                      <p:embed/>
                    </p:oleObj>
                  </mc:Choice>
                  <mc:Fallback>
                    <p:oleObj name="公式" r:id="rId10" imgW="114120" imgH="126720" progId="Equation.3">
                      <p:embed/>
                      <p:pic>
                        <p:nvPicPr>
                          <p:cNvPr id="30" name="Object 41">
                            <a:extLst>
                              <a:ext uri="{FF2B5EF4-FFF2-40B4-BE49-F238E27FC236}">
                                <a16:creationId xmlns:a16="http://schemas.microsoft.com/office/drawing/2014/main" id="{15FFB42D-F500-917C-6AFD-022CBDF99F8D}"/>
                              </a:ext>
                            </a:extLst>
                          </p:cNvPr>
                          <p:cNvPicPr>
                            <a:picLocks noChangeAspect="1" noChangeArrowheads="1"/>
                          </p:cNvPicPr>
                          <p:nvPr/>
                        </p:nvPicPr>
                        <p:blipFill>
                          <a:blip r:embed="rId11"/>
                          <a:srcRect/>
                          <a:stretch>
                            <a:fillRect/>
                          </a:stretch>
                        </p:blipFill>
                        <p:spPr bwMode="auto">
                          <a:xfrm>
                            <a:off x="804" y="1860"/>
                            <a:ext cx="11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42">
                <a:extLst>
                  <a:ext uri="{FF2B5EF4-FFF2-40B4-BE49-F238E27FC236}">
                    <a16:creationId xmlns:a16="http://schemas.microsoft.com/office/drawing/2014/main" id="{F07521E1-E19D-F530-CB8C-9C3B8CA34811}"/>
                  </a:ext>
                </a:extLst>
              </p:cNvPr>
              <p:cNvGraphicFramePr>
                <a:graphicFrameLocks noChangeAspect="1"/>
              </p:cNvGraphicFramePr>
              <p:nvPr/>
            </p:nvGraphicFramePr>
            <p:xfrm>
              <a:off x="1170" y="2031"/>
              <a:ext cx="85" cy="158"/>
            </p:xfrm>
            <a:graphic>
              <a:graphicData uri="http://schemas.openxmlformats.org/presentationml/2006/ole">
                <mc:AlternateContent xmlns:mc="http://schemas.openxmlformats.org/markup-compatibility/2006">
                  <mc:Choice xmlns:v="urn:schemas-microsoft-com:vml" Requires="v">
                    <p:oleObj spid="_x0000_s32862" name="公式" r:id="rId12" imgW="88560" imgH="164880" progId="Equation.3">
                      <p:embed/>
                    </p:oleObj>
                  </mc:Choice>
                  <mc:Fallback>
                    <p:oleObj name="公式" r:id="rId12" imgW="88560" imgH="164880" progId="Equation.3">
                      <p:embed/>
                      <p:pic>
                        <p:nvPicPr>
                          <p:cNvPr id="31" name="Object 42">
                            <a:extLst>
                              <a:ext uri="{FF2B5EF4-FFF2-40B4-BE49-F238E27FC236}">
                                <a16:creationId xmlns:a16="http://schemas.microsoft.com/office/drawing/2014/main" id="{F07521E1-E19D-F530-CB8C-9C3B8CA34811}"/>
                              </a:ext>
                            </a:extLst>
                          </p:cNvPr>
                          <p:cNvPicPr>
                            <a:picLocks noChangeAspect="1" noChangeArrowheads="1"/>
                          </p:cNvPicPr>
                          <p:nvPr/>
                        </p:nvPicPr>
                        <p:blipFill>
                          <a:blip r:embed="rId13"/>
                          <a:srcRect/>
                          <a:stretch>
                            <a:fillRect/>
                          </a:stretch>
                        </p:blipFill>
                        <p:spPr bwMode="auto">
                          <a:xfrm>
                            <a:off x="1170" y="2031"/>
                            <a:ext cx="85"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43">
                <a:extLst>
                  <a:ext uri="{FF2B5EF4-FFF2-40B4-BE49-F238E27FC236}">
                    <a16:creationId xmlns:a16="http://schemas.microsoft.com/office/drawing/2014/main" id="{60A63031-D3DB-36C6-E2AE-95C9B95F6CE5}"/>
                  </a:ext>
                </a:extLst>
              </p:cNvPr>
              <p:cNvSpPr>
                <a:spLocks noChangeShapeType="1"/>
              </p:cNvSpPr>
              <p:nvPr/>
            </p:nvSpPr>
            <p:spPr bwMode="auto">
              <a:xfrm>
                <a:off x="682" y="2193"/>
                <a:ext cx="1034" cy="0"/>
              </a:xfrm>
              <a:prstGeom prst="line">
                <a:avLst/>
              </a:prstGeom>
              <a:noFill/>
              <a:ln w="12700">
                <a:solidFill>
                  <a:schemeClr val="bg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4">
                <a:extLst>
                  <a:ext uri="{FF2B5EF4-FFF2-40B4-BE49-F238E27FC236}">
                    <a16:creationId xmlns:a16="http://schemas.microsoft.com/office/drawing/2014/main" id="{3870D893-B4C4-F725-960F-28238773BC5E}"/>
                  </a:ext>
                </a:extLst>
              </p:cNvPr>
              <p:cNvSpPr>
                <a:spLocks noChangeShapeType="1"/>
              </p:cNvSpPr>
              <p:nvPr/>
            </p:nvSpPr>
            <p:spPr bwMode="auto">
              <a:xfrm>
                <a:off x="1720" y="1438"/>
                <a:ext cx="0" cy="336"/>
              </a:xfrm>
              <a:prstGeom prst="line">
                <a:avLst/>
              </a:prstGeom>
              <a:noFill/>
              <a:ln w="254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Text Box 45">
                <a:extLst>
                  <a:ext uri="{FF2B5EF4-FFF2-40B4-BE49-F238E27FC236}">
                    <a16:creationId xmlns:a16="http://schemas.microsoft.com/office/drawing/2014/main" id="{4021613E-628E-A9F9-8607-110451E72AC6}"/>
                  </a:ext>
                </a:extLst>
              </p:cNvPr>
              <p:cNvSpPr txBox="1">
                <a:spLocks noChangeArrowheads="1"/>
              </p:cNvSpPr>
              <p:nvPr/>
            </p:nvSpPr>
            <p:spPr bwMode="auto">
              <a:xfrm>
                <a:off x="1770" y="1369"/>
                <a:ext cx="117"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just">
                  <a:spcBef>
                    <a:spcPct val="50000"/>
                  </a:spcBef>
                  <a:buFontTx/>
                  <a:buNone/>
                </a:pPr>
                <a:r>
                  <a:rPr kumimoji="1" lang="en-US" altLang="zh-CN" sz="2000" b="0" i="1" dirty="0">
                    <a:latin typeface="+mn-lt"/>
                    <a:ea typeface="黑体" pitchFamily="2" charset="-122"/>
                  </a:rPr>
                  <a:t>F</a:t>
                </a:r>
              </a:p>
            </p:txBody>
          </p:sp>
        </p:grpSp>
        <p:grpSp>
          <p:nvGrpSpPr>
            <p:cNvPr id="9" name="Group 46">
              <a:extLst>
                <a:ext uri="{FF2B5EF4-FFF2-40B4-BE49-F238E27FC236}">
                  <a16:creationId xmlns:a16="http://schemas.microsoft.com/office/drawing/2014/main" id="{C06CE8B3-DFD9-6D79-268E-BFC6C1D2F555}"/>
                </a:ext>
              </a:extLst>
            </p:cNvPr>
            <p:cNvGrpSpPr>
              <a:grpSpLocks/>
            </p:cNvGrpSpPr>
            <p:nvPr/>
          </p:nvGrpSpPr>
          <p:grpSpPr bwMode="auto">
            <a:xfrm>
              <a:off x="1372" y="1784"/>
              <a:ext cx="348" cy="220"/>
              <a:chOff x="1372" y="1784"/>
              <a:chExt cx="348" cy="220"/>
            </a:xfrm>
          </p:grpSpPr>
          <p:sp>
            <p:nvSpPr>
              <p:cNvPr id="10" name="Line 47">
                <a:extLst>
                  <a:ext uri="{FF2B5EF4-FFF2-40B4-BE49-F238E27FC236}">
                    <a16:creationId xmlns:a16="http://schemas.microsoft.com/office/drawing/2014/main" id="{C5585703-915E-BD77-3D06-E5B8A87D5556}"/>
                  </a:ext>
                </a:extLst>
              </p:cNvPr>
              <p:cNvSpPr>
                <a:spLocks noChangeShapeType="1"/>
              </p:cNvSpPr>
              <p:nvPr/>
            </p:nvSpPr>
            <p:spPr bwMode="auto">
              <a:xfrm>
                <a:off x="1572" y="1784"/>
                <a:ext cx="0" cy="212"/>
              </a:xfrm>
              <a:prstGeom prst="line">
                <a:avLst/>
              </a:prstGeom>
              <a:noFill/>
              <a:ln w="12700" cap="sq">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48">
                <a:extLst>
                  <a:ext uri="{FF2B5EF4-FFF2-40B4-BE49-F238E27FC236}">
                    <a16:creationId xmlns:a16="http://schemas.microsoft.com/office/drawing/2014/main" id="{D7EB4879-F7CF-5064-0FDC-DC5E5991D669}"/>
                  </a:ext>
                </a:extLst>
              </p:cNvPr>
              <p:cNvSpPr>
                <a:spLocks noChangeShapeType="1"/>
              </p:cNvSpPr>
              <p:nvPr/>
            </p:nvSpPr>
            <p:spPr bwMode="auto">
              <a:xfrm flipH="1">
                <a:off x="1532" y="2000"/>
                <a:ext cx="188" cy="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Object 49">
                <a:extLst>
                  <a:ext uri="{FF2B5EF4-FFF2-40B4-BE49-F238E27FC236}">
                    <a16:creationId xmlns:a16="http://schemas.microsoft.com/office/drawing/2014/main" id="{BF86D61B-0B01-514E-1E7B-CE80894BE860}"/>
                  </a:ext>
                </a:extLst>
              </p:cNvPr>
              <p:cNvGraphicFramePr>
                <a:graphicFrameLocks noChangeAspect="1"/>
              </p:cNvGraphicFramePr>
              <p:nvPr/>
            </p:nvGraphicFramePr>
            <p:xfrm>
              <a:off x="1372" y="1805"/>
              <a:ext cx="157" cy="180"/>
            </p:xfrm>
            <a:graphic>
              <a:graphicData uri="http://schemas.openxmlformats.org/presentationml/2006/ole">
                <mc:AlternateContent xmlns:mc="http://schemas.openxmlformats.org/markup-compatibility/2006">
                  <mc:Choice xmlns:v="urn:schemas-microsoft-com:vml" Requires="v">
                    <p:oleObj spid="_x0000_s32863" name="公式" r:id="rId14" imgW="177480" imgH="203040" progId="Equation.3">
                      <p:embed/>
                    </p:oleObj>
                  </mc:Choice>
                  <mc:Fallback>
                    <p:oleObj name="公式" r:id="rId14" imgW="177480" imgH="203040" progId="Equation.3">
                      <p:embed/>
                      <p:pic>
                        <p:nvPicPr>
                          <p:cNvPr id="13" name="Object 49">
                            <a:extLst>
                              <a:ext uri="{FF2B5EF4-FFF2-40B4-BE49-F238E27FC236}">
                                <a16:creationId xmlns:a16="http://schemas.microsoft.com/office/drawing/2014/main" id="{BF86D61B-0B01-514E-1E7B-CE80894BE860}"/>
                              </a:ext>
                            </a:extLst>
                          </p:cNvPr>
                          <p:cNvPicPr>
                            <a:picLocks noChangeAspect="1" noChangeArrowheads="1"/>
                          </p:cNvPicPr>
                          <p:nvPr/>
                        </p:nvPicPr>
                        <p:blipFill>
                          <a:blip r:embed="rId15"/>
                          <a:srcRect/>
                          <a:stretch>
                            <a:fillRect/>
                          </a:stretch>
                        </p:blipFill>
                        <p:spPr bwMode="auto">
                          <a:xfrm>
                            <a:off x="1372" y="1805"/>
                            <a:ext cx="15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44" name="矩形 43">
            <a:extLst>
              <a:ext uri="{FF2B5EF4-FFF2-40B4-BE49-F238E27FC236}">
                <a16:creationId xmlns:a16="http://schemas.microsoft.com/office/drawing/2014/main" id="{08211CFD-EFDE-57CB-1D38-EAC0B8497A77}"/>
              </a:ext>
            </a:extLst>
          </p:cNvPr>
          <p:cNvSpPr/>
          <p:nvPr/>
        </p:nvSpPr>
        <p:spPr>
          <a:xfrm>
            <a:off x="211183" y="2534581"/>
            <a:ext cx="8110443" cy="1004699"/>
          </a:xfrm>
          <a:prstGeom prst="rect">
            <a:avLst/>
          </a:prstGeom>
        </p:spPr>
        <p:txBody>
          <a:bodyPr wrap="square">
            <a:spAutoFit/>
          </a:bodyPr>
          <a:lstStyle/>
          <a:p>
            <a:pPr>
              <a:lnSpc>
                <a:spcPct val="130000"/>
              </a:lnSpc>
            </a:pPr>
            <a:r>
              <a:rPr kumimoji="1" lang="zh-CN" altLang="en-US" i="0" dirty="0">
                <a:solidFill>
                  <a:srgbClr val="000000"/>
                </a:solidFill>
                <a:ea typeface="黑体" panose="02010609060101010101" pitchFamily="49" charset="-122"/>
              </a:rPr>
              <a:t>             悬臂梁的转角方程和挠曲线方程为</a:t>
            </a:r>
          </a:p>
          <a:p>
            <a:pPr>
              <a:lnSpc>
                <a:spcPct val="130000"/>
              </a:lnSpc>
            </a:pPr>
            <a:endParaRPr kumimoji="1" lang="en-US" altLang="zh-CN" i="0" dirty="0">
              <a:solidFill>
                <a:srgbClr val="000000"/>
              </a:solidFill>
              <a:ea typeface="黑体" panose="02010609060101010101" pitchFamily="49" charset="-122"/>
            </a:endParaRPr>
          </a:p>
        </p:txBody>
      </p:sp>
      <p:sp>
        <p:nvSpPr>
          <p:cNvPr id="47" name="矩形 46">
            <a:extLst>
              <a:ext uri="{FF2B5EF4-FFF2-40B4-BE49-F238E27FC236}">
                <a16:creationId xmlns:a16="http://schemas.microsoft.com/office/drawing/2014/main" id="{6A583BE8-E57F-B644-4A48-E5826F964DE6}"/>
              </a:ext>
            </a:extLst>
          </p:cNvPr>
          <p:cNvSpPr/>
          <p:nvPr/>
        </p:nvSpPr>
        <p:spPr>
          <a:xfrm>
            <a:off x="211183" y="4227448"/>
            <a:ext cx="10515685" cy="1000980"/>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6)  </a:t>
            </a:r>
            <a:r>
              <a:rPr kumimoji="1" lang="zh-CN" altLang="en-US" i="0" dirty="0">
                <a:solidFill>
                  <a:srgbClr val="000000"/>
                </a:solidFill>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根据上面的两个方程，很容易求得各点的转角和挠度。上式悬臂梁的最大转角和最大挠度发生在</a:t>
            </a: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l</a:t>
            </a:r>
            <a:r>
              <a:rPr lang="zh-CN" altLang="en-US" i="0" dirty="0">
                <a:solidFill>
                  <a:schemeClr val="tx1"/>
                </a:solidFill>
                <a:latin typeface="+mn-lt"/>
                <a:ea typeface="黑体" panose="02010609060101010101" pitchFamily="49" charset="-122"/>
              </a:rPr>
              <a:t>，即</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点处，其值为</a:t>
            </a:r>
            <a:endParaRPr kumimoji="1" lang="en-US" altLang="zh-CN" i="0" dirty="0">
              <a:solidFill>
                <a:srgbClr val="000000"/>
              </a:solidFill>
              <a:ea typeface="黑体" panose="02010609060101010101" pitchFamily="49" charset="-122"/>
            </a:endParaRPr>
          </a:p>
        </p:txBody>
      </p:sp>
      <p:graphicFrame>
        <p:nvGraphicFramePr>
          <p:cNvPr id="49" name="Object 13">
            <a:extLst>
              <a:ext uri="{FF2B5EF4-FFF2-40B4-BE49-F238E27FC236}">
                <a16:creationId xmlns:a16="http://schemas.microsoft.com/office/drawing/2014/main" id="{46196D26-4724-D4BE-8717-7ECB13CD6E13}"/>
              </a:ext>
            </a:extLst>
          </p:cNvPr>
          <p:cNvGraphicFramePr>
            <a:graphicFrameLocks noChangeAspect="1"/>
          </p:cNvGraphicFramePr>
          <p:nvPr>
            <p:extLst/>
          </p:nvPr>
        </p:nvGraphicFramePr>
        <p:xfrm>
          <a:off x="1340680" y="3244516"/>
          <a:ext cx="2683917" cy="800466"/>
        </p:xfrm>
        <a:graphic>
          <a:graphicData uri="http://schemas.openxmlformats.org/presentationml/2006/ole">
            <mc:AlternateContent xmlns:mc="http://schemas.openxmlformats.org/markup-compatibility/2006">
              <mc:Choice xmlns:v="urn:schemas-microsoft-com:vml" Requires="v">
                <p:oleObj spid="_x0000_s32864" name="Equation" r:id="rId16" imgW="1447560" imgH="431640" progId="Equation.DSMT4">
                  <p:embed/>
                </p:oleObj>
              </mc:Choice>
              <mc:Fallback>
                <p:oleObj name="Equation" r:id="rId16" imgW="1447560" imgH="431640" progId="Equation.DSMT4">
                  <p:embed/>
                  <p:pic>
                    <p:nvPicPr>
                      <p:cNvPr id="49" name="Object 13">
                        <a:extLst>
                          <a:ext uri="{FF2B5EF4-FFF2-40B4-BE49-F238E27FC236}">
                            <a16:creationId xmlns:a16="http://schemas.microsoft.com/office/drawing/2014/main" id="{46196D26-4724-D4BE-8717-7ECB13CD6E13}"/>
                          </a:ext>
                        </a:extLst>
                      </p:cNvPr>
                      <p:cNvPicPr>
                        <a:picLocks noChangeAspect="1" noChangeArrowheads="1"/>
                      </p:cNvPicPr>
                      <p:nvPr/>
                    </p:nvPicPr>
                    <p:blipFill>
                      <a:blip r:embed="rId17"/>
                      <a:srcRect/>
                      <a:stretch>
                        <a:fillRect/>
                      </a:stretch>
                    </p:blipFill>
                    <p:spPr bwMode="auto">
                      <a:xfrm>
                        <a:off x="1340680" y="3244516"/>
                        <a:ext cx="2683917" cy="800466"/>
                      </a:xfrm>
                      <a:prstGeom prst="rect">
                        <a:avLst/>
                      </a:prstGeom>
                      <a:noFill/>
                      <a:ln>
                        <a:noFill/>
                      </a:ln>
                      <a:effectLst/>
                    </p:spPr>
                  </p:pic>
                </p:oleObj>
              </mc:Fallback>
            </mc:AlternateContent>
          </a:graphicData>
        </a:graphic>
      </p:graphicFrame>
      <p:graphicFrame>
        <p:nvGraphicFramePr>
          <p:cNvPr id="51" name="Object 13">
            <a:extLst>
              <a:ext uri="{FF2B5EF4-FFF2-40B4-BE49-F238E27FC236}">
                <a16:creationId xmlns:a16="http://schemas.microsoft.com/office/drawing/2014/main" id="{9FF185A8-6149-AA5B-C69E-16C17FF01918}"/>
              </a:ext>
            </a:extLst>
          </p:cNvPr>
          <p:cNvGraphicFramePr>
            <a:graphicFrameLocks noChangeAspect="1"/>
          </p:cNvGraphicFramePr>
          <p:nvPr>
            <p:extLst/>
          </p:nvPr>
        </p:nvGraphicFramePr>
        <p:xfrm>
          <a:off x="4540272" y="3176972"/>
          <a:ext cx="2241376" cy="886698"/>
        </p:xfrm>
        <a:graphic>
          <a:graphicData uri="http://schemas.openxmlformats.org/presentationml/2006/ole">
            <mc:AlternateContent xmlns:mc="http://schemas.openxmlformats.org/markup-compatibility/2006">
              <mc:Choice xmlns:v="urn:schemas-microsoft-com:vml" Requires="v">
                <p:oleObj spid="_x0000_s32865" name="Equation" r:id="rId18" imgW="1155600" imgH="457200" progId="Equation.DSMT4">
                  <p:embed/>
                </p:oleObj>
              </mc:Choice>
              <mc:Fallback>
                <p:oleObj name="Equation" r:id="rId18" imgW="1155600" imgH="457200" progId="Equation.DSMT4">
                  <p:embed/>
                  <p:pic>
                    <p:nvPicPr>
                      <p:cNvPr id="51" name="Object 13">
                        <a:extLst>
                          <a:ext uri="{FF2B5EF4-FFF2-40B4-BE49-F238E27FC236}">
                            <a16:creationId xmlns:a16="http://schemas.microsoft.com/office/drawing/2014/main" id="{9FF185A8-6149-AA5B-C69E-16C17FF01918}"/>
                          </a:ext>
                        </a:extLst>
                      </p:cNvPr>
                      <p:cNvPicPr>
                        <a:picLocks noChangeAspect="1" noChangeArrowheads="1"/>
                      </p:cNvPicPr>
                      <p:nvPr/>
                    </p:nvPicPr>
                    <p:blipFill>
                      <a:blip r:embed="rId19"/>
                      <a:srcRect/>
                      <a:stretch>
                        <a:fillRect/>
                      </a:stretch>
                    </p:blipFill>
                    <p:spPr bwMode="auto">
                      <a:xfrm>
                        <a:off x="4540272" y="3176972"/>
                        <a:ext cx="2241376" cy="886698"/>
                      </a:xfrm>
                      <a:prstGeom prst="rect">
                        <a:avLst/>
                      </a:prstGeom>
                      <a:noFill/>
                      <a:ln>
                        <a:noFill/>
                      </a:ln>
                      <a:effectLst/>
                    </p:spPr>
                  </p:pic>
                </p:oleObj>
              </mc:Fallback>
            </mc:AlternateContent>
          </a:graphicData>
        </a:graphic>
      </p:graphicFrame>
      <p:graphicFrame>
        <p:nvGraphicFramePr>
          <p:cNvPr id="48" name="对象 47">
            <a:extLst>
              <a:ext uri="{FF2B5EF4-FFF2-40B4-BE49-F238E27FC236}">
                <a16:creationId xmlns:a16="http://schemas.microsoft.com/office/drawing/2014/main" id="{70694EE1-0E84-2EFF-0ED1-E4BDA75DF770}"/>
              </a:ext>
            </a:extLst>
          </p:cNvPr>
          <p:cNvGraphicFramePr>
            <a:graphicFrameLocks noChangeAspect="1"/>
          </p:cNvGraphicFramePr>
          <p:nvPr>
            <p:extLst/>
          </p:nvPr>
        </p:nvGraphicFramePr>
        <p:xfrm>
          <a:off x="1362996" y="1327597"/>
          <a:ext cx="1828800" cy="1167840"/>
        </p:xfrm>
        <a:graphic>
          <a:graphicData uri="http://schemas.openxmlformats.org/presentationml/2006/ole">
            <mc:AlternateContent xmlns:mc="http://schemas.openxmlformats.org/markup-compatibility/2006">
              <mc:Choice xmlns:v="urn:schemas-microsoft-com:vml" Requires="v">
                <p:oleObj spid="_x0000_s32866" name="Equation" r:id="rId20" imgW="914400" imgH="583920" progId="Equation.DSMT4">
                  <p:embed/>
                </p:oleObj>
              </mc:Choice>
              <mc:Fallback>
                <p:oleObj name="Equation" r:id="rId20" imgW="914400" imgH="583920" progId="Equation.DSMT4">
                  <p:embed/>
                  <p:pic>
                    <p:nvPicPr>
                      <p:cNvPr id="48" name="对象 47">
                        <a:extLst>
                          <a:ext uri="{FF2B5EF4-FFF2-40B4-BE49-F238E27FC236}">
                            <a16:creationId xmlns:a16="http://schemas.microsoft.com/office/drawing/2014/main" id="{70694EE1-0E84-2EFF-0ED1-E4BDA75DF770}"/>
                          </a:ext>
                        </a:extLst>
                      </p:cNvPr>
                      <p:cNvPicPr/>
                      <p:nvPr/>
                    </p:nvPicPr>
                    <p:blipFill>
                      <a:blip r:embed="rId21"/>
                      <a:stretch>
                        <a:fillRect/>
                      </a:stretch>
                    </p:blipFill>
                    <p:spPr>
                      <a:xfrm>
                        <a:off x="1362996" y="1327597"/>
                        <a:ext cx="1828800" cy="1167840"/>
                      </a:xfrm>
                      <a:prstGeom prst="rect">
                        <a:avLst/>
                      </a:prstGeom>
                    </p:spPr>
                  </p:pic>
                </p:oleObj>
              </mc:Fallback>
            </mc:AlternateContent>
          </a:graphicData>
        </a:graphic>
      </p:graphicFrame>
      <p:sp>
        <p:nvSpPr>
          <p:cNvPr id="50" name="矩形 49">
            <a:extLst>
              <a:ext uri="{FF2B5EF4-FFF2-40B4-BE49-F238E27FC236}">
                <a16:creationId xmlns:a16="http://schemas.microsoft.com/office/drawing/2014/main" id="{CF6B5C98-8F1C-71B5-D675-3B17A8F0014D}"/>
              </a:ext>
            </a:extLst>
          </p:cNvPr>
          <p:cNvSpPr/>
          <p:nvPr/>
        </p:nvSpPr>
        <p:spPr>
          <a:xfrm>
            <a:off x="2460376" y="1562238"/>
            <a:ext cx="4954657" cy="520848"/>
          </a:xfrm>
          <a:prstGeom prst="rect">
            <a:avLst/>
          </a:prstGeom>
        </p:spPr>
        <p:txBody>
          <a:bodyPr wrap="square">
            <a:spAutoFit/>
          </a:bodyPr>
          <a:lstStyle/>
          <a:p>
            <a:pPr>
              <a:lnSpc>
                <a:spcPct val="130000"/>
              </a:lnSpc>
            </a:pPr>
            <a:r>
              <a:rPr kumimoji="1" lang="zh-CN" altLang="en-US" i="0" dirty="0">
                <a:solidFill>
                  <a:srgbClr val="000000"/>
                </a:solidFill>
                <a:ea typeface="黑体" panose="02010609060101010101" pitchFamily="49" charset="-122"/>
              </a:rPr>
              <a:t>              代入求解得到</a:t>
            </a:r>
            <a:r>
              <a:rPr kumimoji="1" lang="en-US" altLang="zh-CN" b="0" dirty="0">
                <a:solidFill>
                  <a:srgbClr val="000000"/>
                </a:solidFill>
                <a:ea typeface="黑体" panose="02010609060101010101" pitchFamily="49" charset="-122"/>
              </a:rPr>
              <a:t>C</a:t>
            </a:r>
            <a:r>
              <a:rPr kumimoji="1" lang="en-US" altLang="zh-CN" b="0" i="0" baseline="-25000" dirty="0">
                <a:solidFill>
                  <a:srgbClr val="000000"/>
                </a:solidFill>
                <a:ea typeface="黑体" panose="02010609060101010101" pitchFamily="49" charset="-122"/>
              </a:rPr>
              <a:t>1</a:t>
            </a:r>
            <a:r>
              <a:rPr kumimoji="1" lang="en-US" altLang="zh-CN" b="0" i="0" dirty="0">
                <a:solidFill>
                  <a:srgbClr val="000000"/>
                </a:solidFill>
                <a:ea typeface="黑体" panose="02010609060101010101" pitchFamily="49" charset="-122"/>
              </a:rPr>
              <a:t>=0</a:t>
            </a:r>
            <a:r>
              <a:rPr kumimoji="1" lang="zh-CN" altLang="en-US" b="0" i="0" dirty="0">
                <a:solidFill>
                  <a:srgbClr val="000000"/>
                </a:solidFill>
                <a:ea typeface="黑体" panose="02010609060101010101" pitchFamily="49" charset="-122"/>
              </a:rPr>
              <a:t>，</a:t>
            </a:r>
            <a:r>
              <a:rPr kumimoji="1" lang="en-US" altLang="zh-CN" b="0" dirty="0">
                <a:solidFill>
                  <a:srgbClr val="000000"/>
                </a:solidFill>
                <a:ea typeface="黑体" panose="02010609060101010101" pitchFamily="49" charset="-122"/>
              </a:rPr>
              <a:t>C</a:t>
            </a:r>
            <a:r>
              <a:rPr kumimoji="1" lang="en-US" altLang="zh-CN" b="0" i="0" baseline="-25000" dirty="0">
                <a:solidFill>
                  <a:srgbClr val="000000"/>
                </a:solidFill>
                <a:ea typeface="黑体" panose="02010609060101010101" pitchFamily="49" charset="-122"/>
              </a:rPr>
              <a:t>2</a:t>
            </a:r>
            <a:r>
              <a:rPr kumimoji="1" lang="en-US" altLang="zh-CN" b="0" i="0" dirty="0">
                <a:solidFill>
                  <a:srgbClr val="000000"/>
                </a:solidFill>
                <a:ea typeface="黑体" panose="02010609060101010101" pitchFamily="49" charset="-122"/>
              </a:rPr>
              <a:t>=0</a:t>
            </a:r>
            <a:endParaRPr lang="en-US" altLang="zh-CN" b="0" i="0" baseline="-25000" dirty="0">
              <a:solidFill>
                <a:schemeClr val="tx1"/>
              </a:solidFill>
              <a:latin typeface="黑体" panose="02010609060101010101" pitchFamily="49" charset="-122"/>
              <a:ea typeface="黑体" panose="02010609060101010101" pitchFamily="49" charset="-122"/>
            </a:endParaRPr>
          </a:p>
        </p:txBody>
      </p:sp>
      <p:graphicFrame>
        <p:nvGraphicFramePr>
          <p:cNvPr id="53" name="Object 13">
            <a:extLst>
              <a:ext uri="{FF2B5EF4-FFF2-40B4-BE49-F238E27FC236}">
                <a16:creationId xmlns:a16="http://schemas.microsoft.com/office/drawing/2014/main" id="{05BBDCD2-C557-EDF5-25A0-ADF627D162B8}"/>
              </a:ext>
            </a:extLst>
          </p:cNvPr>
          <p:cNvGraphicFramePr>
            <a:graphicFrameLocks noChangeAspect="1"/>
          </p:cNvGraphicFramePr>
          <p:nvPr>
            <p:extLst/>
          </p:nvPr>
        </p:nvGraphicFramePr>
        <p:xfrm>
          <a:off x="2212975" y="5263639"/>
          <a:ext cx="1549400" cy="914400"/>
        </p:xfrm>
        <a:graphic>
          <a:graphicData uri="http://schemas.openxmlformats.org/presentationml/2006/ole">
            <mc:AlternateContent xmlns:mc="http://schemas.openxmlformats.org/markup-compatibility/2006">
              <mc:Choice xmlns:v="urn:schemas-microsoft-com:vml" Requires="v">
                <p:oleObj spid="_x0000_s32867" name="Equation" r:id="rId22" imgW="774360" imgH="457200" progId="Equation.DSMT4">
                  <p:embed/>
                </p:oleObj>
              </mc:Choice>
              <mc:Fallback>
                <p:oleObj name="Equation" r:id="rId22" imgW="774360" imgH="457200" progId="Equation.DSMT4">
                  <p:embed/>
                  <p:pic>
                    <p:nvPicPr>
                      <p:cNvPr id="53" name="Object 13">
                        <a:extLst>
                          <a:ext uri="{FF2B5EF4-FFF2-40B4-BE49-F238E27FC236}">
                            <a16:creationId xmlns:a16="http://schemas.microsoft.com/office/drawing/2014/main" id="{05BBDCD2-C557-EDF5-25A0-ADF627D162B8}"/>
                          </a:ext>
                        </a:extLst>
                      </p:cNvPr>
                      <p:cNvPicPr>
                        <a:picLocks noChangeAspect="1" noChangeArrowheads="1"/>
                      </p:cNvPicPr>
                      <p:nvPr/>
                    </p:nvPicPr>
                    <p:blipFill>
                      <a:blip r:embed="rId23"/>
                      <a:srcRect/>
                      <a:stretch>
                        <a:fillRect/>
                      </a:stretch>
                    </p:blipFill>
                    <p:spPr bwMode="auto">
                      <a:xfrm>
                        <a:off x="2212975" y="5263639"/>
                        <a:ext cx="1549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3">
            <a:extLst>
              <a:ext uri="{FF2B5EF4-FFF2-40B4-BE49-F238E27FC236}">
                <a16:creationId xmlns:a16="http://schemas.microsoft.com/office/drawing/2014/main" id="{B9D13917-08C3-7A89-6F56-1E705B0091D3}"/>
              </a:ext>
            </a:extLst>
          </p:cNvPr>
          <p:cNvGraphicFramePr>
            <a:graphicFrameLocks noChangeAspect="1"/>
          </p:cNvGraphicFramePr>
          <p:nvPr>
            <p:extLst/>
          </p:nvPr>
        </p:nvGraphicFramePr>
        <p:xfrm>
          <a:off x="4694325" y="5263639"/>
          <a:ext cx="1549400" cy="914400"/>
        </p:xfrm>
        <a:graphic>
          <a:graphicData uri="http://schemas.openxmlformats.org/presentationml/2006/ole">
            <mc:AlternateContent xmlns:mc="http://schemas.openxmlformats.org/markup-compatibility/2006">
              <mc:Choice xmlns:v="urn:schemas-microsoft-com:vml" Requires="v">
                <p:oleObj spid="_x0000_s32868" name="Equation" r:id="rId24" imgW="774360" imgH="457200" progId="Equation.DSMT4">
                  <p:embed/>
                </p:oleObj>
              </mc:Choice>
              <mc:Fallback>
                <p:oleObj name="Equation" r:id="rId24" imgW="774360" imgH="457200" progId="Equation.DSMT4">
                  <p:embed/>
                  <p:pic>
                    <p:nvPicPr>
                      <p:cNvPr id="54" name="Object 13">
                        <a:extLst>
                          <a:ext uri="{FF2B5EF4-FFF2-40B4-BE49-F238E27FC236}">
                            <a16:creationId xmlns:a16="http://schemas.microsoft.com/office/drawing/2014/main" id="{B9D13917-08C3-7A89-6F56-1E705B0091D3}"/>
                          </a:ext>
                        </a:extLst>
                      </p:cNvPr>
                      <p:cNvPicPr>
                        <a:picLocks noChangeAspect="1" noChangeArrowheads="1"/>
                      </p:cNvPicPr>
                      <p:nvPr/>
                    </p:nvPicPr>
                    <p:blipFill>
                      <a:blip r:embed="rId25"/>
                      <a:srcRect/>
                      <a:stretch>
                        <a:fillRect/>
                      </a:stretch>
                    </p:blipFill>
                    <p:spPr bwMode="auto">
                      <a:xfrm>
                        <a:off x="4694325" y="5263639"/>
                        <a:ext cx="1549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403079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left)">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wipe(left)">
                                      <p:cBhvr>
                                        <p:cTn id="4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2" grpId="0"/>
      <p:bldP spid="44" grpId="0"/>
      <p:bldP spid="47" grpId="0"/>
      <p:bldP spid="5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369405" cy="1421928"/>
          </a:xfrm>
          <a:prstGeom prst="rect">
            <a:avLst/>
          </a:prstGeom>
        </p:spPr>
        <p:txBody>
          <a:bodyPr wrap="square">
            <a:spAutoFit/>
          </a:bodyPr>
          <a:lstStyle/>
          <a:p>
            <a:pPr lvl="0">
              <a:lnSpc>
                <a:spcPct val="120000"/>
              </a:lnSpc>
              <a:defRPr/>
            </a:pPr>
            <a:r>
              <a:rPr lang="zh-CN" altLang="en-US" i="0" dirty="0">
                <a:solidFill>
                  <a:srgbClr val="0033CC"/>
                </a:solidFill>
                <a:ea typeface="黑体" panose="02010609060101010101" pitchFamily="49" charset="-122"/>
              </a:rPr>
              <a:t>例   </a:t>
            </a:r>
            <a:r>
              <a:rPr kumimoji="1" lang="zh-CN" altLang="en-US" i="0" dirty="0">
                <a:solidFill>
                  <a:schemeClr val="tx1"/>
                </a:solidFill>
                <a:latin typeface="黑体" panose="02010609060101010101" pitchFamily="49" charset="-122"/>
                <a:ea typeface="黑体" panose="02010609060101010101" pitchFamily="49" charset="-122"/>
              </a:rPr>
              <a:t>求梁的转角方程和挠度方程，并求最大转角和最大挠度，</a:t>
            </a:r>
            <a:r>
              <a:rPr kumimoji="1" lang="zh-CN" altLang="en-US" i="0" dirty="0">
                <a:solidFill>
                  <a:schemeClr val="tx1"/>
                </a:solidFill>
                <a:latin typeface="+mn-lt"/>
                <a:ea typeface="黑体" panose="02010609060101010101" pitchFamily="49" charset="-122"/>
              </a:rPr>
              <a:t>梁的</a:t>
            </a:r>
            <a:r>
              <a:rPr kumimoji="1" lang="en-US" altLang="zh-CN" dirty="0">
                <a:solidFill>
                  <a:schemeClr val="tx1"/>
                </a:solidFill>
                <a:latin typeface="+mn-lt"/>
                <a:ea typeface="黑体" panose="02010609060101010101" pitchFamily="49" charset="-122"/>
              </a:rPr>
              <a:t>EI</a:t>
            </a:r>
            <a:r>
              <a:rPr kumimoji="1" lang="zh-CN" altLang="en-US" i="0" dirty="0">
                <a:solidFill>
                  <a:schemeClr val="tx1"/>
                </a:solidFill>
                <a:latin typeface="+mn-lt"/>
                <a:ea typeface="黑体" panose="02010609060101010101" pitchFamily="49" charset="-122"/>
              </a:rPr>
              <a:t>已知，</a:t>
            </a:r>
            <a:r>
              <a:rPr kumimoji="1" lang="en-US" altLang="zh-CN" dirty="0">
                <a:solidFill>
                  <a:schemeClr val="tx1"/>
                </a:solidFill>
                <a:latin typeface="+mn-lt"/>
                <a:ea typeface="黑体" panose="02010609060101010101" pitchFamily="49" charset="-122"/>
              </a:rPr>
              <a:t>l</a:t>
            </a:r>
            <a:r>
              <a:rPr kumimoji="1" lang="en-US" altLang="zh-CN" i="0" dirty="0">
                <a:solidFill>
                  <a:schemeClr val="tx1"/>
                </a:solidFill>
                <a:latin typeface="+mn-lt"/>
                <a:ea typeface="黑体" panose="02010609060101010101" pitchFamily="49" charset="-122"/>
              </a:rPr>
              <a:t>=</a:t>
            </a:r>
            <a:r>
              <a:rPr kumimoji="1" lang="en-US" altLang="zh-CN" dirty="0" err="1">
                <a:solidFill>
                  <a:schemeClr val="tx1"/>
                </a:solidFill>
                <a:latin typeface="+mn-lt"/>
                <a:ea typeface="黑体" panose="02010609060101010101" pitchFamily="49" charset="-122"/>
              </a:rPr>
              <a:t>a+b</a:t>
            </a:r>
            <a:r>
              <a:rPr kumimoji="1" lang="zh-CN" altLang="en-US" i="0" dirty="0">
                <a:solidFill>
                  <a:schemeClr val="tx1"/>
                </a:solidFill>
                <a:latin typeface="+mn-lt"/>
                <a:ea typeface="黑体" panose="02010609060101010101" pitchFamily="49" charset="-122"/>
              </a:rPr>
              <a:t>，</a:t>
            </a:r>
            <a:r>
              <a:rPr kumimoji="1" lang="en-US" altLang="zh-CN" dirty="0">
                <a:solidFill>
                  <a:schemeClr val="tx1"/>
                </a:solidFill>
                <a:latin typeface="+mn-lt"/>
                <a:ea typeface="黑体" panose="02010609060101010101" pitchFamily="49" charset="-122"/>
              </a:rPr>
              <a:t>a</a:t>
            </a:r>
            <a:r>
              <a:rPr kumimoji="1" lang="en-US" altLang="zh-CN" i="0" dirty="0">
                <a:solidFill>
                  <a:schemeClr val="tx1"/>
                </a:solidFill>
                <a:latin typeface="+mn-lt"/>
                <a:ea typeface="黑体" panose="02010609060101010101" pitchFamily="49" charset="-122"/>
              </a:rPr>
              <a:t>&gt;</a:t>
            </a:r>
            <a:r>
              <a:rPr kumimoji="1" lang="en-US" altLang="zh-CN" dirty="0">
                <a:solidFill>
                  <a:schemeClr val="tx1"/>
                </a:solidFill>
                <a:latin typeface="+mn-lt"/>
                <a:ea typeface="黑体" panose="02010609060101010101" pitchFamily="49" charset="-122"/>
              </a:rPr>
              <a:t>b</a:t>
            </a:r>
            <a:endParaRPr kumimoji="1" lang="zh-CN" altLang="en-US" dirty="0">
              <a:solidFill>
                <a:schemeClr val="tx1"/>
              </a:solidFill>
              <a:latin typeface="+mn-lt"/>
              <a:ea typeface="黑体" panose="02010609060101010101" pitchFamily="49" charset="-122"/>
            </a:endParaRPr>
          </a:p>
          <a:p>
            <a:pPr lvl="0" algn="just">
              <a:lnSpc>
                <a:spcPct val="120000"/>
              </a:lnSpc>
            </a:pP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1812474"/>
            <a:ext cx="6813453"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ea typeface="黑体" panose="02010609060101010101" pitchFamily="49" charset="-122"/>
              </a:rPr>
              <a:t>由梁的整体平衡分析可得</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92" name="矩形 91">
            <a:extLst>
              <a:ext uri="{FF2B5EF4-FFF2-40B4-BE49-F238E27FC236}">
                <a16:creationId xmlns:a16="http://schemas.microsoft.com/office/drawing/2014/main" id="{E8DB0D0A-8BE9-6ADA-6C58-96049487BA32}"/>
              </a:ext>
            </a:extLst>
          </p:cNvPr>
          <p:cNvSpPr/>
          <p:nvPr/>
        </p:nvSpPr>
        <p:spPr>
          <a:xfrm>
            <a:off x="211183" y="2972146"/>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  </a:t>
            </a:r>
            <a:r>
              <a:rPr kumimoji="1" lang="zh-CN" altLang="en-US" i="0" dirty="0">
                <a:solidFill>
                  <a:srgbClr val="000000"/>
                </a:solidFill>
                <a:ea typeface="黑体" panose="02010609060101010101" pitchFamily="49" charset="-122"/>
              </a:rPr>
              <a:t>列距离为</a:t>
            </a:r>
            <a:r>
              <a:rPr kumimoji="1" lang="en-US" altLang="zh-CN" b="0" dirty="0">
                <a:solidFill>
                  <a:srgbClr val="000000"/>
                </a:solidFill>
                <a:ea typeface="黑体" panose="02010609060101010101" pitchFamily="49" charset="-122"/>
              </a:rPr>
              <a:t>x</a:t>
            </a:r>
            <a:r>
              <a:rPr kumimoji="1" lang="zh-CN" altLang="en-US" i="0" dirty="0">
                <a:solidFill>
                  <a:srgbClr val="000000"/>
                </a:solidFill>
                <a:ea typeface="黑体" panose="02010609060101010101" pitchFamily="49" charset="-122"/>
              </a:rPr>
              <a:t>截面处的弯矩方程</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52" name="组合 51"/>
          <p:cNvGrpSpPr/>
          <p:nvPr/>
        </p:nvGrpSpPr>
        <p:grpSpPr>
          <a:xfrm>
            <a:off x="7715886" y="2591044"/>
            <a:ext cx="3034383" cy="414872"/>
            <a:chOff x="5242372" y="2726095"/>
            <a:chExt cx="3034383" cy="414872"/>
          </a:xfrm>
        </p:grpSpPr>
        <p:grpSp>
          <p:nvGrpSpPr>
            <p:cNvPr id="53" name="组合 224"/>
            <p:cNvGrpSpPr>
              <a:grpSpLocks/>
            </p:cNvGrpSpPr>
            <p:nvPr/>
          </p:nvGrpSpPr>
          <p:grpSpPr bwMode="auto">
            <a:xfrm>
              <a:off x="7838605" y="2744093"/>
              <a:ext cx="438150" cy="396874"/>
              <a:chOff x="6199814" y="5094186"/>
              <a:chExt cx="473132" cy="428315"/>
            </a:xfrm>
          </p:grpSpPr>
          <p:grpSp>
            <p:nvGrpSpPr>
              <p:cNvPr id="65" name="组合 225"/>
              <p:cNvGrpSpPr>
                <a:grpSpLocks/>
              </p:cNvGrpSpPr>
              <p:nvPr/>
            </p:nvGrpSpPr>
            <p:grpSpPr bwMode="auto">
              <a:xfrm>
                <a:off x="6199814" y="5451033"/>
                <a:ext cx="473132" cy="71468"/>
                <a:chOff x="2321750" y="5453423"/>
                <a:chExt cx="473132" cy="71468"/>
              </a:xfrm>
            </p:grpSpPr>
            <p:cxnSp>
              <p:nvCxnSpPr>
                <p:cNvPr id="69"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等腰三角形 226"/>
              <p:cNvSpPr>
                <a:spLocks noChangeArrowheads="1"/>
              </p:cNvSpPr>
              <p:nvPr/>
            </p:nvSpPr>
            <p:spPr bwMode="auto">
              <a:xfrm>
                <a:off x="6314201" y="5094186"/>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椭圆 227"/>
              <p:cNvSpPr>
                <a:spLocks noChangeArrowheads="1"/>
              </p:cNvSpPr>
              <p:nvPr/>
            </p:nvSpPr>
            <p:spPr bwMode="auto">
              <a:xfrm>
                <a:off x="6314201" y="5376793"/>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椭圆 228"/>
              <p:cNvSpPr>
                <a:spLocks noChangeArrowheads="1"/>
              </p:cNvSpPr>
              <p:nvPr/>
            </p:nvSpPr>
            <p:spPr bwMode="auto">
              <a:xfrm>
                <a:off x="6484713" y="538352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54" name="组合 237"/>
            <p:cNvGrpSpPr>
              <a:grpSpLocks/>
            </p:cNvGrpSpPr>
            <p:nvPr/>
          </p:nvGrpSpPr>
          <p:grpSpPr bwMode="auto">
            <a:xfrm>
              <a:off x="5242372" y="2726095"/>
              <a:ext cx="354013" cy="317497"/>
              <a:chOff x="2312606" y="5094189"/>
              <a:chExt cx="473132" cy="424337"/>
            </a:xfrm>
          </p:grpSpPr>
          <p:sp>
            <p:nvSpPr>
              <p:cNvPr id="55" name="等腰三角形 238"/>
              <p:cNvSpPr>
                <a:spLocks noChangeArrowheads="1"/>
              </p:cNvSpPr>
              <p:nvPr/>
            </p:nvSpPr>
            <p:spPr bwMode="auto">
              <a:xfrm>
                <a:off x="2411760" y="5094189"/>
                <a:ext cx="315616" cy="36004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6" name="组合 239"/>
              <p:cNvGrpSpPr>
                <a:grpSpLocks/>
              </p:cNvGrpSpPr>
              <p:nvPr/>
            </p:nvGrpSpPr>
            <p:grpSpPr bwMode="auto">
              <a:xfrm>
                <a:off x="2312606" y="5447058"/>
                <a:ext cx="473132" cy="71468"/>
                <a:chOff x="2321750" y="5453423"/>
                <a:chExt cx="473132" cy="71468"/>
              </a:xfrm>
            </p:grpSpPr>
            <p:cxnSp>
              <p:nvCxnSpPr>
                <p:cNvPr id="57"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grpSp>
        <p:nvGrpSpPr>
          <p:cNvPr id="77" name="组合 76"/>
          <p:cNvGrpSpPr/>
          <p:nvPr/>
        </p:nvGrpSpPr>
        <p:grpSpPr>
          <a:xfrm>
            <a:off x="7549570" y="1842590"/>
            <a:ext cx="3912914" cy="1711833"/>
            <a:chOff x="5076056" y="652438"/>
            <a:chExt cx="3912914" cy="1711833"/>
          </a:xfrm>
        </p:grpSpPr>
        <p:sp>
          <p:nvSpPr>
            <p:cNvPr id="78" name="Line 69"/>
            <p:cNvSpPr>
              <a:spLocks noChangeShapeType="1"/>
            </p:cNvSpPr>
            <p:nvPr/>
          </p:nvSpPr>
          <p:spPr bwMode="auto">
            <a:xfrm>
              <a:off x="8021963" y="1401790"/>
              <a:ext cx="838767"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grpSp>
          <p:nvGrpSpPr>
            <p:cNvPr id="79" name="组合 78"/>
            <p:cNvGrpSpPr/>
            <p:nvPr/>
          </p:nvGrpSpPr>
          <p:grpSpPr>
            <a:xfrm>
              <a:off x="5076056" y="652438"/>
              <a:ext cx="3912914" cy="1711833"/>
              <a:chOff x="5076056" y="642174"/>
              <a:chExt cx="3912914" cy="1711833"/>
            </a:xfrm>
          </p:grpSpPr>
          <p:cxnSp>
            <p:nvCxnSpPr>
              <p:cNvPr id="80" name="直接箭头连接符 250"/>
              <p:cNvCxnSpPr>
                <a:cxnSpLocks noChangeShapeType="1"/>
              </p:cNvCxnSpPr>
              <p:nvPr/>
            </p:nvCxnSpPr>
            <p:spPr bwMode="auto">
              <a:xfrm>
                <a:off x="7164288" y="908720"/>
                <a:ext cx="0" cy="450850"/>
              </a:xfrm>
              <a:prstGeom prst="straightConnector1">
                <a:avLst/>
              </a:prstGeom>
              <a:noFill/>
              <a:ln w="28575" cap="sq" algn="ctr">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 name="组合 80"/>
              <p:cNvGrpSpPr/>
              <p:nvPr/>
            </p:nvGrpSpPr>
            <p:grpSpPr>
              <a:xfrm>
                <a:off x="5448420" y="1876611"/>
                <a:ext cx="1708188" cy="472269"/>
                <a:chOff x="5852330" y="5785618"/>
                <a:chExt cx="2153769" cy="472269"/>
              </a:xfrm>
            </p:grpSpPr>
            <p:cxnSp>
              <p:nvCxnSpPr>
                <p:cNvPr id="97" name="直接连接符 96"/>
                <p:cNvCxnSpPr/>
                <p:nvPr/>
              </p:nvCxnSpPr>
              <p:spPr bwMode="auto">
                <a:xfrm>
                  <a:off x="5852330" y="6155047"/>
                  <a:ext cx="2153769"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5852330" y="5785618"/>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2" name="直接连接符 223"/>
              <p:cNvCxnSpPr>
                <a:cxnSpLocks noChangeShapeType="1"/>
              </p:cNvCxnSpPr>
              <p:nvPr/>
            </p:nvCxnSpPr>
            <p:spPr bwMode="auto">
              <a:xfrm>
                <a:off x="5446811" y="1377851"/>
                <a:ext cx="2610869" cy="952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 Box 106"/>
              <p:cNvSpPr txBox="1">
                <a:spLocks noChangeArrowheads="1"/>
              </p:cNvSpPr>
              <p:nvPr/>
            </p:nvSpPr>
            <p:spPr bwMode="auto">
              <a:xfrm>
                <a:off x="5076056" y="118418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A</a:t>
                </a:r>
                <a:endParaRPr lang="zh-CN" altLang="en-US" sz="1600" b="1" i="1" dirty="0">
                  <a:solidFill>
                    <a:schemeClr val="tx1"/>
                  </a:solidFill>
                  <a:latin typeface="Times New Roman" pitchFamily="18" charset="0"/>
                  <a:ea typeface="+mn-ea"/>
                  <a:cs typeface="Times New Roman" pitchFamily="18" charset="0"/>
                </a:endParaRPr>
              </a:p>
            </p:txBody>
          </p:sp>
          <p:sp>
            <p:nvSpPr>
              <p:cNvPr id="84" name="Text Box 106"/>
              <p:cNvSpPr txBox="1">
                <a:spLocks noChangeArrowheads="1"/>
              </p:cNvSpPr>
              <p:nvPr/>
            </p:nvSpPr>
            <p:spPr bwMode="auto">
              <a:xfrm>
                <a:off x="7763411" y="11125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B</a:t>
                </a:r>
                <a:endParaRPr lang="zh-CN" altLang="en-US" sz="1600" b="1" i="1" dirty="0">
                  <a:solidFill>
                    <a:schemeClr val="tx1"/>
                  </a:solidFill>
                  <a:latin typeface="Times New Roman" pitchFamily="18" charset="0"/>
                  <a:ea typeface="+mn-ea"/>
                  <a:cs typeface="Times New Roman" pitchFamily="18" charset="0"/>
                </a:endParaRPr>
              </a:p>
            </p:txBody>
          </p:sp>
          <p:sp>
            <p:nvSpPr>
              <p:cNvPr id="85" name="Text Box 106"/>
              <p:cNvSpPr txBox="1">
                <a:spLocks noChangeArrowheads="1"/>
              </p:cNvSpPr>
              <p:nvPr/>
            </p:nvSpPr>
            <p:spPr bwMode="auto">
              <a:xfrm>
                <a:off x="7061318" y="109222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C</a:t>
                </a:r>
                <a:endParaRPr lang="zh-CN" altLang="en-US" sz="1600" b="1" i="1" dirty="0">
                  <a:solidFill>
                    <a:schemeClr val="tx1"/>
                  </a:solidFill>
                  <a:latin typeface="Times New Roman" pitchFamily="18" charset="0"/>
                  <a:ea typeface="+mn-ea"/>
                  <a:cs typeface="Times New Roman" pitchFamily="18" charset="0"/>
                </a:endParaRPr>
              </a:p>
            </p:txBody>
          </p:sp>
          <p:sp>
            <p:nvSpPr>
              <p:cNvPr id="86" name="Text Box 106"/>
              <p:cNvSpPr txBox="1">
                <a:spLocks noChangeArrowheads="1"/>
              </p:cNvSpPr>
              <p:nvPr/>
            </p:nvSpPr>
            <p:spPr bwMode="auto">
              <a:xfrm>
                <a:off x="6012160" y="192656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grpSp>
            <p:nvGrpSpPr>
              <p:cNvPr id="87" name="组合 86"/>
              <p:cNvGrpSpPr/>
              <p:nvPr/>
            </p:nvGrpSpPr>
            <p:grpSpPr>
              <a:xfrm>
                <a:off x="7162958" y="1881738"/>
                <a:ext cx="891788" cy="472269"/>
                <a:chOff x="5852330" y="5787231"/>
                <a:chExt cx="2163454" cy="472269"/>
              </a:xfrm>
            </p:grpSpPr>
            <p:cxnSp>
              <p:nvCxnSpPr>
                <p:cNvPr id="94" name="直接连接符 93"/>
                <p:cNvCxnSpPr/>
                <p:nvPr/>
              </p:nvCxnSpPr>
              <p:spPr bwMode="auto">
                <a:xfrm>
                  <a:off x="5852330" y="6155047"/>
                  <a:ext cx="2153770"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8015784" y="5787231"/>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852330" y="6016209"/>
                  <a:ext cx="0" cy="24167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8" name="Text Box 106"/>
              <p:cNvSpPr txBox="1">
                <a:spLocks noChangeArrowheads="1"/>
              </p:cNvSpPr>
              <p:nvPr/>
            </p:nvSpPr>
            <p:spPr bwMode="auto">
              <a:xfrm>
                <a:off x="7331348" y="193372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b</a:t>
                </a:r>
                <a:endParaRPr lang="zh-CN" altLang="en-US" sz="1800" i="1" dirty="0">
                  <a:solidFill>
                    <a:schemeClr val="tx1"/>
                  </a:solidFill>
                  <a:latin typeface="Times New Roman" pitchFamily="18" charset="0"/>
                  <a:ea typeface="+mn-ea"/>
                  <a:cs typeface="Times New Roman" pitchFamily="18" charset="0"/>
                </a:endParaRPr>
              </a:p>
            </p:txBody>
          </p:sp>
          <p:sp>
            <p:nvSpPr>
              <p:cNvPr id="89" name="Text Box 106"/>
              <p:cNvSpPr txBox="1">
                <a:spLocks noChangeArrowheads="1"/>
              </p:cNvSpPr>
              <p:nvPr/>
            </p:nvSpPr>
            <p:spPr bwMode="auto">
              <a:xfrm>
                <a:off x="7090841" y="761724"/>
                <a:ext cx="4810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2000" b="1" i="1" dirty="0">
                    <a:latin typeface="Times New Roman" pitchFamily="18" charset="0"/>
                    <a:cs typeface="Times New Roman" pitchFamily="18" charset="0"/>
                  </a:rPr>
                  <a:t>F</a:t>
                </a:r>
                <a:endParaRPr lang="zh-CN" altLang="en-US" sz="2000" b="1" i="1" dirty="0">
                  <a:latin typeface="Times New Roman" pitchFamily="18" charset="0"/>
                  <a:cs typeface="Times New Roman" pitchFamily="18" charset="0"/>
                </a:endParaRPr>
              </a:p>
            </p:txBody>
          </p:sp>
          <p:sp>
            <p:nvSpPr>
              <p:cNvPr id="90" name="Text Box 106"/>
              <p:cNvSpPr txBox="1">
                <a:spLocks noChangeArrowheads="1"/>
              </p:cNvSpPr>
              <p:nvPr/>
            </p:nvSpPr>
            <p:spPr bwMode="auto">
              <a:xfrm>
                <a:off x="8507958" y="136225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x</a:t>
                </a:r>
                <a:endParaRPr lang="zh-CN" altLang="en-US" sz="1600" b="1" i="1" dirty="0">
                  <a:solidFill>
                    <a:schemeClr val="tx1"/>
                  </a:solidFill>
                  <a:latin typeface="Times New Roman" pitchFamily="18" charset="0"/>
                  <a:ea typeface="+mn-ea"/>
                  <a:cs typeface="Times New Roman" pitchFamily="18" charset="0"/>
                </a:endParaRPr>
              </a:p>
            </p:txBody>
          </p:sp>
          <p:sp>
            <p:nvSpPr>
              <p:cNvPr id="91" name="Line 69"/>
              <p:cNvSpPr>
                <a:spLocks noChangeShapeType="1"/>
              </p:cNvSpPr>
              <p:nvPr/>
            </p:nvSpPr>
            <p:spPr bwMode="auto">
              <a:xfrm rot="16200000">
                <a:off x="5126723" y="1078920"/>
                <a:ext cx="620973"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sp>
            <p:nvSpPr>
              <p:cNvPr id="93" name="Text Box 106"/>
              <p:cNvSpPr txBox="1">
                <a:spLocks noChangeArrowheads="1"/>
              </p:cNvSpPr>
              <p:nvPr/>
            </p:nvSpPr>
            <p:spPr bwMode="auto">
              <a:xfrm>
                <a:off x="5292080" y="64217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y</a:t>
                </a:r>
                <a:endParaRPr lang="zh-CN" altLang="en-US" sz="1600" b="1" i="1" dirty="0">
                  <a:solidFill>
                    <a:schemeClr val="tx1"/>
                  </a:solidFill>
                  <a:latin typeface="Times New Roman" pitchFamily="18" charset="0"/>
                  <a:ea typeface="+mn-ea"/>
                  <a:cs typeface="Times New Roman" pitchFamily="18" charset="0"/>
                </a:endParaRPr>
              </a:p>
            </p:txBody>
          </p:sp>
        </p:grpSp>
      </p:grpSp>
      <p:grpSp>
        <p:nvGrpSpPr>
          <p:cNvPr id="99" name="组合 98"/>
          <p:cNvGrpSpPr/>
          <p:nvPr/>
        </p:nvGrpSpPr>
        <p:grpSpPr>
          <a:xfrm>
            <a:off x="7908153" y="2292640"/>
            <a:ext cx="3330115" cy="579656"/>
            <a:chOff x="5434639" y="1121152"/>
            <a:chExt cx="3330115" cy="579656"/>
          </a:xfrm>
        </p:grpSpPr>
        <p:sp>
          <p:nvSpPr>
            <p:cNvPr id="100" name="Text Box 106"/>
            <p:cNvSpPr txBox="1">
              <a:spLocks noChangeArrowheads="1"/>
            </p:cNvSpPr>
            <p:nvPr/>
          </p:nvSpPr>
          <p:spPr bwMode="auto">
            <a:xfrm>
              <a:off x="6467252" y="112115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D</a:t>
              </a:r>
              <a:endParaRPr lang="zh-CN" altLang="en-US" sz="1600" b="1" i="1" dirty="0">
                <a:solidFill>
                  <a:schemeClr val="tx1"/>
                </a:solidFill>
                <a:latin typeface="Times New Roman" pitchFamily="18" charset="0"/>
                <a:ea typeface="+mn-ea"/>
                <a:cs typeface="Times New Roman" pitchFamily="18" charset="0"/>
              </a:endParaRPr>
            </a:p>
          </p:txBody>
        </p:sp>
        <p:sp>
          <p:nvSpPr>
            <p:cNvPr id="101" name="任意多边形 100"/>
            <p:cNvSpPr/>
            <p:nvPr/>
          </p:nvSpPr>
          <p:spPr>
            <a:xfrm>
              <a:off x="5448300" y="1397000"/>
              <a:ext cx="2616200" cy="291813"/>
            </a:xfrm>
            <a:custGeom>
              <a:avLst/>
              <a:gdLst>
                <a:gd name="connsiteX0" fmla="*/ 0 w 2616200"/>
                <a:gd name="connsiteY0" fmla="*/ 0 h 412766"/>
                <a:gd name="connsiteX1" fmla="*/ 1308100 w 2616200"/>
                <a:gd name="connsiteY1" fmla="*/ 412750 h 412766"/>
                <a:gd name="connsiteX2" fmla="*/ 2616200 w 2616200"/>
                <a:gd name="connsiteY2" fmla="*/ 12700 h 412766"/>
              </a:gdLst>
              <a:ahLst/>
              <a:cxnLst>
                <a:cxn ang="0">
                  <a:pos x="connsiteX0" y="connsiteY0"/>
                </a:cxn>
                <a:cxn ang="0">
                  <a:pos x="connsiteX1" y="connsiteY1"/>
                </a:cxn>
                <a:cxn ang="0">
                  <a:pos x="connsiteX2" y="connsiteY2"/>
                </a:cxn>
              </a:cxnLst>
              <a:rect l="l" t="t" r="r" b="b"/>
              <a:pathLst>
                <a:path w="2616200" h="412766">
                  <a:moveTo>
                    <a:pt x="0" y="0"/>
                  </a:moveTo>
                  <a:cubicBezTo>
                    <a:pt x="436033" y="205316"/>
                    <a:pt x="872067" y="410633"/>
                    <a:pt x="1308100" y="412750"/>
                  </a:cubicBezTo>
                  <a:cubicBezTo>
                    <a:pt x="1744133" y="414867"/>
                    <a:pt x="2180166" y="213783"/>
                    <a:pt x="2616200" y="12700"/>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a:xfrm>
              <a:off x="5434639" y="1389407"/>
              <a:ext cx="577521" cy="239393"/>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3" name="任意多边形 102"/>
            <p:cNvSpPr/>
            <p:nvPr/>
          </p:nvSpPr>
          <p:spPr>
            <a:xfrm>
              <a:off x="5765006" y="1390650"/>
              <a:ext cx="42863" cy="138113"/>
            </a:xfrm>
            <a:custGeom>
              <a:avLst/>
              <a:gdLst>
                <a:gd name="connsiteX0" fmla="*/ 0 w 42863"/>
                <a:gd name="connsiteY0" fmla="*/ 138113 h 138113"/>
                <a:gd name="connsiteX1" fmla="*/ 35719 w 42863"/>
                <a:gd name="connsiteY1" fmla="*/ 69056 h 138113"/>
                <a:gd name="connsiteX2" fmla="*/ 42863 w 42863"/>
                <a:gd name="connsiteY2" fmla="*/ 0 h 138113"/>
              </a:gdLst>
              <a:ahLst/>
              <a:cxnLst>
                <a:cxn ang="0">
                  <a:pos x="connsiteX0" y="connsiteY0"/>
                </a:cxn>
                <a:cxn ang="0">
                  <a:pos x="connsiteX1" y="connsiteY1"/>
                </a:cxn>
                <a:cxn ang="0">
                  <a:pos x="connsiteX2" y="connsiteY2"/>
                </a:cxn>
              </a:cxnLst>
              <a:rect l="l" t="t" r="r" b="b"/>
              <a:pathLst>
                <a:path w="42863" h="138113">
                  <a:moveTo>
                    <a:pt x="0" y="138113"/>
                  </a:moveTo>
                  <a:cubicBezTo>
                    <a:pt x="14287" y="115094"/>
                    <a:pt x="28575" y="92075"/>
                    <a:pt x="35719" y="69056"/>
                  </a:cubicBezTo>
                  <a:cubicBezTo>
                    <a:pt x="42863" y="46037"/>
                    <a:pt x="42863" y="23018"/>
                    <a:pt x="42863"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Text Box 106"/>
            <p:cNvSpPr txBox="1">
              <a:spLocks noChangeArrowheads="1"/>
            </p:cNvSpPr>
            <p:nvPr/>
          </p:nvSpPr>
          <p:spPr bwMode="auto">
            <a:xfrm>
              <a:off x="5745336" y="131780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A</a:t>
              </a:r>
              <a:endParaRPr lang="zh-CN" altLang="en-US" sz="1600" b="1" i="1" baseline="-25000" dirty="0">
                <a:solidFill>
                  <a:schemeClr val="tx1"/>
                </a:solidFill>
                <a:latin typeface="Times New Roman" pitchFamily="18" charset="0"/>
                <a:ea typeface="+mn-ea"/>
                <a:cs typeface="Times New Roman" pitchFamily="18" charset="0"/>
              </a:endParaRPr>
            </a:p>
          </p:txBody>
        </p:sp>
        <p:cxnSp>
          <p:nvCxnSpPr>
            <p:cNvPr id="105" name="直接连接符 104"/>
            <p:cNvCxnSpPr/>
            <p:nvPr/>
          </p:nvCxnSpPr>
          <p:spPr>
            <a:xfrm flipV="1">
              <a:off x="8054745" y="1161834"/>
              <a:ext cx="549703" cy="239956"/>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6" name="任意多边形 105"/>
            <p:cNvSpPr/>
            <p:nvPr/>
          </p:nvSpPr>
          <p:spPr>
            <a:xfrm>
              <a:off x="8315325" y="1295400"/>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p:cNvCxnSpPr/>
            <p:nvPr/>
          </p:nvCxnSpPr>
          <p:spPr bwMode="auto">
            <a:xfrm>
              <a:off x="6752245" y="1412776"/>
              <a:ext cx="0" cy="288032"/>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6"/>
            <p:cNvSpPr txBox="1">
              <a:spLocks noChangeArrowheads="1"/>
            </p:cNvSpPr>
            <p:nvPr/>
          </p:nvSpPr>
          <p:spPr bwMode="auto">
            <a:xfrm>
              <a:off x="6685731" y="1340768"/>
              <a:ext cx="5505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buNone/>
                <a:defRPr/>
              </a:pPr>
              <a:r>
                <a:rPr lang="en-US" altLang="zh-CN" sz="1600" b="1" i="1" dirty="0" err="1">
                  <a:solidFill>
                    <a:schemeClr val="tx1"/>
                  </a:solidFill>
                  <a:latin typeface="Times New Roman" pitchFamily="18" charset="0"/>
                  <a:ea typeface="+mn-ea"/>
                  <a:cs typeface="Times New Roman" pitchFamily="18" charset="0"/>
                  <a:sym typeface="Symbol"/>
                </a:rPr>
                <a:t>y</a:t>
              </a:r>
              <a:r>
                <a:rPr lang="en-US" altLang="zh-CN" sz="1600" b="1" i="1" baseline="-25000" dirty="0" err="1">
                  <a:solidFill>
                    <a:schemeClr val="tx1"/>
                  </a:solidFill>
                  <a:latin typeface="Times New Roman" pitchFamily="18" charset="0"/>
                  <a:ea typeface="+mn-ea"/>
                  <a:cs typeface="Times New Roman" pitchFamily="18" charset="0"/>
                  <a:sym typeface="Symbol"/>
                </a:rPr>
                <a:t>max</a:t>
              </a:r>
              <a:endParaRPr lang="zh-CN" altLang="en-US" sz="1600" b="1" i="1" baseline="-25000" dirty="0">
                <a:solidFill>
                  <a:schemeClr val="tx1"/>
                </a:solidFill>
                <a:latin typeface="Times New Roman" pitchFamily="18" charset="0"/>
                <a:ea typeface="+mn-ea"/>
                <a:cs typeface="Times New Roman" pitchFamily="18" charset="0"/>
              </a:endParaRPr>
            </a:p>
          </p:txBody>
        </p:sp>
        <p:sp>
          <p:nvSpPr>
            <p:cNvPr id="109" name="Text Box 106"/>
            <p:cNvSpPr txBox="1">
              <a:spLocks noChangeArrowheads="1"/>
            </p:cNvSpPr>
            <p:nvPr/>
          </p:nvSpPr>
          <p:spPr bwMode="auto">
            <a:xfrm>
              <a:off x="8283742" y="112474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B</a:t>
              </a:r>
              <a:endParaRPr lang="zh-CN" altLang="en-US" sz="1600" b="1" i="1" baseline="-25000" dirty="0">
                <a:solidFill>
                  <a:schemeClr val="tx1"/>
                </a:solidFill>
                <a:latin typeface="Times New Roman" pitchFamily="18" charset="0"/>
                <a:ea typeface="+mn-ea"/>
                <a:cs typeface="Times New Roman" pitchFamily="18" charset="0"/>
              </a:endParaRPr>
            </a:p>
          </p:txBody>
        </p:sp>
      </p:grpSp>
      <p:grpSp>
        <p:nvGrpSpPr>
          <p:cNvPr id="110" name="组合 109"/>
          <p:cNvGrpSpPr/>
          <p:nvPr/>
        </p:nvGrpSpPr>
        <p:grpSpPr>
          <a:xfrm>
            <a:off x="7530624" y="2600009"/>
            <a:ext cx="3061570" cy="547726"/>
            <a:chOff x="6230119" y="1585268"/>
            <a:chExt cx="3061570" cy="547726"/>
          </a:xfrm>
        </p:grpSpPr>
        <p:sp>
          <p:nvSpPr>
            <p:cNvPr id="111" name="Text Box 106"/>
            <p:cNvSpPr txBox="1">
              <a:spLocks noChangeArrowheads="1"/>
            </p:cNvSpPr>
            <p:nvPr/>
          </p:nvSpPr>
          <p:spPr bwMode="auto">
            <a:xfrm>
              <a:off x="6230119" y="173400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A</a:t>
              </a:r>
              <a:endParaRPr lang="zh-CN" altLang="en-US" sz="1800" i="1" baseline="-25000" dirty="0">
                <a:solidFill>
                  <a:srgbClr val="0000FF"/>
                </a:solidFill>
                <a:latin typeface="Times New Roman" pitchFamily="18" charset="0"/>
                <a:ea typeface="+mn-ea"/>
                <a:cs typeface="Times New Roman" pitchFamily="18" charset="0"/>
              </a:endParaRPr>
            </a:p>
          </p:txBody>
        </p:sp>
        <p:cxnSp>
          <p:nvCxnSpPr>
            <p:cNvPr id="112" name="直接箭头连接符 250"/>
            <p:cNvCxnSpPr>
              <a:cxnSpLocks noChangeShapeType="1"/>
            </p:cNvCxnSpPr>
            <p:nvPr/>
          </p:nvCxnSpPr>
          <p:spPr bwMode="auto">
            <a:xfrm flipV="1">
              <a:off x="6610609" y="1585268"/>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箭头连接符 250"/>
            <p:cNvCxnSpPr>
              <a:cxnSpLocks noChangeShapeType="1"/>
            </p:cNvCxnSpPr>
            <p:nvPr/>
          </p:nvCxnSpPr>
          <p:spPr bwMode="auto">
            <a:xfrm flipV="1">
              <a:off x="9227300" y="1592744"/>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06"/>
            <p:cNvSpPr txBox="1">
              <a:spLocks noChangeArrowheads="1"/>
            </p:cNvSpPr>
            <p:nvPr/>
          </p:nvSpPr>
          <p:spPr bwMode="auto">
            <a:xfrm>
              <a:off x="8810677" y="1763662"/>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B</a:t>
              </a:r>
              <a:endParaRPr lang="zh-CN" altLang="en-US" sz="1800" i="1" baseline="-25000" dirty="0">
                <a:solidFill>
                  <a:srgbClr val="0000FF"/>
                </a:solidFill>
                <a:latin typeface="Times New Roman" pitchFamily="18" charset="0"/>
                <a:ea typeface="+mn-ea"/>
                <a:cs typeface="Times New Roman" pitchFamily="18" charset="0"/>
              </a:endParaRPr>
            </a:p>
          </p:txBody>
        </p:sp>
      </p:grpSp>
      <p:grpSp>
        <p:nvGrpSpPr>
          <p:cNvPr id="115" name="组合 114"/>
          <p:cNvGrpSpPr/>
          <p:nvPr/>
        </p:nvGrpSpPr>
        <p:grpSpPr>
          <a:xfrm>
            <a:off x="7919659" y="2697685"/>
            <a:ext cx="1936501" cy="517552"/>
            <a:chOff x="4131850" y="4293096"/>
            <a:chExt cx="1936501" cy="517552"/>
          </a:xfrm>
        </p:grpSpPr>
        <p:grpSp>
          <p:nvGrpSpPr>
            <p:cNvPr id="116" name="组合 115"/>
            <p:cNvGrpSpPr/>
            <p:nvPr/>
          </p:nvGrpSpPr>
          <p:grpSpPr>
            <a:xfrm rot="5400000">
              <a:off x="4949337" y="3691634"/>
              <a:ext cx="301527" cy="1936501"/>
              <a:chOff x="7998643" y="4365868"/>
              <a:chExt cx="301527" cy="1936501"/>
            </a:xfrm>
          </p:grpSpPr>
          <p:cxnSp>
            <p:nvCxnSpPr>
              <p:cNvPr id="119" name="直接连接符 118"/>
              <p:cNvCxnSpPr/>
              <p:nvPr/>
            </p:nvCxnSpPr>
            <p:spPr bwMode="auto">
              <a:xfrm rot="16200000" flipH="1">
                <a:off x="7810945" y="5972748"/>
                <a:ext cx="659242"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rot="16200000" flipH="1" flipV="1">
                <a:off x="8102285" y="5537632"/>
                <a:ext cx="1854" cy="209138"/>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直接连接符 120"/>
              <p:cNvCxnSpPr/>
              <p:nvPr/>
            </p:nvCxnSpPr>
            <p:spPr bwMode="auto">
              <a:xfrm rot="16200000" flipH="1">
                <a:off x="7314738" y="5330914"/>
                <a:ext cx="1930091"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p:cNvCxnSpPr/>
              <p:nvPr/>
            </p:nvCxnSpPr>
            <p:spPr bwMode="auto">
              <a:xfrm rot="16200000" flipV="1">
                <a:off x="8149408" y="4215106"/>
                <a:ext cx="0" cy="301524"/>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Text Box 106"/>
            <p:cNvSpPr txBox="1">
              <a:spLocks noChangeArrowheads="1"/>
            </p:cNvSpPr>
            <p:nvPr/>
          </p:nvSpPr>
          <p:spPr bwMode="auto">
            <a:xfrm>
              <a:off x="4220964" y="429309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1</a:t>
              </a:r>
              <a:endParaRPr lang="zh-CN" altLang="en-US" sz="1800" baseline="-25000" dirty="0">
                <a:solidFill>
                  <a:schemeClr val="tx1"/>
                </a:solidFill>
                <a:latin typeface="Times New Roman" pitchFamily="18" charset="0"/>
                <a:ea typeface="+mn-ea"/>
                <a:cs typeface="Times New Roman" pitchFamily="18" charset="0"/>
              </a:endParaRPr>
            </a:p>
          </p:txBody>
        </p:sp>
        <p:sp>
          <p:nvSpPr>
            <p:cNvPr id="118" name="Text Box 106"/>
            <p:cNvSpPr txBox="1">
              <a:spLocks noChangeArrowheads="1"/>
            </p:cNvSpPr>
            <p:nvPr/>
          </p:nvSpPr>
          <p:spPr bwMode="auto">
            <a:xfrm>
              <a:off x="4932040" y="443711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2</a:t>
              </a:r>
              <a:endParaRPr lang="zh-CN" altLang="en-US" sz="1800" baseline="-25000" dirty="0">
                <a:solidFill>
                  <a:schemeClr val="tx1"/>
                </a:solidFill>
                <a:latin typeface="Times New Roman" pitchFamily="18" charset="0"/>
                <a:ea typeface="+mn-ea"/>
                <a:cs typeface="Times New Roman" pitchFamily="18" charset="0"/>
              </a:endParaRPr>
            </a:p>
          </p:txBody>
        </p:sp>
      </p:grpSp>
      <p:graphicFrame>
        <p:nvGraphicFramePr>
          <p:cNvPr id="123" name="Object 5"/>
          <p:cNvGraphicFramePr>
            <a:graphicFrameLocks noChangeAspect="1"/>
          </p:cNvGraphicFramePr>
          <p:nvPr>
            <p:extLst>
              <p:ext uri="{D42A27DB-BD31-4B8C-83A1-F6EECF244321}">
                <p14:modId xmlns:p14="http://schemas.microsoft.com/office/powerpoint/2010/main" val="553169754"/>
              </p:ext>
            </p:extLst>
          </p:nvPr>
        </p:nvGraphicFramePr>
        <p:xfrm>
          <a:off x="1797110" y="2281385"/>
          <a:ext cx="2209680" cy="710640"/>
        </p:xfrm>
        <a:graphic>
          <a:graphicData uri="http://schemas.openxmlformats.org/presentationml/2006/ole">
            <mc:AlternateContent xmlns:mc="http://schemas.openxmlformats.org/markup-compatibility/2006">
              <mc:Choice xmlns:v="urn:schemas-microsoft-com:vml" Requires="v">
                <p:oleObj spid="_x0000_s36895" name="公式" r:id="rId4" imgW="1104840" imgH="355320" progId="Equation.3">
                  <p:embed/>
                </p:oleObj>
              </mc:Choice>
              <mc:Fallback>
                <p:oleObj name="公式" r:id="rId4" imgW="1104840" imgH="355320" progId="Equation.3">
                  <p:embed/>
                  <p:pic>
                    <p:nvPicPr>
                      <p:cNvPr id="123" name="Object 5"/>
                      <p:cNvPicPr>
                        <a:picLocks noChangeAspect="1" noChangeArrowheads="1"/>
                      </p:cNvPicPr>
                      <p:nvPr/>
                    </p:nvPicPr>
                    <p:blipFill>
                      <a:blip r:embed="rId5"/>
                      <a:srcRect/>
                      <a:stretch>
                        <a:fillRect/>
                      </a:stretch>
                    </p:blipFill>
                    <p:spPr bwMode="auto">
                      <a:xfrm>
                        <a:off x="1797110" y="2281385"/>
                        <a:ext cx="2209680" cy="710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 name="Object 7"/>
          <p:cNvGraphicFramePr>
            <a:graphicFrameLocks noChangeAspect="1"/>
          </p:cNvGraphicFramePr>
          <p:nvPr>
            <p:extLst>
              <p:ext uri="{D42A27DB-BD31-4B8C-83A1-F6EECF244321}">
                <p14:modId xmlns:p14="http://schemas.microsoft.com/office/powerpoint/2010/main" val="472566056"/>
              </p:ext>
            </p:extLst>
          </p:nvPr>
        </p:nvGraphicFramePr>
        <p:xfrm>
          <a:off x="2081783" y="3557287"/>
          <a:ext cx="4064000" cy="711200"/>
        </p:xfrm>
        <a:graphic>
          <a:graphicData uri="http://schemas.openxmlformats.org/presentationml/2006/ole">
            <mc:AlternateContent xmlns:mc="http://schemas.openxmlformats.org/markup-compatibility/2006">
              <mc:Choice xmlns:v="urn:schemas-microsoft-com:vml" Requires="v">
                <p:oleObj spid="_x0000_s36896" name="公式" r:id="rId6" imgW="2031840" imgH="355320" progId="Equation.3">
                  <p:embed/>
                </p:oleObj>
              </mc:Choice>
              <mc:Fallback>
                <p:oleObj name="公式" r:id="rId6" imgW="2031840" imgH="355320" progId="Equation.3">
                  <p:embed/>
                  <p:pic>
                    <p:nvPicPr>
                      <p:cNvPr id="446471" name="Object 7"/>
                      <p:cNvPicPr>
                        <a:picLocks noChangeAspect="1" noChangeArrowheads="1"/>
                      </p:cNvPicPr>
                      <p:nvPr/>
                    </p:nvPicPr>
                    <p:blipFill>
                      <a:blip r:embed="rId7"/>
                      <a:srcRect/>
                      <a:stretch>
                        <a:fillRect/>
                      </a:stretch>
                    </p:blipFill>
                    <p:spPr bwMode="auto">
                      <a:xfrm>
                        <a:off x="2081783" y="3557287"/>
                        <a:ext cx="40640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6" name="Text Box 8"/>
          <p:cNvSpPr txBox="1">
            <a:spLocks noChangeArrowheads="1"/>
          </p:cNvSpPr>
          <p:nvPr/>
        </p:nvSpPr>
        <p:spPr bwMode="auto">
          <a:xfrm>
            <a:off x="1160372" y="3696009"/>
            <a:ext cx="1778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en-US" altLang="zh-CN" sz="2000" b="1" i="1" dirty="0">
                <a:solidFill>
                  <a:schemeClr val="tx1"/>
                </a:solidFill>
                <a:latin typeface="Times New Roman" pitchFamily="18" charset="0"/>
              </a:rPr>
              <a:t>AC</a:t>
            </a:r>
            <a:r>
              <a:rPr kumimoji="1" lang="en-US" altLang="zh-CN" sz="2000" b="1" dirty="0">
                <a:solidFill>
                  <a:schemeClr val="tx1"/>
                </a:solidFill>
                <a:latin typeface="Times New Roman" pitchFamily="18" charset="0"/>
              </a:rPr>
              <a:t> </a:t>
            </a:r>
            <a:r>
              <a:rPr kumimoji="1" lang="zh-CN" altLang="en-US" sz="2000" b="1" i="0" dirty="0">
                <a:solidFill>
                  <a:schemeClr val="tx1"/>
                </a:solidFill>
                <a:latin typeface="Times New Roman" pitchFamily="18" charset="0"/>
              </a:rPr>
              <a:t>段：</a:t>
            </a:r>
          </a:p>
        </p:txBody>
      </p:sp>
      <p:sp>
        <p:nvSpPr>
          <p:cNvPr id="127" name="Text Box 10"/>
          <p:cNvSpPr txBox="1">
            <a:spLocks noChangeArrowheads="1"/>
          </p:cNvSpPr>
          <p:nvPr/>
        </p:nvSpPr>
        <p:spPr bwMode="auto">
          <a:xfrm>
            <a:off x="1154022" y="4526146"/>
            <a:ext cx="2235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en-US" altLang="zh-CN" sz="2000" b="1" i="1" dirty="0">
                <a:solidFill>
                  <a:schemeClr val="tx1"/>
                </a:solidFill>
                <a:latin typeface="Times New Roman" pitchFamily="18" charset="0"/>
              </a:rPr>
              <a:t>CB</a:t>
            </a:r>
            <a:r>
              <a:rPr kumimoji="1" lang="en-US" altLang="zh-CN" sz="2000" b="1" dirty="0">
                <a:solidFill>
                  <a:schemeClr val="tx1"/>
                </a:solidFill>
                <a:latin typeface="Times New Roman" pitchFamily="18" charset="0"/>
              </a:rPr>
              <a:t> </a:t>
            </a:r>
            <a:r>
              <a:rPr kumimoji="1" lang="zh-CN" altLang="en-US" sz="2000" b="1" i="0" dirty="0">
                <a:solidFill>
                  <a:schemeClr val="tx1"/>
                </a:solidFill>
                <a:latin typeface="Times New Roman" pitchFamily="18" charset="0"/>
              </a:rPr>
              <a:t>段：</a:t>
            </a:r>
          </a:p>
        </p:txBody>
      </p:sp>
      <p:graphicFrame>
        <p:nvGraphicFramePr>
          <p:cNvPr id="128" name="Object 9"/>
          <p:cNvGraphicFramePr>
            <a:graphicFrameLocks noChangeAspect="1"/>
          </p:cNvGraphicFramePr>
          <p:nvPr>
            <p:extLst>
              <p:ext uri="{D42A27DB-BD31-4B8C-83A1-F6EECF244321}">
                <p14:modId xmlns:p14="http://schemas.microsoft.com/office/powerpoint/2010/main" val="1846771704"/>
              </p:ext>
            </p:extLst>
          </p:nvPr>
        </p:nvGraphicFramePr>
        <p:xfrm>
          <a:off x="2082766" y="4385238"/>
          <a:ext cx="6858000" cy="711200"/>
        </p:xfrm>
        <a:graphic>
          <a:graphicData uri="http://schemas.openxmlformats.org/presentationml/2006/ole">
            <mc:AlternateContent xmlns:mc="http://schemas.openxmlformats.org/markup-compatibility/2006">
              <mc:Choice xmlns:v="urn:schemas-microsoft-com:vml" Requires="v">
                <p:oleObj spid="_x0000_s36897" name="公式" r:id="rId8" imgW="3429000" imgH="355320" progId="Equation.3">
                  <p:embed/>
                </p:oleObj>
              </mc:Choice>
              <mc:Fallback>
                <p:oleObj name="公式" r:id="rId8" imgW="3429000" imgH="355320" progId="Equation.3">
                  <p:embed/>
                  <p:pic>
                    <p:nvPicPr>
                      <p:cNvPr id="446473" name="Object 9"/>
                      <p:cNvPicPr>
                        <a:picLocks noChangeAspect="1" noChangeArrowheads="1"/>
                      </p:cNvPicPr>
                      <p:nvPr/>
                    </p:nvPicPr>
                    <p:blipFill>
                      <a:blip r:embed="rId9"/>
                      <a:srcRect/>
                      <a:stretch>
                        <a:fillRect/>
                      </a:stretch>
                    </p:blipFill>
                    <p:spPr bwMode="auto">
                      <a:xfrm>
                        <a:off x="2082766" y="4385238"/>
                        <a:ext cx="68580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29596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92" grpId="0"/>
      <p:bldP spid="126" grpId="0"/>
      <p:bldP spid="12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44" name="矩形 43">
            <a:extLst>
              <a:ext uri="{FF2B5EF4-FFF2-40B4-BE49-F238E27FC236}">
                <a16:creationId xmlns:a16="http://schemas.microsoft.com/office/drawing/2014/main" id="{08211CFD-EFDE-57CB-1D38-EAC0B8497A77}"/>
              </a:ext>
            </a:extLst>
          </p:cNvPr>
          <p:cNvSpPr/>
          <p:nvPr/>
        </p:nvSpPr>
        <p:spPr>
          <a:xfrm>
            <a:off x="211183" y="936287"/>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3)  </a:t>
            </a:r>
            <a:r>
              <a:rPr kumimoji="1" lang="zh-CN" altLang="en-US" i="0" dirty="0">
                <a:solidFill>
                  <a:srgbClr val="000000"/>
                </a:solidFill>
                <a:ea typeface="黑体" panose="02010609060101010101" pitchFamily="49" charset="-122"/>
              </a:rPr>
              <a:t>列挠曲线近似微分方程</a:t>
            </a:r>
            <a:endParaRPr kumimoji="1" lang="en-US" altLang="zh-CN" i="0" dirty="0">
              <a:solidFill>
                <a:srgbClr val="000000"/>
              </a:solidFill>
              <a:ea typeface="黑体" panose="02010609060101010101" pitchFamily="49" charset="-122"/>
            </a:endParaRPr>
          </a:p>
        </p:txBody>
      </p:sp>
      <p:grpSp>
        <p:nvGrpSpPr>
          <p:cNvPr id="52" name="组合 51"/>
          <p:cNvGrpSpPr/>
          <p:nvPr/>
        </p:nvGrpSpPr>
        <p:grpSpPr>
          <a:xfrm>
            <a:off x="7715886" y="2591044"/>
            <a:ext cx="3034383" cy="414872"/>
            <a:chOff x="5242372" y="2726095"/>
            <a:chExt cx="3034383" cy="414872"/>
          </a:xfrm>
        </p:grpSpPr>
        <p:grpSp>
          <p:nvGrpSpPr>
            <p:cNvPr id="53" name="组合 224"/>
            <p:cNvGrpSpPr>
              <a:grpSpLocks/>
            </p:cNvGrpSpPr>
            <p:nvPr/>
          </p:nvGrpSpPr>
          <p:grpSpPr bwMode="auto">
            <a:xfrm>
              <a:off x="7838605" y="2744093"/>
              <a:ext cx="438150" cy="396874"/>
              <a:chOff x="6199814" y="5094186"/>
              <a:chExt cx="473132" cy="428315"/>
            </a:xfrm>
          </p:grpSpPr>
          <p:grpSp>
            <p:nvGrpSpPr>
              <p:cNvPr id="65" name="组合 225"/>
              <p:cNvGrpSpPr>
                <a:grpSpLocks/>
              </p:cNvGrpSpPr>
              <p:nvPr/>
            </p:nvGrpSpPr>
            <p:grpSpPr bwMode="auto">
              <a:xfrm>
                <a:off x="6199814" y="5451033"/>
                <a:ext cx="473132" cy="71468"/>
                <a:chOff x="2321750" y="5453423"/>
                <a:chExt cx="473132" cy="71468"/>
              </a:xfrm>
            </p:grpSpPr>
            <p:cxnSp>
              <p:nvCxnSpPr>
                <p:cNvPr id="69"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等腰三角形 226"/>
              <p:cNvSpPr>
                <a:spLocks noChangeArrowheads="1"/>
              </p:cNvSpPr>
              <p:nvPr/>
            </p:nvSpPr>
            <p:spPr bwMode="auto">
              <a:xfrm>
                <a:off x="6314201" y="5094186"/>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椭圆 227"/>
              <p:cNvSpPr>
                <a:spLocks noChangeArrowheads="1"/>
              </p:cNvSpPr>
              <p:nvPr/>
            </p:nvSpPr>
            <p:spPr bwMode="auto">
              <a:xfrm>
                <a:off x="6314201" y="5376793"/>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椭圆 228"/>
              <p:cNvSpPr>
                <a:spLocks noChangeArrowheads="1"/>
              </p:cNvSpPr>
              <p:nvPr/>
            </p:nvSpPr>
            <p:spPr bwMode="auto">
              <a:xfrm>
                <a:off x="6484713" y="538352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54" name="组合 237"/>
            <p:cNvGrpSpPr>
              <a:grpSpLocks/>
            </p:cNvGrpSpPr>
            <p:nvPr/>
          </p:nvGrpSpPr>
          <p:grpSpPr bwMode="auto">
            <a:xfrm>
              <a:off x="5242372" y="2726095"/>
              <a:ext cx="354013" cy="317497"/>
              <a:chOff x="2312606" y="5094189"/>
              <a:chExt cx="473132" cy="424337"/>
            </a:xfrm>
          </p:grpSpPr>
          <p:sp>
            <p:nvSpPr>
              <p:cNvPr id="55" name="等腰三角形 238"/>
              <p:cNvSpPr>
                <a:spLocks noChangeArrowheads="1"/>
              </p:cNvSpPr>
              <p:nvPr/>
            </p:nvSpPr>
            <p:spPr bwMode="auto">
              <a:xfrm>
                <a:off x="2411760" y="5094189"/>
                <a:ext cx="315616" cy="36004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6" name="组合 239"/>
              <p:cNvGrpSpPr>
                <a:grpSpLocks/>
              </p:cNvGrpSpPr>
              <p:nvPr/>
            </p:nvGrpSpPr>
            <p:grpSpPr bwMode="auto">
              <a:xfrm>
                <a:off x="2312606" y="5447058"/>
                <a:ext cx="473132" cy="71468"/>
                <a:chOff x="2321750" y="5453423"/>
                <a:chExt cx="473132" cy="71468"/>
              </a:xfrm>
            </p:grpSpPr>
            <p:cxnSp>
              <p:nvCxnSpPr>
                <p:cNvPr id="57"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grpSp>
        <p:nvGrpSpPr>
          <p:cNvPr id="77" name="组合 76"/>
          <p:cNvGrpSpPr/>
          <p:nvPr/>
        </p:nvGrpSpPr>
        <p:grpSpPr>
          <a:xfrm>
            <a:off x="7549570" y="1842590"/>
            <a:ext cx="3912914" cy="1711833"/>
            <a:chOff x="5076056" y="652438"/>
            <a:chExt cx="3912914" cy="1711833"/>
          </a:xfrm>
        </p:grpSpPr>
        <p:sp>
          <p:nvSpPr>
            <p:cNvPr id="78" name="Line 69"/>
            <p:cNvSpPr>
              <a:spLocks noChangeShapeType="1"/>
            </p:cNvSpPr>
            <p:nvPr/>
          </p:nvSpPr>
          <p:spPr bwMode="auto">
            <a:xfrm>
              <a:off x="8021963" y="1401790"/>
              <a:ext cx="838767"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grpSp>
          <p:nvGrpSpPr>
            <p:cNvPr id="79" name="组合 78"/>
            <p:cNvGrpSpPr/>
            <p:nvPr/>
          </p:nvGrpSpPr>
          <p:grpSpPr>
            <a:xfrm>
              <a:off x="5076056" y="652438"/>
              <a:ext cx="3912914" cy="1711833"/>
              <a:chOff x="5076056" y="642174"/>
              <a:chExt cx="3912914" cy="1711833"/>
            </a:xfrm>
          </p:grpSpPr>
          <p:cxnSp>
            <p:nvCxnSpPr>
              <p:cNvPr id="80" name="直接箭头连接符 250"/>
              <p:cNvCxnSpPr>
                <a:cxnSpLocks noChangeShapeType="1"/>
              </p:cNvCxnSpPr>
              <p:nvPr/>
            </p:nvCxnSpPr>
            <p:spPr bwMode="auto">
              <a:xfrm>
                <a:off x="7164288" y="908720"/>
                <a:ext cx="0" cy="450850"/>
              </a:xfrm>
              <a:prstGeom prst="straightConnector1">
                <a:avLst/>
              </a:prstGeom>
              <a:noFill/>
              <a:ln w="28575" cap="sq" algn="ctr">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 name="组合 80"/>
              <p:cNvGrpSpPr/>
              <p:nvPr/>
            </p:nvGrpSpPr>
            <p:grpSpPr>
              <a:xfrm>
                <a:off x="5448420" y="1876611"/>
                <a:ext cx="1708188" cy="472269"/>
                <a:chOff x="5852330" y="5785618"/>
                <a:chExt cx="2153769" cy="472269"/>
              </a:xfrm>
            </p:grpSpPr>
            <p:cxnSp>
              <p:nvCxnSpPr>
                <p:cNvPr id="97" name="直接连接符 96"/>
                <p:cNvCxnSpPr/>
                <p:nvPr/>
              </p:nvCxnSpPr>
              <p:spPr bwMode="auto">
                <a:xfrm>
                  <a:off x="5852330" y="6155047"/>
                  <a:ext cx="2153769"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5852330" y="5785618"/>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2" name="直接连接符 223"/>
              <p:cNvCxnSpPr>
                <a:cxnSpLocks noChangeShapeType="1"/>
              </p:cNvCxnSpPr>
              <p:nvPr/>
            </p:nvCxnSpPr>
            <p:spPr bwMode="auto">
              <a:xfrm>
                <a:off x="5446811" y="1377851"/>
                <a:ext cx="2610869" cy="952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 Box 106"/>
              <p:cNvSpPr txBox="1">
                <a:spLocks noChangeArrowheads="1"/>
              </p:cNvSpPr>
              <p:nvPr/>
            </p:nvSpPr>
            <p:spPr bwMode="auto">
              <a:xfrm>
                <a:off x="5076056" y="118418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A</a:t>
                </a:r>
                <a:endParaRPr lang="zh-CN" altLang="en-US" sz="1600" b="1" i="1" dirty="0">
                  <a:solidFill>
                    <a:schemeClr val="tx1"/>
                  </a:solidFill>
                  <a:latin typeface="Times New Roman" pitchFamily="18" charset="0"/>
                  <a:ea typeface="+mn-ea"/>
                  <a:cs typeface="Times New Roman" pitchFamily="18" charset="0"/>
                </a:endParaRPr>
              </a:p>
            </p:txBody>
          </p:sp>
          <p:sp>
            <p:nvSpPr>
              <p:cNvPr id="84" name="Text Box 106"/>
              <p:cNvSpPr txBox="1">
                <a:spLocks noChangeArrowheads="1"/>
              </p:cNvSpPr>
              <p:nvPr/>
            </p:nvSpPr>
            <p:spPr bwMode="auto">
              <a:xfrm>
                <a:off x="7763411" y="11125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B</a:t>
                </a:r>
                <a:endParaRPr lang="zh-CN" altLang="en-US" sz="1600" b="1" i="1" dirty="0">
                  <a:solidFill>
                    <a:schemeClr val="tx1"/>
                  </a:solidFill>
                  <a:latin typeface="Times New Roman" pitchFamily="18" charset="0"/>
                  <a:ea typeface="+mn-ea"/>
                  <a:cs typeface="Times New Roman" pitchFamily="18" charset="0"/>
                </a:endParaRPr>
              </a:p>
            </p:txBody>
          </p:sp>
          <p:sp>
            <p:nvSpPr>
              <p:cNvPr id="85" name="Text Box 106"/>
              <p:cNvSpPr txBox="1">
                <a:spLocks noChangeArrowheads="1"/>
              </p:cNvSpPr>
              <p:nvPr/>
            </p:nvSpPr>
            <p:spPr bwMode="auto">
              <a:xfrm>
                <a:off x="7061318" y="109222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C</a:t>
                </a:r>
                <a:endParaRPr lang="zh-CN" altLang="en-US" sz="1600" b="1" i="1" dirty="0">
                  <a:solidFill>
                    <a:schemeClr val="tx1"/>
                  </a:solidFill>
                  <a:latin typeface="Times New Roman" pitchFamily="18" charset="0"/>
                  <a:ea typeface="+mn-ea"/>
                  <a:cs typeface="Times New Roman" pitchFamily="18" charset="0"/>
                </a:endParaRPr>
              </a:p>
            </p:txBody>
          </p:sp>
          <p:sp>
            <p:nvSpPr>
              <p:cNvPr id="86" name="Text Box 106"/>
              <p:cNvSpPr txBox="1">
                <a:spLocks noChangeArrowheads="1"/>
              </p:cNvSpPr>
              <p:nvPr/>
            </p:nvSpPr>
            <p:spPr bwMode="auto">
              <a:xfrm>
                <a:off x="6012160" y="192656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grpSp>
            <p:nvGrpSpPr>
              <p:cNvPr id="87" name="组合 86"/>
              <p:cNvGrpSpPr/>
              <p:nvPr/>
            </p:nvGrpSpPr>
            <p:grpSpPr>
              <a:xfrm>
                <a:off x="7162958" y="1881738"/>
                <a:ext cx="891788" cy="472269"/>
                <a:chOff x="5852330" y="5787231"/>
                <a:chExt cx="2163454" cy="472269"/>
              </a:xfrm>
            </p:grpSpPr>
            <p:cxnSp>
              <p:nvCxnSpPr>
                <p:cNvPr id="94" name="直接连接符 93"/>
                <p:cNvCxnSpPr/>
                <p:nvPr/>
              </p:nvCxnSpPr>
              <p:spPr bwMode="auto">
                <a:xfrm>
                  <a:off x="5852330" y="6155047"/>
                  <a:ext cx="2153770"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8015784" y="5787231"/>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852330" y="6016209"/>
                  <a:ext cx="0" cy="24167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8" name="Text Box 106"/>
              <p:cNvSpPr txBox="1">
                <a:spLocks noChangeArrowheads="1"/>
              </p:cNvSpPr>
              <p:nvPr/>
            </p:nvSpPr>
            <p:spPr bwMode="auto">
              <a:xfrm>
                <a:off x="7331348" y="193372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b</a:t>
                </a:r>
                <a:endParaRPr lang="zh-CN" altLang="en-US" sz="1800" i="1" dirty="0">
                  <a:solidFill>
                    <a:schemeClr val="tx1"/>
                  </a:solidFill>
                  <a:latin typeface="Times New Roman" pitchFamily="18" charset="0"/>
                  <a:ea typeface="+mn-ea"/>
                  <a:cs typeface="Times New Roman" pitchFamily="18" charset="0"/>
                </a:endParaRPr>
              </a:p>
            </p:txBody>
          </p:sp>
          <p:sp>
            <p:nvSpPr>
              <p:cNvPr id="89" name="Text Box 106"/>
              <p:cNvSpPr txBox="1">
                <a:spLocks noChangeArrowheads="1"/>
              </p:cNvSpPr>
              <p:nvPr/>
            </p:nvSpPr>
            <p:spPr bwMode="auto">
              <a:xfrm>
                <a:off x="7090841" y="761724"/>
                <a:ext cx="4810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2000" b="1" i="1" dirty="0">
                    <a:latin typeface="Times New Roman" pitchFamily="18" charset="0"/>
                    <a:cs typeface="Times New Roman" pitchFamily="18" charset="0"/>
                  </a:rPr>
                  <a:t>F</a:t>
                </a:r>
                <a:endParaRPr lang="zh-CN" altLang="en-US" sz="2000" b="1" i="1" dirty="0">
                  <a:latin typeface="Times New Roman" pitchFamily="18" charset="0"/>
                  <a:cs typeface="Times New Roman" pitchFamily="18" charset="0"/>
                </a:endParaRPr>
              </a:p>
            </p:txBody>
          </p:sp>
          <p:sp>
            <p:nvSpPr>
              <p:cNvPr id="90" name="Text Box 106"/>
              <p:cNvSpPr txBox="1">
                <a:spLocks noChangeArrowheads="1"/>
              </p:cNvSpPr>
              <p:nvPr/>
            </p:nvSpPr>
            <p:spPr bwMode="auto">
              <a:xfrm>
                <a:off x="8507958" y="136225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x</a:t>
                </a:r>
                <a:endParaRPr lang="zh-CN" altLang="en-US" sz="1600" b="1" i="1" dirty="0">
                  <a:solidFill>
                    <a:schemeClr val="tx1"/>
                  </a:solidFill>
                  <a:latin typeface="Times New Roman" pitchFamily="18" charset="0"/>
                  <a:ea typeface="+mn-ea"/>
                  <a:cs typeface="Times New Roman" pitchFamily="18" charset="0"/>
                </a:endParaRPr>
              </a:p>
            </p:txBody>
          </p:sp>
          <p:sp>
            <p:nvSpPr>
              <p:cNvPr id="91" name="Line 69"/>
              <p:cNvSpPr>
                <a:spLocks noChangeShapeType="1"/>
              </p:cNvSpPr>
              <p:nvPr/>
            </p:nvSpPr>
            <p:spPr bwMode="auto">
              <a:xfrm rot="16200000">
                <a:off x="5126723" y="1078920"/>
                <a:ext cx="620973"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sp>
            <p:nvSpPr>
              <p:cNvPr id="93" name="Text Box 106"/>
              <p:cNvSpPr txBox="1">
                <a:spLocks noChangeArrowheads="1"/>
              </p:cNvSpPr>
              <p:nvPr/>
            </p:nvSpPr>
            <p:spPr bwMode="auto">
              <a:xfrm>
                <a:off x="5292080" y="64217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y</a:t>
                </a:r>
                <a:endParaRPr lang="zh-CN" altLang="en-US" sz="1600" b="1" i="1" dirty="0">
                  <a:solidFill>
                    <a:schemeClr val="tx1"/>
                  </a:solidFill>
                  <a:latin typeface="Times New Roman" pitchFamily="18" charset="0"/>
                  <a:ea typeface="+mn-ea"/>
                  <a:cs typeface="Times New Roman" pitchFamily="18" charset="0"/>
                </a:endParaRPr>
              </a:p>
            </p:txBody>
          </p:sp>
        </p:grpSp>
      </p:grpSp>
      <p:grpSp>
        <p:nvGrpSpPr>
          <p:cNvPr id="99" name="组合 98"/>
          <p:cNvGrpSpPr/>
          <p:nvPr/>
        </p:nvGrpSpPr>
        <p:grpSpPr>
          <a:xfrm>
            <a:off x="7908153" y="2292640"/>
            <a:ext cx="3330115" cy="579656"/>
            <a:chOff x="5434639" y="1121152"/>
            <a:chExt cx="3330115" cy="579656"/>
          </a:xfrm>
        </p:grpSpPr>
        <p:sp>
          <p:nvSpPr>
            <p:cNvPr id="100" name="Text Box 106"/>
            <p:cNvSpPr txBox="1">
              <a:spLocks noChangeArrowheads="1"/>
            </p:cNvSpPr>
            <p:nvPr/>
          </p:nvSpPr>
          <p:spPr bwMode="auto">
            <a:xfrm>
              <a:off x="6467252" y="112115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D</a:t>
              </a:r>
              <a:endParaRPr lang="zh-CN" altLang="en-US" sz="1600" b="1" i="1" dirty="0">
                <a:solidFill>
                  <a:schemeClr val="tx1"/>
                </a:solidFill>
                <a:latin typeface="Times New Roman" pitchFamily="18" charset="0"/>
                <a:ea typeface="+mn-ea"/>
                <a:cs typeface="Times New Roman" pitchFamily="18" charset="0"/>
              </a:endParaRPr>
            </a:p>
          </p:txBody>
        </p:sp>
        <p:sp>
          <p:nvSpPr>
            <p:cNvPr id="101" name="任意多边形 100"/>
            <p:cNvSpPr/>
            <p:nvPr/>
          </p:nvSpPr>
          <p:spPr>
            <a:xfrm>
              <a:off x="5448300" y="1397000"/>
              <a:ext cx="2616200" cy="291813"/>
            </a:xfrm>
            <a:custGeom>
              <a:avLst/>
              <a:gdLst>
                <a:gd name="connsiteX0" fmla="*/ 0 w 2616200"/>
                <a:gd name="connsiteY0" fmla="*/ 0 h 412766"/>
                <a:gd name="connsiteX1" fmla="*/ 1308100 w 2616200"/>
                <a:gd name="connsiteY1" fmla="*/ 412750 h 412766"/>
                <a:gd name="connsiteX2" fmla="*/ 2616200 w 2616200"/>
                <a:gd name="connsiteY2" fmla="*/ 12700 h 412766"/>
              </a:gdLst>
              <a:ahLst/>
              <a:cxnLst>
                <a:cxn ang="0">
                  <a:pos x="connsiteX0" y="connsiteY0"/>
                </a:cxn>
                <a:cxn ang="0">
                  <a:pos x="connsiteX1" y="connsiteY1"/>
                </a:cxn>
                <a:cxn ang="0">
                  <a:pos x="connsiteX2" y="connsiteY2"/>
                </a:cxn>
              </a:cxnLst>
              <a:rect l="l" t="t" r="r" b="b"/>
              <a:pathLst>
                <a:path w="2616200" h="412766">
                  <a:moveTo>
                    <a:pt x="0" y="0"/>
                  </a:moveTo>
                  <a:cubicBezTo>
                    <a:pt x="436033" y="205316"/>
                    <a:pt x="872067" y="410633"/>
                    <a:pt x="1308100" y="412750"/>
                  </a:cubicBezTo>
                  <a:cubicBezTo>
                    <a:pt x="1744133" y="414867"/>
                    <a:pt x="2180166" y="213783"/>
                    <a:pt x="2616200" y="12700"/>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a:xfrm>
              <a:off x="5434639" y="1389407"/>
              <a:ext cx="577521" cy="239393"/>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3" name="任意多边形 102"/>
            <p:cNvSpPr/>
            <p:nvPr/>
          </p:nvSpPr>
          <p:spPr>
            <a:xfrm>
              <a:off x="5765006" y="1390650"/>
              <a:ext cx="42863" cy="138113"/>
            </a:xfrm>
            <a:custGeom>
              <a:avLst/>
              <a:gdLst>
                <a:gd name="connsiteX0" fmla="*/ 0 w 42863"/>
                <a:gd name="connsiteY0" fmla="*/ 138113 h 138113"/>
                <a:gd name="connsiteX1" fmla="*/ 35719 w 42863"/>
                <a:gd name="connsiteY1" fmla="*/ 69056 h 138113"/>
                <a:gd name="connsiteX2" fmla="*/ 42863 w 42863"/>
                <a:gd name="connsiteY2" fmla="*/ 0 h 138113"/>
              </a:gdLst>
              <a:ahLst/>
              <a:cxnLst>
                <a:cxn ang="0">
                  <a:pos x="connsiteX0" y="connsiteY0"/>
                </a:cxn>
                <a:cxn ang="0">
                  <a:pos x="connsiteX1" y="connsiteY1"/>
                </a:cxn>
                <a:cxn ang="0">
                  <a:pos x="connsiteX2" y="connsiteY2"/>
                </a:cxn>
              </a:cxnLst>
              <a:rect l="l" t="t" r="r" b="b"/>
              <a:pathLst>
                <a:path w="42863" h="138113">
                  <a:moveTo>
                    <a:pt x="0" y="138113"/>
                  </a:moveTo>
                  <a:cubicBezTo>
                    <a:pt x="14287" y="115094"/>
                    <a:pt x="28575" y="92075"/>
                    <a:pt x="35719" y="69056"/>
                  </a:cubicBezTo>
                  <a:cubicBezTo>
                    <a:pt x="42863" y="46037"/>
                    <a:pt x="42863" y="23018"/>
                    <a:pt x="42863"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Text Box 106"/>
            <p:cNvSpPr txBox="1">
              <a:spLocks noChangeArrowheads="1"/>
            </p:cNvSpPr>
            <p:nvPr/>
          </p:nvSpPr>
          <p:spPr bwMode="auto">
            <a:xfrm>
              <a:off x="5745336" y="131780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A</a:t>
              </a:r>
              <a:endParaRPr lang="zh-CN" altLang="en-US" sz="1600" b="1" i="1" baseline="-25000" dirty="0">
                <a:solidFill>
                  <a:schemeClr val="tx1"/>
                </a:solidFill>
                <a:latin typeface="Times New Roman" pitchFamily="18" charset="0"/>
                <a:ea typeface="+mn-ea"/>
                <a:cs typeface="Times New Roman" pitchFamily="18" charset="0"/>
              </a:endParaRPr>
            </a:p>
          </p:txBody>
        </p:sp>
        <p:cxnSp>
          <p:nvCxnSpPr>
            <p:cNvPr id="105" name="直接连接符 104"/>
            <p:cNvCxnSpPr/>
            <p:nvPr/>
          </p:nvCxnSpPr>
          <p:spPr>
            <a:xfrm flipV="1">
              <a:off x="8054745" y="1161834"/>
              <a:ext cx="549703" cy="239956"/>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6" name="任意多边形 105"/>
            <p:cNvSpPr/>
            <p:nvPr/>
          </p:nvSpPr>
          <p:spPr>
            <a:xfrm>
              <a:off x="8315325" y="1295400"/>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p:cNvCxnSpPr/>
            <p:nvPr/>
          </p:nvCxnSpPr>
          <p:spPr bwMode="auto">
            <a:xfrm>
              <a:off x="6752245" y="1412776"/>
              <a:ext cx="0" cy="288032"/>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6"/>
            <p:cNvSpPr txBox="1">
              <a:spLocks noChangeArrowheads="1"/>
            </p:cNvSpPr>
            <p:nvPr/>
          </p:nvSpPr>
          <p:spPr bwMode="auto">
            <a:xfrm>
              <a:off x="6685731" y="1340768"/>
              <a:ext cx="5505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buNone/>
                <a:defRPr/>
              </a:pPr>
              <a:r>
                <a:rPr lang="en-US" altLang="zh-CN" sz="1600" b="1" i="1" dirty="0" err="1">
                  <a:solidFill>
                    <a:schemeClr val="tx1"/>
                  </a:solidFill>
                  <a:latin typeface="Times New Roman" pitchFamily="18" charset="0"/>
                  <a:ea typeface="+mn-ea"/>
                  <a:cs typeface="Times New Roman" pitchFamily="18" charset="0"/>
                  <a:sym typeface="Symbol"/>
                </a:rPr>
                <a:t>y</a:t>
              </a:r>
              <a:r>
                <a:rPr lang="en-US" altLang="zh-CN" sz="1600" b="1" i="1" baseline="-25000" dirty="0" err="1">
                  <a:solidFill>
                    <a:schemeClr val="tx1"/>
                  </a:solidFill>
                  <a:latin typeface="Times New Roman" pitchFamily="18" charset="0"/>
                  <a:ea typeface="+mn-ea"/>
                  <a:cs typeface="Times New Roman" pitchFamily="18" charset="0"/>
                  <a:sym typeface="Symbol"/>
                </a:rPr>
                <a:t>max</a:t>
              </a:r>
              <a:endParaRPr lang="zh-CN" altLang="en-US" sz="1600" b="1" i="1" baseline="-25000" dirty="0">
                <a:solidFill>
                  <a:schemeClr val="tx1"/>
                </a:solidFill>
                <a:latin typeface="Times New Roman" pitchFamily="18" charset="0"/>
                <a:ea typeface="+mn-ea"/>
                <a:cs typeface="Times New Roman" pitchFamily="18" charset="0"/>
              </a:endParaRPr>
            </a:p>
          </p:txBody>
        </p:sp>
        <p:sp>
          <p:nvSpPr>
            <p:cNvPr id="109" name="Text Box 106"/>
            <p:cNvSpPr txBox="1">
              <a:spLocks noChangeArrowheads="1"/>
            </p:cNvSpPr>
            <p:nvPr/>
          </p:nvSpPr>
          <p:spPr bwMode="auto">
            <a:xfrm>
              <a:off x="8283742" y="112474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B</a:t>
              </a:r>
              <a:endParaRPr lang="zh-CN" altLang="en-US" sz="1600" b="1" i="1" baseline="-25000" dirty="0">
                <a:solidFill>
                  <a:schemeClr val="tx1"/>
                </a:solidFill>
                <a:latin typeface="Times New Roman" pitchFamily="18" charset="0"/>
                <a:ea typeface="+mn-ea"/>
                <a:cs typeface="Times New Roman" pitchFamily="18" charset="0"/>
              </a:endParaRPr>
            </a:p>
          </p:txBody>
        </p:sp>
      </p:grpSp>
      <p:grpSp>
        <p:nvGrpSpPr>
          <p:cNvPr id="110" name="组合 109"/>
          <p:cNvGrpSpPr/>
          <p:nvPr/>
        </p:nvGrpSpPr>
        <p:grpSpPr>
          <a:xfrm>
            <a:off x="7530624" y="2600009"/>
            <a:ext cx="3061570" cy="547726"/>
            <a:chOff x="6230119" y="1585268"/>
            <a:chExt cx="3061570" cy="547726"/>
          </a:xfrm>
        </p:grpSpPr>
        <p:sp>
          <p:nvSpPr>
            <p:cNvPr id="111" name="Text Box 106"/>
            <p:cNvSpPr txBox="1">
              <a:spLocks noChangeArrowheads="1"/>
            </p:cNvSpPr>
            <p:nvPr/>
          </p:nvSpPr>
          <p:spPr bwMode="auto">
            <a:xfrm>
              <a:off x="6230119" y="173400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A</a:t>
              </a:r>
              <a:endParaRPr lang="zh-CN" altLang="en-US" sz="1800" i="1" baseline="-25000" dirty="0">
                <a:solidFill>
                  <a:srgbClr val="0000FF"/>
                </a:solidFill>
                <a:latin typeface="Times New Roman" pitchFamily="18" charset="0"/>
                <a:ea typeface="+mn-ea"/>
                <a:cs typeface="Times New Roman" pitchFamily="18" charset="0"/>
              </a:endParaRPr>
            </a:p>
          </p:txBody>
        </p:sp>
        <p:cxnSp>
          <p:nvCxnSpPr>
            <p:cNvPr id="112" name="直接箭头连接符 250"/>
            <p:cNvCxnSpPr>
              <a:cxnSpLocks noChangeShapeType="1"/>
            </p:cNvCxnSpPr>
            <p:nvPr/>
          </p:nvCxnSpPr>
          <p:spPr bwMode="auto">
            <a:xfrm flipV="1">
              <a:off x="6610609" y="1585268"/>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箭头连接符 250"/>
            <p:cNvCxnSpPr>
              <a:cxnSpLocks noChangeShapeType="1"/>
            </p:cNvCxnSpPr>
            <p:nvPr/>
          </p:nvCxnSpPr>
          <p:spPr bwMode="auto">
            <a:xfrm flipV="1">
              <a:off x="9227300" y="1592744"/>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06"/>
            <p:cNvSpPr txBox="1">
              <a:spLocks noChangeArrowheads="1"/>
            </p:cNvSpPr>
            <p:nvPr/>
          </p:nvSpPr>
          <p:spPr bwMode="auto">
            <a:xfrm>
              <a:off x="8810677" y="1763662"/>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B</a:t>
              </a:r>
              <a:endParaRPr lang="zh-CN" altLang="en-US" sz="1800" i="1" baseline="-25000" dirty="0">
                <a:solidFill>
                  <a:srgbClr val="0000FF"/>
                </a:solidFill>
                <a:latin typeface="Times New Roman" pitchFamily="18" charset="0"/>
                <a:ea typeface="+mn-ea"/>
                <a:cs typeface="Times New Roman" pitchFamily="18" charset="0"/>
              </a:endParaRPr>
            </a:p>
          </p:txBody>
        </p:sp>
      </p:grpSp>
      <p:grpSp>
        <p:nvGrpSpPr>
          <p:cNvPr id="115" name="组合 114"/>
          <p:cNvGrpSpPr/>
          <p:nvPr/>
        </p:nvGrpSpPr>
        <p:grpSpPr>
          <a:xfrm>
            <a:off x="7919659" y="2697685"/>
            <a:ext cx="1936501" cy="517552"/>
            <a:chOff x="4131850" y="4293096"/>
            <a:chExt cx="1936501" cy="517552"/>
          </a:xfrm>
        </p:grpSpPr>
        <p:grpSp>
          <p:nvGrpSpPr>
            <p:cNvPr id="116" name="组合 115"/>
            <p:cNvGrpSpPr/>
            <p:nvPr/>
          </p:nvGrpSpPr>
          <p:grpSpPr>
            <a:xfrm rot="5400000">
              <a:off x="4949337" y="3691634"/>
              <a:ext cx="301527" cy="1936501"/>
              <a:chOff x="7998643" y="4365868"/>
              <a:chExt cx="301527" cy="1936501"/>
            </a:xfrm>
          </p:grpSpPr>
          <p:cxnSp>
            <p:nvCxnSpPr>
              <p:cNvPr id="119" name="直接连接符 118"/>
              <p:cNvCxnSpPr/>
              <p:nvPr/>
            </p:nvCxnSpPr>
            <p:spPr bwMode="auto">
              <a:xfrm rot="16200000" flipH="1">
                <a:off x="7810945" y="5972748"/>
                <a:ext cx="659242"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rot="16200000" flipH="1" flipV="1">
                <a:off x="8102285" y="5537632"/>
                <a:ext cx="1854" cy="209138"/>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直接连接符 120"/>
              <p:cNvCxnSpPr/>
              <p:nvPr/>
            </p:nvCxnSpPr>
            <p:spPr bwMode="auto">
              <a:xfrm rot="16200000" flipH="1">
                <a:off x="7314738" y="5330914"/>
                <a:ext cx="1930091"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p:cNvCxnSpPr/>
              <p:nvPr/>
            </p:nvCxnSpPr>
            <p:spPr bwMode="auto">
              <a:xfrm rot="16200000" flipV="1">
                <a:off x="8149408" y="4215106"/>
                <a:ext cx="0" cy="301524"/>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Text Box 106"/>
            <p:cNvSpPr txBox="1">
              <a:spLocks noChangeArrowheads="1"/>
            </p:cNvSpPr>
            <p:nvPr/>
          </p:nvSpPr>
          <p:spPr bwMode="auto">
            <a:xfrm>
              <a:off x="4220964" y="429309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1</a:t>
              </a:r>
              <a:endParaRPr lang="zh-CN" altLang="en-US" sz="1800" baseline="-25000" dirty="0">
                <a:solidFill>
                  <a:schemeClr val="tx1"/>
                </a:solidFill>
                <a:latin typeface="Times New Roman" pitchFamily="18" charset="0"/>
                <a:ea typeface="+mn-ea"/>
                <a:cs typeface="Times New Roman" pitchFamily="18" charset="0"/>
              </a:endParaRPr>
            </a:p>
          </p:txBody>
        </p:sp>
        <p:sp>
          <p:nvSpPr>
            <p:cNvPr id="118" name="Text Box 106"/>
            <p:cNvSpPr txBox="1">
              <a:spLocks noChangeArrowheads="1"/>
            </p:cNvSpPr>
            <p:nvPr/>
          </p:nvSpPr>
          <p:spPr bwMode="auto">
            <a:xfrm>
              <a:off x="4932040" y="443711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2</a:t>
              </a:r>
              <a:endParaRPr lang="zh-CN" altLang="en-US" sz="1800" baseline="-25000" dirty="0">
                <a:solidFill>
                  <a:schemeClr val="tx1"/>
                </a:solidFill>
                <a:latin typeface="Times New Roman" pitchFamily="18" charset="0"/>
                <a:ea typeface="+mn-ea"/>
                <a:cs typeface="Times New Roman" pitchFamily="18" charset="0"/>
              </a:endParaRPr>
            </a:p>
          </p:txBody>
        </p:sp>
      </p:grpSp>
      <p:graphicFrame>
        <p:nvGraphicFramePr>
          <p:cNvPr id="124" name="Object 3"/>
          <p:cNvGraphicFramePr>
            <a:graphicFrameLocks noChangeAspect="1"/>
          </p:cNvGraphicFramePr>
          <p:nvPr>
            <p:extLst>
              <p:ext uri="{D42A27DB-BD31-4B8C-83A1-F6EECF244321}">
                <p14:modId xmlns:p14="http://schemas.microsoft.com/office/powerpoint/2010/main" val="2612187718"/>
              </p:ext>
            </p:extLst>
          </p:nvPr>
        </p:nvGraphicFramePr>
        <p:xfrm>
          <a:off x="1085461" y="1955850"/>
          <a:ext cx="2768600" cy="812800"/>
        </p:xfrm>
        <a:graphic>
          <a:graphicData uri="http://schemas.openxmlformats.org/presentationml/2006/ole">
            <mc:AlternateContent xmlns:mc="http://schemas.openxmlformats.org/markup-compatibility/2006">
              <mc:Choice xmlns:v="urn:schemas-microsoft-com:vml" Requires="v">
                <p:oleObj spid="_x0000_s33894" name="公式" r:id="rId4" imgW="1384200" imgH="406080" progId="Equation.3">
                  <p:embed/>
                </p:oleObj>
              </mc:Choice>
              <mc:Fallback>
                <p:oleObj name="公式" r:id="rId4" imgW="1384200" imgH="406080" progId="Equation.3">
                  <p:embed/>
                  <p:pic>
                    <p:nvPicPr>
                      <p:cNvPr id="447491" name="Object 3"/>
                      <p:cNvPicPr>
                        <a:picLocks noChangeAspect="1" noChangeArrowheads="1"/>
                      </p:cNvPicPr>
                      <p:nvPr/>
                    </p:nvPicPr>
                    <p:blipFill>
                      <a:blip r:embed="rId5"/>
                      <a:srcRect/>
                      <a:stretch>
                        <a:fillRect/>
                      </a:stretch>
                    </p:blipFill>
                    <p:spPr bwMode="auto">
                      <a:xfrm>
                        <a:off x="1085461" y="1955850"/>
                        <a:ext cx="27686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 name="Object 6"/>
          <p:cNvGraphicFramePr>
            <a:graphicFrameLocks noChangeAspect="1"/>
          </p:cNvGraphicFramePr>
          <p:nvPr>
            <p:extLst>
              <p:ext uri="{D42A27DB-BD31-4B8C-83A1-F6EECF244321}">
                <p14:modId xmlns:p14="http://schemas.microsoft.com/office/powerpoint/2010/main" val="270485888"/>
              </p:ext>
            </p:extLst>
          </p:nvPr>
        </p:nvGraphicFramePr>
        <p:xfrm>
          <a:off x="4129904" y="2003599"/>
          <a:ext cx="3352800" cy="762000"/>
        </p:xfrm>
        <a:graphic>
          <a:graphicData uri="http://schemas.openxmlformats.org/presentationml/2006/ole">
            <mc:AlternateContent xmlns:mc="http://schemas.openxmlformats.org/markup-compatibility/2006">
              <mc:Choice xmlns:v="urn:schemas-microsoft-com:vml" Requires="v">
                <p:oleObj spid="_x0000_s33895" name="公式" r:id="rId6" imgW="1676160" imgH="380880" progId="Equation.3">
                  <p:embed/>
                </p:oleObj>
              </mc:Choice>
              <mc:Fallback>
                <p:oleObj name="公式" r:id="rId6" imgW="1676160" imgH="380880" progId="Equation.3">
                  <p:embed/>
                  <p:pic>
                    <p:nvPicPr>
                      <p:cNvPr id="447494" name="Object 6"/>
                      <p:cNvPicPr>
                        <a:picLocks noChangeAspect="1" noChangeArrowheads="1"/>
                      </p:cNvPicPr>
                      <p:nvPr/>
                    </p:nvPicPr>
                    <p:blipFill>
                      <a:blip r:embed="rId7"/>
                      <a:srcRect/>
                      <a:stretch>
                        <a:fillRect/>
                      </a:stretch>
                    </p:blipFill>
                    <p:spPr bwMode="auto">
                      <a:xfrm>
                        <a:off x="4129904" y="2003599"/>
                        <a:ext cx="3352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 name="Object 7"/>
          <p:cNvGraphicFramePr>
            <a:graphicFrameLocks noChangeAspect="1"/>
          </p:cNvGraphicFramePr>
          <p:nvPr>
            <p:extLst>
              <p:ext uri="{D42A27DB-BD31-4B8C-83A1-F6EECF244321}">
                <p14:modId xmlns:p14="http://schemas.microsoft.com/office/powerpoint/2010/main" val="3758232394"/>
              </p:ext>
            </p:extLst>
          </p:nvPr>
        </p:nvGraphicFramePr>
        <p:xfrm>
          <a:off x="1051081" y="2759546"/>
          <a:ext cx="2692400" cy="711200"/>
        </p:xfrm>
        <a:graphic>
          <a:graphicData uri="http://schemas.openxmlformats.org/presentationml/2006/ole">
            <mc:AlternateContent xmlns:mc="http://schemas.openxmlformats.org/markup-compatibility/2006">
              <mc:Choice xmlns:v="urn:schemas-microsoft-com:vml" Requires="v">
                <p:oleObj spid="_x0000_s33896" name="公式" r:id="rId8" imgW="1346040" imgH="355320" progId="Equation.3">
                  <p:embed/>
                </p:oleObj>
              </mc:Choice>
              <mc:Fallback>
                <p:oleObj name="公式" r:id="rId8" imgW="1346040" imgH="355320" progId="Equation.3">
                  <p:embed/>
                  <p:pic>
                    <p:nvPicPr>
                      <p:cNvPr id="447495" name="Object 7"/>
                      <p:cNvPicPr>
                        <a:picLocks noChangeAspect="1" noChangeArrowheads="1"/>
                      </p:cNvPicPr>
                      <p:nvPr/>
                    </p:nvPicPr>
                    <p:blipFill>
                      <a:blip r:embed="rId9"/>
                      <a:srcRect/>
                      <a:stretch>
                        <a:fillRect/>
                      </a:stretch>
                    </p:blipFill>
                    <p:spPr bwMode="auto">
                      <a:xfrm>
                        <a:off x="1051081" y="2759546"/>
                        <a:ext cx="26924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 name="Text Box 9"/>
          <p:cNvSpPr txBox="1">
            <a:spLocks noChangeArrowheads="1"/>
          </p:cNvSpPr>
          <p:nvPr/>
        </p:nvSpPr>
        <p:spPr bwMode="auto">
          <a:xfrm>
            <a:off x="1196625" y="1486912"/>
            <a:ext cx="1497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en-US" altLang="zh-CN" sz="2000" b="1" i="1" dirty="0">
                <a:solidFill>
                  <a:schemeClr val="tx1"/>
                </a:solidFill>
                <a:latin typeface="Times New Roman" pitchFamily="18" charset="0"/>
              </a:rPr>
              <a:t>AC</a:t>
            </a:r>
            <a:r>
              <a:rPr kumimoji="1" lang="en-US" altLang="zh-CN" sz="2000" b="1" dirty="0">
                <a:solidFill>
                  <a:schemeClr val="tx1"/>
                </a:solidFill>
                <a:latin typeface="Times New Roman" pitchFamily="18" charset="0"/>
              </a:rPr>
              <a:t> </a:t>
            </a:r>
            <a:r>
              <a:rPr kumimoji="1" lang="zh-CN" altLang="en-US" sz="2000" b="1" i="0" dirty="0">
                <a:solidFill>
                  <a:schemeClr val="tx1"/>
                </a:solidFill>
                <a:latin typeface="Times New Roman" pitchFamily="18" charset="0"/>
              </a:rPr>
              <a:t>段：</a:t>
            </a:r>
          </a:p>
        </p:txBody>
      </p:sp>
      <p:graphicFrame>
        <p:nvGraphicFramePr>
          <p:cNvPr id="128" name="Object 10"/>
          <p:cNvGraphicFramePr>
            <a:graphicFrameLocks noChangeAspect="1"/>
          </p:cNvGraphicFramePr>
          <p:nvPr>
            <p:extLst>
              <p:ext uri="{D42A27DB-BD31-4B8C-83A1-F6EECF244321}">
                <p14:modId xmlns:p14="http://schemas.microsoft.com/office/powerpoint/2010/main" val="931883370"/>
              </p:ext>
            </p:extLst>
          </p:nvPr>
        </p:nvGraphicFramePr>
        <p:xfrm>
          <a:off x="2263421" y="1465328"/>
          <a:ext cx="1117600" cy="406400"/>
        </p:xfrm>
        <a:graphic>
          <a:graphicData uri="http://schemas.openxmlformats.org/presentationml/2006/ole">
            <mc:AlternateContent xmlns:mc="http://schemas.openxmlformats.org/markup-compatibility/2006">
              <mc:Choice xmlns:v="urn:schemas-microsoft-com:vml" Requires="v">
                <p:oleObj spid="_x0000_s33897" name="公式" r:id="rId10" imgW="558720" imgH="203040" progId="Equation.3">
                  <p:embed/>
                </p:oleObj>
              </mc:Choice>
              <mc:Fallback>
                <p:oleObj name="公式" r:id="rId10" imgW="558720" imgH="203040" progId="Equation.3">
                  <p:embed/>
                  <p:pic>
                    <p:nvPicPr>
                      <p:cNvPr id="447498" name="Object 10"/>
                      <p:cNvPicPr>
                        <a:picLocks noChangeAspect="1" noChangeArrowheads="1"/>
                      </p:cNvPicPr>
                      <p:nvPr/>
                    </p:nvPicPr>
                    <p:blipFill>
                      <a:blip r:embed="rId11"/>
                      <a:srcRect/>
                      <a:stretch>
                        <a:fillRect/>
                      </a:stretch>
                    </p:blipFill>
                    <p:spPr bwMode="auto">
                      <a:xfrm>
                        <a:off x="2263421" y="1465328"/>
                        <a:ext cx="1117600" cy="406400"/>
                      </a:xfrm>
                      <a:prstGeom prst="rect">
                        <a:avLst/>
                      </a:prstGeom>
                      <a:noFill/>
                      <a:ln>
                        <a:noFill/>
                      </a:ln>
                      <a:effectLst/>
                      <a:extLst/>
                    </p:spPr>
                  </p:pic>
                </p:oleObj>
              </mc:Fallback>
            </mc:AlternateContent>
          </a:graphicData>
        </a:graphic>
      </p:graphicFrame>
      <p:graphicFrame>
        <p:nvGraphicFramePr>
          <p:cNvPr id="130" name="Object 9"/>
          <p:cNvGraphicFramePr>
            <a:graphicFrameLocks noChangeAspect="1"/>
          </p:cNvGraphicFramePr>
          <p:nvPr>
            <p:extLst>
              <p:ext uri="{D42A27DB-BD31-4B8C-83A1-F6EECF244321}">
                <p14:modId xmlns:p14="http://schemas.microsoft.com/office/powerpoint/2010/main" val="1066012611"/>
              </p:ext>
            </p:extLst>
          </p:nvPr>
        </p:nvGraphicFramePr>
        <p:xfrm>
          <a:off x="1008063" y="5041900"/>
          <a:ext cx="4876800" cy="762000"/>
        </p:xfrm>
        <a:graphic>
          <a:graphicData uri="http://schemas.openxmlformats.org/presentationml/2006/ole">
            <mc:AlternateContent xmlns:mc="http://schemas.openxmlformats.org/markup-compatibility/2006">
              <mc:Choice xmlns:v="urn:schemas-microsoft-com:vml" Requires="v">
                <p:oleObj spid="_x0000_s33898" name="公式" r:id="rId12" imgW="2438280" imgH="380880" progId="Equation.3">
                  <p:embed/>
                </p:oleObj>
              </mc:Choice>
              <mc:Fallback>
                <p:oleObj name="公式" r:id="rId12" imgW="2438280" imgH="380880" progId="Equation.3">
                  <p:embed/>
                  <p:pic>
                    <p:nvPicPr>
                      <p:cNvPr id="538633" name="Object 9"/>
                      <p:cNvPicPr>
                        <a:picLocks noChangeAspect="1" noChangeArrowheads="1"/>
                      </p:cNvPicPr>
                      <p:nvPr/>
                    </p:nvPicPr>
                    <p:blipFill>
                      <a:blip r:embed="rId13"/>
                      <a:srcRect/>
                      <a:stretch>
                        <a:fillRect/>
                      </a:stretch>
                    </p:blipFill>
                    <p:spPr bwMode="auto">
                      <a:xfrm>
                        <a:off x="1008063" y="5041900"/>
                        <a:ext cx="4876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 name="Object 10"/>
          <p:cNvGraphicFramePr>
            <a:graphicFrameLocks noChangeAspect="1"/>
          </p:cNvGraphicFramePr>
          <p:nvPr>
            <p:extLst>
              <p:ext uri="{D42A27DB-BD31-4B8C-83A1-F6EECF244321}">
                <p14:modId xmlns:p14="http://schemas.microsoft.com/office/powerpoint/2010/main" val="1143616400"/>
              </p:ext>
            </p:extLst>
          </p:nvPr>
        </p:nvGraphicFramePr>
        <p:xfrm>
          <a:off x="6481614" y="5024410"/>
          <a:ext cx="4267200" cy="711200"/>
        </p:xfrm>
        <a:graphic>
          <a:graphicData uri="http://schemas.openxmlformats.org/presentationml/2006/ole">
            <mc:AlternateContent xmlns:mc="http://schemas.openxmlformats.org/markup-compatibility/2006">
              <mc:Choice xmlns:v="urn:schemas-microsoft-com:vml" Requires="v">
                <p:oleObj spid="_x0000_s33899" name="公式" r:id="rId14" imgW="2133360" imgH="355320" progId="Equation.3">
                  <p:embed/>
                </p:oleObj>
              </mc:Choice>
              <mc:Fallback>
                <p:oleObj name="公式" r:id="rId14" imgW="2133360" imgH="355320" progId="Equation.3">
                  <p:embed/>
                  <p:pic>
                    <p:nvPicPr>
                      <p:cNvPr id="538634" name="Object 10"/>
                      <p:cNvPicPr>
                        <a:picLocks noChangeAspect="1" noChangeArrowheads="1"/>
                      </p:cNvPicPr>
                      <p:nvPr/>
                    </p:nvPicPr>
                    <p:blipFill>
                      <a:blip r:embed="rId15"/>
                      <a:srcRect/>
                      <a:stretch>
                        <a:fillRect/>
                      </a:stretch>
                    </p:blipFill>
                    <p:spPr bwMode="auto">
                      <a:xfrm>
                        <a:off x="6481614" y="5024410"/>
                        <a:ext cx="42672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 name="Object 12"/>
          <p:cNvGraphicFramePr>
            <a:graphicFrameLocks noChangeAspect="1"/>
          </p:cNvGraphicFramePr>
          <p:nvPr>
            <p:extLst>
              <p:ext uri="{D42A27DB-BD31-4B8C-83A1-F6EECF244321}">
                <p14:modId xmlns:p14="http://schemas.microsoft.com/office/powerpoint/2010/main" val="3806745655"/>
              </p:ext>
            </p:extLst>
          </p:nvPr>
        </p:nvGraphicFramePr>
        <p:xfrm>
          <a:off x="2147877" y="3558518"/>
          <a:ext cx="1091520" cy="406080"/>
        </p:xfrm>
        <a:graphic>
          <a:graphicData uri="http://schemas.openxmlformats.org/presentationml/2006/ole">
            <mc:AlternateContent xmlns:mc="http://schemas.openxmlformats.org/markup-compatibility/2006">
              <mc:Choice xmlns:v="urn:schemas-microsoft-com:vml" Requires="v">
                <p:oleObj spid="_x0000_s33900" name="公式" r:id="rId16" imgW="545760" imgH="203040" progId="Equation.3">
                  <p:embed/>
                </p:oleObj>
              </mc:Choice>
              <mc:Fallback>
                <p:oleObj name="公式" r:id="rId16" imgW="545760" imgH="203040" progId="Equation.3">
                  <p:embed/>
                  <p:pic>
                    <p:nvPicPr>
                      <p:cNvPr id="538636" name="Object 12"/>
                      <p:cNvPicPr>
                        <a:picLocks noChangeAspect="1" noChangeArrowheads="1"/>
                      </p:cNvPicPr>
                      <p:nvPr/>
                    </p:nvPicPr>
                    <p:blipFill>
                      <a:blip r:embed="rId17"/>
                      <a:srcRect/>
                      <a:stretch>
                        <a:fillRect/>
                      </a:stretch>
                    </p:blipFill>
                    <p:spPr bwMode="auto">
                      <a:xfrm>
                        <a:off x="2147877" y="3558518"/>
                        <a:ext cx="1091520" cy="4060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 name="Text Box 9"/>
          <p:cNvSpPr txBox="1">
            <a:spLocks noChangeArrowheads="1"/>
          </p:cNvSpPr>
          <p:nvPr/>
        </p:nvSpPr>
        <p:spPr bwMode="auto">
          <a:xfrm>
            <a:off x="1196625" y="3582661"/>
            <a:ext cx="1497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en-US" altLang="zh-CN" sz="2000" b="1" i="1" dirty="0">
                <a:solidFill>
                  <a:schemeClr val="tx1"/>
                </a:solidFill>
                <a:latin typeface="Times New Roman" pitchFamily="18" charset="0"/>
              </a:rPr>
              <a:t>CB</a:t>
            </a:r>
            <a:r>
              <a:rPr kumimoji="1" lang="zh-CN" altLang="en-US" sz="2000" b="1" i="0" dirty="0">
                <a:solidFill>
                  <a:schemeClr val="tx1"/>
                </a:solidFill>
                <a:latin typeface="Times New Roman" pitchFamily="18" charset="0"/>
              </a:rPr>
              <a:t>段：</a:t>
            </a:r>
          </a:p>
        </p:txBody>
      </p:sp>
      <p:sp>
        <p:nvSpPr>
          <p:cNvPr id="50" name="Rectangle 29"/>
          <p:cNvSpPr>
            <a:spLocks noChangeArrowheads="1"/>
          </p:cNvSpPr>
          <p:nvPr/>
        </p:nvSpPr>
        <p:spPr bwMode="auto">
          <a:xfrm>
            <a:off x="1085461" y="411399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4" name="对象 133"/>
          <p:cNvGraphicFramePr>
            <a:graphicFrameLocks noChangeAspect="1"/>
          </p:cNvGraphicFramePr>
          <p:nvPr>
            <p:extLst>
              <p:ext uri="{D42A27DB-BD31-4B8C-83A1-F6EECF244321}">
                <p14:modId xmlns:p14="http://schemas.microsoft.com/office/powerpoint/2010/main" val="3890174299"/>
              </p:ext>
            </p:extLst>
          </p:nvPr>
        </p:nvGraphicFramePr>
        <p:xfrm>
          <a:off x="1085461" y="4113992"/>
          <a:ext cx="4434475" cy="817334"/>
        </p:xfrm>
        <a:graphic>
          <a:graphicData uri="http://schemas.openxmlformats.org/presentationml/2006/ole">
            <mc:AlternateContent xmlns:mc="http://schemas.openxmlformats.org/markup-compatibility/2006">
              <mc:Choice xmlns:v="urn:schemas-microsoft-com:vml" Requires="v">
                <p:oleObj spid="_x0000_s33901" name="Equation" r:id="rId18" imgW="2311400" imgH="457200" progId="Equation.DSMT4">
                  <p:embed/>
                </p:oleObj>
              </mc:Choice>
              <mc:Fallback>
                <p:oleObj name="Equation" r:id="rId18" imgW="2311400" imgH="457200" progId="Equation.DSMT4">
                  <p:embed/>
                  <p:pic>
                    <p:nvPicPr>
                      <p:cNvPr id="0"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85461" y="4113992"/>
                        <a:ext cx="4434475" cy="817334"/>
                      </a:xfrm>
                      <a:prstGeom prst="rect">
                        <a:avLst/>
                      </a:prstGeom>
                      <a:noFill/>
                    </p:spPr>
                  </p:pic>
                </p:oleObj>
              </mc:Fallback>
            </mc:AlternateContent>
          </a:graphicData>
        </a:graphic>
      </p:graphicFrame>
    </p:spTree>
    <p:extLst>
      <p:ext uri="{BB962C8B-B14F-4D97-AF65-F5344CB8AC3E}">
        <p14:creationId xmlns:p14="http://schemas.microsoft.com/office/powerpoint/2010/main" val="27879612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4"/>
                                        </p:tgtEl>
                                        <p:attrNameLst>
                                          <p:attrName>style.visibility</p:attrName>
                                        </p:attrNameLst>
                                      </p:cBhvr>
                                      <p:to>
                                        <p:strVal val="visible"/>
                                      </p:to>
                                    </p:set>
                                    <p:animEffect transition="in" filter="wipe(left)">
                                      <p:cBhvr>
                                        <p:cTn id="33" dur="500"/>
                                        <p:tgtEl>
                                          <p:spTgt spid="12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wipe(left)">
                                      <p:cBhvr>
                                        <p:cTn id="38" dur="500"/>
                                        <p:tgtEl>
                                          <p:spTgt spid="1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6"/>
                                        </p:tgtEl>
                                        <p:attrNameLst>
                                          <p:attrName>style.visibility</p:attrName>
                                        </p:attrNameLst>
                                      </p:cBhvr>
                                      <p:to>
                                        <p:strVal val="visible"/>
                                      </p:to>
                                    </p:set>
                                    <p:animEffect transition="in" filter="wipe(left)">
                                      <p:cBhvr>
                                        <p:cTn id="43" dur="500"/>
                                        <p:tgtEl>
                                          <p:spTgt spid="12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3"/>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3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3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0"/>
                                        </p:tgtEl>
                                        <p:attrNameLst>
                                          <p:attrName>style.visibility</p:attrName>
                                        </p:attrNameLst>
                                      </p:cBhvr>
                                      <p:to>
                                        <p:strVal val="visible"/>
                                      </p:to>
                                    </p:set>
                                    <p:animEffect transition="in" filter="wipe(left)">
                                      <p:cBhvr>
                                        <p:cTn id="58" dur="500"/>
                                        <p:tgtEl>
                                          <p:spTgt spid="13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31"/>
                                        </p:tgtEl>
                                        <p:attrNameLst>
                                          <p:attrName>style.visibility</p:attrName>
                                        </p:attrNameLst>
                                      </p:cBhvr>
                                      <p:to>
                                        <p:strVal val="visible"/>
                                      </p:to>
                                    </p:set>
                                    <p:animEffect transition="in" filter="wipe(left)">
                                      <p:cBhvr>
                                        <p:cTn id="63"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4" grpId="0"/>
      <p:bldP spid="127" grpId="0"/>
      <p:bldP spid="13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44" name="矩形 43">
            <a:extLst>
              <a:ext uri="{FF2B5EF4-FFF2-40B4-BE49-F238E27FC236}">
                <a16:creationId xmlns:a16="http://schemas.microsoft.com/office/drawing/2014/main" id="{08211CFD-EFDE-57CB-1D38-EAC0B8497A77}"/>
              </a:ext>
            </a:extLst>
          </p:cNvPr>
          <p:cNvSpPr/>
          <p:nvPr/>
        </p:nvSpPr>
        <p:spPr>
          <a:xfrm>
            <a:off x="211183" y="936287"/>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4)  </a:t>
            </a:r>
            <a:r>
              <a:rPr kumimoji="1" lang="zh-CN" altLang="en-US" i="0" dirty="0">
                <a:solidFill>
                  <a:srgbClr val="000000"/>
                </a:solidFill>
                <a:ea typeface="黑体" panose="02010609060101010101" pitchFamily="49" charset="-122"/>
              </a:rPr>
              <a:t>由边界条件确定积分常数</a:t>
            </a:r>
            <a:endParaRPr kumimoji="1" lang="en-US" altLang="zh-CN" i="0" dirty="0">
              <a:solidFill>
                <a:srgbClr val="000000"/>
              </a:solidFill>
              <a:ea typeface="黑体" panose="02010609060101010101" pitchFamily="49" charset="-122"/>
            </a:endParaRPr>
          </a:p>
        </p:txBody>
      </p:sp>
      <p:grpSp>
        <p:nvGrpSpPr>
          <p:cNvPr id="52" name="组合 51"/>
          <p:cNvGrpSpPr/>
          <p:nvPr/>
        </p:nvGrpSpPr>
        <p:grpSpPr>
          <a:xfrm>
            <a:off x="7715886" y="2591044"/>
            <a:ext cx="3034383" cy="414872"/>
            <a:chOff x="5242372" y="2726095"/>
            <a:chExt cx="3034383" cy="414872"/>
          </a:xfrm>
        </p:grpSpPr>
        <p:grpSp>
          <p:nvGrpSpPr>
            <p:cNvPr id="53" name="组合 224"/>
            <p:cNvGrpSpPr>
              <a:grpSpLocks/>
            </p:cNvGrpSpPr>
            <p:nvPr/>
          </p:nvGrpSpPr>
          <p:grpSpPr bwMode="auto">
            <a:xfrm>
              <a:off x="7838605" y="2744093"/>
              <a:ext cx="438150" cy="396874"/>
              <a:chOff x="6199814" y="5094186"/>
              <a:chExt cx="473132" cy="428315"/>
            </a:xfrm>
          </p:grpSpPr>
          <p:grpSp>
            <p:nvGrpSpPr>
              <p:cNvPr id="65" name="组合 225"/>
              <p:cNvGrpSpPr>
                <a:grpSpLocks/>
              </p:cNvGrpSpPr>
              <p:nvPr/>
            </p:nvGrpSpPr>
            <p:grpSpPr bwMode="auto">
              <a:xfrm>
                <a:off x="6199814" y="5451033"/>
                <a:ext cx="473132" cy="71468"/>
                <a:chOff x="2321750" y="5453423"/>
                <a:chExt cx="473132" cy="71468"/>
              </a:xfrm>
            </p:grpSpPr>
            <p:cxnSp>
              <p:nvCxnSpPr>
                <p:cNvPr id="69"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等腰三角形 226"/>
              <p:cNvSpPr>
                <a:spLocks noChangeArrowheads="1"/>
              </p:cNvSpPr>
              <p:nvPr/>
            </p:nvSpPr>
            <p:spPr bwMode="auto">
              <a:xfrm>
                <a:off x="6314201" y="5094186"/>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椭圆 227"/>
              <p:cNvSpPr>
                <a:spLocks noChangeArrowheads="1"/>
              </p:cNvSpPr>
              <p:nvPr/>
            </p:nvSpPr>
            <p:spPr bwMode="auto">
              <a:xfrm>
                <a:off x="6314201" y="5376793"/>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椭圆 228"/>
              <p:cNvSpPr>
                <a:spLocks noChangeArrowheads="1"/>
              </p:cNvSpPr>
              <p:nvPr/>
            </p:nvSpPr>
            <p:spPr bwMode="auto">
              <a:xfrm>
                <a:off x="6484713" y="538352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54" name="组合 237"/>
            <p:cNvGrpSpPr>
              <a:grpSpLocks/>
            </p:cNvGrpSpPr>
            <p:nvPr/>
          </p:nvGrpSpPr>
          <p:grpSpPr bwMode="auto">
            <a:xfrm>
              <a:off x="5242372" y="2726095"/>
              <a:ext cx="354013" cy="317497"/>
              <a:chOff x="2312606" y="5094189"/>
              <a:chExt cx="473132" cy="424337"/>
            </a:xfrm>
          </p:grpSpPr>
          <p:sp>
            <p:nvSpPr>
              <p:cNvPr id="55" name="等腰三角形 238"/>
              <p:cNvSpPr>
                <a:spLocks noChangeArrowheads="1"/>
              </p:cNvSpPr>
              <p:nvPr/>
            </p:nvSpPr>
            <p:spPr bwMode="auto">
              <a:xfrm>
                <a:off x="2411760" y="5094189"/>
                <a:ext cx="315616" cy="36004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6" name="组合 239"/>
              <p:cNvGrpSpPr>
                <a:grpSpLocks/>
              </p:cNvGrpSpPr>
              <p:nvPr/>
            </p:nvGrpSpPr>
            <p:grpSpPr bwMode="auto">
              <a:xfrm>
                <a:off x="2312606" y="5447058"/>
                <a:ext cx="473132" cy="71468"/>
                <a:chOff x="2321750" y="5453423"/>
                <a:chExt cx="473132" cy="71468"/>
              </a:xfrm>
            </p:grpSpPr>
            <p:cxnSp>
              <p:nvCxnSpPr>
                <p:cNvPr id="57"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grpSp>
        <p:nvGrpSpPr>
          <p:cNvPr id="77" name="组合 76"/>
          <p:cNvGrpSpPr/>
          <p:nvPr/>
        </p:nvGrpSpPr>
        <p:grpSpPr>
          <a:xfrm>
            <a:off x="7549570" y="1842590"/>
            <a:ext cx="3912914" cy="1711833"/>
            <a:chOff x="5076056" y="652438"/>
            <a:chExt cx="3912914" cy="1711833"/>
          </a:xfrm>
        </p:grpSpPr>
        <p:sp>
          <p:nvSpPr>
            <p:cNvPr id="78" name="Line 69"/>
            <p:cNvSpPr>
              <a:spLocks noChangeShapeType="1"/>
            </p:cNvSpPr>
            <p:nvPr/>
          </p:nvSpPr>
          <p:spPr bwMode="auto">
            <a:xfrm>
              <a:off x="8021963" y="1401790"/>
              <a:ext cx="838767"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grpSp>
          <p:nvGrpSpPr>
            <p:cNvPr id="79" name="组合 78"/>
            <p:cNvGrpSpPr/>
            <p:nvPr/>
          </p:nvGrpSpPr>
          <p:grpSpPr>
            <a:xfrm>
              <a:off x="5076056" y="652438"/>
              <a:ext cx="3912914" cy="1711833"/>
              <a:chOff x="5076056" y="642174"/>
              <a:chExt cx="3912914" cy="1711833"/>
            </a:xfrm>
          </p:grpSpPr>
          <p:cxnSp>
            <p:nvCxnSpPr>
              <p:cNvPr id="80" name="直接箭头连接符 250"/>
              <p:cNvCxnSpPr>
                <a:cxnSpLocks noChangeShapeType="1"/>
              </p:cNvCxnSpPr>
              <p:nvPr/>
            </p:nvCxnSpPr>
            <p:spPr bwMode="auto">
              <a:xfrm>
                <a:off x="7164288" y="908720"/>
                <a:ext cx="0" cy="450850"/>
              </a:xfrm>
              <a:prstGeom prst="straightConnector1">
                <a:avLst/>
              </a:prstGeom>
              <a:noFill/>
              <a:ln w="28575" cap="sq" algn="ctr">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 name="组合 80"/>
              <p:cNvGrpSpPr/>
              <p:nvPr/>
            </p:nvGrpSpPr>
            <p:grpSpPr>
              <a:xfrm>
                <a:off x="5448420" y="1876611"/>
                <a:ext cx="1708188" cy="472269"/>
                <a:chOff x="5852330" y="5785618"/>
                <a:chExt cx="2153769" cy="472269"/>
              </a:xfrm>
            </p:grpSpPr>
            <p:cxnSp>
              <p:nvCxnSpPr>
                <p:cNvPr id="97" name="直接连接符 96"/>
                <p:cNvCxnSpPr/>
                <p:nvPr/>
              </p:nvCxnSpPr>
              <p:spPr bwMode="auto">
                <a:xfrm>
                  <a:off x="5852330" y="6155047"/>
                  <a:ext cx="2153769"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5852330" y="5785618"/>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2" name="直接连接符 223"/>
              <p:cNvCxnSpPr>
                <a:cxnSpLocks noChangeShapeType="1"/>
              </p:cNvCxnSpPr>
              <p:nvPr/>
            </p:nvCxnSpPr>
            <p:spPr bwMode="auto">
              <a:xfrm>
                <a:off x="5446811" y="1377851"/>
                <a:ext cx="2610869" cy="952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 Box 106"/>
              <p:cNvSpPr txBox="1">
                <a:spLocks noChangeArrowheads="1"/>
              </p:cNvSpPr>
              <p:nvPr/>
            </p:nvSpPr>
            <p:spPr bwMode="auto">
              <a:xfrm>
                <a:off x="5076056" y="118418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A</a:t>
                </a:r>
                <a:endParaRPr lang="zh-CN" altLang="en-US" sz="1600" b="1" i="1" dirty="0">
                  <a:solidFill>
                    <a:schemeClr val="tx1"/>
                  </a:solidFill>
                  <a:latin typeface="Times New Roman" pitchFamily="18" charset="0"/>
                  <a:ea typeface="+mn-ea"/>
                  <a:cs typeface="Times New Roman" pitchFamily="18" charset="0"/>
                </a:endParaRPr>
              </a:p>
            </p:txBody>
          </p:sp>
          <p:sp>
            <p:nvSpPr>
              <p:cNvPr id="84" name="Text Box 106"/>
              <p:cNvSpPr txBox="1">
                <a:spLocks noChangeArrowheads="1"/>
              </p:cNvSpPr>
              <p:nvPr/>
            </p:nvSpPr>
            <p:spPr bwMode="auto">
              <a:xfrm>
                <a:off x="7763411" y="11125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B</a:t>
                </a:r>
                <a:endParaRPr lang="zh-CN" altLang="en-US" sz="1600" b="1" i="1" dirty="0">
                  <a:solidFill>
                    <a:schemeClr val="tx1"/>
                  </a:solidFill>
                  <a:latin typeface="Times New Roman" pitchFamily="18" charset="0"/>
                  <a:ea typeface="+mn-ea"/>
                  <a:cs typeface="Times New Roman" pitchFamily="18" charset="0"/>
                </a:endParaRPr>
              </a:p>
            </p:txBody>
          </p:sp>
          <p:sp>
            <p:nvSpPr>
              <p:cNvPr id="85" name="Text Box 106"/>
              <p:cNvSpPr txBox="1">
                <a:spLocks noChangeArrowheads="1"/>
              </p:cNvSpPr>
              <p:nvPr/>
            </p:nvSpPr>
            <p:spPr bwMode="auto">
              <a:xfrm>
                <a:off x="7061318" y="109222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C</a:t>
                </a:r>
                <a:endParaRPr lang="zh-CN" altLang="en-US" sz="1600" b="1" i="1" dirty="0">
                  <a:solidFill>
                    <a:schemeClr val="tx1"/>
                  </a:solidFill>
                  <a:latin typeface="Times New Roman" pitchFamily="18" charset="0"/>
                  <a:ea typeface="+mn-ea"/>
                  <a:cs typeface="Times New Roman" pitchFamily="18" charset="0"/>
                </a:endParaRPr>
              </a:p>
            </p:txBody>
          </p:sp>
          <p:sp>
            <p:nvSpPr>
              <p:cNvPr id="86" name="Text Box 106"/>
              <p:cNvSpPr txBox="1">
                <a:spLocks noChangeArrowheads="1"/>
              </p:cNvSpPr>
              <p:nvPr/>
            </p:nvSpPr>
            <p:spPr bwMode="auto">
              <a:xfrm>
                <a:off x="6012160" y="192656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grpSp>
            <p:nvGrpSpPr>
              <p:cNvPr id="87" name="组合 86"/>
              <p:cNvGrpSpPr/>
              <p:nvPr/>
            </p:nvGrpSpPr>
            <p:grpSpPr>
              <a:xfrm>
                <a:off x="7162958" y="1881738"/>
                <a:ext cx="891788" cy="472269"/>
                <a:chOff x="5852330" y="5787231"/>
                <a:chExt cx="2163454" cy="472269"/>
              </a:xfrm>
            </p:grpSpPr>
            <p:cxnSp>
              <p:nvCxnSpPr>
                <p:cNvPr id="94" name="直接连接符 93"/>
                <p:cNvCxnSpPr/>
                <p:nvPr/>
              </p:nvCxnSpPr>
              <p:spPr bwMode="auto">
                <a:xfrm>
                  <a:off x="5852330" y="6155047"/>
                  <a:ext cx="2153770"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8015784" y="5787231"/>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852330" y="6016209"/>
                  <a:ext cx="0" cy="24167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8" name="Text Box 106"/>
              <p:cNvSpPr txBox="1">
                <a:spLocks noChangeArrowheads="1"/>
              </p:cNvSpPr>
              <p:nvPr/>
            </p:nvSpPr>
            <p:spPr bwMode="auto">
              <a:xfrm>
                <a:off x="7331348" y="193372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b</a:t>
                </a:r>
                <a:endParaRPr lang="zh-CN" altLang="en-US" sz="1800" i="1" dirty="0">
                  <a:solidFill>
                    <a:schemeClr val="tx1"/>
                  </a:solidFill>
                  <a:latin typeface="Times New Roman" pitchFamily="18" charset="0"/>
                  <a:ea typeface="+mn-ea"/>
                  <a:cs typeface="Times New Roman" pitchFamily="18" charset="0"/>
                </a:endParaRPr>
              </a:p>
            </p:txBody>
          </p:sp>
          <p:sp>
            <p:nvSpPr>
              <p:cNvPr id="89" name="Text Box 106"/>
              <p:cNvSpPr txBox="1">
                <a:spLocks noChangeArrowheads="1"/>
              </p:cNvSpPr>
              <p:nvPr/>
            </p:nvSpPr>
            <p:spPr bwMode="auto">
              <a:xfrm>
                <a:off x="7090841" y="761724"/>
                <a:ext cx="4810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2000" b="1" i="1" dirty="0">
                    <a:latin typeface="Times New Roman" pitchFamily="18" charset="0"/>
                    <a:cs typeface="Times New Roman" pitchFamily="18" charset="0"/>
                  </a:rPr>
                  <a:t>F</a:t>
                </a:r>
                <a:endParaRPr lang="zh-CN" altLang="en-US" sz="2000" b="1" i="1" dirty="0">
                  <a:latin typeface="Times New Roman" pitchFamily="18" charset="0"/>
                  <a:cs typeface="Times New Roman" pitchFamily="18" charset="0"/>
                </a:endParaRPr>
              </a:p>
            </p:txBody>
          </p:sp>
          <p:sp>
            <p:nvSpPr>
              <p:cNvPr id="90" name="Text Box 106"/>
              <p:cNvSpPr txBox="1">
                <a:spLocks noChangeArrowheads="1"/>
              </p:cNvSpPr>
              <p:nvPr/>
            </p:nvSpPr>
            <p:spPr bwMode="auto">
              <a:xfrm>
                <a:off x="8507958" y="136225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x</a:t>
                </a:r>
                <a:endParaRPr lang="zh-CN" altLang="en-US" sz="1600" b="1" i="1" dirty="0">
                  <a:solidFill>
                    <a:schemeClr val="tx1"/>
                  </a:solidFill>
                  <a:latin typeface="Times New Roman" pitchFamily="18" charset="0"/>
                  <a:ea typeface="+mn-ea"/>
                  <a:cs typeface="Times New Roman" pitchFamily="18" charset="0"/>
                </a:endParaRPr>
              </a:p>
            </p:txBody>
          </p:sp>
          <p:sp>
            <p:nvSpPr>
              <p:cNvPr id="91" name="Line 69"/>
              <p:cNvSpPr>
                <a:spLocks noChangeShapeType="1"/>
              </p:cNvSpPr>
              <p:nvPr/>
            </p:nvSpPr>
            <p:spPr bwMode="auto">
              <a:xfrm rot="16200000">
                <a:off x="5126723" y="1078920"/>
                <a:ext cx="620973"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sp>
            <p:nvSpPr>
              <p:cNvPr id="93" name="Text Box 106"/>
              <p:cNvSpPr txBox="1">
                <a:spLocks noChangeArrowheads="1"/>
              </p:cNvSpPr>
              <p:nvPr/>
            </p:nvSpPr>
            <p:spPr bwMode="auto">
              <a:xfrm>
                <a:off x="5292080" y="64217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y</a:t>
                </a:r>
                <a:endParaRPr lang="zh-CN" altLang="en-US" sz="1600" b="1" i="1" dirty="0">
                  <a:solidFill>
                    <a:schemeClr val="tx1"/>
                  </a:solidFill>
                  <a:latin typeface="Times New Roman" pitchFamily="18" charset="0"/>
                  <a:ea typeface="+mn-ea"/>
                  <a:cs typeface="Times New Roman" pitchFamily="18" charset="0"/>
                </a:endParaRPr>
              </a:p>
            </p:txBody>
          </p:sp>
        </p:grpSp>
      </p:grpSp>
      <p:grpSp>
        <p:nvGrpSpPr>
          <p:cNvPr id="99" name="组合 98"/>
          <p:cNvGrpSpPr/>
          <p:nvPr/>
        </p:nvGrpSpPr>
        <p:grpSpPr>
          <a:xfrm>
            <a:off x="7908153" y="2292640"/>
            <a:ext cx="3330115" cy="579656"/>
            <a:chOff x="5434639" y="1121152"/>
            <a:chExt cx="3330115" cy="579656"/>
          </a:xfrm>
        </p:grpSpPr>
        <p:sp>
          <p:nvSpPr>
            <p:cNvPr id="100" name="Text Box 106"/>
            <p:cNvSpPr txBox="1">
              <a:spLocks noChangeArrowheads="1"/>
            </p:cNvSpPr>
            <p:nvPr/>
          </p:nvSpPr>
          <p:spPr bwMode="auto">
            <a:xfrm>
              <a:off x="6467252" y="112115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D</a:t>
              </a:r>
              <a:endParaRPr lang="zh-CN" altLang="en-US" sz="1600" b="1" i="1" dirty="0">
                <a:solidFill>
                  <a:schemeClr val="tx1"/>
                </a:solidFill>
                <a:latin typeface="Times New Roman" pitchFamily="18" charset="0"/>
                <a:ea typeface="+mn-ea"/>
                <a:cs typeface="Times New Roman" pitchFamily="18" charset="0"/>
              </a:endParaRPr>
            </a:p>
          </p:txBody>
        </p:sp>
        <p:sp>
          <p:nvSpPr>
            <p:cNvPr id="101" name="任意多边形 100"/>
            <p:cNvSpPr/>
            <p:nvPr/>
          </p:nvSpPr>
          <p:spPr>
            <a:xfrm>
              <a:off x="5448300" y="1397000"/>
              <a:ext cx="2616200" cy="291813"/>
            </a:xfrm>
            <a:custGeom>
              <a:avLst/>
              <a:gdLst>
                <a:gd name="connsiteX0" fmla="*/ 0 w 2616200"/>
                <a:gd name="connsiteY0" fmla="*/ 0 h 412766"/>
                <a:gd name="connsiteX1" fmla="*/ 1308100 w 2616200"/>
                <a:gd name="connsiteY1" fmla="*/ 412750 h 412766"/>
                <a:gd name="connsiteX2" fmla="*/ 2616200 w 2616200"/>
                <a:gd name="connsiteY2" fmla="*/ 12700 h 412766"/>
              </a:gdLst>
              <a:ahLst/>
              <a:cxnLst>
                <a:cxn ang="0">
                  <a:pos x="connsiteX0" y="connsiteY0"/>
                </a:cxn>
                <a:cxn ang="0">
                  <a:pos x="connsiteX1" y="connsiteY1"/>
                </a:cxn>
                <a:cxn ang="0">
                  <a:pos x="connsiteX2" y="connsiteY2"/>
                </a:cxn>
              </a:cxnLst>
              <a:rect l="l" t="t" r="r" b="b"/>
              <a:pathLst>
                <a:path w="2616200" h="412766">
                  <a:moveTo>
                    <a:pt x="0" y="0"/>
                  </a:moveTo>
                  <a:cubicBezTo>
                    <a:pt x="436033" y="205316"/>
                    <a:pt x="872067" y="410633"/>
                    <a:pt x="1308100" y="412750"/>
                  </a:cubicBezTo>
                  <a:cubicBezTo>
                    <a:pt x="1744133" y="414867"/>
                    <a:pt x="2180166" y="213783"/>
                    <a:pt x="2616200" y="12700"/>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a:xfrm>
              <a:off x="5434639" y="1389407"/>
              <a:ext cx="577521" cy="239393"/>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3" name="任意多边形 102"/>
            <p:cNvSpPr/>
            <p:nvPr/>
          </p:nvSpPr>
          <p:spPr>
            <a:xfrm>
              <a:off x="5765006" y="1390650"/>
              <a:ext cx="42863" cy="138113"/>
            </a:xfrm>
            <a:custGeom>
              <a:avLst/>
              <a:gdLst>
                <a:gd name="connsiteX0" fmla="*/ 0 w 42863"/>
                <a:gd name="connsiteY0" fmla="*/ 138113 h 138113"/>
                <a:gd name="connsiteX1" fmla="*/ 35719 w 42863"/>
                <a:gd name="connsiteY1" fmla="*/ 69056 h 138113"/>
                <a:gd name="connsiteX2" fmla="*/ 42863 w 42863"/>
                <a:gd name="connsiteY2" fmla="*/ 0 h 138113"/>
              </a:gdLst>
              <a:ahLst/>
              <a:cxnLst>
                <a:cxn ang="0">
                  <a:pos x="connsiteX0" y="connsiteY0"/>
                </a:cxn>
                <a:cxn ang="0">
                  <a:pos x="connsiteX1" y="connsiteY1"/>
                </a:cxn>
                <a:cxn ang="0">
                  <a:pos x="connsiteX2" y="connsiteY2"/>
                </a:cxn>
              </a:cxnLst>
              <a:rect l="l" t="t" r="r" b="b"/>
              <a:pathLst>
                <a:path w="42863" h="138113">
                  <a:moveTo>
                    <a:pt x="0" y="138113"/>
                  </a:moveTo>
                  <a:cubicBezTo>
                    <a:pt x="14287" y="115094"/>
                    <a:pt x="28575" y="92075"/>
                    <a:pt x="35719" y="69056"/>
                  </a:cubicBezTo>
                  <a:cubicBezTo>
                    <a:pt x="42863" y="46037"/>
                    <a:pt x="42863" y="23018"/>
                    <a:pt x="42863"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Text Box 106"/>
            <p:cNvSpPr txBox="1">
              <a:spLocks noChangeArrowheads="1"/>
            </p:cNvSpPr>
            <p:nvPr/>
          </p:nvSpPr>
          <p:spPr bwMode="auto">
            <a:xfrm>
              <a:off x="5745336" y="131780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A</a:t>
              </a:r>
              <a:endParaRPr lang="zh-CN" altLang="en-US" sz="1600" b="1" i="1" baseline="-25000" dirty="0">
                <a:solidFill>
                  <a:schemeClr val="tx1"/>
                </a:solidFill>
                <a:latin typeface="Times New Roman" pitchFamily="18" charset="0"/>
                <a:ea typeface="+mn-ea"/>
                <a:cs typeface="Times New Roman" pitchFamily="18" charset="0"/>
              </a:endParaRPr>
            </a:p>
          </p:txBody>
        </p:sp>
        <p:cxnSp>
          <p:nvCxnSpPr>
            <p:cNvPr id="105" name="直接连接符 104"/>
            <p:cNvCxnSpPr/>
            <p:nvPr/>
          </p:nvCxnSpPr>
          <p:spPr>
            <a:xfrm flipV="1">
              <a:off x="8054745" y="1161834"/>
              <a:ext cx="549703" cy="239956"/>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6" name="任意多边形 105"/>
            <p:cNvSpPr/>
            <p:nvPr/>
          </p:nvSpPr>
          <p:spPr>
            <a:xfrm>
              <a:off x="8315325" y="1295400"/>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p:cNvCxnSpPr/>
            <p:nvPr/>
          </p:nvCxnSpPr>
          <p:spPr bwMode="auto">
            <a:xfrm>
              <a:off x="6752245" y="1412776"/>
              <a:ext cx="0" cy="288032"/>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6"/>
            <p:cNvSpPr txBox="1">
              <a:spLocks noChangeArrowheads="1"/>
            </p:cNvSpPr>
            <p:nvPr/>
          </p:nvSpPr>
          <p:spPr bwMode="auto">
            <a:xfrm>
              <a:off x="6685731" y="1340768"/>
              <a:ext cx="5505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buNone/>
                <a:defRPr/>
              </a:pPr>
              <a:r>
                <a:rPr lang="en-US" altLang="zh-CN" sz="1600" b="1" i="1" dirty="0" err="1">
                  <a:solidFill>
                    <a:schemeClr val="tx1"/>
                  </a:solidFill>
                  <a:latin typeface="Times New Roman" pitchFamily="18" charset="0"/>
                  <a:ea typeface="+mn-ea"/>
                  <a:cs typeface="Times New Roman" pitchFamily="18" charset="0"/>
                  <a:sym typeface="Symbol"/>
                </a:rPr>
                <a:t>y</a:t>
              </a:r>
              <a:r>
                <a:rPr lang="en-US" altLang="zh-CN" sz="1600" b="1" i="1" baseline="-25000" dirty="0" err="1">
                  <a:solidFill>
                    <a:schemeClr val="tx1"/>
                  </a:solidFill>
                  <a:latin typeface="Times New Roman" pitchFamily="18" charset="0"/>
                  <a:ea typeface="+mn-ea"/>
                  <a:cs typeface="Times New Roman" pitchFamily="18" charset="0"/>
                  <a:sym typeface="Symbol"/>
                </a:rPr>
                <a:t>max</a:t>
              </a:r>
              <a:endParaRPr lang="zh-CN" altLang="en-US" sz="1600" b="1" i="1" baseline="-25000" dirty="0">
                <a:solidFill>
                  <a:schemeClr val="tx1"/>
                </a:solidFill>
                <a:latin typeface="Times New Roman" pitchFamily="18" charset="0"/>
                <a:ea typeface="+mn-ea"/>
                <a:cs typeface="Times New Roman" pitchFamily="18" charset="0"/>
              </a:endParaRPr>
            </a:p>
          </p:txBody>
        </p:sp>
        <p:sp>
          <p:nvSpPr>
            <p:cNvPr id="109" name="Text Box 106"/>
            <p:cNvSpPr txBox="1">
              <a:spLocks noChangeArrowheads="1"/>
            </p:cNvSpPr>
            <p:nvPr/>
          </p:nvSpPr>
          <p:spPr bwMode="auto">
            <a:xfrm>
              <a:off x="8283742" y="112474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B</a:t>
              </a:r>
              <a:endParaRPr lang="zh-CN" altLang="en-US" sz="1600" b="1" i="1" baseline="-25000" dirty="0">
                <a:solidFill>
                  <a:schemeClr val="tx1"/>
                </a:solidFill>
                <a:latin typeface="Times New Roman" pitchFamily="18" charset="0"/>
                <a:ea typeface="+mn-ea"/>
                <a:cs typeface="Times New Roman" pitchFamily="18" charset="0"/>
              </a:endParaRPr>
            </a:p>
          </p:txBody>
        </p:sp>
      </p:grpSp>
      <p:grpSp>
        <p:nvGrpSpPr>
          <p:cNvPr id="110" name="组合 109"/>
          <p:cNvGrpSpPr/>
          <p:nvPr/>
        </p:nvGrpSpPr>
        <p:grpSpPr>
          <a:xfrm>
            <a:off x="7530624" y="2600009"/>
            <a:ext cx="3061570" cy="547726"/>
            <a:chOff x="6230119" y="1585268"/>
            <a:chExt cx="3061570" cy="547726"/>
          </a:xfrm>
        </p:grpSpPr>
        <p:sp>
          <p:nvSpPr>
            <p:cNvPr id="111" name="Text Box 106"/>
            <p:cNvSpPr txBox="1">
              <a:spLocks noChangeArrowheads="1"/>
            </p:cNvSpPr>
            <p:nvPr/>
          </p:nvSpPr>
          <p:spPr bwMode="auto">
            <a:xfrm>
              <a:off x="6230119" y="173400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A</a:t>
              </a:r>
              <a:endParaRPr lang="zh-CN" altLang="en-US" sz="1800" i="1" baseline="-25000" dirty="0">
                <a:solidFill>
                  <a:srgbClr val="0000FF"/>
                </a:solidFill>
                <a:latin typeface="Times New Roman" pitchFamily="18" charset="0"/>
                <a:ea typeface="+mn-ea"/>
                <a:cs typeface="Times New Roman" pitchFamily="18" charset="0"/>
              </a:endParaRPr>
            </a:p>
          </p:txBody>
        </p:sp>
        <p:cxnSp>
          <p:nvCxnSpPr>
            <p:cNvPr id="112" name="直接箭头连接符 250"/>
            <p:cNvCxnSpPr>
              <a:cxnSpLocks noChangeShapeType="1"/>
            </p:cNvCxnSpPr>
            <p:nvPr/>
          </p:nvCxnSpPr>
          <p:spPr bwMode="auto">
            <a:xfrm flipV="1">
              <a:off x="6610609" y="1585268"/>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箭头连接符 250"/>
            <p:cNvCxnSpPr>
              <a:cxnSpLocks noChangeShapeType="1"/>
            </p:cNvCxnSpPr>
            <p:nvPr/>
          </p:nvCxnSpPr>
          <p:spPr bwMode="auto">
            <a:xfrm flipV="1">
              <a:off x="9227300" y="1592744"/>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06"/>
            <p:cNvSpPr txBox="1">
              <a:spLocks noChangeArrowheads="1"/>
            </p:cNvSpPr>
            <p:nvPr/>
          </p:nvSpPr>
          <p:spPr bwMode="auto">
            <a:xfrm>
              <a:off x="8810677" y="1763662"/>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B</a:t>
              </a:r>
              <a:endParaRPr lang="zh-CN" altLang="en-US" sz="1800" i="1" baseline="-25000" dirty="0">
                <a:solidFill>
                  <a:srgbClr val="0000FF"/>
                </a:solidFill>
                <a:latin typeface="Times New Roman" pitchFamily="18" charset="0"/>
                <a:ea typeface="+mn-ea"/>
                <a:cs typeface="Times New Roman" pitchFamily="18" charset="0"/>
              </a:endParaRPr>
            </a:p>
          </p:txBody>
        </p:sp>
      </p:grpSp>
      <p:grpSp>
        <p:nvGrpSpPr>
          <p:cNvPr id="115" name="组合 114"/>
          <p:cNvGrpSpPr/>
          <p:nvPr/>
        </p:nvGrpSpPr>
        <p:grpSpPr>
          <a:xfrm>
            <a:off x="7919659" y="2697685"/>
            <a:ext cx="1936501" cy="517552"/>
            <a:chOff x="4131850" y="4293096"/>
            <a:chExt cx="1936501" cy="517552"/>
          </a:xfrm>
        </p:grpSpPr>
        <p:grpSp>
          <p:nvGrpSpPr>
            <p:cNvPr id="116" name="组合 115"/>
            <p:cNvGrpSpPr/>
            <p:nvPr/>
          </p:nvGrpSpPr>
          <p:grpSpPr>
            <a:xfrm rot="5400000">
              <a:off x="4949337" y="3691634"/>
              <a:ext cx="301527" cy="1936501"/>
              <a:chOff x="7998643" y="4365868"/>
              <a:chExt cx="301527" cy="1936501"/>
            </a:xfrm>
          </p:grpSpPr>
          <p:cxnSp>
            <p:nvCxnSpPr>
              <p:cNvPr id="119" name="直接连接符 118"/>
              <p:cNvCxnSpPr/>
              <p:nvPr/>
            </p:nvCxnSpPr>
            <p:spPr bwMode="auto">
              <a:xfrm rot="16200000" flipH="1">
                <a:off x="7810945" y="5972748"/>
                <a:ext cx="659242"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rot="16200000" flipH="1" flipV="1">
                <a:off x="8102285" y="5537632"/>
                <a:ext cx="1854" cy="209138"/>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直接连接符 120"/>
              <p:cNvCxnSpPr/>
              <p:nvPr/>
            </p:nvCxnSpPr>
            <p:spPr bwMode="auto">
              <a:xfrm rot="16200000" flipH="1">
                <a:off x="7314738" y="5330914"/>
                <a:ext cx="1930091"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p:cNvCxnSpPr/>
              <p:nvPr/>
            </p:nvCxnSpPr>
            <p:spPr bwMode="auto">
              <a:xfrm rot="16200000" flipV="1">
                <a:off x="8149408" y="4215106"/>
                <a:ext cx="0" cy="301524"/>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Text Box 106"/>
            <p:cNvSpPr txBox="1">
              <a:spLocks noChangeArrowheads="1"/>
            </p:cNvSpPr>
            <p:nvPr/>
          </p:nvSpPr>
          <p:spPr bwMode="auto">
            <a:xfrm>
              <a:off x="4220964" y="429309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1</a:t>
              </a:r>
              <a:endParaRPr lang="zh-CN" altLang="en-US" sz="1800" baseline="-25000" dirty="0">
                <a:solidFill>
                  <a:schemeClr val="tx1"/>
                </a:solidFill>
                <a:latin typeface="Times New Roman" pitchFamily="18" charset="0"/>
                <a:ea typeface="+mn-ea"/>
                <a:cs typeface="Times New Roman" pitchFamily="18" charset="0"/>
              </a:endParaRPr>
            </a:p>
          </p:txBody>
        </p:sp>
        <p:sp>
          <p:nvSpPr>
            <p:cNvPr id="118" name="Text Box 106"/>
            <p:cNvSpPr txBox="1">
              <a:spLocks noChangeArrowheads="1"/>
            </p:cNvSpPr>
            <p:nvPr/>
          </p:nvSpPr>
          <p:spPr bwMode="auto">
            <a:xfrm>
              <a:off x="4932040" y="443711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2</a:t>
              </a:r>
              <a:endParaRPr lang="zh-CN" altLang="en-US" sz="1800" baseline="-25000" dirty="0">
                <a:solidFill>
                  <a:schemeClr val="tx1"/>
                </a:solidFill>
                <a:latin typeface="Times New Roman" pitchFamily="18" charset="0"/>
                <a:ea typeface="+mn-ea"/>
                <a:cs typeface="Times New Roman" pitchFamily="18" charset="0"/>
              </a:endParaRPr>
            </a:p>
          </p:txBody>
        </p:sp>
      </p:grpSp>
      <p:sp>
        <p:nvSpPr>
          <p:cNvPr id="92" name="Text Box 9"/>
          <p:cNvSpPr txBox="1">
            <a:spLocks noChangeArrowheads="1"/>
          </p:cNvSpPr>
          <p:nvPr/>
        </p:nvSpPr>
        <p:spPr bwMode="auto">
          <a:xfrm>
            <a:off x="1234111" y="4644135"/>
            <a:ext cx="2400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zh-CN" altLang="en-US" i="0" dirty="0">
                <a:solidFill>
                  <a:schemeClr val="tx1"/>
                </a:solidFill>
                <a:latin typeface="黑体" panose="02010609060101010101" pitchFamily="49" charset="-122"/>
                <a:ea typeface="黑体" panose="02010609060101010101" pitchFamily="49" charset="-122"/>
              </a:rPr>
              <a:t>代入求解，得</a:t>
            </a:r>
          </a:p>
        </p:txBody>
      </p:sp>
      <p:sp>
        <p:nvSpPr>
          <p:cNvPr id="123" name="Rectangle 11"/>
          <p:cNvSpPr>
            <a:spLocks noChangeArrowheads="1"/>
          </p:cNvSpPr>
          <p:nvPr/>
        </p:nvSpPr>
        <p:spPr bwMode="auto">
          <a:xfrm>
            <a:off x="1161145" y="3113965"/>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pPr>
            <a:r>
              <a:rPr kumimoji="1" lang="zh-CN" altLang="en-US" i="0" dirty="0">
                <a:solidFill>
                  <a:schemeClr val="tx1"/>
                </a:solidFill>
                <a:latin typeface="黑体" panose="02010609060101010101" pitchFamily="49" charset="-122"/>
                <a:ea typeface="黑体" panose="02010609060101010101" pitchFamily="49" charset="-122"/>
              </a:rPr>
              <a:t>光滑连续条件</a:t>
            </a:r>
          </a:p>
        </p:txBody>
      </p:sp>
      <p:sp>
        <p:nvSpPr>
          <p:cNvPr id="129" name="Text Box 9"/>
          <p:cNvSpPr txBox="1">
            <a:spLocks noChangeArrowheads="1"/>
          </p:cNvSpPr>
          <p:nvPr/>
        </p:nvSpPr>
        <p:spPr bwMode="auto">
          <a:xfrm>
            <a:off x="1196624" y="1604220"/>
            <a:ext cx="24752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None/>
            </a:pPr>
            <a:r>
              <a:rPr kumimoji="1" lang="zh-CN" altLang="en-US" i="0" dirty="0">
                <a:solidFill>
                  <a:schemeClr val="tx1"/>
                </a:solidFill>
                <a:latin typeface="黑体" panose="02010609060101010101" pitchFamily="49" charset="-122"/>
                <a:ea typeface="黑体" panose="02010609060101010101" pitchFamily="49" charset="-122"/>
              </a:rPr>
              <a:t>位移边界条件</a:t>
            </a:r>
          </a:p>
        </p:txBody>
      </p:sp>
      <p:graphicFrame>
        <p:nvGraphicFramePr>
          <p:cNvPr id="135" name="Object 7"/>
          <p:cNvGraphicFramePr>
            <a:graphicFrameLocks noChangeAspect="1"/>
          </p:cNvGraphicFramePr>
          <p:nvPr>
            <p:extLst>
              <p:ext uri="{D42A27DB-BD31-4B8C-83A1-F6EECF244321}">
                <p14:modId xmlns:p14="http://schemas.microsoft.com/office/powerpoint/2010/main" val="1425102902"/>
              </p:ext>
            </p:extLst>
          </p:nvPr>
        </p:nvGraphicFramePr>
        <p:xfrm>
          <a:off x="1580361" y="2078850"/>
          <a:ext cx="2541589" cy="982663"/>
        </p:xfrm>
        <a:graphic>
          <a:graphicData uri="http://schemas.openxmlformats.org/presentationml/2006/ole">
            <mc:AlternateContent xmlns:mc="http://schemas.openxmlformats.org/markup-compatibility/2006">
              <mc:Choice xmlns:v="urn:schemas-microsoft-com:vml" Requires="v">
                <p:oleObj spid="_x0000_s37914" name="公式" r:id="rId4" imgW="1015920" imgH="419040" progId="Equation.3">
                  <p:embed/>
                </p:oleObj>
              </mc:Choice>
              <mc:Fallback>
                <p:oleObj name="公式" r:id="rId4" imgW="1015920" imgH="419040" progId="Equation.3">
                  <p:embed/>
                  <p:pic>
                    <p:nvPicPr>
                      <p:cNvPr id="142" name="Object 7"/>
                      <p:cNvPicPr>
                        <a:picLocks noChangeAspect="1" noChangeArrowheads="1"/>
                      </p:cNvPicPr>
                      <p:nvPr/>
                    </p:nvPicPr>
                    <p:blipFill>
                      <a:blip r:embed="rId5"/>
                      <a:srcRect/>
                      <a:stretch>
                        <a:fillRect/>
                      </a:stretch>
                    </p:blipFill>
                    <p:spPr bwMode="auto">
                      <a:xfrm>
                        <a:off x="1580361" y="2078850"/>
                        <a:ext cx="2541589"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 name="Object 7"/>
          <p:cNvGraphicFramePr>
            <a:graphicFrameLocks noChangeAspect="1"/>
          </p:cNvGraphicFramePr>
          <p:nvPr>
            <p:extLst>
              <p:ext uri="{D42A27DB-BD31-4B8C-83A1-F6EECF244321}">
                <p14:modId xmlns:p14="http://schemas.microsoft.com/office/powerpoint/2010/main" val="3351659309"/>
              </p:ext>
            </p:extLst>
          </p:nvPr>
        </p:nvGraphicFramePr>
        <p:xfrm>
          <a:off x="1605168" y="3564015"/>
          <a:ext cx="3813175" cy="982662"/>
        </p:xfrm>
        <a:graphic>
          <a:graphicData uri="http://schemas.openxmlformats.org/presentationml/2006/ole">
            <mc:AlternateContent xmlns:mc="http://schemas.openxmlformats.org/markup-compatibility/2006">
              <mc:Choice xmlns:v="urn:schemas-microsoft-com:vml" Requires="v">
                <p:oleObj spid="_x0000_s37915" name="公式" r:id="rId6" imgW="1523880" imgH="419040" progId="Equation.3">
                  <p:embed/>
                </p:oleObj>
              </mc:Choice>
              <mc:Fallback>
                <p:oleObj name="公式" r:id="rId6" imgW="1523880" imgH="419040" progId="Equation.3">
                  <p:embed/>
                  <p:pic>
                    <p:nvPicPr>
                      <p:cNvPr id="143" name="Object 7"/>
                      <p:cNvPicPr>
                        <a:picLocks noChangeAspect="1" noChangeArrowheads="1"/>
                      </p:cNvPicPr>
                      <p:nvPr/>
                    </p:nvPicPr>
                    <p:blipFill>
                      <a:blip r:embed="rId7"/>
                      <a:srcRect/>
                      <a:stretch>
                        <a:fillRect/>
                      </a:stretch>
                    </p:blipFill>
                    <p:spPr bwMode="auto">
                      <a:xfrm>
                        <a:off x="1605168" y="3564015"/>
                        <a:ext cx="3813175" cy="982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 name="Object 7"/>
          <p:cNvGraphicFramePr>
            <a:graphicFrameLocks noChangeAspect="1"/>
          </p:cNvGraphicFramePr>
          <p:nvPr>
            <p:extLst>
              <p:ext uri="{D42A27DB-BD31-4B8C-83A1-F6EECF244321}">
                <p14:modId xmlns:p14="http://schemas.microsoft.com/office/powerpoint/2010/main" val="1911549121"/>
              </p:ext>
            </p:extLst>
          </p:nvPr>
        </p:nvGraphicFramePr>
        <p:xfrm>
          <a:off x="1646675" y="5049180"/>
          <a:ext cx="2666880" cy="1193760"/>
        </p:xfrm>
        <a:graphic>
          <a:graphicData uri="http://schemas.openxmlformats.org/presentationml/2006/ole">
            <mc:AlternateContent xmlns:mc="http://schemas.openxmlformats.org/markup-compatibility/2006">
              <mc:Choice xmlns:v="urn:schemas-microsoft-com:vml" Requires="v">
                <p:oleObj spid="_x0000_s37916" name="公式" r:id="rId8" imgW="1333440" imgH="596880" progId="Equation.3">
                  <p:embed/>
                </p:oleObj>
              </mc:Choice>
              <mc:Fallback>
                <p:oleObj name="公式" r:id="rId8" imgW="1333440" imgH="596880" progId="Equation.3">
                  <p:embed/>
                  <p:pic>
                    <p:nvPicPr>
                      <p:cNvPr id="144" name="Object 7"/>
                      <p:cNvPicPr>
                        <a:picLocks noChangeAspect="1" noChangeArrowheads="1"/>
                      </p:cNvPicPr>
                      <p:nvPr/>
                    </p:nvPicPr>
                    <p:blipFill>
                      <a:blip r:embed="rId9"/>
                      <a:srcRect/>
                      <a:stretch>
                        <a:fillRect/>
                      </a:stretch>
                    </p:blipFill>
                    <p:spPr bwMode="auto">
                      <a:xfrm>
                        <a:off x="1646675" y="5049180"/>
                        <a:ext cx="2666880" cy="1193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425485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4" grpId="0"/>
      <p:bldP spid="92" grpId="0"/>
      <p:bldP spid="123" grpId="0"/>
      <p:bldP spid="12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44" name="矩形 43">
            <a:extLst>
              <a:ext uri="{FF2B5EF4-FFF2-40B4-BE49-F238E27FC236}">
                <a16:creationId xmlns:a16="http://schemas.microsoft.com/office/drawing/2014/main" id="{08211CFD-EFDE-57CB-1D38-EAC0B8497A77}"/>
              </a:ext>
            </a:extLst>
          </p:cNvPr>
          <p:cNvSpPr/>
          <p:nvPr/>
        </p:nvSpPr>
        <p:spPr>
          <a:xfrm>
            <a:off x="211183" y="936287"/>
            <a:ext cx="8110443" cy="1004699"/>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5)  </a:t>
            </a:r>
            <a:r>
              <a:rPr kumimoji="1" lang="zh-CN" altLang="en-US" i="0" dirty="0">
                <a:solidFill>
                  <a:srgbClr val="000000"/>
                </a:solidFill>
                <a:ea typeface="黑体" panose="02010609060101010101" pitchFamily="49" charset="-122"/>
              </a:rPr>
              <a:t>确定转角方程和挠度方程</a:t>
            </a:r>
          </a:p>
          <a:p>
            <a:pPr>
              <a:lnSpc>
                <a:spcPct val="130000"/>
              </a:lnSpc>
            </a:pPr>
            <a:endParaRPr kumimoji="1" lang="en-US" altLang="zh-CN" i="0" dirty="0">
              <a:solidFill>
                <a:srgbClr val="000000"/>
              </a:solidFill>
              <a:ea typeface="黑体" panose="02010609060101010101" pitchFamily="49" charset="-122"/>
            </a:endParaRPr>
          </a:p>
        </p:txBody>
      </p:sp>
      <p:grpSp>
        <p:nvGrpSpPr>
          <p:cNvPr id="52" name="组合 51"/>
          <p:cNvGrpSpPr/>
          <p:nvPr/>
        </p:nvGrpSpPr>
        <p:grpSpPr>
          <a:xfrm>
            <a:off x="7715886" y="2591044"/>
            <a:ext cx="3034383" cy="414872"/>
            <a:chOff x="5242372" y="2726095"/>
            <a:chExt cx="3034383" cy="414872"/>
          </a:xfrm>
        </p:grpSpPr>
        <p:grpSp>
          <p:nvGrpSpPr>
            <p:cNvPr id="53" name="组合 224"/>
            <p:cNvGrpSpPr>
              <a:grpSpLocks/>
            </p:cNvGrpSpPr>
            <p:nvPr/>
          </p:nvGrpSpPr>
          <p:grpSpPr bwMode="auto">
            <a:xfrm>
              <a:off x="7838605" y="2744093"/>
              <a:ext cx="438150" cy="396874"/>
              <a:chOff x="6199814" y="5094186"/>
              <a:chExt cx="473132" cy="428315"/>
            </a:xfrm>
          </p:grpSpPr>
          <p:grpSp>
            <p:nvGrpSpPr>
              <p:cNvPr id="65" name="组合 225"/>
              <p:cNvGrpSpPr>
                <a:grpSpLocks/>
              </p:cNvGrpSpPr>
              <p:nvPr/>
            </p:nvGrpSpPr>
            <p:grpSpPr bwMode="auto">
              <a:xfrm>
                <a:off x="6199814" y="5451033"/>
                <a:ext cx="473132" cy="71468"/>
                <a:chOff x="2321750" y="5453423"/>
                <a:chExt cx="473132" cy="71468"/>
              </a:xfrm>
            </p:grpSpPr>
            <p:cxnSp>
              <p:nvCxnSpPr>
                <p:cNvPr id="69"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等腰三角形 226"/>
              <p:cNvSpPr>
                <a:spLocks noChangeArrowheads="1"/>
              </p:cNvSpPr>
              <p:nvPr/>
            </p:nvSpPr>
            <p:spPr bwMode="auto">
              <a:xfrm>
                <a:off x="6314201" y="5094186"/>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椭圆 227"/>
              <p:cNvSpPr>
                <a:spLocks noChangeArrowheads="1"/>
              </p:cNvSpPr>
              <p:nvPr/>
            </p:nvSpPr>
            <p:spPr bwMode="auto">
              <a:xfrm>
                <a:off x="6314201" y="5376793"/>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椭圆 228"/>
              <p:cNvSpPr>
                <a:spLocks noChangeArrowheads="1"/>
              </p:cNvSpPr>
              <p:nvPr/>
            </p:nvSpPr>
            <p:spPr bwMode="auto">
              <a:xfrm>
                <a:off x="6484713" y="538352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54" name="组合 237"/>
            <p:cNvGrpSpPr>
              <a:grpSpLocks/>
            </p:cNvGrpSpPr>
            <p:nvPr/>
          </p:nvGrpSpPr>
          <p:grpSpPr bwMode="auto">
            <a:xfrm>
              <a:off x="5242372" y="2726095"/>
              <a:ext cx="354013" cy="317497"/>
              <a:chOff x="2312606" y="5094189"/>
              <a:chExt cx="473132" cy="424337"/>
            </a:xfrm>
          </p:grpSpPr>
          <p:sp>
            <p:nvSpPr>
              <p:cNvPr id="55" name="等腰三角形 238"/>
              <p:cNvSpPr>
                <a:spLocks noChangeArrowheads="1"/>
              </p:cNvSpPr>
              <p:nvPr/>
            </p:nvSpPr>
            <p:spPr bwMode="auto">
              <a:xfrm>
                <a:off x="2411760" y="5094189"/>
                <a:ext cx="315616" cy="36004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6" name="组合 239"/>
              <p:cNvGrpSpPr>
                <a:grpSpLocks/>
              </p:cNvGrpSpPr>
              <p:nvPr/>
            </p:nvGrpSpPr>
            <p:grpSpPr bwMode="auto">
              <a:xfrm>
                <a:off x="2312606" y="5447058"/>
                <a:ext cx="473132" cy="71468"/>
                <a:chOff x="2321750" y="5453423"/>
                <a:chExt cx="473132" cy="71468"/>
              </a:xfrm>
            </p:grpSpPr>
            <p:cxnSp>
              <p:nvCxnSpPr>
                <p:cNvPr id="57"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grpSp>
        <p:nvGrpSpPr>
          <p:cNvPr id="77" name="组合 76"/>
          <p:cNvGrpSpPr/>
          <p:nvPr/>
        </p:nvGrpSpPr>
        <p:grpSpPr>
          <a:xfrm>
            <a:off x="7549570" y="1842590"/>
            <a:ext cx="3912914" cy="1711833"/>
            <a:chOff x="5076056" y="652438"/>
            <a:chExt cx="3912914" cy="1711833"/>
          </a:xfrm>
        </p:grpSpPr>
        <p:sp>
          <p:nvSpPr>
            <p:cNvPr id="78" name="Line 69"/>
            <p:cNvSpPr>
              <a:spLocks noChangeShapeType="1"/>
            </p:cNvSpPr>
            <p:nvPr/>
          </p:nvSpPr>
          <p:spPr bwMode="auto">
            <a:xfrm>
              <a:off x="8021963" y="1401790"/>
              <a:ext cx="838767"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grpSp>
          <p:nvGrpSpPr>
            <p:cNvPr id="79" name="组合 78"/>
            <p:cNvGrpSpPr/>
            <p:nvPr/>
          </p:nvGrpSpPr>
          <p:grpSpPr>
            <a:xfrm>
              <a:off x="5076056" y="652438"/>
              <a:ext cx="3912914" cy="1711833"/>
              <a:chOff x="5076056" y="642174"/>
              <a:chExt cx="3912914" cy="1711833"/>
            </a:xfrm>
          </p:grpSpPr>
          <p:cxnSp>
            <p:nvCxnSpPr>
              <p:cNvPr id="80" name="直接箭头连接符 250"/>
              <p:cNvCxnSpPr>
                <a:cxnSpLocks noChangeShapeType="1"/>
              </p:cNvCxnSpPr>
              <p:nvPr/>
            </p:nvCxnSpPr>
            <p:spPr bwMode="auto">
              <a:xfrm>
                <a:off x="7164288" y="908720"/>
                <a:ext cx="0" cy="450850"/>
              </a:xfrm>
              <a:prstGeom prst="straightConnector1">
                <a:avLst/>
              </a:prstGeom>
              <a:noFill/>
              <a:ln w="28575" cap="sq" algn="ctr">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 name="组合 80"/>
              <p:cNvGrpSpPr/>
              <p:nvPr/>
            </p:nvGrpSpPr>
            <p:grpSpPr>
              <a:xfrm>
                <a:off x="5448420" y="1876611"/>
                <a:ext cx="1708188" cy="472269"/>
                <a:chOff x="5852330" y="5785618"/>
                <a:chExt cx="2153769" cy="472269"/>
              </a:xfrm>
            </p:grpSpPr>
            <p:cxnSp>
              <p:nvCxnSpPr>
                <p:cNvPr id="97" name="直接连接符 96"/>
                <p:cNvCxnSpPr/>
                <p:nvPr/>
              </p:nvCxnSpPr>
              <p:spPr bwMode="auto">
                <a:xfrm>
                  <a:off x="5852330" y="6155047"/>
                  <a:ext cx="2153769"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5852330" y="5785618"/>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2" name="直接连接符 223"/>
              <p:cNvCxnSpPr>
                <a:cxnSpLocks noChangeShapeType="1"/>
              </p:cNvCxnSpPr>
              <p:nvPr/>
            </p:nvCxnSpPr>
            <p:spPr bwMode="auto">
              <a:xfrm>
                <a:off x="5446811" y="1377851"/>
                <a:ext cx="2610869" cy="952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Text Box 106"/>
              <p:cNvSpPr txBox="1">
                <a:spLocks noChangeArrowheads="1"/>
              </p:cNvSpPr>
              <p:nvPr/>
            </p:nvSpPr>
            <p:spPr bwMode="auto">
              <a:xfrm>
                <a:off x="5076056" y="118418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A</a:t>
                </a:r>
                <a:endParaRPr lang="zh-CN" altLang="en-US" sz="1600" b="1" i="1" dirty="0">
                  <a:solidFill>
                    <a:schemeClr val="tx1"/>
                  </a:solidFill>
                  <a:latin typeface="Times New Roman" pitchFamily="18" charset="0"/>
                  <a:ea typeface="+mn-ea"/>
                  <a:cs typeface="Times New Roman" pitchFamily="18" charset="0"/>
                </a:endParaRPr>
              </a:p>
            </p:txBody>
          </p:sp>
          <p:sp>
            <p:nvSpPr>
              <p:cNvPr id="84" name="Text Box 106"/>
              <p:cNvSpPr txBox="1">
                <a:spLocks noChangeArrowheads="1"/>
              </p:cNvSpPr>
              <p:nvPr/>
            </p:nvSpPr>
            <p:spPr bwMode="auto">
              <a:xfrm>
                <a:off x="7763411" y="11125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B</a:t>
                </a:r>
                <a:endParaRPr lang="zh-CN" altLang="en-US" sz="1600" b="1" i="1" dirty="0">
                  <a:solidFill>
                    <a:schemeClr val="tx1"/>
                  </a:solidFill>
                  <a:latin typeface="Times New Roman" pitchFamily="18" charset="0"/>
                  <a:ea typeface="+mn-ea"/>
                  <a:cs typeface="Times New Roman" pitchFamily="18" charset="0"/>
                </a:endParaRPr>
              </a:p>
            </p:txBody>
          </p:sp>
          <p:sp>
            <p:nvSpPr>
              <p:cNvPr id="85" name="Text Box 106"/>
              <p:cNvSpPr txBox="1">
                <a:spLocks noChangeArrowheads="1"/>
              </p:cNvSpPr>
              <p:nvPr/>
            </p:nvSpPr>
            <p:spPr bwMode="auto">
              <a:xfrm>
                <a:off x="7061318" y="109222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C</a:t>
                </a:r>
                <a:endParaRPr lang="zh-CN" altLang="en-US" sz="1600" b="1" i="1" dirty="0">
                  <a:solidFill>
                    <a:schemeClr val="tx1"/>
                  </a:solidFill>
                  <a:latin typeface="Times New Roman" pitchFamily="18" charset="0"/>
                  <a:ea typeface="+mn-ea"/>
                  <a:cs typeface="Times New Roman" pitchFamily="18" charset="0"/>
                </a:endParaRPr>
              </a:p>
            </p:txBody>
          </p:sp>
          <p:sp>
            <p:nvSpPr>
              <p:cNvPr id="86" name="Text Box 106"/>
              <p:cNvSpPr txBox="1">
                <a:spLocks noChangeArrowheads="1"/>
              </p:cNvSpPr>
              <p:nvPr/>
            </p:nvSpPr>
            <p:spPr bwMode="auto">
              <a:xfrm>
                <a:off x="6012160" y="192656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grpSp>
            <p:nvGrpSpPr>
              <p:cNvPr id="87" name="组合 86"/>
              <p:cNvGrpSpPr/>
              <p:nvPr/>
            </p:nvGrpSpPr>
            <p:grpSpPr>
              <a:xfrm>
                <a:off x="7162958" y="1881738"/>
                <a:ext cx="891788" cy="472269"/>
                <a:chOff x="5852330" y="5787231"/>
                <a:chExt cx="2163454" cy="472269"/>
              </a:xfrm>
            </p:grpSpPr>
            <p:cxnSp>
              <p:nvCxnSpPr>
                <p:cNvPr id="94" name="直接连接符 93"/>
                <p:cNvCxnSpPr/>
                <p:nvPr/>
              </p:nvCxnSpPr>
              <p:spPr bwMode="auto">
                <a:xfrm>
                  <a:off x="5852330" y="6155047"/>
                  <a:ext cx="2153770"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8015784" y="5787231"/>
                  <a:ext cx="0" cy="47226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852330" y="6016209"/>
                  <a:ext cx="0" cy="24167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8" name="Text Box 106"/>
              <p:cNvSpPr txBox="1">
                <a:spLocks noChangeArrowheads="1"/>
              </p:cNvSpPr>
              <p:nvPr/>
            </p:nvSpPr>
            <p:spPr bwMode="auto">
              <a:xfrm>
                <a:off x="7331348" y="193372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b</a:t>
                </a:r>
                <a:endParaRPr lang="zh-CN" altLang="en-US" sz="1800" i="1" dirty="0">
                  <a:solidFill>
                    <a:schemeClr val="tx1"/>
                  </a:solidFill>
                  <a:latin typeface="Times New Roman" pitchFamily="18" charset="0"/>
                  <a:ea typeface="+mn-ea"/>
                  <a:cs typeface="Times New Roman" pitchFamily="18" charset="0"/>
                </a:endParaRPr>
              </a:p>
            </p:txBody>
          </p:sp>
          <p:sp>
            <p:nvSpPr>
              <p:cNvPr id="89" name="Text Box 106"/>
              <p:cNvSpPr txBox="1">
                <a:spLocks noChangeArrowheads="1"/>
              </p:cNvSpPr>
              <p:nvPr/>
            </p:nvSpPr>
            <p:spPr bwMode="auto">
              <a:xfrm>
                <a:off x="7090841" y="761724"/>
                <a:ext cx="4810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2000" b="1" i="1" dirty="0">
                    <a:latin typeface="Times New Roman" pitchFamily="18" charset="0"/>
                    <a:cs typeface="Times New Roman" pitchFamily="18" charset="0"/>
                  </a:rPr>
                  <a:t>F</a:t>
                </a:r>
                <a:endParaRPr lang="zh-CN" altLang="en-US" sz="2000" b="1" i="1" dirty="0">
                  <a:latin typeface="Times New Roman" pitchFamily="18" charset="0"/>
                  <a:cs typeface="Times New Roman" pitchFamily="18" charset="0"/>
                </a:endParaRPr>
              </a:p>
            </p:txBody>
          </p:sp>
          <p:sp>
            <p:nvSpPr>
              <p:cNvPr id="90" name="Text Box 106"/>
              <p:cNvSpPr txBox="1">
                <a:spLocks noChangeArrowheads="1"/>
              </p:cNvSpPr>
              <p:nvPr/>
            </p:nvSpPr>
            <p:spPr bwMode="auto">
              <a:xfrm>
                <a:off x="8507958" y="136225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x</a:t>
                </a:r>
                <a:endParaRPr lang="zh-CN" altLang="en-US" sz="1600" b="1" i="1" dirty="0">
                  <a:solidFill>
                    <a:schemeClr val="tx1"/>
                  </a:solidFill>
                  <a:latin typeface="Times New Roman" pitchFamily="18" charset="0"/>
                  <a:ea typeface="+mn-ea"/>
                  <a:cs typeface="Times New Roman" pitchFamily="18" charset="0"/>
                </a:endParaRPr>
              </a:p>
            </p:txBody>
          </p:sp>
          <p:sp>
            <p:nvSpPr>
              <p:cNvPr id="91" name="Line 69"/>
              <p:cNvSpPr>
                <a:spLocks noChangeShapeType="1"/>
              </p:cNvSpPr>
              <p:nvPr/>
            </p:nvSpPr>
            <p:spPr bwMode="auto">
              <a:xfrm rot="16200000">
                <a:off x="5126723" y="1078920"/>
                <a:ext cx="620973" cy="0"/>
              </a:xfrm>
              <a:prstGeom prst="line">
                <a:avLst/>
              </a:prstGeom>
              <a:noFill/>
              <a:ln w="127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itchFamily="18" charset="0"/>
                  <a:cs typeface="Times New Roman" pitchFamily="18" charset="0"/>
                </a:endParaRPr>
              </a:p>
            </p:txBody>
          </p:sp>
          <p:sp>
            <p:nvSpPr>
              <p:cNvPr id="93" name="Text Box 106"/>
              <p:cNvSpPr txBox="1">
                <a:spLocks noChangeArrowheads="1"/>
              </p:cNvSpPr>
              <p:nvPr/>
            </p:nvSpPr>
            <p:spPr bwMode="auto">
              <a:xfrm>
                <a:off x="5292080" y="64217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y</a:t>
                </a:r>
                <a:endParaRPr lang="zh-CN" altLang="en-US" sz="1600" b="1" i="1" dirty="0">
                  <a:solidFill>
                    <a:schemeClr val="tx1"/>
                  </a:solidFill>
                  <a:latin typeface="Times New Roman" pitchFamily="18" charset="0"/>
                  <a:ea typeface="+mn-ea"/>
                  <a:cs typeface="Times New Roman" pitchFamily="18" charset="0"/>
                </a:endParaRPr>
              </a:p>
            </p:txBody>
          </p:sp>
        </p:grpSp>
      </p:grpSp>
      <p:grpSp>
        <p:nvGrpSpPr>
          <p:cNvPr id="99" name="组合 98"/>
          <p:cNvGrpSpPr/>
          <p:nvPr/>
        </p:nvGrpSpPr>
        <p:grpSpPr>
          <a:xfrm>
            <a:off x="7908153" y="2292640"/>
            <a:ext cx="3330115" cy="579656"/>
            <a:chOff x="5434639" y="1121152"/>
            <a:chExt cx="3330115" cy="579656"/>
          </a:xfrm>
        </p:grpSpPr>
        <p:sp>
          <p:nvSpPr>
            <p:cNvPr id="100" name="Text Box 106"/>
            <p:cNvSpPr txBox="1">
              <a:spLocks noChangeArrowheads="1"/>
            </p:cNvSpPr>
            <p:nvPr/>
          </p:nvSpPr>
          <p:spPr bwMode="auto">
            <a:xfrm>
              <a:off x="6467252" y="112115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rPr>
                <a:t>D</a:t>
              </a:r>
              <a:endParaRPr lang="zh-CN" altLang="en-US" sz="1600" b="1" i="1" dirty="0">
                <a:solidFill>
                  <a:schemeClr val="tx1"/>
                </a:solidFill>
                <a:latin typeface="Times New Roman" pitchFamily="18" charset="0"/>
                <a:ea typeface="+mn-ea"/>
                <a:cs typeface="Times New Roman" pitchFamily="18" charset="0"/>
              </a:endParaRPr>
            </a:p>
          </p:txBody>
        </p:sp>
        <p:sp>
          <p:nvSpPr>
            <p:cNvPr id="101" name="任意多边形 100"/>
            <p:cNvSpPr/>
            <p:nvPr/>
          </p:nvSpPr>
          <p:spPr>
            <a:xfrm>
              <a:off x="5448300" y="1397000"/>
              <a:ext cx="2616200" cy="291813"/>
            </a:xfrm>
            <a:custGeom>
              <a:avLst/>
              <a:gdLst>
                <a:gd name="connsiteX0" fmla="*/ 0 w 2616200"/>
                <a:gd name="connsiteY0" fmla="*/ 0 h 412766"/>
                <a:gd name="connsiteX1" fmla="*/ 1308100 w 2616200"/>
                <a:gd name="connsiteY1" fmla="*/ 412750 h 412766"/>
                <a:gd name="connsiteX2" fmla="*/ 2616200 w 2616200"/>
                <a:gd name="connsiteY2" fmla="*/ 12700 h 412766"/>
              </a:gdLst>
              <a:ahLst/>
              <a:cxnLst>
                <a:cxn ang="0">
                  <a:pos x="connsiteX0" y="connsiteY0"/>
                </a:cxn>
                <a:cxn ang="0">
                  <a:pos x="connsiteX1" y="connsiteY1"/>
                </a:cxn>
                <a:cxn ang="0">
                  <a:pos x="connsiteX2" y="connsiteY2"/>
                </a:cxn>
              </a:cxnLst>
              <a:rect l="l" t="t" r="r" b="b"/>
              <a:pathLst>
                <a:path w="2616200" h="412766">
                  <a:moveTo>
                    <a:pt x="0" y="0"/>
                  </a:moveTo>
                  <a:cubicBezTo>
                    <a:pt x="436033" y="205316"/>
                    <a:pt x="872067" y="410633"/>
                    <a:pt x="1308100" y="412750"/>
                  </a:cubicBezTo>
                  <a:cubicBezTo>
                    <a:pt x="1744133" y="414867"/>
                    <a:pt x="2180166" y="213783"/>
                    <a:pt x="2616200" y="12700"/>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2" name="直接连接符 101"/>
            <p:cNvCxnSpPr/>
            <p:nvPr/>
          </p:nvCxnSpPr>
          <p:spPr>
            <a:xfrm>
              <a:off x="5434639" y="1389407"/>
              <a:ext cx="577521" cy="239393"/>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3" name="任意多边形 102"/>
            <p:cNvSpPr/>
            <p:nvPr/>
          </p:nvSpPr>
          <p:spPr>
            <a:xfrm>
              <a:off x="5765006" y="1390650"/>
              <a:ext cx="42863" cy="138113"/>
            </a:xfrm>
            <a:custGeom>
              <a:avLst/>
              <a:gdLst>
                <a:gd name="connsiteX0" fmla="*/ 0 w 42863"/>
                <a:gd name="connsiteY0" fmla="*/ 138113 h 138113"/>
                <a:gd name="connsiteX1" fmla="*/ 35719 w 42863"/>
                <a:gd name="connsiteY1" fmla="*/ 69056 h 138113"/>
                <a:gd name="connsiteX2" fmla="*/ 42863 w 42863"/>
                <a:gd name="connsiteY2" fmla="*/ 0 h 138113"/>
              </a:gdLst>
              <a:ahLst/>
              <a:cxnLst>
                <a:cxn ang="0">
                  <a:pos x="connsiteX0" y="connsiteY0"/>
                </a:cxn>
                <a:cxn ang="0">
                  <a:pos x="connsiteX1" y="connsiteY1"/>
                </a:cxn>
                <a:cxn ang="0">
                  <a:pos x="connsiteX2" y="connsiteY2"/>
                </a:cxn>
              </a:cxnLst>
              <a:rect l="l" t="t" r="r" b="b"/>
              <a:pathLst>
                <a:path w="42863" h="138113">
                  <a:moveTo>
                    <a:pt x="0" y="138113"/>
                  </a:moveTo>
                  <a:cubicBezTo>
                    <a:pt x="14287" y="115094"/>
                    <a:pt x="28575" y="92075"/>
                    <a:pt x="35719" y="69056"/>
                  </a:cubicBezTo>
                  <a:cubicBezTo>
                    <a:pt x="42863" y="46037"/>
                    <a:pt x="42863" y="23018"/>
                    <a:pt x="42863"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Text Box 106"/>
            <p:cNvSpPr txBox="1">
              <a:spLocks noChangeArrowheads="1"/>
            </p:cNvSpPr>
            <p:nvPr/>
          </p:nvSpPr>
          <p:spPr bwMode="auto">
            <a:xfrm>
              <a:off x="5745336" y="131780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A</a:t>
              </a:r>
              <a:endParaRPr lang="zh-CN" altLang="en-US" sz="1600" b="1" i="1" baseline="-25000" dirty="0">
                <a:solidFill>
                  <a:schemeClr val="tx1"/>
                </a:solidFill>
                <a:latin typeface="Times New Roman" pitchFamily="18" charset="0"/>
                <a:ea typeface="+mn-ea"/>
                <a:cs typeface="Times New Roman" pitchFamily="18" charset="0"/>
              </a:endParaRPr>
            </a:p>
          </p:txBody>
        </p:sp>
        <p:cxnSp>
          <p:nvCxnSpPr>
            <p:cNvPr id="105" name="直接连接符 104"/>
            <p:cNvCxnSpPr/>
            <p:nvPr/>
          </p:nvCxnSpPr>
          <p:spPr>
            <a:xfrm flipV="1">
              <a:off x="8054745" y="1161834"/>
              <a:ext cx="549703" cy="239956"/>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106" name="任意多边形 105"/>
            <p:cNvSpPr/>
            <p:nvPr/>
          </p:nvSpPr>
          <p:spPr>
            <a:xfrm>
              <a:off x="8315325" y="1295400"/>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p:cNvCxnSpPr/>
            <p:nvPr/>
          </p:nvCxnSpPr>
          <p:spPr bwMode="auto">
            <a:xfrm>
              <a:off x="6752245" y="1412776"/>
              <a:ext cx="0" cy="288032"/>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6"/>
            <p:cNvSpPr txBox="1">
              <a:spLocks noChangeArrowheads="1"/>
            </p:cNvSpPr>
            <p:nvPr/>
          </p:nvSpPr>
          <p:spPr bwMode="auto">
            <a:xfrm>
              <a:off x="6685731" y="1340768"/>
              <a:ext cx="5505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buNone/>
                <a:defRPr/>
              </a:pPr>
              <a:r>
                <a:rPr lang="en-US" altLang="zh-CN" sz="1600" b="1" i="1" dirty="0" err="1">
                  <a:solidFill>
                    <a:schemeClr val="tx1"/>
                  </a:solidFill>
                  <a:latin typeface="Times New Roman" pitchFamily="18" charset="0"/>
                  <a:ea typeface="+mn-ea"/>
                  <a:cs typeface="Times New Roman" pitchFamily="18" charset="0"/>
                  <a:sym typeface="Symbol"/>
                </a:rPr>
                <a:t>y</a:t>
              </a:r>
              <a:r>
                <a:rPr lang="en-US" altLang="zh-CN" sz="1600" b="1" i="1" baseline="-25000" dirty="0" err="1">
                  <a:solidFill>
                    <a:schemeClr val="tx1"/>
                  </a:solidFill>
                  <a:latin typeface="Times New Roman" pitchFamily="18" charset="0"/>
                  <a:ea typeface="+mn-ea"/>
                  <a:cs typeface="Times New Roman" pitchFamily="18" charset="0"/>
                  <a:sym typeface="Symbol"/>
                </a:rPr>
                <a:t>max</a:t>
              </a:r>
              <a:endParaRPr lang="zh-CN" altLang="en-US" sz="1600" b="1" i="1" baseline="-25000" dirty="0">
                <a:solidFill>
                  <a:schemeClr val="tx1"/>
                </a:solidFill>
                <a:latin typeface="Times New Roman" pitchFamily="18" charset="0"/>
                <a:ea typeface="+mn-ea"/>
                <a:cs typeface="Times New Roman" pitchFamily="18" charset="0"/>
              </a:endParaRPr>
            </a:p>
          </p:txBody>
        </p:sp>
        <p:sp>
          <p:nvSpPr>
            <p:cNvPr id="109" name="Text Box 106"/>
            <p:cNvSpPr txBox="1">
              <a:spLocks noChangeArrowheads="1"/>
            </p:cNvSpPr>
            <p:nvPr/>
          </p:nvSpPr>
          <p:spPr bwMode="auto">
            <a:xfrm>
              <a:off x="8283742" y="112474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1" i="1" dirty="0">
                  <a:solidFill>
                    <a:schemeClr val="tx1"/>
                  </a:solidFill>
                  <a:latin typeface="Times New Roman" pitchFamily="18" charset="0"/>
                  <a:ea typeface="+mn-ea"/>
                  <a:cs typeface="Times New Roman" pitchFamily="18" charset="0"/>
                  <a:sym typeface="Symbol"/>
                </a:rPr>
                <a:t></a:t>
              </a:r>
              <a:r>
                <a:rPr lang="en-US" altLang="zh-CN" sz="1600" b="1" i="1" baseline="-25000" dirty="0">
                  <a:solidFill>
                    <a:schemeClr val="tx1"/>
                  </a:solidFill>
                  <a:latin typeface="Times New Roman" pitchFamily="18" charset="0"/>
                  <a:ea typeface="+mn-ea"/>
                  <a:cs typeface="Times New Roman" pitchFamily="18" charset="0"/>
                  <a:sym typeface="Symbol"/>
                </a:rPr>
                <a:t>B</a:t>
              </a:r>
              <a:endParaRPr lang="zh-CN" altLang="en-US" sz="1600" b="1" i="1" baseline="-25000" dirty="0">
                <a:solidFill>
                  <a:schemeClr val="tx1"/>
                </a:solidFill>
                <a:latin typeface="Times New Roman" pitchFamily="18" charset="0"/>
                <a:ea typeface="+mn-ea"/>
                <a:cs typeface="Times New Roman" pitchFamily="18" charset="0"/>
              </a:endParaRPr>
            </a:p>
          </p:txBody>
        </p:sp>
      </p:grpSp>
      <p:grpSp>
        <p:nvGrpSpPr>
          <p:cNvPr id="110" name="组合 109"/>
          <p:cNvGrpSpPr/>
          <p:nvPr/>
        </p:nvGrpSpPr>
        <p:grpSpPr>
          <a:xfrm>
            <a:off x="7530624" y="2600009"/>
            <a:ext cx="3061570" cy="547726"/>
            <a:chOff x="6230119" y="1585268"/>
            <a:chExt cx="3061570" cy="547726"/>
          </a:xfrm>
        </p:grpSpPr>
        <p:sp>
          <p:nvSpPr>
            <p:cNvPr id="111" name="Text Box 106"/>
            <p:cNvSpPr txBox="1">
              <a:spLocks noChangeArrowheads="1"/>
            </p:cNvSpPr>
            <p:nvPr/>
          </p:nvSpPr>
          <p:spPr bwMode="auto">
            <a:xfrm>
              <a:off x="6230119" y="173400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A</a:t>
              </a:r>
              <a:endParaRPr lang="zh-CN" altLang="en-US" sz="1800" i="1" baseline="-25000" dirty="0">
                <a:solidFill>
                  <a:srgbClr val="0000FF"/>
                </a:solidFill>
                <a:latin typeface="Times New Roman" pitchFamily="18" charset="0"/>
                <a:ea typeface="+mn-ea"/>
                <a:cs typeface="Times New Roman" pitchFamily="18" charset="0"/>
              </a:endParaRPr>
            </a:p>
          </p:txBody>
        </p:sp>
        <p:cxnSp>
          <p:nvCxnSpPr>
            <p:cNvPr id="112" name="直接箭头连接符 250"/>
            <p:cNvCxnSpPr>
              <a:cxnSpLocks noChangeShapeType="1"/>
            </p:cNvCxnSpPr>
            <p:nvPr/>
          </p:nvCxnSpPr>
          <p:spPr bwMode="auto">
            <a:xfrm flipV="1">
              <a:off x="6610609" y="1585268"/>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箭头连接符 250"/>
            <p:cNvCxnSpPr>
              <a:cxnSpLocks noChangeShapeType="1"/>
            </p:cNvCxnSpPr>
            <p:nvPr/>
          </p:nvCxnSpPr>
          <p:spPr bwMode="auto">
            <a:xfrm flipV="1">
              <a:off x="9227300" y="1592744"/>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06"/>
            <p:cNvSpPr txBox="1">
              <a:spLocks noChangeArrowheads="1"/>
            </p:cNvSpPr>
            <p:nvPr/>
          </p:nvSpPr>
          <p:spPr bwMode="auto">
            <a:xfrm>
              <a:off x="8810677" y="1763662"/>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rgbClr val="0000FF"/>
                  </a:solidFill>
                  <a:latin typeface="Times New Roman" pitchFamily="18" charset="0"/>
                  <a:ea typeface="+mn-ea"/>
                  <a:cs typeface="Times New Roman" pitchFamily="18" charset="0"/>
                </a:rPr>
                <a:t>F</a:t>
              </a:r>
              <a:r>
                <a:rPr lang="en-US" altLang="zh-CN" sz="1800" i="1" baseline="-25000" dirty="0">
                  <a:solidFill>
                    <a:srgbClr val="0000FF"/>
                  </a:solidFill>
                  <a:latin typeface="Times New Roman" pitchFamily="18" charset="0"/>
                  <a:ea typeface="+mn-ea"/>
                  <a:cs typeface="Times New Roman" pitchFamily="18" charset="0"/>
                </a:rPr>
                <a:t>B</a:t>
              </a:r>
              <a:endParaRPr lang="zh-CN" altLang="en-US" sz="1800" i="1" baseline="-25000" dirty="0">
                <a:solidFill>
                  <a:srgbClr val="0000FF"/>
                </a:solidFill>
                <a:latin typeface="Times New Roman" pitchFamily="18" charset="0"/>
                <a:ea typeface="+mn-ea"/>
                <a:cs typeface="Times New Roman" pitchFamily="18" charset="0"/>
              </a:endParaRPr>
            </a:p>
          </p:txBody>
        </p:sp>
      </p:grpSp>
      <p:grpSp>
        <p:nvGrpSpPr>
          <p:cNvPr id="115" name="组合 114"/>
          <p:cNvGrpSpPr/>
          <p:nvPr/>
        </p:nvGrpSpPr>
        <p:grpSpPr>
          <a:xfrm>
            <a:off x="7919659" y="2697685"/>
            <a:ext cx="1936501" cy="517552"/>
            <a:chOff x="4131850" y="4293096"/>
            <a:chExt cx="1936501" cy="517552"/>
          </a:xfrm>
        </p:grpSpPr>
        <p:grpSp>
          <p:nvGrpSpPr>
            <p:cNvPr id="116" name="组合 115"/>
            <p:cNvGrpSpPr/>
            <p:nvPr/>
          </p:nvGrpSpPr>
          <p:grpSpPr>
            <a:xfrm rot="5400000">
              <a:off x="4949337" y="3691634"/>
              <a:ext cx="301527" cy="1936501"/>
              <a:chOff x="7998643" y="4365868"/>
              <a:chExt cx="301527" cy="1936501"/>
            </a:xfrm>
          </p:grpSpPr>
          <p:cxnSp>
            <p:nvCxnSpPr>
              <p:cNvPr id="119" name="直接连接符 118"/>
              <p:cNvCxnSpPr/>
              <p:nvPr/>
            </p:nvCxnSpPr>
            <p:spPr bwMode="auto">
              <a:xfrm rot="16200000" flipH="1">
                <a:off x="7810945" y="5972748"/>
                <a:ext cx="659242"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rot="16200000" flipH="1" flipV="1">
                <a:off x="8102285" y="5537632"/>
                <a:ext cx="1854" cy="209138"/>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直接连接符 120"/>
              <p:cNvCxnSpPr/>
              <p:nvPr/>
            </p:nvCxnSpPr>
            <p:spPr bwMode="auto">
              <a:xfrm rot="16200000" flipH="1">
                <a:off x="7314738" y="5330914"/>
                <a:ext cx="1930091"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p:cNvCxnSpPr/>
              <p:nvPr/>
            </p:nvCxnSpPr>
            <p:spPr bwMode="auto">
              <a:xfrm rot="16200000" flipV="1">
                <a:off x="8149408" y="4215106"/>
                <a:ext cx="0" cy="301524"/>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Text Box 106"/>
            <p:cNvSpPr txBox="1">
              <a:spLocks noChangeArrowheads="1"/>
            </p:cNvSpPr>
            <p:nvPr/>
          </p:nvSpPr>
          <p:spPr bwMode="auto">
            <a:xfrm>
              <a:off x="4220964" y="429309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1</a:t>
              </a:r>
              <a:endParaRPr lang="zh-CN" altLang="en-US" sz="1800" baseline="-25000" dirty="0">
                <a:solidFill>
                  <a:schemeClr val="tx1"/>
                </a:solidFill>
                <a:latin typeface="Times New Roman" pitchFamily="18" charset="0"/>
                <a:ea typeface="+mn-ea"/>
                <a:cs typeface="Times New Roman" pitchFamily="18" charset="0"/>
              </a:endParaRPr>
            </a:p>
          </p:txBody>
        </p:sp>
        <p:sp>
          <p:nvSpPr>
            <p:cNvPr id="118" name="Text Box 106"/>
            <p:cNvSpPr txBox="1">
              <a:spLocks noChangeArrowheads="1"/>
            </p:cNvSpPr>
            <p:nvPr/>
          </p:nvSpPr>
          <p:spPr bwMode="auto">
            <a:xfrm>
              <a:off x="4932040" y="443711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800" i="1" dirty="0">
                  <a:solidFill>
                    <a:schemeClr val="tx1"/>
                  </a:solidFill>
                  <a:latin typeface="Times New Roman" pitchFamily="18" charset="0"/>
                  <a:ea typeface="+mn-ea"/>
                  <a:cs typeface="Times New Roman" pitchFamily="18" charset="0"/>
                </a:rPr>
                <a:t>x</a:t>
              </a:r>
              <a:r>
                <a:rPr lang="en-US" altLang="zh-CN" sz="1800" baseline="-25000" dirty="0">
                  <a:solidFill>
                    <a:schemeClr val="tx1"/>
                  </a:solidFill>
                  <a:latin typeface="Times New Roman" pitchFamily="18" charset="0"/>
                  <a:ea typeface="+mn-ea"/>
                  <a:cs typeface="Times New Roman" pitchFamily="18" charset="0"/>
                </a:rPr>
                <a:t>2</a:t>
              </a:r>
              <a:endParaRPr lang="zh-CN" altLang="en-US" sz="1800" baseline="-25000" dirty="0">
                <a:solidFill>
                  <a:schemeClr val="tx1"/>
                </a:solidFill>
                <a:latin typeface="Times New Roman" pitchFamily="18" charset="0"/>
                <a:ea typeface="+mn-ea"/>
                <a:cs typeface="Times New Roman" pitchFamily="18" charset="0"/>
              </a:endParaRPr>
            </a:p>
          </p:txBody>
        </p:sp>
      </p:grpSp>
      <p:graphicFrame>
        <p:nvGraphicFramePr>
          <p:cNvPr id="124" name="Object 5"/>
          <p:cNvGraphicFramePr>
            <a:graphicFrameLocks noChangeAspect="1"/>
          </p:cNvGraphicFramePr>
          <p:nvPr>
            <p:extLst>
              <p:ext uri="{D42A27DB-BD31-4B8C-83A1-F6EECF244321}">
                <p14:modId xmlns:p14="http://schemas.microsoft.com/office/powerpoint/2010/main" val="3531023766"/>
              </p:ext>
            </p:extLst>
          </p:nvPr>
        </p:nvGraphicFramePr>
        <p:xfrm>
          <a:off x="1888977" y="1505399"/>
          <a:ext cx="3047760" cy="710640"/>
        </p:xfrm>
        <a:graphic>
          <a:graphicData uri="http://schemas.openxmlformats.org/presentationml/2006/ole">
            <mc:AlternateContent xmlns:mc="http://schemas.openxmlformats.org/markup-compatibility/2006">
              <mc:Choice xmlns:v="urn:schemas-microsoft-com:vml" Requires="v">
                <p:oleObj spid="_x0000_s38986" name="公式" r:id="rId4" imgW="1523880" imgH="355320" progId="Equation.3">
                  <p:embed/>
                </p:oleObj>
              </mc:Choice>
              <mc:Fallback>
                <p:oleObj name="公式" r:id="rId4" imgW="1523880" imgH="355320" progId="Equation.3">
                  <p:embed/>
                  <p:pic>
                    <p:nvPicPr>
                      <p:cNvPr id="449541" name="Object 5"/>
                      <p:cNvPicPr>
                        <a:picLocks noChangeAspect="1" noChangeArrowheads="1"/>
                      </p:cNvPicPr>
                      <p:nvPr/>
                    </p:nvPicPr>
                    <p:blipFill>
                      <a:blip r:embed="rId5"/>
                      <a:srcRect/>
                      <a:stretch>
                        <a:fillRect/>
                      </a:stretch>
                    </p:blipFill>
                    <p:spPr bwMode="auto">
                      <a:xfrm>
                        <a:off x="1888977" y="1505399"/>
                        <a:ext cx="3047760" cy="710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 name="Object 6"/>
          <p:cNvGraphicFramePr>
            <a:graphicFrameLocks noChangeAspect="1"/>
          </p:cNvGraphicFramePr>
          <p:nvPr>
            <p:extLst>
              <p:ext uri="{D42A27DB-BD31-4B8C-83A1-F6EECF244321}">
                <p14:modId xmlns:p14="http://schemas.microsoft.com/office/powerpoint/2010/main" val="1010159139"/>
              </p:ext>
            </p:extLst>
          </p:nvPr>
        </p:nvGraphicFramePr>
        <p:xfrm>
          <a:off x="1877381" y="2144391"/>
          <a:ext cx="3200400" cy="710640"/>
        </p:xfrm>
        <a:graphic>
          <a:graphicData uri="http://schemas.openxmlformats.org/presentationml/2006/ole">
            <mc:AlternateContent xmlns:mc="http://schemas.openxmlformats.org/markup-compatibility/2006">
              <mc:Choice xmlns:v="urn:schemas-microsoft-com:vml" Requires="v">
                <p:oleObj spid="_x0000_s38987" name="公式" r:id="rId6" imgW="1600200" imgH="355320" progId="Equation.3">
                  <p:embed/>
                </p:oleObj>
              </mc:Choice>
              <mc:Fallback>
                <p:oleObj name="公式" r:id="rId6" imgW="1600200" imgH="355320" progId="Equation.3">
                  <p:embed/>
                  <p:pic>
                    <p:nvPicPr>
                      <p:cNvPr id="449542" name="Object 6"/>
                      <p:cNvPicPr>
                        <a:picLocks noChangeAspect="1" noChangeArrowheads="1"/>
                      </p:cNvPicPr>
                      <p:nvPr/>
                    </p:nvPicPr>
                    <p:blipFill>
                      <a:blip r:embed="rId7"/>
                      <a:srcRect/>
                      <a:stretch>
                        <a:fillRect/>
                      </a:stretch>
                    </p:blipFill>
                    <p:spPr bwMode="auto">
                      <a:xfrm>
                        <a:off x="1877381" y="2144391"/>
                        <a:ext cx="3200400" cy="710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 name="Text Box 9"/>
          <p:cNvSpPr txBox="1">
            <a:spLocks noChangeArrowheads="1"/>
          </p:cNvSpPr>
          <p:nvPr/>
        </p:nvSpPr>
        <p:spPr bwMode="auto">
          <a:xfrm>
            <a:off x="901578" y="1637522"/>
            <a:ext cx="2475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kumimoji="1" lang="en-US" altLang="zh-CN" sz="2000" dirty="0">
                <a:solidFill>
                  <a:schemeClr val="tx1"/>
                </a:solidFill>
                <a:latin typeface="+mn-lt"/>
                <a:ea typeface="黑体" panose="02010609060101010101" pitchFamily="49" charset="-122"/>
              </a:rPr>
              <a:t>AC</a:t>
            </a:r>
            <a:r>
              <a:rPr kumimoji="1" lang="en-US" altLang="zh-CN" sz="2000" i="0" dirty="0">
                <a:solidFill>
                  <a:schemeClr val="tx1"/>
                </a:solidFill>
                <a:latin typeface="+mn-lt"/>
                <a:ea typeface="黑体" panose="02010609060101010101" pitchFamily="49" charset="-122"/>
              </a:rPr>
              <a:t> </a:t>
            </a:r>
            <a:r>
              <a:rPr kumimoji="1" lang="zh-CN" altLang="en-US" sz="2000" i="0" dirty="0">
                <a:solidFill>
                  <a:schemeClr val="tx1"/>
                </a:solidFill>
                <a:latin typeface="+mn-lt"/>
                <a:ea typeface="黑体" panose="02010609060101010101" pitchFamily="49" charset="-122"/>
              </a:rPr>
              <a:t>段：</a:t>
            </a:r>
          </a:p>
        </p:txBody>
      </p:sp>
      <p:graphicFrame>
        <p:nvGraphicFramePr>
          <p:cNvPr id="127" name="Object 7"/>
          <p:cNvGraphicFramePr>
            <a:graphicFrameLocks noChangeAspect="1"/>
          </p:cNvGraphicFramePr>
          <p:nvPr>
            <p:extLst>
              <p:ext uri="{D42A27DB-BD31-4B8C-83A1-F6EECF244321}">
                <p14:modId xmlns:p14="http://schemas.microsoft.com/office/powerpoint/2010/main" val="2970936198"/>
              </p:ext>
            </p:extLst>
          </p:nvPr>
        </p:nvGraphicFramePr>
        <p:xfrm>
          <a:off x="1766620" y="2932900"/>
          <a:ext cx="4546601" cy="709612"/>
        </p:xfrm>
        <a:graphic>
          <a:graphicData uri="http://schemas.openxmlformats.org/presentationml/2006/ole">
            <mc:AlternateContent xmlns:mc="http://schemas.openxmlformats.org/markup-compatibility/2006">
              <mc:Choice xmlns:v="urn:schemas-microsoft-com:vml" Requires="v">
                <p:oleObj spid="_x0000_s38988" name="公式" r:id="rId8" imgW="2273040" imgH="355320" progId="Equation.3">
                  <p:embed/>
                </p:oleObj>
              </mc:Choice>
              <mc:Fallback>
                <p:oleObj name="公式" r:id="rId8" imgW="2273040" imgH="355320" progId="Equation.3">
                  <p:embed/>
                  <p:pic>
                    <p:nvPicPr>
                      <p:cNvPr id="131" name="Object 7"/>
                      <p:cNvPicPr>
                        <a:picLocks noChangeAspect="1" noChangeArrowheads="1"/>
                      </p:cNvPicPr>
                      <p:nvPr/>
                    </p:nvPicPr>
                    <p:blipFill>
                      <a:blip r:embed="rId9"/>
                      <a:srcRect/>
                      <a:stretch>
                        <a:fillRect/>
                      </a:stretch>
                    </p:blipFill>
                    <p:spPr bwMode="auto">
                      <a:xfrm>
                        <a:off x="1766620" y="2932900"/>
                        <a:ext cx="4546601" cy="70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 name="Object 8"/>
          <p:cNvGraphicFramePr>
            <a:graphicFrameLocks noChangeAspect="1"/>
          </p:cNvGraphicFramePr>
          <p:nvPr>
            <p:extLst>
              <p:ext uri="{D42A27DB-BD31-4B8C-83A1-F6EECF244321}">
                <p14:modId xmlns:p14="http://schemas.microsoft.com/office/powerpoint/2010/main" val="3848732106"/>
              </p:ext>
            </p:extLst>
          </p:nvPr>
        </p:nvGraphicFramePr>
        <p:xfrm>
          <a:off x="1745828" y="3601420"/>
          <a:ext cx="4724400" cy="711200"/>
        </p:xfrm>
        <a:graphic>
          <a:graphicData uri="http://schemas.openxmlformats.org/presentationml/2006/ole">
            <mc:AlternateContent xmlns:mc="http://schemas.openxmlformats.org/markup-compatibility/2006">
              <mc:Choice xmlns:v="urn:schemas-microsoft-com:vml" Requires="v">
                <p:oleObj spid="_x0000_s38989" name="公式" r:id="rId10" imgW="2361960" imgH="355320" progId="Equation.3">
                  <p:embed/>
                </p:oleObj>
              </mc:Choice>
              <mc:Fallback>
                <p:oleObj name="公式" r:id="rId10" imgW="2361960" imgH="355320" progId="Equation.3">
                  <p:embed/>
                  <p:pic>
                    <p:nvPicPr>
                      <p:cNvPr id="132" name="Object 8"/>
                      <p:cNvPicPr>
                        <a:picLocks noChangeAspect="1" noChangeArrowheads="1"/>
                      </p:cNvPicPr>
                      <p:nvPr/>
                    </p:nvPicPr>
                    <p:blipFill>
                      <a:blip r:embed="rId11"/>
                      <a:srcRect/>
                      <a:stretch>
                        <a:fillRect/>
                      </a:stretch>
                    </p:blipFill>
                    <p:spPr bwMode="auto">
                      <a:xfrm>
                        <a:off x="1745828" y="3601420"/>
                        <a:ext cx="47244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 name="Text Box 9"/>
          <p:cNvSpPr txBox="1">
            <a:spLocks noChangeArrowheads="1"/>
          </p:cNvSpPr>
          <p:nvPr/>
        </p:nvSpPr>
        <p:spPr bwMode="auto">
          <a:xfrm>
            <a:off x="823583" y="3067105"/>
            <a:ext cx="1333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dirty="0">
                <a:solidFill>
                  <a:schemeClr val="tx1"/>
                </a:solidFill>
                <a:latin typeface="+mn-lt"/>
                <a:ea typeface="黑体" panose="02010609060101010101" pitchFamily="49" charset="-122"/>
              </a:rPr>
              <a:t>CB</a:t>
            </a:r>
            <a:r>
              <a:rPr kumimoji="1" lang="en-US" altLang="zh-CN" sz="2000" i="0" dirty="0">
                <a:solidFill>
                  <a:schemeClr val="tx1"/>
                </a:solidFill>
                <a:latin typeface="+mn-lt"/>
                <a:ea typeface="黑体" panose="02010609060101010101" pitchFamily="49" charset="-122"/>
              </a:rPr>
              <a:t> </a:t>
            </a:r>
            <a:r>
              <a:rPr kumimoji="1" lang="zh-CN" altLang="en-US" sz="2000" i="0" dirty="0">
                <a:solidFill>
                  <a:schemeClr val="tx1"/>
                </a:solidFill>
                <a:latin typeface="+mn-lt"/>
                <a:ea typeface="黑体" panose="02010609060101010101" pitchFamily="49" charset="-122"/>
              </a:rPr>
              <a:t>段：</a:t>
            </a:r>
          </a:p>
        </p:txBody>
      </p:sp>
      <p:sp>
        <p:nvSpPr>
          <p:cNvPr id="132" name="矩形 131">
            <a:extLst>
              <a:ext uri="{FF2B5EF4-FFF2-40B4-BE49-F238E27FC236}">
                <a16:creationId xmlns:a16="http://schemas.microsoft.com/office/drawing/2014/main" id="{08211CFD-EFDE-57CB-1D38-EAC0B8497A77}"/>
              </a:ext>
            </a:extLst>
          </p:cNvPr>
          <p:cNvSpPr/>
          <p:nvPr/>
        </p:nvSpPr>
        <p:spPr>
          <a:xfrm>
            <a:off x="211183" y="4266281"/>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6) </a:t>
            </a:r>
            <a:r>
              <a:rPr kumimoji="1" lang="zh-CN" altLang="en-US" i="0" dirty="0">
                <a:solidFill>
                  <a:srgbClr val="000000"/>
                </a:solidFill>
                <a:ea typeface="黑体" panose="02010609060101010101" pitchFamily="49" charset="-122"/>
              </a:rPr>
              <a:t>确定最大转角和最大挠度</a:t>
            </a:r>
            <a:endParaRPr kumimoji="1" lang="en-US" altLang="zh-CN" i="0" dirty="0">
              <a:solidFill>
                <a:srgbClr val="000000"/>
              </a:solidFill>
              <a:ea typeface="黑体" panose="02010609060101010101" pitchFamily="49" charset="-122"/>
            </a:endParaRPr>
          </a:p>
        </p:txBody>
      </p:sp>
      <p:grpSp>
        <p:nvGrpSpPr>
          <p:cNvPr id="133" name="Group 5"/>
          <p:cNvGrpSpPr>
            <a:grpSpLocks/>
          </p:cNvGrpSpPr>
          <p:nvPr/>
        </p:nvGrpSpPr>
        <p:grpSpPr bwMode="auto">
          <a:xfrm>
            <a:off x="823583" y="4745788"/>
            <a:ext cx="3149600" cy="711201"/>
            <a:chOff x="560" y="770"/>
            <a:chExt cx="1984" cy="448"/>
          </a:xfrm>
        </p:grpSpPr>
        <p:sp>
          <p:nvSpPr>
            <p:cNvPr id="134" name="Text Box 6"/>
            <p:cNvSpPr txBox="1">
              <a:spLocks noChangeArrowheads="1"/>
            </p:cNvSpPr>
            <p:nvPr/>
          </p:nvSpPr>
          <p:spPr bwMode="auto">
            <a:xfrm>
              <a:off x="560" y="864"/>
              <a:ext cx="19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zh-CN" altLang="en-US" sz="2000" i="0" dirty="0">
                  <a:solidFill>
                    <a:schemeClr val="tx1"/>
                  </a:solidFill>
                  <a:latin typeface="+mn-lt"/>
                  <a:ea typeface="黑体" panose="02010609060101010101" pitchFamily="49" charset="-122"/>
                </a:rPr>
                <a:t>令</a:t>
              </a:r>
              <a:r>
                <a:rPr kumimoji="1" lang="zh-CN" altLang="en-US" sz="2000" b="1" dirty="0">
                  <a:latin typeface="Times New Roman" pitchFamily="18" charset="0"/>
                </a:rPr>
                <a:t>                </a:t>
              </a:r>
              <a:r>
                <a:rPr kumimoji="1" lang="zh-CN" altLang="en-US" sz="2000" i="0" dirty="0">
                  <a:solidFill>
                    <a:schemeClr val="tx1"/>
                  </a:solidFill>
                  <a:latin typeface="+mn-lt"/>
                  <a:ea typeface="黑体" panose="02010609060101010101" pitchFamily="49" charset="-122"/>
                </a:rPr>
                <a:t>得，</a:t>
              </a:r>
            </a:p>
          </p:txBody>
        </p:sp>
        <p:graphicFrame>
          <p:nvGraphicFramePr>
            <p:cNvPr id="138" name="Object 7"/>
            <p:cNvGraphicFramePr>
              <a:graphicFrameLocks noChangeAspect="1"/>
            </p:cNvGraphicFramePr>
            <p:nvPr>
              <p:extLst>
                <p:ext uri="{D42A27DB-BD31-4B8C-83A1-F6EECF244321}">
                  <p14:modId xmlns:p14="http://schemas.microsoft.com/office/powerpoint/2010/main" val="3245207519"/>
                </p:ext>
              </p:extLst>
            </p:nvPr>
          </p:nvGraphicFramePr>
          <p:xfrm>
            <a:off x="843" y="770"/>
            <a:ext cx="544" cy="448"/>
          </p:xfrm>
          <a:graphic>
            <a:graphicData uri="http://schemas.openxmlformats.org/presentationml/2006/ole">
              <mc:AlternateContent xmlns:mc="http://schemas.openxmlformats.org/markup-compatibility/2006">
                <mc:Choice xmlns:v="urn:schemas-microsoft-com:vml" Requires="v">
                  <p:oleObj spid="_x0000_s38990" name="公式" r:id="rId12" imgW="431640" imgH="355320" progId="Equation.3">
                    <p:embed/>
                  </p:oleObj>
                </mc:Choice>
                <mc:Fallback>
                  <p:oleObj name="公式" r:id="rId12" imgW="431640" imgH="355320" progId="Equation.3">
                    <p:embed/>
                    <p:pic>
                      <p:nvPicPr>
                        <p:cNvPr id="137" name="Object 7"/>
                        <p:cNvPicPr>
                          <a:picLocks noChangeAspect="1" noChangeArrowheads="1"/>
                        </p:cNvPicPr>
                        <p:nvPr/>
                      </p:nvPicPr>
                      <p:blipFill>
                        <a:blip r:embed="rId13"/>
                        <a:srcRect/>
                        <a:stretch>
                          <a:fillRect/>
                        </a:stretch>
                      </p:blipFill>
                      <p:spPr bwMode="auto">
                        <a:xfrm>
                          <a:off x="843" y="770"/>
                          <a:ext cx="544" cy="4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9" name="Group 71"/>
          <p:cNvGrpSpPr>
            <a:grpSpLocks/>
          </p:cNvGrpSpPr>
          <p:nvPr/>
        </p:nvGrpSpPr>
        <p:grpSpPr bwMode="auto">
          <a:xfrm>
            <a:off x="2804691" y="4739437"/>
            <a:ext cx="3665537" cy="711201"/>
            <a:chOff x="619" y="1568"/>
            <a:chExt cx="2309" cy="448"/>
          </a:xfrm>
        </p:grpSpPr>
        <p:graphicFrame>
          <p:nvGraphicFramePr>
            <p:cNvPr id="140" name="Object 9"/>
            <p:cNvGraphicFramePr>
              <a:graphicFrameLocks noChangeAspect="1"/>
            </p:cNvGraphicFramePr>
            <p:nvPr>
              <p:extLst>
                <p:ext uri="{D42A27DB-BD31-4B8C-83A1-F6EECF244321}">
                  <p14:modId xmlns:p14="http://schemas.microsoft.com/office/powerpoint/2010/main" val="2226085133"/>
                </p:ext>
              </p:extLst>
            </p:nvPr>
          </p:nvGraphicFramePr>
          <p:xfrm>
            <a:off x="619" y="1568"/>
            <a:ext cx="2080" cy="448"/>
          </p:xfrm>
          <a:graphic>
            <a:graphicData uri="http://schemas.openxmlformats.org/presentationml/2006/ole">
              <mc:AlternateContent xmlns:mc="http://schemas.openxmlformats.org/markup-compatibility/2006">
                <mc:Choice xmlns:v="urn:schemas-microsoft-com:vml" Requires="v">
                  <p:oleObj spid="_x0000_s38991" name="公式" r:id="rId14" imgW="1650960" imgH="355320" progId="Equation.3">
                    <p:embed/>
                  </p:oleObj>
                </mc:Choice>
                <mc:Fallback>
                  <p:oleObj name="公式" r:id="rId14" imgW="1650960" imgH="355320" progId="Equation.3">
                    <p:embed/>
                    <p:pic>
                      <p:nvPicPr>
                        <p:cNvPr id="139" name="Object 9"/>
                        <p:cNvPicPr>
                          <a:picLocks noChangeAspect="1" noChangeArrowheads="1"/>
                        </p:cNvPicPr>
                        <p:nvPr/>
                      </p:nvPicPr>
                      <p:blipFill>
                        <a:blip r:embed="rId15"/>
                        <a:srcRect/>
                        <a:stretch>
                          <a:fillRect/>
                        </a:stretch>
                      </p:blipFill>
                      <p:spPr bwMode="auto">
                        <a:xfrm>
                          <a:off x="619" y="1568"/>
                          <a:ext cx="2080" cy="4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 name="AutoShape 10"/>
            <p:cNvSpPr>
              <a:spLocks noChangeArrowheads="1"/>
            </p:cNvSpPr>
            <p:nvPr/>
          </p:nvSpPr>
          <p:spPr bwMode="auto">
            <a:xfrm>
              <a:off x="2816" y="1688"/>
              <a:ext cx="112" cy="224"/>
            </a:xfrm>
            <a:prstGeom prst="curvedRightArrow">
              <a:avLst>
                <a:gd name="adj1" fmla="val 40000"/>
                <a:gd name="adj2" fmla="val 80000"/>
                <a:gd name="adj3" fmla="val 33333"/>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 name="Group 11"/>
          <p:cNvGrpSpPr>
            <a:grpSpLocks/>
          </p:cNvGrpSpPr>
          <p:nvPr/>
        </p:nvGrpSpPr>
        <p:grpSpPr bwMode="auto">
          <a:xfrm>
            <a:off x="823583" y="5534556"/>
            <a:ext cx="3149600" cy="711201"/>
            <a:chOff x="584" y="1637"/>
            <a:chExt cx="1984" cy="448"/>
          </a:xfrm>
        </p:grpSpPr>
        <p:sp>
          <p:nvSpPr>
            <p:cNvPr id="143" name="Text Box 12"/>
            <p:cNvSpPr txBox="1">
              <a:spLocks noChangeArrowheads="1"/>
            </p:cNvSpPr>
            <p:nvPr/>
          </p:nvSpPr>
          <p:spPr bwMode="auto">
            <a:xfrm>
              <a:off x="584" y="1752"/>
              <a:ext cx="19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kumimoji="1" lang="zh-CN" altLang="en-US" sz="2000" i="0" dirty="0">
                  <a:solidFill>
                    <a:schemeClr val="tx1"/>
                  </a:solidFill>
                  <a:latin typeface="+mn-lt"/>
                  <a:ea typeface="黑体" panose="02010609060101010101" pitchFamily="49" charset="-122"/>
                </a:rPr>
                <a:t>令 </a:t>
              </a:r>
              <a:r>
                <a:rPr kumimoji="1" lang="zh-CN" altLang="en-US" sz="2000" b="1" dirty="0">
                  <a:latin typeface="Times New Roman" pitchFamily="18" charset="0"/>
                </a:rPr>
                <a:t>              </a:t>
              </a:r>
              <a:r>
                <a:rPr kumimoji="1" lang="zh-CN" altLang="en-US" sz="2000" i="0" dirty="0">
                  <a:solidFill>
                    <a:schemeClr val="tx1"/>
                  </a:solidFill>
                  <a:latin typeface="+mn-lt"/>
                  <a:ea typeface="黑体" panose="02010609060101010101" pitchFamily="49" charset="-122"/>
                </a:rPr>
                <a:t>得，</a:t>
              </a:r>
            </a:p>
          </p:txBody>
        </p:sp>
        <p:graphicFrame>
          <p:nvGraphicFramePr>
            <p:cNvPr id="144" name="Object 13"/>
            <p:cNvGraphicFramePr>
              <a:graphicFrameLocks noChangeAspect="1"/>
            </p:cNvGraphicFramePr>
            <p:nvPr>
              <p:extLst>
                <p:ext uri="{D42A27DB-BD31-4B8C-83A1-F6EECF244321}">
                  <p14:modId xmlns:p14="http://schemas.microsoft.com/office/powerpoint/2010/main" val="1190730581"/>
                </p:ext>
              </p:extLst>
            </p:nvPr>
          </p:nvGraphicFramePr>
          <p:xfrm>
            <a:off x="868" y="1637"/>
            <a:ext cx="512" cy="448"/>
          </p:xfrm>
          <a:graphic>
            <a:graphicData uri="http://schemas.openxmlformats.org/presentationml/2006/ole">
              <mc:AlternateContent xmlns:mc="http://schemas.openxmlformats.org/markup-compatibility/2006">
                <mc:Choice xmlns:v="urn:schemas-microsoft-com:vml" Requires="v">
                  <p:oleObj spid="_x0000_s38992" name="公式" r:id="rId16" imgW="406080" imgH="355320" progId="Equation.3">
                    <p:embed/>
                  </p:oleObj>
                </mc:Choice>
                <mc:Fallback>
                  <p:oleObj name="公式" r:id="rId16" imgW="406080" imgH="355320" progId="Equation.3">
                    <p:embed/>
                    <p:pic>
                      <p:nvPicPr>
                        <p:cNvPr id="143" name="Object 13"/>
                        <p:cNvPicPr>
                          <a:picLocks noChangeAspect="1" noChangeArrowheads="1"/>
                        </p:cNvPicPr>
                        <p:nvPr/>
                      </p:nvPicPr>
                      <p:blipFill>
                        <a:blip r:embed="rId17"/>
                        <a:srcRect/>
                        <a:stretch>
                          <a:fillRect/>
                        </a:stretch>
                      </p:blipFill>
                      <p:spPr bwMode="auto">
                        <a:xfrm>
                          <a:off x="868" y="1637"/>
                          <a:ext cx="512" cy="4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5" name="Group 14"/>
          <p:cNvGrpSpPr>
            <a:grpSpLocks/>
          </p:cNvGrpSpPr>
          <p:nvPr/>
        </p:nvGrpSpPr>
        <p:grpSpPr bwMode="auto">
          <a:xfrm>
            <a:off x="2711624" y="5428346"/>
            <a:ext cx="4184651" cy="874713"/>
            <a:chOff x="1037" y="2882"/>
            <a:chExt cx="2636" cy="551"/>
          </a:xfrm>
        </p:grpSpPr>
        <p:graphicFrame>
          <p:nvGraphicFramePr>
            <p:cNvPr id="146" name="Object 15"/>
            <p:cNvGraphicFramePr>
              <a:graphicFrameLocks noChangeAspect="1"/>
            </p:cNvGraphicFramePr>
            <p:nvPr>
              <p:extLst>
                <p:ext uri="{D42A27DB-BD31-4B8C-83A1-F6EECF244321}">
                  <p14:modId xmlns:p14="http://schemas.microsoft.com/office/powerpoint/2010/main" val="3344591968"/>
                </p:ext>
              </p:extLst>
            </p:nvPr>
          </p:nvGraphicFramePr>
          <p:xfrm>
            <a:off x="1037" y="2882"/>
            <a:ext cx="2559" cy="551"/>
          </p:xfrm>
          <a:graphic>
            <a:graphicData uri="http://schemas.openxmlformats.org/presentationml/2006/ole">
              <mc:AlternateContent xmlns:mc="http://schemas.openxmlformats.org/markup-compatibility/2006">
                <mc:Choice xmlns:v="urn:schemas-microsoft-com:vml" Requires="v">
                  <p:oleObj spid="_x0000_s38993" name="公式" r:id="rId18" imgW="2070000" imgH="444240" progId="Equation.3">
                    <p:embed/>
                  </p:oleObj>
                </mc:Choice>
                <mc:Fallback>
                  <p:oleObj name="公式" r:id="rId18" imgW="2070000" imgH="444240" progId="Equation.3">
                    <p:embed/>
                    <p:pic>
                      <p:nvPicPr>
                        <p:cNvPr id="145" name="Object 15"/>
                        <p:cNvPicPr>
                          <a:picLocks noChangeAspect="1" noChangeArrowheads="1"/>
                        </p:cNvPicPr>
                        <p:nvPr/>
                      </p:nvPicPr>
                      <p:blipFill>
                        <a:blip r:embed="rId19"/>
                        <a:srcRect/>
                        <a:stretch>
                          <a:fillRect/>
                        </a:stretch>
                      </p:blipFill>
                      <p:spPr bwMode="auto">
                        <a:xfrm>
                          <a:off x="1037" y="2882"/>
                          <a:ext cx="2559" cy="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 name="AutoShape 16"/>
            <p:cNvSpPr>
              <a:spLocks noChangeArrowheads="1"/>
            </p:cNvSpPr>
            <p:nvPr/>
          </p:nvSpPr>
          <p:spPr bwMode="auto">
            <a:xfrm>
              <a:off x="3617" y="3086"/>
              <a:ext cx="56" cy="192"/>
            </a:xfrm>
            <a:prstGeom prst="downArrow">
              <a:avLst>
                <a:gd name="adj1" fmla="val 50000"/>
                <a:gd name="adj2" fmla="val 85714"/>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99052697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5"/>
                                        </p:tgtEl>
                                        <p:attrNameLst>
                                          <p:attrName>style.visibility</p:attrName>
                                        </p:attrNameLst>
                                      </p:cBhvr>
                                      <p:to>
                                        <p:strVal val="visible"/>
                                      </p:to>
                                    </p:set>
                                    <p:animEffect transition="in" filter="wipe(left)">
                                      <p:cBhvr>
                                        <p:cTn id="33" dur="500"/>
                                        <p:tgtEl>
                                          <p:spTgt spid="12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30"/>
                                        </p:tgtEl>
                                        <p:attrNameLst>
                                          <p:attrName>style.visibility</p:attrName>
                                        </p:attrNameLst>
                                      </p:cBhvr>
                                      <p:to>
                                        <p:strVal val="visible"/>
                                      </p:to>
                                    </p:set>
                                    <p:animEffect transition="in" filter="blinds(horizontal)">
                                      <p:cBhvr>
                                        <p:cTn id="38" dur="500"/>
                                        <p:tgtEl>
                                          <p:spTgt spid="1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wipe(left)">
                                      <p:cBhvr>
                                        <p:cTn id="43" dur="500"/>
                                        <p:tgtEl>
                                          <p:spTgt spid="12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28"/>
                                        </p:tgtEl>
                                        <p:attrNameLst>
                                          <p:attrName>style.visibility</p:attrName>
                                        </p:attrNameLst>
                                      </p:cBhvr>
                                      <p:to>
                                        <p:strVal val="visible"/>
                                      </p:to>
                                    </p:set>
                                    <p:animEffect transition="in" filter="wipe(left)">
                                      <p:cBhvr>
                                        <p:cTn id="48" dur="500"/>
                                        <p:tgtEl>
                                          <p:spTgt spid="12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3"/>
                                        </p:tgtEl>
                                        <p:attrNameLst>
                                          <p:attrName>style.visibility</p:attrName>
                                        </p:attrNameLst>
                                      </p:cBhvr>
                                      <p:to>
                                        <p:strVal val="visible"/>
                                      </p:to>
                                    </p:set>
                                    <p:animEffect transition="in" filter="wipe(left)">
                                      <p:cBhvr>
                                        <p:cTn id="57" dur="500"/>
                                        <p:tgtEl>
                                          <p:spTgt spid="13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39"/>
                                        </p:tgtEl>
                                        <p:attrNameLst>
                                          <p:attrName>style.visibility</p:attrName>
                                        </p:attrNameLst>
                                      </p:cBhvr>
                                      <p:to>
                                        <p:strVal val="visible"/>
                                      </p:to>
                                    </p:set>
                                    <p:animEffect transition="in" filter="blinds(horizontal)">
                                      <p:cBhvr>
                                        <p:cTn id="62" dur="500"/>
                                        <p:tgtEl>
                                          <p:spTgt spid="1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2"/>
                                        </p:tgtEl>
                                        <p:attrNameLst>
                                          <p:attrName>style.visibility</p:attrName>
                                        </p:attrNameLst>
                                      </p:cBhvr>
                                      <p:to>
                                        <p:strVal val="visible"/>
                                      </p:to>
                                    </p:set>
                                    <p:animEffect transition="in" filter="wipe(left)">
                                      <p:cBhvr>
                                        <p:cTn id="67" dur="500"/>
                                        <p:tgtEl>
                                          <p:spTgt spid="14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45"/>
                                        </p:tgtEl>
                                        <p:attrNameLst>
                                          <p:attrName>style.visibility</p:attrName>
                                        </p:attrNameLst>
                                      </p:cBhvr>
                                      <p:to>
                                        <p:strVal val="visible"/>
                                      </p:to>
                                    </p:set>
                                    <p:animEffect transition="in" filter="wipe(left)">
                                      <p:cBhvr>
                                        <p:cTn id="72"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4" grpId="0"/>
      <p:bldP spid="126" grpId="0"/>
      <p:bldP spid="130" grpId="0"/>
      <p:bldP spid="13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3647152" cy="599331"/>
          </a:xfrm>
          <a:prstGeom prst="rect">
            <a:avLst/>
          </a:prstGeom>
        </p:spPr>
        <p:txBody>
          <a:bodyPr wrap="none">
            <a:spAutoFit/>
          </a:bodyPr>
          <a:lstStyle/>
          <a:p>
            <a:pPr>
              <a:lnSpc>
                <a:spcPct val="120000"/>
              </a:lnSpc>
            </a:pPr>
            <a:r>
              <a:rPr lang="zh-CN" altLang="en-US" sz="3000" i="0">
                <a:solidFill>
                  <a:srgbClr val="4F81BD"/>
                </a:solidFill>
                <a:latin typeface="微软雅黑" panose="020B0503020204020204" pitchFamily="34" charset="-122"/>
                <a:ea typeface="微软雅黑" panose="020B0503020204020204" pitchFamily="34" charset="-122"/>
              </a:rPr>
              <a:t>用叠加法求梁的变形</a:t>
            </a:r>
            <a:endParaRPr lang="zh-CN" altLang="en-US" sz="3000" i="0" dirty="0">
              <a:solidFill>
                <a:srgbClr val="4F81BD"/>
              </a:solidFill>
              <a:latin typeface="微软雅黑" panose="020B0503020204020204" pitchFamily="34" charset="-122"/>
              <a:ea typeface="微软雅黑" panose="020B0503020204020204" pitchFamily="34" charset="-122"/>
            </a:endParaRPr>
          </a:p>
        </p:txBody>
      </p:sp>
      <p:graphicFrame>
        <p:nvGraphicFramePr>
          <p:cNvPr id="10" name="Object 95"/>
          <p:cNvGraphicFramePr>
            <a:graphicFrameLocks noChangeAspect="1"/>
          </p:cNvGraphicFramePr>
          <p:nvPr>
            <p:extLst>
              <p:ext uri="{D42A27DB-BD31-4B8C-83A1-F6EECF244321}">
                <p14:modId xmlns:p14="http://schemas.microsoft.com/office/powerpoint/2010/main" val="568663900"/>
              </p:ext>
            </p:extLst>
          </p:nvPr>
        </p:nvGraphicFramePr>
        <p:xfrm>
          <a:off x="3391830" y="2177203"/>
          <a:ext cx="3316238" cy="862277"/>
        </p:xfrm>
        <a:graphic>
          <a:graphicData uri="http://schemas.openxmlformats.org/presentationml/2006/ole">
            <mc:AlternateContent xmlns:mc="http://schemas.openxmlformats.org/markup-compatibility/2006">
              <mc:Choice xmlns:v="urn:schemas-microsoft-com:vml" Requires="v">
                <p:oleObj spid="_x0000_s34852" name="Equation" r:id="rId4" imgW="1434960" imgH="419040" progId="Equation.DSMT4">
                  <p:embed/>
                </p:oleObj>
              </mc:Choice>
              <mc:Fallback>
                <p:oleObj name="Equation" r:id="rId4" imgW="1434960" imgH="419040" progId="Equation.DSMT4">
                  <p:embed/>
                  <p:pic>
                    <p:nvPicPr>
                      <p:cNvPr id="119903" name="Object 95"/>
                      <p:cNvPicPr>
                        <a:picLocks noChangeAspect="1" noChangeArrowheads="1"/>
                      </p:cNvPicPr>
                      <p:nvPr/>
                    </p:nvPicPr>
                    <p:blipFill>
                      <a:blip r:embed="rId5"/>
                      <a:srcRect/>
                      <a:stretch>
                        <a:fillRect/>
                      </a:stretch>
                    </p:blipFill>
                    <p:spPr bwMode="auto">
                      <a:xfrm>
                        <a:off x="3391830" y="2177203"/>
                        <a:ext cx="3316238" cy="862277"/>
                      </a:xfrm>
                      <a:prstGeom prst="rect">
                        <a:avLst/>
                      </a:prstGeom>
                      <a:noFill/>
                      <a:ln>
                        <a:noFill/>
                      </a:ln>
                      <a:effectLst/>
                      <a:extLst/>
                    </p:spPr>
                  </p:pic>
                </p:oleObj>
              </mc:Fallback>
            </mc:AlternateContent>
          </a:graphicData>
        </a:graphic>
      </p:graphicFrame>
      <p:sp>
        <p:nvSpPr>
          <p:cNvPr id="11" name="Text Box 96"/>
          <p:cNvSpPr txBox="1">
            <a:spLocks noChangeArrowheads="1"/>
          </p:cNvSpPr>
          <p:nvPr/>
        </p:nvSpPr>
        <p:spPr bwMode="auto">
          <a:xfrm>
            <a:off x="767408" y="1532013"/>
            <a:ext cx="986509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buFontTx/>
              <a:buNone/>
            </a:pPr>
            <a:r>
              <a:rPr lang="zh-CN" altLang="en-US" i="0" dirty="0">
                <a:solidFill>
                  <a:schemeClr val="tx1"/>
                </a:solidFill>
                <a:latin typeface="+mn-lt"/>
                <a:ea typeface="微软雅黑" panose="020B0503020204020204" pitchFamily="34" charset="-122"/>
              </a:rPr>
              <a:t>设梁上有</a:t>
            </a:r>
            <a:r>
              <a:rPr lang="en-US" altLang="zh-CN" b="0" dirty="0">
                <a:solidFill>
                  <a:schemeClr val="tx1"/>
                </a:solidFill>
                <a:latin typeface="+mn-lt"/>
                <a:ea typeface="微软雅黑" panose="020B0503020204020204" pitchFamily="34" charset="-122"/>
              </a:rPr>
              <a:t>n</a:t>
            </a:r>
            <a:r>
              <a:rPr lang="en-US" altLang="zh-CN" i="0" dirty="0">
                <a:solidFill>
                  <a:schemeClr val="tx1"/>
                </a:solidFill>
                <a:latin typeface="+mn-lt"/>
                <a:ea typeface="微软雅黑" panose="020B0503020204020204" pitchFamily="34" charset="-122"/>
              </a:rPr>
              <a:t> </a:t>
            </a:r>
            <a:r>
              <a:rPr lang="zh-CN" altLang="en-US" i="0" dirty="0">
                <a:solidFill>
                  <a:schemeClr val="tx1"/>
                </a:solidFill>
                <a:latin typeface="+mn-lt"/>
                <a:ea typeface="微软雅黑" panose="020B0503020204020204" pitchFamily="34" charset="-122"/>
              </a:rPr>
              <a:t>个载荷同时作用，任意截面上的弯矩为</a:t>
            </a:r>
            <a:r>
              <a:rPr lang="en-US" altLang="zh-CN" b="0" dirty="0">
                <a:solidFill>
                  <a:schemeClr val="tx1"/>
                </a:solidFill>
                <a:latin typeface="+mn-lt"/>
                <a:ea typeface="微软雅黑" panose="020B0503020204020204" pitchFamily="34" charset="-122"/>
              </a:rPr>
              <a:t>M</a:t>
            </a:r>
            <a:r>
              <a:rPr lang="en-US" altLang="zh-CN" b="0" i="0" dirty="0">
                <a:solidFill>
                  <a:schemeClr val="tx1"/>
                </a:solidFill>
                <a:latin typeface="+mn-lt"/>
                <a:ea typeface="微软雅黑" panose="020B0503020204020204" pitchFamily="34" charset="-122"/>
              </a:rPr>
              <a:t>(</a:t>
            </a:r>
            <a:r>
              <a:rPr lang="en-US" altLang="zh-CN" b="0" dirty="0">
                <a:solidFill>
                  <a:schemeClr val="tx1"/>
                </a:solidFill>
                <a:latin typeface="+mn-lt"/>
                <a:ea typeface="微软雅黑" panose="020B0503020204020204" pitchFamily="34" charset="-122"/>
              </a:rPr>
              <a:t>x</a:t>
            </a:r>
            <a:r>
              <a:rPr lang="en-US" altLang="zh-CN" b="0" i="0" dirty="0">
                <a:solidFill>
                  <a:schemeClr val="tx1"/>
                </a:solidFill>
                <a:latin typeface="+mn-lt"/>
                <a:ea typeface="微软雅黑" panose="020B0503020204020204" pitchFamily="34" charset="-122"/>
              </a:rPr>
              <a:t>)</a:t>
            </a:r>
            <a:r>
              <a:rPr lang="zh-CN" altLang="en-US" i="0" dirty="0">
                <a:solidFill>
                  <a:schemeClr val="tx1"/>
                </a:solidFill>
                <a:latin typeface="+mn-lt"/>
                <a:ea typeface="微软雅黑" panose="020B0503020204020204" pitchFamily="34" charset="-122"/>
              </a:rPr>
              <a:t>，转角为</a:t>
            </a:r>
            <a:r>
              <a:rPr lang="zh-CN" altLang="en-US" b="0" dirty="0">
                <a:solidFill>
                  <a:schemeClr val="tx1"/>
                </a:solidFill>
                <a:latin typeface="+mn-lt"/>
                <a:ea typeface="微软雅黑" panose="020B0503020204020204" pitchFamily="34" charset="-122"/>
                <a:sym typeface="Symbol" pitchFamily="18" charset="2"/>
              </a:rPr>
              <a:t></a:t>
            </a:r>
            <a:r>
              <a:rPr lang="zh-CN" altLang="en-US" i="0" dirty="0">
                <a:solidFill>
                  <a:schemeClr val="tx1"/>
                </a:solidFill>
                <a:latin typeface="+mn-lt"/>
                <a:ea typeface="微软雅黑" panose="020B0503020204020204" pitchFamily="34" charset="-122"/>
              </a:rPr>
              <a:t>，挠度为</a:t>
            </a:r>
            <a:r>
              <a:rPr lang="en-US" altLang="zh-CN" b="0" dirty="0">
                <a:solidFill>
                  <a:schemeClr val="tx1"/>
                </a:solidFill>
                <a:latin typeface="+mn-lt"/>
                <a:ea typeface="微软雅黑" panose="020B0503020204020204" pitchFamily="34" charset="-122"/>
              </a:rPr>
              <a:t>y</a:t>
            </a:r>
            <a:r>
              <a:rPr lang="zh-CN" altLang="en-US" i="0" dirty="0">
                <a:solidFill>
                  <a:schemeClr val="tx1"/>
                </a:solidFill>
                <a:latin typeface="+mn-lt"/>
                <a:ea typeface="微软雅黑" panose="020B0503020204020204" pitchFamily="34" charset="-122"/>
              </a:rPr>
              <a:t>，则有：</a:t>
            </a:r>
          </a:p>
        </p:txBody>
      </p:sp>
      <p:graphicFrame>
        <p:nvGraphicFramePr>
          <p:cNvPr id="14" name="Object 99"/>
          <p:cNvGraphicFramePr>
            <a:graphicFrameLocks noChangeAspect="1"/>
          </p:cNvGraphicFramePr>
          <p:nvPr>
            <p:extLst>
              <p:ext uri="{D42A27DB-BD31-4B8C-83A1-F6EECF244321}">
                <p14:modId xmlns:p14="http://schemas.microsoft.com/office/powerpoint/2010/main" val="3057369901"/>
              </p:ext>
            </p:extLst>
          </p:nvPr>
        </p:nvGraphicFramePr>
        <p:xfrm>
          <a:off x="3400425" y="4051300"/>
          <a:ext cx="2371539" cy="536123"/>
        </p:xfrm>
        <a:graphic>
          <a:graphicData uri="http://schemas.openxmlformats.org/presentationml/2006/ole">
            <mc:AlternateContent xmlns:mc="http://schemas.openxmlformats.org/markup-compatibility/2006">
              <mc:Choice xmlns:v="urn:schemas-microsoft-com:vml" Requires="v">
                <p:oleObj spid="_x0000_s34853" name="Equation" r:id="rId6" imgW="901440" imgH="228600" progId="Equation.DSMT4">
                  <p:embed/>
                </p:oleObj>
              </mc:Choice>
              <mc:Fallback>
                <p:oleObj name="Equation" r:id="rId6" imgW="901440" imgH="228600" progId="Equation.DSMT4">
                  <p:embed/>
                  <p:pic>
                    <p:nvPicPr>
                      <p:cNvPr id="119907" name="Object 99"/>
                      <p:cNvPicPr>
                        <a:picLocks noChangeAspect="1" noChangeArrowheads="1"/>
                      </p:cNvPicPr>
                      <p:nvPr/>
                    </p:nvPicPr>
                    <p:blipFill>
                      <a:blip r:embed="rId7"/>
                      <a:srcRect/>
                      <a:stretch>
                        <a:fillRect/>
                      </a:stretch>
                    </p:blipFill>
                    <p:spPr bwMode="auto">
                      <a:xfrm>
                        <a:off x="3400425" y="4051300"/>
                        <a:ext cx="2371539" cy="536123"/>
                      </a:xfrm>
                      <a:prstGeom prst="rect">
                        <a:avLst/>
                      </a:prstGeom>
                      <a:noFill/>
                      <a:ln>
                        <a:noFill/>
                      </a:ln>
                      <a:effectLst/>
                      <a:extLst/>
                    </p:spPr>
                  </p:pic>
                </p:oleObj>
              </mc:Fallback>
            </mc:AlternateContent>
          </a:graphicData>
        </a:graphic>
      </p:graphicFrame>
      <p:sp>
        <p:nvSpPr>
          <p:cNvPr id="15" name="Text Box 100"/>
          <p:cNvSpPr txBox="1">
            <a:spLocks noChangeArrowheads="1"/>
          </p:cNvSpPr>
          <p:nvPr/>
        </p:nvSpPr>
        <p:spPr bwMode="auto">
          <a:xfrm>
            <a:off x="767408" y="3214658"/>
            <a:ext cx="100091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buFontTx/>
              <a:buNone/>
            </a:pPr>
            <a:r>
              <a:rPr lang="zh-CN" altLang="en-US" i="0" dirty="0">
                <a:solidFill>
                  <a:schemeClr val="tx1"/>
                </a:solidFill>
                <a:latin typeface="+mn-lt"/>
                <a:ea typeface="微软雅黑" panose="020B0503020204020204" pitchFamily="34" charset="-122"/>
              </a:rPr>
              <a:t>若梁上只有第</a:t>
            </a:r>
            <a:r>
              <a:rPr lang="en-US" altLang="zh-CN" b="0" dirty="0">
                <a:solidFill>
                  <a:schemeClr val="tx1"/>
                </a:solidFill>
                <a:latin typeface="+mn-lt"/>
                <a:ea typeface="微软雅黑" panose="020B0503020204020204" pitchFamily="34" charset="-122"/>
              </a:rPr>
              <a:t>i</a:t>
            </a:r>
            <a:r>
              <a:rPr lang="zh-CN" altLang="en-US" i="0" dirty="0">
                <a:solidFill>
                  <a:schemeClr val="tx1"/>
                </a:solidFill>
                <a:latin typeface="+mn-lt"/>
                <a:ea typeface="微软雅黑" panose="020B0503020204020204" pitchFamily="34" charset="-122"/>
              </a:rPr>
              <a:t>个载荷单独作用，截面上弯矩为</a:t>
            </a:r>
            <a:r>
              <a:rPr lang="en-US" altLang="zh-CN" b="0" dirty="0" err="1">
                <a:solidFill>
                  <a:schemeClr val="tx1"/>
                </a:solidFill>
                <a:latin typeface="+mn-lt"/>
                <a:ea typeface="微软雅黑" panose="020B0503020204020204" pitchFamily="34" charset="-122"/>
              </a:rPr>
              <a:t>M</a:t>
            </a:r>
            <a:r>
              <a:rPr lang="en-US" altLang="zh-CN" b="0" baseline="-25000" dirty="0" err="1">
                <a:solidFill>
                  <a:schemeClr val="tx1"/>
                </a:solidFill>
                <a:latin typeface="+mn-lt"/>
                <a:ea typeface="微软雅黑" panose="020B0503020204020204" pitchFamily="34" charset="-122"/>
              </a:rPr>
              <a:t>i</a:t>
            </a:r>
            <a:r>
              <a:rPr lang="en-US" altLang="zh-CN" b="0" i="0" dirty="0">
                <a:solidFill>
                  <a:schemeClr val="tx1"/>
                </a:solidFill>
                <a:latin typeface="+mn-lt"/>
                <a:ea typeface="微软雅黑" panose="020B0503020204020204" pitchFamily="34" charset="-122"/>
              </a:rPr>
              <a:t>(</a:t>
            </a:r>
            <a:r>
              <a:rPr lang="en-US" altLang="zh-CN" b="0" dirty="0">
                <a:solidFill>
                  <a:schemeClr val="tx1"/>
                </a:solidFill>
                <a:latin typeface="+mn-lt"/>
                <a:ea typeface="微软雅黑" panose="020B0503020204020204" pitchFamily="34" charset="-122"/>
              </a:rPr>
              <a:t>x</a:t>
            </a:r>
            <a:r>
              <a:rPr lang="en-US" altLang="zh-CN" b="0"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 </a:t>
            </a:r>
            <a:r>
              <a:rPr lang="zh-CN" altLang="en-US" i="0" dirty="0">
                <a:solidFill>
                  <a:schemeClr val="tx1"/>
                </a:solidFill>
                <a:latin typeface="+mn-lt"/>
                <a:ea typeface="微软雅黑" panose="020B0503020204020204" pitchFamily="34" charset="-122"/>
              </a:rPr>
              <a:t>，转角为</a:t>
            </a:r>
            <a:r>
              <a:rPr lang="zh-CN" altLang="en-US" b="0" dirty="0">
                <a:solidFill>
                  <a:schemeClr val="tx1"/>
                </a:solidFill>
                <a:latin typeface="+mn-lt"/>
                <a:ea typeface="微软雅黑" panose="020B0503020204020204" pitchFamily="34" charset="-122"/>
                <a:sym typeface="Symbol" pitchFamily="18" charset="2"/>
              </a:rPr>
              <a:t></a:t>
            </a:r>
            <a:r>
              <a:rPr lang="en-US" altLang="zh-CN" b="0" baseline="-25000" dirty="0">
                <a:solidFill>
                  <a:schemeClr val="tx1"/>
                </a:solidFill>
                <a:latin typeface="+mn-lt"/>
                <a:ea typeface="微软雅黑" panose="020B0503020204020204" pitchFamily="34" charset="-122"/>
                <a:sym typeface="Symbol" pitchFamily="18" charset="2"/>
              </a:rPr>
              <a:t>i</a:t>
            </a:r>
            <a:r>
              <a:rPr lang="zh-CN" altLang="en-US" i="0" dirty="0">
                <a:solidFill>
                  <a:schemeClr val="tx1"/>
                </a:solidFill>
                <a:latin typeface="+mn-lt"/>
                <a:ea typeface="微软雅黑" panose="020B0503020204020204" pitchFamily="34" charset="-122"/>
              </a:rPr>
              <a:t>，挠度为</a:t>
            </a:r>
            <a:r>
              <a:rPr lang="en-US" altLang="zh-CN" b="0" dirty="0" err="1">
                <a:solidFill>
                  <a:schemeClr val="tx1"/>
                </a:solidFill>
                <a:latin typeface="+mn-lt"/>
                <a:ea typeface="微软雅黑" panose="020B0503020204020204" pitchFamily="34" charset="-122"/>
              </a:rPr>
              <a:t>y</a:t>
            </a:r>
            <a:r>
              <a:rPr lang="en-US" altLang="zh-CN" b="0" baseline="-25000" dirty="0" err="1">
                <a:solidFill>
                  <a:schemeClr val="tx1"/>
                </a:solidFill>
                <a:latin typeface="+mn-lt"/>
                <a:ea typeface="微软雅黑" panose="020B0503020204020204" pitchFamily="34" charset="-122"/>
              </a:rPr>
              <a:t>i</a:t>
            </a:r>
            <a:r>
              <a:rPr lang="zh-CN" altLang="en-US" i="0" dirty="0">
                <a:solidFill>
                  <a:schemeClr val="tx1"/>
                </a:solidFill>
                <a:latin typeface="+mn-lt"/>
                <a:ea typeface="微软雅黑" panose="020B0503020204020204" pitchFamily="34" charset="-122"/>
              </a:rPr>
              <a:t>，则有：</a:t>
            </a:r>
          </a:p>
        </p:txBody>
      </p:sp>
      <p:sp>
        <p:nvSpPr>
          <p:cNvPr id="16" name="Text Box 104"/>
          <p:cNvSpPr txBox="1">
            <a:spLocks noChangeArrowheads="1"/>
          </p:cNvSpPr>
          <p:nvPr/>
        </p:nvSpPr>
        <p:spPr bwMode="auto">
          <a:xfrm>
            <a:off x="767408" y="4869691"/>
            <a:ext cx="52052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zh-CN" altLang="en-US" i="0" dirty="0">
                <a:solidFill>
                  <a:schemeClr val="tx1"/>
                </a:solidFill>
                <a:latin typeface="+mn-lt"/>
                <a:ea typeface="微软雅黑" panose="020B0503020204020204" pitchFamily="34" charset="-122"/>
              </a:rPr>
              <a:t>由弯矩的叠加原理知：</a:t>
            </a:r>
          </a:p>
        </p:txBody>
      </p:sp>
      <p:graphicFrame>
        <p:nvGraphicFramePr>
          <p:cNvPr id="17" name="Object 105"/>
          <p:cNvGraphicFramePr>
            <a:graphicFrameLocks noChangeAspect="1"/>
          </p:cNvGraphicFramePr>
          <p:nvPr>
            <p:extLst>
              <p:ext uri="{D42A27DB-BD31-4B8C-83A1-F6EECF244321}">
                <p14:modId xmlns:p14="http://schemas.microsoft.com/office/powerpoint/2010/main" val="248893872"/>
              </p:ext>
            </p:extLst>
          </p:nvPr>
        </p:nvGraphicFramePr>
        <p:xfrm>
          <a:off x="4298596" y="4732222"/>
          <a:ext cx="2265455" cy="770673"/>
        </p:xfrm>
        <a:graphic>
          <a:graphicData uri="http://schemas.openxmlformats.org/presentationml/2006/ole">
            <mc:AlternateContent xmlns:mc="http://schemas.openxmlformats.org/markup-compatibility/2006">
              <mc:Choice xmlns:v="urn:schemas-microsoft-com:vml" Requires="v">
                <p:oleObj spid="_x0000_s34854" name="公式" r:id="rId8" imgW="965160" imgH="368280" progId="Equation.3">
                  <p:embed/>
                </p:oleObj>
              </mc:Choice>
              <mc:Fallback>
                <p:oleObj name="公式" r:id="rId8" imgW="965160" imgH="368280" progId="Equation.3">
                  <p:embed/>
                  <p:pic>
                    <p:nvPicPr>
                      <p:cNvPr id="119913" name="Object 105"/>
                      <p:cNvPicPr>
                        <a:picLocks noChangeAspect="1" noChangeArrowheads="1"/>
                      </p:cNvPicPr>
                      <p:nvPr/>
                    </p:nvPicPr>
                    <p:blipFill>
                      <a:blip r:embed="rId9"/>
                      <a:srcRect/>
                      <a:stretch>
                        <a:fillRect/>
                      </a:stretch>
                    </p:blipFill>
                    <p:spPr bwMode="auto">
                      <a:xfrm>
                        <a:off x="4298596" y="4732222"/>
                        <a:ext cx="2265455" cy="770673"/>
                      </a:xfrm>
                      <a:prstGeom prst="rect">
                        <a:avLst/>
                      </a:prstGeom>
                      <a:noFill/>
                      <a:ln>
                        <a:noFill/>
                      </a:ln>
                      <a:effectLst/>
                      <a:extLst/>
                    </p:spPr>
                  </p:pic>
                </p:oleObj>
              </mc:Fallback>
            </mc:AlternateContent>
          </a:graphicData>
        </a:graphic>
      </p:graphicFrame>
      <p:sp>
        <p:nvSpPr>
          <p:cNvPr id="18" name="Text Box 106"/>
          <p:cNvSpPr txBox="1">
            <a:spLocks noChangeArrowheads="1"/>
          </p:cNvSpPr>
          <p:nvPr/>
        </p:nvSpPr>
        <p:spPr bwMode="auto">
          <a:xfrm>
            <a:off x="793983" y="5697252"/>
            <a:ext cx="12113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zh-CN" altLang="en-US" i="0" dirty="0">
                <a:solidFill>
                  <a:schemeClr val="tx1"/>
                </a:solidFill>
                <a:latin typeface="+mn-lt"/>
                <a:ea typeface="微软雅黑" panose="020B0503020204020204" pitchFamily="34" charset="-122"/>
              </a:rPr>
              <a:t>所以，</a:t>
            </a:r>
          </a:p>
        </p:txBody>
      </p:sp>
      <p:graphicFrame>
        <p:nvGraphicFramePr>
          <p:cNvPr id="19" name="Object 107"/>
          <p:cNvGraphicFramePr>
            <a:graphicFrameLocks noChangeAspect="1"/>
          </p:cNvGraphicFramePr>
          <p:nvPr>
            <p:extLst>
              <p:ext uri="{D42A27DB-BD31-4B8C-83A1-F6EECF244321}">
                <p14:modId xmlns:p14="http://schemas.microsoft.com/office/powerpoint/2010/main" val="98902672"/>
              </p:ext>
            </p:extLst>
          </p:nvPr>
        </p:nvGraphicFramePr>
        <p:xfrm>
          <a:off x="1878759" y="5468825"/>
          <a:ext cx="3821197" cy="876806"/>
        </p:xfrm>
        <a:graphic>
          <a:graphicData uri="http://schemas.openxmlformats.org/presentationml/2006/ole">
            <mc:AlternateContent xmlns:mc="http://schemas.openxmlformats.org/markup-compatibility/2006">
              <mc:Choice xmlns:v="urn:schemas-microsoft-com:vml" Requires="v">
                <p:oleObj spid="_x0000_s34855" name="Equation" r:id="rId10" imgW="1879560" imgH="431640" progId="Equation.DSMT4">
                  <p:embed/>
                </p:oleObj>
              </mc:Choice>
              <mc:Fallback>
                <p:oleObj name="Equation" r:id="rId10" imgW="1879560" imgH="431640" progId="Equation.DSMT4">
                  <p:embed/>
                  <p:pic>
                    <p:nvPicPr>
                      <p:cNvPr id="119915" name="Object 107"/>
                      <p:cNvPicPr>
                        <a:picLocks noChangeAspect="1" noChangeArrowheads="1"/>
                      </p:cNvPicPr>
                      <p:nvPr/>
                    </p:nvPicPr>
                    <p:blipFill>
                      <a:blip r:embed="rId11"/>
                      <a:srcRect/>
                      <a:stretch>
                        <a:fillRect/>
                      </a:stretch>
                    </p:blipFill>
                    <p:spPr bwMode="auto">
                      <a:xfrm>
                        <a:off x="1878759" y="5468825"/>
                        <a:ext cx="3821197" cy="876806"/>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77297416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1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1" name="Text Box 96"/>
          <p:cNvSpPr txBox="1">
            <a:spLocks noChangeArrowheads="1"/>
          </p:cNvSpPr>
          <p:nvPr/>
        </p:nvSpPr>
        <p:spPr bwMode="auto">
          <a:xfrm>
            <a:off x="767408" y="1006102"/>
            <a:ext cx="9865096"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buFontTx/>
              <a:buNone/>
            </a:pPr>
            <a:r>
              <a:rPr lang="zh-CN" altLang="en-US" i="0" dirty="0">
                <a:solidFill>
                  <a:schemeClr val="tx1"/>
                </a:solidFill>
                <a:latin typeface="+mn-lt"/>
                <a:ea typeface="微软雅黑" panose="020B0503020204020204" pitchFamily="34" charset="-122"/>
              </a:rPr>
              <a:t>故</a:t>
            </a:r>
          </a:p>
        </p:txBody>
      </p:sp>
      <p:sp>
        <p:nvSpPr>
          <p:cNvPr id="15" name="Text Box 100"/>
          <p:cNvSpPr txBox="1">
            <a:spLocks noChangeArrowheads="1"/>
          </p:cNvSpPr>
          <p:nvPr/>
        </p:nvSpPr>
        <p:spPr bwMode="auto">
          <a:xfrm>
            <a:off x="767408" y="1927598"/>
            <a:ext cx="10009112"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i="0" dirty="0">
                <a:solidFill>
                  <a:schemeClr val="tx1"/>
                </a:solidFill>
                <a:latin typeface="+mn-lt"/>
                <a:ea typeface="微软雅黑" panose="020B0503020204020204" pitchFamily="34" charset="-122"/>
              </a:rPr>
              <a:t>由于梁的边界条件不变，因此</a:t>
            </a:r>
          </a:p>
        </p:txBody>
      </p:sp>
      <p:graphicFrame>
        <p:nvGraphicFramePr>
          <p:cNvPr id="13" name="Object 3"/>
          <p:cNvGraphicFramePr>
            <a:graphicFrameLocks noChangeAspect="1"/>
          </p:cNvGraphicFramePr>
          <p:nvPr>
            <p:extLst>
              <p:ext uri="{D42A27DB-BD31-4B8C-83A1-F6EECF244321}">
                <p14:modId xmlns:p14="http://schemas.microsoft.com/office/powerpoint/2010/main" val="2275400024"/>
              </p:ext>
            </p:extLst>
          </p:nvPr>
        </p:nvGraphicFramePr>
        <p:xfrm>
          <a:off x="1301751" y="925513"/>
          <a:ext cx="1625898" cy="850253"/>
        </p:xfrm>
        <a:graphic>
          <a:graphicData uri="http://schemas.openxmlformats.org/presentationml/2006/ole">
            <mc:AlternateContent xmlns:mc="http://schemas.openxmlformats.org/markup-compatibility/2006">
              <mc:Choice xmlns:v="urn:schemas-microsoft-com:vml" Requires="v">
                <p:oleObj spid="_x0000_s39962" name="Equation" r:id="rId4" imgW="825480" imgH="431640" progId="Equation.DSMT4">
                  <p:embed/>
                </p:oleObj>
              </mc:Choice>
              <mc:Fallback>
                <p:oleObj name="Equation" r:id="rId4" imgW="825480" imgH="431640" progId="Equation.DSMT4">
                  <p:embed/>
                  <p:pic>
                    <p:nvPicPr>
                      <p:cNvPr id="453635" name="Object 3"/>
                      <p:cNvPicPr>
                        <a:picLocks noChangeAspect="1" noChangeArrowheads="1"/>
                      </p:cNvPicPr>
                      <p:nvPr/>
                    </p:nvPicPr>
                    <p:blipFill>
                      <a:blip r:embed="rId5"/>
                      <a:srcRect/>
                      <a:stretch>
                        <a:fillRect/>
                      </a:stretch>
                    </p:blipFill>
                    <p:spPr bwMode="auto">
                      <a:xfrm>
                        <a:off x="1301751" y="925513"/>
                        <a:ext cx="1625898" cy="850253"/>
                      </a:xfrm>
                      <a:prstGeom prst="rect">
                        <a:avLst/>
                      </a:prstGeom>
                      <a:noFill/>
                      <a:ln>
                        <a:noFill/>
                      </a:ln>
                      <a:effectLst/>
                      <a:extLst/>
                    </p:spPr>
                  </p:pic>
                </p:oleObj>
              </mc:Fallback>
            </mc:AlternateContent>
          </a:graphicData>
        </a:graphic>
      </p:graphicFrame>
      <p:graphicFrame>
        <p:nvGraphicFramePr>
          <p:cNvPr id="20" name="Object 5"/>
          <p:cNvGraphicFramePr>
            <a:graphicFrameLocks noChangeAspect="1"/>
          </p:cNvGraphicFramePr>
          <p:nvPr>
            <p:extLst>
              <p:ext uri="{D42A27DB-BD31-4B8C-83A1-F6EECF244321}">
                <p14:modId xmlns:p14="http://schemas.microsoft.com/office/powerpoint/2010/main" val="1187293369"/>
              </p:ext>
            </p:extLst>
          </p:nvPr>
        </p:nvGraphicFramePr>
        <p:xfrm>
          <a:off x="3370010" y="2661328"/>
          <a:ext cx="1262936" cy="851747"/>
        </p:xfrm>
        <a:graphic>
          <a:graphicData uri="http://schemas.openxmlformats.org/presentationml/2006/ole">
            <mc:AlternateContent xmlns:mc="http://schemas.openxmlformats.org/markup-compatibility/2006">
              <mc:Choice xmlns:v="urn:schemas-microsoft-com:vml" Requires="v">
                <p:oleObj spid="_x0000_s39963" name="公式" r:id="rId6" imgW="545760" imgH="368280" progId="Equation.3">
                  <p:embed/>
                </p:oleObj>
              </mc:Choice>
              <mc:Fallback>
                <p:oleObj name="公式" r:id="rId6" imgW="545760" imgH="368280" progId="Equation.3">
                  <p:embed/>
                  <p:pic>
                    <p:nvPicPr>
                      <p:cNvPr id="453637" name="Object 5"/>
                      <p:cNvPicPr>
                        <a:picLocks noChangeAspect="1" noChangeArrowheads="1"/>
                      </p:cNvPicPr>
                      <p:nvPr/>
                    </p:nvPicPr>
                    <p:blipFill>
                      <a:blip r:embed="rId7"/>
                      <a:srcRect/>
                      <a:stretch>
                        <a:fillRect/>
                      </a:stretch>
                    </p:blipFill>
                    <p:spPr bwMode="auto">
                      <a:xfrm>
                        <a:off x="3370010" y="2661328"/>
                        <a:ext cx="1262936" cy="851747"/>
                      </a:xfrm>
                      <a:prstGeom prst="rect">
                        <a:avLst/>
                      </a:prstGeom>
                      <a:noFill/>
                      <a:ln>
                        <a:noFill/>
                      </a:ln>
                      <a:effectLst/>
                      <a:extLst/>
                    </p:spPr>
                  </p:pic>
                </p:oleObj>
              </mc:Fallback>
            </mc:AlternateContent>
          </a:graphicData>
        </a:graphic>
      </p:graphicFrame>
      <p:graphicFrame>
        <p:nvGraphicFramePr>
          <p:cNvPr id="21" name="Object 6"/>
          <p:cNvGraphicFramePr>
            <a:graphicFrameLocks noChangeAspect="1"/>
          </p:cNvGraphicFramePr>
          <p:nvPr>
            <p:extLst>
              <p:ext uri="{D42A27DB-BD31-4B8C-83A1-F6EECF244321}">
                <p14:modId xmlns:p14="http://schemas.microsoft.com/office/powerpoint/2010/main" val="1086592460"/>
              </p:ext>
            </p:extLst>
          </p:nvPr>
        </p:nvGraphicFramePr>
        <p:xfrm>
          <a:off x="1301751" y="2660295"/>
          <a:ext cx="1242059" cy="900122"/>
        </p:xfrm>
        <a:graphic>
          <a:graphicData uri="http://schemas.openxmlformats.org/presentationml/2006/ole">
            <mc:AlternateContent xmlns:mc="http://schemas.openxmlformats.org/markup-compatibility/2006">
              <mc:Choice xmlns:v="urn:schemas-microsoft-com:vml" Requires="v">
                <p:oleObj spid="_x0000_s39964" name="Equation" r:id="rId8" imgW="596880" imgH="431640" progId="Equation.DSMT4">
                  <p:embed/>
                </p:oleObj>
              </mc:Choice>
              <mc:Fallback>
                <p:oleObj name="Equation" r:id="rId8" imgW="596880" imgH="431640" progId="Equation.DSMT4">
                  <p:embed/>
                  <p:pic>
                    <p:nvPicPr>
                      <p:cNvPr id="453638" name="Object 6"/>
                      <p:cNvPicPr>
                        <a:picLocks noChangeAspect="1" noChangeArrowheads="1"/>
                      </p:cNvPicPr>
                      <p:nvPr/>
                    </p:nvPicPr>
                    <p:blipFill>
                      <a:blip r:embed="rId9"/>
                      <a:srcRect/>
                      <a:stretch>
                        <a:fillRect/>
                      </a:stretch>
                    </p:blipFill>
                    <p:spPr bwMode="auto">
                      <a:xfrm>
                        <a:off x="1301751" y="2660295"/>
                        <a:ext cx="1242059" cy="900122"/>
                      </a:xfrm>
                      <a:prstGeom prst="rect">
                        <a:avLst/>
                      </a:prstGeom>
                      <a:noFill/>
                      <a:ln>
                        <a:noFill/>
                      </a:ln>
                      <a:effectLst/>
                      <a:extLst/>
                    </p:spPr>
                  </p:pic>
                </p:oleObj>
              </mc:Fallback>
            </mc:AlternateContent>
          </a:graphicData>
        </a:graphic>
      </p:graphicFrame>
      <p:sp>
        <p:nvSpPr>
          <p:cNvPr id="22" name="Text Box 1032"/>
          <p:cNvSpPr txBox="1">
            <a:spLocks noChangeArrowheads="1"/>
          </p:cNvSpPr>
          <p:nvPr/>
        </p:nvSpPr>
        <p:spPr bwMode="auto">
          <a:xfrm>
            <a:off x="191344" y="3825044"/>
            <a:ext cx="11424968"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      </a:t>
            </a:r>
            <a:r>
              <a:rPr kumimoji="1" lang="zh-CN" altLang="en-US" sz="2800" i="0" dirty="0">
                <a:solidFill>
                  <a:srgbClr val="FF00FF"/>
                </a:solidFill>
                <a:latin typeface="+mn-lt"/>
                <a:ea typeface="微软雅黑" panose="020B0503020204020204" pitchFamily="34" charset="-122"/>
              </a:rPr>
              <a:t>重要结论：</a:t>
            </a:r>
            <a:r>
              <a:rPr lang="zh-CN" altLang="en-US" sz="2800" i="0" dirty="0">
                <a:latin typeface="+mn-lt"/>
                <a:ea typeface="微软雅黑" panose="020B0503020204020204" pitchFamily="34" charset="-122"/>
              </a:rPr>
              <a:t>梁在若干个载荷共同作用时的挠度或转角，等于在各个载荷单独作用时的挠度或转角的代数和。这就是</a:t>
            </a:r>
            <a:r>
              <a:rPr kumimoji="1" lang="zh-CN" altLang="en-US" sz="2800" i="0" dirty="0">
                <a:solidFill>
                  <a:srgbClr val="FF0000"/>
                </a:solidFill>
                <a:latin typeface="+mn-lt"/>
                <a:ea typeface="微软雅黑" panose="020B0503020204020204" pitchFamily="34" charset="-122"/>
              </a:rPr>
              <a:t>计算弯曲变形的叠加原理。</a:t>
            </a:r>
            <a:endParaRPr kumimoji="1" lang="en-US" altLang="zh-CN" sz="2800" i="0" dirty="0">
              <a:solidFill>
                <a:srgbClr val="FF0000"/>
              </a:solidFill>
              <a:latin typeface="+mn-lt"/>
              <a:ea typeface="微软雅黑" panose="020B0503020204020204" pitchFamily="34" charset="-122"/>
            </a:endParaRPr>
          </a:p>
          <a:p>
            <a:pPr>
              <a:lnSpc>
                <a:spcPct val="130000"/>
              </a:lnSpc>
            </a:pPr>
            <a:r>
              <a:rPr kumimoji="1" lang="en-US" altLang="zh-CN" sz="2800" i="0" dirty="0">
                <a:solidFill>
                  <a:srgbClr val="FF00FF"/>
                </a:solidFill>
                <a:latin typeface="+mn-lt"/>
                <a:ea typeface="微软雅黑" panose="020B0503020204020204" pitchFamily="34" charset="-122"/>
              </a:rPr>
              <a:t>     </a:t>
            </a:r>
            <a:r>
              <a:rPr kumimoji="1" lang="zh-CN" altLang="en-US" sz="2800" i="0" dirty="0">
                <a:solidFill>
                  <a:srgbClr val="FF00FF"/>
                </a:solidFill>
                <a:latin typeface="+mn-lt"/>
                <a:ea typeface="微软雅黑" panose="020B0503020204020204" pitchFamily="34" charset="-122"/>
              </a:rPr>
              <a:t>叠加法适用条件：</a:t>
            </a:r>
            <a:r>
              <a:rPr kumimoji="1" lang="zh-CN" altLang="en-US" sz="2800" i="0" dirty="0">
                <a:solidFill>
                  <a:srgbClr val="FF0000"/>
                </a:solidFill>
                <a:latin typeface="+mn-lt"/>
                <a:ea typeface="微软雅黑" panose="020B0503020204020204" pitchFamily="34" charset="-122"/>
              </a:rPr>
              <a:t>力与位移之间的线性关系；</a:t>
            </a:r>
            <a:r>
              <a:rPr kumimoji="1" lang="zh-CN" altLang="en-US" sz="2800" i="0" dirty="0">
                <a:solidFill>
                  <a:srgbClr val="FF0000"/>
                </a:solidFill>
                <a:latin typeface="+mn-lt"/>
                <a:ea typeface="微软雅黑" panose="020B0503020204020204" pitchFamily="34" charset="-122"/>
                <a:sym typeface="Monotype Sorts" pitchFamily="2" charset="2"/>
              </a:rPr>
              <a:t>小变形。</a:t>
            </a:r>
          </a:p>
          <a:p>
            <a:pPr>
              <a:lnSpc>
                <a:spcPct val="130000"/>
              </a:lnSpc>
            </a:pPr>
            <a:endParaRPr lang="zh-CN" altLang="en-US" sz="2800" dirty="0">
              <a:solidFill>
                <a:srgbClr val="0000FF"/>
              </a:solidFill>
              <a:latin typeface="宋体" pitchFamily="2" charset="-122"/>
            </a:endParaRPr>
          </a:p>
          <a:p>
            <a:pPr>
              <a:lnSpc>
                <a:spcPct val="130000"/>
              </a:lnSpc>
            </a:pP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1299765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11" name="矩形 110">
            <a:extLst>
              <a:ext uri="{FF2B5EF4-FFF2-40B4-BE49-F238E27FC236}">
                <a16:creationId xmlns:a16="http://schemas.microsoft.com/office/drawing/2014/main" id="{E8DB0D0A-8BE9-6ADA-6C58-96049487BA32}"/>
              </a:ext>
            </a:extLst>
          </p:cNvPr>
          <p:cNvSpPr/>
          <p:nvPr/>
        </p:nvSpPr>
        <p:spPr>
          <a:xfrm>
            <a:off x="695400" y="2175165"/>
            <a:ext cx="11233248" cy="972574"/>
          </a:xfrm>
          <a:prstGeom prst="rect">
            <a:avLst/>
          </a:prstGeom>
        </p:spPr>
        <p:txBody>
          <a:bodyPr wrap="square">
            <a:spAutoFit/>
          </a:bodyPr>
          <a:lstStyle/>
          <a:p>
            <a:pPr lvl="0"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rPr>
              <a:t>控制梁弯曲强度的主要因素是弯曲正应力，即以</a:t>
            </a:r>
          </a:p>
          <a:p>
            <a:pPr lvl="0" algn="just">
              <a:lnSpc>
                <a:spcPct val="110000"/>
              </a:lnSpc>
            </a:pPr>
            <a:endParaRPr kumimoji="1" lang="en-US" altLang="zh-CN" i="0" dirty="0">
              <a:solidFill>
                <a:schemeClr val="tx1"/>
              </a:solidFill>
              <a:latin typeface="+mn-lt"/>
              <a:ea typeface="黑体" panose="02010609060101010101" pitchFamily="49" charset="-122"/>
            </a:endParaRPr>
          </a:p>
        </p:txBody>
      </p:sp>
      <p:graphicFrame>
        <p:nvGraphicFramePr>
          <p:cNvPr id="10" name="Object 5"/>
          <p:cNvGraphicFramePr>
            <a:graphicFrameLocks noChangeAspect="1"/>
          </p:cNvGraphicFramePr>
          <p:nvPr>
            <p:extLst>
              <p:ext uri="{D42A27DB-BD31-4B8C-83A1-F6EECF244321}">
                <p14:modId xmlns:p14="http://schemas.microsoft.com/office/powerpoint/2010/main" val="1517970218"/>
              </p:ext>
            </p:extLst>
          </p:nvPr>
        </p:nvGraphicFramePr>
        <p:xfrm>
          <a:off x="4532318" y="2760063"/>
          <a:ext cx="2598737" cy="949325"/>
        </p:xfrm>
        <a:graphic>
          <a:graphicData uri="http://schemas.openxmlformats.org/presentationml/2006/ole">
            <mc:AlternateContent xmlns:mc="http://schemas.openxmlformats.org/markup-compatibility/2006">
              <mc:Choice xmlns:v="urn:schemas-microsoft-com:vml" Requires="v">
                <p:oleObj spid="_x0000_s24596" name="公式" r:id="rId4" imgW="1041120" imgH="380880" progId="Equation.3">
                  <p:embed/>
                </p:oleObj>
              </mc:Choice>
              <mc:Fallback>
                <p:oleObj name="公式" r:id="rId4" imgW="1041120" imgH="380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2318" y="2760063"/>
                        <a:ext cx="2598737"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a:extLst>
              <a:ext uri="{FF2B5EF4-FFF2-40B4-BE49-F238E27FC236}">
                <a16:creationId xmlns:a16="http://schemas.microsoft.com/office/drawing/2014/main" id="{E8DB0D0A-8BE9-6ADA-6C58-96049487BA32}"/>
              </a:ext>
            </a:extLst>
          </p:cNvPr>
          <p:cNvSpPr/>
          <p:nvPr/>
        </p:nvSpPr>
        <p:spPr>
          <a:xfrm>
            <a:off x="695400" y="3644116"/>
            <a:ext cx="11233248" cy="1446550"/>
          </a:xfrm>
          <a:prstGeom prst="rect">
            <a:avLst/>
          </a:prstGeom>
        </p:spPr>
        <p:txBody>
          <a:bodyPr wrap="square">
            <a:spAutoFit/>
          </a:bodyPr>
          <a:lstStyle/>
          <a:p>
            <a:pPr algn="just">
              <a:lnSpc>
                <a:spcPct val="110000"/>
              </a:lnSpc>
              <a:defRPr/>
            </a:pPr>
            <a:r>
              <a:rPr lang="zh-CN" altLang="en-US" sz="2800" i="0" dirty="0">
                <a:solidFill>
                  <a:schemeClr val="tx1"/>
                </a:solidFill>
                <a:latin typeface="微软雅黑" panose="020B0503020204020204" pitchFamily="34" charset="-122"/>
                <a:ea typeface="微软雅黑" panose="020B0503020204020204" pitchFamily="34" charset="-122"/>
              </a:rPr>
              <a:t>作为梁设计的主要依据。因此应使</a:t>
            </a:r>
            <a:r>
              <a:rPr lang="en-US" altLang="zh-CN" sz="2800" b="0" dirty="0" err="1">
                <a:solidFill>
                  <a:schemeClr val="tx1"/>
                </a:solidFill>
                <a:latin typeface="+mn-lt"/>
                <a:ea typeface="微软雅黑" panose="020B0503020204020204" pitchFamily="34" charset="-122"/>
              </a:rPr>
              <a:t>M</a:t>
            </a:r>
            <a:r>
              <a:rPr lang="en-US" altLang="zh-CN" sz="2800" b="0" i="0" baseline="-25000" dirty="0" err="1">
                <a:solidFill>
                  <a:schemeClr val="tx1"/>
                </a:solidFill>
                <a:latin typeface="+mn-lt"/>
                <a:ea typeface="微软雅黑" panose="020B0503020204020204" pitchFamily="34" charset="-122"/>
              </a:rPr>
              <a:t>max</a:t>
            </a:r>
            <a:r>
              <a:rPr lang="zh-CN" altLang="en-US" sz="2800" i="0" dirty="0">
                <a:solidFill>
                  <a:schemeClr val="tx1"/>
                </a:solidFill>
                <a:latin typeface="微软雅黑" panose="020B0503020204020204" pitchFamily="34" charset="-122"/>
                <a:ea typeface="微软雅黑" panose="020B0503020204020204" pitchFamily="34" charset="-122"/>
              </a:rPr>
              <a:t>尽可能地小，使</a:t>
            </a:r>
            <a:r>
              <a:rPr lang="en-US" altLang="zh-CN" sz="2800" b="0" dirty="0" err="1">
                <a:solidFill>
                  <a:schemeClr val="tx1"/>
                </a:solidFill>
                <a:latin typeface="+mn-lt"/>
                <a:ea typeface="微软雅黑" panose="020B0503020204020204" pitchFamily="34" charset="-122"/>
              </a:rPr>
              <a:t>W</a:t>
            </a:r>
            <a:r>
              <a:rPr lang="en-US" altLang="zh-CN" sz="2800" b="0" baseline="-25000" dirty="0" err="1">
                <a:solidFill>
                  <a:schemeClr val="tx1"/>
                </a:solidFill>
                <a:latin typeface="+mn-lt"/>
                <a:ea typeface="微软雅黑" panose="020B0503020204020204" pitchFamily="34" charset="-122"/>
              </a:rPr>
              <a:t>z</a:t>
            </a:r>
            <a:r>
              <a:rPr lang="zh-CN" altLang="en-US" sz="2800" i="0" dirty="0">
                <a:solidFill>
                  <a:schemeClr val="tx1"/>
                </a:solidFill>
                <a:latin typeface="微软雅黑" panose="020B0503020204020204" pitchFamily="34" charset="-122"/>
                <a:ea typeface="微软雅黑" panose="020B0503020204020204" pitchFamily="34" charset="-122"/>
              </a:rPr>
              <a:t>尽可能地大。</a:t>
            </a:r>
          </a:p>
          <a:p>
            <a:pPr lvl="0" algn="just">
              <a:lnSpc>
                <a:spcPct val="110000"/>
              </a:lnSpc>
              <a:defRPr/>
            </a:pPr>
            <a:endParaRPr kumimoji="1" lang="zh-CN" altLang="en-US" sz="2800" i="0" dirty="0">
              <a:solidFill>
                <a:schemeClr val="tx1"/>
              </a:solidFill>
              <a:latin typeface="微软雅黑" panose="020B0503020204020204" pitchFamily="34" charset="-122"/>
              <a:ea typeface="微软雅黑" panose="020B0503020204020204" pitchFamily="34" charset="-122"/>
            </a:endParaRPr>
          </a:p>
          <a:p>
            <a:pPr lvl="0" algn="just">
              <a:lnSpc>
                <a:spcPct val="110000"/>
              </a:lnSpc>
            </a:pPr>
            <a:endParaRPr kumimoji="1" lang="en-US" altLang="zh-CN" i="0" dirty="0">
              <a:solidFill>
                <a:schemeClr val="tx1"/>
              </a:solidFill>
              <a:latin typeface="+mn-lt"/>
              <a:ea typeface="黑体" panose="02010609060101010101" pitchFamily="49" charset="-122"/>
            </a:endParaRPr>
          </a:p>
        </p:txBody>
      </p:sp>
      <p:sp>
        <p:nvSpPr>
          <p:cNvPr id="8" name="Rectangle 2"/>
          <p:cNvSpPr>
            <a:spLocks noChangeArrowheads="1"/>
          </p:cNvSpPr>
          <p:nvPr/>
        </p:nvSpPr>
        <p:spPr bwMode="auto">
          <a:xfrm>
            <a:off x="164442" y="928670"/>
            <a:ext cx="9747982"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§10-4  </a:t>
            </a:r>
            <a:r>
              <a:rPr lang="zh-CN" altLang="en-US" sz="3000" i="0" dirty="0">
                <a:solidFill>
                  <a:schemeClr val="accent6">
                    <a:lumMod val="75000"/>
                  </a:schemeClr>
                </a:solidFill>
                <a:latin typeface="+mn-lt"/>
                <a:ea typeface="微软雅黑" panose="020B0503020204020204" pitchFamily="34" charset="-122"/>
              </a:rPr>
              <a:t>提高弯曲强度的措施</a:t>
            </a:r>
          </a:p>
          <a:p>
            <a:pPr>
              <a:spcBef>
                <a:spcPct val="50000"/>
              </a:spcBef>
            </a:pPr>
            <a:endParaRPr lang="zh-CN" altLang="en-US" sz="3000" i="0" dirty="0">
              <a:solidFill>
                <a:schemeClr val="accent6">
                  <a:lumMod val="75000"/>
                </a:schemeClr>
              </a:solidFill>
              <a:latin typeface="+mn-lt"/>
              <a:ea typeface="微软雅黑" panose="020B0503020204020204" pitchFamily="34" charset="-122"/>
            </a:endParaRPr>
          </a:p>
        </p:txBody>
      </p:sp>
    </p:spTree>
    <p:extLst>
      <p:ext uri="{BB962C8B-B14F-4D97-AF65-F5344CB8AC3E}">
        <p14:creationId xmlns:p14="http://schemas.microsoft.com/office/powerpoint/2010/main" val="27834935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fill="hold"/>
                                        <p:tgtEl>
                                          <p:spTgt spid="10"/>
                                        </p:tgtEl>
                                        <p:attrNameLst>
                                          <p:attrName>ppt_y</p:attrName>
                                        </p:attrNameLst>
                                      </p:cBhvr>
                                      <p:tavLst>
                                        <p:tav tm="0">
                                          <p:val>
                                            <p:strVal val="#ppt_y+#ppt_h/2"/>
                                          </p:val>
                                        </p:tav>
                                        <p:tav tm="100000">
                                          <p:val>
                                            <p:strVal val="#ppt_y"/>
                                          </p:val>
                                        </p:tav>
                                      </p:tavLst>
                                    </p:anim>
                                    <p:anim calcmode="lin" valueType="num">
                                      <p:cBhvr>
                                        <p:cTn id="13" dur="500" fill="hold"/>
                                        <p:tgtEl>
                                          <p:spTgt spid="10"/>
                                        </p:tgtEl>
                                        <p:attrNameLst>
                                          <p:attrName>ppt_w</p:attrName>
                                        </p:attrNameLst>
                                      </p:cBhvr>
                                      <p:tavLst>
                                        <p:tav tm="0">
                                          <p:val>
                                            <p:strVal val="#ppt_w"/>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Text Box 1032"/>
          <p:cNvSpPr txBox="1">
            <a:spLocks noChangeArrowheads="1"/>
          </p:cNvSpPr>
          <p:nvPr/>
        </p:nvSpPr>
        <p:spPr bwMode="auto">
          <a:xfrm>
            <a:off x="636115" y="800708"/>
            <a:ext cx="10716469"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．合理安排梁的受力情况</a:t>
            </a: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1398372"/>
            <a:ext cx="11076508" cy="4820782"/>
          </a:xfrm>
          <a:prstGeom prst="rect">
            <a:avLst/>
          </a:prstGeom>
          <a:solidFill>
            <a:srgbClr val="B9CDE5"/>
          </a:solidFill>
          <a:ln>
            <a:noFill/>
          </a:ln>
          <a:effectLst/>
        </p:spPr>
        <p:txBody>
          <a:bodyPr wrap="none" anchor="ctr"/>
          <a:lstStyle/>
          <a:p>
            <a:endParaRPr lang="zh-CN" altLang="en-US"/>
          </a:p>
        </p:txBody>
      </p:sp>
      <p:pic>
        <p:nvPicPr>
          <p:cNvPr id="4" name="图片 3"/>
          <p:cNvPicPr>
            <a:picLocks noChangeAspect="1"/>
          </p:cNvPicPr>
          <p:nvPr/>
        </p:nvPicPr>
        <p:blipFill>
          <a:blip r:embed="rId3"/>
          <a:stretch>
            <a:fillRect/>
          </a:stretch>
        </p:blipFill>
        <p:spPr>
          <a:xfrm>
            <a:off x="2423592" y="1522612"/>
            <a:ext cx="7286557" cy="4606010"/>
          </a:xfrm>
          <a:prstGeom prst="rect">
            <a:avLst/>
          </a:prstGeom>
        </p:spPr>
      </p:pic>
    </p:spTree>
    <p:extLst>
      <p:ext uri="{BB962C8B-B14F-4D97-AF65-F5344CB8AC3E}">
        <p14:creationId xmlns:p14="http://schemas.microsoft.com/office/powerpoint/2010/main" val="427762884"/>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1124744"/>
            <a:ext cx="11076508" cy="5094410"/>
          </a:xfrm>
          <a:prstGeom prst="rect">
            <a:avLst/>
          </a:prstGeom>
          <a:solidFill>
            <a:srgbClr val="B9CDE5"/>
          </a:solidFill>
          <a:ln>
            <a:noFill/>
          </a:ln>
          <a:effectLst/>
        </p:spPr>
        <p:txBody>
          <a:bodyPr wrap="none" anchor="ctr"/>
          <a:lstStyle/>
          <a:p>
            <a:endParaRPr lang="zh-CN" altLang="en-US"/>
          </a:p>
        </p:txBody>
      </p:sp>
      <p:pic>
        <p:nvPicPr>
          <p:cNvPr id="2" name="图片 1"/>
          <p:cNvPicPr>
            <a:picLocks noChangeAspect="1"/>
          </p:cNvPicPr>
          <p:nvPr/>
        </p:nvPicPr>
        <p:blipFill>
          <a:blip r:embed="rId3"/>
          <a:stretch>
            <a:fillRect/>
          </a:stretch>
        </p:blipFill>
        <p:spPr>
          <a:xfrm>
            <a:off x="2027548" y="1172651"/>
            <a:ext cx="7748915" cy="4998596"/>
          </a:xfrm>
          <a:prstGeom prst="rect">
            <a:avLst/>
          </a:prstGeom>
        </p:spPr>
      </p:pic>
    </p:spTree>
    <p:extLst>
      <p:ext uri="{BB962C8B-B14F-4D97-AF65-F5344CB8AC3E}">
        <p14:creationId xmlns:p14="http://schemas.microsoft.com/office/powerpoint/2010/main" val="3974969768"/>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Text Box 1032"/>
          <p:cNvSpPr txBox="1">
            <a:spLocks noChangeArrowheads="1"/>
          </p:cNvSpPr>
          <p:nvPr/>
        </p:nvSpPr>
        <p:spPr bwMode="auto">
          <a:xfrm>
            <a:off x="636115" y="800708"/>
            <a:ext cx="10716469" cy="59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．合理设计梁的截面</a:t>
            </a: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2208063"/>
            <a:ext cx="11076508" cy="3798266"/>
          </a:xfrm>
          <a:prstGeom prst="rect">
            <a:avLst/>
          </a:prstGeom>
          <a:solidFill>
            <a:srgbClr val="B9CDE5"/>
          </a:solidFill>
          <a:ln>
            <a:noFill/>
          </a:ln>
          <a:effectLst/>
        </p:spPr>
        <p:txBody>
          <a:bodyPr wrap="none" anchor="ctr"/>
          <a:lstStyle/>
          <a:p>
            <a:endParaRPr lang="zh-CN" altLang="en-US"/>
          </a:p>
        </p:txBody>
      </p:sp>
      <p:pic>
        <p:nvPicPr>
          <p:cNvPr id="2" name="图片 1"/>
          <p:cNvPicPr>
            <a:picLocks noChangeAspect="1"/>
          </p:cNvPicPr>
          <p:nvPr/>
        </p:nvPicPr>
        <p:blipFill>
          <a:blip r:embed="rId3"/>
          <a:stretch>
            <a:fillRect/>
          </a:stretch>
        </p:blipFill>
        <p:spPr>
          <a:xfrm>
            <a:off x="1595500" y="2928143"/>
            <a:ext cx="8431499" cy="2560542"/>
          </a:xfrm>
          <a:prstGeom prst="rect">
            <a:avLst/>
          </a:prstGeom>
        </p:spPr>
      </p:pic>
      <p:sp>
        <p:nvSpPr>
          <p:cNvPr id="8" name="矩形 7">
            <a:extLst>
              <a:ext uri="{FF2B5EF4-FFF2-40B4-BE49-F238E27FC236}">
                <a16:creationId xmlns:a16="http://schemas.microsoft.com/office/drawing/2014/main" id="{E8DB0D0A-8BE9-6ADA-6C58-96049487BA32}"/>
              </a:ext>
            </a:extLst>
          </p:cNvPr>
          <p:cNvSpPr/>
          <p:nvPr/>
        </p:nvSpPr>
        <p:spPr>
          <a:xfrm>
            <a:off x="695400" y="1527817"/>
            <a:ext cx="11233248" cy="566309"/>
          </a:xfrm>
          <a:prstGeom prst="rect">
            <a:avLst/>
          </a:prstGeom>
        </p:spPr>
        <p:txBody>
          <a:bodyPr wrap="square">
            <a:spAutoFit/>
          </a:bodyPr>
          <a:lstStyle/>
          <a:p>
            <a:pPr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rPr>
              <a:t>合理的截面形状应使截面积较小而抗弯截面系数较大。</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1243899732"/>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2208063"/>
            <a:ext cx="11076508" cy="3798266"/>
          </a:xfrm>
          <a:prstGeom prst="rect">
            <a:avLst/>
          </a:prstGeom>
          <a:solidFill>
            <a:srgbClr val="B9CDE5"/>
          </a:solidFill>
          <a:ln>
            <a:noFill/>
          </a:ln>
          <a:effectLst/>
        </p:spPr>
        <p:txBody>
          <a:bodyPr wrap="none" anchor="ctr"/>
          <a:lstStyle/>
          <a:p>
            <a:endParaRPr lang="zh-CN" altLang="en-US"/>
          </a:p>
        </p:txBody>
      </p:sp>
      <p:sp>
        <p:nvSpPr>
          <p:cNvPr id="8" name="矩形 7">
            <a:extLst>
              <a:ext uri="{FF2B5EF4-FFF2-40B4-BE49-F238E27FC236}">
                <a16:creationId xmlns:a16="http://schemas.microsoft.com/office/drawing/2014/main" id="{E8DB0D0A-8BE9-6ADA-6C58-96049487BA32}"/>
              </a:ext>
            </a:extLst>
          </p:cNvPr>
          <p:cNvSpPr/>
          <p:nvPr/>
        </p:nvSpPr>
        <p:spPr>
          <a:xfrm>
            <a:off x="695400" y="1023514"/>
            <a:ext cx="10333148" cy="1040285"/>
          </a:xfrm>
          <a:prstGeom prst="rect">
            <a:avLst/>
          </a:prstGeom>
        </p:spPr>
        <p:txBody>
          <a:bodyPr wrap="square">
            <a:spAutoFit/>
          </a:bodyPr>
          <a:lstStyle/>
          <a:p>
            <a:pPr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rPr>
              <a:t>尽可能使横截面上的面积分布在距中性轴较远处，以使抗弯截面系数</a:t>
            </a:r>
            <a:r>
              <a:rPr lang="en-US" altLang="zh-CN" sz="2800" b="0" dirty="0" err="1">
                <a:solidFill>
                  <a:schemeClr val="tx1"/>
                </a:solidFill>
                <a:ea typeface="微软雅黑" panose="020B0503020204020204" pitchFamily="34" charset="-122"/>
              </a:rPr>
              <a:t>W</a:t>
            </a:r>
            <a:r>
              <a:rPr lang="en-US" altLang="zh-CN" sz="2800" b="0" baseline="-25000" dirty="0" err="1">
                <a:solidFill>
                  <a:schemeClr val="tx1"/>
                </a:solidFill>
                <a:ea typeface="微软雅黑" panose="020B0503020204020204" pitchFamily="34" charset="-122"/>
              </a:rPr>
              <a:t>z</a:t>
            </a:r>
            <a:r>
              <a:rPr kumimoji="1" lang="zh-CN" altLang="en-US" sz="2800" i="0" dirty="0">
                <a:solidFill>
                  <a:schemeClr val="tx1"/>
                </a:solidFill>
                <a:latin typeface="微软雅黑" panose="020B0503020204020204" pitchFamily="34" charset="-122"/>
                <a:ea typeface="微软雅黑" panose="020B0503020204020204" pitchFamily="34" charset="-122"/>
              </a:rPr>
              <a:t>增大。</a:t>
            </a:r>
            <a:endParaRPr kumimoji="1" lang="en-US" altLang="zh-CN" i="0" dirty="0">
              <a:solidFill>
                <a:schemeClr val="tx1"/>
              </a:solidFill>
              <a:latin typeface="+mn-lt"/>
              <a:ea typeface="黑体" panose="02010609060101010101" pitchFamily="49" charset="-122"/>
            </a:endParaRPr>
          </a:p>
        </p:txBody>
      </p:sp>
      <p:graphicFrame>
        <p:nvGraphicFramePr>
          <p:cNvPr id="9" name="Object 3"/>
          <p:cNvGraphicFramePr>
            <a:graphicFrameLocks noChangeAspect="1"/>
          </p:cNvGraphicFramePr>
          <p:nvPr>
            <p:extLst>
              <p:ext uri="{D42A27DB-BD31-4B8C-83A1-F6EECF244321}">
                <p14:modId xmlns:p14="http://schemas.microsoft.com/office/powerpoint/2010/main" val="2762999060"/>
              </p:ext>
            </p:extLst>
          </p:nvPr>
        </p:nvGraphicFramePr>
        <p:xfrm>
          <a:off x="6083164" y="3238500"/>
          <a:ext cx="177800" cy="381000"/>
        </p:xfrm>
        <a:graphic>
          <a:graphicData uri="http://schemas.openxmlformats.org/presentationml/2006/ole">
            <mc:AlternateContent xmlns:mc="http://schemas.openxmlformats.org/markup-compatibility/2006">
              <mc:Choice xmlns:v="urn:schemas-microsoft-com:vml" Requires="v">
                <p:oleObj spid="_x0000_s25619" name="Equation" r:id="rId4" imgW="177480" imgH="380880" progId="Equation.3">
                  <p:embed/>
                </p:oleObj>
              </mc:Choice>
              <mc:Fallback>
                <p:oleObj name="Equation" r:id="rId4" imgW="177480" imgH="380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3164" y="3238500"/>
                        <a:ext cx="177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 name="Picture 4" descr="未命名"/>
          <p:cNvPicPr>
            <a:picLocks noChangeAspect="1" noChangeArrowheads="1"/>
          </p:cNvPicPr>
          <p:nvPr/>
        </p:nvPicPr>
        <p:blipFill>
          <a:blip r:embed="rId6">
            <a:clrChange>
              <a:clrFrom>
                <a:srgbClr val="FFFFFF"/>
              </a:clrFrom>
              <a:clrTo>
                <a:srgbClr val="FFFFFF">
                  <a:alpha val="0"/>
                </a:srgbClr>
              </a:clrTo>
            </a:clrChange>
            <a:grayscl/>
            <a:extLst>
              <a:ext uri="{28A0092B-C50C-407E-A947-70E740481C1C}">
                <a14:useLocalDpi xmlns:a14="http://schemas.microsoft.com/office/drawing/2010/main" val="0"/>
              </a:ext>
            </a:extLst>
          </a:blip>
          <a:srcRect/>
          <a:stretch>
            <a:fillRect/>
          </a:stretch>
        </p:blipFill>
        <p:spPr bwMode="auto">
          <a:xfrm>
            <a:off x="2171564" y="3073400"/>
            <a:ext cx="7804150"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箭头连接符 5"/>
          <p:cNvCxnSpPr>
            <a:cxnSpLocks noChangeShapeType="1"/>
          </p:cNvCxnSpPr>
          <p:nvPr/>
        </p:nvCxnSpPr>
        <p:spPr bwMode="auto">
          <a:xfrm>
            <a:off x="1727064" y="3917950"/>
            <a:ext cx="8578850" cy="1588"/>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62719325"/>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1088740"/>
            <a:ext cx="11076508" cy="4917589"/>
          </a:xfrm>
          <a:prstGeom prst="rect">
            <a:avLst/>
          </a:prstGeom>
          <a:solidFill>
            <a:srgbClr val="B9CDE5"/>
          </a:solidFill>
          <a:ln>
            <a:noFill/>
          </a:ln>
          <a:effectLst/>
        </p:spPr>
        <p:txBody>
          <a:bodyPr wrap="none" anchor="ctr"/>
          <a:lstStyle/>
          <a:p>
            <a:endParaRPr lang="zh-CN" altLang="en-US"/>
          </a:p>
        </p:txBody>
      </p:sp>
      <p:pic>
        <p:nvPicPr>
          <p:cNvPr id="12"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63552" y="1772816"/>
            <a:ext cx="769620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5"/>
          <p:cNvGraphicFramePr>
            <a:graphicFrameLocks noChangeAspect="1"/>
          </p:cNvGraphicFramePr>
          <p:nvPr>
            <p:extLst>
              <p:ext uri="{D42A27DB-BD31-4B8C-83A1-F6EECF244321}">
                <p14:modId xmlns:p14="http://schemas.microsoft.com/office/powerpoint/2010/main" val="1184447474"/>
              </p:ext>
            </p:extLst>
          </p:nvPr>
        </p:nvGraphicFramePr>
        <p:xfrm>
          <a:off x="6591102" y="1815678"/>
          <a:ext cx="517525" cy="646113"/>
        </p:xfrm>
        <a:graphic>
          <a:graphicData uri="http://schemas.openxmlformats.org/presentationml/2006/ole">
            <mc:AlternateContent xmlns:mc="http://schemas.openxmlformats.org/markup-compatibility/2006">
              <mc:Choice xmlns:v="urn:schemas-microsoft-com:vml" Requires="v">
                <p:oleObj spid="_x0000_s26728" name="Equation" r:id="rId5" imgW="164880" imgH="203040" progId="Equation.2">
                  <p:embed/>
                </p:oleObj>
              </mc:Choice>
              <mc:Fallback>
                <p:oleObj name="Equation" r:id="rId5" imgW="164880" imgH="203040" progId="Equation.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1102" y="1815678"/>
                        <a:ext cx="517525"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6"/>
          <p:cNvGraphicFramePr>
            <a:graphicFrameLocks noChangeAspect="1"/>
          </p:cNvGraphicFramePr>
          <p:nvPr>
            <p:extLst>
              <p:ext uri="{D42A27DB-BD31-4B8C-83A1-F6EECF244321}">
                <p14:modId xmlns:p14="http://schemas.microsoft.com/office/powerpoint/2010/main" val="1157981389"/>
              </p:ext>
            </p:extLst>
          </p:nvPr>
        </p:nvGraphicFramePr>
        <p:xfrm>
          <a:off x="5656065" y="1266403"/>
          <a:ext cx="477837" cy="482600"/>
        </p:xfrm>
        <a:graphic>
          <a:graphicData uri="http://schemas.openxmlformats.org/presentationml/2006/ole">
            <mc:AlternateContent xmlns:mc="http://schemas.openxmlformats.org/markup-compatibility/2006">
              <mc:Choice xmlns:v="urn:schemas-microsoft-com:vml" Requires="v">
                <p:oleObj spid="_x0000_s26729" name="Equation" r:id="rId7" imgW="152280" imgH="152280" progId="Equation.2">
                  <p:embed/>
                </p:oleObj>
              </mc:Choice>
              <mc:Fallback>
                <p:oleObj name="Equation" r:id="rId7" imgW="152280" imgH="152280" progId="Equation.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6065" y="1266403"/>
                        <a:ext cx="477837"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7"/>
          <p:cNvGraphicFramePr>
            <a:graphicFrameLocks noChangeAspect="1"/>
          </p:cNvGraphicFramePr>
          <p:nvPr>
            <p:extLst>
              <p:ext uri="{D42A27DB-BD31-4B8C-83A1-F6EECF244321}">
                <p14:modId xmlns:p14="http://schemas.microsoft.com/office/powerpoint/2010/main" val="1840138212"/>
              </p:ext>
            </p:extLst>
          </p:nvPr>
        </p:nvGraphicFramePr>
        <p:xfrm>
          <a:off x="9443840" y="2403053"/>
          <a:ext cx="357187" cy="401638"/>
        </p:xfrm>
        <a:graphic>
          <a:graphicData uri="http://schemas.openxmlformats.org/presentationml/2006/ole">
            <mc:AlternateContent xmlns:mc="http://schemas.openxmlformats.org/markup-compatibility/2006">
              <mc:Choice xmlns:v="urn:schemas-microsoft-com:vml" Requires="v">
                <p:oleObj spid="_x0000_s26730" name="Equation" r:id="rId9" imgW="114120" imgH="126720" progId="Equation.2">
                  <p:embed/>
                </p:oleObj>
              </mc:Choice>
              <mc:Fallback>
                <p:oleObj name="Equation" r:id="rId9" imgW="114120" imgH="126720" progId="Equation.2">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43840" y="2403053"/>
                        <a:ext cx="357187"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8"/>
          <p:cNvGraphicFramePr>
            <a:graphicFrameLocks noChangeAspect="1"/>
          </p:cNvGraphicFramePr>
          <p:nvPr>
            <p:extLst>
              <p:ext uri="{D42A27DB-BD31-4B8C-83A1-F6EECF244321}">
                <p14:modId xmlns:p14="http://schemas.microsoft.com/office/powerpoint/2010/main" val="3859902199"/>
              </p:ext>
            </p:extLst>
          </p:nvPr>
        </p:nvGraphicFramePr>
        <p:xfrm>
          <a:off x="6564115" y="2790403"/>
          <a:ext cx="603250" cy="646113"/>
        </p:xfrm>
        <a:graphic>
          <a:graphicData uri="http://schemas.openxmlformats.org/presentationml/2006/ole">
            <mc:AlternateContent xmlns:mc="http://schemas.openxmlformats.org/markup-compatibility/2006">
              <mc:Choice xmlns:v="urn:schemas-microsoft-com:vml" Requires="v">
                <p:oleObj spid="_x0000_s26731" name="Equation" r:id="rId11" imgW="190440" imgH="203040" progId="Equation.2">
                  <p:embed/>
                </p:oleObj>
              </mc:Choice>
              <mc:Fallback>
                <p:oleObj name="Equation" r:id="rId11" imgW="190440" imgH="203040" progId="Equation.2">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64115" y="2790403"/>
                        <a:ext cx="60325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9"/>
          <p:cNvGraphicFramePr>
            <a:graphicFrameLocks noChangeAspect="1"/>
          </p:cNvGraphicFramePr>
          <p:nvPr>
            <p:extLst>
              <p:ext uri="{D42A27DB-BD31-4B8C-83A1-F6EECF244321}">
                <p14:modId xmlns:p14="http://schemas.microsoft.com/office/powerpoint/2010/main" val="2643628060"/>
              </p:ext>
            </p:extLst>
          </p:nvPr>
        </p:nvGraphicFramePr>
        <p:xfrm>
          <a:off x="8267502" y="2598316"/>
          <a:ext cx="341313" cy="344487"/>
        </p:xfrm>
        <a:graphic>
          <a:graphicData uri="http://schemas.openxmlformats.org/presentationml/2006/ole">
            <mc:AlternateContent xmlns:mc="http://schemas.openxmlformats.org/markup-compatibility/2006">
              <mc:Choice xmlns:v="urn:schemas-microsoft-com:vml" Requires="v">
                <p:oleObj spid="_x0000_s26732" name="Equation" r:id="rId13" imgW="152280" imgH="152280" progId="Equation.2">
                  <p:embed/>
                </p:oleObj>
              </mc:Choice>
              <mc:Fallback>
                <p:oleObj name="Equation" r:id="rId13" imgW="152280" imgH="152280" progId="Equation.2">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67502" y="2598316"/>
                        <a:ext cx="341313"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2"/>
          <p:cNvGraphicFramePr>
            <a:graphicFrameLocks noChangeAspect="1"/>
          </p:cNvGraphicFramePr>
          <p:nvPr>
            <p:extLst>
              <p:ext uri="{D42A27DB-BD31-4B8C-83A1-F6EECF244321}">
                <p14:modId xmlns:p14="http://schemas.microsoft.com/office/powerpoint/2010/main" val="1254122710"/>
              </p:ext>
            </p:extLst>
          </p:nvPr>
        </p:nvGraphicFramePr>
        <p:xfrm>
          <a:off x="2963652" y="4589850"/>
          <a:ext cx="1884573" cy="1290250"/>
        </p:xfrm>
        <a:graphic>
          <a:graphicData uri="http://schemas.openxmlformats.org/presentationml/2006/ole">
            <mc:AlternateContent xmlns:mc="http://schemas.openxmlformats.org/markup-compatibility/2006">
              <mc:Choice xmlns:v="urn:schemas-microsoft-com:vml" Requires="v">
                <p:oleObj spid="_x0000_s26733" name="Equation" r:id="rId15" imgW="647640" imgH="444240" progId="Equation.DSMT4">
                  <p:embed/>
                </p:oleObj>
              </mc:Choice>
              <mc:Fallback>
                <p:oleObj name="Equation" r:id="rId15" imgW="647640" imgH="444240" progId="Equation.DSMT4">
                  <p:embed/>
                  <p:pic>
                    <p:nvPicPr>
                      <p:cNvPr id="0" name=""/>
                      <p:cNvPicPr>
                        <a:picLocks noChangeAspect="1" noChangeArrowheads="1"/>
                      </p:cNvPicPr>
                      <p:nvPr/>
                    </p:nvPicPr>
                    <p:blipFill>
                      <a:blip r:embed="rId16"/>
                      <a:srcRect/>
                      <a:stretch>
                        <a:fillRect/>
                      </a:stretch>
                    </p:blipFill>
                    <p:spPr bwMode="auto">
                      <a:xfrm>
                        <a:off x="2963652" y="4589850"/>
                        <a:ext cx="1884573" cy="12902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8952999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2208063"/>
            <a:ext cx="11076508" cy="3798266"/>
          </a:xfrm>
          <a:prstGeom prst="rect">
            <a:avLst/>
          </a:prstGeom>
          <a:solidFill>
            <a:srgbClr val="B9CDE5"/>
          </a:solidFill>
          <a:ln>
            <a:noFill/>
          </a:ln>
          <a:effectLst/>
        </p:spPr>
        <p:txBody>
          <a:bodyPr wrap="none" anchor="ctr"/>
          <a:lstStyle/>
          <a:p>
            <a:endParaRPr lang="zh-CN" altLang="en-US"/>
          </a:p>
        </p:txBody>
      </p:sp>
      <p:sp>
        <p:nvSpPr>
          <p:cNvPr id="8" name="矩形 7">
            <a:extLst>
              <a:ext uri="{FF2B5EF4-FFF2-40B4-BE49-F238E27FC236}">
                <a16:creationId xmlns:a16="http://schemas.microsoft.com/office/drawing/2014/main" id="{E8DB0D0A-8BE9-6ADA-6C58-96049487BA32}"/>
              </a:ext>
            </a:extLst>
          </p:cNvPr>
          <p:cNvSpPr/>
          <p:nvPr/>
        </p:nvSpPr>
        <p:spPr>
          <a:xfrm>
            <a:off x="695400" y="927169"/>
            <a:ext cx="9901100" cy="1005660"/>
          </a:xfrm>
          <a:prstGeom prst="rect">
            <a:avLst/>
          </a:prstGeom>
        </p:spPr>
        <p:txBody>
          <a:bodyPr wrap="square">
            <a:spAutoFit/>
          </a:bodyPr>
          <a:lstStyle/>
          <a:p>
            <a:pPr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rPr>
              <a:t>采用变截面梁：梁的各横截面上的最大正应力都等于材料的许用应力</a:t>
            </a:r>
            <a:r>
              <a:rPr kumimoji="1" lang="en-US" altLang="zh-CN" sz="2800" i="0" dirty="0">
                <a:solidFill>
                  <a:schemeClr val="tx1"/>
                </a:solidFill>
                <a:latin typeface="微软雅黑" panose="020B0503020204020204" pitchFamily="34" charset="-122"/>
                <a:ea typeface="微软雅黑" panose="020B0503020204020204" pitchFamily="34" charset="-122"/>
              </a:rPr>
              <a:t>[</a:t>
            </a:r>
            <a:r>
              <a:rPr kumimoji="1" lang="en-US" altLang="zh-CN" sz="280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kumimoji="1" lang="en-US" altLang="zh-CN" sz="2800" i="0" dirty="0">
                <a:solidFill>
                  <a:schemeClr val="tx1"/>
                </a:solidFill>
                <a:latin typeface="微软雅黑" panose="020B0503020204020204" pitchFamily="34" charset="-122"/>
                <a:ea typeface="微软雅黑" panose="020B0503020204020204" pitchFamily="34" charset="-122"/>
              </a:rPr>
              <a:t>]</a:t>
            </a:r>
            <a:r>
              <a:rPr kumimoji="1" lang="zh-CN" altLang="en-US" sz="2800" i="0" dirty="0">
                <a:solidFill>
                  <a:schemeClr val="tx1"/>
                </a:solidFill>
                <a:latin typeface="微软雅黑" panose="020B0503020204020204" pitchFamily="34" charset="-122"/>
                <a:ea typeface="微软雅黑" panose="020B0503020204020204" pitchFamily="34" charset="-122"/>
              </a:rPr>
              <a:t>时，称为</a:t>
            </a:r>
            <a:r>
              <a:rPr kumimoji="1" lang="zh-CN" altLang="en-US" sz="2800" i="0" dirty="0">
                <a:solidFill>
                  <a:srgbClr val="FF0000"/>
                </a:solidFill>
                <a:latin typeface="微软雅黑" panose="020B0503020204020204" pitchFamily="34" charset="-122"/>
                <a:ea typeface="微软雅黑" panose="020B0503020204020204" pitchFamily="34" charset="-122"/>
              </a:rPr>
              <a:t>等强度梁</a:t>
            </a:r>
            <a:r>
              <a:rPr kumimoji="1" lang="zh-CN" altLang="en-US" sz="2800" i="0" dirty="0">
                <a:solidFill>
                  <a:schemeClr val="tx1"/>
                </a:solidFill>
                <a:latin typeface="微软雅黑" panose="020B0503020204020204" pitchFamily="34" charset="-122"/>
                <a:ea typeface="微软雅黑" panose="020B0503020204020204" pitchFamily="34" charset="-122"/>
              </a:rPr>
              <a:t>。</a:t>
            </a:r>
            <a:endParaRPr kumimoji="1" lang="en-US" altLang="zh-CN" i="0" dirty="0">
              <a:solidFill>
                <a:schemeClr val="tx1"/>
              </a:solidFill>
              <a:latin typeface="+mn-lt"/>
              <a:ea typeface="黑体" panose="02010609060101010101" pitchFamily="49" charset="-122"/>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683694464"/>
              </p:ext>
            </p:extLst>
          </p:nvPr>
        </p:nvGraphicFramePr>
        <p:xfrm>
          <a:off x="5843972" y="2384884"/>
          <a:ext cx="4064000" cy="3492500"/>
        </p:xfrm>
        <a:graphic>
          <a:graphicData uri="http://schemas.openxmlformats.org/presentationml/2006/ole">
            <mc:AlternateContent xmlns:mc="http://schemas.openxmlformats.org/markup-compatibility/2006">
              <mc:Choice xmlns:v="urn:schemas-microsoft-com:vml" Requires="v">
                <p:oleObj spid="_x0000_s27667" name="Image" r:id="rId4" imgW="18438095" imgH="15847619" progId="Photoshop.Image.6">
                  <p:embed/>
                </p:oleObj>
              </mc:Choice>
              <mc:Fallback>
                <p:oleObj name="Image" r:id="rId4" imgW="18438095" imgH="15847619" progId="Photoshop.Image.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6111" t="7126" r="4030"/>
                      <a:stretch>
                        <a:fillRect/>
                      </a:stretch>
                    </p:blipFill>
                    <p:spPr bwMode="auto">
                      <a:xfrm>
                        <a:off x="5843972" y="2384884"/>
                        <a:ext cx="4064000" cy="349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 name="Picture 10" descr="等强梁4"/>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87544" y="4230378"/>
            <a:ext cx="3021012" cy="128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等强梁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32069" y="2888940"/>
            <a:ext cx="241935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838041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5"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36116" y="1160748"/>
            <a:ext cx="11076508" cy="4845581"/>
          </a:xfrm>
          <a:prstGeom prst="rect">
            <a:avLst/>
          </a:prstGeom>
          <a:solidFill>
            <a:srgbClr val="B9CDE5"/>
          </a:solidFill>
          <a:ln>
            <a:noFill/>
          </a:ln>
          <a:effectLst/>
        </p:spPr>
        <p:txBody>
          <a:bodyPr wrap="none" anchor="ctr"/>
          <a:lstStyle/>
          <a:p>
            <a:endParaRPr lang="zh-CN" altLang="en-US"/>
          </a:p>
        </p:txBody>
      </p:sp>
      <p:pic>
        <p:nvPicPr>
          <p:cNvPr id="12" name="Picture 2" descr="等强梁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873" y="2836432"/>
            <a:ext cx="4016375"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 descr="等强梁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7049" y="1501058"/>
            <a:ext cx="4465638"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descr="等强梁0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0056" y="2831669"/>
            <a:ext cx="4005262" cy="288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436917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292" name="文本框 291">
            <a:extLst>
              <a:ext uri="{FF2B5EF4-FFF2-40B4-BE49-F238E27FC236}">
                <a16:creationId xmlns:a16="http://schemas.microsoft.com/office/drawing/2014/main" id="{AEE90528-CF03-8517-AE11-D5458C5219D5}"/>
              </a:ext>
            </a:extLst>
          </p:cNvPr>
          <p:cNvSpPr txBox="1"/>
          <p:nvPr/>
        </p:nvSpPr>
        <p:spPr>
          <a:xfrm>
            <a:off x="479376" y="908720"/>
            <a:ext cx="9505056" cy="1865126"/>
          </a:xfrm>
          <a:prstGeom prst="rect">
            <a:avLst/>
          </a:prstGeom>
          <a:noFill/>
        </p:spPr>
        <p:txBody>
          <a:bodyPr wrap="square">
            <a:spAutoFit/>
          </a:bodyPr>
          <a:lstStyle/>
          <a:p>
            <a:pPr>
              <a:lnSpc>
                <a:spcPct val="120000"/>
              </a:lnSpc>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solidFill>
                  <a:schemeClr val="tx1"/>
                </a:solidFill>
                <a:latin typeface="+mn-lt"/>
                <a:ea typeface="微软雅黑" panose="020B0503020204020204" pitchFamily="34" charset="-122"/>
              </a:rPr>
              <a:t>10-1(a)</a:t>
            </a:r>
            <a:r>
              <a:rPr lang="zh-CN" altLang="en-US" i="0" dirty="0">
                <a:solidFill>
                  <a:schemeClr val="tx1"/>
                </a:solidFill>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ea typeface="微软雅黑" panose="020B0503020204020204" pitchFamily="34" charset="-122"/>
              </a:rPr>
              <a:t>10-1(d)</a:t>
            </a:r>
            <a:r>
              <a:rPr lang="en-US" altLang="zh-CN" i="0" dirty="0">
                <a:solidFill>
                  <a:schemeClr val="tx1"/>
                </a:solidFill>
                <a:latin typeface="+mn-lt"/>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ea typeface="微软雅黑" panose="020B0503020204020204" pitchFamily="34" charset="-122"/>
              </a:rPr>
              <a:t>10-2(b)</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10-2(c) </a:t>
            </a:r>
            <a:r>
              <a:rPr lang="zh-CN" altLang="en-US" i="0" dirty="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10-2(d)</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10-2(e) </a:t>
            </a:r>
            <a:r>
              <a:rPr lang="zh-CN" altLang="en-US" i="0" dirty="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10-8</a:t>
            </a:r>
            <a:r>
              <a:rPr lang="zh-CN" altLang="en-US" i="0" dirty="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10-10 </a:t>
            </a:r>
            <a:r>
              <a:rPr lang="zh-CN" altLang="en-US" i="0" dirty="0" smtClean="0">
                <a:solidFill>
                  <a:schemeClr val="tx1"/>
                </a:solidFill>
                <a:ea typeface="微软雅黑" panose="020B0503020204020204" pitchFamily="34" charset="-122"/>
              </a:rPr>
              <a:t>（分布荷载单位少了个</a:t>
            </a:r>
            <a:r>
              <a:rPr lang="en-US" altLang="zh-CN" i="0">
                <a:solidFill>
                  <a:schemeClr val="tx1"/>
                </a:solidFill>
                <a:ea typeface="微软雅黑" panose="020B0503020204020204" pitchFamily="34" charset="-122"/>
              </a:rPr>
              <a:t>k</a:t>
            </a:r>
            <a:r>
              <a:rPr lang="zh-CN" altLang="en-US" i="0" smtClean="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10-14</a:t>
            </a:r>
            <a:endParaRPr lang="zh-CN" altLang="en-US" i="0" dirty="0">
              <a:solidFill>
                <a:schemeClr val="tx1"/>
              </a:solidFill>
              <a:ea typeface="黑体" panose="02010609060101010101" pitchFamily="49" charset="-122"/>
            </a:endParaRPr>
          </a:p>
          <a:p>
            <a:pPr>
              <a:lnSpc>
                <a:spcPct val="120000"/>
              </a:lnSpc>
            </a:pPr>
            <a:endParaRPr lang="zh-CN" altLang="en-US" i="0" dirty="0">
              <a:solidFill>
                <a:schemeClr val="tx1"/>
              </a:solidFill>
              <a:ea typeface="黑体" panose="02010609060101010101" pitchFamily="49" charset="-122"/>
            </a:endParaRPr>
          </a:p>
          <a:p>
            <a:pPr>
              <a:lnSpc>
                <a:spcPct val="120000"/>
              </a:lnSpc>
            </a:pPr>
            <a:endParaRPr lang="zh-CN" altLang="en-US"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4293541799"/>
      </p:ext>
    </p:extLst>
  </p:cSld>
  <p:clrMapOvr>
    <a:masterClrMapping/>
  </p:clrMapOvr>
  <p:transition spd="slow"/>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19225</TotalTime>
  <Words>6802</Words>
  <Application>Microsoft Office PowerPoint</Application>
  <PresentationFormat>宽屏</PresentationFormat>
  <Paragraphs>1312</Paragraphs>
  <Slides>73</Slides>
  <Notes>73</Notes>
  <HiddenSlides>0</HiddenSlides>
  <MMClips>2</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3</vt:i4>
      </vt:variant>
      <vt:variant>
        <vt:lpstr>幻灯片标题</vt:lpstr>
      </vt:variant>
      <vt:variant>
        <vt:i4>73</vt:i4>
      </vt:variant>
    </vt:vector>
  </HeadingPairs>
  <TitlesOfParts>
    <vt:vector size="94" baseType="lpstr">
      <vt:lpstr>Monotype Sorts</vt:lpstr>
      <vt:lpstr>黑体</vt:lpstr>
      <vt:lpstr>华文彩云</vt:lpstr>
      <vt:lpstr>华文琥珀</vt:lpstr>
      <vt:lpstr>楷体_GB2312</vt:lpstr>
      <vt:lpstr>宋体</vt:lpstr>
      <vt:lpstr>微软雅黑</vt:lpstr>
      <vt:lpstr>Arial</vt:lpstr>
      <vt:lpstr>Calibri</vt:lpstr>
      <vt:lpstr>Courier New</vt:lpstr>
      <vt:lpstr>Monotype Corsiva</vt:lpstr>
      <vt:lpstr>Symbol</vt:lpstr>
      <vt:lpstr>Times</vt:lpstr>
      <vt:lpstr>Times New Roman</vt:lpstr>
      <vt:lpstr>Wingdings</vt:lpstr>
      <vt:lpstr>1_Update 10-8-02</vt:lpstr>
      <vt:lpstr>自定义设计方案</vt:lpstr>
      <vt:lpstr>1_自定义设计方案</vt:lpstr>
      <vt:lpstr>公式</vt:lpstr>
      <vt:lpstr>Equation</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ZJ</cp:lastModifiedBy>
  <cp:revision>819</cp:revision>
  <dcterms:created xsi:type="dcterms:W3CDTF">2006-04-13T12:56:12Z</dcterms:created>
  <dcterms:modified xsi:type="dcterms:W3CDTF">2025-12-16T02:13:07Z</dcterms:modified>
</cp:coreProperties>
</file>