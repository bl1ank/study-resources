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33"/>
  </p:notesMasterIdLst>
  <p:sldIdLst>
    <p:sldId id="602" r:id="rId4"/>
    <p:sldId id="640" r:id="rId5"/>
    <p:sldId id="642" r:id="rId6"/>
    <p:sldId id="643" r:id="rId7"/>
    <p:sldId id="641" r:id="rId8"/>
    <p:sldId id="644" r:id="rId9"/>
    <p:sldId id="645" r:id="rId10"/>
    <p:sldId id="646" r:id="rId11"/>
    <p:sldId id="647" r:id="rId12"/>
    <p:sldId id="648" r:id="rId13"/>
    <p:sldId id="650" r:id="rId14"/>
    <p:sldId id="649" r:id="rId15"/>
    <p:sldId id="651" r:id="rId16"/>
    <p:sldId id="652" r:id="rId17"/>
    <p:sldId id="654" r:id="rId18"/>
    <p:sldId id="655" r:id="rId19"/>
    <p:sldId id="656" r:id="rId20"/>
    <p:sldId id="657" r:id="rId21"/>
    <p:sldId id="658" r:id="rId22"/>
    <p:sldId id="659" r:id="rId23"/>
    <p:sldId id="660" r:id="rId24"/>
    <p:sldId id="662" r:id="rId25"/>
    <p:sldId id="661" r:id="rId26"/>
    <p:sldId id="663" r:id="rId27"/>
    <p:sldId id="664" r:id="rId28"/>
    <p:sldId id="665" r:id="rId29"/>
    <p:sldId id="666" r:id="rId30"/>
    <p:sldId id="667" r:id="rId31"/>
    <p:sldId id="639" r:id="rId32"/>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993300"/>
    <a:srgbClr val="B9CDE5"/>
    <a:srgbClr val="4F81BD"/>
    <a:srgbClr val="E9EDF4"/>
    <a:srgbClr val="CC0066"/>
    <a:srgbClr val="339933"/>
    <a:srgbClr val="3366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06" autoAdjust="0"/>
    <p:restoredTop sz="87237" autoAdjust="0"/>
  </p:normalViewPr>
  <p:slideViewPr>
    <p:cSldViewPr>
      <p:cViewPr varScale="1">
        <p:scale>
          <a:sx n="88" d="100"/>
          <a:sy n="88" d="100"/>
        </p:scale>
        <p:origin x="432" y="6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a:p>
        </p:txBody>
      </p:sp>
    </p:spTree>
    <p:extLst>
      <p:ext uri="{BB962C8B-B14F-4D97-AF65-F5344CB8AC3E}">
        <p14:creationId xmlns:p14="http://schemas.microsoft.com/office/powerpoint/2010/main" val="239616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a:t>
            </a:fld>
            <a:endParaRPr lang="en-US" altLang="zh-CN"/>
          </a:p>
        </p:txBody>
      </p:sp>
    </p:spTree>
    <p:extLst>
      <p:ext uri="{BB962C8B-B14F-4D97-AF65-F5344CB8AC3E}">
        <p14:creationId xmlns:p14="http://schemas.microsoft.com/office/powerpoint/2010/main" val="1914394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a:t>
            </a:fld>
            <a:endParaRPr lang="en-US" altLang="zh-CN"/>
          </a:p>
        </p:txBody>
      </p:sp>
    </p:spTree>
    <p:extLst>
      <p:ext uri="{BB962C8B-B14F-4D97-AF65-F5344CB8AC3E}">
        <p14:creationId xmlns:p14="http://schemas.microsoft.com/office/powerpoint/2010/main" val="1069847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a:t>
            </a:fld>
            <a:endParaRPr lang="en-US" altLang="zh-CN"/>
          </a:p>
        </p:txBody>
      </p:sp>
    </p:spTree>
    <p:extLst>
      <p:ext uri="{BB962C8B-B14F-4D97-AF65-F5344CB8AC3E}">
        <p14:creationId xmlns:p14="http://schemas.microsoft.com/office/powerpoint/2010/main" val="3577530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a:t>
            </a:fld>
            <a:endParaRPr lang="en-US" altLang="zh-CN"/>
          </a:p>
        </p:txBody>
      </p:sp>
    </p:spTree>
    <p:extLst>
      <p:ext uri="{BB962C8B-B14F-4D97-AF65-F5344CB8AC3E}">
        <p14:creationId xmlns:p14="http://schemas.microsoft.com/office/powerpoint/2010/main" val="3107970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a:t>
            </a:fld>
            <a:endParaRPr lang="en-US" altLang="zh-CN"/>
          </a:p>
        </p:txBody>
      </p:sp>
    </p:spTree>
    <p:extLst>
      <p:ext uri="{BB962C8B-B14F-4D97-AF65-F5344CB8AC3E}">
        <p14:creationId xmlns:p14="http://schemas.microsoft.com/office/powerpoint/2010/main" val="584252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a:p>
        </p:txBody>
      </p:sp>
    </p:spTree>
    <p:extLst>
      <p:ext uri="{BB962C8B-B14F-4D97-AF65-F5344CB8AC3E}">
        <p14:creationId xmlns:p14="http://schemas.microsoft.com/office/powerpoint/2010/main" val="2510852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a:p>
        </p:txBody>
      </p:sp>
    </p:spTree>
    <p:extLst>
      <p:ext uri="{BB962C8B-B14F-4D97-AF65-F5344CB8AC3E}">
        <p14:creationId xmlns:p14="http://schemas.microsoft.com/office/powerpoint/2010/main" val="4025884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a:p>
        </p:txBody>
      </p:sp>
    </p:spTree>
    <p:extLst>
      <p:ext uri="{BB962C8B-B14F-4D97-AF65-F5344CB8AC3E}">
        <p14:creationId xmlns:p14="http://schemas.microsoft.com/office/powerpoint/2010/main" val="4172698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a:p>
        </p:txBody>
      </p:sp>
    </p:spTree>
    <p:extLst>
      <p:ext uri="{BB962C8B-B14F-4D97-AF65-F5344CB8AC3E}">
        <p14:creationId xmlns:p14="http://schemas.microsoft.com/office/powerpoint/2010/main" val="809662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a:p>
        </p:txBody>
      </p:sp>
    </p:spTree>
    <p:extLst>
      <p:ext uri="{BB962C8B-B14F-4D97-AF65-F5344CB8AC3E}">
        <p14:creationId xmlns:p14="http://schemas.microsoft.com/office/powerpoint/2010/main" val="1271769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a:p>
        </p:txBody>
      </p:sp>
    </p:spTree>
    <p:extLst>
      <p:ext uri="{BB962C8B-B14F-4D97-AF65-F5344CB8AC3E}">
        <p14:creationId xmlns:p14="http://schemas.microsoft.com/office/powerpoint/2010/main" val="905230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13</a:t>
            </a:fld>
            <a:endParaRPr lang="en-US" altLang="zh-CN"/>
          </a:p>
        </p:txBody>
      </p:sp>
    </p:spTree>
    <p:extLst>
      <p:ext uri="{BB962C8B-B14F-4D97-AF65-F5344CB8AC3E}">
        <p14:creationId xmlns:p14="http://schemas.microsoft.com/office/powerpoint/2010/main" val="1436781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a:p>
        </p:txBody>
      </p:sp>
    </p:spTree>
    <p:extLst>
      <p:ext uri="{BB962C8B-B14F-4D97-AF65-F5344CB8AC3E}">
        <p14:creationId xmlns:p14="http://schemas.microsoft.com/office/powerpoint/2010/main" val="1946622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a:p>
        </p:txBody>
      </p:sp>
    </p:spTree>
    <p:extLst>
      <p:ext uri="{BB962C8B-B14F-4D97-AF65-F5344CB8AC3E}">
        <p14:creationId xmlns:p14="http://schemas.microsoft.com/office/powerpoint/2010/main" val="1568248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a:p>
        </p:txBody>
      </p:sp>
    </p:spTree>
    <p:extLst>
      <p:ext uri="{BB962C8B-B14F-4D97-AF65-F5344CB8AC3E}">
        <p14:creationId xmlns:p14="http://schemas.microsoft.com/office/powerpoint/2010/main" val="929359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a:p>
        </p:txBody>
      </p:sp>
    </p:spTree>
    <p:extLst>
      <p:ext uri="{BB962C8B-B14F-4D97-AF65-F5344CB8AC3E}">
        <p14:creationId xmlns:p14="http://schemas.microsoft.com/office/powerpoint/2010/main" val="112888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a:p>
        </p:txBody>
      </p:sp>
    </p:spTree>
    <p:extLst>
      <p:ext uri="{BB962C8B-B14F-4D97-AF65-F5344CB8AC3E}">
        <p14:creationId xmlns:p14="http://schemas.microsoft.com/office/powerpoint/2010/main" val="1956715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a:p>
        </p:txBody>
      </p:sp>
    </p:spTree>
    <p:extLst>
      <p:ext uri="{BB962C8B-B14F-4D97-AF65-F5344CB8AC3E}">
        <p14:creationId xmlns:p14="http://schemas.microsoft.com/office/powerpoint/2010/main" val="1233654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a:p>
        </p:txBody>
      </p:sp>
    </p:spTree>
    <p:extLst>
      <p:ext uri="{BB962C8B-B14F-4D97-AF65-F5344CB8AC3E}">
        <p14:creationId xmlns:p14="http://schemas.microsoft.com/office/powerpoint/2010/main" val="1188642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a:p>
        </p:txBody>
      </p:sp>
    </p:spTree>
    <p:extLst>
      <p:ext uri="{BB962C8B-B14F-4D97-AF65-F5344CB8AC3E}">
        <p14:creationId xmlns:p14="http://schemas.microsoft.com/office/powerpoint/2010/main" val="257456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a:p>
        </p:txBody>
      </p:sp>
    </p:spTree>
    <p:extLst>
      <p:ext uri="{BB962C8B-B14F-4D97-AF65-F5344CB8AC3E}">
        <p14:creationId xmlns:p14="http://schemas.microsoft.com/office/powerpoint/2010/main" val="37207506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a:p>
        </p:txBody>
      </p:sp>
    </p:spTree>
    <p:extLst>
      <p:ext uri="{BB962C8B-B14F-4D97-AF65-F5344CB8AC3E}">
        <p14:creationId xmlns:p14="http://schemas.microsoft.com/office/powerpoint/2010/main" val="3274833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a:p>
        </p:txBody>
      </p:sp>
    </p:spTree>
    <p:extLst>
      <p:ext uri="{BB962C8B-B14F-4D97-AF65-F5344CB8AC3E}">
        <p14:creationId xmlns:p14="http://schemas.microsoft.com/office/powerpoint/2010/main" val="2573703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25</a:t>
            </a:fld>
            <a:endParaRPr lang="en-US" altLang="zh-CN"/>
          </a:p>
        </p:txBody>
      </p:sp>
    </p:spTree>
    <p:extLst>
      <p:ext uri="{BB962C8B-B14F-4D97-AF65-F5344CB8AC3E}">
        <p14:creationId xmlns:p14="http://schemas.microsoft.com/office/powerpoint/2010/main" val="2836336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26</a:t>
            </a:fld>
            <a:endParaRPr lang="en-US" altLang="zh-CN"/>
          </a:p>
        </p:txBody>
      </p:sp>
    </p:spTree>
    <p:extLst>
      <p:ext uri="{BB962C8B-B14F-4D97-AF65-F5344CB8AC3E}">
        <p14:creationId xmlns:p14="http://schemas.microsoft.com/office/powerpoint/2010/main" val="583168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27</a:t>
            </a:fld>
            <a:endParaRPr lang="en-US" altLang="zh-CN"/>
          </a:p>
        </p:txBody>
      </p:sp>
    </p:spTree>
    <p:extLst>
      <p:ext uri="{BB962C8B-B14F-4D97-AF65-F5344CB8AC3E}">
        <p14:creationId xmlns:p14="http://schemas.microsoft.com/office/powerpoint/2010/main" val="6756345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28</a:t>
            </a:fld>
            <a:endParaRPr lang="en-US" altLang="zh-CN"/>
          </a:p>
        </p:txBody>
      </p:sp>
    </p:spTree>
    <p:extLst>
      <p:ext uri="{BB962C8B-B14F-4D97-AF65-F5344CB8AC3E}">
        <p14:creationId xmlns:p14="http://schemas.microsoft.com/office/powerpoint/2010/main" val="25880152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29</a:t>
            </a:fld>
            <a:endParaRPr lang="en-US" altLang="zh-CN"/>
          </a:p>
        </p:txBody>
      </p:sp>
    </p:spTree>
    <p:extLst>
      <p:ext uri="{BB962C8B-B14F-4D97-AF65-F5344CB8AC3E}">
        <p14:creationId xmlns:p14="http://schemas.microsoft.com/office/powerpoint/2010/main" val="3766661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2023-10-17</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6.bin"/><Relationship Id="rId3" Type="http://schemas.openxmlformats.org/officeDocument/2006/relationships/audio" Target="../media/audio2.wav"/><Relationship Id="rId7" Type="http://schemas.openxmlformats.org/officeDocument/2006/relationships/oleObject" Target="../embeddings/oleObject3.bin"/><Relationship Id="rId12" Type="http://schemas.openxmlformats.org/officeDocument/2006/relationships/image" Target="../media/image11.wmf"/><Relationship Id="rId2" Type="http://schemas.openxmlformats.org/officeDocument/2006/relationships/notesSlide" Target="../notesSlides/notesSlide5.xml"/><Relationship Id="rId16" Type="http://schemas.openxmlformats.org/officeDocument/2006/relationships/image" Target="../media/image13.wmf"/><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oleObject" Target="../embeddings/oleObject5.bin"/><Relationship Id="rId5" Type="http://schemas.openxmlformats.org/officeDocument/2006/relationships/image" Target="../media/image7.jpeg"/><Relationship Id="rId15" Type="http://schemas.openxmlformats.org/officeDocument/2006/relationships/oleObject" Target="../embeddings/oleObject7.bin"/><Relationship Id="rId10" Type="http://schemas.openxmlformats.org/officeDocument/2006/relationships/image" Target="../media/image10.wmf"/><Relationship Id="rId4" Type="http://schemas.openxmlformats.org/officeDocument/2006/relationships/image" Target="../media/image6.png"/><Relationship Id="rId9" Type="http://schemas.openxmlformats.org/officeDocument/2006/relationships/oleObject" Target="../embeddings/oleObject4.bin"/><Relationship Id="rId1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wmf"/><Relationship Id="rId5" Type="http://schemas.openxmlformats.org/officeDocument/2006/relationships/oleObject" Target="../embeddings/oleObject8.bin"/><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3.gif"/></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microsoft.com/office/2007/relationships/media" Target="file:///K:\UU\U\&#24037;&#22823;&#30456;&#20851;\&#25945;&#23398;&#30456;&#20851;\&#24037;&#31243;&#21147;&#23398;&#65288;&#26426;&#22120;&#20154;&#65289;\&#24037;&#31243;&#21147;&#23398;&#35838;&#20214;PPT\&#29702;&#35770;&#21147;&#23398;ppt\&#31532;3&#31456;%20%20&#31354;&#38388;&#21147;&#31995;\J1&#23548;&#21521;&#36724;&#25215;.avi" TargetMode="External"/><Relationship Id="rId7" Type="http://schemas.openxmlformats.org/officeDocument/2006/relationships/image" Target="../media/image24.png"/><Relationship Id="rId2" Type="http://schemas.openxmlformats.org/officeDocument/2006/relationships/video" Target="file:///K:\UU\U\&#24037;&#22823;&#30456;&#20851;\&#25945;&#23398;&#30456;&#20851;\&#24037;&#31243;&#21147;&#23398;&#65288;&#26426;&#22120;&#20154;&#65289;\&#24037;&#31243;&#21147;&#23398;&#35838;&#20214;PPT\&#29702;&#35770;&#21147;&#23398;ppt\&#31532;3&#31456;%20%20&#31354;&#38388;&#21147;&#31995;\J1&#38081;&#36712;.avi" TargetMode="External"/><Relationship Id="rId1" Type="http://schemas.microsoft.com/office/2007/relationships/media" Target="file:///K:\UU\U\&#24037;&#22823;&#30456;&#20851;\&#25945;&#23398;&#30456;&#20851;\&#24037;&#31243;&#21147;&#23398;&#65288;&#26426;&#22120;&#20154;&#65289;\&#24037;&#31243;&#21147;&#23398;&#35838;&#20214;PPT\&#29702;&#35770;&#21147;&#23398;ppt\&#31532;3&#31456;%20%20&#31354;&#38388;&#21147;&#31995;\J1&#38081;&#36712;.avi" TargetMode="External"/><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video" Target="file:///K:\UU\U\&#24037;&#22823;&#30456;&#20851;\&#25945;&#23398;&#30456;&#20851;\&#24037;&#31243;&#21147;&#23398;&#65288;&#26426;&#22120;&#20154;&#65289;\&#24037;&#31243;&#21147;&#23398;&#35838;&#20214;PPT\&#29702;&#35770;&#21147;&#23398;ppt\&#31532;3&#31456;%20%20&#31354;&#38388;&#21147;&#31995;\J1&#23548;&#21521;&#36724;&#25215;.avi"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microsoft.com/office/2007/relationships/media" Target="file:///K:\UU\U\&#24037;&#22823;&#30456;&#20851;\&#25945;&#23398;&#30456;&#20851;\&#24037;&#31243;&#21147;&#23398;&#65288;&#26426;&#22120;&#20154;&#65289;\&#24037;&#31243;&#21147;&#23398;&#35838;&#20214;PPT\&#29702;&#35770;&#21147;&#23398;ppt\&#31532;3&#31456;%20%20&#31354;&#38388;&#21147;&#31995;\J1&#22841;&#26495;.avi" TargetMode="External"/><Relationship Id="rId7" Type="http://schemas.openxmlformats.org/officeDocument/2006/relationships/image" Target="../media/image26.png"/><Relationship Id="rId2" Type="http://schemas.openxmlformats.org/officeDocument/2006/relationships/video" Target="file:///K:\UU\U\&#24037;&#22823;&#30456;&#20851;\&#25945;&#23398;&#30456;&#20851;\&#24037;&#31243;&#21147;&#23398;&#65288;&#26426;&#22120;&#20154;&#65289;\&#24037;&#31243;&#21147;&#23398;&#35838;&#20214;PPT\&#29702;&#35770;&#21147;&#23398;ppt\&#31532;3&#31456;%20%20&#31354;&#38388;&#21147;&#31995;\J1&#19975;&#21521;&#25509;&#22836;.avi" TargetMode="External"/><Relationship Id="rId1" Type="http://schemas.microsoft.com/office/2007/relationships/media" Target="file:///K:\UU\U\&#24037;&#22823;&#30456;&#20851;\&#25945;&#23398;&#30456;&#20851;\&#24037;&#31243;&#21147;&#23398;&#65288;&#26426;&#22120;&#20154;&#65289;\&#24037;&#31243;&#21147;&#23398;&#35838;&#20214;PPT\&#29702;&#35770;&#21147;&#23398;ppt\&#31532;3&#31456;%20%20&#31354;&#38388;&#21147;&#31995;\J1&#19975;&#21521;&#25509;&#22836;.avi" TargetMode="External"/><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video" Target="file:///K:\UU\U\&#24037;&#22823;&#30456;&#20851;\&#25945;&#23398;&#30456;&#20851;\&#24037;&#31243;&#21147;&#23398;&#65288;&#26426;&#22120;&#20154;&#65289;\&#24037;&#31243;&#21147;&#23398;&#35838;&#20214;PPT\&#29702;&#35770;&#21147;&#23398;ppt\&#31532;3&#31456;%20%20&#31354;&#38388;&#21147;&#31995;\J1&#22841;&#26495;.avi" TargetMode="Externa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K:\UU\U\&#24037;&#22823;&#30456;&#20851;\&#25945;&#23398;&#30456;&#20851;\&#24037;&#31243;&#21147;&#23398;&#65288;&#26426;&#22120;&#20154;&#65289;\&#24037;&#31243;&#21147;&#23398;&#35838;&#20214;PPT\&#29702;&#35770;&#21147;&#23398;ppt\&#31532;3&#31456;%20%20&#31354;&#38388;&#21147;&#31995;\J1&#23548;&#36712;.avi" TargetMode="External"/><Relationship Id="rId1" Type="http://schemas.microsoft.com/office/2007/relationships/media" Target="file:///K:\UU\U\&#24037;&#22823;&#30456;&#20851;\&#25945;&#23398;&#30456;&#20851;\&#24037;&#31243;&#21147;&#23398;&#65288;&#26426;&#22120;&#20154;&#65289;\&#24037;&#31243;&#21147;&#23398;&#35838;&#20214;PPT\&#29702;&#35770;&#21147;&#23398;ppt\&#31532;3&#31456;%20%20&#31354;&#38388;&#21147;&#31995;\J1&#23548;&#36712;.avi" TargetMode="External"/><Relationship Id="rId5" Type="http://schemas.openxmlformats.org/officeDocument/2006/relationships/image" Target="../media/image2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audio" Target="../media/audio1.wav"/><Relationship Id="rId7" Type="http://schemas.openxmlformats.org/officeDocument/2006/relationships/oleObject" Target="../embeddings/oleObject10.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9.bin"/><Relationship Id="rId10" Type="http://schemas.openxmlformats.org/officeDocument/2006/relationships/image" Target="../media/image35.wmf"/><Relationship Id="rId4" Type="http://schemas.openxmlformats.org/officeDocument/2006/relationships/image" Target="../media/image32.png"/><Relationship Id="rId9" Type="http://schemas.openxmlformats.org/officeDocument/2006/relationships/oleObject" Target="../embeddings/oleObject11.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audio" Target="../media/audio1.wav"/><Relationship Id="rId7" Type="http://schemas.openxmlformats.org/officeDocument/2006/relationships/image" Target="../media/image37.wm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oleObject" Target="../embeddings/oleObject13.bin"/><Relationship Id="rId5" Type="http://schemas.openxmlformats.org/officeDocument/2006/relationships/image" Target="../media/image36.wmf"/><Relationship Id="rId4" Type="http://schemas.openxmlformats.org/officeDocument/2006/relationships/oleObject" Target="../embeddings/oleObject12.bin"/><Relationship Id="rId9" Type="http://schemas.openxmlformats.org/officeDocument/2006/relationships/image" Target="../media/image38.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audio" Target="../media/audio1.wav"/><Relationship Id="rId7" Type="http://schemas.openxmlformats.org/officeDocument/2006/relationships/image" Target="../media/image40.w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oleObject" Target="../embeddings/oleObject16.bin"/><Relationship Id="rId5" Type="http://schemas.openxmlformats.org/officeDocument/2006/relationships/image" Target="../media/image39.wmf"/><Relationship Id="rId4" Type="http://schemas.openxmlformats.org/officeDocument/2006/relationships/oleObject" Target="../embeddings/oleObject15.bin"/><Relationship Id="rId9" Type="http://schemas.openxmlformats.org/officeDocument/2006/relationships/image" Target="../media/image41.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47.wmf"/><Relationship Id="rId18" Type="http://schemas.openxmlformats.org/officeDocument/2006/relationships/oleObject" Target="../embeddings/oleObject25.bin"/><Relationship Id="rId3" Type="http://schemas.openxmlformats.org/officeDocument/2006/relationships/image" Target="../media/image42.jpeg"/><Relationship Id="rId21" Type="http://schemas.openxmlformats.org/officeDocument/2006/relationships/image" Target="../media/image51.wmf"/><Relationship Id="rId7" Type="http://schemas.openxmlformats.org/officeDocument/2006/relationships/image" Target="../media/image44.wmf"/><Relationship Id="rId12" Type="http://schemas.openxmlformats.org/officeDocument/2006/relationships/oleObject" Target="../embeddings/oleObject22.bin"/><Relationship Id="rId17" Type="http://schemas.openxmlformats.org/officeDocument/2006/relationships/image" Target="../media/image49.wmf"/><Relationship Id="rId25" Type="http://schemas.openxmlformats.org/officeDocument/2006/relationships/image" Target="../media/image53.wmf"/><Relationship Id="rId2" Type="http://schemas.openxmlformats.org/officeDocument/2006/relationships/notesSlide" Target="../notesSlides/notesSlide25.xml"/><Relationship Id="rId16" Type="http://schemas.openxmlformats.org/officeDocument/2006/relationships/oleObject" Target="../embeddings/oleObject24.bin"/><Relationship Id="rId20"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46.wmf"/><Relationship Id="rId24" Type="http://schemas.openxmlformats.org/officeDocument/2006/relationships/oleObject" Target="../embeddings/oleObject28.bin"/><Relationship Id="rId5" Type="http://schemas.openxmlformats.org/officeDocument/2006/relationships/image" Target="../media/image43.wmf"/><Relationship Id="rId15" Type="http://schemas.openxmlformats.org/officeDocument/2006/relationships/image" Target="../media/image48.wmf"/><Relationship Id="rId23" Type="http://schemas.openxmlformats.org/officeDocument/2006/relationships/image" Target="../media/image52.wmf"/><Relationship Id="rId10" Type="http://schemas.openxmlformats.org/officeDocument/2006/relationships/oleObject" Target="../embeddings/oleObject21.bin"/><Relationship Id="rId19" Type="http://schemas.openxmlformats.org/officeDocument/2006/relationships/image" Target="../media/image50.wmf"/><Relationship Id="rId4" Type="http://schemas.openxmlformats.org/officeDocument/2006/relationships/oleObject" Target="../embeddings/oleObject18.bin"/><Relationship Id="rId9" Type="http://schemas.openxmlformats.org/officeDocument/2006/relationships/image" Target="../media/image45.wmf"/><Relationship Id="rId14" Type="http://schemas.openxmlformats.org/officeDocument/2006/relationships/oleObject" Target="../embeddings/oleObject23.bin"/><Relationship Id="rId22" Type="http://schemas.openxmlformats.org/officeDocument/2006/relationships/oleObject" Target="../embeddings/oleObject27.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59.wmf"/><Relationship Id="rId18" Type="http://schemas.openxmlformats.org/officeDocument/2006/relationships/image" Target="../media/image61.wmf"/><Relationship Id="rId3" Type="http://schemas.openxmlformats.org/officeDocument/2006/relationships/image" Target="../media/image54.jpeg"/><Relationship Id="rId7" Type="http://schemas.openxmlformats.org/officeDocument/2006/relationships/image" Target="../media/image56.wmf"/><Relationship Id="rId12" Type="http://schemas.openxmlformats.org/officeDocument/2006/relationships/oleObject" Target="../embeddings/oleObject33.bin"/><Relationship Id="rId17" Type="http://schemas.openxmlformats.org/officeDocument/2006/relationships/oleObject" Target="../embeddings/oleObject35.bin"/><Relationship Id="rId2" Type="http://schemas.openxmlformats.org/officeDocument/2006/relationships/notesSlide" Target="../notesSlides/notesSlide26.xml"/><Relationship Id="rId16" Type="http://schemas.openxmlformats.org/officeDocument/2006/relationships/image" Target="../media/image60.wmf"/><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58.wmf"/><Relationship Id="rId5" Type="http://schemas.openxmlformats.org/officeDocument/2006/relationships/image" Target="../media/image55.wmf"/><Relationship Id="rId15" Type="http://schemas.openxmlformats.org/officeDocument/2006/relationships/oleObject" Target="../embeddings/oleObject34.bin"/><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57.wmf"/><Relationship Id="rId1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63.jpeg"/></Relationships>
</file>

<file path=ppt/slides/_rels/slide28.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oleObject" Target="../embeddings/oleObject40.bin"/><Relationship Id="rId3" Type="http://schemas.openxmlformats.org/officeDocument/2006/relationships/image" Target="../media/image64.jpeg"/><Relationship Id="rId7" Type="http://schemas.openxmlformats.org/officeDocument/2006/relationships/oleObject" Target="../embeddings/oleObject37.bin"/><Relationship Id="rId12" Type="http://schemas.openxmlformats.org/officeDocument/2006/relationships/image" Target="../media/image69.emf"/><Relationship Id="rId2" Type="http://schemas.openxmlformats.org/officeDocument/2006/relationships/notesSlide" Target="../notesSlides/notesSlide28.xml"/><Relationship Id="rId16" Type="http://schemas.openxmlformats.org/officeDocument/2006/relationships/image" Target="../media/image71.emf"/><Relationship Id="rId1" Type="http://schemas.openxmlformats.org/officeDocument/2006/relationships/slideLayout" Target="../slideLayouts/slideLayout7.xml"/><Relationship Id="rId6" Type="http://schemas.openxmlformats.org/officeDocument/2006/relationships/image" Target="../media/image66.wmf"/><Relationship Id="rId11" Type="http://schemas.openxmlformats.org/officeDocument/2006/relationships/oleObject" Target="../embeddings/oleObject39.bin"/><Relationship Id="rId5" Type="http://schemas.openxmlformats.org/officeDocument/2006/relationships/oleObject" Target="../embeddings/oleObject36.bin"/><Relationship Id="rId15" Type="http://schemas.openxmlformats.org/officeDocument/2006/relationships/oleObject" Target="../embeddings/oleObject41.bin"/><Relationship Id="rId10" Type="http://schemas.openxmlformats.org/officeDocument/2006/relationships/image" Target="../media/image68.wmf"/><Relationship Id="rId4" Type="http://schemas.openxmlformats.org/officeDocument/2006/relationships/image" Target="../media/image65.jpeg"/><Relationship Id="rId9" Type="http://schemas.openxmlformats.org/officeDocument/2006/relationships/oleObject" Target="../embeddings/oleObject38.bin"/><Relationship Id="rId14" Type="http://schemas.openxmlformats.org/officeDocument/2006/relationships/image" Target="../media/image70.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§3-1  </a:t>
            </a:r>
            <a:r>
              <a:rPr lang="zh-CN" altLang="en-US" sz="3000" i="0" dirty="0">
                <a:solidFill>
                  <a:schemeClr val="accent6">
                    <a:lumMod val="75000"/>
                  </a:schemeClr>
                </a:solidFill>
                <a:latin typeface="+mn-lt"/>
                <a:ea typeface="微软雅黑" panose="020B0503020204020204" pitchFamily="34" charset="-122"/>
              </a:rPr>
              <a:t>力在空间直角坐标轴上的投影</a:t>
            </a:r>
          </a:p>
        </p:txBody>
      </p:sp>
      <p:sp>
        <p:nvSpPr>
          <p:cNvPr id="6" name="Text Box 9"/>
          <p:cNvSpPr txBox="1">
            <a:spLocks noChangeArrowheads="1"/>
          </p:cNvSpPr>
          <p:nvPr/>
        </p:nvSpPr>
        <p:spPr bwMode="auto">
          <a:xfrm>
            <a:off x="1055440" y="1482668"/>
            <a:ext cx="1008112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2800" i="0" dirty="0">
                <a:solidFill>
                  <a:srgbClr val="FF0000"/>
                </a:solidFill>
                <a:latin typeface="微软雅黑" panose="020B0503020204020204" pitchFamily="34" charset="-122"/>
                <a:ea typeface="微软雅黑" panose="020B0503020204020204" pitchFamily="34" charset="-122"/>
              </a:rPr>
              <a:t>直接投影法</a:t>
            </a:r>
            <a:endParaRPr lang="zh-CN" altLang="en-US" sz="2800" i="0" dirty="0">
              <a:latin typeface="微软雅黑" panose="020B0503020204020204" pitchFamily="34" charset="-122"/>
              <a:ea typeface="微软雅黑" panose="020B0503020204020204" pitchFamily="34" charset="-122"/>
            </a:endParaRPr>
          </a:p>
        </p:txBody>
      </p:sp>
      <p:sp>
        <p:nvSpPr>
          <p:cNvPr id="29" name="Rectangle 61"/>
          <p:cNvSpPr>
            <a:spLocks noChangeArrowheads="1"/>
          </p:cNvSpPr>
          <p:nvPr/>
        </p:nvSpPr>
        <p:spPr bwMode="auto">
          <a:xfrm>
            <a:off x="7094591" y="1815301"/>
            <a:ext cx="4464496" cy="3978892"/>
          </a:xfrm>
          <a:prstGeom prst="rect">
            <a:avLst/>
          </a:prstGeom>
          <a:solidFill>
            <a:srgbClr val="B9CDE5"/>
          </a:solidFill>
          <a:ln>
            <a:noFill/>
          </a:ln>
          <a:effectLst/>
        </p:spPr>
        <p:txBody>
          <a:bodyPr wrap="none" anchor="ctr"/>
          <a:lstStyle/>
          <a:p>
            <a:endParaRPr lang="zh-CN" altLang="en-US"/>
          </a:p>
        </p:txBody>
      </p:sp>
      <p:grpSp>
        <p:nvGrpSpPr>
          <p:cNvPr id="17" name="Group 4"/>
          <p:cNvGrpSpPr>
            <a:grpSpLocks/>
          </p:cNvGrpSpPr>
          <p:nvPr/>
        </p:nvGrpSpPr>
        <p:grpSpPr bwMode="auto">
          <a:xfrm>
            <a:off x="7464152" y="2183910"/>
            <a:ext cx="4067175" cy="3335338"/>
            <a:chOff x="3198" y="1992"/>
            <a:chExt cx="2562" cy="2101"/>
          </a:xfrm>
        </p:grpSpPr>
        <p:sp>
          <p:nvSpPr>
            <p:cNvPr id="18" name="Text Box 5"/>
            <p:cNvSpPr txBox="1">
              <a:spLocks noChangeAspect="1" noChangeArrowheads="1"/>
            </p:cNvSpPr>
            <p:nvPr/>
          </p:nvSpPr>
          <p:spPr bwMode="auto">
            <a:xfrm>
              <a:off x="3788" y="3420"/>
              <a:ext cx="43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ym typeface="Symbol" panose="05050102010706020507" pitchFamily="18" charset="2"/>
                </a:rPr>
                <a:t> </a:t>
              </a:r>
              <a:r>
                <a:rPr lang="en-US" altLang="zh-CN" sz="3200" i="1">
                  <a:solidFill>
                    <a:schemeClr val="tx1"/>
                  </a:solidFill>
                  <a:sym typeface="Symbol" panose="05050102010706020507" pitchFamily="18" charset="2"/>
                </a:rPr>
                <a:t></a:t>
              </a:r>
            </a:p>
          </p:txBody>
        </p:sp>
        <p:sp>
          <p:nvSpPr>
            <p:cNvPr id="19" name="Text Box 6"/>
            <p:cNvSpPr txBox="1">
              <a:spLocks noChangeAspect="1" noChangeArrowheads="1"/>
            </p:cNvSpPr>
            <p:nvPr/>
          </p:nvSpPr>
          <p:spPr bwMode="auto">
            <a:xfrm>
              <a:off x="4150" y="3129"/>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chemeClr val="tx1"/>
                  </a:solidFill>
                  <a:sym typeface="Symbol" panose="05050102010706020507" pitchFamily="18" charset="2"/>
                </a:rPr>
                <a:t> </a:t>
              </a:r>
            </a:p>
          </p:txBody>
        </p:sp>
        <p:sp>
          <p:nvSpPr>
            <p:cNvPr id="20" name="Text Box 7"/>
            <p:cNvSpPr txBox="1">
              <a:spLocks noChangeAspect="1" noChangeArrowheads="1"/>
            </p:cNvSpPr>
            <p:nvPr/>
          </p:nvSpPr>
          <p:spPr bwMode="auto">
            <a:xfrm>
              <a:off x="3773" y="3002"/>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chemeClr val="tx1"/>
                  </a:solidFill>
                  <a:sym typeface="Symbol" panose="05050102010706020507" pitchFamily="18" charset="2"/>
                </a:rPr>
                <a:t> </a:t>
              </a:r>
            </a:p>
          </p:txBody>
        </p:sp>
        <p:sp>
          <p:nvSpPr>
            <p:cNvPr id="21" name="Text Box 8"/>
            <p:cNvSpPr txBox="1">
              <a:spLocks noChangeAspect="1" noChangeArrowheads="1"/>
            </p:cNvSpPr>
            <p:nvPr/>
          </p:nvSpPr>
          <p:spPr bwMode="auto">
            <a:xfrm>
              <a:off x="3568" y="3340"/>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endParaRPr lang="en-US" altLang="zh-CN">
                <a:solidFill>
                  <a:schemeClr val="tx1"/>
                </a:solidFill>
              </a:endParaRPr>
            </a:p>
          </p:txBody>
        </p:sp>
        <p:sp>
          <p:nvSpPr>
            <p:cNvPr id="22" name="Text Box 9"/>
            <p:cNvSpPr txBox="1">
              <a:spLocks noChangeAspect="1" noChangeArrowheads="1"/>
            </p:cNvSpPr>
            <p:nvPr/>
          </p:nvSpPr>
          <p:spPr bwMode="auto">
            <a:xfrm>
              <a:off x="3198" y="3690"/>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x</a:t>
              </a:r>
            </a:p>
          </p:txBody>
        </p:sp>
        <p:sp>
          <p:nvSpPr>
            <p:cNvPr id="23" name="Rectangle 10"/>
            <p:cNvSpPr>
              <a:spLocks noChangeAspect="1" noChangeArrowheads="1"/>
            </p:cNvSpPr>
            <p:nvPr/>
          </p:nvSpPr>
          <p:spPr bwMode="auto">
            <a:xfrm>
              <a:off x="3593" y="2674"/>
              <a:ext cx="1367" cy="1068"/>
            </a:xfrm>
            <a:prstGeom prst="rect">
              <a:avLst/>
            </a:prstGeom>
            <a:solidFill>
              <a:srgbClr val="FFFFFF"/>
            </a:solidFill>
            <a:ln w="19050">
              <a:miter lim="800000"/>
              <a:headEnd/>
              <a:tailEnd/>
            </a:ln>
            <a:effectLst/>
            <a:scene3d>
              <a:camera prst="legacyObliqueTopRight"/>
              <a:lightRig rig="legacyFlat3" dir="b"/>
            </a:scene3d>
            <a:sp3d extrusionH="887400" prstMaterial="legacyWirefram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zh-CN" altLang="en-US"/>
            </a:p>
          </p:txBody>
        </p:sp>
        <p:sp>
          <p:nvSpPr>
            <p:cNvPr id="24" name="Line 11"/>
            <p:cNvSpPr>
              <a:spLocks noChangeAspect="1" noChangeShapeType="1"/>
            </p:cNvSpPr>
            <p:nvPr/>
          </p:nvSpPr>
          <p:spPr bwMode="auto">
            <a:xfrm flipV="1">
              <a:off x="3788" y="2078"/>
              <a:ext cx="0" cy="1468"/>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Line 12"/>
            <p:cNvSpPr>
              <a:spLocks noChangeAspect="1" noChangeShapeType="1"/>
            </p:cNvSpPr>
            <p:nvPr/>
          </p:nvSpPr>
          <p:spPr bwMode="auto">
            <a:xfrm>
              <a:off x="3788" y="3546"/>
              <a:ext cx="177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Line 13"/>
            <p:cNvSpPr>
              <a:spLocks noChangeAspect="1" noChangeShapeType="1"/>
            </p:cNvSpPr>
            <p:nvPr/>
          </p:nvSpPr>
          <p:spPr bwMode="auto">
            <a:xfrm flipH="1">
              <a:off x="3371" y="3546"/>
              <a:ext cx="417" cy="432"/>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Line 14"/>
            <p:cNvSpPr>
              <a:spLocks noChangeAspect="1" noChangeShapeType="1"/>
            </p:cNvSpPr>
            <p:nvPr/>
          </p:nvSpPr>
          <p:spPr bwMode="auto">
            <a:xfrm flipV="1">
              <a:off x="3788" y="2668"/>
              <a:ext cx="1180" cy="87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8" name="Arc 15"/>
            <p:cNvSpPr>
              <a:spLocks noChangeAspect="1"/>
            </p:cNvSpPr>
            <p:nvPr/>
          </p:nvSpPr>
          <p:spPr bwMode="auto">
            <a:xfrm>
              <a:off x="3803" y="3244"/>
              <a:ext cx="158" cy="15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 name="Arc 16"/>
            <p:cNvSpPr>
              <a:spLocks noChangeAspect="1"/>
            </p:cNvSpPr>
            <p:nvPr/>
          </p:nvSpPr>
          <p:spPr bwMode="auto">
            <a:xfrm>
              <a:off x="4105" y="3316"/>
              <a:ext cx="144" cy="2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Arc 17"/>
            <p:cNvSpPr>
              <a:spLocks noChangeAspect="1"/>
            </p:cNvSpPr>
            <p:nvPr/>
          </p:nvSpPr>
          <p:spPr bwMode="auto">
            <a:xfrm rot="5400000">
              <a:off x="3684" y="3377"/>
              <a:ext cx="295" cy="31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Text Box 18"/>
            <p:cNvSpPr txBox="1">
              <a:spLocks noChangeAspect="1" noChangeArrowheads="1"/>
            </p:cNvSpPr>
            <p:nvPr/>
          </p:nvSpPr>
          <p:spPr bwMode="auto">
            <a:xfrm>
              <a:off x="5328" y="3474"/>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rgbClr val="FF00FF"/>
                  </a:solidFill>
                  <a:ea typeface="宋体" panose="02010600030101010101" pitchFamily="2" charset="-122"/>
                </a:rPr>
                <a:t>y</a:t>
              </a:r>
              <a:endParaRPr lang="en-US" altLang="zh-CN" sz="3200">
                <a:solidFill>
                  <a:srgbClr val="FF00FF"/>
                </a:solidFill>
              </a:endParaRPr>
            </a:p>
          </p:txBody>
        </p:sp>
        <p:sp>
          <p:nvSpPr>
            <p:cNvPr id="33" name="Text Box 19"/>
            <p:cNvSpPr txBox="1">
              <a:spLocks noChangeAspect="1" noChangeArrowheads="1"/>
            </p:cNvSpPr>
            <p:nvPr/>
          </p:nvSpPr>
          <p:spPr bwMode="auto">
            <a:xfrm>
              <a:off x="3745" y="1992"/>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z</a:t>
              </a:r>
            </a:p>
          </p:txBody>
        </p:sp>
        <p:sp>
          <p:nvSpPr>
            <p:cNvPr id="34" name="Text Box 20"/>
            <p:cNvSpPr txBox="1">
              <a:spLocks noChangeAspect="1" noChangeArrowheads="1"/>
            </p:cNvSpPr>
            <p:nvPr/>
          </p:nvSpPr>
          <p:spPr bwMode="auto">
            <a:xfrm>
              <a:off x="4223" y="2755"/>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1" i="1">
                  <a:solidFill>
                    <a:srgbClr val="FF0000"/>
                  </a:solidFill>
                  <a:ea typeface="宋体" panose="02010600030101010101" pitchFamily="2" charset="-122"/>
                </a:rPr>
                <a:t>F</a:t>
              </a:r>
              <a:endParaRPr lang="en-US" altLang="zh-CN" sz="3200">
                <a:solidFill>
                  <a:srgbClr val="FF0000"/>
                </a:solidFill>
              </a:endParaRPr>
            </a:p>
          </p:txBody>
        </p:sp>
      </p:grpSp>
      <p:sp>
        <p:nvSpPr>
          <p:cNvPr id="35" name="Text Box 21"/>
          <p:cNvSpPr txBox="1">
            <a:spLocks noChangeAspect="1" noChangeArrowheads="1"/>
          </p:cNvSpPr>
          <p:nvPr/>
        </p:nvSpPr>
        <p:spPr bwMode="auto">
          <a:xfrm>
            <a:off x="7523126" y="4404279"/>
            <a:ext cx="685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dirty="0" err="1">
                <a:solidFill>
                  <a:schemeClr val="tx1"/>
                </a:solidFill>
                <a:ea typeface="宋体" panose="02010600030101010101" pitchFamily="2" charset="-122"/>
              </a:rPr>
              <a:t>F</a:t>
            </a:r>
            <a:r>
              <a:rPr lang="en-US" altLang="zh-CN" sz="3200" i="1" baseline="-25000" dirty="0" err="1">
                <a:solidFill>
                  <a:schemeClr val="tx1"/>
                </a:solidFill>
                <a:ea typeface="宋体" panose="02010600030101010101" pitchFamily="2" charset="-122"/>
              </a:rPr>
              <a:t>x</a:t>
            </a:r>
            <a:endParaRPr lang="en-US" altLang="zh-CN" sz="3200" dirty="0">
              <a:solidFill>
                <a:schemeClr val="tx1"/>
              </a:solidFill>
            </a:endParaRPr>
          </a:p>
        </p:txBody>
      </p:sp>
      <p:sp>
        <p:nvSpPr>
          <p:cNvPr id="36" name="Line 22"/>
          <p:cNvSpPr>
            <a:spLocks noChangeAspect="1" noChangeShapeType="1"/>
          </p:cNvSpPr>
          <p:nvPr/>
        </p:nvSpPr>
        <p:spPr bwMode="auto">
          <a:xfrm>
            <a:off x="8400777" y="4650885"/>
            <a:ext cx="217646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23"/>
          <p:cNvSpPr>
            <a:spLocks noChangeAspect="1" noChangeShapeType="1"/>
          </p:cNvSpPr>
          <p:nvPr/>
        </p:nvSpPr>
        <p:spPr bwMode="auto">
          <a:xfrm flipV="1">
            <a:off x="8400777" y="2958610"/>
            <a:ext cx="0" cy="16922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4"/>
          <p:cNvSpPr>
            <a:spLocks noChangeAspect="1" noChangeShapeType="1"/>
          </p:cNvSpPr>
          <p:nvPr/>
        </p:nvSpPr>
        <p:spPr bwMode="auto">
          <a:xfrm flipH="1">
            <a:off x="8103915" y="4650885"/>
            <a:ext cx="288925" cy="3111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Text Box 25"/>
          <p:cNvSpPr txBox="1">
            <a:spLocks noChangeAspect="1" noChangeArrowheads="1"/>
          </p:cNvSpPr>
          <p:nvPr/>
        </p:nvSpPr>
        <p:spPr bwMode="auto">
          <a:xfrm>
            <a:off x="8416652" y="3353898"/>
            <a:ext cx="685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chemeClr val="tx1"/>
                </a:solidFill>
                <a:ea typeface="宋体" panose="02010600030101010101" pitchFamily="2" charset="-122"/>
              </a:rPr>
              <a:t>F</a:t>
            </a:r>
            <a:r>
              <a:rPr lang="en-US" altLang="zh-CN" sz="3200" i="1" baseline="-25000">
                <a:solidFill>
                  <a:schemeClr val="tx1"/>
                </a:solidFill>
                <a:ea typeface="宋体" panose="02010600030101010101" pitchFamily="2" charset="-122"/>
              </a:rPr>
              <a:t>z</a:t>
            </a:r>
            <a:endParaRPr lang="en-US" altLang="zh-CN" sz="3200">
              <a:solidFill>
                <a:schemeClr val="tx1"/>
              </a:solidFill>
            </a:endParaRPr>
          </a:p>
        </p:txBody>
      </p:sp>
      <p:sp>
        <p:nvSpPr>
          <p:cNvPr id="40" name="Text Box 26"/>
          <p:cNvSpPr txBox="1">
            <a:spLocks noChangeAspect="1" noChangeArrowheads="1"/>
          </p:cNvSpPr>
          <p:nvPr/>
        </p:nvSpPr>
        <p:spPr bwMode="auto">
          <a:xfrm>
            <a:off x="9535840" y="3998423"/>
            <a:ext cx="685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chemeClr val="tx1"/>
                </a:solidFill>
                <a:ea typeface="宋体" panose="02010600030101010101" pitchFamily="2" charset="-122"/>
              </a:rPr>
              <a:t>F</a:t>
            </a:r>
            <a:r>
              <a:rPr lang="en-US" altLang="zh-CN" sz="3200" i="1" baseline="-25000">
                <a:solidFill>
                  <a:schemeClr val="tx1"/>
                </a:solidFill>
                <a:ea typeface="宋体" panose="02010600030101010101" pitchFamily="2" charset="-122"/>
              </a:rPr>
              <a:t>y</a:t>
            </a:r>
            <a:endParaRPr lang="en-US" altLang="zh-CN" sz="3200">
              <a:solidFill>
                <a:schemeClr val="tx1"/>
              </a:solidFill>
            </a:endParaRPr>
          </a:p>
        </p:txBody>
      </p:sp>
      <p:sp>
        <p:nvSpPr>
          <p:cNvPr id="41" name="Text Box 36"/>
          <p:cNvSpPr txBox="1">
            <a:spLocks noChangeAspect="1" noChangeArrowheads="1"/>
          </p:cNvSpPr>
          <p:nvPr/>
        </p:nvSpPr>
        <p:spPr bwMode="auto">
          <a:xfrm>
            <a:off x="10082587" y="2833992"/>
            <a:ext cx="4270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solidFill>
                  <a:schemeClr val="tx1"/>
                </a:solidFill>
                <a:ea typeface="宋体" panose="02010600030101010101" pitchFamily="2" charset="-122"/>
              </a:rPr>
              <a:t>A</a:t>
            </a:r>
            <a:endParaRPr lang="en-US" altLang="zh-CN" dirty="0">
              <a:solidFill>
                <a:schemeClr val="tx1"/>
              </a:solidFill>
            </a:endParaRPr>
          </a:p>
        </p:txBody>
      </p:sp>
      <p:sp>
        <p:nvSpPr>
          <p:cNvPr id="42" name="Text Box 37"/>
          <p:cNvSpPr txBox="1">
            <a:spLocks noChangeAspect="1" noChangeArrowheads="1"/>
          </p:cNvSpPr>
          <p:nvPr/>
        </p:nvSpPr>
        <p:spPr bwMode="auto">
          <a:xfrm>
            <a:off x="7983265" y="4874723"/>
            <a:ext cx="4270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B</a:t>
            </a:r>
            <a:endParaRPr lang="en-US" altLang="zh-CN">
              <a:solidFill>
                <a:schemeClr val="tx1"/>
              </a:solidFill>
            </a:endParaRPr>
          </a:p>
        </p:txBody>
      </p:sp>
      <p:sp>
        <p:nvSpPr>
          <p:cNvPr id="43" name="Text Box 38"/>
          <p:cNvSpPr txBox="1">
            <a:spLocks noChangeAspect="1" noChangeArrowheads="1"/>
          </p:cNvSpPr>
          <p:nvPr/>
        </p:nvSpPr>
        <p:spPr bwMode="auto">
          <a:xfrm>
            <a:off x="10129565" y="4874723"/>
            <a:ext cx="4778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r>
              <a:rPr lang="en-US" altLang="zh-CN" i="1">
                <a:solidFill>
                  <a:schemeClr val="tx1"/>
                </a:solidFill>
                <a:ea typeface="宋体" panose="02010600030101010101" pitchFamily="2" charset="-122"/>
                <a:cs typeface="Times New Roman" panose="02020603050405020304" pitchFamily="18" charset="0"/>
              </a:rPr>
              <a:t>'</a:t>
            </a:r>
            <a:endParaRPr lang="en-US" altLang="zh-CN">
              <a:solidFill>
                <a:schemeClr val="tx1"/>
              </a:solidFill>
              <a:cs typeface="Times New Roman" panose="02020603050405020304" pitchFamily="18" charset="0"/>
            </a:endParaRPr>
          </a:p>
        </p:txBody>
      </p:sp>
      <p:sp>
        <p:nvSpPr>
          <p:cNvPr id="44" name="Text Box 39"/>
          <p:cNvSpPr txBox="1">
            <a:spLocks noChangeAspect="1" noChangeArrowheads="1"/>
          </p:cNvSpPr>
          <p:nvPr/>
        </p:nvSpPr>
        <p:spPr bwMode="auto">
          <a:xfrm>
            <a:off x="10523265" y="4277823"/>
            <a:ext cx="4270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C</a:t>
            </a:r>
            <a:endParaRPr lang="en-US" altLang="zh-CN">
              <a:solidFill>
                <a:schemeClr val="tx1"/>
              </a:solidFill>
            </a:endParaRPr>
          </a:p>
        </p:txBody>
      </p:sp>
      <p:sp>
        <p:nvSpPr>
          <p:cNvPr id="45" name="Text Box 40"/>
          <p:cNvSpPr txBox="1">
            <a:spLocks noChangeAspect="1" noChangeArrowheads="1"/>
          </p:cNvSpPr>
          <p:nvPr/>
        </p:nvSpPr>
        <p:spPr bwMode="auto">
          <a:xfrm>
            <a:off x="8021365" y="2690323"/>
            <a:ext cx="4270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D</a:t>
            </a:r>
            <a:endParaRPr lang="en-US" altLang="zh-CN">
              <a:solidFill>
                <a:schemeClr val="tx1"/>
              </a:solidFill>
            </a:endParaRPr>
          </a:p>
        </p:txBody>
      </p:sp>
      <p:sp>
        <p:nvSpPr>
          <p:cNvPr id="46" name="Line 41"/>
          <p:cNvSpPr>
            <a:spLocks noChangeShapeType="1"/>
          </p:cNvSpPr>
          <p:nvPr/>
        </p:nvSpPr>
        <p:spPr bwMode="auto">
          <a:xfrm>
            <a:off x="8381727" y="2945910"/>
            <a:ext cx="1866900" cy="29210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42"/>
          <p:cNvSpPr>
            <a:spLocks noChangeShapeType="1"/>
          </p:cNvSpPr>
          <p:nvPr/>
        </p:nvSpPr>
        <p:spPr bwMode="auto">
          <a:xfrm>
            <a:off x="10261327" y="3250710"/>
            <a:ext cx="317500" cy="140970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43"/>
          <p:cNvSpPr>
            <a:spLocks noChangeShapeType="1"/>
          </p:cNvSpPr>
          <p:nvPr/>
        </p:nvSpPr>
        <p:spPr bwMode="auto">
          <a:xfrm flipH="1">
            <a:off x="8076927" y="3263410"/>
            <a:ext cx="2197100" cy="171450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AutoShape 44"/>
          <p:cNvSpPr>
            <a:spLocks noChangeArrowheads="1"/>
          </p:cNvSpPr>
          <p:nvPr/>
        </p:nvSpPr>
        <p:spPr bwMode="auto">
          <a:xfrm rot="5400000">
            <a:off x="8400777" y="2952260"/>
            <a:ext cx="220663" cy="220663"/>
          </a:xfrm>
          <a:prstGeom prst="parallelogram">
            <a:avLst>
              <a:gd name="adj" fmla="val 16546"/>
            </a:avLst>
          </a:prstGeom>
          <a:noFill/>
          <a:ln w="9525">
            <a:solidFill>
              <a:schemeClr val="tx1"/>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AutoShape 45"/>
          <p:cNvSpPr>
            <a:spLocks noChangeArrowheads="1"/>
          </p:cNvSpPr>
          <p:nvPr/>
        </p:nvSpPr>
        <p:spPr bwMode="auto">
          <a:xfrm flipH="1">
            <a:off x="10354990" y="4449273"/>
            <a:ext cx="220662" cy="206375"/>
          </a:xfrm>
          <a:prstGeom prst="parallelogram">
            <a:avLst>
              <a:gd name="adj" fmla="val 23073"/>
            </a:avLst>
          </a:prstGeom>
          <a:noFill/>
          <a:ln w="9525">
            <a:solidFill>
              <a:schemeClr val="tx1"/>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35"/>
          <p:cNvSpPr txBox="1">
            <a:spLocks noChangeArrowheads="1"/>
          </p:cNvSpPr>
          <p:nvPr/>
        </p:nvSpPr>
        <p:spPr bwMode="auto">
          <a:xfrm>
            <a:off x="1141955" y="2597336"/>
            <a:ext cx="375126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en-US" altLang="zh-CN" sz="2800" i="1" dirty="0" err="1">
                <a:solidFill>
                  <a:schemeClr val="tx1"/>
                </a:solidFill>
              </a:rPr>
              <a:t>F</a:t>
            </a:r>
            <a:r>
              <a:rPr lang="en-US" altLang="zh-CN" sz="2800" i="1" baseline="-25000" dirty="0" err="1">
                <a:solidFill>
                  <a:schemeClr val="tx1"/>
                </a:solidFill>
              </a:rPr>
              <a:t>x</a:t>
            </a:r>
            <a:r>
              <a:rPr lang="en-US" altLang="zh-CN" sz="2800" dirty="0">
                <a:solidFill>
                  <a:schemeClr val="tx1"/>
                </a:solidFill>
              </a:rPr>
              <a:t> =</a:t>
            </a:r>
            <a:r>
              <a:rPr lang="en-US" altLang="zh-CN" sz="2800" i="1" dirty="0" err="1">
                <a:solidFill>
                  <a:schemeClr val="tx1"/>
                </a:solidFill>
              </a:rPr>
              <a:t>F</a:t>
            </a:r>
            <a:r>
              <a:rPr lang="en-US" altLang="zh-CN" sz="2800" i="0" dirty="0" err="1">
                <a:solidFill>
                  <a:schemeClr val="tx1"/>
                </a:solidFill>
              </a:rPr>
              <a:t>cos</a:t>
            </a:r>
            <a:r>
              <a:rPr lang="en-US" altLang="zh-CN" sz="2800" i="1" dirty="0">
                <a:solidFill>
                  <a:schemeClr val="tx1"/>
                </a:solidFill>
                <a:sym typeface="Symbol" panose="05050102010706020507" pitchFamily="18" charset="2"/>
              </a:rPr>
              <a:t></a:t>
            </a:r>
          </a:p>
          <a:p>
            <a:pPr algn="l">
              <a:lnSpc>
                <a:spcPct val="150000"/>
              </a:lnSpc>
            </a:pPr>
            <a:r>
              <a:rPr lang="en-US" altLang="zh-CN" sz="2800" i="1" dirty="0" err="1">
                <a:solidFill>
                  <a:schemeClr val="tx1"/>
                </a:solidFill>
              </a:rPr>
              <a:t>F</a:t>
            </a:r>
            <a:r>
              <a:rPr lang="en-US" altLang="zh-CN" sz="2800" i="1" baseline="-25000" dirty="0" err="1">
                <a:solidFill>
                  <a:schemeClr val="tx1"/>
                </a:solidFill>
              </a:rPr>
              <a:t>y</a:t>
            </a:r>
            <a:r>
              <a:rPr lang="en-US" altLang="zh-CN" sz="2800" dirty="0">
                <a:solidFill>
                  <a:schemeClr val="tx1"/>
                </a:solidFill>
              </a:rPr>
              <a:t> =</a:t>
            </a:r>
            <a:r>
              <a:rPr lang="en-US" altLang="zh-CN" sz="2800" i="1" dirty="0" err="1">
                <a:solidFill>
                  <a:schemeClr val="tx1"/>
                </a:solidFill>
              </a:rPr>
              <a:t>F</a:t>
            </a:r>
            <a:r>
              <a:rPr lang="en-US" altLang="zh-CN" sz="2800" i="0" dirty="0" err="1">
                <a:solidFill>
                  <a:schemeClr val="tx1"/>
                </a:solidFill>
              </a:rPr>
              <a:t>cos</a:t>
            </a:r>
            <a:r>
              <a:rPr lang="en-US" altLang="zh-CN" sz="2800" i="1" dirty="0">
                <a:solidFill>
                  <a:schemeClr val="tx1"/>
                </a:solidFill>
                <a:sym typeface="Symbol" panose="05050102010706020507" pitchFamily="18" charset="2"/>
              </a:rPr>
              <a:t></a:t>
            </a:r>
          </a:p>
          <a:p>
            <a:pPr algn="l">
              <a:lnSpc>
                <a:spcPct val="150000"/>
              </a:lnSpc>
            </a:pPr>
            <a:r>
              <a:rPr lang="en-US" altLang="zh-CN" sz="2800" i="1" dirty="0" err="1">
                <a:solidFill>
                  <a:schemeClr val="tx1"/>
                </a:solidFill>
              </a:rPr>
              <a:t>F</a:t>
            </a:r>
            <a:r>
              <a:rPr lang="en-US" altLang="zh-CN" sz="2800" i="1" baseline="-25000" dirty="0" err="1">
                <a:solidFill>
                  <a:schemeClr val="tx1"/>
                </a:solidFill>
              </a:rPr>
              <a:t>z</a:t>
            </a:r>
            <a:r>
              <a:rPr lang="en-US" altLang="zh-CN" sz="2800" i="1" dirty="0">
                <a:solidFill>
                  <a:schemeClr val="tx1"/>
                </a:solidFill>
              </a:rPr>
              <a:t> </a:t>
            </a:r>
            <a:r>
              <a:rPr lang="en-US" altLang="zh-CN" sz="2800" dirty="0">
                <a:solidFill>
                  <a:schemeClr val="tx1"/>
                </a:solidFill>
              </a:rPr>
              <a:t>=</a:t>
            </a:r>
            <a:r>
              <a:rPr lang="en-US" altLang="zh-CN" sz="2800" i="1" dirty="0" err="1">
                <a:solidFill>
                  <a:schemeClr val="tx1"/>
                </a:solidFill>
              </a:rPr>
              <a:t>F</a:t>
            </a:r>
            <a:r>
              <a:rPr lang="en-US" altLang="zh-CN" sz="2800" i="0" dirty="0" err="1">
                <a:solidFill>
                  <a:schemeClr val="tx1"/>
                </a:solidFill>
              </a:rPr>
              <a:t>cos</a:t>
            </a:r>
            <a:r>
              <a:rPr lang="en-US" altLang="zh-CN" sz="2800" i="1" dirty="0">
                <a:solidFill>
                  <a:schemeClr val="tx1"/>
                </a:solidFill>
                <a:sym typeface="Symbol" panose="05050102010706020507" pitchFamily="18" charset="2"/>
              </a:rPr>
              <a:t></a:t>
            </a:r>
          </a:p>
        </p:txBody>
      </p:sp>
    </p:spTree>
    <p:extLst>
      <p:ext uri="{BB962C8B-B14F-4D97-AF65-F5344CB8AC3E}">
        <p14:creationId xmlns:p14="http://schemas.microsoft.com/office/powerpoint/2010/main" val="5043191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4" presetClass="entr" presetSubtype="32"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ox(out)">
                                      <p:cBhvr>
                                        <p:cTn id="11" dur="5000"/>
                                        <p:tgtEl>
                                          <p:spTgt spid="17"/>
                                        </p:tgtEl>
                                      </p:cBhvr>
                                    </p:animEffect>
                                  </p:childTnLst>
                                </p:cTn>
                              </p:par>
                            </p:childTnLst>
                          </p:cTn>
                        </p:par>
                        <p:par>
                          <p:cTn id="12" fill="hold">
                            <p:stCondLst>
                              <p:cond delay="5000"/>
                            </p:stCondLst>
                            <p:childTnLst>
                              <p:par>
                                <p:cTn id="13" presetID="19" presetClass="entr" presetSubtype="10"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p:cTn id="15" dur="5000" fill="hold"/>
                                        <p:tgtEl>
                                          <p:spTgt spid="41"/>
                                        </p:tgtEl>
                                        <p:attrNameLst>
                                          <p:attrName>ppt_w</p:attrName>
                                        </p:attrNameLst>
                                      </p:cBhvr>
                                      <p:tavLst>
                                        <p:tav tm="0" fmla="#ppt_w*sin(2.5*pi*$)">
                                          <p:val>
                                            <p:fltVal val="0"/>
                                          </p:val>
                                        </p:tav>
                                        <p:tav tm="100000">
                                          <p:val>
                                            <p:fltVal val="1"/>
                                          </p:val>
                                        </p:tav>
                                      </p:tavLst>
                                    </p:anim>
                                    <p:anim calcmode="lin" valueType="num">
                                      <p:cBhvr>
                                        <p:cTn id="16" dur="5000" fill="hold"/>
                                        <p:tgtEl>
                                          <p:spTgt spid="41"/>
                                        </p:tgtEl>
                                        <p:attrNameLst>
                                          <p:attrName>ppt_h</p:attrName>
                                        </p:attrNameLst>
                                      </p:cBhvr>
                                      <p:tavLst>
                                        <p:tav tm="0">
                                          <p:val>
                                            <p:strVal val="#ppt_h"/>
                                          </p:val>
                                        </p:tav>
                                        <p:tav tm="100000">
                                          <p:val>
                                            <p:strVal val="#ppt_h"/>
                                          </p:val>
                                        </p:tav>
                                      </p:tavLst>
                                    </p:anim>
                                  </p:childTnLst>
                                </p:cTn>
                              </p:par>
                              <p:par>
                                <p:cTn id="17" presetID="19" presetClass="entr" presetSubtype="1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p:cTn id="19" dur="5000" fill="hold"/>
                                        <p:tgtEl>
                                          <p:spTgt spid="43"/>
                                        </p:tgtEl>
                                        <p:attrNameLst>
                                          <p:attrName>ppt_w</p:attrName>
                                        </p:attrNameLst>
                                      </p:cBhvr>
                                      <p:tavLst>
                                        <p:tav tm="0" fmla="#ppt_w*sin(2.5*pi*$)">
                                          <p:val>
                                            <p:fltVal val="0"/>
                                          </p:val>
                                        </p:tav>
                                        <p:tav tm="100000">
                                          <p:val>
                                            <p:fltVal val="1"/>
                                          </p:val>
                                        </p:tav>
                                      </p:tavLst>
                                    </p:anim>
                                    <p:anim calcmode="lin" valueType="num">
                                      <p:cBhvr>
                                        <p:cTn id="20" dur="5000" fill="hold"/>
                                        <p:tgtEl>
                                          <p:spTgt spid="43"/>
                                        </p:tgtEl>
                                        <p:attrNameLst>
                                          <p:attrName>ppt_h</p:attrName>
                                        </p:attrNameLst>
                                      </p:cBhvr>
                                      <p:tavLst>
                                        <p:tav tm="0">
                                          <p:val>
                                            <p:strVal val="#ppt_h"/>
                                          </p:val>
                                        </p:tav>
                                        <p:tav tm="100000">
                                          <p:val>
                                            <p:strVal val="#ppt_h"/>
                                          </p:val>
                                        </p:tav>
                                      </p:tavLst>
                                    </p:anim>
                                  </p:childTnLst>
                                </p:cTn>
                              </p:par>
                            </p:childTnLst>
                          </p:cTn>
                        </p:par>
                        <p:par>
                          <p:cTn id="21" fill="hold">
                            <p:stCondLst>
                              <p:cond delay="10000"/>
                            </p:stCondLst>
                            <p:childTnLst>
                              <p:par>
                                <p:cTn id="22" presetID="18" presetClass="entr" presetSubtype="12" fill="hold" grpId="0" nodeType="after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strips(downLeft)">
                                      <p:cBhvr>
                                        <p:cTn id="24" dur="3000"/>
                                        <p:tgtEl>
                                          <p:spTgt spid="48"/>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p:cTn id="27" dur="5000" fill="hold"/>
                                        <p:tgtEl>
                                          <p:spTgt spid="42"/>
                                        </p:tgtEl>
                                        <p:attrNameLst>
                                          <p:attrName>ppt_w</p:attrName>
                                        </p:attrNameLst>
                                      </p:cBhvr>
                                      <p:tavLst>
                                        <p:tav tm="0" fmla="#ppt_w*sin(2.5*pi*$)">
                                          <p:val>
                                            <p:fltVal val="0"/>
                                          </p:val>
                                        </p:tav>
                                        <p:tav tm="100000">
                                          <p:val>
                                            <p:fltVal val="1"/>
                                          </p:val>
                                        </p:tav>
                                      </p:tavLst>
                                    </p:anim>
                                    <p:anim calcmode="lin" valueType="num">
                                      <p:cBhvr>
                                        <p:cTn id="28" dur="5000" fill="hold"/>
                                        <p:tgtEl>
                                          <p:spTgt spid="42"/>
                                        </p:tgtEl>
                                        <p:attrNameLst>
                                          <p:attrName>ppt_h</p:attrName>
                                        </p:attrNameLst>
                                      </p:cBhvr>
                                      <p:tavLst>
                                        <p:tav tm="0">
                                          <p:val>
                                            <p:strVal val="#ppt_h"/>
                                          </p:val>
                                        </p:tav>
                                        <p:tav tm="100000">
                                          <p:val>
                                            <p:strVal val="#ppt_h"/>
                                          </p:val>
                                        </p:tav>
                                      </p:tavLst>
                                    </p:anim>
                                  </p:childTnLst>
                                </p:cTn>
                              </p:par>
                            </p:childTnLst>
                          </p:cTn>
                        </p:par>
                        <p:par>
                          <p:cTn id="29" fill="hold">
                            <p:stCondLst>
                              <p:cond delay="15000"/>
                            </p:stCondLst>
                            <p:childTnLst>
                              <p:par>
                                <p:cTn id="30" presetID="18" presetClass="entr" presetSubtype="6"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strips(downRight)">
                                      <p:cBhvr>
                                        <p:cTn id="32" dur="3000"/>
                                        <p:tgtEl>
                                          <p:spTgt spid="47"/>
                                        </p:tgtEl>
                                      </p:cBhvr>
                                    </p:animEffect>
                                  </p:childTnLst>
                                </p:cTn>
                              </p:par>
                              <p:par>
                                <p:cTn id="33" presetID="19" presetClass="entr" presetSubtype="1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p:cTn id="35" dur="5000" fill="hold"/>
                                        <p:tgtEl>
                                          <p:spTgt spid="44"/>
                                        </p:tgtEl>
                                        <p:attrNameLst>
                                          <p:attrName>ppt_w</p:attrName>
                                        </p:attrNameLst>
                                      </p:cBhvr>
                                      <p:tavLst>
                                        <p:tav tm="0" fmla="#ppt_w*sin(2.5*pi*$)">
                                          <p:val>
                                            <p:fltVal val="0"/>
                                          </p:val>
                                        </p:tav>
                                        <p:tav tm="100000">
                                          <p:val>
                                            <p:fltVal val="1"/>
                                          </p:val>
                                        </p:tav>
                                      </p:tavLst>
                                    </p:anim>
                                    <p:anim calcmode="lin" valueType="num">
                                      <p:cBhvr>
                                        <p:cTn id="36" dur="5000" fill="hold"/>
                                        <p:tgtEl>
                                          <p:spTgt spid="44"/>
                                        </p:tgtEl>
                                        <p:attrNameLst>
                                          <p:attrName>ppt_h</p:attrName>
                                        </p:attrNameLst>
                                      </p:cBhvr>
                                      <p:tavLst>
                                        <p:tav tm="0">
                                          <p:val>
                                            <p:strVal val="#ppt_h"/>
                                          </p:val>
                                        </p:tav>
                                        <p:tav tm="100000">
                                          <p:val>
                                            <p:strVal val="#ppt_h"/>
                                          </p:val>
                                        </p:tav>
                                      </p:tavLst>
                                    </p:anim>
                                  </p:childTnLst>
                                </p:cTn>
                              </p:par>
                            </p:childTnLst>
                          </p:cTn>
                        </p:par>
                        <p:par>
                          <p:cTn id="37" fill="hold">
                            <p:stCondLst>
                              <p:cond delay="20000"/>
                            </p:stCondLst>
                            <p:childTnLst>
                              <p:par>
                                <p:cTn id="38" presetID="20" presetClass="entr" presetSubtype="0" fill="hold" grpId="0"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wedge">
                                      <p:cBhvr>
                                        <p:cTn id="40" dur="2000"/>
                                        <p:tgtEl>
                                          <p:spTgt spid="50"/>
                                        </p:tgtEl>
                                      </p:cBhvr>
                                    </p:animEffect>
                                  </p:childTnLst>
                                </p:cTn>
                              </p:par>
                            </p:childTnLst>
                          </p:cTn>
                        </p:par>
                        <p:par>
                          <p:cTn id="41" fill="hold">
                            <p:stCondLst>
                              <p:cond delay="22000"/>
                            </p:stCondLst>
                            <p:childTnLst>
                              <p:par>
                                <p:cTn id="42" presetID="18" presetClass="entr" presetSubtype="9"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strips(upLeft)">
                                      <p:cBhvr>
                                        <p:cTn id="44" dur="3000"/>
                                        <p:tgtEl>
                                          <p:spTgt spid="46"/>
                                        </p:tgtEl>
                                      </p:cBhvr>
                                    </p:animEffect>
                                  </p:childTnLst>
                                </p:cTn>
                              </p:par>
                              <p:par>
                                <p:cTn id="45" presetID="19" presetClass="entr" presetSubtype="1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0" fill="hold"/>
                                        <p:tgtEl>
                                          <p:spTgt spid="45"/>
                                        </p:tgtEl>
                                        <p:attrNameLst>
                                          <p:attrName>ppt_w</p:attrName>
                                        </p:attrNameLst>
                                      </p:cBhvr>
                                      <p:tavLst>
                                        <p:tav tm="0" fmla="#ppt_w*sin(2.5*pi*$)">
                                          <p:val>
                                            <p:fltVal val="0"/>
                                          </p:val>
                                        </p:tav>
                                        <p:tav tm="100000">
                                          <p:val>
                                            <p:fltVal val="1"/>
                                          </p:val>
                                        </p:tav>
                                      </p:tavLst>
                                    </p:anim>
                                    <p:anim calcmode="lin" valueType="num">
                                      <p:cBhvr>
                                        <p:cTn id="48" dur="5000" fill="hold"/>
                                        <p:tgtEl>
                                          <p:spTgt spid="45"/>
                                        </p:tgtEl>
                                        <p:attrNameLst>
                                          <p:attrName>ppt_h</p:attrName>
                                        </p:attrNameLst>
                                      </p:cBhvr>
                                      <p:tavLst>
                                        <p:tav tm="0">
                                          <p:val>
                                            <p:strVal val="#ppt_h"/>
                                          </p:val>
                                        </p:tav>
                                        <p:tav tm="100000">
                                          <p:val>
                                            <p:strVal val="#ppt_h"/>
                                          </p:val>
                                        </p:tav>
                                      </p:tavLst>
                                    </p:anim>
                                  </p:childTnLst>
                                </p:cTn>
                              </p:par>
                            </p:childTnLst>
                          </p:cTn>
                        </p:par>
                        <p:par>
                          <p:cTn id="49" fill="hold">
                            <p:stCondLst>
                              <p:cond delay="27000"/>
                            </p:stCondLst>
                            <p:childTnLst>
                              <p:par>
                                <p:cTn id="50" presetID="20" presetClass="entr" presetSubtype="0"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edge">
                                      <p:cBhvr>
                                        <p:cTn id="52" dur="30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strips(downLeft)">
                                      <p:cBhvr>
                                        <p:cTn id="57" dur="5000"/>
                                        <p:tgtEl>
                                          <p:spTgt spid="38"/>
                                        </p:tgtEl>
                                      </p:cBhvr>
                                    </p:animEffect>
                                  </p:childTnLst>
                                </p:cTn>
                              </p:par>
                            </p:childTnLst>
                          </p:cTn>
                        </p:par>
                        <p:par>
                          <p:cTn id="58" fill="hold">
                            <p:stCondLst>
                              <p:cond delay="5000"/>
                            </p:stCondLst>
                            <p:childTnLst>
                              <p:par>
                                <p:cTn id="59" presetID="26" presetClass="emph" presetSubtype="0" repeatCount="3000" fill="hold" grpId="1" nodeType="afterEffect">
                                  <p:stCondLst>
                                    <p:cond delay="0"/>
                                  </p:stCondLst>
                                  <p:childTnLst>
                                    <p:animEffect transition="out" filter="fade">
                                      <p:cBhvr>
                                        <p:cTn id="60" dur="500" tmFilter="0, 0; .2, .5; .8, .5; 1, 0"/>
                                        <p:tgtEl>
                                          <p:spTgt spid="38"/>
                                        </p:tgtEl>
                                      </p:cBhvr>
                                    </p:animEffect>
                                    <p:animScale>
                                      <p:cBhvr>
                                        <p:cTn id="61" dur="250" autoRev="1" fill="hold"/>
                                        <p:tgtEl>
                                          <p:spTgt spid="38"/>
                                        </p:tgtEl>
                                      </p:cBhvr>
                                      <p:by x="105000" y="105000"/>
                                    </p:animScale>
                                  </p:childTnLst>
                                </p:cTn>
                              </p:par>
                              <p:par>
                                <p:cTn id="62" presetID="19" presetClass="entr" presetSubtype="1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 calcmode="lin" valueType="num">
                                      <p:cBhvr>
                                        <p:cTn id="64" dur="5000" fill="hold"/>
                                        <p:tgtEl>
                                          <p:spTgt spid="35"/>
                                        </p:tgtEl>
                                        <p:attrNameLst>
                                          <p:attrName>ppt_w</p:attrName>
                                        </p:attrNameLst>
                                      </p:cBhvr>
                                      <p:tavLst>
                                        <p:tav tm="0" fmla="#ppt_w*sin(2.5*pi*$)">
                                          <p:val>
                                            <p:fltVal val="0"/>
                                          </p:val>
                                        </p:tav>
                                        <p:tav tm="100000">
                                          <p:val>
                                            <p:fltVal val="1"/>
                                          </p:val>
                                        </p:tav>
                                      </p:tavLst>
                                    </p:anim>
                                    <p:anim calcmode="lin" valueType="num">
                                      <p:cBhvr>
                                        <p:cTn id="65" dur="5000" fill="hold"/>
                                        <p:tgtEl>
                                          <p:spTgt spid="35"/>
                                        </p:tgtEl>
                                        <p:attrNameLst>
                                          <p:attrName>ppt_h</p:attrName>
                                        </p:attrNameLst>
                                      </p:cBhvr>
                                      <p:tavLst>
                                        <p:tav tm="0">
                                          <p:val>
                                            <p:strVal val="#ppt_h"/>
                                          </p:val>
                                        </p:tav>
                                        <p:tav tm="100000">
                                          <p:val>
                                            <p:strVal val="#ppt_h"/>
                                          </p:val>
                                        </p:tav>
                                      </p:tavLst>
                                    </p:anim>
                                  </p:childTnLst>
                                </p:cTn>
                              </p:par>
                              <p:par>
                                <p:cTn id="66" presetID="7" presetClass="emph" presetSubtype="2" fill="hold" nodeType="withEffect">
                                  <p:stCondLst>
                                    <p:cond delay="0"/>
                                  </p:stCondLst>
                                  <p:childTnLst>
                                    <p:animClr clrSpc="rgb" dir="cw">
                                      <p:cBhvr>
                                        <p:cTn id="67" dur="2000" fill="hold"/>
                                        <p:tgtEl>
                                          <p:spTgt spid="48"/>
                                        </p:tgtEl>
                                        <p:attrNameLst>
                                          <p:attrName>stroke.color</p:attrName>
                                        </p:attrNameLst>
                                      </p:cBhvr>
                                      <p:to>
                                        <a:srgbClr val="FF9900"/>
                                      </p:to>
                                    </p:animClr>
                                    <p:set>
                                      <p:cBhvr>
                                        <p:cTn id="68" dur="2000" fill="hold"/>
                                        <p:tgtEl>
                                          <p:spTgt spid="48"/>
                                        </p:tgtEl>
                                        <p:attrNameLst>
                                          <p:attrName>stroke.on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wipe(left)">
                                      <p:cBhvr>
                                        <p:cTn id="73" dur="5000"/>
                                        <p:tgtEl>
                                          <p:spTgt spid="36"/>
                                        </p:tgtEl>
                                      </p:cBhvr>
                                    </p:animEffect>
                                  </p:childTnLst>
                                </p:cTn>
                              </p:par>
                            </p:childTnLst>
                          </p:cTn>
                        </p:par>
                        <p:par>
                          <p:cTn id="74" fill="hold">
                            <p:stCondLst>
                              <p:cond delay="5000"/>
                            </p:stCondLst>
                            <p:childTnLst>
                              <p:par>
                                <p:cTn id="75" presetID="26" presetClass="emph" presetSubtype="0" repeatCount="3000" fill="hold" grpId="1" nodeType="afterEffect">
                                  <p:stCondLst>
                                    <p:cond delay="0"/>
                                  </p:stCondLst>
                                  <p:childTnLst>
                                    <p:animEffect transition="out" filter="fade">
                                      <p:cBhvr>
                                        <p:cTn id="76" dur="500" tmFilter="0, 0; .2, .5; .8, .5; 1, 0"/>
                                        <p:tgtEl>
                                          <p:spTgt spid="36"/>
                                        </p:tgtEl>
                                      </p:cBhvr>
                                    </p:animEffect>
                                    <p:animScale>
                                      <p:cBhvr>
                                        <p:cTn id="77" dur="250" autoRev="1" fill="hold"/>
                                        <p:tgtEl>
                                          <p:spTgt spid="36"/>
                                        </p:tgtEl>
                                      </p:cBhvr>
                                      <p:by x="105000" y="105000"/>
                                    </p:animScale>
                                  </p:childTnLst>
                                </p:cTn>
                              </p:par>
                              <p:par>
                                <p:cTn id="78" presetID="19" presetClass="entr" presetSubtype="1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 calcmode="lin" valueType="num">
                                      <p:cBhvr>
                                        <p:cTn id="80" dur="5000" fill="hold"/>
                                        <p:tgtEl>
                                          <p:spTgt spid="40"/>
                                        </p:tgtEl>
                                        <p:attrNameLst>
                                          <p:attrName>ppt_w</p:attrName>
                                        </p:attrNameLst>
                                      </p:cBhvr>
                                      <p:tavLst>
                                        <p:tav tm="0" fmla="#ppt_w*sin(2.5*pi*$)">
                                          <p:val>
                                            <p:fltVal val="0"/>
                                          </p:val>
                                        </p:tav>
                                        <p:tav tm="100000">
                                          <p:val>
                                            <p:fltVal val="1"/>
                                          </p:val>
                                        </p:tav>
                                      </p:tavLst>
                                    </p:anim>
                                    <p:anim calcmode="lin" valueType="num">
                                      <p:cBhvr>
                                        <p:cTn id="81" dur="5000" fill="hold"/>
                                        <p:tgtEl>
                                          <p:spTgt spid="40"/>
                                        </p:tgtEl>
                                        <p:attrNameLst>
                                          <p:attrName>ppt_h</p:attrName>
                                        </p:attrNameLst>
                                      </p:cBhvr>
                                      <p:tavLst>
                                        <p:tav tm="0">
                                          <p:val>
                                            <p:strVal val="#ppt_h"/>
                                          </p:val>
                                        </p:tav>
                                        <p:tav tm="100000">
                                          <p:val>
                                            <p:strVal val="#ppt_h"/>
                                          </p:val>
                                        </p:tav>
                                      </p:tavLst>
                                    </p:anim>
                                  </p:childTnLst>
                                </p:cTn>
                              </p:par>
                              <p:par>
                                <p:cTn id="82" presetID="7" presetClass="emph" presetSubtype="2" fill="hold" nodeType="withEffect">
                                  <p:stCondLst>
                                    <p:cond delay="0"/>
                                  </p:stCondLst>
                                  <p:childTnLst>
                                    <p:animClr clrSpc="rgb" dir="cw">
                                      <p:cBhvr>
                                        <p:cTn id="83" dur="2000" fill="hold"/>
                                        <p:tgtEl>
                                          <p:spTgt spid="47"/>
                                        </p:tgtEl>
                                        <p:attrNameLst>
                                          <p:attrName>stroke.color</p:attrName>
                                        </p:attrNameLst>
                                      </p:cBhvr>
                                      <p:to>
                                        <a:srgbClr val="FF9900"/>
                                      </p:to>
                                    </p:animClr>
                                    <p:set>
                                      <p:cBhvr>
                                        <p:cTn id="84" dur="2000" fill="hold"/>
                                        <p:tgtEl>
                                          <p:spTgt spid="47"/>
                                        </p:tgtEl>
                                        <p:attrNameLst>
                                          <p:attrName>stroke.on</p:attrName>
                                        </p:attrNameLst>
                                      </p:cBhvr>
                                      <p:to>
                                        <p:strVal val="true"/>
                                      </p:to>
                                    </p:set>
                                  </p:childTnLst>
                                </p:cTn>
                              </p:par>
                              <p:par>
                                <p:cTn id="85" presetID="7" presetClass="emph" presetSubtype="2" fill="hold" nodeType="withEffect">
                                  <p:stCondLst>
                                    <p:cond delay="0"/>
                                  </p:stCondLst>
                                  <p:childTnLst>
                                    <p:animClr clrSpc="rgb" dir="cw">
                                      <p:cBhvr>
                                        <p:cTn id="86" dur="2000" fill="hold"/>
                                        <p:tgtEl>
                                          <p:spTgt spid="50"/>
                                        </p:tgtEl>
                                        <p:attrNameLst>
                                          <p:attrName>stroke.color</p:attrName>
                                        </p:attrNameLst>
                                      </p:cBhvr>
                                      <p:to>
                                        <a:srgbClr val="FF9900"/>
                                      </p:to>
                                    </p:animClr>
                                    <p:set>
                                      <p:cBhvr>
                                        <p:cTn id="87" dur="2000" fill="hold"/>
                                        <p:tgtEl>
                                          <p:spTgt spid="50"/>
                                        </p:tgtEl>
                                        <p:attrNameLst>
                                          <p:attrName>stroke.on</p:attrName>
                                        </p:attrNameLst>
                                      </p:cBhvr>
                                      <p:to>
                                        <p:strVal val="tru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wipe(down)">
                                      <p:cBhvr>
                                        <p:cTn id="92" dur="5000"/>
                                        <p:tgtEl>
                                          <p:spTgt spid="37"/>
                                        </p:tgtEl>
                                      </p:cBhvr>
                                    </p:animEffect>
                                  </p:childTnLst>
                                </p:cTn>
                              </p:par>
                            </p:childTnLst>
                          </p:cTn>
                        </p:par>
                        <p:par>
                          <p:cTn id="93" fill="hold">
                            <p:stCondLst>
                              <p:cond delay="5000"/>
                            </p:stCondLst>
                            <p:childTnLst>
                              <p:par>
                                <p:cTn id="94" presetID="26" presetClass="emph" presetSubtype="0" repeatCount="3000" fill="hold" grpId="1" nodeType="afterEffect">
                                  <p:stCondLst>
                                    <p:cond delay="0"/>
                                  </p:stCondLst>
                                  <p:childTnLst>
                                    <p:animEffect transition="out" filter="fade">
                                      <p:cBhvr>
                                        <p:cTn id="95" dur="500" tmFilter="0, 0; .2, .5; .8, .5; 1, 0"/>
                                        <p:tgtEl>
                                          <p:spTgt spid="37"/>
                                        </p:tgtEl>
                                      </p:cBhvr>
                                    </p:animEffect>
                                    <p:animScale>
                                      <p:cBhvr>
                                        <p:cTn id="96" dur="250" autoRev="1" fill="hold"/>
                                        <p:tgtEl>
                                          <p:spTgt spid="37"/>
                                        </p:tgtEl>
                                      </p:cBhvr>
                                      <p:by x="105000" y="105000"/>
                                    </p:animScale>
                                  </p:childTnLst>
                                </p:cTn>
                              </p:par>
                              <p:par>
                                <p:cTn id="97" presetID="19" presetClass="entr" presetSubtype="1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 calcmode="lin" valueType="num">
                                      <p:cBhvr>
                                        <p:cTn id="99" dur="5000" fill="hold"/>
                                        <p:tgtEl>
                                          <p:spTgt spid="39"/>
                                        </p:tgtEl>
                                        <p:attrNameLst>
                                          <p:attrName>ppt_w</p:attrName>
                                        </p:attrNameLst>
                                      </p:cBhvr>
                                      <p:tavLst>
                                        <p:tav tm="0" fmla="#ppt_w*sin(2.5*pi*$)">
                                          <p:val>
                                            <p:fltVal val="0"/>
                                          </p:val>
                                        </p:tav>
                                        <p:tav tm="100000">
                                          <p:val>
                                            <p:fltVal val="1"/>
                                          </p:val>
                                        </p:tav>
                                      </p:tavLst>
                                    </p:anim>
                                    <p:anim calcmode="lin" valueType="num">
                                      <p:cBhvr>
                                        <p:cTn id="100" dur="5000" fill="hold"/>
                                        <p:tgtEl>
                                          <p:spTgt spid="39"/>
                                        </p:tgtEl>
                                        <p:attrNameLst>
                                          <p:attrName>ppt_h</p:attrName>
                                        </p:attrNameLst>
                                      </p:cBhvr>
                                      <p:tavLst>
                                        <p:tav tm="0">
                                          <p:val>
                                            <p:strVal val="#ppt_h"/>
                                          </p:val>
                                        </p:tav>
                                        <p:tav tm="100000">
                                          <p:val>
                                            <p:strVal val="#ppt_h"/>
                                          </p:val>
                                        </p:tav>
                                      </p:tavLst>
                                    </p:anim>
                                  </p:childTnLst>
                                </p:cTn>
                              </p:par>
                              <p:par>
                                <p:cTn id="101" presetID="7" presetClass="emph" presetSubtype="2" fill="hold" nodeType="withEffect">
                                  <p:stCondLst>
                                    <p:cond delay="0"/>
                                  </p:stCondLst>
                                  <p:childTnLst>
                                    <p:animClr clrSpc="rgb" dir="cw">
                                      <p:cBhvr>
                                        <p:cTn id="102" dur="2000" fill="hold"/>
                                        <p:tgtEl>
                                          <p:spTgt spid="46"/>
                                        </p:tgtEl>
                                        <p:attrNameLst>
                                          <p:attrName>stroke.color</p:attrName>
                                        </p:attrNameLst>
                                      </p:cBhvr>
                                      <p:to>
                                        <a:srgbClr val="FF9900"/>
                                      </p:to>
                                    </p:animClr>
                                    <p:set>
                                      <p:cBhvr>
                                        <p:cTn id="103" dur="2000" fill="hold"/>
                                        <p:tgtEl>
                                          <p:spTgt spid="46"/>
                                        </p:tgtEl>
                                        <p:attrNameLst>
                                          <p:attrName>stroke.on</p:attrName>
                                        </p:attrNameLst>
                                      </p:cBhvr>
                                      <p:to>
                                        <p:strVal val="true"/>
                                      </p:to>
                                    </p:set>
                                  </p:childTnLst>
                                </p:cTn>
                              </p:par>
                              <p:par>
                                <p:cTn id="104" presetID="7" presetClass="emph" presetSubtype="2" fill="hold" nodeType="withEffect">
                                  <p:stCondLst>
                                    <p:cond delay="0"/>
                                  </p:stCondLst>
                                  <p:childTnLst>
                                    <p:animClr clrSpc="rgb" dir="cw">
                                      <p:cBhvr>
                                        <p:cTn id="105" dur="2000" fill="hold"/>
                                        <p:tgtEl>
                                          <p:spTgt spid="49"/>
                                        </p:tgtEl>
                                        <p:attrNameLst>
                                          <p:attrName>stroke.color</p:attrName>
                                        </p:attrNameLst>
                                      </p:cBhvr>
                                      <p:to>
                                        <a:srgbClr val="FF9900"/>
                                      </p:to>
                                    </p:animClr>
                                    <p:set>
                                      <p:cBhvr>
                                        <p:cTn id="106" dur="2000" fill="hold"/>
                                        <p:tgtEl>
                                          <p:spTgt spid="49"/>
                                        </p:tgtEl>
                                        <p:attrNameLst>
                                          <p:attrName>stroke.on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iterate type="lt">
                                    <p:tmPct val="30000"/>
                                  </p:iterate>
                                  <p:childTnLst>
                                    <p:set>
                                      <p:cBhvr>
                                        <p:cTn id="110" dur="1" fill="hold">
                                          <p:stCondLst>
                                            <p:cond delay="0"/>
                                          </p:stCondLst>
                                        </p:cTn>
                                        <p:tgtEl>
                                          <p:spTgt spid="54">
                                            <p:txEl>
                                              <p:pRg st="0" end="0"/>
                                            </p:txEl>
                                          </p:spTgt>
                                        </p:tgtEl>
                                        <p:attrNameLst>
                                          <p:attrName>style.visibility</p:attrName>
                                        </p:attrNameLst>
                                      </p:cBhvr>
                                      <p:to>
                                        <p:strVal val="visible"/>
                                      </p:to>
                                    </p:set>
                                    <p:animEffect transition="in" filter="wipe(left)">
                                      <p:cBhvr>
                                        <p:cTn id="111" dur="500"/>
                                        <p:tgtEl>
                                          <p:spTgt spid="54">
                                            <p:txEl>
                                              <p:pRg st="0" end="0"/>
                                            </p:txEl>
                                          </p:spTgt>
                                        </p:tgtEl>
                                      </p:cBhvr>
                                    </p:animEffec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iterate type="lt">
                                    <p:tmPct val="30000"/>
                                  </p:iterate>
                                  <p:childTnLst>
                                    <p:set>
                                      <p:cBhvr>
                                        <p:cTn id="115" dur="1" fill="hold">
                                          <p:stCondLst>
                                            <p:cond delay="0"/>
                                          </p:stCondLst>
                                        </p:cTn>
                                        <p:tgtEl>
                                          <p:spTgt spid="54">
                                            <p:txEl>
                                              <p:pRg st="1" end="1"/>
                                            </p:txEl>
                                          </p:spTgt>
                                        </p:tgtEl>
                                        <p:attrNameLst>
                                          <p:attrName>style.visibility</p:attrName>
                                        </p:attrNameLst>
                                      </p:cBhvr>
                                      <p:to>
                                        <p:strVal val="visible"/>
                                      </p:to>
                                    </p:set>
                                    <p:animEffect transition="in" filter="wipe(left)">
                                      <p:cBhvr>
                                        <p:cTn id="116" dur="500"/>
                                        <p:tgtEl>
                                          <p:spTgt spid="54">
                                            <p:txEl>
                                              <p:pRg st="1" end="1"/>
                                            </p:txEl>
                                          </p:spTgt>
                                        </p:tgtEl>
                                      </p:cBhvr>
                                    </p:animEffect>
                                  </p:childTnLst>
                                  <p:subTnLst>
                                    <p:audio>
                                      <p:cMediaNode>
                                        <p:cTn display="0" masterRel="sameClick">
                                          <p:stCondLst>
                                            <p:cond evt="begin" delay="0">
                                              <p:tn val="114"/>
                                            </p:cond>
                                          </p:stCondLst>
                                          <p:endCondLst>
                                            <p:cond evt="onStopAudio" delay="0">
                                              <p:tgtEl>
                                                <p:sldTgt/>
                                              </p:tgtEl>
                                            </p:cond>
                                          </p:endCondLst>
                                        </p:cTn>
                                        <p:tgtEl>
                                          <p:sndTgt r:embed="rId3" name="CAMERA.WAV"/>
                                        </p:tgtEl>
                                      </p:cMediaNode>
                                    </p:audio>
                                  </p:sub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iterate type="lt">
                                    <p:tmPct val="30000"/>
                                  </p:iterate>
                                  <p:childTnLst>
                                    <p:set>
                                      <p:cBhvr>
                                        <p:cTn id="120" dur="1" fill="hold">
                                          <p:stCondLst>
                                            <p:cond delay="0"/>
                                          </p:stCondLst>
                                        </p:cTn>
                                        <p:tgtEl>
                                          <p:spTgt spid="54">
                                            <p:txEl>
                                              <p:pRg st="2" end="2"/>
                                            </p:txEl>
                                          </p:spTgt>
                                        </p:tgtEl>
                                        <p:attrNameLst>
                                          <p:attrName>style.visibility</p:attrName>
                                        </p:attrNameLst>
                                      </p:cBhvr>
                                      <p:to>
                                        <p:strVal val="visible"/>
                                      </p:to>
                                    </p:set>
                                    <p:animEffect transition="in" filter="wipe(left)">
                                      <p:cBhvr>
                                        <p:cTn id="121" dur="500"/>
                                        <p:tgtEl>
                                          <p:spTgt spid="54">
                                            <p:txEl>
                                              <p:pRg st="2" end="2"/>
                                            </p:txEl>
                                          </p:spTgt>
                                        </p:tgtEl>
                                      </p:cBhvr>
                                    </p:animEffect>
                                  </p:childTnLst>
                                  <p:subTnLst>
                                    <p:audio>
                                      <p:cMediaNode>
                                        <p:cTn display="0" masterRel="sameClick">
                                          <p:stCondLst>
                                            <p:cond evt="begin" delay="0">
                                              <p:tn val="11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9" grpId="0" animBg="1"/>
      <p:bldP spid="35" grpId="0"/>
      <p:bldP spid="36" grpId="0" animBg="1"/>
      <p:bldP spid="36" grpId="1" animBg="1"/>
      <p:bldP spid="37" grpId="0" animBg="1"/>
      <p:bldP spid="37" grpId="1" animBg="1"/>
      <p:bldP spid="38" grpId="0" animBg="1"/>
      <p:bldP spid="38" grpId="1" animBg="1"/>
      <p:bldP spid="39" grpId="0"/>
      <p:bldP spid="40" grpId="0"/>
      <p:bldP spid="41" grpId="0"/>
      <p:bldP spid="42" grpId="0"/>
      <p:bldP spid="43" grpId="0"/>
      <p:bldP spid="44" grpId="0"/>
      <p:bldP spid="45" grpId="0"/>
      <p:bldP spid="46" grpId="0" animBg="1"/>
      <p:bldP spid="47" grpId="0" animBg="1"/>
      <p:bldP spid="48" grpId="0" animBg="1"/>
      <p:bldP spid="49" grpId="0" animBg="1"/>
      <p:bldP spid="50" grpId="0" animBg="1"/>
      <p:bldP spid="54"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6" name="Text Box 9"/>
          <p:cNvSpPr txBox="1">
            <a:spLocks noChangeArrowheads="1"/>
          </p:cNvSpPr>
          <p:nvPr/>
        </p:nvSpPr>
        <p:spPr bwMode="auto">
          <a:xfrm>
            <a:off x="1055440" y="1482668"/>
            <a:ext cx="374441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2800" i="0" dirty="0">
                <a:solidFill>
                  <a:srgbClr val="FF0000"/>
                </a:solidFill>
                <a:latin typeface="微软雅黑" panose="020B0503020204020204" pitchFamily="34" charset="-122"/>
                <a:ea typeface="微软雅黑" panose="020B0503020204020204" pitchFamily="34" charset="-122"/>
              </a:rPr>
              <a:t>二次投影法</a:t>
            </a:r>
            <a:endParaRPr lang="zh-CN" altLang="en-US" sz="2800" i="0" dirty="0">
              <a:latin typeface="微软雅黑" panose="020B0503020204020204" pitchFamily="34" charset="-122"/>
              <a:ea typeface="微软雅黑" panose="020B0503020204020204" pitchFamily="34" charset="-122"/>
            </a:endParaRPr>
          </a:p>
        </p:txBody>
      </p:sp>
      <p:sp>
        <p:nvSpPr>
          <p:cNvPr id="29" name="Rectangle 61"/>
          <p:cNvSpPr>
            <a:spLocks noChangeArrowheads="1"/>
          </p:cNvSpPr>
          <p:nvPr/>
        </p:nvSpPr>
        <p:spPr bwMode="auto">
          <a:xfrm>
            <a:off x="7094591" y="1815301"/>
            <a:ext cx="4464496" cy="3978892"/>
          </a:xfrm>
          <a:prstGeom prst="rect">
            <a:avLst/>
          </a:prstGeom>
          <a:solidFill>
            <a:srgbClr val="B9CDE5"/>
          </a:solidFill>
          <a:ln>
            <a:noFill/>
          </a:ln>
          <a:effectLst/>
        </p:spPr>
        <p:txBody>
          <a:bodyPr wrap="none" anchor="ctr"/>
          <a:lstStyle/>
          <a:p>
            <a:endParaRPr lang="zh-CN" altLang="en-US"/>
          </a:p>
        </p:txBody>
      </p:sp>
      <p:sp>
        <p:nvSpPr>
          <p:cNvPr id="54" name="Text Box 35"/>
          <p:cNvSpPr txBox="1">
            <a:spLocks noChangeArrowheads="1"/>
          </p:cNvSpPr>
          <p:nvPr/>
        </p:nvSpPr>
        <p:spPr bwMode="auto">
          <a:xfrm>
            <a:off x="1332839" y="2627595"/>
            <a:ext cx="3751263" cy="2598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800" dirty="0" err="1">
                <a:solidFill>
                  <a:schemeClr val="tx1"/>
                </a:solidFill>
              </a:rPr>
              <a:t>F</a:t>
            </a:r>
            <a:r>
              <a:rPr lang="en-US" altLang="zh-CN" sz="2800" baseline="-25000" dirty="0" err="1">
                <a:solidFill>
                  <a:schemeClr val="tx1"/>
                </a:solidFill>
              </a:rPr>
              <a:t>xy</a:t>
            </a:r>
            <a:r>
              <a:rPr lang="en-US" altLang="zh-CN" sz="2800" dirty="0">
                <a:solidFill>
                  <a:schemeClr val="tx1"/>
                </a:solidFill>
              </a:rPr>
              <a:t> =</a:t>
            </a:r>
            <a:r>
              <a:rPr lang="en-US" altLang="zh-CN" sz="2800" dirty="0" err="1">
                <a:solidFill>
                  <a:schemeClr val="tx1"/>
                </a:solidFill>
              </a:rPr>
              <a:t>F</a:t>
            </a:r>
            <a:r>
              <a:rPr lang="en-US" altLang="zh-CN" sz="2800" i="0" dirty="0" err="1">
                <a:solidFill>
                  <a:schemeClr val="tx1"/>
                </a:solidFill>
              </a:rPr>
              <a:t>sin</a:t>
            </a:r>
            <a:r>
              <a:rPr lang="en-US" altLang="zh-CN" sz="2800" dirty="0">
                <a:solidFill>
                  <a:schemeClr val="tx1"/>
                </a:solidFill>
                <a:sym typeface="Symbol" panose="05050102010706020507" pitchFamily="18" charset="2"/>
              </a:rPr>
              <a:t></a:t>
            </a:r>
          </a:p>
          <a:p>
            <a:pPr>
              <a:lnSpc>
                <a:spcPct val="150000"/>
              </a:lnSpc>
            </a:pPr>
            <a:r>
              <a:rPr lang="en-US" altLang="zh-CN" sz="2800" i="1" dirty="0" err="1">
                <a:solidFill>
                  <a:schemeClr val="tx1"/>
                </a:solidFill>
              </a:rPr>
              <a:t>F</a:t>
            </a:r>
            <a:r>
              <a:rPr lang="en-US" altLang="zh-CN" sz="2800" i="1" baseline="-25000" dirty="0" err="1">
                <a:solidFill>
                  <a:schemeClr val="tx1"/>
                </a:solidFill>
              </a:rPr>
              <a:t>x</a:t>
            </a:r>
            <a:r>
              <a:rPr lang="en-US" altLang="zh-CN" sz="2800" dirty="0">
                <a:solidFill>
                  <a:schemeClr val="tx1"/>
                </a:solidFill>
              </a:rPr>
              <a:t> = </a:t>
            </a:r>
            <a:r>
              <a:rPr lang="en-US" altLang="zh-CN" sz="2800" dirty="0" err="1">
                <a:solidFill>
                  <a:schemeClr val="tx1"/>
                </a:solidFill>
              </a:rPr>
              <a:t>F</a:t>
            </a:r>
            <a:r>
              <a:rPr lang="en-US" altLang="zh-CN" sz="2800" i="0" dirty="0" err="1">
                <a:solidFill>
                  <a:schemeClr val="tx1"/>
                </a:solidFill>
              </a:rPr>
              <a:t>sin</a:t>
            </a:r>
            <a:r>
              <a:rPr lang="en-US" altLang="zh-CN" sz="2800" dirty="0">
                <a:solidFill>
                  <a:schemeClr val="tx1"/>
                </a:solidFill>
                <a:sym typeface="Symbol" panose="05050102010706020507" pitchFamily="18" charset="2"/>
              </a:rPr>
              <a:t></a:t>
            </a:r>
            <a:r>
              <a:rPr kumimoji="1" lang="en-US" altLang="zh-CN" sz="2800" b="0" i="0" kern="0" dirty="0">
                <a:solidFill>
                  <a:schemeClr val="tx1"/>
                </a:solidFill>
                <a:ea typeface="黑体" panose="02010609060101010101" pitchFamily="49" charset="-122"/>
                <a:sym typeface="Symbol" panose="05050102010706020507" pitchFamily="18" charset="2"/>
              </a:rPr>
              <a:t> </a:t>
            </a:r>
            <a:r>
              <a:rPr lang="en-US" altLang="zh-CN" sz="2800" i="0" dirty="0">
                <a:solidFill>
                  <a:schemeClr val="tx1"/>
                </a:solidFill>
              </a:rPr>
              <a:t>cos</a:t>
            </a:r>
            <a:r>
              <a:rPr lang="en-US" altLang="zh-CN" sz="2800" dirty="0">
                <a:solidFill>
                  <a:schemeClr val="tx1"/>
                </a:solidFill>
                <a:sym typeface="Symbol" panose="05050102010706020507" pitchFamily="18" charset="2"/>
              </a:rPr>
              <a:t></a:t>
            </a:r>
          </a:p>
          <a:p>
            <a:pPr>
              <a:lnSpc>
                <a:spcPct val="150000"/>
              </a:lnSpc>
            </a:pPr>
            <a:r>
              <a:rPr lang="en-US" altLang="zh-CN" sz="2800" i="1" dirty="0" err="1">
                <a:solidFill>
                  <a:schemeClr val="tx1"/>
                </a:solidFill>
              </a:rPr>
              <a:t>F</a:t>
            </a:r>
            <a:r>
              <a:rPr lang="en-US" altLang="zh-CN" sz="2800" i="1" baseline="-25000" dirty="0" err="1">
                <a:solidFill>
                  <a:schemeClr val="tx1"/>
                </a:solidFill>
              </a:rPr>
              <a:t>y</a:t>
            </a:r>
            <a:r>
              <a:rPr lang="en-US" altLang="zh-CN" sz="2800" dirty="0">
                <a:solidFill>
                  <a:schemeClr val="tx1"/>
                </a:solidFill>
              </a:rPr>
              <a:t> = </a:t>
            </a:r>
            <a:r>
              <a:rPr lang="en-US" altLang="zh-CN" sz="2800" dirty="0" err="1">
                <a:solidFill>
                  <a:schemeClr val="tx1"/>
                </a:solidFill>
              </a:rPr>
              <a:t>F</a:t>
            </a:r>
            <a:r>
              <a:rPr lang="en-US" altLang="zh-CN" sz="2800" i="0" dirty="0" err="1">
                <a:solidFill>
                  <a:schemeClr val="tx1"/>
                </a:solidFill>
              </a:rPr>
              <a:t>sin</a:t>
            </a:r>
            <a:r>
              <a:rPr lang="en-US" altLang="zh-CN" sz="2800" dirty="0">
                <a:solidFill>
                  <a:schemeClr val="tx1"/>
                </a:solidFill>
                <a:sym typeface="Symbol" panose="05050102010706020507" pitchFamily="18" charset="2"/>
              </a:rPr>
              <a:t></a:t>
            </a:r>
            <a:r>
              <a:rPr lang="en-US" altLang="zh-CN" sz="2800" dirty="0">
                <a:solidFill>
                  <a:schemeClr val="tx1"/>
                </a:solidFill>
              </a:rPr>
              <a:t> </a:t>
            </a:r>
            <a:r>
              <a:rPr lang="en-US" altLang="zh-CN" sz="2800" i="0" dirty="0">
                <a:solidFill>
                  <a:schemeClr val="tx1"/>
                </a:solidFill>
              </a:rPr>
              <a:t>sin</a:t>
            </a:r>
            <a:r>
              <a:rPr lang="en-US" altLang="zh-CN" sz="2800" dirty="0">
                <a:solidFill>
                  <a:schemeClr val="tx1"/>
                </a:solidFill>
                <a:sym typeface="Symbol" panose="05050102010706020507" pitchFamily="18" charset="2"/>
              </a:rPr>
              <a:t> </a:t>
            </a:r>
          </a:p>
          <a:p>
            <a:pPr>
              <a:lnSpc>
                <a:spcPct val="150000"/>
              </a:lnSpc>
            </a:pPr>
            <a:r>
              <a:rPr lang="en-US" altLang="zh-CN" sz="2800" i="1" dirty="0" err="1">
                <a:solidFill>
                  <a:schemeClr val="tx1"/>
                </a:solidFill>
              </a:rPr>
              <a:t>F</a:t>
            </a:r>
            <a:r>
              <a:rPr lang="en-US" altLang="zh-CN" sz="2800" i="1" baseline="-25000" dirty="0" err="1">
                <a:solidFill>
                  <a:schemeClr val="tx1"/>
                </a:solidFill>
              </a:rPr>
              <a:t>z</a:t>
            </a:r>
            <a:r>
              <a:rPr lang="en-US" altLang="zh-CN" sz="2800" i="1" dirty="0">
                <a:solidFill>
                  <a:schemeClr val="tx1"/>
                </a:solidFill>
              </a:rPr>
              <a:t> </a:t>
            </a:r>
            <a:r>
              <a:rPr lang="en-US" altLang="zh-CN" sz="2800" dirty="0">
                <a:solidFill>
                  <a:schemeClr val="tx1"/>
                </a:solidFill>
              </a:rPr>
              <a:t>=</a:t>
            </a:r>
            <a:r>
              <a:rPr lang="en-US" altLang="zh-CN" sz="2800" i="1" dirty="0" err="1">
                <a:solidFill>
                  <a:schemeClr val="tx1"/>
                </a:solidFill>
              </a:rPr>
              <a:t>F</a:t>
            </a:r>
            <a:r>
              <a:rPr lang="en-US" altLang="zh-CN" sz="2800" i="0" dirty="0" err="1">
                <a:solidFill>
                  <a:schemeClr val="tx1"/>
                </a:solidFill>
              </a:rPr>
              <a:t>cos</a:t>
            </a:r>
            <a:r>
              <a:rPr lang="en-US" altLang="zh-CN" sz="2800" i="1" dirty="0">
                <a:solidFill>
                  <a:schemeClr val="tx1"/>
                </a:solidFill>
                <a:sym typeface="Symbol" panose="05050102010706020507" pitchFamily="18" charset="2"/>
              </a:rPr>
              <a:t></a:t>
            </a:r>
          </a:p>
        </p:txBody>
      </p:sp>
      <p:grpSp>
        <p:nvGrpSpPr>
          <p:cNvPr id="51" name="Group 10"/>
          <p:cNvGrpSpPr>
            <a:grpSpLocks/>
          </p:cNvGrpSpPr>
          <p:nvPr/>
        </p:nvGrpSpPr>
        <p:grpSpPr bwMode="auto">
          <a:xfrm>
            <a:off x="7216865" y="2204864"/>
            <a:ext cx="4287837" cy="3362325"/>
            <a:chOff x="3059" y="2202"/>
            <a:chExt cx="2701" cy="2118"/>
          </a:xfrm>
        </p:grpSpPr>
        <p:sp>
          <p:nvSpPr>
            <p:cNvPr id="52" name="Text Box 11"/>
            <p:cNvSpPr txBox="1">
              <a:spLocks noChangeAspect="1" noChangeArrowheads="1"/>
            </p:cNvSpPr>
            <p:nvPr/>
          </p:nvSpPr>
          <p:spPr bwMode="auto">
            <a:xfrm>
              <a:off x="3059" y="2390"/>
              <a:ext cx="6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CN" altLang="zh-CN" sz="3200">
                <a:solidFill>
                  <a:schemeClr val="tx1"/>
                </a:solidFill>
              </a:endParaRPr>
            </a:p>
          </p:txBody>
        </p:sp>
        <p:sp>
          <p:nvSpPr>
            <p:cNvPr id="53" name="AutoShape 12" descr="10%"/>
            <p:cNvSpPr>
              <a:spLocks noChangeArrowheads="1"/>
            </p:cNvSpPr>
            <p:nvPr/>
          </p:nvSpPr>
          <p:spPr bwMode="auto">
            <a:xfrm rot="-5400000">
              <a:off x="3750" y="2746"/>
              <a:ext cx="1264" cy="1181"/>
            </a:xfrm>
            <a:prstGeom prst="parallelogram">
              <a:avLst>
                <a:gd name="adj" fmla="val 16604"/>
              </a:avLst>
            </a:prstGeom>
            <a:pattFill prst="pct10">
              <a:fgClr>
                <a:schemeClr val="tx1"/>
              </a:fgClr>
              <a:bgClr>
                <a:srgbClr val="66CCFF"/>
              </a:bgClr>
            </a:patt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Text Box 13"/>
            <p:cNvSpPr txBox="1">
              <a:spLocks noChangeAspect="1" noChangeArrowheads="1"/>
            </p:cNvSpPr>
            <p:nvPr/>
          </p:nvSpPr>
          <p:spPr bwMode="auto">
            <a:xfrm>
              <a:off x="3198" y="3917"/>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x</a:t>
              </a:r>
            </a:p>
          </p:txBody>
        </p:sp>
        <p:sp>
          <p:nvSpPr>
            <p:cNvPr id="56" name="Text Box 14"/>
            <p:cNvSpPr txBox="1">
              <a:spLocks noChangeAspect="1" noChangeArrowheads="1"/>
            </p:cNvSpPr>
            <p:nvPr/>
          </p:nvSpPr>
          <p:spPr bwMode="auto">
            <a:xfrm>
              <a:off x="5328" y="3701"/>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y</a:t>
              </a:r>
            </a:p>
          </p:txBody>
        </p:sp>
        <p:sp>
          <p:nvSpPr>
            <p:cNvPr id="57" name="Text Box 15"/>
            <p:cNvSpPr txBox="1">
              <a:spLocks noChangeAspect="1" noChangeArrowheads="1"/>
            </p:cNvSpPr>
            <p:nvPr/>
          </p:nvSpPr>
          <p:spPr bwMode="auto">
            <a:xfrm>
              <a:off x="3780" y="2202"/>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z</a:t>
              </a:r>
            </a:p>
          </p:txBody>
        </p:sp>
        <p:sp>
          <p:nvSpPr>
            <p:cNvPr id="58" name="Text Box 16"/>
            <p:cNvSpPr txBox="1">
              <a:spLocks noChangeAspect="1" noChangeArrowheads="1"/>
            </p:cNvSpPr>
            <p:nvPr/>
          </p:nvSpPr>
          <p:spPr bwMode="auto">
            <a:xfrm>
              <a:off x="3795" y="3725"/>
              <a:ext cx="43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chemeClr val="tx1"/>
                  </a:solidFill>
                  <a:sym typeface="Symbol" panose="05050102010706020507" pitchFamily="18" charset="2"/>
                </a:rPr>
                <a:t></a:t>
              </a:r>
            </a:p>
          </p:txBody>
        </p:sp>
        <p:sp>
          <p:nvSpPr>
            <p:cNvPr id="59" name="Text Box 17"/>
            <p:cNvSpPr txBox="1">
              <a:spLocks noChangeAspect="1" noChangeArrowheads="1"/>
            </p:cNvSpPr>
            <p:nvPr/>
          </p:nvSpPr>
          <p:spPr bwMode="auto">
            <a:xfrm>
              <a:off x="3796" y="3205"/>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i="1">
                  <a:solidFill>
                    <a:schemeClr val="tx1"/>
                  </a:solidFill>
                  <a:sym typeface="Symbol" panose="05050102010706020507" pitchFamily="18" charset="2"/>
                </a:rPr>
                <a:t> </a:t>
              </a:r>
            </a:p>
          </p:txBody>
        </p:sp>
        <p:sp>
          <p:nvSpPr>
            <p:cNvPr id="60" name="Rectangle 18"/>
            <p:cNvSpPr>
              <a:spLocks noChangeAspect="1" noChangeArrowheads="1"/>
            </p:cNvSpPr>
            <p:nvPr/>
          </p:nvSpPr>
          <p:spPr bwMode="auto">
            <a:xfrm>
              <a:off x="3601" y="2910"/>
              <a:ext cx="1367" cy="1050"/>
            </a:xfrm>
            <a:prstGeom prst="rect">
              <a:avLst/>
            </a:prstGeom>
            <a:solidFill>
              <a:srgbClr val="FFFFFF"/>
            </a:solidFill>
            <a:ln w="19050">
              <a:miter lim="800000"/>
              <a:headEnd/>
              <a:tailEnd/>
            </a:ln>
            <a:effectLst/>
            <a:scene3d>
              <a:camera prst="legacyObliqueTopRight"/>
              <a:lightRig rig="legacyFlat3" dir="b"/>
            </a:scene3d>
            <a:sp3d extrusionH="887400" prstMaterial="legacyWirefram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zh-CN" altLang="en-US"/>
            </a:p>
          </p:txBody>
        </p:sp>
        <p:sp>
          <p:nvSpPr>
            <p:cNvPr id="61" name="Line 19"/>
            <p:cNvSpPr>
              <a:spLocks noChangeAspect="1" noChangeShapeType="1"/>
            </p:cNvSpPr>
            <p:nvPr/>
          </p:nvSpPr>
          <p:spPr bwMode="auto">
            <a:xfrm flipV="1">
              <a:off x="3788" y="2305"/>
              <a:ext cx="0" cy="1468"/>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20"/>
            <p:cNvSpPr>
              <a:spLocks noChangeAspect="1" noChangeShapeType="1"/>
            </p:cNvSpPr>
            <p:nvPr/>
          </p:nvSpPr>
          <p:spPr bwMode="auto">
            <a:xfrm>
              <a:off x="3788" y="3764"/>
              <a:ext cx="177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Line 21"/>
            <p:cNvSpPr>
              <a:spLocks noChangeAspect="1" noChangeShapeType="1"/>
            </p:cNvSpPr>
            <p:nvPr/>
          </p:nvSpPr>
          <p:spPr bwMode="auto">
            <a:xfrm flipH="1">
              <a:off x="3371" y="3773"/>
              <a:ext cx="417" cy="432"/>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Line 22"/>
            <p:cNvSpPr>
              <a:spLocks noChangeAspect="1" noChangeShapeType="1"/>
            </p:cNvSpPr>
            <p:nvPr/>
          </p:nvSpPr>
          <p:spPr bwMode="auto">
            <a:xfrm flipV="1">
              <a:off x="3788" y="2895"/>
              <a:ext cx="1180" cy="878"/>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 name="Arc 23"/>
            <p:cNvSpPr>
              <a:spLocks noChangeAspect="1"/>
            </p:cNvSpPr>
            <p:nvPr/>
          </p:nvSpPr>
          <p:spPr bwMode="auto">
            <a:xfrm>
              <a:off x="3803" y="3471"/>
              <a:ext cx="158" cy="15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 name="Arc 24"/>
            <p:cNvSpPr>
              <a:spLocks noChangeAspect="1"/>
            </p:cNvSpPr>
            <p:nvPr/>
          </p:nvSpPr>
          <p:spPr bwMode="auto">
            <a:xfrm rot="5400000">
              <a:off x="3762" y="3697"/>
              <a:ext cx="108" cy="31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7" name="Text Box 25"/>
            <p:cNvSpPr txBox="1">
              <a:spLocks noChangeAspect="1" noChangeArrowheads="1"/>
            </p:cNvSpPr>
            <p:nvPr/>
          </p:nvSpPr>
          <p:spPr bwMode="auto">
            <a:xfrm>
              <a:off x="4220" y="2982"/>
              <a:ext cx="432"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b="1" i="1">
                  <a:solidFill>
                    <a:srgbClr val="FF0000"/>
                  </a:solidFill>
                  <a:ea typeface="宋体" panose="02010600030101010101" pitchFamily="2" charset="-122"/>
                </a:rPr>
                <a:t>F</a:t>
              </a:r>
            </a:p>
          </p:txBody>
        </p:sp>
        <p:sp>
          <p:nvSpPr>
            <p:cNvPr id="68" name="Text Box 26"/>
            <p:cNvSpPr txBox="1">
              <a:spLocks noChangeAspect="1" noChangeArrowheads="1"/>
            </p:cNvSpPr>
            <p:nvPr/>
          </p:nvSpPr>
          <p:spPr bwMode="auto">
            <a:xfrm>
              <a:off x="3561" y="3575"/>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endParaRPr lang="en-US" altLang="zh-CN">
                <a:solidFill>
                  <a:schemeClr val="tx1"/>
                </a:solidFill>
              </a:endParaRPr>
            </a:p>
          </p:txBody>
        </p:sp>
      </p:grpSp>
      <p:sp>
        <p:nvSpPr>
          <p:cNvPr id="69" name="Text Box 31"/>
          <p:cNvSpPr txBox="1">
            <a:spLocks noChangeAspect="1" noChangeArrowheads="1"/>
          </p:cNvSpPr>
          <p:nvPr/>
        </p:nvSpPr>
        <p:spPr bwMode="auto">
          <a:xfrm>
            <a:off x="10093415" y="2912889"/>
            <a:ext cx="4270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endParaRPr lang="en-US" altLang="zh-CN">
              <a:solidFill>
                <a:schemeClr val="tx1"/>
              </a:solidFill>
            </a:endParaRPr>
          </a:p>
        </p:txBody>
      </p:sp>
      <p:sp>
        <p:nvSpPr>
          <p:cNvPr id="70" name="Text Box 32"/>
          <p:cNvSpPr txBox="1">
            <a:spLocks noChangeAspect="1" noChangeArrowheads="1"/>
          </p:cNvSpPr>
          <p:nvPr/>
        </p:nvSpPr>
        <p:spPr bwMode="auto">
          <a:xfrm>
            <a:off x="10156915" y="4906789"/>
            <a:ext cx="4778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r>
              <a:rPr lang="en-US" altLang="zh-CN" i="1">
                <a:solidFill>
                  <a:schemeClr val="tx1"/>
                </a:solidFill>
                <a:ea typeface="宋体" panose="02010600030101010101" pitchFamily="2" charset="-122"/>
                <a:cs typeface="Times New Roman" panose="02020603050405020304" pitchFamily="18" charset="0"/>
              </a:rPr>
              <a:t>'</a:t>
            </a:r>
            <a:endParaRPr lang="en-US" altLang="zh-CN">
              <a:solidFill>
                <a:schemeClr val="tx1"/>
              </a:solidFill>
              <a:cs typeface="Times New Roman" panose="02020603050405020304" pitchFamily="18" charset="0"/>
            </a:endParaRPr>
          </a:p>
        </p:txBody>
      </p:sp>
      <p:sp>
        <p:nvSpPr>
          <p:cNvPr id="71" name="Text Box 33"/>
          <p:cNvSpPr txBox="1">
            <a:spLocks noChangeAspect="1" noChangeArrowheads="1"/>
          </p:cNvSpPr>
          <p:nvPr/>
        </p:nvSpPr>
        <p:spPr bwMode="auto">
          <a:xfrm>
            <a:off x="8048715" y="2722389"/>
            <a:ext cx="4270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D</a:t>
            </a:r>
            <a:endParaRPr lang="en-US" altLang="zh-CN">
              <a:solidFill>
                <a:schemeClr val="tx1"/>
              </a:solidFill>
            </a:endParaRPr>
          </a:p>
        </p:txBody>
      </p:sp>
      <p:sp>
        <p:nvSpPr>
          <p:cNvPr id="72" name="Text Box 34"/>
          <p:cNvSpPr txBox="1">
            <a:spLocks noChangeAspect="1" noChangeArrowheads="1"/>
          </p:cNvSpPr>
          <p:nvPr/>
        </p:nvSpPr>
        <p:spPr bwMode="auto">
          <a:xfrm>
            <a:off x="9469527" y="4906789"/>
            <a:ext cx="90805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1" i="1">
                <a:solidFill>
                  <a:srgbClr val="CC0066"/>
                </a:solidFill>
                <a:ea typeface="宋体" panose="02010600030101010101" pitchFamily="2" charset="-122"/>
              </a:rPr>
              <a:t>F</a:t>
            </a:r>
            <a:r>
              <a:rPr lang="en-US" altLang="zh-CN" sz="3200" i="1" baseline="-25000">
                <a:solidFill>
                  <a:srgbClr val="CC0066"/>
                </a:solidFill>
                <a:ea typeface="宋体" panose="02010600030101010101" pitchFamily="2" charset="-122"/>
              </a:rPr>
              <a:t>xy</a:t>
            </a:r>
            <a:endParaRPr lang="en-US" altLang="zh-CN" sz="3200">
              <a:solidFill>
                <a:srgbClr val="CC0066"/>
              </a:solidFill>
            </a:endParaRPr>
          </a:p>
        </p:txBody>
      </p:sp>
      <p:sp>
        <p:nvSpPr>
          <p:cNvPr id="73" name="Line 35"/>
          <p:cNvSpPr>
            <a:spLocks noChangeAspect="1" noChangeShapeType="1"/>
          </p:cNvSpPr>
          <p:nvPr/>
        </p:nvSpPr>
        <p:spPr bwMode="auto">
          <a:xfrm flipV="1">
            <a:off x="8374152" y="3031951"/>
            <a:ext cx="0" cy="1644650"/>
          </a:xfrm>
          <a:prstGeom prst="line">
            <a:avLst/>
          </a:prstGeom>
          <a:noFill/>
          <a:ln w="38100">
            <a:solidFill>
              <a:srgbClr val="CC00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Line 36"/>
          <p:cNvSpPr>
            <a:spLocks noChangeAspect="1" noChangeShapeType="1"/>
          </p:cNvSpPr>
          <p:nvPr/>
        </p:nvSpPr>
        <p:spPr bwMode="auto">
          <a:xfrm>
            <a:off x="8388440" y="4690889"/>
            <a:ext cx="1851025" cy="296862"/>
          </a:xfrm>
          <a:prstGeom prst="line">
            <a:avLst/>
          </a:prstGeom>
          <a:noFill/>
          <a:ln w="38100">
            <a:solidFill>
              <a:srgbClr val="CC0066"/>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38"/>
          <p:cNvSpPr txBox="1">
            <a:spLocks noChangeAspect="1" noChangeArrowheads="1"/>
          </p:cNvSpPr>
          <p:nvPr/>
        </p:nvSpPr>
        <p:spPr bwMode="auto">
          <a:xfrm>
            <a:off x="7554838" y="3131172"/>
            <a:ext cx="685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1" i="1" dirty="0" err="1">
                <a:solidFill>
                  <a:srgbClr val="CC0066"/>
                </a:solidFill>
                <a:ea typeface="宋体" panose="02010600030101010101" pitchFamily="2" charset="-122"/>
              </a:rPr>
              <a:t>F</a:t>
            </a:r>
            <a:r>
              <a:rPr lang="en-US" altLang="zh-CN" sz="3200" i="1" baseline="-25000" dirty="0" err="1">
                <a:solidFill>
                  <a:srgbClr val="CC0066"/>
                </a:solidFill>
                <a:ea typeface="宋体" panose="02010600030101010101" pitchFamily="2" charset="-122"/>
              </a:rPr>
              <a:t>z</a:t>
            </a:r>
            <a:endParaRPr lang="en-US" altLang="zh-CN" sz="3200" dirty="0">
              <a:solidFill>
                <a:srgbClr val="CC0066"/>
              </a:solidFill>
            </a:endParaRPr>
          </a:p>
        </p:txBody>
      </p:sp>
    </p:spTree>
    <p:extLst>
      <p:ext uri="{BB962C8B-B14F-4D97-AF65-F5344CB8AC3E}">
        <p14:creationId xmlns:p14="http://schemas.microsoft.com/office/powerpoint/2010/main" val="41333633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4" presetClass="entr" presetSubtype="32"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ox(out)">
                                      <p:cBhvr>
                                        <p:cTn id="11" dur="3000"/>
                                        <p:tgtEl>
                                          <p:spTgt spid="51"/>
                                        </p:tgtEl>
                                      </p:cBhvr>
                                    </p:animEffect>
                                  </p:childTnLst>
                                </p:cTn>
                              </p:par>
                              <p:par>
                                <p:cTn id="12" presetID="19" presetClass="entr" presetSubtype="10" fill="hold" grpId="0" nodeType="withEffect">
                                  <p:stCondLst>
                                    <p:cond delay="0"/>
                                  </p:stCondLst>
                                  <p:childTnLst>
                                    <p:set>
                                      <p:cBhvr>
                                        <p:cTn id="13" dur="1" fill="hold">
                                          <p:stCondLst>
                                            <p:cond delay="0"/>
                                          </p:stCondLst>
                                        </p:cTn>
                                        <p:tgtEl>
                                          <p:spTgt spid="69"/>
                                        </p:tgtEl>
                                        <p:attrNameLst>
                                          <p:attrName>style.visibility</p:attrName>
                                        </p:attrNameLst>
                                      </p:cBhvr>
                                      <p:to>
                                        <p:strVal val="visible"/>
                                      </p:to>
                                    </p:set>
                                    <p:anim calcmode="lin" valueType="num">
                                      <p:cBhvr>
                                        <p:cTn id="14" dur="5000" fill="hold"/>
                                        <p:tgtEl>
                                          <p:spTgt spid="69"/>
                                        </p:tgtEl>
                                        <p:attrNameLst>
                                          <p:attrName>ppt_w</p:attrName>
                                        </p:attrNameLst>
                                      </p:cBhvr>
                                      <p:tavLst>
                                        <p:tav tm="0" fmla="#ppt_w*sin(2.5*pi*$)">
                                          <p:val>
                                            <p:fltVal val="0"/>
                                          </p:val>
                                        </p:tav>
                                        <p:tav tm="100000">
                                          <p:val>
                                            <p:fltVal val="1"/>
                                          </p:val>
                                        </p:tav>
                                      </p:tavLst>
                                    </p:anim>
                                    <p:anim calcmode="lin" valueType="num">
                                      <p:cBhvr>
                                        <p:cTn id="15" dur="5000" fill="hold"/>
                                        <p:tgtEl>
                                          <p:spTgt spid="69"/>
                                        </p:tgtEl>
                                        <p:attrNameLst>
                                          <p:attrName>ppt_h</p:attrName>
                                        </p:attrNameLst>
                                      </p:cBhvr>
                                      <p:tavLst>
                                        <p:tav tm="0">
                                          <p:val>
                                            <p:strVal val="#ppt_h"/>
                                          </p:val>
                                        </p:tav>
                                        <p:tav tm="100000">
                                          <p:val>
                                            <p:strVal val="#ppt_h"/>
                                          </p:val>
                                        </p:tav>
                                      </p:tavLst>
                                    </p:anim>
                                  </p:childTnLst>
                                </p:cTn>
                              </p:par>
                              <p:par>
                                <p:cTn id="16" presetID="19" presetClass="entr" presetSubtype="10" fill="hold" grpId="0" nodeType="withEffect">
                                  <p:stCondLst>
                                    <p:cond delay="0"/>
                                  </p:stCondLst>
                                  <p:childTnLst>
                                    <p:set>
                                      <p:cBhvr>
                                        <p:cTn id="17" dur="1" fill="hold">
                                          <p:stCondLst>
                                            <p:cond delay="0"/>
                                          </p:stCondLst>
                                        </p:cTn>
                                        <p:tgtEl>
                                          <p:spTgt spid="70"/>
                                        </p:tgtEl>
                                        <p:attrNameLst>
                                          <p:attrName>style.visibility</p:attrName>
                                        </p:attrNameLst>
                                      </p:cBhvr>
                                      <p:to>
                                        <p:strVal val="visible"/>
                                      </p:to>
                                    </p:set>
                                    <p:anim calcmode="lin" valueType="num">
                                      <p:cBhvr>
                                        <p:cTn id="18" dur="5000" fill="hold"/>
                                        <p:tgtEl>
                                          <p:spTgt spid="70"/>
                                        </p:tgtEl>
                                        <p:attrNameLst>
                                          <p:attrName>ppt_w</p:attrName>
                                        </p:attrNameLst>
                                      </p:cBhvr>
                                      <p:tavLst>
                                        <p:tav tm="0" fmla="#ppt_w*sin(2.5*pi*$)">
                                          <p:val>
                                            <p:fltVal val="0"/>
                                          </p:val>
                                        </p:tav>
                                        <p:tav tm="100000">
                                          <p:val>
                                            <p:fltVal val="1"/>
                                          </p:val>
                                        </p:tav>
                                      </p:tavLst>
                                    </p:anim>
                                    <p:anim calcmode="lin" valueType="num">
                                      <p:cBhvr>
                                        <p:cTn id="19" dur="5000" fill="hold"/>
                                        <p:tgtEl>
                                          <p:spTgt spid="70"/>
                                        </p:tgtEl>
                                        <p:attrNameLst>
                                          <p:attrName>ppt_h</p:attrName>
                                        </p:attrNameLst>
                                      </p:cBhvr>
                                      <p:tavLst>
                                        <p:tav tm="0">
                                          <p:val>
                                            <p:strVal val="#ppt_h"/>
                                          </p:val>
                                        </p:tav>
                                        <p:tav tm="100000">
                                          <p:val>
                                            <p:strVal val="#ppt_h"/>
                                          </p:val>
                                        </p:tav>
                                      </p:tavLst>
                                    </p:anim>
                                  </p:childTnLst>
                                </p:cTn>
                              </p:par>
                              <p:par>
                                <p:cTn id="20" presetID="19" presetClass="entr" presetSubtype="10" fill="hold" grpId="0" nodeType="withEffect">
                                  <p:stCondLst>
                                    <p:cond delay="0"/>
                                  </p:stCondLst>
                                  <p:childTnLst>
                                    <p:set>
                                      <p:cBhvr>
                                        <p:cTn id="21" dur="1" fill="hold">
                                          <p:stCondLst>
                                            <p:cond delay="0"/>
                                          </p:stCondLst>
                                        </p:cTn>
                                        <p:tgtEl>
                                          <p:spTgt spid="71"/>
                                        </p:tgtEl>
                                        <p:attrNameLst>
                                          <p:attrName>style.visibility</p:attrName>
                                        </p:attrNameLst>
                                      </p:cBhvr>
                                      <p:to>
                                        <p:strVal val="visible"/>
                                      </p:to>
                                    </p:set>
                                    <p:anim calcmode="lin" valueType="num">
                                      <p:cBhvr>
                                        <p:cTn id="22" dur="5000" fill="hold"/>
                                        <p:tgtEl>
                                          <p:spTgt spid="71"/>
                                        </p:tgtEl>
                                        <p:attrNameLst>
                                          <p:attrName>ppt_w</p:attrName>
                                        </p:attrNameLst>
                                      </p:cBhvr>
                                      <p:tavLst>
                                        <p:tav tm="0" fmla="#ppt_w*sin(2.5*pi*$)">
                                          <p:val>
                                            <p:fltVal val="0"/>
                                          </p:val>
                                        </p:tav>
                                        <p:tav tm="100000">
                                          <p:val>
                                            <p:fltVal val="1"/>
                                          </p:val>
                                        </p:tav>
                                      </p:tavLst>
                                    </p:anim>
                                    <p:anim calcmode="lin" valueType="num">
                                      <p:cBhvr>
                                        <p:cTn id="23" dur="5000" fill="hold"/>
                                        <p:tgtEl>
                                          <p:spTgt spid="71"/>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wipe(down)">
                                      <p:cBhvr>
                                        <p:cTn id="28" dur="5000"/>
                                        <p:tgtEl>
                                          <p:spTgt spid="73"/>
                                        </p:tgtEl>
                                      </p:cBhvr>
                                    </p:animEffect>
                                  </p:childTnLst>
                                </p:cTn>
                              </p:par>
                              <p:par>
                                <p:cTn id="29" presetID="19" presetClass="entr" presetSubtype="10"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p:cTn id="31" dur="5000" fill="hold"/>
                                        <p:tgtEl>
                                          <p:spTgt spid="75"/>
                                        </p:tgtEl>
                                        <p:attrNameLst>
                                          <p:attrName>ppt_w</p:attrName>
                                        </p:attrNameLst>
                                      </p:cBhvr>
                                      <p:tavLst>
                                        <p:tav tm="0" fmla="#ppt_w*sin(2.5*pi*$)">
                                          <p:val>
                                            <p:fltVal val="0"/>
                                          </p:val>
                                        </p:tav>
                                        <p:tav tm="100000">
                                          <p:val>
                                            <p:fltVal val="1"/>
                                          </p:val>
                                        </p:tav>
                                      </p:tavLst>
                                    </p:anim>
                                    <p:anim calcmode="lin" valueType="num">
                                      <p:cBhvr>
                                        <p:cTn id="32" dur="5000" fill="hold"/>
                                        <p:tgtEl>
                                          <p:spTgt spid="75"/>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30000"/>
                                  </p:iterate>
                                  <p:childTnLst>
                                    <p:set>
                                      <p:cBhvr>
                                        <p:cTn id="36" dur="1" fill="hold">
                                          <p:stCondLst>
                                            <p:cond delay="0"/>
                                          </p:stCondLst>
                                        </p:cTn>
                                        <p:tgtEl>
                                          <p:spTgt spid="54">
                                            <p:txEl>
                                              <p:pRg st="0" end="0"/>
                                            </p:txEl>
                                          </p:spTgt>
                                        </p:tgtEl>
                                        <p:attrNameLst>
                                          <p:attrName>style.visibility</p:attrName>
                                        </p:attrNameLst>
                                      </p:cBhvr>
                                      <p:to>
                                        <p:strVal val="visible"/>
                                      </p:to>
                                    </p:set>
                                    <p:animEffect transition="in" filter="wipe(left)">
                                      <p:cBhvr>
                                        <p:cTn id="37" dur="500"/>
                                        <p:tgtEl>
                                          <p:spTgt spid="54">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8" fill="hold">
                            <p:stCondLst>
                              <p:cond delay="1700"/>
                            </p:stCondLst>
                            <p:childTnLst>
                              <p:par>
                                <p:cTn id="39" presetID="26" presetClass="emph" presetSubtype="0" repeatCount="3000" fill="hold" grpId="1" nodeType="afterEffect">
                                  <p:stCondLst>
                                    <p:cond delay="0"/>
                                  </p:stCondLst>
                                  <p:childTnLst>
                                    <p:animEffect transition="out" filter="fade">
                                      <p:cBhvr>
                                        <p:cTn id="40" dur="500" tmFilter="0, 0; .2, .5; .8, .5; 1, 0"/>
                                        <p:tgtEl>
                                          <p:spTgt spid="73"/>
                                        </p:tgtEl>
                                      </p:cBhvr>
                                    </p:animEffect>
                                    <p:animScale>
                                      <p:cBhvr>
                                        <p:cTn id="41" dur="250" autoRev="1" fill="hold"/>
                                        <p:tgtEl>
                                          <p:spTgt spid="73"/>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strips(downRight)">
                                      <p:cBhvr>
                                        <p:cTn id="46" dur="5000"/>
                                        <p:tgtEl>
                                          <p:spTgt spid="74"/>
                                        </p:tgtEl>
                                      </p:cBhvr>
                                    </p:animEffect>
                                  </p:childTnLst>
                                </p:cTn>
                              </p:par>
                            </p:childTnLst>
                          </p:cTn>
                        </p:par>
                        <p:par>
                          <p:cTn id="47" fill="hold">
                            <p:stCondLst>
                              <p:cond delay="5000"/>
                            </p:stCondLst>
                            <p:childTnLst>
                              <p:par>
                                <p:cTn id="48" presetID="26" presetClass="emph" presetSubtype="0" repeatCount="3000" fill="hold" grpId="1" nodeType="afterEffect">
                                  <p:stCondLst>
                                    <p:cond delay="0"/>
                                  </p:stCondLst>
                                  <p:childTnLst>
                                    <p:animEffect transition="out" filter="fade">
                                      <p:cBhvr>
                                        <p:cTn id="49" dur="500" tmFilter="0, 0; .2, .5; .8, .5; 1, 0"/>
                                        <p:tgtEl>
                                          <p:spTgt spid="74"/>
                                        </p:tgtEl>
                                      </p:cBhvr>
                                    </p:animEffect>
                                    <p:animScale>
                                      <p:cBhvr>
                                        <p:cTn id="50" dur="250" autoRev="1" fill="hold"/>
                                        <p:tgtEl>
                                          <p:spTgt spid="74"/>
                                        </p:tgtEl>
                                      </p:cBhvr>
                                      <p:by x="105000" y="105000"/>
                                    </p:animScale>
                                  </p:childTnLst>
                                </p:cTn>
                              </p:par>
                            </p:childTnLst>
                          </p:cTn>
                        </p:par>
                        <p:par>
                          <p:cTn id="51" fill="hold">
                            <p:stCondLst>
                              <p:cond delay="6500"/>
                            </p:stCondLst>
                            <p:childTnLst>
                              <p:par>
                                <p:cTn id="52" presetID="19" presetClass="entr" presetSubtype="10" fill="hold" grpId="0" nodeType="afterEffect">
                                  <p:stCondLst>
                                    <p:cond delay="0"/>
                                  </p:stCondLst>
                                  <p:childTnLst>
                                    <p:set>
                                      <p:cBhvr>
                                        <p:cTn id="53" dur="1" fill="hold">
                                          <p:stCondLst>
                                            <p:cond delay="0"/>
                                          </p:stCondLst>
                                        </p:cTn>
                                        <p:tgtEl>
                                          <p:spTgt spid="72"/>
                                        </p:tgtEl>
                                        <p:attrNameLst>
                                          <p:attrName>style.visibility</p:attrName>
                                        </p:attrNameLst>
                                      </p:cBhvr>
                                      <p:to>
                                        <p:strVal val="visible"/>
                                      </p:to>
                                    </p:set>
                                    <p:anim calcmode="lin" valueType="num">
                                      <p:cBhvr>
                                        <p:cTn id="54" dur="5000" fill="hold"/>
                                        <p:tgtEl>
                                          <p:spTgt spid="72"/>
                                        </p:tgtEl>
                                        <p:attrNameLst>
                                          <p:attrName>ppt_w</p:attrName>
                                        </p:attrNameLst>
                                      </p:cBhvr>
                                      <p:tavLst>
                                        <p:tav tm="0" fmla="#ppt_w*sin(2.5*pi*$)">
                                          <p:val>
                                            <p:fltVal val="0"/>
                                          </p:val>
                                        </p:tav>
                                        <p:tav tm="100000">
                                          <p:val>
                                            <p:fltVal val="1"/>
                                          </p:val>
                                        </p:tav>
                                      </p:tavLst>
                                    </p:anim>
                                    <p:anim calcmode="lin" valueType="num">
                                      <p:cBhvr>
                                        <p:cTn id="55" dur="5000" fill="hold"/>
                                        <p:tgtEl>
                                          <p:spTgt spid="72"/>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iterate type="lt">
                                    <p:tmPct val="30000"/>
                                  </p:iterate>
                                  <p:childTnLst>
                                    <p:set>
                                      <p:cBhvr>
                                        <p:cTn id="59" dur="1" fill="hold">
                                          <p:stCondLst>
                                            <p:cond delay="0"/>
                                          </p:stCondLst>
                                        </p:cTn>
                                        <p:tgtEl>
                                          <p:spTgt spid="54">
                                            <p:txEl>
                                              <p:pRg st="1" end="1"/>
                                            </p:txEl>
                                          </p:spTgt>
                                        </p:tgtEl>
                                        <p:attrNameLst>
                                          <p:attrName>style.visibility</p:attrName>
                                        </p:attrNameLst>
                                      </p:cBhvr>
                                      <p:to>
                                        <p:strVal val="visible"/>
                                      </p:to>
                                    </p:set>
                                    <p:animEffect transition="in" filter="wipe(left)">
                                      <p:cBhvr>
                                        <p:cTn id="60" dur="500"/>
                                        <p:tgtEl>
                                          <p:spTgt spid="54">
                                            <p:txEl>
                                              <p:pRg st="1" end="1"/>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iterate type="lt">
                                    <p:tmPct val="30000"/>
                                  </p:iterate>
                                  <p:childTnLst>
                                    <p:set>
                                      <p:cBhvr>
                                        <p:cTn id="64" dur="1" fill="hold">
                                          <p:stCondLst>
                                            <p:cond delay="0"/>
                                          </p:stCondLst>
                                        </p:cTn>
                                        <p:tgtEl>
                                          <p:spTgt spid="54">
                                            <p:txEl>
                                              <p:pRg st="2" end="2"/>
                                            </p:txEl>
                                          </p:spTgt>
                                        </p:tgtEl>
                                        <p:attrNameLst>
                                          <p:attrName>style.visibility</p:attrName>
                                        </p:attrNameLst>
                                      </p:cBhvr>
                                      <p:to>
                                        <p:strVal val="visible"/>
                                      </p:to>
                                    </p:set>
                                    <p:animEffect transition="in" filter="wipe(left)">
                                      <p:cBhvr>
                                        <p:cTn id="65" dur="500"/>
                                        <p:tgtEl>
                                          <p:spTgt spid="54">
                                            <p:txEl>
                                              <p:pRg st="2" end="2"/>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iterate type="lt">
                                    <p:tmPct val="30000"/>
                                  </p:iterate>
                                  <p:childTnLst>
                                    <p:set>
                                      <p:cBhvr>
                                        <p:cTn id="69" dur="1" fill="hold">
                                          <p:stCondLst>
                                            <p:cond delay="0"/>
                                          </p:stCondLst>
                                        </p:cTn>
                                        <p:tgtEl>
                                          <p:spTgt spid="54">
                                            <p:txEl>
                                              <p:pRg st="3" end="3"/>
                                            </p:txEl>
                                          </p:spTgt>
                                        </p:tgtEl>
                                        <p:attrNameLst>
                                          <p:attrName>style.visibility</p:attrName>
                                        </p:attrNameLst>
                                      </p:cBhvr>
                                      <p:to>
                                        <p:strVal val="visible"/>
                                      </p:to>
                                    </p:set>
                                    <p:animEffect transition="in" filter="wipe(left)">
                                      <p:cBhvr>
                                        <p:cTn id="70" dur="500"/>
                                        <p:tgtEl>
                                          <p:spTgt spid="54">
                                            <p:txEl>
                                              <p:pRg st="3" end="3"/>
                                            </p:txEl>
                                          </p:spTgt>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9" grpId="0" animBg="1"/>
      <p:bldP spid="54" grpId="0" uiExpand="1" build="p" autoUpdateAnimBg="0"/>
      <p:bldP spid="69" grpId="0"/>
      <p:bldP spid="70" grpId="0"/>
      <p:bldP spid="71" grpId="0"/>
      <p:bldP spid="72" grpId="0"/>
      <p:bldP spid="73" grpId="0" animBg="1"/>
      <p:bldP spid="73" grpId="1" animBg="1"/>
      <p:bldP spid="74" grpId="0" animBg="1"/>
      <p:bldP spid="74" grpId="1" animBg="1"/>
      <p:bldP spid="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§3-2  </a:t>
            </a:r>
            <a:r>
              <a:rPr lang="zh-CN" altLang="en-US" sz="3000" i="0" dirty="0">
                <a:solidFill>
                  <a:schemeClr val="accent6">
                    <a:lumMod val="75000"/>
                  </a:schemeClr>
                </a:solidFill>
                <a:latin typeface="+mn-lt"/>
                <a:ea typeface="微软雅黑" panose="020B0503020204020204" pitchFamily="34" charset="-122"/>
              </a:rPr>
              <a:t>空间汇交力系的合成与平衡</a:t>
            </a:r>
          </a:p>
        </p:txBody>
      </p:sp>
      <p:sp>
        <p:nvSpPr>
          <p:cNvPr id="52" name="Text Box 9"/>
          <p:cNvSpPr txBox="1">
            <a:spLocks noChangeArrowheads="1"/>
          </p:cNvSpPr>
          <p:nvPr/>
        </p:nvSpPr>
        <p:spPr bwMode="auto">
          <a:xfrm>
            <a:off x="688875" y="2095949"/>
            <a:ext cx="1008112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空间汇交力系</a:t>
            </a:r>
            <a:r>
              <a:rPr lang="en-US" altLang="zh-CN" sz="2800" dirty="0" err="1">
                <a:latin typeface="+mj-lt"/>
              </a:rPr>
              <a:t>F</a:t>
            </a:r>
            <a:r>
              <a:rPr lang="en-US" altLang="zh-CN" sz="2800" i="0" baseline="-25000" dirty="0" err="1">
                <a:latin typeface="+mj-lt"/>
              </a:rPr>
              <a:t>l</a:t>
            </a:r>
            <a:r>
              <a:rPr lang="zh-CN" altLang="en-US" sz="2800" dirty="0">
                <a:latin typeface="+mj-lt"/>
              </a:rPr>
              <a:t>，</a:t>
            </a:r>
            <a:r>
              <a:rPr lang="en-US" altLang="zh-CN" sz="2800" dirty="0">
                <a:latin typeface="+mj-lt"/>
              </a:rPr>
              <a:t>F</a:t>
            </a:r>
            <a:r>
              <a:rPr lang="en-US" altLang="zh-CN" sz="2800" i="0" baseline="-25000" dirty="0">
                <a:latin typeface="+mj-lt"/>
              </a:rPr>
              <a:t>2</a:t>
            </a:r>
            <a:r>
              <a:rPr lang="zh-CN" altLang="en-US" sz="2800" i="0" dirty="0">
                <a:latin typeface="+mj-lt"/>
              </a:rPr>
              <a:t>，</a:t>
            </a:r>
            <a:r>
              <a:rPr lang="en-US" altLang="zh-CN" sz="2800" dirty="0">
                <a:latin typeface="+mj-lt"/>
              </a:rPr>
              <a:t>…</a:t>
            </a:r>
            <a:r>
              <a:rPr lang="zh-CN" altLang="en-US" sz="2800" dirty="0">
                <a:latin typeface="+mj-lt"/>
              </a:rPr>
              <a:t>，</a:t>
            </a:r>
            <a:r>
              <a:rPr lang="en-US" altLang="zh-CN" sz="2800" dirty="0" err="1">
                <a:latin typeface="+mj-lt"/>
              </a:rPr>
              <a:t>F</a:t>
            </a:r>
            <a:r>
              <a:rPr lang="en-US" altLang="zh-CN" sz="2800" i="0" baseline="-25000" dirty="0" err="1">
                <a:latin typeface="+mj-lt"/>
              </a:rPr>
              <a:t>n</a:t>
            </a:r>
            <a:r>
              <a:rPr lang="zh-CN" altLang="en-US" sz="2800" i="0" dirty="0">
                <a:latin typeface="+mn-lt"/>
                <a:ea typeface="微软雅黑" panose="020B0503020204020204" pitchFamily="34" charset="-122"/>
              </a:rPr>
              <a:t>，最后合成为一个作用于汇交点的合力</a:t>
            </a:r>
            <a:r>
              <a:rPr lang="en-US" altLang="zh-CN" sz="2800" dirty="0">
                <a:latin typeface="+mj-lt"/>
              </a:rPr>
              <a:t>F</a:t>
            </a:r>
            <a:r>
              <a:rPr lang="en-US" altLang="zh-CN" sz="2800" i="0" baseline="-25000" dirty="0">
                <a:latin typeface="+mj-lt"/>
              </a:rPr>
              <a:t>R</a:t>
            </a:r>
            <a:r>
              <a:rPr lang="zh-CN" altLang="en-US" sz="2800" i="0" dirty="0">
                <a:latin typeface="+mn-lt"/>
                <a:ea typeface="微软雅黑" panose="020B0503020204020204" pitchFamily="34" charset="-122"/>
              </a:rPr>
              <a:t>，故有 </a:t>
            </a:r>
            <a:endParaRPr lang="zh-CN" altLang="en-US" sz="2800" i="0" dirty="0">
              <a:latin typeface="微软雅黑" panose="020B0503020204020204" pitchFamily="34" charset="-122"/>
              <a:ea typeface="微软雅黑" panose="020B0503020204020204" pitchFamily="34" charset="-122"/>
            </a:endParaRPr>
          </a:p>
        </p:txBody>
      </p:sp>
      <p:sp>
        <p:nvSpPr>
          <p:cNvPr id="53" name="Text Box 37"/>
          <p:cNvSpPr txBox="1">
            <a:spLocks noChangeArrowheads="1"/>
          </p:cNvSpPr>
          <p:nvPr/>
        </p:nvSpPr>
        <p:spPr bwMode="auto">
          <a:xfrm>
            <a:off x="1487488" y="3121057"/>
            <a:ext cx="5114925"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30000"/>
              </a:lnSpc>
            </a:pPr>
            <a:r>
              <a:rPr kumimoji="1" lang="en-US" altLang="zh-CN" sz="2800" dirty="0">
                <a:solidFill>
                  <a:schemeClr val="tx1"/>
                </a:solidFill>
                <a:ea typeface="黑体" panose="02010609060101010101" pitchFamily="49" charset="-122"/>
              </a:rPr>
              <a:t>F</a:t>
            </a:r>
            <a:r>
              <a:rPr kumimoji="1" lang="en-US" altLang="zh-CN" sz="2800" b="0" i="0" baseline="-25000" dirty="0">
                <a:solidFill>
                  <a:schemeClr val="tx1"/>
                </a:solidFill>
                <a:ea typeface="黑体" panose="02010609060101010101" pitchFamily="49" charset="-122"/>
              </a:rPr>
              <a:t>R</a:t>
            </a:r>
            <a:r>
              <a:rPr kumimoji="1" lang="zh-CN" altLang="en-US"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baseline="-25000" dirty="0">
                <a:solidFill>
                  <a:schemeClr val="tx1"/>
                </a:solidFill>
                <a:ea typeface="黑体" panose="02010609060101010101" pitchFamily="49" charset="-122"/>
              </a:rPr>
              <a:t>1</a:t>
            </a:r>
            <a:r>
              <a:rPr kumimoji="1" lang="en-US" altLang="zh-CN"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baseline="-25000" dirty="0">
                <a:solidFill>
                  <a:schemeClr val="tx1"/>
                </a:solidFill>
                <a:ea typeface="黑体" panose="02010609060101010101" pitchFamily="49" charset="-122"/>
              </a:rPr>
              <a:t>2</a:t>
            </a:r>
            <a:r>
              <a:rPr kumimoji="1" lang="en-US" altLang="zh-CN" sz="2800" b="0" i="0" dirty="0">
                <a:solidFill>
                  <a:schemeClr val="tx1"/>
                </a:solidFill>
                <a:ea typeface="黑体" panose="02010609060101010101" pitchFamily="49" charset="-122"/>
              </a:rPr>
              <a:t>+</a:t>
            </a:r>
            <a:r>
              <a:rPr kumimoji="1" lang="en-US" altLang="zh-CN" sz="2800" b="0" i="0" dirty="0">
                <a:solidFill>
                  <a:schemeClr val="tx1"/>
                </a:solidFill>
                <a:latin typeface="宋体" panose="02010600030101010101" pitchFamily="2" charset="-122"/>
              </a:rPr>
              <a:t>…</a:t>
            </a:r>
            <a:r>
              <a:rPr kumimoji="1" lang="en-US" altLang="zh-CN" sz="2800" b="0" i="0" dirty="0">
                <a:solidFill>
                  <a:schemeClr val="tx1"/>
                </a:solidFill>
                <a:ea typeface="黑体" panose="02010609060101010101" pitchFamily="49" charset="-122"/>
              </a:rPr>
              <a:t>+</a:t>
            </a:r>
            <a:r>
              <a:rPr kumimoji="1" lang="en-US" altLang="zh-CN" sz="2800" dirty="0" err="1">
                <a:solidFill>
                  <a:schemeClr val="tx1"/>
                </a:solidFill>
                <a:ea typeface="黑体" panose="02010609060101010101" pitchFamily="49" charset="-122"/>
              </a:rPr>
              <a:t>F</a:t>
            </a:r>
            <a:r>
              <a:rPr kumimoji="1" lang="en-US" altLang="zh-CN" sz="2800" b="0" baseline="-25000" dirty="0" err="1">
                <a:solidFill>
                  <a:schemeClr val="tx1"/>
                </a:solidFill>
                <a:ea typeface="黑体" panose="02010609060101010101" pitchFamily="49" charset="-122"/>
              </a:rPr>
              <a:t>n</a:t>
            </a:r>
            <a:r>
              <a:rPr kumimoji="1" lang="zh-CN" altLang="en-US"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dirty="0">
                <a:solidFill>
                  <a:schemeClr val="tx1"/>
                </a:solidFill>
                <a:ea typeface="黑体" panose="02010609060101010101" pitchFamily="49" charset="-122"/>
              </a:rPr>
              <a:t>  </a:t>
            </a:r>
          </a:p>
        </p:txBody>
      </p:sp>
      <p:sp>
        <p:nvSpPr>
          <p:cNvPr id="56" name="Text Box 9"/>
          <p:cNvSpPr txBox="1">
            <a:spLocks noChangeArrowheads="1"/>
          </p:cNvSpPr>
          <p:nvPr/>
        </p:nvSpPr>
        <p:spPr bwMode="auto">
          <a:xfrm>
            <a:off x="688875" y="3885995"/>
            <a:ext cx="1008112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合矢量（力）投影定理</a:t>
            </a:r>
            <a:endParaRPr lang="zh-CN" altLang="en-US" sz="2800" i="0" dirty="0">
              <a:latin typeface="微软雅黑" panose="020B0503020204020204" pitchFamily="34" charset="-122"/>
              <a:ea typeface="微软雅黑" panose="020B0503020204020204" pitchFamily="34" charset="-122"/>
            </a:endParaRPr>
          </a:p>
        </p:txBody>
      </p:sp>
      <p:sp>
        <p:nvSpPr>
          <p:cNvPr id="58" name="Rectangle 39"/>
          <p:cNvSpPr>
            <a:spLocks noChangeArrowheads="1"/>
          </p:cNvSpPr>
          <p:nvPr/>
        </p:nvSpPr>
        <p:spPr bwMode="auto">
          <a:xfrm>
            <a:off x="2911853" y="3506787"/>
            <a:ext cx="6569075" cy="12954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lnSpc>
                <a:spcPct val="150000"/>
              </a:lnSpc>
            </a:pPr>
            <a:r>
              <a:rPr lang="en-US" altLang="zh-CN" sz="2800" i="1" dirty="0">
                <a:solidFill>
                  <a:schemeClr val="tx1"/>
                </a:solidFill>
                <a:ea typeface="宋体" panose="02010600030101010101" pitchFamily="2" charset="-122"/>
              </a:rPr>
              <a:t> </a:t>
            </a:r>
            <a:r>
              <a:rPr lang="en-US" altLang="zh-CN" sz="2800" dirty="0">
                <a:solidFill>
                  <a:schemeClr val="tx1"/>
                </a:solidFill>
                <a:ea typeface="宋体" panose="02010600030101010101" pitchFamily="2" charset="-122"/>
              </a:rPr>
              <a:t>                  </a:t>
            </a:r>
            <a:r>
              <a:rPr lang="en-US" altLang="zh-CN" sz="2800" i="1" dirty="0" err="1">
                <a:solidFill>
                  <a:schemeClr val="tx1"/>
                </a:solidFill>
                <a:ea typeface="宋体" panose="02010600030101010101" pitchFamily="2" charset="-122"/>
              </a:rPr>
              <a:t>F</a:t>
            </a:r>
            <a:r>
              <a:rPr lang="en-US" altLang="zh-CN" sz="2800" i="0" baseline="-25000" dirty="0" err="1">
                <a:solidFill>
                  <a:schemeClr val="tx1"/>
                </a:solidFill>
                <a:ea typeface="宋体" panose="02010600030101010101" pitchFamily="2" charset="-122"/>
              </a:rPr>
              <a:t>R</a:t>
            </a:r>
            <a:r>
              <a:rPr lang="en-US" altLang="zh-CN" sz="2800" i="1" baseline="-25000" dirty="0" err="1">
                <a:solidFill>
                  <a:schemeClr val="tx1"/>
                </a:solidFill>
                <a:ea typeface="宋体" panose="02010600030101010101" pitchFamily="2" charset="-122"/>
              </a:rPr>
              <a:t>x</a:t>
            </a:r>
            <a:r>
              <a:rPr lang="en-US" altLang="zh-CN" sz="2800" dirty="0">
                <a:solidFill>
                  <a:schemeClr val="tx1"/>
                </a:solidFill>
                <a:ea typeface="宋体" panose="02010600030101010101" pitchFamily="2" charset="-122"/>
              </a:rPr>
              <a:t>=∑</a:t>
            </a:r>
            <a:r>
              <a:rPr lang="en-US" altLang="zh-CN" sz="2800" i="1" dirty="0" err="1">
                <a:solidFill>
                  <a:schemeClr val="tx1"/>
                </a:solidFill>
                <a:ea typeface="宋体" panose="02010600030101010101" pitchFamily="2" charset="-122"/>
              </a:rPr>
              <a:t>F</a:t>
            </a:r>
            <a:r>
              <a:rPr lang="en-US" altLang="zh-CN" sz="2800" i="1" baseline="-25000" dirty="0" err="1">
                <a:solidFill>
                  <a:schemeClr val="tx1"/>
                </a:solidFill>
                <a:ea typeface="宋体" panose="02010600030101010101" pitchFamily="2" charset="-122"/>
              </a:rPr>
              <a:t>x</a:t>
            </a:r>
            <a:r>
              <a:rPr lang="en-US" altLang="zh-CN" sz="2800" i="1" dirty="0">
                <a:solidFill>
                  <a:schemeClr val="tx1"/>
                </a:solidFill>
                <a:ea typeface="宋体" panose="02010600030101010101" pitchFamily="2" charset="-122"/>
              </a:rPr>
              <a:t>  </a:t>
            </a:r>
            <a:r>
              <a:rPr lang="en-US" altLang="zh-CN" sz="2800" dirty="0">
                <a:solidFill>
                  <a:schemeClr val="tx1"/>
                </a:solidFill>
                <a:ea typeface="宋体" panose="02010600030101010101" pitchFamily="2" charset="-122"/>
              </a:rPr>
              <a:t>   </a:t>
            </a:r>
            <a:r>
              <a:rPr lang="en-US" altLang="zh-CN" sz="2800" i="1" dirty="0" err="1">
                <a:solidFill>
                  <a:schemeClr val="tx1"/>
                </a:solidFill>
                <a:ea typeface="宋体" panose="02010600030101010101" pitchFamily="2" charset="-122"/>
              </a:rPr>
              <a:t>F</a:t>
            </a:r>
            <a:r>
              <a:rPr lang="en-US" altLang="zh-CN" sz="2800" i="0" baseline="-25000" dirty="0" err="1">
                <a:solidFill>
                  <a:schemeClr val="tx1"/>
                </a:solidFill>
                <a:ea typeface="宋体" panose="02010600030101010101" pitchFamily="2" charset="-122"/>
              </a:rPr>
              <a:t>R</a:t>
            </a:r>
            <a:r>
              <a:rPr lang="en-US" altLang="zh-CN" sz="2800" i="1" baseline="-25000" dirty="0" err="1">
                <a:solidFill>
                  <a:schemeClr val="tx1"/>
                </a:solidFill>
                <a:ea typeface="宋体" panose="02010600030101010101" pitchFamily="2" charset="-122"/>
              </a:rPr>
              <a:t>y</a:t>
            </a:r>
            <a:r>
              <a:rPr lang="en-US" altLang="zh-CN" sz="2800" dirty="0">
                <a:solidFill>
                  <a:schemeClr val="tx1"/>
                </a:solidFill>
                <a:ea typeface="宋体" panose="02010600030101010101" pitchFamily="2" charset="-122"/>
              </a:rPr>
              <a:t>=∑</a:t>
            </a:r>
            <a:r>
              <a:rPr lang="en-US" altLang="zh-CN" sz="2800" i="1" dirty="0" err="1">
                <a:solidFill>
                  <a:schemeClr val="tx1"/>
                </a:solidFill>
                <a:ea typeface="宋体" panose="02010600030101010101" pitchFamily="2" charset="-122"/>
              </a:rPr>
              <a:t>F</a:t>
            </a:r>
            <a:r>
              <a:rPr lang="en-US" altLang="zh-CN" sz="2800" i="1" baseline="-25000" dirty="0" err="1">
                <a:solidFill>
                  <a:schemeClr val="tx1"/>
                </a:solidFill>
                <a:ea typeface="宋体" panose="02010600030101010101" pitchFamily="2" charset="-122"/>
              </a:rPr>
              <a:t>y</a:t>
            </a:r>
            <a:r>
              <a:rPr lang="en-US" altLang="zh-CN" sz="2800" i="1" baseline="-25000" dirty="0">
                <a:solidFill>
                  <a:schemeClr val="tx1"/>
                </a:solidFill>
                <a:ea typeface="宋体" panose="02010600030101010101" pitchFamily="2" charset="-122"/>
              </a:rPr>
              <a:t>        </a:t>
            </a:r>
            <a:r>
              <a:rPr lang="en-US" altLang="zh-CN" sz="2800" i="1" dirty="0" err="1">
                <a:solidFill>
                  <a:schemeClr val="tx1"/>
                </a:solidFill>
              </a:rPr>
              <a:t>F</a:t>
            </a:r>
            <a:r>
              <a:rPr lang="en-US" altLang="zh-CN" sz="2800" i="0" baseline="-25000" dirty="0" err="1">
                <a:solidFill>
                  <a:schemeClr val="tx1"/>
                </a:solidFill>
              </a:rPr>
              <a:t>R</a:t>
            </a:r>
            <a:r>
              <a:rPr lang="en-US" altLang="zh-CN" sz="2800" i="1" baseline="-25000" dirty="0" err="1">
                <a:solidFill>
                  <a:schemeClr val="tx1"/>
                </a:solidFill>
              </a:rPr>
              <a:t>z</a:t>
            </a:r>
            <a:r>
              <a:rPr lang="en-US" altLang="zh-CN" sz="2800" dirty="0">
                <a:solidFill>
                  <a:schemeClr val="tx1"/>
                </a:solidFill>
              </a:rPr>
              <a:t>=∑</a:t>
            </a:r>
            <a:r>
              <a:rPr lang="en-US" altLang="zh-CN" sz="2800" i="1" dirty="0" err="1">
                <a:solidFill>
                  <a:schemeClr val="tx1"/>
                </a:solidFill>
              </a:rPr>
              <a:t>F</a:t>
            </a:r>
            <a:r>
              <a:rPr lang="en-US" altLang="zh-CN" sz="2800" i="1" baseline="-25000" dirty="0" err="1">
                <a:solidFill>
                  <a:schemeClr val="tx1"/>
                </a:solidFill>
              </a:rPr>
              <a:t>z</a:t>
            </a:r>
            <a:endParaRPr lang="en-US" altLang="zh-CN" sz="2800" i="1" baseline="-25000" dirty="0">
              <a:solidFill>
                <a:schemeClr val="tx1"/>
              </a:solidFill>
            </a:endParaRPr>
          </a:p>
        </p:txBody>
      </p:sp>
      <p:sp>
        <p:nvSpPr>
          <p:cNvPr id="59" name="Text Box 9"/>
          <p:cNvSpPr txBox="1">
            <a:spLocks noChangeArrowheads="1"/>
          </p:cNvSpPr>
          <p:nvPr/>
        </p:nvSpPr>
        <p:spPr bwMode="auto">
          <a:xfrm>
            <a:off x="688875" y="4737315"/>
            <a:ext cx="1008112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合力大小</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61" name="Object 13"/>
          <p:cNvGraphicFramePr>
            <a:graphicFrameLocks noChangeAspect="1"/>
          </p:cNvGraphicFramePr>
          <p:nvPr>
            <p:extLst>
              <p:ext uri="{D42A27DB-BD31-4B8C-83A1-F6EECF244321}">
                <p14:modId xmlns:p14="http://schemas.microsoft.com/office/powerpoint/2010/main" val="3953772490"/>
              </p:ext>
            </p:extLst>
          </p:nvPr>
        </p:nvGraphicFramePr>
        <p:xfrm>
          <a:off x="2500212" y="4651023"/>
          <a:ext cx="4757738" cy="738188"/>
        </p:xfrm>
        <a:graphic>
          <a:graphicData uri="http://schemas.openxmlformats.org/presentationml/2006/ole">
            <mc:AlternateContent xmlns:mc="http://schemas.openxmlformats.org/markup-compatibility/2006">
              <mc:Choice xmlns:v="urn:schemas-microsoft-com:vml" Requires="v">
                <p:oleObj name="Equation" r:id="rId4" imgW="2298600" imgH="355320" progId="Equation.DSMT4">
                  <p:embed/>
                </p:oleObj>
              </mc:Choice>
              <mc:Fallback>
                <p:oleObj name="Equation" r:id="rId4" imgW="2298600" imgH="355320" progId="Equation.DSMT4">
                  <p:embed/>
                  <p:pic>
                    <p:nvPicPr>
                      <p:cNvPr id="0" name=""/>
                      <p:cNvPicPr>
                        <a:picLocks noChangeAspect="1" noChangeArrowheads="1"/>
                      </p:cNvPicPr>
                      <p:nvPr/>
                    </p:nvPicPr>
                    <p:blipFill>
                      <a:blip r:embed="rId5"/>
                      <a:srcRect/>
                      <a:stretch>
                        <a:fillRect/>
                      </a:stretch>
                    </p:blipFill>
                    <p:spPr bwMode="auto">
                      <a:xfrm>
                        <a:off x="2500212" y="4651023"/>
                        <a:ext cx="4757738"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 name="Rectangle 14"/>
          <p:cNvSpPr>
            <a:spLocks noChangeArrowheads="1"/>
          </p:cNvSpPr>
          <p:nvPr/>
        </p:nvSpPr>
        <p:spPr bwMode="auto">
          <a:xfrm>
            <a:off x="694304" y="5605649"/>
            <a:ext cx="48021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i="0" dirty="0">
                <a:solidFill>
                  <a:schemeClr val="tx1"/>
                </a:solidFill>
                <a:latin typeface="微软雅黑" panose="020B0503020204020204" pitchFamily="34" charset="-122"/>
                <a:ea typeface="微软雅黑" panose="020B0503020204020204" pitchFamily="34" charset="-122"/>
              </a:rPr>
              <a:t>方向余弦</a:t>
            </a:r>
          </a:p>
        </p:txBody>
      </p:sp>
      <p:graphicFrame>
        <p:nvGraphicFramePr>
          <p:cNvPr id="63" name="Object 13"/>
          <p:cNvGraphicFramePr>
            <a:graphicFrameLocks noChangeAspect="1"/>
          </p:cNvGraphicFramePr>
          <p:nvPr>
            <p:extLst>
              <p:ext uri="{D42A27DB-BD31-4B8C-83A1-F6EECF244321}">
                <p14:modId xmlns:p14="http://schemas.microsoft.com/office/powerpoint/2010/main" val="4027896305"/>
              </p:ext>
            </p:extLst>
          </p:nvPr>
        </p:nvGraphicFramePr>
        <p:xfrm>
          <a:off x="3200400" y="5392738"/>
          <a:ext cx="5099050" cy="950912"/>
        </p:xfrm>
        <a:graphic>
          <a:graphicData uri="http://schemas.openxmlformats.org/presentationml/2006/ole">
            <mc:AlternateContent xmlns:mc="http://schemas.openxmlformats.org/markup-compatibility/2006">
              <mc:Choice xmlns:v="urn:schemas-microsoft-com:vml" Requires="v">
                <p:oleObj name="Equation" r:id="rId6" imgW="2463480" imgH="457200" progId="Equation.DSMT4">
                  <p:embed/>
                </p:oleObj>
              </mc:Choice>
              <mc:Fallback>
                <p:oleObj name="Equation" r:id="rId6" imgW="2463480" imgH="457200" progId="Equation.DSMT4">
                  <p:embed/>
                  <p:pic>
                    <p:nvPicPr>
                      <p:cNvPr id="0" name=""/>
                      <p:cNvPicPr>
                        <a:picLocks noChangeAspect="1" noChangeArrowheads="1"/>
                      </p:cNvPicPr>
                      <p:nvPr/>
                    </p:nvPicPr>
                    <p:blipFill>
                      <a:blip r:embed="rId7"/>
                      <a:srcRect/>
                      <a:stretch>
                        <a:fillRect/>
                      </a:stretch>
                    </p:blipFill>
                    <p:spPr bwMode="auto">
                      <a:xfrm>
                        <a:off x="3200400" y="5392738"/>
                        <a:ext cx="5099050"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 name="矩形 63"/>
          <p:cNvSpPr/>
          <p:nvPr/>
        </p:nvSpPr>
        <p:spPr>
          <a:xfrm>
            <a:off x="3905859" y="1470053"/>
            <a:ext cx="364715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空间汇交力系的合成</a:t>
            </a:r>
          </a:p>
        </p:txBody>
      </p:sp>
    </p:spTree>
    <p:extLst>
      <p:ext uri="{BB962C8B-B14F-4D97-AF65-F5344CB8AC3E}">
        <p14:creationId xmlns:p14="http://schemas.microsoft.com/office/powerpoint/2010/main" val="30189653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20000"/>
                                  </p:iterate>
                                  <p:childTnLst>
                                    <p:set>
                                      <p:cBhvr>
                                        <p:cTn id="10" dur="1" fill="hold">
                                          <p:stCondLst>
                                            <p:cond delay="0"/>
                                          </p:stCondLst>
                                        </p:cTn>
                                        <p:tgtEl>
                                          <p:spTgt spid="53">
                                            <p:txEl>
                                              <p:pRg st="0" end="0"/>
                                            </p:txEl>
                                          </p:spTgt>
                                        </p:tgtEl>
                                        <p:attrNameLst>
                                          <p:attrName>style.visibility</p:attrName>
                                        </p:attrNameLst>
                                      </p:cBhvr>
                                      <p:to>
                                        <p:strVal val="visible"/>
                                      </p:to>
                                    </p:set>
                                    <p:animEffect transition="in" filter="wipe(left)">
                                      <p:cBhvr>
                                        <p:cTn id="11" dur="500"/>
                                        <p:tgtEl>
                                          <p:spTgt spid="53">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40000"/>
                                  </p:iterate>
                                  <p:childTnLst>
                                    <p:set>
                                      <p:cBhvr>
                                        <p:cTn id="19" dur="1" fill="hold">
                                          <p:stCondLst>
                                            <p:cond delay="0"/>
                                          </p:stCondLst>
                                        </p:cTn>
                                        <p:tgtEl>
                                          <p:spTgt spid="58">
                                            <p:txEl>
                                              <p:pRg st="0" end="0"/>
                                            </p:txEl>
                                          </p:spTgt>
                                        </p:tgtEl>
                                        <p:attrNameLst>
                                          <p:attrName>style.visibility</p:attrName>
                                        </p:attrNameLst>
                                      </p:cBhvr>
                                      <p:to>
                                        <p:strVal val="visible"/>
                                      </p:to>
                                    </p:set>
                                    <p:animEffect transition="in" filter="wipe(left)">
                                      <p:cBhvr>
                                        <p:cTn id="20" dur="500"/>
                                        <p:tgtEl>
                                          <p:spTgt spid="58">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53" grpId="0" build="p" autoUpdateAnimBg="0"/>
      <p:bldP spid="56" grpId="0" autoUpdateAnimBg="0"/>
      <p:bldP spid="58" grpId="0" build="p" autoUpdateAnimBg="0"/>
      <p:bldP spid="59" grpId="0" autoUpdateAnimBg="0"/>
      <p:bldP spid="6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88875" y="1502124"/>
            <a:ext cx="1008112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空间汇交力系可以合成为一个合力，所以空间汇交力系平衡的</a:t>
            </a:r>
            <a:r>
              <a:rPr lang="zh-CN" altLang="en-US" sz="2800" i="0" dirty="0">
                <a:solidFill>
                  <a:srgbClr val="FF00FF"/>
                </a:solidFill>
                <a:latin typeface="微软雅黑" panose="020B0503020204020204" pitchFamily="34" charset="-122"/>
                <a:ea typeface="微软雅黑" panose="020B0503020204020204" pitchFamily="34" charset="-122"/>
              </a:rPr>
              <a:t>充要条件</a:t>
            </a:r>
            <a:r>
              <a:rPr lang="zh-CN" altLang="en-US" sz="2800" i="0" dirty="0">
                <a:latin typeface="+mn-lt"/>
                <a:ea typeface="微软雅黑" panose="020B0503020204020204" pitchFamily="34" charset="-122"/>
              </a:rPr>
              <a:t>为力系的合力等于零，即 </a:t>
            </a:r>
          </a:p>
        </p:txBody>
      </p:sp>
      <p:sp>
        <p:nvSpPr>
          <p:cNvPr id="53" name="Text Box 37"/>
          <p:cNvSpPr txBox="1">
            <a:spLocks noChangeArrowheads="1"/>
          </p:cNvSpPr>
          <p:nvPr/>
        </p:nvSpPr>
        <p:spPr bwMode="auto">
          <a:xfrm>
            <a:off x="1487488" y="2545390"/>
            <a:ext cx="5114925"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30000"/>
              </a:lnSpc>
            </a:pPr>
            <a:r>
              <a:rPr kumimoji="1" lang="en-US" altLang="zh-CN" sz="2800" dirty="0">
                <a:solidFill>
                  <a:schemeClr val="tx1"/>
                </a:solidFill>
                <a:ea typeface="黑体" panose="02010609060101010101" pitchFamily="49" charset="-122"/>
              </a:rPr>
              <a:t>F</a:t>
            </a:r>
            <a:r>
              <a:rPr kumimoji="1" lang="en-US" altLang="zh-CN" sz="2800" b="0" i="0" baseline="-25000" dirty="0">
                <a:solidFill>
                  <a:schemeClr val="tx1"/>
                </a:solidFill>
                <a:ea typeface="黑体" panose="02010609060101010101" pitchFamily="49" charset="-122"/>
              </a:rPr>
              <a:t>R</a:t>
            </a:r>
            <a:r>
              <a:rPr kumimoji="1" lang="zh-CN" altLang="en-US"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zh-CN" altLang="en-US" sz="2800" b="0" i="0" dirty="0">
                <a:solidFill>
                  <a:schemeClr val="tx1"/>
                </a:solidFill>
                <a:ea typeface="黑体" panose="02010609060101010101" pitchFamily="49" charset="-122"/>
              </a:rPr>
              <a:t> ＝</a:t>
            </a:r>
            <a:r>
              <a:rPr kumimoji="1" lang="en-US" altLang="zh-CN" sz="2800" i="0" dirty="0">
                <a:solidFill>
                  <a:schemeClr val="tx1"/>
                </a:solidFill>
                <a:ea typeface="黑体" panose="02010609060101010101" pitchFamily="49" charset="-122"/>
              </a:rPr>
              <a:t>0</a:t>
            </a:r>
            <a:r>
              <a:rPr kumimoji="1" lang="en-US" altLang="zh-CN" sz="2800" b="0" i="0" dirty="0">
                <a:solidFill>
                  <a:schemeClr val="tx1"/>
                </a:solidFill>
                <a:ea typeface="黑体" panose="02010609060101010101" pitchFamily="49" charset="-122"/>
              </a:rPr>
              <a:t>  </a:t>
            </a:r>
          </a:p>
        </p:txBody>
      </p:sp>
      <p:sp>
        <p:nvSpPr>
          <p:cNvPr id="56" name="Text Box 9"/>
          <p:cNvSpPr txBox="1">
            <a:spLocks noChangeArrowheads="1"/>
          </p:cNvSpPr>
          <p:nvPr/>
        </p:nvSpPr>
        <p:spPr bwMode="auto">
          <a:xfrm>
            <a:off x="688875" y="3145640"/>
            <a:ext cx="1008112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向三个坐标轴投影</a:t>
            </a:r>
            <a:endParaRPr lang="zh-CN" altLang="en-US" sz="2800" i="0" dirty="0">
              <a:latin typeface="微软雅黑" panose="020B0503020204020204" pitchFamily="34" charset="-122"/>
              <a:ea typeface="微软雅黑" panose="020B0503020204020204" pitchFamily="34" charset="-122"/>
            </a:endParaRPr>
          </a:p>
        </p:txBody>
      </p:sp>
      <p:sp>
        <p:nvSpPr>
          <p:cNvPr id="58" name="Rectangle 39"/>
          <p:cNvSpPr>
            <a:spLocks noChangeArrowheads="1"/>
          </p:cNvSpPr>
          <p:nvPr/>
        </p:nvSpPr>
        <p:spPr bwMode="auto">
          <a:xfrm>
            <a:off x="2783632" y="3378584"/>
            <a:ext cx="6569075" cy="12954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r>
              <a:rPr lang="en-US" altLang="zh-CN" sz="2800" dirty="0">
                <a:solidFill>
                  <a:schemeClr val="tx1"/>
                </a:solidFill>
                <a:ea typeface="宋体" panose="02010600030101010101" pitchFamily="2" charset="-122"/>
              </a:rPr>
              <a:t>∑</a:t>
            </a:r>
            <a:r>
              <a:rPr lang="en-US" altLang="zh-CN" sz="2800" i="1" dirty="0" err="1">
                <a:solidFill>
                  <a:schemeClr val="tx1"/>
                </a:solidFill>
                <a:ea typeface="宋体" panose="02010600030101010101" pitchFamily="2" charset="-122"/>
              </a:rPr>
              <a:t>F</a:t>
            </a:r>
            <a:r>
              <a:rPr lang="en-US" altLang="zh-CN" sz="2800" i="1" baseline="-25000" dirty="0" err="1">
                <a:solidFill>
                  <a:schemeClr val="tx1"/>
                </a:solidFill>
                <a:ea typeface="宋体" panose="02010600030101010101" pitchFamily="2" charset="-122"/>
              </a:rPr>
              <a:t>x</a:t>
            </a:r>
            <a:r>
              <a:rPr lang="en-US" altLang="zh-CN" sz="2800" i="1" dirty="0">
                <a:solidFill>
                  <a:schemeClr val="tx1"/>
                </a:solidFill>
                <a:ea typeface="宋体" panose="02010600030101010101" pitchFamily="2" charset="-122"/>
              </a:rPr>
              <a:t> </a:t>
            </a:r>
            <a:r>
              <a:rPr lang="en-US" altLang="zh-CN" sz="2800" b="0" i="0" dirty="0">
                <a:solidFill>
                  <a:schemeClr val="tx1"/>
                </a:solidFill>
                <a:ea typeface="宋体" panose="02010600030101010101" pitchFamily="2" charset="-122"/>
              </a:rPr>
              <a:t>=0</a:t>
            </a:r>
            <a:r>
              <a:rPr lang="en-US" altLang="zh-CN" sz="2800" i="1" dirty="0">
                <a:solidFill>
                  <a:schemeClr val="tx1"/>
                </a:solidFill>
                <a:ea typeface="宋体" panose="02010600030101010101" pitchFamily="2" charset="-122"/>
              </a:rPr>
              <a:t> </a:t>
            </a:r>
            <a:r>
              <a:rPr lang="en-US" altLang="zh-CN" sz="2800" dirty="0">
                <a:solidFill>
                  <a:schemeClr val="tx1"/>
                </a:solidFill>
                <a:ea typeface="宋体" panose="02010600030101010101" pitchFamily="2" charset="-122"/>
              </a:rPr>
              <a:t>   ∑</a:t>
            </a:r>
            <a:r>
              <a:rPr lang="en-US" altLang="zh-CN" sz="2800" i="1" dirty="0" err="1">
                <a:solidFill>
                  <a:schemeClr val="tx1"/>
                </a:solidFill>
                <a:ea typeface="宋体" panose="02010600030101010101" pitchFamily="2" charset="-122"/>
              </a:rPr>
              <a:t>F</a:t>
            </a:r>
            <a:r>
              <a:rPr lang="en-US" altLang="zh-CN" sz="2800" i="1" baseline="-25000" dirty="0" err="1">
                <a:solidFill>
                  <a:schemeClr val="tx1"/>
                </a:solidFill>
                <a:ea typeface="宋体" panose="02010600030101010101" pitchFamily="2" charset="-122"/>
              </a:rPr>
              <a:t>y</a:t>
            </a:r>
            <a:r>
              <a:rPr lang="en-US" altLang="zh-CN" sz="2800" i="1" baseline="-25000" dirty="0">
                <a:solidFill>
                  <a:schemeClr val="tx1"/>
                </a:solidFill>
                <a:ea typeface="宋体" panose="02010600030101010101" pitchFamily="2" charset="-122"/>
              </a:rPr>
              <a:t> </a:t>
            </a:r>
            <a:r>
              <a:rPr lang="en-US" altLang="zh-CN" sz="2800" b="0" i="0" dirty="0">
                <a:solidFill>
                  <a:schemeClr val="tx1"/>
                </a:solidFill>
              </a:rPr>
              <a:t>=0</a:t>
            </a:r>
            <a:r>
              <a:rPr lang="en-US" altLang="zh-CN" sz="2800" i="1" baseline="-25000" dirty="0">
                <a:solidFill>
                  <a:schemeClr val="tx1"/>
                </a:solidFill>
                <a:ea typeface="宋体" panose="02010600030101010101" pitchFamily="2" charset="-122"/>
              </a:rPr>
              <a:t>     </a:t>
            </a:r>
            <a:r>
              <a:rPr lang="en-US" altLang="zh-CN" sz="2800" dirty="0">
                <a:solidFill>
                  <a:schemeClr val="tx1"/>
                </a:solidFill>
              </a:rPr>
              <a:t>∑</a:t>
            </a:r>
            <a:r>
              <a:rPr lang="en-US" altLang="zh-CN" sz="2800" i="1" dirty="0" err="1">
                <a:solidFill>
                  <a:schemeClr val="tx1"/>
                </a:solidFill>
              </a:rPr>
              <a:t>F</a:t>
            </a:r>
            <a:r>
              <a:rPr lang="en-US" altLang="zh-CN" sz="2800" i="1" baseline="-25000" dirty="0" err="1">
                <a:solidFill>
                  <a:schemeClr val="tx1"/>
                </a:solidFill>
              </a:rPr>
              <a:t>z</a:t>
            </a:r>
            <a:r>
              <a:rPr lang="en-US" altLang="zh-CN" sz="2800" b="0" i="0" dirty="0">
                <a:solidFill>
                  <a:schemeClr val="tx1"/>
                </a:solidFill>
              </a:rPr>
              <a:t> =0</a:t>
            </a:r>
            <a:r>
              <a:rPr lang="en-US" altLang="zh-CN" sz="2800" dirty="0">
                <a:solidFill>
                  <a:schemeClr val="tx1"/>
                </a:solidFill>
              </a:rPr>
              <a:t> </a:t>
            </a:r>
            <a:endParaRPr lang="en-US" altLang="zh-CN" sz="2800" i="1" baseline="-25000" dirty="0">
              <a:solidFill>
                <a:schemeClr val="tx1"/>
              </a:solidFill>
            </a:endParaRPr>
          </a:p>
        </p:txBody>
      </p:sp>
      <p:sp>
        <p:nvSpPr>
          <p:cNvPr id="59" name="Text Box 9"/>
          <p:cNvSpPr txBox="1">
            <a:spLocks noChangeArrowheads="1"/>
          </p:cNvSpPr>
          <p:nvPr/>
        </p:nvSpPr>
        <p:spPr bwMode="auto">
          <a:xfrm>
            <a:off x="2945085" y="4479293"/>
            <a:ext cx="5671195"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en-US" altLang="zh-CN" sz="2800" i="0" dirty="0">
                <a:latin typeface="+mn-lt"/>
                <a:ea typeface="微软雅黑" panose="020B0503020204020204" pitchFamily="34" charset="-122"/>
              </a:rPr>
              <a:t>—— </a:t>
            </a:r>
            <a:r>
              <a:rPr lang="zh-CN" altLang="en-US" sz="2800" i="0" dirty="0">
                <a:solidFill>
                  <a:srgbClr val="FF00FF"/>
                </a:solidFill>
                <a:latin typeface="微软雅黑" panose="020B0503020204020204" pitchFamily="34" charset="-122"/>
                <a:ea typeface="微软雅黑" panose="020B0503020204020204" pitchFamily="34" charset="-122"/>
              </a:rPr>
              <a:t>空间汇交力系的平衡方程</a:t>
            </a:r>
          </a:p>
        </p:txBody>
      </p:sp>
      <p:sp>
        <p:nvSpPr>
          <p:cNvPr id="13" name="矩形 12"/>
          <p:cNvSpPr/>
          <p:nvPr/>
        </p:nvSpPr>
        <p:spPr>
          <a:xfrm>
            <a:off x="3083012" y="920157"/>
            <a:ext cx="683873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空间汇交力系的平衡条件及平衡方程式 </a:t>
            </a:r>
          </a:p>
        </p:txBody>
      </p:sp>
    </p:spTree>
    <p:extLst>
      <p:ext uri="{BB962C8B-B14F-4D97-AF65-F5344CB8AC3E}">
        <p14:creationId xmlns:p14="http://schemas.microsoft.com/office/powerpoint/2010/main" val="23685336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20000"/>
                                  </p:iterate>
                                  <p:childTnLst>
                                    <p:set>
                                      <p:cBhvr>
                                        <p:cTn id="10" dur="1" fill="hold">
                                          <p:stCondLst>
                                            <p:cond delay="0"/>
                                          </p:stCondLst>
                                        </p:cTn>
                                        <p:tgtEl>
                                          <p:spTgt spid="53">
                                            <p:txEl>
                                              <p:pRg st="0" end="0"/>
                                            </p:txEl>
                                          </p:spTgt>
                                        </p:tgtEl>
                                        <p:attrNameLst>
                                          <p:attrName>style.visibility</p:attrName>
                                        </p:attrNameLst>
                                      </p:cBhvr>
                                      <p:to>
                                        <p:strVal val="visible"/>
                                      </p:to>
                                    </p:set>
                                    <p:animEffect transition="in" filter="wipe(left)">
                                      <p:cBhvr>
                                        <p:cTn id="11" dur="500"/>
                                        <p:tgtEl>
                                          <p:spTgt spid="53">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40000"/>
                                  </p:iterate>
                                  <p:childTnLst>
                                    <p:set>
                                      <p:cBhvr>
                                        <p:cTn id="19" dur="1" fill="hold">
                                          <p:stCondLst>
                                            <p:cond delay="0"/>
                                          </p:stCondLst>
                                        </p:cTn>
                                        <p:tgtEl>
                                          <p:spTgt spid="58">
                                            <p:txEl>
                                              <p:pRg st="0" end="0"/>
                                            </p:txEl>
                                          </p:spTgt>
                                        </p:tgtEl>
                                        <p:attrNameLst>
                                          <p:attrName>style.visibility</p:attrName>
                                        </p:attrNameLst>
                                      </p:cBhvr>
                                      <p:to>
                                        <p:strVal val="visible"/>
                                      </p:to>
                                    </p:set>
                                    <p:animEffect transition="in" filter="wipe(left)">
                                      <p:cBhvr>
                                        <p:cTn id="20" dur="500"/>
                                        <p:tgtEl>
                                          <p:spTgt spid="58">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53" grpId="0" build="p" autoUpdateAnimBg="0"/>
      <p:bldP spid="56" grpId="0" autoUpdateAnimBg="0"/>
      <p:bldP spid="58" grpId="0" build="p" autoUpdateAnimBg="0"/>
      <p:bldP spid="5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61"/>
          <p:cNvSpPr>
            <a:spLocks noChangeArrowheads="1"/>
          </p:cNvSpPr>
          <p:nvPr/>
        </p:nvSpPr>
        <p:spPr bwMode="auto">
          <a:xfrm>
            <a:off x="7233414" y="1341589"/>
            <a:ext cx="4958586" cy="3672409"/>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pic>
        <p:nvPicPr>
          <p:cNvPr id="1026" name="Picture 2" descr="已知：物重P=10kN，CE=EB-DE，θ=30°;求：杆受力及绳拉力。请帮忙给出正确答案和分析，">
            <a:extLst>
              <a:ext uri="{FF2B5EF4-FFF2-40B4-BE49-F238E27FC236}">
                <a16:creationId xmlns:a16="http://schemas.microsoft.com/office/drawing/2014/main" id="{1910EDFE-4EFE-3F6D-31E7-F711F3C3C2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3585" y="1687962"/>
            <a:ext cx="3163238" cy="3983337"/>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5"/>
          <p:cNvSpPr>
            <a:spLocks noChangeArrowheads="1"/>
          </p:cNvSpPr>
          <p:nvPr/>
        </p:nvSpPr>
        <p:spPr bwMode="auto">
          <a:xfrm>
            <a:off x="279412" y="802970"/>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Times New Roman" panose="02020603050405020304" pitchFamily="18" charset="0"/>
                <a:ea typeface="黑体" panose="02010609060101010101" pitchFamily="49" charset="-122"/>
              </a:rPr>
              <a:t>已知：物重</a:t>
            </a:r>
            <a:r>
              <a:rPr kumimoji="0" lang="en-US" altLang="zh-CN" dirty="0">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i="0" dirty="0">
                <a:latin typeface="Times New Roman" panose="02020603050405020304" pitchFamily="18" charset="0"/>
                <a:ea typeface="黑体" panose="02010609060101010101" pitchFamily="49" charset="-122"/>
                <a:cs typeface="Times New Roman" panose="02020603050405020304" pitchFamily="18" charset="0"/>
              </a:rPr>
              <a:t>10kN，</a:t>
            </a:r>
            <a:r>
              <a:rPr kumimoji="0" lang="en-US" altLang="zh-CN" dirty="0">
                <a:latin typeface="Times New Roman" panose="02020603050405020304" pitchFamily="18" charset="0"/>
                <a:ea typeface="黑体" panose="02010609060101010101" pitchFamily="49" charset="-122"/>
                <a:cs typeface="Times New Roman" panose="02020603050405020304" pitchFamily="18" charset="0"/>
              </a:rPr>
              <a:t>CE=EB=DE</a:t>
            </a:r>
            <a:r>
              <a:rPr kumimoji="0" lang="zh-CN" altLang="en-US" i="0" dirty="0">
                <a:latin typeface="Times New Roman" panose="02020603050405020304" pitchFamily="18" charset="0"/>
                <a:ea typeface="黑体" panose="02010609060101010101" pitchFamily="49" charset="-122"/>
                <a:cs typeface="Times New Roman" panose="02020603050405020304" pitchFamily="18" charset="0"/>
              </a:rPr>
              <a:t>，</a:t>
            </a:r>
            <a:r>
              <a:rPr kumimoji="0" lang="el-GR" altLang="zh-CN" dirty="0">
                <a:latin typeface="Times New Roman" panose="02020603050405020304" pitchFamily="18" charset="0"/>
                <a:ea typeface="黑体" panose="02010609060101010101" pitchFamily="49" charset="-122"/>
                <a:cs typeface="Times New Roman" panose="02020603050405020304" pitchFamily="18" charset="0"/>
              </a:rPr>
              <a:t>θ</a:t>
            </a:r>
            <a:r>
              <a:rPr kumimoji="0" lang="en-US" altLang="zh-CN" i="0" dirty="0">
                <a:latin typeface="Times New Roman" panose="02020603050405020304" pitchFamily="18" charset="0"/>
                <a:ea typeface="黑体" panose="02010609060101010101" pitchFamily="49" charset="-122"/>
                <a:cs typeface="Times New Roman" panose="02020603050405020304" pitchFamily="18" charset="0"/>
              </a:rPr>
              <a:t>=30º</a:t>
            </a:r>
            <a:r>
              <a:rPr kumimoji="0" lang="zh-CN" altLang="en-US" i="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i="0" dirty="0">
                <a:latin typeface="Times New Roman" panose="02020603050405020304" pitchFamily="18" charset="0"/>
                <a:ea typeface="黑体" panose="02010609060101010101" pitchFamily="49" charset="-122"/>
              </a:rPr>
              <a:t>求：杆受力及绳拉力。</a:t>
            </a:r>
          </a:p>
        </p:txBody>
      </p:sp>
      <p:sp>
        <p:nvSpPr>
          <p:cNvPr id="148" name="Rectangle 5"/>
          <p:cNvSpPr>
            <a:spLocks noChangeArrowheads="1"/>
          </p:cNvSpPr>
          <p:nvPr/>
        </p:nvSpPr>
        <p:spPr bwMode="auto">
          <a:xfrm>
            <a:off x="279412" y="1457130"/>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）画受力图；</a:t>
            </a:r>
            <a:endParaRPr lang="zh-CN" altLang="en-US" i="0" dirty="0">
              <a:latin typeface="+mn-lt"/>
              <a:ea typeface="黑体" panose="02010609060101010101" pitchFamily="49" charset="-122"/>
            </a:endParaRPr>
          </a:p>
        </p:txBody>
      </p:sp>
      <p:sp>
        <p:nvSpPr>
          <p:cNvPr id="149" name="Rectangle 5"/>
          <p:cNvSpPr>
            <a:spLocks noChangeArrowheads="1"/>
          </p:cNvSpPr>
          <p:nvPr/>
        </p:nvSpPr>
        <p:spPr bwMode="auto">
          <a:xfrm>
            <a:off x="279412" y="2031230"/>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）列平衡方程求解。</a:t>
            </a:r>
            <a:endParaRPr lang="zh-CN" altLang="en-US" i="0" dirty="0">
              <a:latin typeface="+mn-lt"/>
              <a:ea typeface="黑体" panose="02010609060101010101" pitchFamily="49" charset="-122"/>
            </a:endParaRPr>
          </a:p>
        </p:txBody>
      </p:sp>
      <p:sp>
        <p:nvSpPr>
          <p:cNvPr id="150" name="Text Box 97"/>
          <p:cNvSpPr txBox="1">
            <a:spLocks noChangeArrowheads="1"/>
          </p:cNvSpPr>
          <p:nvPr/>
        </p:nvSpPr>
        <p:spPr bwMode="auto">
          <a:xfrm>
            <a:off x="821225" y="2605330"/>
            <a:ext cx="1362025"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sz="2600" dirty="0">
                <a:solidFill>
                  <a:schemeClr val="tx1"/>
                </a:solidFill>
              </a:rPr>
              <a:t> ∑</a:t>
            </a:r>
            <a:r>
              <a:rPr lang="en-US" altLang="zh-CN" sz="2600" b="0" dirty="0" err="1">
                <a:solidFill>
                  <a:schemeClr val="tx1"/>
                </a:solidFill>
              </a:rPr>
              <a:t>F</a:t>
            </a:r>
            <a:r>
              <a:rPr lang="en-US" altLang="zh-CN" sz="2600" b="0" baseline="-25000" dirty="0" err="1">
                <a:solidFill>
                  <a:schemeClr val="tx1"/>
                </a:solidFill>
              </a:rPr>
              <a:t>x</a:t>
            </a:r>
            <a:r>
              <a:rPr lang="zh-CN" altLang="en-US" sz="2600" i="0" dirty="0">
                <a:solidFill>
                  <a:schemeClr val="tx1"/>
                </a:solidFill>
              </a:rPr>
              <a:t>＝</a:t>
            </a:r>
            <a:r>
              <a:rPr lang="en-US" altLang="zh-CN" sz="2600" b="0" i="0" dirty="0">
                <a:solidFill>
                  <a:schemeClr val="tx1"/>
                </a:solidFill>
              </a:rPr>
              <a:t>0</a:t>
            </a:r>
            <a:endParaRPr lang="en-US" altLang="zh-CN" sz="2600" dirty="0">
              <a:solidFill>
                <a:schemeClr val="tx1"/>
              </a:solidFill>
            </a:endParaRPr>
          </a:p>
        </p:txBody>
      </p:sp>
      <p:sp>
        <p:nvSpPr>
          <p:cNvPr id="151" name="Text Box 98"/>
          <p:cNvSpPr txBox="1">
            <a:spLocks noChangeArrowheads="1"/>
          </p:cNvSpPr>
          <p:nvPr/>
        </p:nvSpPr>
        <p:spPr bwMode="auto">
          <a:xfrm>
            <a:off x="785892" y="3227196"/>
            <a:ext cx="6316134"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sz="2600" dirty="0">
                <a:solidFill>
                  <a:schemeClr val="tx1"/>
                </a:solidFill>
              </a:rPr>
              <a:t> ∑</a:t>
            </a:r>
            <a:r>
              <a:rPr lang="en-US" altLang="zh-CN" sz="2600" b="0" i="1" dirty="0" err="1">
                <a:solidFill>
                  <a:schemeClr val="tx1"/>
                </a:solidFill>
              </a:rPr>
              <a:t>F</a:t>
            </a:r>
            <a:r>
              <a:rPr lang="en-US" altLang="zh-CN" sz="2600" b="0" baseline="-25000" dirty="0" err="1">
                <a:solidFill>
                  <a:schemeClr val="tx1"/>
                </a:solidFill>
              </a:rPr>
              <a:t>y</a:t>
            </a:r>
            <a:r>
              <a:rPr lang="zh-CN" altLang="en-US" sz="2600" b="0" i="0" dirty="0">
                <a:solidFill>
                  <a:schemeClr val="tx1"/>
                </a:solidFill>
              </a:rPr>
              <a:t>＝</a:t>
            </a:r>
            <a:r>
              <a:rPr lang="en-US" altLang="zh-CN" sz="2600" b="0" i="0" dirty="0">
                <a:solidFill>
                  <a:schemeClr val="tx1"/>
                </a:solidFill>
              </a:rPr>
              <a:t>0</a:t>
            </a:r>
            <a:endParaRPr lang="zh-CN" altLang="en-US" sz="2600" i="0" dirty="0">
              <a:solidFill>
                <a:schemeClr val="tx1"/>
              </a:solidFill>
            </a:endParaRPr>
          </a:p>
        </p:txBody>
      </p:sp>
      <p:pic>
        <p:nvPicPr>
          <p:cNvPr id="153" name="Picture 25" descr="l04-03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6955" y="1636603"/>
            <a:ext cx="22860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27" descr="l04-03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2955" y="1638190"/>
            <a:ext cx="22860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5" name="Object 27"/>
          <p:cNvGraphicFramePr>
            <a:graphicFrameLocks noChangeAspect="1"/>
          </p:cNvGraphicFramePr>
          <p:nvPr>
            <p:extLst>
              <p:ext uri="{D42A27DB-BD31-4B8C-83A1-F6EECF244321}">
                <p14:modId xmlns:p14="http://schemas.microsoft.com/office/powerpoint/2010/main" val="2085549096"/>
              </p:ext>
            </p:extLst>
          </p:nvPr>
        </p:nvGraphicFramePr>
        <p:xfrm>
          <a:off x="2326603" y="2676213"/>
          <a:ext cx="3384550" cy="536575"/>
        </p:xfrm>
        <a:graphic>
          <a:graphicData uri="http://schemas.openxmlformats.org/presentationml/2006/ole">
            <mc:AlternateContent xmlns:mc="http://schemas.openxmlformats.org/markup-compatibility/2006">
              <mc:Choice xmlns:v="urn:schemas-microsoft-com:vml" Requires="v">
                <p:oleObj name="Equation" r:id="rId7" imgW="1524000" imgH="241300" progId="Equation.DSMT4">
                  <p:embed/>
                </p:oleObj>
              </mc:Choice>
              <mc:Fallback>
                <p:oleObj name="Equation" r:id="rId7" imgW="1524000" imgH="2413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6603" y="2676213"/>
                        <a:ext cx="33845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9" name="Object 26"/>
          <p:cNvGraphicFramePr>
            <a:graphicFrameLocks noChangeAspect="1"/>
          </p:cNvGraphicFramePr>
          <p:nvPr>
            <p:extLst>
              <p:ext uri="{D42A27DB-BD31-4B8C-83A1-F6EECF244321}">
                <p14:modId xmlns:p14="http://schemas.microsoft.com/office/powerpoint/2010/main" val="4177436925"/>
              </p:ext>
            </p:extLst>
          </p:nvPr>
        </p:nvGraphicFramePr>
        <p:xfrm>
          <a:off x="2230911" y="3280737"/>
          <a:ext cx="4162425" cy="1136650"/>
        </p:xfrm>
        <a:graphic>
          <a:graphicData uri="http://schemas.openxmlformats.org/presentationml/2006/ole">
            <mc:AlternateContent xmlns:mc="http://schemas.openxmlformats.org/markup-compatibility/2006">
              <mc:Choice xmlns:v="urn:schemas-microsoft-com:vml" Requires="v">
                <p:oleObj name="Equation" r:id="rId9" imgW="1765080" imgH="482400" progId="Equation.DSMT4">
                  <p:embed/>
                </p:oleObj>
              </mc:Choice>
              <mc:Fallback>
                <p:oleObj name="Equation" r:id="rId9" imgW="1765080" imgH="482400" progId="Equation.DSMT4">
                  <p:embed/>
                  <p:pic>
                    <p:nvPicPr>
                      <p:cNvPr id="0" name=""/>
                      <p:cNvPicPr>
                        <a:picLocks noChangeAspect="1" noChangeArrowheads="1"/>
                      </p:cNvPicPr>
                      <p:nvPr/>
                    </p:nvPicPr>
                    <p:blipFill>
                      <a:blip r:embed="rId10"/>
                      <a:srcRect/>
                      <a:stretch>
                        <a:fillRect/>
                      </a:stretch>
                    </p:blipFill>
                    <p:spPr bwMode="auto">
                      <a:xfrm>
                        <a:off x="2230911" y="3280737"/>
                        <a:ext cx="4162425"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0" name="Text Box 98"/>
          <p:cNvSpPr txBox="1">
            <a:spLocks noChangeArrowheads="1"/>
          </p:cNvSpPr>
          <p:nvPr/>
        </p:nvSpPr>
        <p:spPr bwMode="auto">
          <a:xfrm>
            <a:off x="754235" y="4361759"/>
            <a:ext cx="6316134" cy="61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sz="2600" dirty="0">
                <a:solidFill>
                  <a:schemeClr val="tx1"/>
                </a:solidFill>
              </a:rPr>
              <a:t> ∑</a:t>
            </a:r>
            <a:r>
              <a:rPr lang="en-US" altLang="zh-CN" sz="2600" b="0" i="1" dirty="0" err="1">
                <a:solidFill>
                  <a:schemeClr val="tx1"/>
                </a:solidFill>
              </a:rPr>
              <a:t>F</a:t>
            </a:r>
            <a:r>
              <a:rPr lang="en-US" altLang="zh-CN" sz="2600" b="0" baseline="-25000" dirty="0" err="1">
                <a:solidFill>
                  <a:schemeClr val="tx1"/>
                </a:solidFill>
              </a:rPr>
              <a:t>z</a:t>
            </a:r>
            <a:r>
              <a:rPr lang="zh-CN" altLang="en-US" sz="2600" b="0" i="0" dirty="0">
                <a:solidFill>
                  <a:schemeClr val="tx1"/>
                </a:solidFill>
              </a:rPr>
              <a:t>＝</a:t>
            </a:r>
            <a:r>
              <a:rPr lang="en-US" altLang="zh-CN" sz="2600" b="0" i="0" dirty="0">
                <a:solidFill>
                  <a:schemeClr val="tx1"/>
                </a:solidFill>
              </a:rPr>
              <a:t>0</a:t>
            </a:r>
            <a:endParaRPr lang="zh-CN" altLang="en-US" sz="2600" i="0" dirty="0">
              <a:solidFill>
                <a:schemeClr val="tx1"/>
              </a:solidFill>
            </a:endParaRPr>
          </a:p>
        </p:txBody>
      </p:sp>
      <p:graphicFrame>
        <p:nvGraphicFramePr>
          <p:cNvPr id="161" name="Object 16"/>
          <p:cNvGraphicFramePr>
            <a:graphicFrameLocks noChangeAspect="1"/>
          </p:cNvGraphicFramePr>
          <p:nvPr>
            <p:extLst>
              <p:ext uri="{D42A27DB-BD31-4B8C-83A1-F6EECF244321}">
                <p14:modId xmlns:p14="http://schemas.microsoft.com/office/powerpoint/2010/main" val="1166952766"/>
              </p:ext>
            </p:extLst>
          </p:nvPr>
        </p:nvGraphicFramePr>
        <p:xfrm>
          <a:off x="2159361" y="4454594"/>
          <a:ext cx="4922837" cy="1139825"/>
        </p:xfrm>
        <a:graphic>
          <a:graphicData uri="http://schemas.openxmlformats.org/presentationml/2006/ole">
            <mc:AlternateContent xmlns:mc="http://schemas.openxmlformats.org/markup-compatibility/2006">
              <mc:Choice xmlns:v="urn:schemas-microsoft-com:vml" Requires="v">
                <p:oleObj name="Equation" r:id="rId11" imgW="2171520" imgH="482400" progId="Equation.DSMT4">
                  <p:embed/>
                </p:oleObj>
              </mc:Choice>
              <mc:Fallback>
                <p:oleObj name="Equation" r:id="rId11" imgW="2171520" imgH="482400" progId="Equation.DSMT4">
                  <p:embed/>
                  <p:pic>
                    <p:nvPicPr>
                      <p:cNvPr id="0" name=""/>
                      <p:cNvPicPr>
                        <a:picLocks noChangeAspect="1" noChangeArrowheads="1"/>
                      </p:cNvPicPr>
                      <p:nvPr/>
                    </p:nvPicPr>
                    <p:blipFill>
                      <a:blip r:embed="rId12"/>
                      <a:srcRect/>
                      <a:stretch>
                        <a:fillRect/>
                      </a:stretch>
                    </p:blipFill>
                    <p:spPr bwMode="auto">
                      <a:xfrm>
                        <a:off x="2159361" y="4454594"/>
                        <a:ext cx="4922837"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aphicFrame>
        <p:nvGraphicFramePr>
          <p:cNvPr id="162" name="Object 17"/>
          <p:cNvGraphicFramePr>
            <a:graphicFrameLocks noChangeAspect="1"/>
          </p:cNvGraphicFramePr>
          <p:nvPr>
            <p:extLst>
              <p:ext uri="{D42A27DB-BD31-4B8C-83A1-F6EECF244321}">
                <p14:modId xmlns:p14="http://schemas.microsoft.com/office/powerpoint/2010/main" val="3813666683"/>
              </p:ext>
            </p:extLst>
          </p:nvPr>
        </p:nvGraphicFramePr>
        <p:xfrm>
          <a:off x="1485228" y="5788978"/>
          <a:ext cx="2281237" cy="481012"/>
        </p:xfrm>
        <a:graphic>
          <a:graphicData uri="http://schemas.openxmlformats.org/presentationml/2006/ole">
            <mc:AlternateContent xmlns:mc="http://schemas.openxmlformats.org/markup-compatibility/2006">
              <mc:Choice xmlns:v="urn:schemas-microsoft-com:vml" Requires="v">
                <p:oleObj name="Equation" r:id="rId13" imgW="1089660" imgH="223520" progId="Equation.DSMT4">
                  <p:embed/>
                </p:oleObj>
              </mc:Choice>
              <mc:Fallback>
                <p:oleObj name="Equation" r:id="rId13" imgW="1089660" imgH="22352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5228" y="5788978"/>
                        <a:ext cx="2281237"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aphicFrame>
        <p:nvGraphicFramePr>
          <p:cNvPr id="163" name="Object 25"/>
          <p:cNvGraphicFramePr>
            <a:graphicFrameLocks noChangeAspect="1"/>
          </p:cNvGraphicFramePr>
          <p:nvPr>
            <p:extLst>
              <p:ext uri="{D42A27DB-BD31-4B8C-83A1-F6EECF244321}">
                <p14:modId xmlns:p14="http://schemas.microsoft.com/office/powerpoint/2010/main" val="1633644546"/>
              </p:ext>
            </p:extLst>
          </p:nvPr>
        </p:nvGraphicFramePr>
        <p:xfrm>
          <a:off x="4126828" y="5803265"/>
          <a:ext cx="1584325" cy="446088"/>
        </p:xfrm>
        <a:graphic>
          <a:graphicData uri="http://schemas.openxmlformats.org/presentationml/2006/ole">
            <mc:AlternateContent xmlns:mc="http://schemas.openxmlformats.org/markup-compatibility/2006">
              <mc:Choice xmlns:v="urn:schemas-microsoft-com:vml" Requires="v">
                <p:oleObj name="Equation" r:id="rId15" imgW="812165" imgH="228600" progId="Equation.DSMT4">
                  <p:embed/>
                </p:oleObj>
              </mc:Choice>
              <mc:Fallback>
                <p:oleObj name="Equation" r:id="rId15" imgW="812165" imgH="2286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6828" y="5803265"/>
                        <a:ext cx="158432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0793981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 calcmode="lin" valueType="num">
                                      <p:cBhvr additive="base">
                                        <p:cTn id="7" dur="500" fill="hold"/>
                                        <p:tgtEl>
                                          <p:spTgt spid="153"/>
                                        </p:tgtEl>
                                        <p:attrNameLst>
                                          <p:attrName>ppt_x</p:attrName>
                                        </p:attrNameLst>
                                      </p:cBhvr>
                                      <p:tavLst>
                                        <p:tav tm="0">
                                          <p:val>
                                            <p:strVal val="#ppt_x"/>
                                          </p:val>
                                        </p:tav>
                                        <p:tav tm="100000">
                                          <p:val>
                                            <p:strVal val="#ppt_x"/>
                                          </p:val>
                                        </p:tav>
                                      </p:tavLst>
                                    </p:anim>
                                    <p:anim calcmode="lin" valueType="num">
                                      <p:cBhvr additive="base">
                                        <p:cTn id="8" dur="500" fill="hold"/>
                                        <p:tgtEl>
                                          <p:spTgt spid="15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4"/>
                                        </p:tgtEl>
                                        <p:attrNameLst>
                                          <p:attrName>style.visibility</p:attrName>
                                        </p:attrNameLst>
                                      </p:cBhvr>
                                      <p:to>
                                        <p:strVal val="visible"/>
                                      </p:to>
                                    </p:set>
                                    <p:anim calcmode="lin" valueType="num">
                                      <p:cBhvr additive="base">
                                        <p:cTn id="11" dur="500" fill="hold"/>
                                        <p:tgtEl>
                                          <p:spTgt spid="154"/>
                                        </p:tgtEl>
                                        <p:attrNameLst>
                                          <p:attrName>ppt_x</p:attrName>
                                        </p:attrNameLst>
                                      </p:cBhvr>
                                      <p:tavLst>
                                        <p:tav tm="0">
                                          <p:val>
                                            <p:strVal val="#ppt_x"/>
                                          </p:val>
                                        </p:tav>
                                        <p:tav tm="100000">
                                          <p:val>
                                            <p:strVal val="#ppt_x"/>
                                          </p:val>
                                        </p:tav>
                                      </p:tavLst>
                                    </p:anim>
                                    <p:anim calcmode="lin" valueType="num">
                                      <p:cBhvr additive="base">
                                        <p:cTn id="12" dur="500" fill="hold"/>
                                        <p:tgtEl>
                                          <p:spTgt spid="15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150">
                                            <p:txEl>
                                              <p:pRg st="0" end="0"/>
                                            </p:txEl>
                                          </p:spTgt>
                                        </p:tgtEl>
                                        <p:attrNameLst>
                                          <p:attrName>style.visibility</p:attrName>
                                        </p:attrNameLst>
                                      </p:cBhvr>
                                      <p:to>
                                        <p:strVal val="visible"/>
                                      </p:to>
                                    </p:set>
                                    <p:animEffect transition="in" filter="wipe(left)">
                                      <p:cBhvr>
                                        <p:cTn id="25" dur="75"/>
                                        <p:tgtEl>
                                          <p:spTgt spid="150">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0"/>
                                  </p:iterate>
                                  <p:childTnLst>
                                    <p:set>
                                      <p:cBhvr>
                                        <p:cTn id="29" dur="1" fill="hold">
                                          <p:stCondLst>
                                            <p:cond delay="0"/>
                                          </p:stCondLst>
                                        </p:cTn>
                                        <p:tgtEl>
                                          <p:spTgt spid="151">
                                            <p:txEl>
                                              <p:pRg st="0" end="0"/>
                                            </p:txEl>
                                          </p:spTgt>
                                        </p:tgtEl>
                                        <p:attrNameLst>
                                          <p:attrName>style.visibility</p:attrName>
                                        </p:attrNameLst>
                                      </p:cBhvr>
                                      <p:to>
                                        <p:strVal val="visible"/>
                                      </p:to>
                                    </p:set>
                                    <p:animEffect transition="in" filter="wipe(left)">
                                      <p:cBhvr>
                                        <p:cTn id="30" dur="75"/>
                                        <p:tgtEl>
                                          <p:spTgt spid="151">
                                            <p:txEl>
                                              <p:pRg st="0" end="0"/>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TYPE.WAV"/>
                                        </p:tgtEl>
                                      </p:cMediaNode>
                                    </p:audio>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160">
                                            <p:txEl>
                                              <p:pRg st="0" end="0"/>
                                            </p:txEl>
                                          </p:spTgt>
                                        </p:tgtEl>
                                        <p:attrNameLst>
                                          <p:attrName>style.visibility</p:attrName>
                                        </p:attrNameLst>
                                      </p:cBhvr>
                                      <p:to>
                                        <p:strVal val="visible"/>
                                      </p:to>
                                    </p:set>
                                    <p:animEffect transition="in" filter="wipe(left)">
                                      <p:cBhvr>
                                        <p:cTn id="43" dur="75"/>
                                        <p:tgtEl>
                                          <p:spTgt spid="160">
                                            <p:txEl>
                                              <p:pRg st="0" end="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3" name="TYPE.WAV"/>
                                        </p:tgtEl>
                                      </p:cMediaNode>
                                    </p:audio>
                                  </p:sub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16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16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50" grpId="0" build="p" autoUpdateAnimBg="0"/>
      <p:bldP spid="151" grpId="0" build="p" autoUpdateAnimBg="0"/>
      <p:bldP spid="160"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§3-3  </a:t>
            </a:r>
            <a:r>
              <a:rPr lang="zh-CN" altLang="en-US" sz="3000" i="0" dirty="0">
                <a:solidFill>
                  <a:schemeClr val="accent6">
                    <a:lumMod val="75000"/>
                  </a:schemeClr>
                </a:solidFill>
                <a:latin typeface="+mn-lt"/>
                <a:ea typeface="微软雅黑" panose="020B0503020204020204" pitchFamily="34" charset="-122"/>
              </a:rPr>
              <a:t>力对轴之矩</a:t>
            </a:r>
          </a:p>
        </p:txBody>
      </p:sp>
      <p:sp>
        <p:nvSpPr>
          <p:cNvPr id="52" name="Text Box 9"/>
          <p:cNvSpPr txBox="1">
            <a:spLocks noChangeArrowheads="1"/>
          </p:cNvSpPr>
          <p:nvPr/>
        </p:nvSpPr>
        <p:spPr bwMode="auto">
          <a:xfrm>
            <a:off x="688875" y="1755781"/>
            <a:ext cx="1008112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在工程中，常遇到刚体绕定轴转动的情形。为了度量力对转动刚体的作用效应，必须引入力对轴之矩的概念。 </a:t>
            </a:r>
          </a:p>
        </p:txBody>
      </p:sp>
      <p:sp>
        <p:nvSpPr>
          <p:cNvPr id="64" name="矩形 63"/>
          <p:cNvSpPr/>
          <p:nvPr/>
        </p:nvSpPr>
        <p:spPr>
          <a:xfrm>
            <a:off x="3905859" y="1242772"/>
            <a:ext cx="326243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力对轴之矩的概念</a:t>
            </a:r>
          </a:p>
        </p:txBody>
      </p:sp>
      <p:sp>
        <p:nvSpPr>
          <p:cNvPr id="14" name="Rectangle 61"/>
          <p:cNvSpPr>
            <a:spLocks noChangeArrowheads="1"/>
          </p:cNvSpPr>
          <p:nvPr/>
        </p:nvSpPr>
        <p:spPr bwMode="auto">
          <a:xfrm>
            <a:off x="1199456" y="2852936"/>
            <a:ext cx="9230475" cy="2374131"/>
          </a:xfrm>
          <a:prstGeom prst="rect">
            <a:avLst/>
          </a:prstGeom>
          <a:solidFill>
            <a:srgbClr val="B9CDE5"/>
          </a:solidFill>
          <a:ln>
            <a:noFill/>
          </a:ln>
          <a:effectLst/>
        </p:spPr>
        <p:txBody>
          <a:bodyPr wrap="none" anchor="ctr"/>
          <a:lstStyle/>
          <a:p>
            <a:endParaRPr lang="zh-CN" altLang="en-US"/>
          </a:p>
        </p:txBody>
      </p:sp>
      <p:pic>
        <p:nvPicPr>
          <p:cNvPr id="20" name="Picture 47" descr="04-06-a"/>
          <p:cNvPicPr>
            <a:picLocks noChangeAspect="1" noChangeArrowheads="1"/>
          </p:cNvPicPr>
          <p:nvPr/>
        </p:nvPicPr>
        <p:blipFill>
          <a:blip r:embed="rId3">
            <a:extLst>
              <a:ext uri="{28A0092B-C50C-407E-A947-70E740481C1C}">
                <a14:useLocalDpi xmlns:a14="http://schemas.microsoft.com/office/drawing/2010/main" val="0"/>
              </a:ext>
            </a:extLst>
          </a:blip>
          <a:srcRect t="4602" b="3915"/>
          <a:stretch>
            <a:fillRect/>
          </a:stretch>
        </p:blipFill>
        <p:spPr bwMode="auto">
          <a:xfrm>
            <a:off x="5087888" y="2965513"/>
            <a:ext cx="15287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48" descr="04-06-b"/>
          <p:cNvPicPr>
            <a:picLocks noChangeAspect="1" noChangeArrowheads="1"/>
          </p:cNvPicPr>
          <p:nvPr/>
        </p:nvPicPr>
        <p:blipFill>
          <a:blip r:embed="rId4">
            <a:extLst>
              <a:ext uri="{28A0092B-C50C-407E-A947-70E740481C1C}">
                <a14:useLocalDpi xmlns:a14="http://schemas.microsoft.com/office/drawing/2010/main" val="0"/>
              </a:ext>
            </a:extLst>
          </a:blip>
          <a:srcRect t="4602" b="3915"/>
          <a:stretch>
            <a:fillRect/>
          </a:stretch>
        </p:blipFill>
        <p:spPr bwMode="auto">
          <a:xfrm>
            <a:off x="6799485" y="2965513"/>
            <a:ext cx="15287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9" descr="04-06-c"/>
          <p:cNvPicPr>
            <a:picLocks noChangeAspect="1" noChangeArrowheads="1"/>
          </p:cNvPicPr>
          <p:nvPr/>
        </p:nvPicPr>
        <p:blipFill>
          <a:blip r:embed="rId5">
            <a:extLst>
              <a:ext uri="{28A0092B-C50C-407E-A947-70E740481C1C}">
                <a14:useLocalDpi xmlns:a14="http://schemas.microsoft.com/office/drawing/2010/main" val="0"/>
              </a:ext>
            </a:extLst>
          </a:blip>
          <a:srcRect t="4602" b="3845"/>
          <a:stretch>
            <a:fillRect/>
          </a:stretch>
        </p:blipFill>
        <p:spPr bwMode="auto">
          <a:xfrm>
            <a:off x="8527677" y="2965513"/>
            <a:ext cx="1528763" cy="2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50" descr="04-06-d"/>
          <p:cNvPicPr>
            <a:picLocks noChangeAspect="1" noChangeArrowheads="1"/>
          </p:cNvPicPr>
          <p:nvPr/>
        </p:nvPicPr>
        <p:blipFill>
          <a:blip r:embed="rId6">
            <a:extLst>
              <a:ext uri="{28A0092B-C50C-407E-A947-70E740481C1C}">
                <a14:useLocalDpi xmlns:a14="http://schemas.microsoft.com/office/drawing/2010/main" val="0"/>
              </a:ext>
            </a:extLst>
          </a:blip>
          <a:srcRect t="4602" b="3915"/>
          <a:stretch>
            <a:fillRect/>
          </a:stretch>
        </p:blipFill>
        <p:spPr bwMode="auto">
          <a:xfrm>
            <a:off x="1631504" y="2965513"/>
            <a:ext cx="15287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51" descr="04-06-e"/>
          <p:cNvPicPr>
            <a:picLocks noChangeAspect="1" noChangeArrowheads="1"/>
          </p:cNvPicPr>
          <p:nvPr/>
        </p:nvPicPr>
        <p:blipFill>
          <a:blip r:embed="rId7">
            <a:extLst>
              <a:ext uri="{28A0092B-C50C-407E-A947-70E740481C1C}">
                <a14:useLocalDpi xmlns:a14="http://schemas.microsoft.com/office/drawing/2010/main" val="0"/>
              </a:ext>
            </a:extLst>
          </a:blip>
          <a:srcRect t="4602" b="3915"/>
          <a:stretch>
            <a:fillRect/>
          </a:stretch>
        </p:blipFill>
        <p:spPr bwMode="auto">
          <a:xfrm>
            <a:off x="3359696" y="2965513"/>
            <a:ext cx="1528762"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10721" y="5254787"/>
            <a:ext cx="10083096" cy="1126462"/>
          </a:xfrm>
          <a:prstGeom prst="rect">
            <a:avLst/>
          </a:prstGeom>
        </p:spPr>
        <p:txBody>
          <a:bodyPr wrap="square">
            <a:spAutoFit/>
          </a:bodyPr>
          <a:lstStyle/>
          <a:p>
            <a:pPr algn="just">
              <a:lnSpc>
                <a:spcPct val="120000"/>
              </a:lnSpc>
            </a:pPr>
            <a:r>
              <a:rPr kumimoji="1" lang="zh-CN" altLang="en-US" sz="2800" i="0" dirty="0">
                <a:solidFill>
                  <a:schemeClr val="tx1"/>
                </a:solidFill>
                <a:latin typeface="+mn-lt"/>
                <a:ea typeface="微软雅黑" panose="020B0503020204020204" pitchFamily="34" charset="-122"/>
              </a:rPr>
              <a:t>当</a:t>
            </a:r>
            <a:r>
              <a:rPr kumimoji="1" lang="zh-CN" altLang="en-US" sz="2800" i="0" dirty="0">
                <a:latin typeface="微软雅黑" panose="020B0503020204020204" pitchFamily="34" charset="-122"/>
                <a:ea typeface="微软雅黑" panose="020B0503020204020204" pitchFamily="34" charset="-122"/>
              </a:rPr>
              <a:t>力与轴平行或相交时</a:t>
            </a:r>
            <a:r>
              <a:rPr kumimoji="1" lang="zh-CN" altLang="en-US" sz="2800" i="0" dirty="0">
                <a:solidFill>
                  <a:schemeClr val="tx1"/>
                </a:solidFill>
                <a:latin typeface="+mn-lt"/>
                <a:ea typeface="微软雅黑" panose="020B0503020204020204" pitchFamily="34" charset="-122"/>
              </a:rPr>
              <a:t>，也就是力与轴共面时，刚体在力的作用下不能绕该轴转动，这说明</a:t>
            </a:r>
            <a:r>
              <a:rPr kumimoji="1" lang="zh-CN" altLang="en-US" sz="2800" i="0" dirty="0">
                <a:latin typeface="微软雅黑" panose="020B0503020204020204" pitchFamily="34" charset="-122"/>
                <a:ea typeface="微软雅黑" panose="020B0503020204020204" pitchFamily="34" charset="-122"/>
              </a:rPr>
              <a:t>力对该轴之矩为零</a:t>
            </a:r>
            <a:r>
              <a:rPr kumimoji="1" lang="zh-CN" altLang="en-US" sz="2800" i="0" dirty="0">
                <a:solidFill>
                  <a:schemeClr val="tx1"/>
                </a:solidFill>
                <a:latin typeface="+mn-lt"/>
                <a:ea typeface="微软雅黑" panose="020B0503020204020204" pitchFamily="34" charset="-122"/>
              </a:rPr>
              <a:t>。</a:t>
            </a:r>
            <a:endParaRPr kumimoji="1" lang="en-US" altLang="zh-CN" sz="2800" i="0" dirty="0">
              <a:solidFill>
                <a:schemeClr val="tx1"/>
              </a:solidFill>
              <a:latin typeface="+mn-lt"/>
              <a:ea typeface="微软雅黑" panose="020B0503020204020204" pitchFamily="34" charset="-122"/>
            </a:endParaRPr>
          </a:p>
        </p:txBody>
      </p:sp>
    </p:spTree>
    <p:extLst>
      <p:ext uri="{BB962C8B-B14F-4D97-AF65-F5344CB8AC3E}">
        <p14:creationId xmlns:p14="http://schemas.microsoft.com/office/powerpoint/2010/main" val="97227272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4" grpId="0" animBg="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88875" y="1016354"/>
            <a:ext cx="8143429" cy="2244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hangingPunct="0">
              <a:lnSpc>
                <a:spcPct val="120000"/>
              </a:lnSpc>
              <a:spcBef>
                <a:spcPct val="0"/>
              </a:spcBef>
              <a:spcAft>
                <a:spcPct val="30000"/>
              </a:spcAft>
              <a:buClrTx/>
              <a:buSzTx/>
              <a:buNone/>
            </a:pPr>
            <a:r>
              <a:rPr kumimoji="0" lang="zh-CN" altLang="en-US" sz="2800" i="0" dirty="0">
                <a:solidFill>
                  <a:srgbClr val="000000"/>
                </a:solidFill>
                <a:latin typeface="+mj-lt"/>
                <a:ea typeface="微软雅黑" panose="020B0503020204020204" pitchFamily="34" charset="-122"/>
              </a:rPr>
              <a:t>将力向垂直于该轴的平面投影，力对 </a:t>
            </a:r>
            <a:r>
              <a:rPr kumimoji="0" lang="en-US" altLang="zh-CN" sz="2800" dirty="0">
                <a:solidFill>
                  <a:srgbClr val="000000"/>
                </a:solidFill>
                <a:latin typeface="+mj-lt"/>
                <a:ea typeface="微软雅黑" panose="020B0503020204020204" pitchFamily="34" charset="-122"/>
              </a:rPr>
              <a:t>z </a:t>
            </a:r>
            <a:r>
              <a:rPr kumimoji="0" lang="zh-CN" altLang="en-US" sz="2800" i="0" dirty="0">
                <a:solidFill>
                  <a:srgbClr val="000000"/>
                </a:solidFill>
                <a:latin typeface="+mj-lt"/>
                <a:ea typeface="微软雅黑" panose="020B0503020204020204" pitchFamily="34" charset="-122"/>
              </a:rPr>
              <a:t>轴之矩等于力的投影</a:t>
            </a:r>
            <a:r>
              <a:rPr kumimoji="0" lang="en-US" altLang="zh-CN" sz="2800" dirty="0" err="1">
                <a:solidFill>
                  <a:srgbClr val="000000"/>
                </a:solidFill>
                <a:latin typeface="+mj-lt"/>
                <a:ea typeface="微软雅黑" panose="020B0503020204020204" pitchFamily="34" charset="-122"/>
              </a:rPr>
              <a:t>F</a:t>
            </a:r>
            <a:r>
              <a:rPr kumimoji="0" lang="en-US" altLang="zh-CN" sz="2800" baseline="-25000" dirty="0" err="1">
                <a:solidFill>
                  <a:srgbClr val="000000"/>
                </a:solidFill>
                <a:latin typeface="+mj-lt"/>
                <a:ea typeface="微软雅黑" panose="020B0503020204020204" pitchFamily="34" charset="-122"/>
              </a:rPr>
              <a:t>xy</a:t>
            </a:r>
            <a:r>
              <a:rPr kumimoji="0" lang="zh-CN" altLang="en-US" sz="2800" i="0" dirty="0">
                <a:solidFill>
                  <a:srgbClr val="000000"/>
                </a:solidFill>
                <a:latin typeface="+mj-lt"/>
                <a:ea typeface="微软雅黑" panose="020B0503020204020204" pitchFamily="34" charset="-122"/>
              </a:rPr>
              <a:t>与投影至轴的垂直距离</a:t>
            </a:r>
            <a:r>
              <a:rPr kumimoji="0" lang="en-US" altLang="zh-CN" sz="2800" dirty="0">
                <a:solidFill>
                  <a:srgbClr val="000000"/>
                </a:solidFill>
                <a:latin typeface="+mj-lt"/>
                <a:ea typeface="微软雅黑" panose="020B0503020204020204" pitchFamily="34" charset="-122"/>
              </a:rPr>
              <a:t>d </a:t>
            </a:r>
            <a:r>
              <a:rPr kumimoji="0" lang="zh-CN" altLang="en-US" sz="2800" i="0" dirty="0">
                <a:solidFill>
                  <a:srgbClr val="000000"/>
                </a:solidFill>
                <a:latin typeface="+mj-lt"/>
                <a:ea typeface="微软雅黑" panose="020B0503020204020204" pitchFamily="34" charset="-122"/>
              </a:rPr>
              <a:t>的乘积</a:t>
            </a:r>
            <a:r>
              <a:rPr lang="zh-CN" altLang="en-US" sz="2800" i="0" dirty="0">
                <a:solidFill>
                  <a:srgbClr val="FF00FF"/>
                </a:solidFill>
                <a:latin typeface="微软雅黑" panose="020B0503020204020204" pitchFamily="34" charset="-122"/>
                <a:ea typeface="微软雅黑" panose="020B0503020204020204" pitchFamily="34" charset="-122"/>
              </a:rPr>
              <a:t>（方法一）</a:t>
            </a:r>
            <a:endParaRPr lang="en-US" altLang="zh-CN" sz="2800" i="0" dirty="0">
              <a:solidFill>
                <a:srgbClr val="FF00FF"/>
              </a:solidFill>
              <a:latin typeface="微软雅黑" panose="020B0503020204020204" pitchFamily="34" charset="-122"/>
              <a:ea typeface="微软雅黑" panose="020B0503020204020204" pitchFamily="34" charset="-122"/>
            </a:endParaRPr>
          </a:p>
          <a:p>
            <a:pPr lvl="0" algn="l" hangingPunct="0">
              <a:lnSpc>
                <a:spcPct val="120000"/>
              </a:lnSpc>
              <a:spcBef>
                <a:spcPct val="0"/>
              </a:spcBef>
              <a:spcAft>
                <a:spcPct val="30000"/>
              </a:spcAft>
              <a:buClrTx/>
              <a:buSzTx/>
              <a:buNone/>
            </a:pPr>
            <a:endParaRPr lang="zh-CN" altLang="en-US" sz="2800" i="0" dirty="0">
              <a:latin typeface="+mn-lt"/>
              <a:ea typeface="微软雅黑" panose="020B0503020204020204" pitchFamily="34" charset="-122"/>
            </a:endParaRPr>
          </a:p>
        </p:txBody>
      </p:sp>
      <p:sp>
        <p:nvSpPr>
          <p:cNvPr id="14" name="Rectangle 61"/>
          <p:cNvSpPr>
            <a:spLocks noChangeArrowheads="1"/>
          </p:cNvSpPr>
          <p:nvPr/>
        </p:nvSpPr>
        <p:spPr bwMode="auto">
          <a:xfrm>
            <a:off x="8865926" y="886148"/>
            <a:ext cx="3163589" cy="5328592"/>
          </a:xfrm>
          <a:prstGeom prst="rect">
            <a:avLst/>
          </a:prstGeom>
          <a:solidFill>
            <a:srgbClr val="B9CDE5"/>
          </a:solidFill>
          <a:ln>
            <a:noFill/>
          </a:ln>
          <a:effectLst/>
        </p:spPr>
        <p:txBody>
          <a:bodyPr wrap="none" anchor="ctr"/>
          <a:lstStyle/>
          <a:p>
            <a:endParaRPr lang="zh-CN" altLang="en-US"/>
          </a:p>
        </p:txBody>
      </p:sp>
      <p:pic>
        <p:nvPicPr>
          <p:cNvPr id="15" name="Picture 20" descr="1-7-1"/>
          <p:cNvPicPr>
            <a:picLocks noChangeAspect="1" noChangeArrowheads="1"/>
          </p:cNvPicPr>
          <p:nvPr/>
        </p:nvPicPr>
        <p:blipFill>
          <a:blip r:embed="rId3">
            <a:lum bright="-6000" contrast="18000"/>
            <a:extLst>
              <a:ext uri="{28A0092B-C50C-407E-A947-70E740481C1C}">
                <a14:useLocalDpi xmlns:a14="http://schemas.microsoft.com/office/drawing/2010/main" val="0"/>
              </a:ext>
            </a:extLst>
          </a:blip>
          <a:srcRect/>
          <a:stretch>
            <a:fillRect/>
          </a:stretch>
        </p:blipFill>
        <p:spPr bwMode="auto">
          <a:xfrm>
            <a:off x="9190421" y="1124744"/>
            <a:ext cx="25146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1" descr="1-7-2"/>
          <p:cNvPicPr>
            <a:picLocks noChangeAspect="1" noChangeArrowheads="1"/>
          </p:cNvPicPr>
          <p:nvPr/>
        </p:nvPicPr>
        <p:blipFill>
          <a:blip r:embed="rId4">
            <a:lum bright="-6000" contrast="18000"/>
            <a:extLst>
              <a:ext uri="{28A0092B-C50C-407E-A947-70E740481C1C}">
                <a14:useLocalDpi xmlns:a14="http://schemas.microsoft.com/office/drawing/2010/main" val="0"/>
              </a:ext>
            </a:extLst>
          </a:blip>
          <a:srcRect/>
          <a:stretch>
            <a:fillRect/>
          </a:stretch>
        </p:blipFill>
        <p:spPr bwMode="auto">
          <a:xfrm>
            <a:off x="9190421" y="3596574"/>
            <a:ext cx="2514600"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Object 13"/>
          <p:cNvGraphicFramePr>
            <a:graphicFrameLocks noChangeAspect="1"/>
          </p:cNvGraphicFramePr>
          <p:nvPr>
            <p:extLst>
              <p:ext uri="{D42A27DB-BD31-4B8C-83A1-F6EECF244321}">
                <p14:modId xmlns:p14="http://schemas.microsoft.com/office/powerpoint/2010/main" val="4001849045"/>
              </p:ext>
            </p:extLst>
          </p:nvPr>
        </p:nvGraphicFramePr>
        <p:xfrm>
          <a:off x="1343472" y="2479878"/>
          <a:ext cx="4189413" cy="1143000"/>
        </p:xfrm>
        <a:graphic>
          <a:graphicData uri="http://schemas.openxmlformats.org/presentationml/2006/ole">
            <mc:AlternateContent xmlns:mc="http://schemas.openxmlformats.org/markup-compatibility/2006">
              <mc:Choice xmlns:v="urn:schemas-microsoft-com:vml" Requires="v">
                <p:oleObj name="公式" r:id="rId5" imgW="1676400" imgH="457200" progId="Equation.3">
                  <p:embed/>
                </p:oleObj>
              </mc:Choice>
              <mc:Fallback>
                <p:oleObj name="公式" r:id="rId5" imgW="16764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3472" y="2479878"/>
                        <a:ext cx="418941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9"/>
          <p:cNvSpPr txBox="1">
            <a:spLocks noChangeArrowheads="1"/>
          </p:cNvSpPr>
          <p:nvPr/>
        </p:nvSpPr>
        <p:spPr bwMode="auto">
          <a:xfrm>
            <a:off x="688875" y="3596574"/>
            <a:ext cx="8143429" cy="228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hangingPunct="0">
              <a:lnSpc>
                <a:spcPct val="120000"/>
              </a:lnSpc>
              <a:spcBef>
                <a:spcPct val="0"/>
              </a:spcBef>
              <a:spcAft>
                <a:spcPct val="30000"/>
              </a:spcAft>
              <a:buClrTx/>
              <a:buSzTx/>
              <a:buNone/>
            </a:pPr>
            <a:r>
              <a:rPr lang="zh-CN" altLang="en-US" sz="2800" i="0" dirty="0">
                <a:solidFill>
                  <a:srgbClr val="FF00FF"/>
                </a:solidFill>
                <a:latin typeface="微软雅黑" panose="020B0503020204020204" pitchFamily="34" charset="-122"/>
                <a:ea typeface="微软雅黑" panose="020B0503020204020204" pitchFamily="34" charset="-122"/>
              </a:rPr>
              <a:t>力对轴之矩</a:t>
            </a:r>
            <a:r>
              <a:rPr kumimoji="0" lang="zh-CN" altLang="en-US" sz="2800" i="0" dirty="0">
                <a:solidFill>
                  <a:srgbClr val="000000"/>
                </a:solidFill>
                <a:latin typeface="+mj-lt"/>
                <a:ea typeface="微软雅黑" panose="020B0503020204020204" pitchFamily="34" charset="-122"/>
              </a:rPr>
              <a:t>是使刚体绕该轴转动效应的度量，是一个代数量。</a:t>
            </a:r>
            <a:endParaRPr kumimoji="0" lang="en-US" altLang="zh-CN" sz="2800" i="0" dirty="0">
              <a:solidFill>
                <a:srgbClr val="000000"/>
              </a:solidFill>
              <a:latin typeface="+mj-lt"/>
              <a:ea typeface="微软雅黑" panose="020B0503020204020204" pitchFamily="34" charset="-122"/>
            </a:endParaRPr>
          </a:p>
          <a:p>
            <a:pPr algn="l" hangingPunct="0">
              <a:lnSpc>
                <a:spcPct val="120000"/>
              </a:lnSpc>
              <a:spcBef>
                <a:spcPct val="0"/>
              </a:spcBef>
              <a:spcAft>
                <a:spcPct val="30000"/>
              </a:spcAft>
              <a:buClrTx/>
              <a:buSzTx/>
              <a:buNone/>
            </a:pPr>
            <a:r>
              <a:rPr kumimoji="0" lang="zh-CN" altLang="en-US" sz="2800" i="0" dirty="0">
                <a:solidFill>
                  <a:srgbClr val="000000"/>
                </a:solidFill>
                <a:latin typeface="+mj-lt"/>
                <a:ea typeface="微软雅黑" panose="020B0503020204020204" pitchFamily="34" charset="-122"/>
              </a:rPr>
              <a:t>符号规定：</a:t>
            </a:r>
            <a:r>
              <a:rPr lang="zh-CN" altLang="en-US" sz="2800" i="0" dirty="0">
                <a:solidFill>
                  <a:srgbClr val="FF00FF"/>
                </a:solidFill>
                <a:latin typeface="微软雅黑" panose="020B0503020204020204" pitchFamily="34" charset="-122"/>
                <a:ea typeface="微软雅黑" panose="020B0503020204020204" pitchFamily="34" charset="-122"/>
              </a:rPr>
              <a:t>从 </a:t>
            </a:r>
            <a:r>
              <a:rPr lang="en-US" altLang="zh-CN" sz="2800" dirty="0">
                <a:solidFill>
                  <a:srgbClr val="FF00FF"/>
                </a:solidFill>
                <a:latin typeface="+mj-lt"/>
                <a:ea typeface="微软雅黑" panose="020B0503020204020204" pitchFamily="34" charset="-122"/>
              </a:rPr>
              <a:t>z</a:t>
            </a:r>
            <a:r>
              <a:rPr lang="en-US" altLang="zh-CN" sz="2800" i="0" dirty="0">
                <a:solidFill>
                  <a:srgbClr val="FF00FF"/>
                </a:solidFill>
                <a:latin typeface="微软雅黑" panose="020B0503020204020204" pitchFamily="34" charset="-122"/>
                <a:ea typeface="微软雅黑" panose="020B0503020204020204" pitchFamily="34" charset="-122"/>
              </a:rPr>
              <a:t> </a:t>
            </a:r>
            <a:r>
              <a:rPr lang="zh-CN" altLang="en-US" sz="2800" i="0" dirty="0">
                <a:solidFill>
                  <a:srgbClr val="FF00FF"/>
                </a:solidFill>
                <a:latin typeface="微软雅黑" panose="020B0503020204020204" pitchFamily="34" charset="-122"/>
                <a:ea typeface="微软雅黑" panose="020B0503020204020204" pitchFamily="34" charset="-122"/>
              </a:rPr>
              <a:t>轴正端看，若力的投影是物体绕该轴逆时针转动为正；反之为负。</a:t>
            </a:r>
            <a:r>
              <a:rPr kumimoji="0" lang="zh-CN" altLang="en-US" sz="2800" i="0" dirty="0">
                <a:solidFill>
                  <a:srgbClr val="000000"/>
                </a:solidFill>
                <a:latin typeface="+mj-lt"/>
                <a:ea typeface="微软雅黑" panose="020B0503020204020204" pitchFamily="34" charset="-122"/>
              </a:rPr>
              <a:t>（右手螺旋法则）</a:t>
            </a:r>
          </a:p>
        </p:txBody>
      </p:sp>
    </p:spTree>
    <p:extLst>
      <p:ext uri="{BB962C8B-B14F-4D97-AF65-F5344CB8AC3E}">
        <p14:creationId xmlns:p14="http://schemas.microsoft.com/office/powerpoint/2010/main" val="37037350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ou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ox(ou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ppt_x"/>
                                          </p:val>
                                        </p:tav>
                                        <p:tav tm="100000">
                                          <p:val>
                                            <p:strVal val="#ppt_x"/>
                                          </p:val>
                                        </p:tav>
                                      </p:tavLst>
                                    </p:anim>
                                    <p:anim calcmode="lin" valueType="num">
                                      <p:cBhvr additive="base">
                                        <p:cTn id="2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4" grpId="0" animBg="1"/>
      <p:bldP spid="1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88875" y="1263477"/>
            <a:ext cx="10081120" cy="228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设有一空间汇交力系</a:t>
            </a:r>
            <a:r>
              <a:rPr lang="en-US" altLang="zh-CN" sz="2800" dirty="0">
                <a:latin typeface="Times New Roman" panose="02020603050405020304" pitchFamily="18" charset="0"/>
                <a:ea typeface="黑体" panose="02010609060101010101" pitchFamily="49" charset="-122"/>
              </a:rPr>
              <a:t>F</a:t>
            </a:r>
            <a:r>
              <a:rPr lang="en-US" altLang="zh-CN" sz="2800" b="0" i="0" baseline="-25000" dirty="0">
                <a:latin typeface="Times New Roman" panose="02020603050405020304" pitchFamily="18" charset="0"/>
                <a:ea typeface="黑体" panose="02010609060101010101" pitchFamily="49" charset="-122"/>
              </a:rPr>
              <a:t>1</a:t>
            </a:r>
            <a:r>
              <a:rPr lang="en-US" altLang="zh-CN" sz="2800" b="0" i="0" dirty="0">
                <a:latin typeface="Times New Roman" panose="02020603050405020304" pitchFamily="18" charset="0"/>
                <a:ea typeface="黑体" panose="02010609060101010101" pitchFamily="49" charset="-122"/>
              </a:rPr>
              <a:t> </a:t>
            </a:r>
            <a:r>
              <a:rPr lang="zh-CN" altLang="en-US" sz="2800" b="0" i="0" dirty="0">
                <a:latin typeface="Times New Roman" panose="02020603050405020304" pitchFamily="18" charset="0"/>
                <a:ea typeface="黑体" panose="02010609060101010101" pitchFamily="49" charset="-122"/>
              </a:rPr>
              <a:t>，</a:t>
            </a:r>
            <a:r>
              <a:rPr lang="en-US" altLang="zh-CN" sz="2800" dirty="0">
                <a:latin typeface="Times New Roman" panose="02020603050405020304" pitchFamily="18" charset="0"/>
                <a:ea typeface="黑体" panose="02010609060101010101" pitchFamily="49" charset="-122"/>
              </a:rPr>
              <a:t>F</a:t>
            </a:r>
            <a:r>
              <a:rPr lang="en-US" altLang="zh-CN" sz="2800" b="0" i="0" baseline="-25000" dirty="0">
                <a:latin typeface="Times New Roman" panose="02020603050405020304" pitchFamily="18" charset="0"/>
                <a:ea typeface="黑体" panose="02010609060101010101" pitchFamily="49" charset="-122"/>
              </a:rPr>
              <a:t>2</a:t>
            </a:r>
            <a:r>
              <a:rPr lang="en-US" altLang="zh-CN" sz="2800" b="0" i="0" dirty="0">
                <a:latin typeface="Times New Roman" panose="02020603050405020304" pitchFamily="18" charset="0"/>
                <a:ea typeface="黑体" panose="02010609060101010101" pitchFamily="49" charset="-122"/>
              </a:rPr>
              <a:t> </a:t>
            </a:r>
            <a:r>
              <a:rPr lang="zh-CN" altLang="en-US" sz="2800" b="0" i="0" dirty="0">
                <a:latin typeface="Times New Roman" panose="02020603050405020304" pitchFamily="18" charset="0"/>
                <a:ea typeface="黑体" panose="02010609060101010101" pitchFamily="49" charset="-122"/>
              </a:rPr>
              <a:t>，</a:t>
            </a:r>
            <a:r>
              <a:rPr lang="en-US" altLang="zh-CN" sz="2800" b="0" i="0" dirty="0">
                <a:latin typeface="宋体" panose="02010600030101010101" pitchFamily="2" charset="-122"/>
              </a:rPr>
              <a:t>…</a:t>
            </a:r>
            <a:r>
              <a:rPr lang="en-US" altLang="zh-CN" sz="2800" b="0" i="0" dirty="0">
                <a:latin typeface="Times New Roman" panose="02020603050405020304" pitchFamily="18" charset="0"/>
                <a:ea typeface="黑体" panose="02010609060101010101" pitchFamily="49" charset="-122"/>
              </a:rPr>
              <a:t> </a:t>
            </a:r>
            <a:r>
              <a:rPr lang="zh-CN" altLang="en-US" sz="2800" b="0" i="0" dirty="0">
                <a:latin typeface="Times New Roman" panose="02020603050405020304" pitchFamily="18" charset="0"/>
                <a:ea typeface="黑体" panose="02010609060101010101" pitchFamily="49" charset="-122"/>
              </a:rPr>
              <a:t>，</a:t>
            </a:r>
            <a:r>
              <a:rPr lang="en-US" altLang="zh-CN" sz="2800" dirty="0" err="1">
                <a:latin typeface="Times New Roman" panose="02020603050405020304" pitchFamily="18" charset="0"/>
                <a:ea typeface="黑体" panose="02010609060101010101" pitchFamily="49" charset="-122"/>
              </a:rPr>
              <a:t>F</a:t>
            </a:r>
            <a:r>
              <a:rPr lang="en-US" altLang="zh-CN" sz="2800" b="0" baseline="-25000" dirty="0" err="1">
                <a:latin typeface="Times New Roman" panose="02020603050405020304" pitchFamily="18" charset="0"/>
                <a:ea typeface="黑体" panose="02010609060101010101" pitchFamily="49" charset="-122"/>
              </a:rPr>
              <a:t>n</a:t>
            </a:r>
            <a:r>
              <a:rPr lang="zh-CN" altLang="en-US" sz="2800" i="0" dirty="0">
                <a:latin typeface="+mn-lt"/>
                <a:ea typeface="微软雅黑" panose="020B0503020204020204" pitchFamily="34" charset="-122"/>
              </a:rPr>
              <a:t>，合力为</a:t>
            </a:r>
            <a:r>
              <a:rPr lang="en-US" altLang="zh-CN" sz="2800" dirty="0">
                <a:latin typeface="Times New Roman" panose="02020603050405020304" pitchFamily="18" charset="0"/>
                <a:ea typeface="黑体" panose="02010609060101010101" pitchFamily="49" charset="-122"/>
              </a:rPr>
              <a:t>F</a:t>
            </a:r>
            <a:r>
              <a:rPr lang="en-US" altLang="zh-CN" sz="2800" b="0" i="0" baseline="-25000" dirty="0">
                <a:latin typeface="Times New Roman" panose="02020603050405020304" pitchFamily="18" charset="0"/>
                <a:ea typeface="黑体" panose="02010609060101010101" pitchFamily="49" charset="-122"/>
              </a:rPr>
              <a:t>R</a:t>
            </a:r>
            <a:r>
              <a:rPr lang="zh-CN" altLang="en-US" sz="2800" i="0" dirty="0">
                <a:latin typeface="+mn-lt"/>
                <a:ea typeface="微软雅黑" panose="020B0503020204020204" pitchFamily="34" charset="-122"/>
              </a:rPr>
              <a:t>，则可证明合力对某轴之矩等于其各分力对同一轴之矩的代数和。可写成</a:t>
            </a:r>
            <a:endParaRPr lang="en-US" altLang="zh-CN" sz="2800" i="0" dirty="0">
              <a:latin typeface="+mn-lt"/>
              <a:ea typeface="微软雅黑" panose="020B0503020204020204" pitchFamily="34" charset="-122"/>
            </a:endParaRPr>
          </a:p>
          <a:p>
            <a:pPr lvl="0" algn="l">
              <a:lnSpc>
                <a:spcPct val="130000"/>
              </a:lnSpc>
              <a:spcBef>
                <a:spcPct val="0"/>
              </a:spcBef>
              <a:buClrTx/>
              <a:buSzTx/>
              <a:buNone/>
            </a:pPr>
            <a:r>
              <a:rPr lang="zh-CN" altLang="en-US" sz="2800" i="0" dirty="0">
                <a:latin typeface="+mn-lt"/>
                <a:ea typeface="微软雅黑" panose="020B0503020204020204" pitchFamily="34" charset="-122"/>
              </a:rPr>
              <a:t>               </a:t>
            </a:r>
            <a:r>
              <a:rPr lang="en-US" altLang="zh-CN" sz="3200" b="0" dirty="0" err="1">
                <a:latin typeface="Times New Roman" panose="02020603050405020304" pitchFamily="18" charset="0"/>
                <a:ea typeface="黑体" panose="02010609060101010101" pitchFamily="49" charset="-122"/>
              </a:rPr>
              <a:t>M</a:t>
            </a:r>
            <a:r>
              <a:rPr lang="en-US" altLang="zh-CN" sz="3200" b="0" baseline="-25000" dirty="0" err="1">
                <a:latin typeface="Times New Roman" panose="02020603050405020304" pitchFamily="18" charset="0"/>
                <a:ea typeface="黑体" panose="02010609060101010101" pitchFamily="49" charset="-122"/>
              </a:rPr>
              <a:t>z</a:t>
            </a:r>
            <a:r>
              <a:rPr lang="en-US" altLang="zh-CN" sz="3200" b="0" i="0" dirty="0">
                <a:latin typeface="Times New Roman" panose="02020603050405020304" pitchFamily="18" charset="0"/>
                <a:ea typeface="黑体" panose="02010609060101010101" pitchFamily="49" charset="-122"/>
              </a:rPr>
              <a:t>(</a:t>
            </a:r>
            <a:r>
              <a:rPr lang="en-US" altLang="zh-CN" sz="3200" dirty="0">
                <a:latin typeface="Times New Roman" panose="02020603050405020304" pitchFamily="18" charset="0"/>
                <a:ea typeface="黑体" panose="02010609060101010101" pitchFamily="49" charset="-122"/>
              </a:rPr>
              <a:t>F</a:t>
            </a:r>
            <a:r>
              <a:rPr lang="en-US" altLang="zh-CN" sz="3200" b="0" i="0" baseline="-25000" dirty="0">
                <a:latin typeface="Times New Roman" panose="02020603050405020304" pitchFamily="18" charset="0"/>
                <a:ea typeface="黑体" panose="02010609060101010101" pitchFamily="49" charset="-122"/>
              </a:rPr>
              <a:t>R</a:t>
            </a:r>
            <a:r>
              <a:rPr lang="en-US" altLang="zh-CN" sz="3200" b="0" i="0" dirty="0">
                <a:latin typeface="Times New Roman" panose="02020603050405020304" pitchFamily="18" charset="0"/>
                <a:ea typeface="黑体" panose="02010609060101010101" pitchFamily="49" charset="-122"/>
              </a:rPr>
              <a:t>)=∑</a:t>
            </a:r>
            <a:r>
              <a:rPr lang="en-US" altLang="zh-CN" sz="3200" b="0" dirty="0" err="1">
                <a:latin typeface="Times New Roman" panose="02020603050405020304" pitchFamily="18" charset="0"/>
                <a:ea typeface="黑体" panose="02010609060101010101" pitchFamily="49" charset="-122"/>
              </a:rPr>
              <a:t>M</a:t>
            </a:r>
            <a:r>
              <a:rPr lang="en-US" altLang="zh-CN" sz="3200" b="0" baseline="-25000" dirty="0" err="1">
                <a:latin typeface="Times New Roman" panose="02020603050405020304" pitchFamily="18" charset="0"/>
                <a:ea typeface="黑体" panose="02010609060101010101" pitchFamily="49" charset="-122"/>
              </a:rPr>
              <a:t>z</a:t>
            </a:r>
            <a:r>
              <a:rPr lang="en-US" altLang="zh-CN" sz="3200" b="0" i="0" dirty="0">
                <a:latin typeface="Times New Roman" panose="02020603050405020304" pitchFamily="18" charset="0"/>
                <a:ea typeface="黑体" panose="02010609060101010101" pitchFamily="49" charset="-122"/>
              </a:rPr>
              <a:t>(</a:t>
            </a:r>
            <a:r>
              <a:rPr lang="en-US" altLang="zh-CN" sz="3200" dirty="0">
                <a:latin typeface="Times New Roman" panose="02020603050405020304" pitchFamily="18" charset="0"/>
                <a:ea typeface="黑体" panose="02010609060101010101" pitchFamily="49" charset="-122"/>
              </a:rPr>
              <a:t>F</a:t>
            </a:r>
            <a:r>
              <a:rPr lang="en-US" altLang="zh-CN" sz="3200" b="0" i="0" dirty="0">
                <a:latin typeface="Times New Roman" panose="02020603050405020304" pitchFamily="18" charset="0"/>
                <a:ea typeface="黑体" panose="02010609060101010101" pitchFamily="49" charset="-122"/>
              </a:rPr>
              <a:t>)</a:t>
            </a:r>
            <a:r>
              <a:rPr lang="en-US" altLang="zh-CN" sz="2800" b="0" i="0" dirty="0">
                <a:latin typeface="Times New Roman" panose="02020603050405020304" pitchFamily="18" charset="0"/>
                <a:ea typeface="黑体" panose="02010609060101010101" pitchFamily="49" charset="-122"/>
              </a:rPr>
              <a:t>               </a:t>
            </a:r>
            <a:endParaRPr lang="zh-CN" altLang="en-US" sz="2800" b="0" i="0" dirty="0">
              <a:latin typeface="Times New Roman" panose="02020603050405020304" pitchFamily="18" charset="0"/>
              <a:ea typeface="黑体" panose="02010609060101010101" pitchFamily="49" charset="-122"/>
            </a:endParaRPr>
          </a:p>
          <a:p>
            <a:pPr>
              <a:lnSpc>
                <a:spcPct val="120000"/>
              </a:lnSpc>
              <a:spcBef>
                <a:spcPct val="0"/>
              </a:spcBef>
              <a:buClrTx/>
              <a:buSzTx/>
              <a:buNone/>
            </a:pPr>
            <a:endParaRPr lang="zh-CN" altLang="en-US" sz="2800" i="0" dirty="0">
              <a:latin typeface="+mn-lt"/>
              <a:ea typeface="微软雅黑" panose="020B0503020204020204" pitchFamily="34" charset="-122"/>
            </a:endParaRPr>
          </a:p>
        </p:txBody>
      </p:sp>
      <p:sp>
        <p:nvSpPr>
          <p:cNvPr id="64" name="矩形 63"/>
          <p:cNvSpPr/>
          <p:nvPr/>
        </p:nvSpPr>
        <p:spPr>
          <a:xfrm>
            <a:off x="3905859" y="820947"/>
            <a:ext cx="2108269"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合力矩定理</a:t>
            </a:r>
          </a:p>
        </p:txBody>
      </p:sp>
      <p:sp>
        <p:nvSpPr>
          <p:cNvPr id="15" name="Text Box 9"/>
          <p:cNvSpPr txBox="1">
            <a:spLocks noChangeArrowheads="1"/>
          </p:cNvSpPr>
          <p:nvPr/>
        </p:nvSpPr>
        <p:spPr bwMode="auto">
          <a:xfrm>
            <a:off x="694931" y="2894541"/>
            <a:ext cx="5257053"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力对轴之矩的计算</a:t>
            </a:r>
            <a:r>
              <a:rPr lang="zh-CN" altLang="en-US" sz="2800" i="0" dirty="0">
                <a:solidFill>
                  <a:srgbClr val="FF00FF"/>
                </a:solidFill>
                <a:latin typeface="微软雅黑" panose="020B0503020204020204" pitchFamily="34" charset="-122"/>
                <a:ea typeface="微软雅黑" panose="020B0503020204020204" pitchFamily="34" charset="-122"/>
              </a:rPr>
              <a:t>（方法二）</a:t>
            </a:r>
            <a:endParaRPr lang="en-US" altLang="zh-CN" sz="2800" i="0" dirty="0">
              <a:solidFill>
                <a:srgbClr val="FF00FF"/>
              </a:solidFill>
              <a:latin typeface="微软雅黑" panose="020B0503020204020204" pitchFamily="34" charset="-122"/>
              <a:ea typeface="微软雅黑" panose="020B0503020204020204" pitchFamily="34" charset="-122"/>
            </a:endParaRPr>
          </a:p>
          <a:p>
            <a:pPr lvl="0" algn="l">
              <a:lnSpc>
                <a:spcPct val="130000"/>
              </a:lnSpc>
              <a:spcBef>
                <a:spcPct val="0"/>
              </a:spcBef>
              <a:buClrTx/>
              <a:buSzTx/>
              <a:buNone/>
            </a:pPr>
            <a:r>
              <a:rPr lang="zh-CN" altLang="en-US" sz="2800" i="0" dirty="0">
                <a:latin typeface="+mn-lt"/>
                <a:ea typeface="微软雅黑" panose="020B0503020204020204" pitchFamily="34" charset="-122"/>
              </a:rPr>
              <a:t>               </a:t>
            </a:r>
            <a:r>
              <a:rPr lang="en-US" altLang="zh-CN" sz="3200" b="0" dirty="0" err="1">
                <a:latin typeface="Times New Roman" panose="02020603050405020304" pitchFamily="18" charset="0"/>
                <a:ea typeface="黑体" panose="02010609060101010101" pitchFamily="49" charset="-122"/>
              </a:rPr>
              <a:t>M</a:t>
            </a:r>
            <a:r>
              <a:rPr lang="en-US" altLang="zh-CN" sz="3200" b="0" baseline="-25000" dirty="0" err="1">
                <a:latin typeface="Times New Roman" panose="02020603050405020304" pitchFamily="18" charset="0"/>
                <a:ea typeface="黑体" panose="02010609060101010101" pitchFamily="49" charset="-122"/>
              </a:rPr>
              <a:t>z</a:t>
            </a:r>
            <a:r>
              <a:rPr lang="en-US" altLang="zh-CN" sz="3200" b="0" i="0" dirty="0">
                <a:latin typeface="Times New Roman" panose="02020603050405020304" pitchFamily="18" charset="0"/>
                <a:ea typeface="黑体" panose="02010609060101010101" pitchFamily="49" charset="-122"/>
              </a:rPr>
              <a:t>(</a:t>
            </a:r>
            <a:r>
              <a:rPr lang="en-US" altLang="zh-CN" sz="3200" dirty="0">
                <a:latin typeface="Times New Roman" panose="02020603050405020304" pitchFamily="18" charset="0"/>
                <a:ea typeface="黑体" panose="02010609060101010101" pitchFamily="49" charset="-122"/>
              </a:rPr>
              <a:t>F</a:t>
            </a:r>
            <a:r>
              <a:rPr lang="en-US" altLang="zh-CN" sz="3200" b="0" i="0" dirty="0">
                <a:latin typeface="Times New Roman" panose="02020603050405020304" pitchFamily="18" charset="0"/>
                <a:ea typeface="黑体" panose="02010609060101010101" pitchFamily="49" charset="-122"/>
              </a:rPr>
              <a:t>)=</a:t>
            </a:r>
            <a:r>
              <a:rPr lang="en-US" altLang="zh-CN" sz="3200" b="0" dirty="0" err="1">
                <a:latin typeface="Times New Roman" panose="02020603050405020304" pitchFamily="18" charset="0"/>
                <a:ea typeface="黑体" panose="02010609060101010101" pitchFamily="49" charset="-122"/>
              </a:rPr>
              <a:t>xF</a:t>
            </a:r>
            <a:r>
              <a:rPr lang="en-US" altLang="zh-CN" sz="3200" b="0" baseline="-25000" dirty="0" err="1">
                <a:latin typeface="Times New Roman" panose="02020603050405020304" pitchFamily="18" charset="0"/>
                <a:ea typeface="黑体" panose="02010609060101010101" pitchFamily="49" charset="-122"/>
              </a:rPr>
              <a:t>y</a:t>
            </a:r>
            <a:r>
              <a:rPr lang="en-US" altLang="zh-CN" sz="3200" b="0" i="0" dirty="0">
                <a:latin typeface="+mn-lt"/>
              </a:rPr>
              <a:t>–</a:t>
            </a:r>
            <a:r>
              <a:rPr lang="en-US" altLang="zh-CN" sz="3200" b="0" dirty="0" err="1">
                <a:latin typeface="+mn-lt"/>
              </a:rPr>
              <a:t>y</a:t>
            </a:r>
            <a:r>
              <a:rPr lang="en-US" altLang="zh-CN" sz="2800" b="0" dirty="0" err="1">
                <a:latin typeface="Times New Roman" panose="02020603050405020304" pitchFamily="18" charset="0"/>
                <a:ea typeface="黑体" panose="02010609060101010101" pitchFamily="49" charset="-122"/>
              </a:rPr>
              <a:t>F</a:t>
            </a:r>
            <a:r>
              <a:rPr lang="en-US" altLang="zh-CN" sz="2800" b="0" baseline="-25000" dirty="0" err="1">
                <a:latin typeface="Times New Roman" panose="02020603050405020304" pitchFamily="18" charset="0"/>
                <a:ea typeface="黑体" panose="02010609060101010101" pitchFamily="49" charset="-122"/>
              </a:rPr>
              <a:t>x</a:t>
            </a:r>
            <a:r>
              <a:rPr lang="en-US" altLang="zh-CN" sz="2800" b="0" i="0" dirty="0">
                <a:latin typeface="Times New Roman" panose="02020603050405020304" pitchFamily="18" charset="0"/>
                <a:ea typeface="黑体" panose="02010609060101010101" pitchFamily="49" charset="-122"/>
              </a:rPr>
              <a:t>               </a:t>
            </a:r>
            <a:endParaRPr lang="zh-CN" altLang="en-US" sz="2800" b="0" i="0" dirty="0">
              <a:latin typeface="Times New Roman" panose="02020603050405020304" pitchFamily="18" charset="0"/>
              <a:ea typeface="黑体" panose="02010609060101010101" pitchFamily="49" charset="-122"/>
            </a:endParaRPr>
          </a:p>
          <a:p>
            <a:pPr>
              <a:lnSpc>
                <a:spcPct val="120000"/>
              </a:lnSpc>
              <a:spcBef>
                <a:spcPct val="0"/>
              </a:spcBef>
              <a:buClrTx/>
              <a:buSzTx/>
              <a:buNone/>
            </a:pPr>
            <a:r>
              <a:rPr lang="zh-CN" altLang="en-US" sz="2800" i="0" dirty="0">
                <a:ea typeface="微软雅黑" panose="020B0503020204020204" pitchFamily="34" charset="-122"/>
              </a:rPr>
              <a:t>                    </a:t>
            </a:r>
            <a:r>
              <a:rPr lang="en-US" altLang="zh-CN" sz="3200" b="0" dirty="0" err="1">
                <a:latin typeface="Times New Roman" panose="02020603050405020304" pitchFamily="18" charset="0"/>
                <a:ea typeface="黑体" panose="02010609060101010101" pitchFamily="49" charset="-122"/>
              </a:rPr>
              <a:t>M</a:t>
            </a:r>
            <a:r>
              <a:rPr lang="en-US" altLang="zh-CN" sz="3200" b="0" baseline="-25000" dirty="0" err="1">
                <a:latin typeface="Times New Roman" panose="02020603050405020304" pitchFamily="18" charset="0"/>
                <a:ea typeface="黑体" panose="02010609060101010101" pitchFamily="49" charset="-122"/>
              </a:rPr>
              <a:t>x</a:t>
            </a:r>
            <a:r>
              <a:rPr lang="en-US" altLang="zh-CN" sz="3200" b="0" i="0" dirty="0">
                <a:latin typeface="Times New Roman" panose="02020603050405020304" pitchFamily="18" charset="0"/>
                <a:ea typeface="黑体" panose="02010609060101010101" pitchFamily="49" charset="-122"/>
              </a:rPr>
              <a:t>(</a:t>
            </a:r>
            <a:r>
              <a:rPr lang="en-US" altLang="zh-CN" sz="3200" dirty="0">
                <a:latin typeface="Times New Roman" panose="02020603050405020304" pitchFamily="18" charset="0"/>
                <a:ea typeface="黑体" panose="02010609060101010101" pitchFamily="49" charset="-122"/>
              </a:rPr>
              <a:t>F</a:t>
            </a:r>
            <a:r>
              <a:rPr lang="en-US" altLang="zh-CN" sz="3200" b="0" i="0" dirty="0">
                <a:latin typeface="Times New Roman" panose="02020603050405020304" pitchFamily="18" charset="0"/>
                <a:ea typeface="黑体" panose="02010609060101010101" pitchFamily="49" charset="-122"/>
              </a:rPr>
              <a:t>)=</a:t>
            </a:r>
            <a:r>
              <a:rPr lang="en-US" altLang="zh-CN" sz="3200" b="0" dirty="0" err="1">
                <a:latin typeface="Times New Roman" panose="02020603050405020304" pitchFamily="18" charset="0"/>
                <a:ea typeface="黑体" panose="02010609060101010101" pitchFamily="49" charset="-122"/>
              </a:rPr>
              <a:t>yF</a:t>
            </a:r>
            <a:r>
              <a:rPr lang="en-US" altLang="zh-CN" sz="3200" b="0" baseline="-25000" dirty="0" err="1">
                <a:latin typeface="Times New Roman" panose="02020603050405020304" pitchFamily="18" charset="0"/>
                <a:ea typeface="黑体" panose="02010609060101010101" pitchFamily="49" charset="-122"/>
              </a:rPr>
              <a:t>z</a:t>
            </a:r>
            <a:r>
              <a:rPr lang="en-US" altLang="zh-CN" sz="3200" b="0" i="0" dirty="0">
                <a:latin typeface="+mn-lt"/>
              </a:rPr>
              <a:t>–</a:t>
            </a:r>
            <a:r>
              <a:rPr lang="en-US" altLang="zh-CN" sz="3200" b="0" dirty="0" err="1">
                <a:latin typeface="+mn-lt"/>
              </a:rPr>
              <a:t>z</a:t>
            </a:r>
            <a:r>
              <a:rPr lang="en-US" altLang="zh-CN" sz="2800" b="0" dirty="0" err="1">
                <a:latin typeface="Times New Roman" panose="02020603050405020304" pitchFamily="18" charset="0"/>
                <a:ea typeface="黑体" panose="02010609060101010101" pitchFamily="49" charset="-122"/>
              </a:rPr>
              <a:t>F</a:t>
            </a:r>
            <a:r>
              <a:rPr lang="en-US" altLang="zh-CN" sz="2800" b="0" baseline="-25000" dirty="0" err="1">
                <a:latin typeface="Times New Roman" panose="02020603050405020304" pitchFamily="18" charset="0"/>
                <a:ea typeface="黑体" panose="02010609060101010101" pitchFamily="49" charset="-122"/>
              </a:rPr>
              <a:t>y</a:t>
            </a:r>
            <a:r>
              <a:rPr lang="en-US" altLang="zh-CN" sz="2800" b="0" i="0" dirty="0">
                <a:latin typeface="Times New Roman" panose="02020603050405020304" pitchFamily="18" charset="0"/>
                <a:ea typeface="黑体" panose="02010609060101010101" pitchFamily="49" charset="-122"/>
              </a:rPr>
              <a:t>    </a:t>
            </a:r>
          </a:p>
          <a:p>
            <a:pPr>
              <a:lnSpc>
                <a:spcPct val="120000"/>
              </a:lnSpc>
              <a:spcBef>
                <a:spcPct val="0"/>
              </a:spcBef>
              <a:buClrTx/>
              <a:buSzTx/>
              <a:buNone/>
            </a:pPr>
            <a:r>
              <a:rPr lang="zh-CN" altLang="en-US" sz="2800" i="0" dirty="0">
                <a:ea typeface="微软雅黑" panose="020B0503020204020204" pitchFamily="34" charset="-122"/>
              </a:rPr>
              <a:t>                   </a:t>
            </a:r>
            <a:r>
              <a:rPr lang="en-US" altLang="zh-CN" sz="3200" b="0" dirty="0">
                <a:latin typeface="Times New Roman" panose="02020603050405020304" pitchFamily="18" charset="0"/>
                <a:ea typeface="黑体" panose="02010609060101010101" pitchFamily="49" charset="-122"/>
              </a:rPr>
              <a:t>M</a:t>
            </a:r>
            <a:r>
              <a:rPr lang="en-US" altLang="zh-CN" sz="3200" b="0" baseline="-25000" dirty="0">
                <a:latin typeface="Times New Roman" panose="02020603050405020304" pitchFamily="18" charset="0"/>
                <a:ea typeface="黑体" panose="02010609060101010101" pitchFamily="49" charset="-122"/>
              </a:rPr>
              <a:t>y</a:t>
            </a:r>
            <a:r>
              <a:rPr lang="en-US" altLang="zh-CN" sz="3200" b="0" i="0" dirty="0">
                <a:latin typeface="Times New Roman" panose="02020603050405020304" pitchFamily="18" charset="0"/>
                <a:ea typeface="黑体" panose="02010609060101010101" pitchFamily="49" charset="-122"/>
              </a:rPr>
              <a:t>(</a:t>
            </a:r>
            <a:r>
              <a:rPr lang="en-US" altLang="zh-CN" sz="3200" dirty="0">
                <a:latin typeface="Times New Roman" panose="02020603050405020304" pitchFamily="18" charset="0"/>
                <a:ea typeface="黑体" panose="02010609060101010101" pitchFamily="49" charset="-122"/>
              </a:rPr>
              <a:t>F</a:t>
            </a:r>
            <a:r>
              <a:rPr lang="en-US" altLang="zh-CN" sz="3200" b="0" i="0" dirty="0">
                <a:latin typeface="Times New Roman" panose="02020603050405020304" pitchFamily="18" charset="0"/>
                <a:ea typeface="黑体" panose="02010609060101010101" pitchFamily="49" charset="-122"/>
              </a:rPr>
              <a:t>)=</a:t>
            </a:r>
            <a:r>
              <a:rPr lang="en-US" altLang="zh-CN" sz="3200" b="0" dirty="0" err="1">
                <a:latin typeface="Times New Roman" panose="02020603050405020304" pitchFamily="18" charset="0"/>
                <a:ea typeface="黑体" panose="02010609060101010101" pitchFamily="49" charset="-122"/>
              </a:rPr>
              <a:t>zF</a:t>
            </a:r>
            <a:r>
              <a:rPr lang="en-US" altLang="zh-CN" sz="3200" b="0" baseline="-25000" dirty="0" err="1">
                <a:latin typeface="Times New Roman" panose="02020603050405020304" pitchFamily="18" charset="0"/>
                <a:ea typeface="黑体" panose="02010609060101010101" pitchFamily="49" charset="-122"/>
              </a:rPr>
              <a:t>x</a:t>
            </a:r>
            <a:r>
              <a:rPr lang="en-US" altLang="zh-CN" sz="3200" b="0" i="0" dirty="0">
                <a:latin typeface="+mn-lt"/>
              </a:rPr>
              <a:t>–</a:t>
            </a:r>
            <a:r>
              <a:rPr lang="en-US" altLang="zh-CN" sz="3200" b="0" dirty="0" err="1">
                <a:latin typeface="+mn-lt"/>
              </a:rPr>
              <a:t>x</a:t>
            </a:r>
            <a:r>
              <a:rPr lang="en-US" altLang="zh-CN" sz="2800" b="0" dirty="0" err="1">
                <a:latin typeface="Times New Roman" panose="02020603050405020304" pitchFamily="18" charset="0"/>
                <a:ea typeface="黑体" panose="02010609060101010101" pitchFamily="49" charset="-122"/>
              </a:rPr>
              <a:t>F</a:t>
            </a:r>
            <a:r>
              <a:rPr lang="en-US" altLang="zh-CN" sz="2800" b="0" baseline="-25000" dirty="0" err="1">
                <a:latin typeface="Times New Roman" panose="02020603050405020304" pitchFamily="18" charset="0"/>
                <a:ea typeface="黑体" panose="02010609060101010101" pitchFamily="49" charset="-122"/>
              </a:rPr>
              <a:t>z</a:t>
            </a:r>
            <a:r>
              <a:rPr lang="en-US" altLang="zh-CN" sz="2800" b="0" i="0" dirty="0">
                <a:latin typeface="Times New Roman" panose="02020603050405020304" pitchFamily="18" charset="0"/>
                <a:ea typeface="黑体" panose="02010609060101010101" pitchFamily="49" charset="-122"/>
              </a:rPr>
              <a:t>                          </a:t>
            </a:r>
            <a:endParaRPr lang="zh-CN" altLang="en-US" sz="2800" i="0" dirty="0">
              <a:latin typeface="+mn-lt"/>
              <a:ea typeface="微软雅黑" panose="020B0503020204020204" pitchFamily="34" charset="-122"/>
            </a:endParaRPr>
          </a:p>
        </p:txBody>
      </p:sp>
      <p:sp>
        <p:nvSpPr>
          <p:cNvPr id="16" name="Rectangle 61"/>
          <p:cNvSpPr>
            <a:spLocks noChangeArrowheads="1"/>
          </p:cNvSpPr>
          <p:nvPr/>
        </p:nvSpPr>
        <p:spPr bwMode="auto">
          <a:xfrm>
            <a:off x="7962629" y="2486043"/>
            <a:ext cx="3816424" cy="3672408"/>
          </a:xfrm>
          <a:prstGeom prst="rect">
            <a:avLst/>
          </a:prstGeom>
          <a:solidFill>
            <a:srgbClr val="B9CDE5"/>
          </a:solidFill>
          <a:ln>
            <a:noFill/>
          </a:ln>
          <a:effectLst/>
        </p:spPr>
        <p:txBody>
          <a:bodyPr wrap="none" anchor="ctr"/>
          <a:lstStyle/>
          <a:p>
            <a:endParaRPr lang="zh-CN" altLang="en-US"/>
          </a:p>
        </p:txBody>
      </p:sp>
      <p:pic>
        <p:nvPicPr>
          <p:cNvPr id="18" name="Picture 13" descr="2-3"/>
          <p:cNvPicPr>
            <a:picLocks noChangeAspect="1" noChangeArrowheads="1"/>
          </p:cNvPicPr>
          <p:nvPr/>
        </p:nvPicPr>
        <p:blipFill>
          <a:blip r:embed="rId3">
            <a:duotone>
              <a:prstClr val="black"/>
              <a:srgbClr val="E74848">
                <a:tint val="45000"/>
                <a:satMod val="400000"/>
              </a:srgbClr>
            </a:duotone>
          </a:blip>
          <a:srcRect l="5324" t="5019" r="9485" b="9671"/>
          <a:stretch>
            <a:fillRect/>
          </a:stretch>
        </p:blipFill>
        <p:spPr bwMode="auto">
          <a:xfrm>
            <a:off x="8184232" y="2853628"/>
            <a:ext cx="3373217" cy="2937237"/>
          </a:xfrm>
          <a:prstGeom prst="rect">
            <a:avLst/>
          </a:prstGeom>
          <a:noFill/>
          <a:ln w="9525">
            <a:noFill/>
            <a:miter lim="800000"/>
            <a:headEnd/>
            <a:tailEnd/>
          </a:ln>
        </p:spPr>
      </p:pic>
      <p:sp>
        <p:nvSpPr>
          <p:cNvPr id="19" name="Text Box 9"/>
          <p:cNvSpPr txBox="1">
            <a:spLocks noChangeArrowheads="1"/>
          </p:cNvSpPr>
          <p:nvPr/>
        </p:nvSpPr>
        <p:spPr bwMode="auto">
          <a:xfrm>
            <a:off x="694931" y="5252384"/>
            <a:ext cx="6841228" cy="10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eaLnBrk="1" hangingPunct="1">
              <a:lnSpc>
                <a:spcPct val="120000"/>
              </a:lnSpc>
              <a:spcBef>
                <a:spcPct val="0"/>
              </a:spcBef>
              <a:buClrTx/>
              <a:buSzTx/>
              <a:buFontTx/>
              <a:buNone/>
            </a:pPr>
            <a:r>
              <a:rPr kumimoji="0" lang="en-US" altLang="zh-CN" sz="2800" noProof="1">
                <a:latin typeface="Times New Roman" panose="02020603050405020304" pitchFamily="18" charset="0"/>
                <a:ea typeface="黑体" panose="02010609060101010101" pitchFamily="49" charset="-122"/>
                <a:cs typeface="Times New Roman" panose="02020603050405020304" pitchFamily="18" charset="0"/>
              </a:rPr>
              <a:t>x、y、z </a:t>
            </a:r>
            <a:r>
              <a:rPr lang="zh-CN" altLang="en-US" sz="2800" i="0" dirty="0">
                <a:latin typeface="+mn-lt"/>
                <a:ea typeface="微软雅黑" panose="020B0503020204020204" pitchFamily="34" charset="-122"/>
              </a:rPr>
              <a:t>为力作用点的坐标；</a:t>
            </a:r>
            <a:r>
              <a:rPr kumimoji="0" lang="en-US" altLang="zh-CN" sz="2800" noProof="1">
                <a:latin typeface="Times New Roman" panose="02020603050405020304" pitchFamily="18" charset="0"/>
                <a:ea typeface="黑体" panose="02010609060101010101" pitchFamily="49" charset="-122"/>
                <a:cs typeface="Times New Roman" panose="02020603050405020304" pitchFamily="18" charset="0"/>
              </a:rPr>
              <a:t>F</a:t>
            </a:r>
            <a:r>
              <a:rPr kumimoji="0" lang="en-US" altLang="zh-CN" sz="2800" baseline="-25000" noProof="1">
                <a:latin typeface="Times New Roman" panose="02020603050405020304" pitchFamily="18" charset="0"/>
                <a:ea typeface="黑体" panose="02010609060101010101" pitchFamily="49" charset="-122"/>
                <a:cs typeface="Times New Roman" panose="02020603050405020304" pitchFamily="18" charset="0"/>
              </a:rPr>
              <a:t>x</a:t>
            </a:r>
            <a:r>
              <a:rPr kumimoji="0" lang="en-US" altLang="zh-CN" sz="2800" noProof="1">
                <a:latin typeface="Times New Roman" panose="02020603050405020304" pitchFamily="18" charset="0"/>
                <a:ea typeface="黑体" panose="02010609060101010101" pitchFamily="49" charset="-122"/>
                <a:cs typeface="Times New Roman" panose="02020603050405020304" pitchFamily="18" charset="0"/>
              </a:rPr>
              <a:t>、F</a:t>
            </a:r>
            <a:r>
              <a:rPr kumimoji="0" lang="en-US" altLang="zh-CN" sz="2800" baseline="-25000" noProof="1">
                <a:latin typeface="Times New Roman" panose="02020603050405020304" pitchFamily="18" charset="0"/>
                <a:ea typeface="黑体" panose="02010609060101010101" pitchFamily="49" charset="-122"/>
                <a:cs typeface="Times New Roman" panose="02020603050405020304" pitchFamily="18" charset="0"/>
              </a:rPr>
              <a:t>y</a:t>
            </a:r>
            <a:r>
              <a:rPr kumimoji="0" lang="en-US" altLang="zh-CN" sz="2800" noProof="1">
                <a:latin typeface="Times New Roman" panose="02020603050405020304" pitchFamily="18" charset="0"/>
                <a:ea typeface="黑体" panose="02010609060101010101" pitchFamily="49" charset="-122"/>
                <a:cs typeface="Times New Roman" panose="02020603050405020304" pitchFamily="18" charset="0"/>
              </a:rPr>
              <a:t>、F</a:t>
            </a:r>
            <a:r>
              <a:rPr kumimoji="0" lang="en-US" altLang="zh-CN" sz="2800" baseline="-25000" noProof="1">
                <a:latin typeface="Times New Roman" panose="02020603050405020304" pitchFamily="18" charset="0"/>
                <a:ea typeface="黑体" panose="02010609060101010101" pitchFamily="49" charset="-122"/>
                <a:cs typeface="Times New Roman" panose="02020603050405020304" pitchFamily="18" charset="0"/>
              </a:rPr>
              <a:t>z</a:t>
            </a:r>
            <a:r>
              <a:rPr lang="zh-CN" altLang="en-US" sz="2800" i="0" dirty="0">
                <a:latin typeface="+mn-lt"/>
                <a:ea typeface="微软雅黑" panose="020B0503020204020204" pitchFamily="34" charset="-122"/>
              </a:rPr>
              <a:t>为力在坐标轴上的投影；均为代数量。</a:t>
            </a:r>
          </a:p>
        </p:txBody>
      </p:sp>
    </p:spTree>
    <p:extLst>
      <p:ext uri="{BB962C8B-B14F-4D97-AF65-F5344CB8AC3E}">
        <p14:creationId xmlns:p14="http://schemas.microsoft.com/office/powerpoint/2010/main" val="210844866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5" grpId="0" autoUpdateAnimBg="0"/>
      <p:bldP spid="16" grpId="0" animBg="1"/>
      <p:bldP spid="1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2" y="802970"/>
            <a:ext cx="646158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mj-lt"/>
                <a:ea typeface="黑体" panose="02010609060101010101" pitchFamily="49" charset="-122"/>
              </a:rPr>
              <a:t>计算图所示手摇曲柄上力</a:t>
            </a:r>
            <a:r>
              <a:rPr lang="en-US" altLang="zh-CN" dirty="0">
                <a:latin typeface="+mj-lt"/>
                <a:ea typeface="黑体" panose="02010609060101010101" pitchFamily="49" charset="-122"/>
              </a:rPr>
              <a:t>F </a:t>
            </a:r>
            <a:r>
              <a:rPr lang="zh-CN" altLang="en-US" i="0" dirty="0">
                <a:latin typeface="+mj-lt"/>
                <a:ea typeface="黑体" panose="02010609060101010101" pitchFamily="49" charset="-122"/>
              </a:rPr>
              <a:t>对</a:t>
            </a:r>
            <a:r>
              <a:rPr lang="en-US" altLang="zh-CN" dirty="0">
                <a:latin typeface="+mj-lt"/>
                <a:ea typeface="黑体" panose="02010609060101010101" pitchFamily="49" charset="-122"/>
              </a:rPr>
              <a:t>x</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y</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z</a:t>
            </a:r>
            <a:r>
              <a:rPr lang="zh-CN" altLang="en-US" i="0" dirty="0">
                <a:latin typeface="+mj-lt"/>
                <a:ea typeface="黑体" panose="02010609060101010101" pitchFamily="49" charset="-122"/>
              </a:rPr>
              <a:t>轴之矩。已知</a:t>
            </a:r>
            <a:r>
              <a:rPr lang="en-US" altLang="zh-CN" dirty="0">
                <a:latin typeface="+mj-lt"/>
                <a:ea typeface="黑体" panose="02010609060101010101" pitchFamily="49" charset="-122"/>
              </a:rPr>
              <a:t>F</a:t>
            </a:r>
            <a:r>
              <a:rPr lang="en-US" altLang="zh-CN" i="0" dirty="0">
                <a:latin typeface="+mj-lt"/>
                <a:ea typeface="黑体" panose="02010609060101010101" pitchFamily="49" charset="-122"/>
              </a:rPr>
              <a:t>=100N</a:t>
            </a:r>
            <a:r>
              <a:rPr lang="zh-CN" altLang="en-US" i="0" dirty="0">
                <a:latin typeface="+mj-lt"/>
                <a:ea typeface="黑体" panose="02010609060101010101" pitchFamily="49" charset="-122"/>
              </a:rPr>
              <a:t>，且力</a:t>
            </a:r>
            <a:r>
              <a:rPr lang="en-US" altLang="zh-CN" dirty="0">
                <a:latin typeface="+mj-lt"/>
                <a:ea typeface="黑体" panose="02010609060101010101" pitchFamily="49" charset="-122"/>
              </a:rPr>
              <a:t>F</a:t>
            </a:r>
            <a:r>
              <a:rPr lang="zh-CN" altLang="en-US" i="0" dirty="0">
                <a:latin typeface="+mj-lt"/>
                <a:ea typeface="黑体" panose="02010609060101010101" pitchFamily="49" charset="-122"/>
              </a:rPr>
              <a:t>平行于</a:t>
            </a:r>
            <a:r>
              <a:rPr lang="en-US" altLang="zh-CN" dirty="0" err="1">
                <a:latin typeface="+mj-lt"/>
                <a:ea typeface="黑体" panose="02010609060101010101" pitchFamily="49" charset="-122"/>
              </a:rPr>
              <a:t>Axz</a:t>
            </a:r>
            <a:r>
              <a:rPr lang="zh-CN" altLang="en-US" i="0" dirty="0">
                <a:latin typeface="+mj-lt"/>
                <a:ea typeface="黑体" panose="02010609060101010101" pitchFamily="49" charset="-122"/>
              </a:rPr>
              <a:t>平面，</a:t>
            </a:r>
            <a:r>
              <a:rPr lang="zh-CN" altLang="en-US" dirty="0">
                <a:latin typeface="+mj-lt"/>
                <a:ea typeface="黑体" panose="02010609060101010101" pitchFamily="49" charset="-122"/>
                <a:sym typeface="Symbol" panose="05050102010706020507" pitchFamily="18" charset="2"/>
              </a:rPr>
              <a:t></a:t>
            </a:r>
            <a:r>
              <a:rPr lang="en-US" altLang="zh-CN" i="0" dirty="0">
                <a:latin typeface="+mj-lt"/>
                <a:ea typeface="黑体" panose="02010609060101010101" pitchFamily="49" charset="-122"/>
              </a:rPr>
              <a:t>=60</a:t>
            </a:r>
            <a:r>
              <a:rPr lang="en-US" altLang="zh-CN" i="0" dirty="0">
                <a:latin typeface="+mj-lt"/>
                <a:ea typeface="黑体" panose="02010609060101010101" pitchFamily="49" charset="-122"/>
                <a:sym typeface="Symbol" panose="05050102010706020507" pitchFamily="18" charset="2"/>
              </a:rPr>
              <a:t></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AB</a:t>
            </a:r>
            <a:r>
              <a:rPr lang="en-US" altLang="zh-CN" i="0" dirty="0">
                <a:latin typeface="+mj-lt"/>
                <a:ea typeface="黑体" panose="02010609060101010101" pitchFamily="49" charset="-122"/>
              </a:rPr>
              <a:t>=0.2m</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BC</a:t>
            </a:r>
            <a:r>
              <a:rPr lang="en-US" altLang="zh-CN" i="0" dirty="0">
                <a:latin typeface="+mj-lt"/>
                <a:ea typeface="黑体" panose="02010609060101010101" pitchFamily="49" charset="-122"/>
              </a:rPr>
              <a:t>=0.4m</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CD</a:t>
            </a:r>
            <a:r>
              <a:rPr lang="en-US" altLang="zh-CN" i="0" dirty="0">
                <a:latin typeface="+mj-lt"/>
                <a:ea typeface="黑体" panose="02010609060101010101" pitchFamily="49" charset="-122"/>
              </a:rPr>
              <a:t>=0.15m</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A</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B</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C</a:t>
            </a:r>
            <a:r>
              <a:rPr lang="zh-CN" altLang="en-US" i="0" dirty="0">
                <a:latin typeface="+mj-lt"/>
                <a:ea typeface="黑体" panose="02010609060101010101" pitchFamily="49" charset="-122"/>
              </a:rPr>
              <a:t>、</a:t>
            </a:r>
            <a:r>
              <a:rPr lang="en-US" altLang="zh-CN" dirty="0">
                <a:latin typeface="+mj-lt"/>
                <a:ea typeface="黑体" panose="02010609060101010101" pitchFamily="49" charset="-122"/>
              </a:rPr>
              <a:t>D</a:t>
            </a:r>
            <a:r>
              <a:rPr lang="zh-CN" altLang="en-US" i="0" dirty="0">
                <a:latin typeface="+mj-lt"/>
                <a:ea typeface="黑体" panose="02010609060101010101" pitchFamily="49" charset="-122"/>
              </a:rPr>
              <a:t>处于同一水平面。</a:t>
            </a:r>
          </a:p>
        </p:txBody>
      </p:sp>
      <p:sp>
        <p:nvSpPr>
          <p:cNvPr id="33" name="Rectangle 61"/>
          <p:cNvSpPr>
            <a:spLocks noChangeArrowheads="1"/>
          </p:cNvSpPr>
          <p:nvPr/>
        </p:nvSpPr>
        <p:spPr bwMode="auto">
          <a:xfrm>
            <a:off x="6842599" y="836712"/>
            <a:ext cx="5205792" cy="5440049"/>
          </a:xfrm>
          <a:prstGeom prst="rect">
            <a:avLst/>
          </a:prstGeom>
          <a:solidFill>
            <a:srgbClr val="B9CDE5"/>
          </a:solidFill>
          <a:ln>
            <a:noFill/>
          </a:ln>
          <a:effectLst/>
        </p:spPr>
        <p:txBody>
          <a:bodyPr wrap="none" anchor="ctr"/>
          <a:lstStyle/>
          <a:p>
            <a:endParaRPr lang="zh-CN" altLang="en-US"/>
          </a:p>
        </p:txBody>
      </p:sp>
      <p:sp>
        <p:nvSpPr>
          <p:cNvPr id="148" name="Rectangle 5"/>
          <p:cNvSpPr>
            <a:spLocks noChangeArrowheads="1"/>
          </p:cNvSpPr>
          <p:nvPr/>
        </p:nvSpPr>
        <p:spPr bwMode="auto">
          <a:xfrm>
            <a:off x="279412" y="2409837"/>
            <a:ext cx="10801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a:t>
            </a:r>
            <a:r>
              <a:rPr lang="zh-CN" altLang="en-US" i="0" dirty="0">
                <a:latin typeface="+mn-lt"/>
                <a:ea typeface="黑体" panose="02010609060101010101" pitchFamily="49" charset="-122"/>
              </a:rPr>
              <a:t>力</a:t>
            </a:r>
            <a:r>
              <a:rPr lang="en-US" altLang="zh-CN" dirty="0">
                <a:latin typeface="+mn-lt"/>
                <a:ea typeface="黑体" panose="02010609060101010101" pitchFamily="49" charset="-122"/>
              </a:rPr>
              <a:t>F</a:t>
            </a:r>
            <a:r>
              <a:rPr lang="zh-CN" altLang="en-US" i="0" dirty="0">
                <a:latin typeface="+mn-lt"/>
                <a:ea typeface="黑体" panose="02010609060101010101" pitchFamily="49" charset="-122"/>
              </a:rPr>
              <a:t>为平行于</a:t>
            </a:r>
            <a:r>
              <a:rPr lang="en-US" altLang="zh-CN" dirty="0" err="1">
                <a:latin typeface="+mn-lt"/>
                <a:ea typeface="黑体" panose="02010609060101010101" pitchFamily="49" charset="-122"/>
              </a:rPr>
              <a:t>Axz</a:t>
            </a:r>
            <a:r>
              <a:rPr lang="zh-CN" altLang="en-US" i="0" dirty="0">
                <a:latin typeface="+mn-lt"/>
                <a:ea typeface="黑体" panose="02010609060101010101" pitchFamily="49" charset="-122"/>
              </a:rPr>
              <a:t>平面</a:t>
            </a:r>
          </a:p>
          <a:p>
            <a:pPr algn="l">
              <a:spcBef>
                <a:spcPct val="0"/>
              </a:spcBef>
              <a:buClrTx/>
              <a:buSzTx/>
              <a:buNone/>
            </a:pPr>
            <a:endParaRPr lang="zh-CN" altLang="en-US" i="0" dirty="0">
              <a:latin typeface="+mn-lt"/>
              <a:ea typeface="黑体" panose="02010609060101010101" pitchFamily="49" charset="-122"/>
            </a:endParaRPr>
          </a:p>
        </p:txBody>
      </p:sp>
      <p:sp>
        <p:nvSpPr>
          <p:cNvPr id="88" name="Freeform 3"/>
          <p:cNvSpPr>
            <a:spLocks/>
          </p:cNvSpPr>
          <p:nvPr/>
        </p:nvSpPr>
        <p:spPr bwMode="auto">
          <a:xfrm>
            <a:off x="7627057" y="2073061"/>
            <a:ext cx="1401763" cy="762000"/>
          </a:xfrm>
          <a:custGeom>
            <a:avLst/>
            <a:gdLst>
              <a:gd name="T0" fmla="*/ 91 w 883"/>
              <a:gd name="T1" fmla="*/ 384 h 480"/>
              <a:gd name="T2" fmla="*/ 220 w 883"/>
              <a:gd name="T3" fmla="*/ 393 h 480"/>
              <a:gd name="T4" fmla="*/ 283 w 883"/>
              <a:gd name="T5" fmla="*/ 393 h 480"/>
              <a:gd name="T6" fmla="*/ 403 w 883"/>
              <a:gd name="T7" fmla="*/ 369 h 480"/>
              <a:gd name="T8" fmla="*/ 784 w 883"/>
              <a:gd name="T9" fmla="*/ 0 h 480"/>
              <a:gd name="T10" fmla="*/ 883 w 883"/>
              <a:gd name="T11" fmla="*/ 12 h 480"/>
              <a:gd name="T12" fmla="*/ 499 w 883"/>
              <a:gd name="T13" fmla="*/ 402 h 480"/>
              <a:gd name="T14" fmla="*/ 286 w 883"/>
              <a:gd name="T15" fmla="*/ 477 h 480"/>
              <a:gd name="T16" fmla="*/ 0 w 883"/>
              <a:gd name="T17" fmla="*/ 464 h 480"/>
              <a:gd name="T18" fmla="*/ 91 w 883"/>
              <a:gd name="T19" fmla="*/ 384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3" h="480">
                <a:moveTo>
                  <a:pt x="91" y="384"/>
                </a:moveTo>
                <a:cubicBezTo>
                  <a:pt x="148" y="390"/>
                  <a:pt x="188" y="392"/>
                  <a:pt x="220" y="393"/>
                </a:cubicBezTo>
                <a:cubicBezTo>
                  <a:pt x="252" y="394"/>
                  <a:pt x="253" y="397"/>
                  <a:pt x="283" y="393"/>
                </a:cubicBezTo>
                <a:cubicBezTo>
                  <a:pt x="336" y="389"/>
                  <a:pt x="349" y="393"/>
                  <a:pt x="403" y="369"/>
                </a:cubicBezTo>
                <a:cubicBezTo>
                  <a:pt x="610" y="165"/>
                  <a:pt x="784" y="0"/>
                  <a:pt x="784" y="0"/>
                </a:cubicBezTo>
                <a:lnTo>
                  <a:pt x="883" y="12"/>
                </a:lnTo>
                <a:cubicBezTo>
                  <a:pt x="804" y="90"/>
                  <a:pt x="595" y="315"/>
                  <a:pt x="499" y="402"/>
                </a:cubicBezTo>
                <a:cubicBezTo>
                  <a:pt x="399" y="477"/>
                  <a:pt x="379" y="480"/>
                  <a:pt x="286" y="477"/>
                </a:cubicBezTo>
                <a:cubicBezTo>
                  <a:pt x="138" y="473"/>
                  <a:pt x="0" y="464"/>
                  <a:pt x="0" y="464"/>
                </a:cubicBezTo>
                <a:lnTo>
                  <a:pt x="91" y="384"/>
                </a:lnTo>
                <a:close/>
              </a:path>
            </a:pathLst>
          </a:custGeom>
          <a:solidFill>
            <a:schemeClr val="accent1"/>
          </a:solidFill>
          <a:ln w="9525" cap="flat" cmpd="sng">
            <a:prstDash val="solid"/>
            <a:round/>
            <a:headEnd/>
            <a:tailEnd/>
          </a:ln>
          <a:effectLst/>
          <a:scene3d>
            <a:camera prst="legacyObliqueBottom"/>
            <a:lightRig rig="legacyFlat4" dir="b"/>
          </a:scene3d>
          <a:sp3d extrusionH="3630600" prstMaterial="legacyMetal">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zh-CN" altLang="en-US"/>
          </a:p>
        </p:txBody>
      </p:sp>
      <p:sp>
        <p:nvSpPr>
          <p:cNvPr id="89" name="AutoShape 5" descr="5%"/>
          <p:cNvSpPr>
            <a:spLocks noChangeArrowheads="1"/>
          </p:cNvSpPr>
          <p:nvPr/>
        </p:nvSpPr>
        <p:spPr bwMode="auto">
          <a:xfrm rot="5400000" flipH="1">
            <a:off x="9879719" y="1674599"/>
            <a:ext cx="2708275" cy="939800"/>
          </a:xfrm>
          <a:prstGeom prst="parallelogram">
            <a:avLst>
              <a:gd name="adj" fmla="val 102703"/>
            </a:avLst>
          </a:prstGeom>
          <a:pattFill prst="pct5">
            <a:fgClr>
              <a:schemeClr val="tx1"/>
            </a:fgClr>
            <a:bgClr>
              <a:srgbClr val="CCFFFF"/>
            </a:bgClr>
          </a:patt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0" name="Group 6"/>
          <p:cNvGrpSpPr>
            <a:grpSpLocks/>
          </p:cNvGrpSpPr>
          <p:nvPr/>
        </p:nvGrpSpPr>
        <p:grpSpPr bwMode="auto">
          <a:xfrm>
            <a:off x="8617657" y="2544549"/>
            <a:ext cx="2603500" cy="1089025"/>
            <a:chOff x="2816" y="2089"/>
            <a:chExt cx="1640" cy="686"/>
          </a:xfrm>
        </p:grpSpPr>
        <p:sp>
          <p:nvSpPr>
            <p:cNvPr id="91" name="AutoShape 7"/>
            <p:cNvSpPr>
              <a:spLocks noChangeArrowheads="1"/>
            </p:cNvSpPr>
            <p:nvPr/>
          </p:nvSpPr>
          <p:spPr bwMode="auto">
            <a:xfrm>
              <a:off x="2816" y="2552"/>
              <a:ext cx="584" cy="200"/>
            </a:xfrm>
            <a:prstGeom prst="roundRect">
              <a:avLst>
                <a:gd name="adj" fmla="val 50000"/>
              </a:avLst>
            </a:prstGeom>
            <a:gradFill rotWithShape="1">
              <a:gsLst>
                <a:gs pos="0">
                  <a:srgbClr val="B2B2B2">
                    <a:gamma/>
                    <a:shade val="46275"/>
                    <a:invGamma/>
                  </a:srgbClr>
                </a:gs>
                <a:gs pos="50000">
                  <a:srgbClr val="B2B2B2"/>
                </a:gs>
                <a:gs pos="100000">
                  <a:srgbClr val="B2B2B2">
                    <a:gamma/>
                    <a:shade val="46275"/>
                    <a:invGamma/>
                  </a:srgbClr>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 name="Freeform 8"/>
            <p:cNvSpPr>
              <a:spLocks/>
            </p:cNvSpPr>
            <p:nvPr/>
          </p:nvSpPr>
          <p:spPr bwMode="auto">
            <a:xfrm>
              <a:off x="3285" y="2089"/>
              <a:ext cx="720" cy="686"/>
            </a:xfrm>
            <a:custGeom>
              <a:avLst/>
              <a:gdLst>
                <a:gd name="T0" fmla="*/ 652 w 720"/>
                <a:gd name="T1" fmla="*/ 0 h 686"/>
                <a:gd name="T2" fmla="*/ 48 w 720"/>
                <a:gd name="T3" fmla="*/ 452 h 686"/>
                <a:gd name="T4" fmla="*/ 33 w 720"/>
                <a:gd name="T5" fmla="*/ 470 h 686"/>
                <a:gd name="T6" fmla="*/ 9 w 720"/>
                <a:gd name="T7" fmla="*/ 521 h 686"/>
                <a:gd name="T8" fmla="*/ 3 w 720"/>
                <a:gd name="T9" fmla="*/ 560 h 686"/>
                <a:gd name="T10" fmla="*/ 33 w 720"/>
                <a:gd name="T11" fmla="*/ 656 h 686"/>
                <a:gd name="T12" fmla="*/ 105 w 720"/>
                <a:gd name="T13" fmla="*/ 686 h 686"/>
                <a:gd name="T14" fmla="*/ 162 w 720"/>
                <a:gd name="T15" fmla="*/ 641 h 686"/>
                <a:gd name="T16" fmla="*/ 681 w 720"/>
                <a:gd name="T17" fmla="*/ 97 h 686"/>
                <a:gd name="T18" fmla="*/ 681 w 720"/>
                <a:gd name="T19" fmla="*/ 20 h 686"/>
                <a:gd name="T20" fmla="*/ 652 w 720"/>
                <a:gd name="T21" fmla="*/ 0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0" h="686">
                  <a:moveTo>
                    <a:pt x="652" y="0"/>
                  </a:moveTo>
                  <a:cubicBezTo>
                    <a:pt x="444" y="152"/>
                    <a:pt x="240" y="305"/>
                    <a:pt x="48" y="452"/>
                  </a:cubicBezTo>
                  <a:cubicBezTo>
                    <a:pt x="39" y="461"/>
                    <a:pt x="39" y="459"/>
                    <a:pt x="33" y="470"/>
                  </a:cubicBezTo>
                  <a:cubicBezTo>
                    <a:pt x="12" y="497"/>
                    <a:pt x="15" y="504"/>
                    <a:pt x="9" y="521"/>
                  </a:cubicBezTo>
                  <a:cubicBezTo>
                    <a:pt x="1" y="542"/>
                    <a:pt x="0" y="539"/>
                    <a:pt x="3" y="560"/>
                  </a:cubicBezTo>
                  <a:cubicBezTo>
                    <a:pt x="0" y="587"/>
                    <a:pt x="19" y="637"/>
                    <a:pt x="33" y="656"/>
                  </a:cubicBezTo>
                  <a:cubicBezTo>
                    <a:pt x="50" y="676"/>
                    <a:pt x="80" y="683"/>
                    <a:pt x="105" y="686"/>
                  </a:cubicBezTo>
                  <a:cubicBezTo>
                    <a:pt x="158" y="671"/>
                    <a:pt x="141" y="660"/>
                    <a:pt x="162" y="641"/>
                  </a:cubicBezTo>
                  <a:cubicBezTo>
                    <a:pt x="341" y="466"/>
                    <a:pt x="503" y="275"/>
                    <a:pt x="681" y="97"/>
                  </a:cubicBezTo>
                  <a:cubicBezTo>
                    <a:pt x="720" y="40"/>
                    <a:pt x="686" y="37"/>
                    <a:pt x="681" y="20"/>
                  </a:cubicBezTo>
                  <a:cubicBezTo>
                    <a:pt x="677" y="4"/>
                    <a:pt x="658" y="5"/>
                    <a:pt x="652" y="0"/>
                  </a:cubicBezTo>
                  <a:close/>
                </a:path>
              </a:pathLst>
            </a:custGeom>
            <a:gradFill rotWithShape="1">
              <a:gsLst>
                <a:gs pos="0">
                  <a:srgbClr val="B2B2B2">
                    <a:gamma/>
                    <a:shade val="46275"/>
                    <a:invGamma/>
                  </a:srgbClr>
                </a:gs>
                <a:gs pos="50000">
                  <a:srgbClr val="B2B2B2"/>
                </a:gs>
                <a:gs pos="100000">
                  <a:srgbClr val="B2B2B2">
                    <a:gamma/>
                    <a:shade val="46275"/>
                    <a:invGamma/>
                  </a:srgbClr>
                </a:gs>
              </a:gsLst>
              <a:lin ang="5400000" scaled="1"/>
            </a:gra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3" name="Freeform 9"/>
            <p:cNvSpPr>
              <a:spLocks/>
            </p:cNvSpPr>
            <p:nvPr/>
          </p:nvSpPr>
          <p:spPr bwMode="auto">
            <a:xfrm>
              <a:off x="3326" y="2096"/>
              <a:ext cx="683" cy="668"/>
            </a:xfrm>
            <a:custGeom>
              <a:avLst/>
              <a:gdLst>
                <a:gd name="T0" fmla="*/ 634 w 683"/>
                <a:gd name="T1" fmla="*/ 0 h 668"/>
                <a:gd name="T2" fmla="*/ 34 w 683"/>
                <a:gd name="T3" fmla="*/ 472 h 668"/>
                <a:gd name="T4" fmla="*/ 13 w 683"/>
                <a:gd name="T5" fmla="*/ 502 h 668"/>
                <a:gd name="T6" fmla="*/ 1 w 683"/>
                <a:gd name="T7" fmla="*/ 568 h 668"/>
                <a:gd name="T8" fmla="*/ 31 w 683"/>
                <a:gd name="T9" fmla="*/ 628 h 668"/>
                <a:gd name="T10" fmla="*/ 67 w 683"/>
                <a:gd name="T11" fmla="*/ 655 h 668"/>
                <a:gd name="T12" fmla="*/ 106 w 683"/>
                <a:gd name="T13" fmla="*/ 658 h 668"/>
                <a:gd name="T14" fmla="*/ 127 w 683"/>
                <a:gd name="T15" fmla="*/ 649 h 668"/>
                <a:gd name="T16" fmla="*/ 646 w 683"/>
                <a:gd name="T17" fmla="*/ 94 h 668"/>
                <a:gd name="T18" fmla="*/ 664 w 683"/>
                <a:gd name="T19" fmla="*/ 19 h 668"/>
                <a:gd name="T20" fmla="*/ 634 w 683"/>
                <a:gd name="T21" fmla="*/ 0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3" h="668">
                  <a:moveTo>
                    <a:pt x="634" y="0"/>
                  </a:moveTo>
                  <a:cubicBezTo>
                    <a:pt x="430" y="160"/>
                    <a:pt x="178" y="358"/>
                    <a:pt x="34" y="472"/>
                  </a:cubicBezTo>
                  <a:cubicBezTo>
                    <a:pt x="31" y="484"/>
                    <a:pt x="17" y="484"/>
                    <a:pt x="13" y="502"/>
                  </a:cubicBezTo>
                  <a:cubicBezTo>
                    <a:pt x="7" y="523"/>
                    <a:pt x="0" y="545"/>
                    <a:pt x="1" y="568"/>
                  </a:cubicBezTo>
                  <a:cubicBezTo>
                    <a:pt x="10" y="598"/>
                    <a:pt x="16" y="612"/>
                    <a:pt x="31" y="628"/>
                  </a:cubicBezTo>
                  <a:cubicBezTo>
                    <a:pt x="42" y="642"/>
                    <a:pt x="55" y="650"/>
                    <a:pt x="67" y="655"/>
                  </a:cubicBezTo>
                  <a:cubicBezTo>
                    <a:pt x="86" y="668"/>
                    <a:pt x="97" y="662"/>
                    <a:pt x="106" y="658"/>
                  </a:cubicBezTo>
                  <a:cubicBezTo>
                    <a:pt x="115" y="654"/>
                    <a:pt x="108" y="664"/>
                    <a:pt x="127" y="649"/>
                  </a:cubicBezTo>
                  <a:cubicBezTo>
                    <a:pt x="300" y="468"/>
                    <a:pt x="475" y="278"/>
                    <a:pt x="646" y="94"/>
                  </a:cubicBezTo>
                  <a:cubicBezTo>
                    <a:pt x="683" y="35"/>
                    <a:pt x="666" y="35"/>
                    <a:pt x="664" y="19"/>
                  </a:cubicBezTo>
                  <a:cubicBezTo>
                    <a:pt x="662" y="3"/>
                    <a:pt x="640" y="4"/>
                    <a:pt x="634" y="0"/>
                  </a:cubicBezTo>
                  <a:close/>
                </a:path>
              </a:pathLst>
            </a:custGeom>
            <a:gradFill rotWithShape="1">
              <a:gsLst>
                <a:gs pos="0">
                  <a:srgbClr val="B2B2B2">
                    <a:gamma/>
                    <a:shade val="46275"/>
                    <a:invGamma/>
                  </a:srgbClr>
                </a:gs>
                <a:gs pos="50000">
                  <a:srgbClr val="B2B2B2"/>
                </a:gs>
                <a:gs pos="100000">
                  <a:srgbClr val="B2B2B2">
                    <a:gamma/>
                    <a:shade val="46275"/>
                    <a:invGamma/>
                  </a:srgbClr>
                </a:gs>
              </a:gsLst>
              <a:lin ang="5400000" scaled="1"/>
            </a:gra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4" name="AutoShape 10"/>
            <p:cNvSpPr>
              <a:spLocks noChangeArrowheads="1"/>
            </p:cNvSpPr>
            <p:nvPr/>
          </p:nvSpPr>
          <p:spPr bwMode="auto">
            <a:xfrm>
              <a:off x="3936" y="2112"/>
              <a:ext cx="520" cy="64"/>
            </a:xfrm>
            <a:prstGeom prst="roundRect">
              <a:avLst>
                <a:gd name="adj" fmla="val 50000"/>
              </a:avLst>
            </a:prstGeom>
            <a:gradFill rotWithShape="1">
              <a:gsLst>
                <a:gs pos="0">
                  <a:srgbClr val="B2B2B2">
                    <a:gamma/>
                    <a:shade val="46275"/>
                    <a:invGamma/>
                  </a:srgbClr>
                </a:gs>
                <a:gs pos="50000">
                  <a:srgbClr val="B2B2B2"/>
                </a:gs>
                <a:gs pos="100000">
                  <a:srgbClr val="B2B2B2">
                    <a:gamma/>
                    <a:shade val="46275"/>
                    <a:invGamma/>
                  </a:srgbClr>
                </a:gs>
              </a:gsLst>
              <a:lin ang="5400000" scaled="1"/>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5" name="Line 11"/>
            <p:cNvSpPr>
              <a:spLocks noChangeShapeType="1"/>
            </p:cNvSpPr>
            <p:nvPr/>
          </p:nvSpPr>
          <p:spPr bwMode="auto">
            <a:xfrm flipH="1">
              <a:off x="3431" y="2156"/>
              <a:ext cx="535" cy="474"/>
            </a:xfrm>
            <a:prstGeom prst="line">
              <a:avLst/>
            </a:prstGeom>
            <a:noFill/>
            <a:ln w="9525">
              <a:solidFill>
                <a:schemeClr val="bg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6" name="Oval 12"/>
            <p:cNvSpPr>
              <a:spLocks noChangeArrowheads="1"/>
            </p:cNvSpPr>
            <p:nvPr/>
          </p:nvSpPr>
          <p:spPr bwMode="auto">
            <a:xfrm>
              <a:off x="3392" y="2616"/>
              <a:ext cx="45" cy="56"/>
            </a:xfrm>
            <a:prstGeom prst="ellipse">
              <a:avLst/>
            </a:prstGeom>
            <a:solidFill>
              <a:srgbClr val="FF0000"/>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97" name="Text Box 13"/>
          <p:cNvSpPr txBox="1">
            <a:spLocks noChangeAspect="1" noChangeArrowheads="1"/>
          </p:cNvSpPr>
          <p:nvPr/>
        </p:nvSpPr>
        <p:spPr bwMode="auto">
          <a:xfrm>
            <a:off x="11310057" y="1855574"/>
            <a:ext cx="685800" cy="77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sym typeface="Symbol" panose="05050102010706020507" pitchFamily="18" charset="2"/>
              </a:rPr>
              <a:t></a:t>
            </a:r>
          </a:p>
        </p:txBody>
      </p:sp>
      <p:sp>
        <p:nvSpPr>
          <p:cNvPr id="98" name="Text Box 14"/>
          <p:cNvSpPr txBox="1">
            <a:spLocks noChangeAspect="1" noChangeArrowheads="1"/>
          </p:cNvSpPr>
          <p:nvPr/>
        </p:nvSpPr>
        <p:spPr bwMode="auto">
          <a:xfrm>
            <a:off x="8674807" y="1607924"/>
            <a:ext cx="685800"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dirty="0">
                <a:solidFill>
                  <a:srgbClr val="FF00FF"/>
                </a:solidFill>
                <a:ea typeface="宋体" panose="02010600030101010101" pitchFamily="2" charset="-122"/>
              </a:rPr>
              <a:t>z</a:t>
            </a:r>
          </a:p>
        </p:txBody>
      </p:sp>
      <p:sp>
        <p:nvSpPr>
          <p:cNvPr id="99" name="Text Box 15"/>
          <p:cNvSpPr txBox="1">
            <a:spLocks noChangeAspect="1" noChangeArrowheads="1"/>
          </p:cNvSpPr>
          <p:nvPr/>
        </p:nvSpPr>
        <p:spPr bwMode="auto">
          <a:xfrm>
            <a:off x="8362070" y="3112874"/>
            <a:ext cx="52228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solidFill>
                  <a:schemeClr val="tx1"/>
                </a:solidFill>
              </a:rPr>
              <a:t>A</a:t>
            </a:r>
            <a:endParaRPr lang="en-US" altLang="zh-CN" dirty="0">
              <a:solidFill>
                <a:schemeClr val="tx1"/>
              </a:solidFill>
            </a:endParaRPr>
          </a:p>
        </p:txBody>
      </p:sp>
      <p:sp>
        <p:nvSpPr>
          <p:cNvPr id="100" name="Text Box 18"/>
          <p:cNvSpPr txBox="1">
            <a:spLocks noChangeAspect="1" noChangeArrowheads="1"/>
          </p:cNvSpPr>
          <p:nvPr/>
        </p:nvSpPr>
        <p:spPr bwMode="auto">
          <a:xfrm>
            <a:off x="11105270" y="1226924"/>
            <a:ext cx="685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1" i="1">
                <a:solidFill>
                  <a:srgbClr val="FF0000"/>
                </a:solidFill>
                <a:ea typeface="宋体" panose="02010600030101010101" pitchFamily="2" charset="-122"/>
              </a:rPr>
              <a:t>F</a:t>
            </a:r>
            <a:endParaRPr lang="en-US" altLang="zh-CN" sz="3200">
              <a:solidFill>
                <a:srgbClr val="FF0000"/>
              </a:solidFill>
            </a:endParaRPr>
          </a:p>
        </p:txBody>
      </p:sp>
      <p:sp>
        <p:nvSpPr>
          <p:cNvPr id="101" name="Line 19"/>
          <p:cNvSpPr>
            <a:spLocks noChangeShapeType="1"/>
          </p:cNvSpPr>
          <p:nvPr/>
        </p:nvSpPr>
        <p:spPr bwMode="auto">
          <a:xfrm flipH="1">
            <a:off x="11221157" y="1514261"/>
            <a:ext cx="342900" cy="10795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20"/>
          <p:cNvSpPr txBox="1">
            <a:spLocks noChangeAspect="1" noChangeArrowheads="1"/>
          </p:cNvSpPr>
          <p:nvPr/>
        </p:nvSpPr>
        <p:spPr bwMode="auto">
          <a:xfrm>
            <a:off x="10332157" y="3276386"/>
            <a:ext cx="6858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y</a:t>
            </a:r>
          </a:p>
        </p:txBody>
      </p:sp>
      <p:sp>
        <p:nvSpPr>
          <p:cNvPr id="103" name="Line 24"/>
          <p:cNvSpPr>
            <a:spLocks noChangeShapeType="1"/>
          </p:cNvSpPr>
          <p:nvPr/>
        </p:nvSpPr>
        <p:spPr bwMode="auto">
          <a:xfrm>
            <a:off x="8738307" y="3441486"/>
            <a:ext cx="2073275"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4" name="Line 25"/>
          <p:cNvSpPr>
            <a:spLocks noChangeShapeType="1"/>
          </p:cNvSpPr>
          <p:nvPr/>
        </p:nvSpPr>
        <p:spPr bwMode="auto">
          <a:xfrm flipV="1">
            <a:off x="8728782" y="1850811"/>
            <a:ext cx="0" cy="1609725"/>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 name="Line 26"/>
          <p:cNvSpPr>
            <a:spLocks noChangeShapeType="1"/>
          </p:cNvSpPr>
          <p:nvPr/>
        </p:nvSpPr>
        <p:spPr bwMode="auto">
          <a:xfrm flipH="1">
            <a:off x="7741357" y="3425611"/>
            <a:ext cx="987425" cy="968375"/>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6" name="Text Box 27"/>
          <p:cNvSpPr txBox="1">
            <a:spLocks noChangeAspect="1" noChangeArrowheads="1"/>
          </p:cNvSpPr>
          <p:nvPr/>
        </p:nvSpPr>
        <p:spPr bwMode="auto">
          <a:xfrm>
            <a:off x="7814382" y="4005049"/>
            <a:ext cx="685800"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x</a:t>
            </a:r>
          </a:p>
        </p:txBody>
      </p:sp>
      <p:sp>
        <p:nvSpPr>
          <p:cNvPr id="107" name="Text Box 28"/>
          <p:cNvSpPr txBox="1">
            <a:spLocks noChangeAspect="1" noChangeArrowheads="1"/>
          </p:cNvSpPr>
          <p:nvPr/>
        </p:nvSpPr>
        <p:spPr bwMode="auto">
          <a:xfrm>
            <a:off x="9187570" y="2896974"/>
            <a:ext cx="52228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B</a:t>
            </a:r>
            <a:endParaRPr lang="en-US" altLang="zh-CN">
              <a:solidFill>
                <a:schemeClr val="tx1"/>
              </a:solidFill>
            </a:endParaRPr>
          </a:p>
        </p:txBody>
      </p:sp>
      <p:sp>
        <p:nvSpPr>
          <p:cNvPr id="108" name="Text Box 29"/>
          <p:cNvSpPr txBox="1">
            <a:spLocks noChangeAspect="1" noChangeArrowheads="1"/>
          </p:cNvSpPr>
          <p:nvPr/>
        </p:nvSpPr>
        <p:spPr bwMode="auto">
          <a:xfrm>
            <a:off x="10279770" y="2617574"/>
            <a:ext cx="52228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C</a:t>
            </a:r>
            <a:endParaRPr lang="en-US" altLang="zh-CN">
              <a:solidFill>
                <a:schemeClr val="tx1"/>
              </a:solidFill>
            </a:endParaRPr>
          </a:p>
        </p:txBody>
      </p:sp>
      <p:sp>
        <p:nvSpPr>
          <p:cNvPr id="109" name="Text Box 30"/>
          <p:cNvSpPr txBox="1">
            <a:spLocks noChangeAspect="1" noChangeArrowheads="1"/>
          </p:cNvSpPr>
          <p:nvPr/>
        </p:nvSpPr>
        <p:spPr bwMode="auto">
          <a:xfrm>
            <a:off x="10990970" y="2617574"/>
            <a:ext cx="52228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D</a:t>
            </a:r>
            <a:endParaRPr lang="en-US" altLang="zh-CN">
              <a:solidFill>
                <a:schemeClr val="tx1"/>
              </a:solidFill>
            </a:endParaRPr>
          </a:p>
        </p:txBody>
      </p:sp>
      <p:sp>
        <p:nvSpPr>
          <p:cNvPr id="110" name="Line 31"/>
          <p:cNvSpPr>
            <a:spLocks noChangeShapeType="1"/>
          </p:cNvSpPr>
          <p:nvPr/>
        </p:nvSpPr>
        <p:spPr bwMode="auto">
          <a:xfrm flipH="1">
            <a:off x="10751257" y="2079411"/>
            <a:ext cx="1025525" cy="993775"/>
          </a:xfrm>
          <a:prstGeom prst="line">
            <a:avLst/>
          </a:prstGeom>
          <a:noFill/>
          <a:ln w="952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1" name="Arc 32"/>
          <p:cNvSpPr>
            <a:spLocks/>
          </p:cNvSpPr>
          <p:nvPr/>
        </p:nvSpPr>
        <p:spPr bwMode="auto">
          <a:xfrm>
            <a:off x="11373557" y="2174661"/>
            <a:ext cx="88900" cy="2159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2" name="Line 33"/>
          <p:cNvSpPr>
            <a:spLocks noChangeShapeType="1"/>
          </p:cNvSpPr>
          <p:nvPr/>
        </p:nvSpPr>
        <p:spPr bwMode="auto">
          <a:xfrm>
            <a:off x="10471857" y="2631861"/>
            <a:ext cx="1117600" cy="0"/>
          </a:xfrm>
          <a:prstGeom prst="line">
            <a:avLst/>
          </a:prstGeom>
          <a:noFill/>
          <a:ln w="9525">
            <a:solidFill>
              <a:srgbClr val="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3" name="Line 34"/>
          <p:cNvSpPr>
            <a:spLocks noChangeShapeType="1"/>
          </p:cNvSpPr>
          <p:nvPr/>
        </p:nvSpPr>
        <p:spPr bwMode="auto">
          <a:xfrm>
            <a:off x="11564057" y="1526961"/>
            <a:ext cx="0" cy="774700"/>
          </a:xfrm>
          <a:prstGeom prst="line">
            <a:avLst/>
          </a:prstGeom>
          <a:noFill/>
          <a:ln w="9525">
            <a:solidFill>
              <a:srgbClr val="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14" name="Picture 35" descr="平面4"/>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9333620" y="242673"/>
            <a:ext cx="3810000" cy="3810001"/>
          </a:xfrm>
          <a:prstGeom prst="rect">
            <a:avLst/>
          </a:prstGeom>
          <a:noFill/>
          <a:extLst>
            <a:ext uri="{909E8E84-426E-40DD-AFC4-6F175D3DCCD1}">
              <a14:hiddenFill xmlns:a14="http://schemas.microsoft.com/office/drawing/2010/main">
                <a:solidFill>
                  <a:srgbClr val="FFFFFF"/>
                </a:solidFill>
              </a14:hiddenFill>
            </a:ext>
          </a:extLst>
        </p:spPr>
      </p:pic>
      <p:sp>
        <p:nvSpPr>
          <p:cNvPr id="115" name="Text Box 36"/>
          <p:cNvSpPr txBox="1">
            <a:spLocks noChangeAspect="1" noChangeArrowheads="1"/>
          </p:cNvSpPr>
          <p:nvPr/>
        </p:nvSpPr>
        <p:spPr bwMode="auto">
          <a:xfrm>
            <a:off x="9354257" y="6002124"/>
            <a:ext cx="474663"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x</a:t>
            </a:r>
          </a:p>
        </p:txBody>
      </p:sp>
      <p:sp>
        <p:nvSpPr>
          <p:cNvPr id="116" name="Text Box 37"/>
          <p:cNvSpPr txBox="1">
            <a:spLocks noChangeAspect="1" noChangeArrowheads="1"/>
          </p:cNvSpPr>
          <p:nvPr/>
        </p:nvSpPr>
        <p:spPr bwMode="auto">
          <a:xfrm>
            <a:off x="10625845" y="4824199"/>
            <a:ext cx="6858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b="1" i="1">
                <a:solidFill>
                  <a:srgbClr val="FF0000"/>
                </a:solidFill>
                <a:ea typeface="宋体" panose="02010600030101010101" pitchFamily="2" charset="-122"/>
              </a:rPr>
              <a:t>F</a:t>
            </a:r>
            <a:endParaRPr lang="en-US" altLang="zh-CN" sz="3200">
              <a:solidFill>
                <a:srgbClr val="FF0000"/>
              </a:solidFill>
            </a:endParaRPr>
          </a:p>
        </p:txBody>
      </p:sp>
      <p:sp>
        <p:nvSpPr>
          <p:cNvPr id="117" name="Text Box 38"/>
          <p:cNvSpPr txBox="1">
            <a:spLocks noChangeAspect="1" noChangeArrowheads="1"/>
          </p:cNvSpPr>
          <p:nvPr/>
        </p:nvSpPr>
        <p:spPr bwMode="auto">
          <a:xfrm>
            <a:off x="11395782" y="4144749"/>
            <a:ext cx="488950"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3200" i="1">
                <a:solidFill>
                  <a:srgbClr val="FF00FF"/>
                </a:solidFill>
                <a:ea typeface="宋体" panose="02010600030101010101" pitchFamily="2" charset="-122"/>
              </a:rPr>
              <a:t>z</a:t>
            </a:r>
          </a:p>
        </p:txBody>
      </p:sp>
      <p:sp>
        <p:nvSpPr>
          <p:cNvPr id="118" name="Line 39"/>
          <p:cNvSpPr>
            <a:spLocks noChangeShapeType="1"/>
          </p:cNvSpPr>
          <p:nvPr/>
        </p:nvSpPr>
        <p:spPr bwMode="auto">
          <a:xfrm flipH="1">
            <a:off x="9317745" y="6160874"/>
            <a:ext cx="2073275"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9" name="Line 40"/>
          <p:cNvSpPr>
            <a:spLocks noChangeShapeType="1"/>
          </p:cNvSpPr>
          <p:nvPr/>
        </p:nvSpPr>
        <p:spPr bwMode="auto">
          <a:xfrm flipV="1">
            <a:off x="11378320" y="4386049"/>
            <a:ext cx="0" cy="1890712"/>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0" name="Text Box 41"/>
          <p:cNvSpPr txBox="1">
            <a:spLocks noChangeAspect="1" noChangeArrowheads="1"/>
          </p:cNvSpPr>
          <p:nvPr/>
        </p:nvSpPr>
        <p:spPr bwMode="auto">
          <a:xfrm>
            <a:off x="10276595" y="5694149"/>
            <a:ext cx="685800" cy="77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sym typeface="Symbol" panose="05050102010706020507" pitchFamily="18" charset="2"/>
              </a:rPr>
              <a:t></a:t>
            </a:r>
          </a:p>
        </p:txBody>
      </p:sp>
      <p:sp>
        <p:nvSpPr>
          <p:cNvPr id="121" name="Arc 42"/>
          <p:cNvSpPr>
            <a:spLocks/>
          </p:cNvSpPr>
          <p:nvPr/>
        </p:nvSpPr>
        <p:spPr bwMode="auto">
          <a:xfrm>
            <a:off x="9974176" y="5897349"/>
            <a:ext cx="88900" cy="2587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8" name="Text Box 21"/>
          <p:cNvSpPr txBox="1">
            <a:spLocks noChangeArrowheads="1"/>
          </p:cNvSpPr>
          <p:nvPr/>
        </p:nvSpPr>
        <p:spPr bwMode="auto">
          <a:xfrm>
            <a:off x="578792" y="3003877"/>
            <a:ext cx="6168791" cy="2921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x</a:t>
            </a:r>
            <a:r>
              <a:rPr kumimoji="1" lang="en-US" altLang="zh-CN" b="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i="0" dirty="0" err="1">
                <a:solidFill>
                  <a:schemeClr val="tx1"/>
                </a:solidFill>
                <a:ea typeface="黑体" panose="02010609060101010101" pitchFamily="49" charset="-122"/>
              </a:rPr>
              <a:t>cos</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dirty="0">
                <a:solidFill>
                  <a:schemeClr val="tx1"/>
                </a:solidFill>
                <a:ea typeface="黑体" panose="02010609060101010101" pitchFamily="49" charset="-122"/>
              </a:rPr>
              <a:t> </a:t>
            </a:r>
            <a:r>
              <a:rPr kumimoji="1" lang="zh-CN" altLang="en-US"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z</a:t>
            </a:r>
            <a:r>
              <a:rPr kumimoji="1" lang="en-US" altLang="zh-CN" b="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i="0" dirty="0" err="1">
                <a:solidFill>
                  <a:schemeClr val="tx1"/>
                </a:solidFill>
                <a:ea typeface="黑体" panose="02010609060101010101" pitchFamily="49" charset="-122"/>
              </a:rPr>
              <a:t>sin</a:t>
            </a:r>
            <a:r>
              <a:rPr kumimoji="1" lang="en-US" altLang="zh-CN" b="0" dirty="0">
                <a:solidFill>
                  <a:schemeClr val="tx1"/>
                </a:solidFill>
                <a:ea typeface="黑体" panose="02010609060101010101" pitchFamily="49" charset="-122"/>
                <a:sym typeface="Symbol" panose="05050102010706020507" pitchFamily="18" charset="2"/>
              </a:rPr>
              <a:t></a:t>
            </a:r>
            <a:endParaRPr kumimoji="1" lang="zh-CN" altLang="en-US" b="0" i="0" dirty="0">
              <a:solidFill>
                <a:schemeClr val="tx1"/>
              </a:solidFill>
              <a:ea typeface="黑体" panose="02010609060101010101" pitchFamily="49" charset="-122"/>
            </a:endParaRPr>
          </a:p>
          <a:p>
            <a:pPr>
              <a:lnSpc>
                <a:spcPct val="130000"/>
              </a:lnSpc>
            </a:pP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CD</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100Nsin60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0.35m</a:t>
            </a:r>
          </a:p>
          <a:p>
            <a:pPr>
              <a:lnSpc>
                <a:spcPct val="130000"/>
              </a:lnSpc>
            </a:pPr>
            <a:r>
              <a:rPr kumimoji="1" lang="en-US" altLang="zh-CN" b="0" i="0" dirty="0">
                <a:solidFill>
                  <a:schemeClr val="tx1"/>
                </a:solidFill>
                <a:ea typeface="黑体" panose="02010609060101010101" pitchFamily="49" charset="-122"/>
              </a:rPr>
              <a:t>         =</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30.31N·m</a:t>
            </a:r>
            <a:endParaRPr kumimoji="1" lang="en-US" altLang="zh-CN" b="0" dirty="0">
              <a:solidFill>
                <a:schemeClr val="tx1"/>
              </a:solidFill>
              <a:ea typeface="黑体" panose="02010609060101010101" pitchFamily="49" charset="-122"/>
            </a:endParaRPr>
          </a:p>
          <a:p>
            <a:pPr>
              <a:lnSpc>
                <a:spcPct val="130000"/>
              </a:lnSpc>
            </a:pP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z</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BC</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100Nsin60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0.4m=</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34.64N·m</a:t>
            </a:r>
            <a:endParaRPr kumimoji="1" lang="en-US" altLang="zh-CN" b="0" dirty="0">
              <a:solidFill>
                <a:schemeClr val="tx1"/>
              </a:solidFill>
              <a:ea typeface="黑体" panose="02010609060101010101" pitchFamily="49" charset="-122"/>
            </a:endParaRPr>
          </a:p>
          <a:p>
            <a:pPr>
              <a:lnSpc>
                <a:spcPct val="130000"/>
              </a:lnSpc>
            </a:pPr>
            <a:r>
              <a:rPr kumimoji="1" lang="en-US" altLang="zh-CN" b="0" dirty="0" err="1">
                <a:solidFill>
                  <a:schemeClr val="tx1"/>
                </a:solidFill>
                <a:ea typeface="黑体" panose="02010609060101010101" pitchFamily="49" charset="-122"/>
              </a:rPr>
              <a:t>M</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CD</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100Ncos60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0.35m</a:t>
            </a:r>
          </a:p>
          <a:p>
            <a:pPr>
              <a:lnSpc>
                <a:spcPct val="130000"/>
              </a:lnSpc>
            </a:pPr>
            <a:r>
              <a:rPr kumimoji="1" lang="en-US" altLang="zh-CN" b="0" i="0" dirty="0">
                <a:solidFill>
                  <a:schemeClr val="tx1"/>
                </a:solidFill>
                <a:ea typeface="黑体" panose="02010609060101010101" pitchFamily="49" charset="-122"/>
              </a:rPr>
              <a:t>         =</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17.50N·m </a:t>
            </a:r>
          </a:p>
        </p:txBody>
      </p:sp>
    </p:spTree>
    <p:extLst>
      <p:ext uri="{BB962C8B-B14F-4D97-AF65-F5344CB8AC3E}">
        <p14:creationId xmlns:p14="http://schemas.microsoft.com/office/powerpoint/2010/main" val="27794752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0"/>
                                        <p:tgtEl>
                                          <p:spTgt spid="88"/>
                                        </p:tgtEl>
                                      </p:cBhvr>
                                    </p:animEffect>
                                  </p:childTnLst>
                                </p:cTn>
                              </p:par>
                              <p:par>
                                <p:cTn id="8" presetID="10" presetClass="entr" presetSubtype="0" fill="hold" nodeType="withEffect">
                                  <p:stCondLst>
                                    <p:cond delay="1000"/>
                                  </p:stCondLst>
                                  <p:childTnLst>
                                    <p:set>
                                      <p:cBhvr>
                                        <p:cTn id="9" dur="1" fill="hold">
                                          <p:stCondLst>
                                            <p:cond delay="0"/>
                                          </p:stCondLst>
                                        </p:cTn>
                                        <p:tgtEl>
                                          <p:spTgt spid="90"/>
                                        </p:tgtEl>
                                        <p:attrNameLst>
                                          <p:attrName>style.visibility</p:attrName>
                                        </p:attrNameLst>
                                      </p:cBhvr>
                                      <p:to>
                                        <p:strVal val="visible"/>
                                      </p:to>
                                    </p:set>
                                    <p:animEffect transition="in" filter="fade">
                                      <p:cBhvr>
                                        <p:cTn id="10" dur="5000"/>
                                        <p:tgtEl>
                                          <p:spTgt spid="90"/>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97"/>
                                        </p:tgtEl>
                                        <p:attrNameLst>
                                          <p:attrName>style.visibility</p:attrName>
                                        </p:attrNameLst>
                                      </p:cBhvr>
                                      <p:to>
                                        <p:strVal val="visible"/>
                                      </p:to>
                                    </p:set>
                                    <p:animEffect transition="in" filter="fade">
                                      <p:cBhvr>
                                        <p:cTn id="13" dur="5000"/>
                                        <p:tgtEl>
                                          <p:spTgt spid="97"/>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99"/>
                                        </p:tgtEl>
                                        <p:attrNameLst>
                                          <p:attrName>style.visibility</p:attrName>
                                        </p:attrNameLst>
                                      </p:cBhvr>
                                      <p:to>
                                        <p:strVal val="visible"/>
                                      </p:to>
                                    </p:set>
                                    <p:animEffect transition="in" filter="fade">
                                      <p:cBhvr>
                                        <p:cTn id="16" dur="5000"/>
                                        <p:tgtEl>
                                          <p:spTgt spid="99"/>
                                        </p:tgtEl>
                                      </p:cBhvr>
                                    </p:animEffect>
                                  </p:childTnLst>
                                </p:cTn>
                              </p:par>
                              <p:par>
                                <p:cTn id="17" presetID="10" presetClass="entr" presetSubtype="0" fill="hold" grpId="1" nodeType="withEffect">
                                  <p:stCondLst>
                                    <p:cond delay="1000"/>
                                  </p:stCondLst>
                                  <p:childTnLst>
                                    <p:set>
                                      <p:cBhvr>
                                        <p:cTn id="18" dur="1" fill="hold">
                                          <p:stCondLst>
                                            <p:cond delay="0"/>
                                          </p:stCondLst>
                                        </p:cTn>
                                        <p:tgtEl>
                                          <p:spTgt spid="100"/>
                                        </p:tgtEl>
                                        <p:attrNameLst>
                                          <p:attrName>style.visibility</p:attrName>
                                        </p:attrNameLst>
                                      </p:cBhvr>
                                      <p:to>
                                        <p:strVal val="visible"/>
                                      </p:to>
                                    </p:set>
                                    <p:animEffect transition="in" filter="fade">
                                      <p:cBhvr>
                                        <p:cTn id="19" dur="5000"/>
                                        <p:tgtEl>
                                          <p:spTgt spid="100"/>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01"/>
                                        </p:tgtEl>
                                        <p:attrNameLst>
                                          <p:attrName>style.visibility</p:attrName>
                                        </p:attrNameLst>
                                      </p:cBhvr>
                                      <p:to>
                                        <p:strVal val="visible"/>
                                      </p:to>
                                    </p:set>
                                    <p:animEffect transition="in" filter="fade">
                                      <p:cBhvr>
                                        <p:cTn id="22" dur="5000"/>
                                        <p:tgtEl>
                                          <p:spTgt spid="101"/>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98"/>
                                        </p:tgtEl>
                                        <p:attrNameLst>
                                          <p:attrName>style.visibility</p:attrName>
                                        </p:attrNameLst>
                                      </p:cBhvr>
                                      <p:to>
                                        <p:strVal val="visible"/>
                                      </p:to>
                                    </p:set>
                                    <p:animEffect transition="in" filter="fade">
                                      <p:cBhvr>
                                        <p:cTn id="25" dur="5000"/>
                                        <p:tgtEl>
                                          <p:spTgt spid="98"/>
                                        </p:tgtEl>
                                      </p:cBhvr>
                                    </p:animEffect>
                                  </p:childTnLst>
                                </p:cTn>
                              </p:par>
                              <p:par>
                                <p:cTn id="26" presetID="10" presetClass="entr" presetSubtype="0" fill="hold" grpId="0" nodeType="withEffect">
                                  <p:stCondLst>
                                    <p:cond delay="1000"/>
                                  </p:stCondLst>
                                  <p:childTnLst>
                                    <p:set>
                                      <p:cBhvr>
                                        <p:cTn id="27" dur="1" fill="hold">
                                          <p:stCondLst>
                                            <p:cond delay="0"/>
                                          </p:stCondLst>
                                        </p:cTn>
                                        <p:tgtEl>
                                          <p:spTgt spid="103"/>
                                        </p:tgtEl>
                                        <p:attrNameLst>
                                          <p:attrName>style.visibility</p:attrName>
                                        </p:attrNameLst>
                                      </p:cBhvr>
                                      <p:to>
                                        <p:strVal val="visible"/>
                                      </p:to>
                                    </p:set>
                                    <p:animEffect transition="in" filter="fade">
                                      <p:cBhvr>
                                        <p:cTn id="28" dur="5000"/>
                                        <p:tgtEl>
                                          <p:spTgt spid="103"/>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5000"/>
                                        <p:tgtEl>
                                          <p:spTgt spid="104"/>
                                        </p:tgtEl>
                                      </p:cBhvr>
                                    </p:animEffect>
                                  </p:childTnLst>
                                </p:cTn>
                              </p:par>
                              <p:par>
                                <p:cTn id="32" presetID="10" presetClass="entr" presetSubtype="0" fill="hold" grpId="0" nodeType="withEffect">
                                  <p:stCondLst>
                                    <p:cond delay="1000"/>
                                  </p:stCondLst>
                                  <p:childTnLst>
                                    <p:set>
                                      <p:cBhvr>
                                        <p:cTn id="33" dur="1" fill="hold">
                                          <p:stCondLst>
                                            <p:cond delay="0"/>
                                          </p:stCondLst>
                                        </p:cTn>
                                        <p:tgtEl>
                                          <p:spTgt spid="105"/>
                                        </p:tgtEl>
                                        <p:attrNameLst>
                                          <p:attrName>style.visibility</p:attrName>
                                        </p:attrNameLst>
                                      </p:cBhvr>
                                      <p:to>
                                        <p:strVal val="visible"/>
                                      </p:to>
                                    </p:set>
                                    <p:animEffect transition="in" filter="fade">
                                      <p:cBhvr>
                                        <p:cTn id="34" dur="5000"/>
                                        <p:tgtEl>
                                          <p:spTgt spid="105"/>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0"/>
                                        <p:tgtEl>
                                          <p:spTgt spid="107"/>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08"/>
                                        </p:tgtEl>
                                        <p:attrNameLst>
                                          <p:attrName>style.visibility</p:attrName>
                                        </p:attrNameLst>
                                      </p:cBhvr>
                                      <p:to>
                                        <p:strVal val="visible"/>
                                      </p:to>
                                    </p:set>
                                    <p:animEffect transition="in" filter="fade">
                                      <p:cBhvr>
                                        <p:cTn id="40" dur="5000"/>
                                        <p:tgtEl>
                                          <p:spTgt spid="108"/>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0"/>
                                        <p:tgtEl>
                                          <p:spTgt spid="109"/>
                                        </p:tgtEl>
                                      </p:cBhvr>
                                    </p:animEffect>
                                  </p:childTnLst>
                                </p:cTn>
                              </p:par>
                              <p:par>
                                <p:cTn id="44" presetID="10" presetClass="entr" presetSubtype="0" fill="hold" grpId="0" nodeType="withEffect">
                                  <p:stCondLst>
                                    <p:cond delay="1000"/>
                                  </p:stCondLst>
                                  <p:childTnLst>
                                    <p:set>
                                      <p:cBhvr>
                                        <p:cTn id="45" dur="1" fill="hold">
                                          <p:stCondLst>
                                            <p:cond delay="0"/>
                                          </p:stCondLst>
                                        </p:cTn>
                                        <p:tgtEl>
                                          <p:spTgt spid="110"/>
                                        </p:tgtEl>
                                        <p:attrNameLst>
                                          <p:attrName>style.visibility</p:attrName>
                                        </p:attrNameLst>
                                      </p:cBhvr>
                                      <p:to>
                                        <p:strVal val="visible"/>
                                      </p:to>
                                    </p:set>
                                    <p:animEffect transition="in" filter="fade">
                                      <p:cBhvr>
                                        <p:cTn id="46" dur="5000"/>
                                        <p:tgtEl>
                                          <p:spTgt spid="110"/>
                                        </p:tgtEl>
                                      </p:cBhvr>
                                    </p:animEffect>
                                  </p:childTnLst>
                                </p:cTn>
                              </p:par>
                              <p:par>
                                <p:cTn id="47" presetID="10" presetClass="entr" presetSubtype="0" fill="hold" grpId="0" nodeType="withEffect">
                                  <p:stCondLst>
                                    <p:cond delay="1000"/>
                                  </p:stCondLst>
                                  <p:childTnLst>
                                    <p:set>
                                      <p:cBhvr>
                                        <p:cTn id="48" dur="1" fill="hold">
                                          <p:stCondLst>
                                            <p:cond delay="0"/>
                                          </p:stCondLst>
                                        </p:cTn>
                                        <p:tgtEl>
                                          <p:spTgt spid="111"/>
                                        </p:tgtEl>
                                        <p:attrNameLst>
                                          <p:attrName>style.visibility</p:attrName>
                                        </p:attrNameLst>
                                      </p:cBhvr>
                                      <p:to>
                                        <p:strVal val="visible"/>
                                      </p:to>
                                    </p:set>
                                    <p:animEffect transition="in" filter="fade">
                                      <p:cBhvr>
                                        <p:cTn id="49" dur="5000"/>
                                        <p:tgtEl>
                                          <p:spTgt spid="111"/>
                                        </p:tgtEl>
                                      </p:cBhvr>
                                    </p:animEffect>
                                  </p:childTnLst>
                                </p:cTn>
                              </p:par>
                              <p:par>
                                <p:cTn id="50" presetID="10" presetClass="entr" presetSubtype="0" fill="hold" grpId="0" nodeType="withEffect">
                                  <p:stCondLst>
                                    <p:cond delay="1000"/>
                                  </p:stCondLst>
                                  <p:childTnLst>
                                    <p:set>
                                      <p:cBhvr>
                                        <p:cTn id="51" dur="1" fill="hold">
                                          <p:stCondLst>
                                            <p:cond delay="0"/>
                                          </p:stCondLst>
                                        </p:cTn>
                                        <p:tgtEl>
                                          <p:spTgt spid="112"/>
                                        </p:tgtEl>
                                        <p:attrNameLst>
                                          <p:attrName>style.visibility</p:attrName>
                                        </p:attrNameLst>
                                      </p:cBhvr>
                                      <p:to>
                                        <p:strVal val="visible"/>
                                      </p:to>
                                    </p:set>
                                    <p:animEffect transition="in" filter="fade">
                                      <p:cBhvr>
                                        <p:cTn id="52" dur="5000"/>
                                        <p:tgtEl>
                                          <p:spTgt spid="112"/>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113"/>
                                        </p:tgtEl>
                                        <p:attrNameLst>
                                          <p:attrName>style.visibility</p:attrName>
                                        </p:attrNameLst>
                                      </p:cBhvr>
                                      <p:to>
                                        <p:strVal val="visible"/>
                                      </p:to>
                                    </p:set>
                                    <p:animEffect transition="in" filter="fade">
                                      <p:cBhvr>
                                        <p:cTn id="55" dur="5000"/>
                                        <p:tgtEl>
                                          <p:spTgt spid="113"/>
                                        </p:tgtEl>
                                      </p:cBhvr>
                                    </p:animEffect>
                                  </p:childTnLst>
                                </p:cTn>
                              </p:par>
                              <p:par>
                                <p:cTn id="56" presetID="10" presetClass="entr" presetSubtype="0" fill="hold" grpId="0" nodeType="withEffect">
                                  <p:stCondLst>
                                    <p:cond delay="1000"/>
                                  </p:stCondLst>
                                  <p:childTnLst>
                                    <p:set>
                                      <p:cBhvr>
                                        <p:cTn id="57" dur="1" fill="hold">
                                          <p:stCondLst>
                                            <p:cond delay="0"/>
                                          </p:stCondLst>
                                        </p:cTn>
                                        <p:tgtEl>
                                          <p:spTgt spid="100"/>
                                        </p:tgtEl>
                                        <p:attrNameLst>
                                          <p:attrName>style.visibility</p:attrName>
                                        </p:attrNameLst>
                                      </p:cBhvr>
                                      <p:to>
                                        <p:strVal val="visible"/>
                                      </p:to>
                                    </p:set>
                                    <p:animEffect transition="in" filter="fade">
                                      <p:cBhvr>
                                        <p:cTn id="58" dur="5000"/>
                                        <p:tgtEl>
                                          <p:spTgt spid="100"/>
                                        </p:tgtEl>
                                      </p:cBhvr>
                                    </p:animEffect>
                                  </p:childTnLst>
                                </p:cTn>
                              </p:par>
                              <p:par>
                                <p:cTn id="59" presetID="10" presetClass="entr" presetSubtype="0" fill="hold" grpId="1" nodeType="withEffect">
                                  <p:stCondLst>
                                    <p:cond delay="1000"/>
                                  </p:stCondLst>
                                  <p:childTnLst>
                                    <p:set>
                                      <p:cBhvr>
                                        <p:cTn id="60" dur="1" fill="hold">
                                          <p:stCondLst>
                                            <p:cond delay="0"/>
                                          </p:stCondLst>
                                        </p:cTn>
                                        <p:tgtEl>
                                          <p:spTgt spid="101"/>
                                        </p:tgtEl>
                                        <p:attrNameLst>
                                          <p:attrName>style.visibility</p:attrName>
                                        </p:attrNameLst>
                                      </p:cBhvr>
                                      <p:to>
                                        <p:strVal val="visible"/>
                                      </p:to>
                                    </p:set>
                                    <p:animEffect transition="in" filter="fade">
                                      <p:cBhvr>
                                        <p:cTn id="61" dur="5000"/>
                                        <p:tgtEl>
                                          <p:spTgt spid="101"/>
                                        </p:tgtEl>
                                      </p:cBhvr>
                                    </p:animEffect>
                                  </p:childTnLst>
                                </p:cTn>
                              </p:par>
                              <p:par>
                                <p:cTn id="62" presetID="10" presetClass="entr" presetSubtype="0" fill="hold" grpId="0" nodeType="withEffect">
                                  <p:stCondLst>
                                    <p:cond delay="1000"/>
                                  </p:stCondLst>
                                  <p:childTnLst>
                                    <p:set>
                                      <p:cBhvr>
                                        <p:cTn id="63" dur="1" fill="hold">
                                          <p:stCondLst>
                                            <p:cond delay="0"/>
                                          </p:stCondLst>
                                        </p:cTn>
                                        <p:tgtEl>
                                          <p:spTgt spid="106"/>
                                        </p:tgtEl>
                                        <p:attrNameLst>
                                          <p:attrName>style.visibility</p:attrName>
                                        </p:attrNameLst>
                                      </p:cBhvr>
                                      <p:to>
                                        <p:strVal val="visible"/>
                                      </p:to>
                                    </p:set>
                                    <p:animEffect transition="in" filter="fade">
                                      <p:cBhvr>
                                        <p:cTn id="64" dur="3000"/>
                                        <p:tgtEl>
                                          <p:spTgt spid="106"/>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102"/>
                                        </p:tgtEl>
                                        <p:attrNameLst>
                                          <p:attrName>style.visibility</p:attrName>
                                        </p:attrNameLst>
                                      </p:cBhvr>
                                      <p:to>
                                        <p:strVal val="visible"/>
                                      </p:to>
                                    </p:set>
                                    <p:animEffect transition="in" filter="fade">
                                      <p:cBhvr>
                                        <p:cTn id="67" dur="3000"/>
                                        <p:tgtEl>
                                          <p:spTgt spid="102"/>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89"/>
                                        </p:tgtEl>
                                        <p:attrNameLst>
                                          <p:attrName>style.visibility</p:attrName>
                                        </p:attrNameLst>
                                      </p:cBhvr>
                                      <p:to>
                                        <p:strVal val="visible"/>
                                      </p:to>
                                    </p:set>
                                  </p:childTnLst>
                                </p:cTn>
                              </p:par>
                              <p:par>
                                <p:cTn id="72" presetID="35" presetClass="emph" presetSubtype="0" repeatCount="3000" fill="hold" grpId="1" nodeType="withEffect">
                                  <p:stCondLst>
                                    <p:cond delay="0"/>
                                  </p:stCondLst>
                                  <p:childTnLst>
                                    <p:anim calcmode="discrete" valueType="str">
                                      <p:cBhvr>
                                        <p:cTn id="73" dur="1000" fill="hold"/>
                                        <p:tgtEl>
                                          <p:spTgt spid="89"/>
                                        </p:tgtEl>
                                        <p:attrNameLst>
                                          <p:attrName>style.visibility</p:attrName>
                                        </p:attrNameLst>
                                      </p:cBhvr>
                                      <p:tavLst>
                                        <p:tav tm="0">
                                          <p:val>
                                            <p:strVal val="hidden"/>
                                          </p:val>
                                        </p:tav>
                                        <p:tav tm="50000">
                                          <p:val>
                                            <p:strVal val="visible"/>
                                          </p:val>
                                        </p:tav>
                                      </p:tavLst>
                                    </p:anim>
                                  </p:childTnLst>
                                </p:cTn>
                              </p:par>
                            </p:childTnLst>
                          </p:cTn>
                        </p:par>
                        <p:par>
                          <p:cTn id="74" fill="hold">
                            <p:stCondLst>
                              <p:cond delay="3000"/>
                            </p:stCondLst>
                            <p:childTnLst>
                              <p:par>
                                <p:cTn id="75" presetID="0" presetClass="path" presetSubtype="0" accel="50000" decel="50000" autoRev="1" fill="hold" grpId="2" nodeType="afterEffect">
                                  <p:stCondLst>
                                    <p:cond delay="0"/>
                                  </p:stCondLst>
                                  <p:childTnLst>
                                    <p:animMotion origin="layout" path="M -2.29167E-6 -2.96296E-6 L -0.27982 0.11898 " pathEditMode="relative" rAng="0" ptsTypes="AA">
                                      <p:cBhvr>
                                        <p:cTn id="76" dur="7000" fill="hold"/>
                                        <p:tgtEl>
                                          <p:spTgt spid="100"/>
                                        </p:tgtEl>
                                        <p:attrNameLst>
                                          <p:attrName>ppt_x</p:attrName>
                                          <p:attrName>ppt_y</p:attrName>
                                        </p:attrNameLst>
                                      </p:cBhvr>
                                      <p:rCtr x="-13997" y="5949"/>
                                    </p:animMotion>
                                  </p:childTnLst>
                                </p:cTn>
                              </p:par>
                              <p:par>
                                <p:cTn id="77" presetID="0" presetClass="path" presetSubtype="0" accel="50000" decel="50000" autoRev="1" fill="hold" grpId="2" nodeType="withEffect">
                                  <p:stCondLst>
                                    <p:cond delay="0"/>
                                  </p:stCondLst>
                                  <p:childTnLst>
                                    <p:animMotion origin="layout" path="M 5E-6 2.96296E-6 L -0.27982 0.11898 " pathEditMode="relative" rAng="0" ptsTypes="AA">
                                      <p:cBhvr>
                                        <p:cTn id="78" dur="7000" fill="hold"/>
                                        <p:tgtEl>
                                          <p:spTgt spid="101"/>
                                        </p:tgtEl>
                                        <p:attrNameLst>
                                          <p:attrName>ppt_x</p:attrName>
                                          <p:attrName>ppt_y</p:attrName>
                                        </p:attrNameLst>
                                      </p:cBhvr>
                                      <p:rCtr x="-13997" y="5949"/>
                                    </p:animMotion>
                                  </p:childTnLst>
                                </p:cTn>
                              </p:par>
                              <p:par>
                                <p:cTn id="79" presetID="0" presetClass="path" presetSubtype="0" accel="50000" decel="50000" autoRev="1" fill="hold" grpId="1" nodeType="withEffect">
                                  <p:stCondLst>
                                    <p:cond delay="0"/>
                                  </p:stCondLst>
                                  <p:childTnLst>
                                    <p:animMotion origin="layout" path="M 1.66667E-6 -3.7037E-7 L -0.27982 0.11898 " pathEditMode="relative" rAng="0" ptsTypes="AA">
                                      <p:cBhvr>
                                        <p:cTn id="80" dur="7000" fill="hold"/>
                                        <p:tgtEl>
                                          <p:spTgt spid="111"/>
                                        </p:tgtEl>
                                        <p:attrNameLst>
                                          <p:attrName>ppt_x</p:attrName>
                                          <p:attrName>ppt_y</p:attrName>
                                        </p:attrNameLst>
                                      </p:cBhvr>
                                      <p:rCtr x="-13997" y="5949"/>
                                    </p:animMotion>
                                  </p:childTnLst>
                                </p:cTn>
                              </p:par>
                              <p:par>
                                <p:cTn id="81" presetID="0" presetClass="path" presetSubtype="0" accel="50000" decel="50000" autoRev="1" fill="hold" grpId="1" nodeType="withEffect">
                                  <p:stCondLst>
                                    <p:cond delay="0"/>
                                  </p:stCondLst>
                                  <p:childTnLst>
                                    <p:animMotion origin="layout" path="M 2.5E-6 3.33333E-6 L -0.27982 0.11898 " pathEditMode="relative" rAng="0" ptsTypes="AA">
                                      <p:cBhvr>
                                        <p:cTn id="82" dur="7000" fill="hold"/>
                                        <p:tgtEl>
                                          <p:spTgt spid="113"/>
                                        </p:tgtEl>
                                        <p:attrNameLst>
                                          <p:attrName>ppt_x</p:attrName>
                                          <p:attrName>ppt_y</p:attrName>
                                        </p:attrNameLst>
                                      </p:cBhvr>
                                      <p:rCtr x="-13997" y="5949"/>
                                    </p:animMotion>
                                  </p:childTnLst>
                                </p:cTn>
                              </p:par>
                              <p:par>
                                <p:cTn id="83" presetID="0" presetClass="path" presetSubtype="0" accel="50000" decel="50000" autoRev="1" fill="hold" grpId="1" nodeType="withEffect">
                                  <p:stCondLst>
                                    <p:cond delay="0"/>
                                  </p:stCondLst>
                                  <p:childTnLst>
                                    <p:animMotion origin="layout" path="M 1.875E-6 -4.44444E-6 L -0.27982 0.11899 " pathEditMode="relative" rAng="0" ptsTypes="AA">
                                      <p:cBhvr>
                                        <p:cTn id="84" dur="7000" fill="hold"/>
                                        <p:tgtEl>
                                          <p:spTgt spid="110"/>
                                        </p:tgtEl>
                                        <p:attrNameLst>
                                          <p:attrName>ppt_x</p:attrName>
                                          <p:attrName>ppt_y</p:attrName>
                                        </p:attrNameLst>
                                      </p:cBhvr>
                                      <p:rCtr x="-13997" y="5949"/>
                                    </p:animMotion>
                                  </p:childTnLst>
                                </p:cTn>
                              </p:par>
                              <p:par>
                                <p:cTn id="85" presetID="0" presetClass="path" presetSubtype="0" accel="50000" decel="50000" autoRev="1" fill="hold" grpId="1" nodeType="withEffect">
                                  <p:stCondLst>
                                    <p:cond delay="0"/>
                                  </p:stCondLst>
                                  <p:childTnLst>
                                    <p:animMotion origin="layout" path="M 8.33333E-7 -4.81481E-6 L -0.27982 0.11899 " pathEditMode="relative" rAng="0" ptsTypes="AA">
                                      <p:cBhvr>
                                        <p:cTn id="86" dur="7000" fill="hold"/>
                                        <p:tgtEl>
                                          <p:spTgt spid="97"/>
                                        </p:tgtEl>
                                        <p:attrNameLst>
                                          <p:attrName>ppt_x</p:attrName>
                                          <p:attrName>ppt_y</p:attrName>
                                        </p:attrNameLst>
                                      </p:cBhvr>
                                      <p:rCtr x="-13997" y="5949"/>
                                    </p:animMotion>
                                  </p:childTnLst>
                                </p:cTn>
                              </p:par>
                              <p:par>
                                <p:cTn id="87" presetID="0" presetClass="path" presetSubtype="0" accel="50000" decel="50000" autoRev="1" fill="hold" grpId="2" nodeType="withEffect">
                                  <p:stCondLst>
                                    <p:cond delay="0"/>
                                  </p:stCondLst>
                                  <p:childTnLst>
                                    <p:animMotion origin="layout" path="M -4.16667E-6 -1.48148E-6 L -0.27981 0.11898 " pathEditMode="relative" rAng="0" ptsTypes="AA">
                                      <p:cBhvr>
                                        <p:cTn id="88" dur="7000" fill="hold"/>
                                        <p:tgtEl>
                                          <p:spTgt spid="89"/>
                                        </p:tgtEl>
                                        <p:attrNameLst>
                                          <p:attrName>ppt_x</p:attrName>
                                          <p:attrName>ppt_y</p:attrName>
                                        </p:attrNameLst>
                                      </p:cBhvr>
                                      <p:rCtr x="-13997" y="5949"/>
                                    </p:animMotion>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14"/>
                                        </p:tgtEl>
                                        <p:attrNameLst>
                                          <p:attrName>style.visibility</p:attrName>
                                        </p:attrNameLst>
                                      </p:cBhvr>
                                      <p:to>
                                        <p:strVal val="visible"/>
                                      </p:to>
                                    </p:set>
                                  </p:childTnLst>
                                </p:cTn>
                              </p:par>
                              <p:par>
                                <p:cTn id="93" presetID="0" presetClass="path" presetSubtype="0" accel="50000" decel="50000" fill="hold" nodeType="withEffect">
                                  <p:stCondLst>
                                    <p:cond delay="0"/>
                                  </p:stCondLst>
                                  <p:childTnLst>
                                    <p:animMotion origin="layout" path="M -4.79167E-6 -4.44444E-6 L -0.09101 0.52709 " pathEditMode="relative" rAng="0" ptsTypes="AA">
                                      <p:cBhvr>
                                        <p:cTn id="94" dur="9000" fill="hold"/>
                                        <p:tgtEl>
                                          <p:spTgt spid="114"/>
                                        </p:tgtEl>
                                        <p:attrNameLst>
                                          <p:attrName>ppt_x</p:attrName>
                                          <p:attrName>ppt_y</p:attrName>
                                        </p:attrNameLst>
                                      </p:cBhvr>
                                      <p:rCtr x="-4557" y="26343"/>
                                    </p:animMotion>
                                  </p:childTnLst>
                                </p:cTn>
                              </p:par>
                              <p:par>
                                <p:cTn id="95" presetID="9" presetClass="emph" presetSubtype="0" grpId="3" nodeType="withEffect">
                                  <p:stCondLst>
                                    <p:cond delay="0"/>
                                  </p:stCondLst>
                                  <p:childTnLst>
                                    <p:set>
                                      <p:cBhvr rctx="PPT">
                                        <p:cTn id="96" dur="indefinite"/>
                                        <p:tgtEl>
                                          <p:spTgt spid="89"/>
                                        </p:tgtEl>
                                        <p:attrNameLst>
                                          <p:attrName>style.opacity</p:attrName>
                                        </p:attrNameLst>
                                      </p:cBhvr>
                                      <p:to>
                                        <p:strVal val="0.25"/>
                                      </p:to>
                                    </p:set>
                                    <p:animEffect filter="image" prLst="opacity: 0.25">
                                      <p:cBhvr rctx="IE">
                                        <p:cTn id="97" dur="indefinite"/>
                                        <p:tgtEl>
                                          <p:spTgt spid="89"/>
                                        </p:tgtEl>
                                      </p:cBhvr>
                                    </p:animEffect>
                                  </p:childTnLst>
                                </p:cTn>
                              </p:par>
                            </p:childTnLst>
                          </p:cTn>
                        </p:par>
                        <p:par>
                          <p:cTn id="98" fill="hold">
                            <p:stCondLst>
                              <p:cond delay="9000"/>
                            </p:stCondLst>
                            <p:childTnLst>
                              <p:par>
                                <p:cTn id="99" presetID="19" presetClass="entr" presetSubtype="10" fill="hold" grpId="0" nodeType="afterEffect">
                                  <p:stCondLst>
                                    <p:cond delay="0"/>
                                  </p:stCondLst>
                                  <p:childTnLst>
                                    <p:set>
                                      <p:cBhvr>
                                        <p:cTn id="100" dur="1" fill="hold">
                                          <p:stCondLst>
                                            <p:cond delay="0"/>
                                          </p:stCondLst>
                                        </p:cTn>
                                        <p:tgtEl>
                                          <p:spTgt spid="115"/>
                                        </p:tgtEl>
                                        <p:attrNameLst>
                                          <p:attrName>style.visibility</p:attrName>
                                        </p:attrNameLst>
                                      </p:cBhvr>
                                      <p:to>
                                        <p:strVal val="visible"/>
                                      </p:to>
                                    </p:set>
                                    <p:anim calcmode="lin" valueType="num">
                                      <p:cBhvr>
                                        <p:cTn id="101" dur="5000" fill="hold"/>
                                        <p:tgtEl>
                                          <p:spTgt spid="115"/>
                                        </p:tgtEl>
                                        <p:attrNameLst>
                                          <p:attrName>ppt_w</p:attrName>
                                        </p:attrNameLst>
                                      </p:cBhvr>
                                      <p:tavLst>
                                        <p:tav tm="0" fmla="#ppt_w*sin(2.5*pi*$)">
                                          <p:val>
                                            <p:fltVal val="0"/>
                                          </p:val>
                                        </p:tav>
                                        <p:tav tm="100000">
                                          <p:val>
                                            <p:fltVal val="1"/>
                                          </p:val>
                                        </p:tav>
                                      </p:tavLst>
                                    </p:anim>
                                    <p:anim calcmode="lin" valueType="num">
                                      <p:cBhvr>
                                        <p:cTn id="102" dur="5000" fill="hold"/>
                                        <p:tgtEl>
                                          <p:spTgt spid="115"/>
                                        </p:tgtEl>
                                        <p:attrNameLst>
                                          <p:attrName>ppt_h</p:attrName>
                                        </p:attrNameLst>
                                      </p:cBhvr>
                                      <p:tavLst>
                                        <p:tav tm="0">
                                          <p:val>
                                            <p:strVal val="#ppt_h"/>
                                          </p:val>
                                        </p:tav>
                                        <p:tav tm="100000">
                                          <p:val>
                                            <p:strVal val="#ppt_h"/>
                                          </p:val>
                                        </p:tav>
                                      </p:tavLst>
                                    </p:anim>
                                  </p:childTnLst>
                                </p:cTn>
                              </p:par>
                              <p:par>
                                <p:cTn id="103" presetID="19" presetClass="entr" presetSubtype="10" fill="hold" grpId="0" nodeType="withEffect">
                                  <p:stCondLst>
                                    <p:cond delay="1000"/>
                                  </p:stCondLst>
                                  <p:childTnLst>
                                    <p:set>
                                      <p:cBhvr>
                                        <p:cTn id="104" dur="1" fill="hold">
                                          <p:stCondLst>
                                            <p:cond delay="0"/>
                                          </p:stCondLst>
                                        </p:cTn>
                                        <p:tgtEl>
                                          <p:spTgt spid="117"/>
                                        </p:tgtEl>
                                        <p:attrNameLst>
                                          <p:attrName>style.visibility</p:attrName>
                                        </p:attrNameLst>
                                      </p:cBhvr>
                                      <p:to>
                                        <p:strVal val="visible"/>
                                      </p:to>
                                    </p:set>
                                    <p:anim calcmode="lin" valueType="num">
                                      <p:cBhvr>
                                        <p:cTn id="105" dur="5000" fill="hold"/>
                                        <p:tgtEl>
                                          <p:spTgt spid="117"/>
                                        </p:tgtEl>
                                        <p:attrNameLst>
                                          <p:attrName>ppt_w</p:attrName>
                                        </p:attrNameLst>
                                      </p:cBhvr>
                                      <p:tavLst>
                                        <p:tav tm="0" fmla="#ppt_w*sin(2.5*pi*$)">
                                          <p:val>
                                            <p:fltVal val="0"/>
                                          </p:val>
                                        </p:tav>
                                        <p:tav tm="100000">
                                          <p:val>
                                            <p:fltVal val="1"/>
                                          </p:val>
                                        </p:tav>
                                      </p:tavLst>
                                    </p:anim>
                                    <p:anim calcmode="lin" valueType="num">
                                      <p:cBhvr>
                                        <p:cTn id="106" dur="5000" fill="hold"/>
                                        <p:tgtEl>
                                          <p:spTgt spid="117"/>
                                        </p:tgtEl>
                                        <p:attrNameLst>
                                          <p:attrName>ppt_h</p:attrName>
                                        </p:attrNameLst>
                                      </p:cBhvr>
                                      <p:tavLst>
                                        <p:tav tm="0">
                                          <p:val>
                                            <p:strVal val="#ppt_h"/>
                                          </p:val>
                                        </p:tav>
                                        <p:tav tm="100000">
                                          <p:val>
                                            <p:strVal val="#ppt_h"/>
                                          </p:val>
                                        </p:tav>
                                      </p:tavLst>
                                    </p:anim>
                                  </p:childTnLst>
                                </p:cTn>
                              </p:par>
                              <p:par>
                                <p:cTn id="107" presetID="17" presetClass="entr" presetSubtype="2" fill="hold" grpId="0" nodeType="withEffect">
                                  <p:stCondLst>
                                    <p:cond delay="1000"/>
                                  </p:stCondLst>
                                  <p:childTnLst>
                                    <p:set>
                                      <p:cBhvr>
                                        <p:cTn id="108" dur="1" fill="hold">
                                          <p:stCondLst>
                                            <p:cond delay="0"/>
                                          </p:stCondLst>
                                        </p:cTn>
                                        <p:tgtEl>
                                          <p:spTgt spid="118"/>
                                        </p:tgtEl>
                                        <p:attrNameLst>
                                          <p:attrName>style.visibility</p:attrName>
                                        </p:attrNameLst>
                                      </p:cBhvr>
                                      <p:to>
                                        <p:strVal val="visible"/>
                                      </p:to>
                                    </p:set>
                                    <p:anim calcmode="lin" valueType="num">
                                      <p:cBhvr>
                                        <p:cTn id="109" dur="5000" fill="hold"/>
                                        <p:tgtEl>
                                          <p:spTgt spid="118"/>
                                        </p:tgtEl>
                                        <p:attrNameLst>
                                          <p:attrName>ppt_x</p:attrName>
                                        </p:attrNameLst>
                                      </p:cBhvr>
                                      <p:tavLst>
                                        <p:tav tm="0">
                                          <p:val>
                                            <p:strVal val="#ppt_x+#ppt_w/2"/>
                                          </p:val>
                                        </p:tav>
                                        <p:tav tm="100000">
                                          <p:val>
                                            <p:strVal val="#ppt_x"/>
                                          </p:val>
                                        </p:tav>
                                      </p:tavLst>
                                    </p:anim>
                                    <p:anim calcmode="lin" valueType="num">
                                      <p:cBhvr>
                                        <p:cTn id="110" dur="5000" fill="hold"/>
                                        <p:tgtEl>
                                          <p:spTgt spid="118"/>
                                        </p:tgtEl>
                                        <p:attrNameLst>
                                          <p:attrName>ppt_y</p:attrName>
                                        </p:attrNameLst>
                                      </p:cBhvr>
                                      <p:tavLst>
                                        <p:tav tm="0">
                                          <p:val>
                                            <p:strVal val="#ppt_y"/>
                                          </p:val>
                                        </p:tav>
                                        <p:tav tm="100000">
                                          <p:val>
                                            <p:strVal val="#ppt_y"/>
                                          </p:val>
                                        </p:tav>
                                      </p:tavLst>
                                    </p:anim>
                                    <p:anim calcmode="lin" valueType="num">
                                      <p:cBhvr>
                                        <p:cTn id="111" dur="5000" fill="hold"/>
                                        <p:tgtEl>
                                          <p:spTgt spid="118"/>
                                        </p:tgtEl>
                                        <p:attrNameLst>
                                          <p:attrName>ppt_w</p:attrName>
                                        </p:attrNameLst>
                                      </p:cBhvr>
                                      <p:tavLst>
                                        <p:tav tm="0">
                                          <p:val>
                                            <p:fltVal val="0"/>
                                          </p:val>
                                        </p:tav>
                                        <p:tav tm="100000">
                                          <p:val>
                                            <p:strVal val="#ppt_w"/>
                                          </p:val>
                                        </p:tav>
                                      </p:tavLst>
                                    </p:anim>
                                    <p:anim calcmode="lin" valueType="num">
                                      <p:cBhvr>
                                        <p:cTn id="112" dur="5000" fill="hold"/>
                                        <p:tgtEl>
                                          <p:spTgt spid="118"/>
                                        </p:tgtEl>
                                        <p:attrNameLst>
                                          <p:attrName>ppt_h</p:attrName>
                                        </p:attrNameLst>
                                      </p:cBhvr>
                                      <p:tavLst>
                                        <p:tav tm="0">
                                          <p:val>
                                            <p:strVal val="#ppt_h"/>
                                          </p:val>
                                        </p:tav>
                                        <p:tav tm="100000">
                                          <p:val>
                                            <p:strVal val="#ppt_h"/>
                                          </p:val>
                                        </p:tav>
                                      </p:tavLst>
                                    </p:anim>
                                  </p:childTnLst>
                                </p:cTn>
                              </p:par>
                              <p:par>
                                <p:cTn id="113" presetID="17" presetClass="entr" presetSubtype="4" fill="hold" grpId="0" nodeType="withEffect">
                                  <p:stCondLst>
                                    <p:cond delay="1000"/>
                                  </p:stCondLst>
                                  <p:childTnLst>
                                    <p:set>
                                      <p:cBhvr>
                                        <p:cTn id="114" dur="1" fill="hold">
                                          <p:stCondLst>
                                            <p:cond delay="0"/>
                                          </p:stCondLst>
                                        </p:cTn>
                                        <p:tgtEl>
                                          <p:spTgt spid="119"/>
                                        </p:tgtEl>
                                        <p:attrNameLst>
                                          <p:attrName>style.visibility</p:attrName>
                                        </p:attrNameLst>
                                      </p:cBhvr>
                                      <p:to>
                                        <p:strVal val="visible"/>
                                      </p:to>
                                    </p:set>
                                    <p:anim calcmode="lin" valueType="num">
                                      <p:cBhvr>
                                        <p:cTn id="115" dur="5000" fill="hold"/>
                                        <p:tgtEl>
                                          <p:spTgt spid="119"/>
                                        </p:tgtEl>
                                        <p:attrNameLst>
                                          <p:attrName>ppt_x</p:attrName>
                                        </p:attrNameLst>
                                      </p:cBhvr>
                                      <p:tavLst>
                                        <p:tav tm="0">
                                          <p:val>
                                            <p:strVal val="#ppt_x"/>
                                          </p:val>
                                        </p:tav>
                                        <p:tav tm="100000">
                                          <p:val>
                                            <p:strVal val="#ppt_x"/>
                                          </p:val>
                                        </p:tav>
                                      </p:tavLst>
                                    </p:anim>
                                    <p:anim calcmode="lin" valueType="num">
                                      <p:cBhvr>
                                        <p:cTn id="116" dur="5000" fill="hold"/>
                                        <p:tgtEl>
                                          <p:spTgt spid="119"/>
                                        </p:tgtEl>
                                        <p:attrNameLst>
                                          <p:attrName>ppt_y</p:attrName>
                                        </p:attrNameLst>
                                      </p:cBhvr>
                                      <p:tavLst>
                                        <p:tav tm="0">
                                          <p:val>
                                            <p:strVal val="#ppt_y+#ppt_h/2"/>
                                          </p:val>
                                        </p:tav>
                                        <p:tav tm="100000">
                                          <p:val>
                                            <p:strVal val="#ppt_y"/>
                                          </p:val>
                                        </p:tav>
                                      </p:tavLst>
                                    </p:anim>
                                    <p:anim calcmode="lin" valueType="num">
                                      <p:cBhvr>
                                        <p:cTn id="117" dur="5000" fill="hold"/>
                                        <p:tgtEl>
                                          <p:spTgt spid="119"/>
                                        </p:tgtEl>
                                        <p:attrNameLst>
                                          <p:attrName>ppt_w</p:attrName>
                                        </p:attrNameLst>
                                      </p:cBhvr>
                                      <p:tavLst>
                                        <p:tav tm="0">
                                          <p:val>
                                            <p:strVal val="#ppt_w"/>
                                          </p:val>
                                        </p:tav>
                                        <p:tav tm="100000">
                                          <p:val>
                                            <p:strVal val="#ppt_w"/>
                                          </p:val>
                                        </p:tav>
                                      </p:tavLst>
                                    </p:anim>
                                    <p:anim calcmode="lin" valueType="num">
                                      <p:cBhvr>
                                        <p:cTn id="118" dur="5000" fill="hold"/>
                                        <p:tgtEl>
                                          <p:spTgt spid="119"/>
                                        </p:tgtEl>
                                        <p:attrNameLst>
                                          <p:attrName>ppt_h</p:attrName>
                                        </p:attrNameLst>
                                      </p:cBhvr>
                                      <p:tavLst>
                                        <p:tav tm="0">
                                          <p:val>
                                            <p:fltVal val="0"/>
                                          </p:val>
                                        </p:tav>
                                        <p:tav tm="100000">
                                          <p:val>
                                            <p:strVal val="#ppt_h"/>
                                          </p:val>
                                        </p:tav>
                                      </p:tavLst>
                                    </p:anim>
                                  </p:childTnLst>
                                </p:cTn>
                              </p:par>
                              <p:par>
                                <p:cTn id="119" presetID="19" presetClass="entr" presetSubtype="10" fill="hold" grpId="0" nodeType="withEffect">
                                  <p:stCondLst>
                                    <p:cond delay="1000"/>
                                  </p:stCondLst>
                                  <p:childTnLst>
                                    <p:set>
                                      <p:cBhvr>
                                        <p:cTn id="120" dur="1" fill="hold">
                                          <p:stCondLst>
                                            <p:cond delay="0"/>
                                          </p:stCondLst>
                                        </p:cTn>
                                        <p:tgtEl>
                                          <p:spTgt spid="116"/>
                                        </p:tgtEl>
                                        <p:attrNameLst>
                                          <p:attrName>style.visibility</p:attrName>
                                        </p:attrNameLst>
                                      </p:cBhvr>
                                      <p:to>
                                        <p:strVal val="visible"/>
                                      </p:to>
                                    </p:set>
                                    <p:anim calcmode="lin" valueType="num">
                                      <p:cBhvr>
                                        <p:cTn id="121" dur="5000" fill="hold"/>
                                        <p:tgtEl>
                                          <p:spTgt spid="116"/>
                                        </p:tgtEl>
                                        <p:attrNameLst>
                                          <p:attrName>ppt_w</p:attrName>
                                        </p:attrNameLst>
                                      </p:cBhvr>
                                      <p:tavLst>
                                        <p:tav tm="0" fmla="#ppt_w*sin(2.5*pi*$)">
                                          <p:val>
                                            <p:fltVal val="0"/>
                                          </p:val>
                                        </p:tav>
                                        <p:tav tm="100000">
                                          <p:val>
                                            <p:fltVal val="1"/>
                                          </p:val>
                                        </p:tav>
                                      </p:tavLst>
                                    </p:anim>
                                    <p:anim calcmode="lin" valueType="num">
                                      <p:cBhvr>
                                        <p:cTn id="122" dur="5000" fill="hold"/>
                                        <p:tgtEl>
                                          <p:spTgt spid="116"/>
                                        </p:tgtEl>
                                        <p:attrNameLst>
                                          <p:attrName>ppt_h</p:attrName>
                                        </p:attrNameLst>
                                      </p:cBhvr>
                                      <p:tavLst>
                                        <p:tav tm="0">
                                          <p:val>
                                            <p:strVal val="#ppt_h"/>
                                          </p:val>
                                        </p:tav>
                                        <p:tav tm="100000">
                                          <p:val>
                                            <p:strVal val="#ppt_h"/>
                                          </p:val>
                                        </p:tav>
                                      </p:tavLst>
                                    </p:anim>
                                  </p:childTnLst>
                                </p:cTn>
                              </p:par>
                              <p:par>
                                <p:cTn id="123" presetID="19" presetClass="entr" presetSubtype="10" fill="hold" grpId="0" nodeType="withEffect">
                                  <p:stCondLst>
                                    <p:cond delay="1000"/>
                                  </p:stCondLst>
                                  <p:childTnLst>
                                    <p:set>
                                      <p:cBhvr>
                                        <p:cTn id="124" dur="1" fill="hold">
                                          <p:stCondLst>
                                            <p:cond delay="0"/>
                                          </p:stCondLst>
                                        </p:cTn>
                                        <p:tgtEl>
                                          <p:spTgt spid="120"/>
                                        </p:tgtEl>
                                        <p:attrNameLst>
                                          <p:attrName>style.visibility</p:attrName>
                                        </p:attrNameLst>
                                      </p:cBhvr>
                                      <p:to>
                                        <p:strVal val="visible"/>
                                      </p:to>
                                    </p:set>
                                    <p:anim calcmode="lin" valueType="num">
                                      <p:cBhvr>
                                        <p:cTn id="125" dur="5000" fill="hold"/>
                                        <p:tgtEl>
                                          <p:spTgt spid="120"/>
                                        </p:tgtEl>
                                        <p:attrNameLst>
                                          <p:attrName>ppt_w</p:attrName>
                                        </p:attrNameLst>
                                      </p:cBhvr>
                                      <p:tavLst>
                                        <p:tav tm="0" fmla="#ppt_w*sin(2.5*pi*$)">
                                          <p:val>
                                            <p:fltVal val="0"/>
                                          </p:val>
                                        </p:tav>
                                        <p:tav tm="100000">
                                          <p:val>
                                            <p:fltVal val="1"/>
                                          </p:val>
                                        </p:tav>
                                      </p:tavLst>
                                    </p:anim>
                                    <p:anim calcmode="lin" valueType="num">
                                      <p:cBhvr>
                                        <p:cTn id="126" dur="5000" fill="hold"/>
                                        <p:tgtEl>
                                          <p:spTgt spid="120"/>
                                        </p:tgtEl>
                                        <p:attrNameLst>
                                          <p:attrName>ppt_h</p:attrName>
                                        </p:attrNameLst>
                                      </p:cBhvr>
                                      <p:tavLst>
                                        <p:tav tm="0">
                                          <p:val>
                                            <p:strVal val="#ppt_h"/>
                                          </p:val>
                                        </p:tav>
                                        <p:tav tm="100000">
                                          <p:val>
                                            <p:strVal val="#ppt_h"/>
                                          </p:val>
                                        </p:tav>
                                      </p:tavLst>
                                    </p:anim>
                                  </p:childTnLst>
                                </p:cTn>
                              </p:par>
                              <p:par>
                                <p:cTn id="127" presetID="10" presetClass="entr" presetSubtype="0" fill="hold" grpId="0" nodeType="withEffect">
                                  <p:stCondLst>
                                    <p:cond delay="1000"/>
                                  </p:stCondLst>
                                  <p:childTnLst>
                                    <p:set>
                                      <p:cBhvr>
                                        <p:cTn id="128" dur="1" fill="hold">
                                          <p:stCondLst>
                                            <p:cond delay="0"/>
                                          </p:stCondLst>
                                        </p:cTn>
                                        <p:tgtEl>
                                          <p:spTgt spid="121"/>
                                        </p:tgtEl>
                                        <p:attrNameLst>
                                          <p:attrName>style.visibility</p:attrName>
                                        </p:attrNameLst>
                                      </p:cBhvr>
                                      <p:to>
                                        <p:strVal val="visible"/>
                                      </p:to>
                                    </p:set>
                                    <p:animEffect transition="in" filter="fade">
                                      <p:cBhvr>
                                        <p:cTn id="129" dur="5000"/>
                                        <p:tgtEl>
                                          <p:spTgt spid="121"/>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148"/>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28">
                                            <p:txEl>
                                              <p:pRg st="0" end="0"/>
                                            </p:txEl>
                                          </p:spTgt>
                                        </p:tgtEl>
                                        <p:attrNameLst>
                                          <p:attrName>style.visibility</p:attrName>
                                        </p:attrNameLst>
                                      </p:cBhvr>
                                      <p:to>
                                        <p:strVal val="visible"/>
                                      </p:to>
                                    </p:set>
                                    <p:animEffect transition="in" filter="wipe(left)">
                                      <p:cBhvr>
                                        <p:cTn id="138" dur="5000"/>
                                        <p:tgtEl>
                                          <p:spTgt spid="128">
                                            <p:txEl>
                                              <p:pRg st="0" end="0"/>
                                            </p:txEl>
                                          </p:spTgt>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28">
                                            <p:txEl>
                                              <p:pRg st="1" end="1"/>
                                            </p:txEl>
                                          </p:spTgt>
                                        </p:tgtEl>
                                        <p:attrNameLst>
                                          <p:attrName>style.visibility</p:attrName>
                                        </p:attrNameLst>
                                      </p:cBhvr>
                                      <p:to>
                                        <p:strVal val="visible"/>
                                      </p:to>
                                    </p:set>
                                    <p:animEffect transition="in" filter="wipe(left)">
                                      <p:cBhvr>
                                        <p:cTn id="143" dur="5000"/>
                                        <p:tgtEl>
                                          <p:spTgt spid="128">
                                            <p:txEl>
                                              <p:pRg st="1" end="1"/>
                                            </p:txEl>
                                          </p:spTgt>
                                        </p:tgtEl>
                                      </p:cBhvr>
                                    </p:animEffec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128">
                                            <p:txEl>
                                              <p:pRg st="2" end="2"/>
                                            </p:txEl>
                                          </p:spTgt>
                                        </p:tgtEl>
                                        <p:attrNameLst>
                                          <p:attrName>style.visibility</p:attrName>
                                        </p:attrNameLst>
                                      </p:cBhvr>
                                      <p:to>
                                        <p:strVal val="visible"/>
                                      </p:to>
                                    </p:set>
                                    <p:animEffect transition="in" filter="wipe(left)">
                                      <p:cBhvr>
                                        <p:cTn id="148" dur="5000"/>
                                        <p:tgtEl>
                                          <p:spTgt spid="128">
                                            <p:txEl>
                                              <p:pRg st="2" end="2"/>
                                            </p:txEl>
                                          </p:spTgt>
                                        </p:tgtEl>
                                      </p:cBhvr>
                                    </p:animEffect>
                                  </p:childTnLst>
                                  <p:subTnLst>
                                    <p:audio>
                                      <p:cMediaNode>
                                        <p:cTn display="0" masterRel="sameClick">
                                          <p:stCondLst>
                                            <p:cond evt="begin" delay="0">
                                              <p:tn val="146"/>
                                            </p:cond>
                                          </p:stCondLst>
                                          <p:endCondLst>
                                            <p:cond evt="onStopAudio" delay="0">
                                              <p:tgtEl>
                                                <p:sldTgt/>
                                              </p:tgtEl>
                                            </p:cond>
                                          </p:endCondLst>
                                        </p:cTn>
                                        <p:tgtEl>
                                          <p:sndTgt r:embed="rId3" name="CAMERA.WAV"/>
                                        </p:tgtEl>
                                      </p:cMediaNode>
                                    </p:audio>
                                  </p:sub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128">
                                            <p:txEl>
                                              <p:pRg st="3" end="3"/>
                                            </p:txEl>
                                          </p:spTgt>
                                        </p:tgtEl>
                                        <p:attrNameLst>
                                          <p:attrName>style.visibility</p:attrName>
                                        </p:attrNameLst>
                                      </p:cBhvr>
                                      <p:to>
                                        <p:strVal val="visible"/>
                                      </p:to>
                                    </p:set>
                                    <p:animEffect transition="in" filter="wipe(left)">
                                      <p:cBhvr>
                                        <p:cTn id="153" dur="5000"/>
                                        <p:tgtEl>
                                          <p:spTgt spid="128">
                                            <p:txEl>
                                              <p:pRg st="3" end="3"/>
                                            </p:txEl>
                                          </p:spTgt>
                                        </p:tgtEl>
                                      </p:cBhvr>
                                    </p:animEffect>
                                  </p:childTnLst>
                                  <p:subTnLst>
                                    <p:audio>
                                      <p:cMediaNode>
                                        <p:cTn display="0" masterRel="sameClick">
                                          <p:stCondLst>
                                            <p:cond evt="begin" delay="0">
                                              <p:tn val="151"/>
                                            </p:cond>
                                          </p:stCondLst>
                                          <p:endCondLst>
                                            <p:cond evt="onStopAudio" delay="0">
                                              <p:tgtEl>
                                                <p:sldTgt/>
                                              </p:tgtEl>
                                            </p:cond>
                                          </p:endCondLst>
                                        </p:cTn>
                                        <p:tgtEl>
                                          <p:sndTgt r:embed="rId3" name="CAMERA.WAV"/>
                                        </p:tgtEl>
                                      </p:cMediaNode>
                                    </p:audio>
                                  </p:sub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128">
                                            <p:txEl>
                                              <p:pRg st="4" end="4"/>
                                            </p:txEl>
                                          </p:spTgt>
                                        </p:tgtEl>
                                        <p:attrNameLst>
                                          <p:attrName>style.visibility</p:attrName>
                                        </p:attrNameLst>
                                      </p:cBhvr>
                                      <p:to>
                                        <p:strVal val="visible"/>
                                      </p:to>
                                    </p:set>
                                    <p:animEffect transition="in" filter="wipe(left)">
                                      <p:cBhvr>
                                        <p:cTn id="158" dur="5000"/>
                                        <p:tgtEl>
                                          <p:spTgt spid="128">
                                            <p:txEl>
                                              <p:pRg st="4" end="4"/>
                                            </p:txEl>
                                          </p:spTgt>
                                        </p:tgtEl>
                                      </p:cBhvr>
                                    </p:animEffect>
                                  </p:childTnLst>
                                  <p:subTnLst>
                                    <p:audio>
                                      <p:cMediaNode>
                                        <p:cTn display="0" masterRel="sameClick">
                                          <p:stCondLst>
                                            <p:cond evt="begin" delay="0">
                                              <p:tn val="156"/>
                                            </p:cond>
                                          </p:stCondLst>
                                          <p:endCondLst>
                                            <p:cond evt="onStopAudio" delay="0">
                                              <p:tgtEl>
                                                <p:sldTgt/>
                                              </p:tgtEl>
                                            </p:cond>
                                          </p:endCondLst>
                                        </p:cTn>
                                        <p:tgtEl>
                                          <p:sndTgt r:embed="rId3" name="CAMERA.WAV"/>
                                        </p:tgtEl>
                                      </p:cMediaNode>
                                    </p:audio>
                                  </p:sub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28">
                                            <p:txEl>
                                              <p:pRg st="5" end="5"/>
                                            </p:txEl>
                                          </p:spTgt>
                                        </p:tgtEl>
                                        <p:attrNameLst>
                                          <p:attrName>style.visibility</p:attrName>
                                        </p:attrNameLst>
                                      </p:cBhvr>
                                      <p:to>
                                        <p:strVal val="visible"/>
                                      </p:to>
                                    </p:set>
                                    <p:animEffect transition="in" filter="wipe(left)">
                                      <p:cBhvr>
                                        <p:cTn id="163" dur="5000"/>
                                        <p:tgtEl>
                                          <p:spTgt spid="128">
                                            <p:txEl>
                                              <p:pRg st="5" end="5"/>
                                            </p:txEl>
                                          </p:spTgt>
                                        </p:tgtEl>
                                      </p:cBhvr>
                                    </p:animEffect>
                                  </p:childTnLst>
                                  <p:subTnLst>
                                    <p:audio>
                                      <p:cMediaNode>
                                        <p:cTn display="0" masterRel="sameClick">
                                          <p:stCondLst>
                                            <p:cond evt="begin" delay="0">
                                              <p:tn val="16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88" grpId="0" animBg="1"/>
      <p:bldP spid="89" grpId="0" animBg="1"/>
      <p:bldP spid="89" grpId="1" animBg="1"/>
      <p:bldP spid="89" grpId="2" animBg="1"/>
      <p:bldP spid="89" grpId="3" animBg="1"/>
      <p:bldP spid="97" grpId="0"/>
      <p:bldP spid="97" grpId="1"/>
      <p:bldP spid="98" grpId="0"/>
      <p:bldP spid="99" grpId="0"/>
      <p:bldP spid="100" grpId="0"/>
      <p:bldP spid="100" grpId="1"/>
      <p:bldP spid="100" grpId="2"/>
      <p:bldP spid="101" grpId="0" animBg="1"/>
      <p:bldP spid="101" grpId="1" animBg="1"/>
      <p:bldP spid="101" grpId="2" animBg="1"/>
      <p:bldP spid="102" grpId="0"/>
      <p:bldP spid="103" grpId="0" animBg="1"/>
      <p:bldP spid="104" grpId="0" animBg="1"/>
      <p:bldP spid="105" grpId="0" animBg="1"/>
      <p:bldP spid="106" grpId="0"/>
      <p:bldP spid="107" grpId="0"/>
      <p:bldP spid="108" grpId="0"/>
      <p:bldP spid="109" grpId="0"/>
      <p:bldP spid="110" grpId="0" animBg="1"/>
      <p:bldP spid="110" grpId="1" animBg="1"/>
      <p:bldP spid="111" grpId="0" animBg="1"/>
      <p:bldP spid="111" grpId="1" animBg="1"/>
      <p:bldP spid="112" grpId="0" animBg="1"/>
      <p:bldP spid="113" grpId="0" animBg="1"/>
      <p:bldP spid="113" grpId="1" animBg="1"/>
      <p:bldP spid="115" grpId="0"/>
      <p:bldP spid="116" grpId="0"/>
      <p:bldP spid="117" grpId="0"/>
      <p:bldP spid="118" grpId="0" animBg="1"/>
      <p:bldP spid="119" grpId="0" animBg="1"/>
      <p:bldP spid="120" grpId="0"/>
      <p:bldP spid="121" grpId="0" animBg="1"/>
      <p:bldP spid="128"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 name="Rectangle 2"/>
          <p:cNvSpPr>
            <a:spLocks noChangeArrowheads="1"/>
          </p:cNvSpPr>
          <p:nvPr/>
        </p:nvSpPr>
        <p:spPr bwMode="auto">
          <a:xfrm>
            <a:off x="164442" y="928670"/>
            <a:ext cx="9747982"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§3-4  </a:t>
            </a:r>
            <a:r>
              <a:rPr lang="zh-CN" altLang="en-US" sz="3000" i="0" dirty="0">
                <a:solidFill>
                  <a:schemeClr val="accent6">
                    <a:lumMod val="75000"/>
                  </a:schemeClr>
                </a:solidFill>
                <a:latin typeface="+mn-lt"/>
                <a:ea typeface="微软雅黑" panose="020B0503020204020204" pitchFamily="34" charset="-122"/>
              </a:rPr>
              <a:t>空间任意力系的平衡方程</a:t>
            </a:r>
          </a:p>
          <a:p>
            <a:pPr>
              <a:spcBef>
                <a:spcPct val="50000"/>
              </a:spcBef>
            </a:pPr>
            <a:endParaRPr lang="zh-CN" altLang="en-US" sz="3000" i="0" dirty="0">
              <a:solidFill>
                <a:schemeClr val="accent6">
                  <a:lumMod val="75000"/>
                </a:schemeClr>
              </a:solidFill>
              <a:latin typeface="+mn-lt"/>
              <a:ea typeface="微软雅黑" panose="020B0503020204020204" pitchFamily="34" charset="-122"/>
            </a:endParaRPr>
          </a:p>
        </p:txBody>
      </p:sp>
      <p:sp>
        <p:nvSpPr>
          <p:cNvPr id="52" name="Text Box 9"/>
          <p:cNvSpPr txBox="1">
            <a:spLocks noChangeArrowheads="1"/>
          </p:cNvSpPr>
          <p:nvPr/>
        </p:nvSpPr>
        <p:spPr bwMode="auto">
          <a:xfrm>
            <a:off x="688875" y="1862908"/>
            <a:ext cx="10081120" cy="171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30000"/>
              </a:lnSpc>
              <a:spcBef>
                <a:spcPct val="0"/>
              </a:spcBef>
              <a:buClrTx/>
              <a:buSzTx/>
              <a:buNone/>
            </a:pPr>
            <a:r>
              <a:rPr lang="zh-CN" altLang="en-US" sz="2800" i="0" dirty="0">
                <a:latin typeface="+mn-lt"/>
                <a:ea typeface="微软雅黑" panose="020B0503020204020204" pitchFamily="34" charset="-122"/>
              </a:rPr>
              <a:t>某物体上作用有一个空间任意力系</a:t>
            </a:r>
            <a:r>
              <a:rPr lang="en-US" altLang="zh-CN" sz="2800" dirty="0">
                <a:latin typeface="+mn-lt"/>
                <a:ea typeface="微软雅黑" panose="020B0503020204020204" pitchFamily="34" charset="-122"/>
              </a:rPr>
              <a:t>F</a:t>
            </a:r>
            <a:r>
              <a:rPr lang="en-US" altLang="zh-CN" sz="280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dirty="0">
                <a:latin typeface="+mn-lt"/>
                <a:ea typeface="微软雅黑" panose="020B0503020204020204" pitchFamily="34" charset="-122"/>
              </a:rPr>
              <a:t>F</a:t>
            </a:r>
            <a:r>
              <a:rPr lang="en-US" altLang="zh-CN" sz="280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a:t>
            </a:r>
            <a:r>
              <a:rPr lang="en-US" altLang="zh-CN" sz="2800" dirty="0" err="1">
                <a:latin typeface="+mn-lt"/>
                <a:ea typeface="微软雅黑" panose="020B0503020204020204" pitchFamily="34" charset="-122"/>
              </a:rPr>
              <a:t>F</a:t>
            </a:r>
            <a:r>
              <a:rPr lang="en-US" altLang="zh-CN" sz="2800" baseline="-25000" dirty="0" err="1">
                <a:latin typeface="+mn-lt"/>
                <a:ea typeface="微软雅黑" panose="020B0503020204020204" pitchFamily="34" charset="-122"/>
              </a:rPr>
              <a:t>n</a:t>
            </a:r>
            <a:r>
              <a:rPr lang="zh-CN" altLang="en-US" sz="2800" i="0" dirty="0">
                <a:latin typeface="+mn-lt"/>
                <a:ea typeface="微软雅黑" panose="020B0503020204020204" pitchFamily="34" charset="-122"/>
              </a:rPr>
              <a:t>，若物体在力系作用下处于平衡，则物体沿</a:t>
            </a:r>
            <a:r>
              <a:rPr lang="en-US" altLang="zh-CN" sz="2800" dirty="0">
                <a:latin typeface="+mn-lt"/>
                <a:ea typeface="微软雅黑" panose="020B0503020204020204" pitchFamily="34" charset="-122"/>
              </a:rPr>
              <a:t>x</a:t>
            </a:r>
            <a:r>
              <a:rPr lang="zh-CN" altLang="en-US" sz="2800" i="0" dirty="0">
                <a:latin typeface="+mn-lt"/>
                <a:ea typeface="微软雅黑" panose="020B0503020204020204" pitchFamily="34" charset="-122"/>
              </a:rPr>
              <a:t>、</a:t>
            </a:r>
            <a:r>
              <a:rPr lang="en-US" altLang="zh-CN" sz="2800" dirty="0">
                <a:latin typeface="+mn-lt"/>
                <a:ea typeface="微软雅黑" panose="020B0503020204020204" pitchFamily="34" charset="-122"/>
              </a:rPr>
              <a:t>y</a:t>
            </a:r>
            <a:r>
              <a:rPr lang="zh-CN" altLang="en-US" sz="2800" i="0" dirty="0">
                <a:latin typeface="+mn-lt"/>
                <a:ea typeface="微软雅黑" panose="020B0503020204020204" pitchFamily="34" charset="-122"/>
              </a:rPr>
              <a:t>、</a:t>
            </a:r>
            <a:r>
              <a:rPr lang="en-US" altLang="zh-CN" sz="2800" dirty="0">
                <a:latin typeface="+mn-lt"/>
                <a:ea typeface="微软雅黑" panose="020B0503020204020204" pitchFamily="34" charset="-122"/>
              </a:rPr>
              <a:t>z</a:t>
            </a:r>
            <a:r>
              <a:rPr lang="zh-CN" altLang="en-US" sz="2800" i="0" dirty="0">
                <a:latin typeface="+mn-lt"/>
                <a:ea typeface="微软雅黑" panose="020B0503020204020204" pitchFamily="34" charset="-122"/>
              </a:rPr>
              <a:t>三轴的移动状态应不变，绕该三轴的转动状态也不变。  </a:t>
            </a:r>
          </a:p>
        </p:txBody>
      </p:sp>
      <p:sp>
        <p:nvSpPr>
          <p:cNvPr id="64" name="矩形 63"/>
          <p:cNvSpPr/>
          <p:nvPr/>
        </p:nvSpPr>
        <p:spPr>
          <a:xfrm>
            <a:off x="2567608" y="1354239"/>
            <a:ext cx="683873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空间任意力系的平衡条件及平衡方程式 </a:t>
            </a:r>
          </a:p>
        </p:txBody>
      </p:sp>
      <p:sp>
        <p:nvSpPr>
          <p:cNvPr id="2" name="矩形 1"/>
          <p:cNvSpPr/>
          <p:nvPr/>
        </p:nvSpPr>
        <p:spPr>
          <a:xfrm>
            <a:off x="623392" y="4961282"/>
            <a:ext cx="10083096" cy="1598386"/>
          </a:xfrm>
          <a:prstGeom prst="rect">
            <a:avLst/>
          </a:prstGeom>
        </p:spPr>
        <p:txBody>
          <a:bodyPr wrap="square">
            <a:spAutoFit/>
          </a:bodyPr>
          <a:lstStyle/>
          <a:p>
            <a:pPr algn="just">
              <a:lnSpc>
                <a:spcPct val="120000"/>
              </a:lnSpc>
            </a:pPr>
            <a:r>
              <a:rPr kumimoji="1" lang="zh-CN" altLang="en-US" sz="2800" i="0" dirty="0">
                <a:latin typeface="微软雅黑" panose="020B0503020204020204" pitchFamily="34" charset="-122"/>
                <a:ea typeface="微软雅黑" panose="020B0503020204020204" pitchFamily="34" charset="-122"/>
              </a:rPr>
              <a:t>空间任意力系平衡的充要条件</a:t>
            </a:r>
            <a:r>
              <a:rPr kumimoji="1" lang="zh-CN" altLang="en-US" sz="2800" i="0" dirty="0">
                <a:solidFill>
                  <a:schemeClr val="tx1"/>
                </a:solidFill>
                <a:latin typeface="+mn-lt"/>
                <a:ea typeface="微软雅黑" panose="020B0503020204020204" pitchFamily="34" charset="-122"/>
              </a:rPr>
              <a:t>：各力在三个坐标轴上投影的代数和以及各力对三个坐标轴之矩的代数和都有必须分别等于零。 </a:t>
            </a:r>
          </a:p>
          <a:p>
            <a:pPr algn="just">
              <a:lnSpc>
                <a:spcPct val="120000"/>
              </a:lnSpc>
            </a:pPr>
            <a:endParaRPr kumimoji="1" lang="en-US" altLang="zh-CN" sz="2800" i="0" dirty="0">
              <a:solidFill>
                <a:schemeClr val="tx1"/>
              </a:solidFill>
              <a:latin typeface="+mn-lt"/>
              <a:ea typeface="微软雅黑" panose="020B0503020204020204" pitchFamily="34" charset="-122"/>
            </a:endParaRPr>
          </a:p>
        </p:txBody>
      </p:sp>
      <p:sp>
        <p:nvSpPr>
          <p:cNvPr id="15" name="Text Box 3"/>
          <p:cNvSpPr txBox="1">
            <a:spLocks noChangeArrowheads="1"/>
          </p:cNvSpPr>
          <p:nvPr/>
        </p:nvSpPr>
        <p:spPr bwMode="auto">
          <a:xfrm>
            <a:off x="2437223" y="3580879"/>
            <a:ext cx="747553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F</a:t>
            </a:r>
            <a:r>
              <a:rPr kumimoji="1" lang="en-US" altLang="zh-CN" sz="2800" b="0" baseline="-25000" dirty="0" err="1">
                <a:solidFill>
                  <a:schemeClr val="tx1"/>
                </a:solidFill>
                <a:ea typeface="黑体" panose="02010609060101010101" pitchFamily="49" charset="-122"/>
              </a:rPr>
              <a:t>x</a:t>
            </a:r>
            <a:r>
              <a:rPr kumimoji="1" lang="en-US" altLang="zh-CN" sz="2800" b="0" i="0" dirty="0">
                <a:solidFill>
                  <a:schemeClr val="tx1"/>
                </a:solidFill>
                <a:ea typeface="黑体" panose="02010609060101010101" pitchFamily="49" charset="-122"/>
              </a:rPr>
              <a:t> = 0          </a:t>
            </a: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F</a:t>
            </a:r>
            <a:r>
              <a:rPr kumimoji="1" lang="en-US" altLang="zh-CN" sz="2800" b="0" baseline="-25000" dirty="0" err="1">
                <a:solidFill>
                  <a:schemeClr val="tx1"/>
                </a:solidFill>
                <a:ea typeface="黑体" panose="02010609060101010101" pitchFamily="49" charset="-122"/>
              </a:rPr>
              <a:t>y</a:t>
            </a:r>
            <a:r>
              <a:rPr kumimoji="1" lang="en-US" altLang="zh-CN" sz="2800" b="0" i="0" dirty="0">
                <a:solidFill>
                  <a:schemeClr val="tx1"/>
                </a:solidFill>
                <a:ea typeface="黑体" panose="02010609060101010101" pitchFamily="49" charset="-122"/>
              </a:rPr>
              <a:t> = 0         </a:t>
            </a: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F</a:t>
            </a:r>
            <a:r>
              <a:rPr kumimoji="1" lang="en-US" altLang="zh-CN" sz="2800" b="0" baseline="-25000" dirty="0" err="1">
                <a:solidFill>
                  <a:schemeClr val="tx1"/>
                </a:solidFill>
                <a:ea typeface="黑体" panose="02010609060101010101" pitchFamily="49" charset="-122"/>
              </a:rPr>
              <a:t>z</a:t>
            </a:r>
            <a:r>
              <a:rPr kumimoji="1" lang="en-US" altLang="zh-CN" sz="2800" b="0" i="0" dirty="0">
                <a:solidFill>
                  <a:schemeClr val="tx1"/>
                </a:solidFill>
                <a:ea typeface="黑体" panose="02010609060101010101" pitchFamily="49" charset="-122"/>
              </a:rPr>
              <a:t> = 0</a:t>
            </a:r>
          </a:p>
          <a:p>
            <a:pPr>
              <a:lnSpc>
                <a:spcPct val="150000"/>
              </a:lnSpc>
            </a:pP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M</a:t>
            </a:r>
            <a:r>
              <a:rPr kumimoji="1" lang="en-US" altLang="zh-CN" sz="2800" b="0" baseline="-25000" dirty="0" err="1">
                <a:solidFill>
                  <a:schemeClr val="tx1"/>
                </a:solidFill>
                <a:ea typeface="黑体" panose="02010609060101010101" pitchFamily="49" charset="-122"/>
              </a:rPr>
              <a:t>x</a:t>
            </a:r>
            <a:r>
              <a:rPr kumimoji="1" lang="en-US" altLang="zh-CN"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dirty="0">
                <a:solidFill>
                  <a:schemeClr val="tx1"/>
                </a:solidFill>
                <a:ea typeface="黑体" panose="02010609060101010101" pitchFamily="49" charset="-122"/>
              </a:rPr>
              <a:t>)= 0    </a:t>
            </a: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M</a:t>
            </a:r>
            <a:r>
              <a:rPr kumimoji="1" lang="en-US" altLang="zh-CN" sz="2800" b="0" baseline="-25000" dirty="0" err="1">
                <a:solidFill>
                  <a:schemeClr val="tx1"/>
                </a:solidFill>
                <a:ea typeface="黑体" panose="02010609060101010101" pitchFamily="49" charset="-122"/>
              </a:rPr>
              <a:t>y</a:t>
            </a:r>
            <a:r>
              <a:rPr kumimoji="1" lang="en-US" altLang="zh-CN"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dirty="0">
                <a:solidFill>
                  <a:schemeClr val="tx1"/>
                </a:solidFill>
                <a:ea typeface="黑体" panose="02010609060101010101" pitchFamily="49" charset="-122"/>
              </a:rPr>
              <a:t>)= 0    </a:t>
            </a: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M</a:t>
            </a:r>
            <a:r>
              <a:rPr kumimoji="1" lang="en-US" altLang="zh-CN" sz="2800" b="0" baseline="-25000" dirty="0" err="1">
                <a:solidFill>
                  <a:schemeClr val="tx1"/>
                </a:solidFill>
                <a:ea typeface="黑体" panose="02010609060101010101" pitchFamily="49" charset="-122"/>
              </a:rPr>
              <a:t>z</a:t>
            </a:r>
            <a:r>
              <a:rPr kumimoji="1" lang="en-US" altLang="zh-CN"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dirty="0">
                <a:solidFill>
                  <a:schemeClr val="tx1"/>
                </a:solidFill>
                <a:ea typeface="黑体" panose="02010609060101010101" pitchFamily="49" charset="-122"/>
              </a:rPr>
              <a:t>)= 0</a:t>
            </a:r>
            <a:endParaRPr kumimoji="1" lang="zh-CN" altLang="en-US" sz="2800" b="0" i="0" dirty="0">
              <a:solidFill>
                <a:schemeClr val="tx1"/>
              </a:solidFill>
              <a:ea typeface="黑体" panose="02010609060101010101" pitchFamily="49" charset="-122"/>
            </a:endParaRPr>
          </a:p>
        </p:txBody>
      </p:sp>
    </p:spTree>
    <p:extLst>
      <p:ext uri="{BB962C8B-B14F-4D97-AF65-F5344CB8AC3E}">
        <p14:creationId xmlns:p14="http://schemas.microsoft.com/office/powerpoint/2010/main" val="19844153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left)">
                                      <p:cBhvr>
                                        <p:cTn id="11" dur="3000"/>
                                        <p:tgtEl>
                                          <p:spTgt spid="15">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
                                            <p:txEl>
                                              <p:pRg st="1" end="1"/>
                                            </p:txEl>
                                          </p:spTgt>
                                        </p:tgtEl>
                                        <p:attrNameLst>
                                          <p:attrName>style.visibility</p:attrName>
                                        </p:attrNameLst>
                                      </p:cBhvr>
                                      <p:to>
                                        <p:strVal val="visible"/>
                                      </p:to>
                                    </p:set>
                                    <p:animEffect transition="in" filter="wipe(left)">
                                      <p:cBhvr>
                                        <p:cTn id="16" dur="3000"/>
                                        <p:tgtEl>
                                          <p:spTgt spid="15">
                                            <p:txEl>
                                              <p:pRg st="1" end="1"/>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2" grpId="0"/>
      <p:bldP spid="1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88875" y="1862908"/>
            <a:ext cx="10081120"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30000"/>
              </a:lnSpc>
              <a:spcBef>
                <a:spcPct val="0"/>
              </a:spcBef>
              <a:buClrTx/>
              <a:buSzTx/>
              <a:buNone/>
            </a:pPr>
            <a:r>
              <a:rPr lang="zh-CN" altLang="en-US" sz="2800" i="0" dirty="0">
                <a:latin typeface="+mj-lt"/>
                <a:ea typeface="微软雅黑" panose="020B0503020204020204" pitchFamily="34" charset="-122"/>
              </a:rPr>
              <a:t>设某一物体受一空间平行力系作用而平衡，令</a:t>
            </a:r>
            <a:r>
              <a:rPr lang="en-US" altLang="zh-CN" sz="2800" dirty="0">
                <a:latin typeface="+mj-lt"/>
                <a:ea typeface="微软雅黑" panose="020B0503020204020204" pitchFamily="34" charset="-122"/>
              </a:rPr>
              <a:t>z</a:t>
            </a:r>
            <a:r>
              <a:rPr lang="zh-CN" altLang="en-US" sz="2800" i="0" dirty="0">
                <a:latin typeface="+mj-lt"/>
                <a:ea typeface="微软雅黑" panose="020B0503020204020204" pitchFamily="34" charset="-122"/>
              </a:rPr>
              <a:t>轴与该力系的各力平行，则有∑</a:t>
            </a:r>
            <a:r>
              <a:rPr lang="en-US" altLang="zh-CN" sz="2800" b="0" dirty="0" err="1">
                <a:latin typeface="+mj-lt"/>
                <a:ea typeface="微软雅黑" panose="020B0503020204020204" pitchFamily="34" charset="-122"/>
              </a:rPr>
              <a:t>F</a:t>
            </a:r>
            <a:r>
              <a:rPr lang="en-US" altLang="zh-CN" sz="2800" b="0" baseline="-25000" dirty="0" err="1">
                <a:latin typeface="+mj-lt"/>
                <a:ea typeface="微软雅黑" panose="020B0503020204020204" pitchFamily="34" charset="-122"/>
              </a:rPr>
              <a:t>x</a:t>
            </a:r>
            <a:r>
              <a:rPr lang="en-US" altLang="zh-CN" sz="2800" b="0" i="0" dirty="0">
                <a:latin typeface="+mj-lt"/>
                <a:ea typeface="微软雅黑" panose="020B0503020204020204" pitchFamily="34" charset="-122"/>
              </a:rPr>
              <a:t> ≡0</a:t>
            </a:r>
            <a:r>
              <a:rPr lang="zh-CN" altLang="en-US" sz="2800" i="0" dirty="0">
                <a:latin typeface="+mj-lt"/>
                <a:ea typeface="微软雅黑" panose="020B0503020204020204" pitchFamily="34" charset="-122"/>
              </a:rPr>
              <a:t>，∑</a:t>
            </a:r>
            <a:r>
              <a:rPr lang="en-US" altLang="zh-CN" sz="2800" b="0" dirty="0">
                <a:latin typeface="+mj-lt"/>
                <a:ea typeface="微软雅黑" panose="020B0503020204020204" pitchFamily="34" charset="-122"/>
              </a:rPr>
              <a:t>F</a:t>
            </a:r>
            <a:r>
              <a:rPr lang="en-US" altLang="zh-CN" sz="2800" b="0" baseline="-25000" dirty="0">
                <a:latin typeface="+mj-lt"/>
                <a:ea typeface="微软雅黑" panose="020B0503020204020204" pitchFamily="34" charset="-122"/>
              </a:rPr>
              <a:t>y</a:t>
            </a:r>
            <a:r>
              <a:rPr lang="en-US" altLang="zh-CN" sz="2800" b="0" i="0" dirty="0">
                <a:latin typeface="+mj-lt"/>
                <a:ea typeface="微软雅黑" panose="020B0503020204020204" pitchFamily="34" charset="-122"/>
              </a:rPr>
              <a:t>≡0</a:t>
            </a:r>
            <a:r>
              <a:rPr lang="zh-CN" altLang="en-US" sz="2800" i="0" dirty="0">
                <a:latin typeface="+mj-lt"/>
                <a:ea typeface="微软雅黑" panose="020B0503020204020204" pitchFamily="34" charset="-122"/>
              </a:rPr>
              <a:t>和∑</a:t>
            </a:r>
            <a:r>
              <a:rPr lang="en-US" altLang="zh-CN" sz="2800" b="0" dirty="0">
                <a:latin typeface="+mj-lt"/>
                <a:ea typeface="微软雅黑" panose="020B0503020204020204" pitchFamily="34" charset="-122"/>
              </a:rPr>
              <a:t>M</a:t>
            </a:r>
            <a:r>
              <a:rPr lang="en-US" altLang="zh-CN" sz="2800" b="0" baseline="-25000" dirty="0">
                <a:latin typeface="+mj-lt"/>
                <a:ea typeface="微软雅黑" panose="020B0503020204020204" pitchFamily="34" charset="-122"/>
              </a:rPr>
              <a:t>x</a:t>
            </a:r>
            <a:r>
              <a:rPr lang="en-US" altLang="zh-CN" sz="2800" b="0" i="0" dirty="0">
                <a:latin typeface="+mj-lt"/>
                <a:ea typeface="微软雅黑" panose="020B0503020204020204" pitchFamily="34" charset="-122"/>
              </a:rPr>
              <a:t>≡0</a:t>
            </a:r>
            <a:r>
              <a:rPr lang="zh-CN" altLang="en-US" sz="2800" i="0" dirty="0">
                <a:latin typeface="+mj-lt"/>
                <a:ea typeface="微软雅黑" panose="020B0503020204020204" pitchFamily="34" charset="-122"/>
              </a:rPr>
              <a:t>。因此，空间平行力系只有三个平衡方程式，即</a:t>
            </a:r>
            <a:endParaRPr lang="zh-CN" altLang="en-US" sz="2800" b="0" dirty="0">
              <a:latin typeface="+mj-lt"/>
              <a:ea typeface="微软雅黑" panose="020B0503020204020204" pitchFamily="34" charset="-122"/>
            </a:endParaRPr>
          </a:p>
        </p:txBody>
      </p:sp>
      <p:sp>
        <p:nvSpPr>
          <p:cNvPr id="64" name="矩形 63"/>
          <p:cNvSpPr/>
          <p:nvPr/>
        </p:nvSpPr>
        <p:spPr>
          <a:xfrm>
            <a:off x="2567608" y="949367"/>
            <a:ext cx="4915128"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空间平行力系的平衡方程式 </a:t>
            </a:r>
          </a:p>
        </p:txBody>
      </p:sp>
      <p:sp>
        <p:nvSpPr>
          <p:cNvPr id="2" name="矩形 1"/>
          <p:cNvSpPr/>
          <p:nvPr/>
        </p:nvSpPr>
        <p:spPr>
          <a:xfrm>
            <a:off x="651827" y="4437112"/>
            <a:ext cx="10083096" cy="1126462"/>
          </a:xfrm>
          <a:prstGeom prst="rect">
            <a:avLst/>
          </a:prstGeom>
        </p:spPr>
        <p:txBody>
          <a:bodyPr wrap="square">
            <a:spAutoFit/>
          </a:bodyPr>
          <a:lstStyle/>
          <a:p>
            <a:pPr algn="just">
              <a:lnSpc>
                <a:spcPct val="120000"/>
              </a:lnSpc>
            </a:pPr>
            <a:r>
              <a:rPr kumimoji="1" lang="zh-CN" altLang="en-US" sz="2800" i="0" dirty="0">
                <a:solidFill>
                  <a:schemeClr val="tx1"/>
                </a:solidFill>
                <a:latin typeface="+mn-lt"/>
                <a:ea typeface="微软雅黑" panose="020B0503020204020204" pitchFamily="34" charset="-122"/>
              </a:rPr>
              <a:t>因为只有三个独立的平衡方程式，故它只能解</a:t>
            </a:r>
            <a:r>
              <a:rPr kumimoji="1" lang="zh-CN" altLang="en-US" sz="2800" i="0" dirty="0">
                <a:latin typeface="微软雅黑" panose="020B0503020204020204" pitchFamily="34" charset="-122"/>
                <a:ea typeface="微软雅黑" panose="020B0503020204020204" pitchFamily="34" charset="-122"/>
              </a:rPr>
              <a:t>三个未知量</a:t>
            </a:r>
            <a:r>
              <a:rPr kumimoji="1" lang="zh-CN" altLang="en-US" sz="2800" i="0" dirty="0">
                <a:solidFill>
                  <a:schemeClr val="tx1"/>
                </a:solidFill>
                <a:latin typeface="+mn-lt"/>
                <a:ea typeface="微软雅黑" panose="020B0503020204020204" pitchFamily="34" charset="-122"/>
              </a:rPr>
              <a:t>。 </a:t>
            </a:r>
          </a:p>
          <a:p>
            <a:pPr algn="just">
              <a:lnSpc>
                <a:spcPct val="120000"/>
              </a:lnSpc>
            </a:pPr>
            <a:endParaRPr kumimoji="1" lang="en-US" altLang="zh-CN" sz="2800" i="0" dirty="0">
              <a:solidFill>
                <a:schemeClr val="tx1"/>
              </a:solidFill>
              <a:latin typeface="+mn-lt"/>
              <a:ea typeface="微软雅黑" panose="020B0503020204020204" pitchFamily="34" charset="-122"/>
            </a:endParaRPr>
          </a:p>
        </p:txBody>
      </p:sp>
      <p:sp>
        <p:nvSpPr>
          <p:cNvPr id="15" name="Text Box 3"/>
          <p:cNvSpPr txBox="1">
            <a:spLocks noChangeArrowheads="1"/>
          </p:cNvSpPr>
          <p:nvPr/>
        </p:nvSpPr>
        <p:spPr bwMode="auto">
          <a:xfrm>
            <a:off x="2437223" y="3580879"/>
            <a:ext cx="747553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F</a:t>
            </a:r>
            <a:r>
              <a:rPr kumimoji="1" lang="en-US" altLang="zh-CN" sz="2800" b="0" baseline="-25000" dirty="0" err="1">
                <a:solidFill>
                  <a:schemeClr val="tx1"/>
                </a:solidFill>
                <a:ea typeface="黑体" panose="02010609060101010101" pitchFamily="49" charset="-122"/>
              </a:rPr>
              <a:t>z</a:t>
            </a:r>
            <a:r>
              <a:rPr kumimoji="1" lang="en-US" altLang="zh-CN" sz="2800" b="0" i="0" dirty="0">
                <a:solidFill>
                  <a:schemeClr val="tx1"/>
                </a:solidFill>
                <a:ea typeface="黑体" panose="02010609060101010101" pitchFamily="49" charset="-122"/>
              </a:rPr>
              <a:t> = 0    </a:t>
            </a: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M</a:t>
            </a:r>
            <a:r>
              <a:rPr kumimoji="1" lang="en-US" altLang="zh-CN" sz="2800" b="0" baseline="-25000" dirty="0" err="1">
                <a:solidFill>
                  <a:schemeClr val="tx1"/>
                </a:solidFill>
                <a:ea typeface="黑体" panose="02010609060101010101" pitchFamily="49" charset="-122"/>
              </a:rPr>
              <a:t>y</a:t>
            </a:r>
            <a:r>
              <a:rPr kumimoji="1" lang="en-US" altLang="zh-CN"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dirty="0">
                <a:solidFill>
                  <a:schemeClr val="tx1"/>
                </a:solidFill>
                <a:ea typeface="黑体" panose="02010609060101010101" pitchFamily="49" charset="-122"/>
              </a:rPr>
              <a:t>)= 0    </a:t>
            </a:r>
            <a:r>
              <a:rPr kumimoji="1" lang="en-US" altLang="zh-CN" sz="2800" b="0" i="0" dirty="0" err="1">
                <a:solidFill>
                  <a:schemeClr val="tx1"/>
                </a:solidFill>
                <a:ea typeface="黑体" panose="02010609060101010101" pitchFamily="49" charset="-122"/>
              </a:rPr>
              <a:t>Σ</a:t>
            </a:r>
            <a:r>
              <a:rPr kumimoji="1" lang="en-US" altLang="zh-CN" sz="2800" b="0" dirty="0" err="1">
                <a:solidFill>
                  <a:schemeClr val="tx1"/>
                </a:solidFill>
                <a:ea typeface="黑体" panose="02010609060101010101" pitchFamily="49" charset="-122"/>
              </a:rPr>
              <a:t>M</a:t>
            </a:r>
            <a:r>
              <a:rPr kumimoji="1" lang="en-US" altLang="zh-CN" sz="2800" b="0" baseline="-25000" dirty="0" err="1">
                <a:solidFill>
                  <a:schemeClr val="tx1"/>
                </a:solidFill>
                <a:ea typeface="黑体" panose="02010609060101010101" pitchFamily="49" charset="-122"/>
              </a:rPr>
              <a:t>z</a:t>
            </a:r>
            <a:r>
              <a:rPr kumimoji="1" lang="en-US" altLang="zh-CN" sz="2800" b="0" i="0" dirty="0">
                <a:solidFill>
                  <a:schemeClr val="tx1"/>
                </a:solidFill>
                <a:ea typeface="黑体" panose="02010609060101010101" pitchFamily="49" charset="-122"/>
              </a:rPr>
              <a:t>(</a:t>
            </a:r>
            <a:r>
              <a:rPr kumimoji="1" lang="en-US" altLang="zh-CN" sz="2800" dirty="0">
                <a:solidFill>
                  <a:schemeClr val="tx1"/>
                </a:solidFill>
                <a:ea typeface="黑体" panose="02010609060101010101" pitchFamily="49" charset="-122"/>
              </a:rPr>
              <a:t>F</a:t>
            </a:r>
            <a:r>
              <a:rPr kumimoji="1" lang="en-US" altLang="zh-CN" sz="2800" b="0" i="0" dirty="0">
                <a:solidFill>
                  <a:schemeClr val="tx1"/>
                </a:solidFill>
                <a:ea typeface="黑体" panose="02010609060101010101" pitchFamily="49" charset="-122"/>
              </a:rPr>
              <a:t>)= 0</a:t>
            </a:r>
            <a:endParaRPr kumimoji="1" lang="zh-CN" altLang="en-US" sz="2800" b="0" i="0" dirty="0">
              <a:solidFill>
                <a:schemeClr val="tx1"/>
              </a:solidFill>
              <a:ea typeface="黑体" panose="02010609060101010101" pitchFamily="49" charset="-122"/>
            </a:endParaRPr>
          </a:p>
        </p:txBody>
      </p:sp>
    </p:spTree>
    <p:extLst>
      <p:ext uri="{BB962C8B-B14F-4D97-AF65-F5344CB8AC3E}">
        <p14:creationId xmlns:p14="http://schemas.microsoft.com/office/powerpoint/2010/main" val="8152453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left)">
                                      <p:cBhvr>
                                        <p:cTn id="11" dur="3000"/>
                                        <p:tgtEl>
                                          <p:spTgt spid="15">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2" grpId="0"/>
      <p:bldP spid="1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1"/>
          <p:cNvSpPr>
            <a:spLocks noChangeArrowheads="1"/>
          </p:cNvSpPr>
          <p:nvPr/>
        </p:nvSpPr>
        <p:spPr bwMode="auto">
          <a:xfrm>
            <a:off x="551384" y="1628801"/>
            <a:ext cx="10945675" cy="4464496"/>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64" name="矩形 63"/>
          <p:cNvSpPr/>
          <p:nvPr/>
        </p:nvSpPr>
        <p:spPr>
          <a:xfrm>
            <a:off x="4718982" y="949367"/>
            <a:ext cx="17235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空间约束</a:t>
            </a:r>
          </a:p>
        </p:txBody>
      </p:sp>
      <p:pic>
        <p:nvPicPr>
          <p:cNvPr id="8" name="J1铁轨.avi">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7">
            <a:extLst>
              <a:ext uri="{28A0092B-C50C-407E-A947-70E740481C1C}">
                <a14:useLocalDpi xmlns:a14="http://schemas.microsoft.com/office/drawing/2010/main" val="0"/>
              </a:ext>
            </a:extLst>
          </a:blip>
          <a:srcRect/>
          <a:stretch>
            <a:fillRect/>
          </a:stretch>
        </p:blipFill>
        <p:spPr bwMode="auto">
          <a:xfrm>
            <a:off x="974116" y="2146549"/>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J1导向轴承.avi">
            <a:hlinkClick r:id="" action="ppaction://media"/>
          </p:cNvPr>
          <p:cNvPicPr>
            <a:picLocks noChangeAspect="1"/>
          </p:cNvPicPr>
          <p:nvPr>
            <a:videoFile r:link="rId4"/>
            <p:extLst>
              <p:ext uri="{DAA4B4D4-6D71-4841-9C94-3DE7FCFB9230}">
                <p14:media xmlns:p14="http://schemas.microsoft.com/office/powerpoint/2010/main" r:link="rId3"/>
              </p:ext>
            </p:extLst>
          </p:nvPr>
        </p:nvPicPr>
        <p:blipFill>
          <a:blip r:embed="rId8">
            <a:extLst>
              <a:ext uri="{28A0092B-C50C-407E-A947-70E740481C1C}">
                <a14:useLocalDpi xmlns:a14="http://schemas.microsoft.com/office/drawing/2010/main" val="0"/>
              </a:ext>
            </a:extLst>
          </a:blip>
          <a:srcRect/>
          <a:stretch>
            <a:fillRect/>
          </a:stretch>
        </p:blipFill>
        <p:spPr bwMode="auto">
          <a:xfrm>
            <a:off x="6442531" y="2146549"/>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2868320"/>
      </p:ext>
    </p:extLst>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video>
              <p:cMediaNode>
                <p:cTn id="13" fill="hold" display="0">
                  <p:stCondLst>
                    <p:cond delay="indefinite"/>
                  </p:stCondLst>
                  <p:endCondLst>
                    <p:cond evt="onNext" delay="0">
                      <p:tgtEl>
                        <p:sldTgt/>
                      </p:tgtEl>
                    </p:cond>
                    <p:cond evt="onPrev" delay="0">
                      <p:tgtEl>
                        <p:sldTgt/>
                      </p:tgtEl>
                    </p:cond>
                  </p:endCondLst>
                </p:cTn>
                <p:tgtEl>
                  <p:spTgt spid="9"/>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1"/>
          <p:cNvSpPr>
            <a:spLocks noChangeArrowheads="1"/>
          </p:cNvSpPr>
          <p:nvPr/>
        </p:nvSpPr>
        <p:spPr bwMode="auto">
          <a:xfrm>
            <a:off x="551384" y="1628801"/>
            <a:ext cx="10945675" cy="4464496"/>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pic>
        <p:nvPicPr>
          <p:cNvPr id="11" name="J1万向接头.avi">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7">
            <a:extLst>
              <a:ext uri="{28A0092B-C50C-407E-A947-70E740481C1C}">
                <a14:useLocalDpi xmlns:a14="http://schemas.microsoft.com/office/drawing/2010/main" val="0"/>
              </a:ext>
            </a:extLst>
          </a:blip>
          <a:srcRect/>
          <a:stretch>
            <a:fillRect/>
          </a:stretch>
        </p:blipFill>
        <p:spPr bwMode="auto">
          <a:xfrm>
            <a:off x="1099553" y="2146549"/>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J1夹板.avi">
            <a:hlinkClick r:id="" action="ppaction://media"/>
          </p:cNvPr>
          <p:cNvPicPr>
            <a:picLocks noChangeAspect="1"/>
          </p:cNvPicPr>
          <p:nvPr>
            <a:videoFile r:link="rId4"/>
            <p:extLst>
              <p:ext uri="{DAA4B4D4-6D71-4841-9C94-3DE7FCFB9230}">
                <p14:media xmlns:p14="http://schemas.microsoft.com/office/powerpoint/2010/main" r:link="rId3"/>
              </p:ext>
            </p:extLst>
          </p:nvPr>
        </p:nvPicPr>
        <p:blipFill>
          <a:blip r:embed="rId8">
            <a:extLst>
              <a:ext uri="{28A0092B-C50C-407E-A947-70E740481C1C}">
                <a14:useLocalDpi xmlns:a14="http://schemas.microsoft.com/office/drawing/2010/main" val="0"/>
              </a:ext>
            </a:extLst>
          </a:blip>
          <a:srcRect/>
          <a:stretch>
            <a:fillRect/>
          </a:stretch>
        </p:blipFill>
        <p:spPr bwMode="auto">
          <a:xfrm>
            <a:off x="6216634" y="2114541"/>
            <a:ext cx="4619223" cy="3464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9872349"/>
      </p:ext>
    </p:extLst>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1"/>
                                        </p:tgtEl>
                                      </p:cBhvr>
                                    </p:cmd>
                                  </p:childTnLst>
                                </p:cTn>
                              </p:par>
                            </p:childTnLst>
                          </p:cTn>
                        </p:par>
                      </p:childTnLst>
                    </p:cTn>
                  </p:par>
                </p:childTnLst>
              </p:cTn>
              <p:nextCondLst>
                <p:cond evt="onClick" delay="0">
                  <p:tgtEl>
                    <p:spTgt spid="11"/>
                  </p:tgtEl>
                </p:cond>
              </p:nextCondLst>
            </p:seq>
            <p:video>
              <p:cMediaNode>
                <p:cTn id="7" fill="hold" display="0">
                  <p:stCondLst>
                    <p:cond delay="indefinite"/>
                  </p:stCondLst>
                  <p:endCondLst>
                    <p:cond evt="onNext" delay="0">
                      <p:tgtEl>
                        <p:sldTgt/>
                      </p:tgtEl>
                    </p:cond>
                    <p:cond evt="onPrev" delay="0">
                      <p:tgtEl>
                        <p:sldTgt/>
                      </p:tgtEl>
                    </p:cond>
                  </p:endCondLst>
                </p:cTn>
                <p:tgtEl>
                  <p:spTgt spid="11"/>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video>
              <p:cMediaNode>
                <p:cTn id="13" fill="hold" display="0">
                  <p:stCondLst>
                    <p:cond delay="indefinite"/>
                  </p:stCondLst>
                  <p:endCondLst>
                    <p:cond evt="onNext" delay="0">
                      <p:tgtEl>
                        <p:sldTgt/>
                      </p:tgtEl>
                    </p:cond>
                    <p:cond evt="onPrev" delay="0">
                      <p:tgtEl>
                        <p:sldTgt/>
                      </p:tgtEl>
                    </p:cond>
                  </p:endCondLst>
                </p:cTn>
                <p:tgtEl>
                  <p:spTgt spid="1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1"/>
          <p:cNvSpPr>
            <a:spLocks noChangeArrowheads="1"/>
          </p:cNvSpPr>
          <p:nvPr/>
        </p:nvSpPr>
        <p:spPr bwMode="auto">
          <a:xfrm>
            <a:off x="551384" y="1628801"/>
            <a:ext cx="10945675" cy="4464496"/>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pic>
        <p:nvPicPr>
          <p:cNvPr id="6" name="J1导轨.avi">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3503712" y="2082657"/>
            <a:ext cx="4742379" cy="3556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9887213"/>
      </p:ext>
    </p:extLst>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2" y="802970"/>
            <a:ext cx="6838455"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2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mn-lt"/>
                <a:ea typeface="黑体" panose="02010609060101010101" pitchFamily="49" charset="-122"/>
              </a:rPr>
              <a:t>若三轮推车如图所示。已知</a:t>
            </a:r>
            <a:r>
              <a:rPr lang="en-US" altLang="zh-CN" dirty="0">
                <a:latin typeface="+mn-lt"/>
                <a:ea typeface="黑体" panose="02010609060101010101" pitchFamily="49" charset="-122"/>
              </a:rPr>
              <a:t>AH</a:t>
            </a:r>
            <a:r>
              <a:rPr lang="en-US" altLang="zh-CN" i="0" dirty="0">
                <a:latin typeface="+mn-lt"/>
                <a:ea typeface="黑体" panose="02010609060101010101" pitchFamily="49" charset="-122"/>
              </a:rPr>
              <a:t>=</a:t>
            </a:r>
            <a:r>
              <a:rPr lang="en-US" altLang="zh-CN" dirty="0">
                <a:latin typeface="+mn-lt"/>
                <a:ea typeface="黑体" panose="02010609060101010101" pitchFamily="49" charset="-122"/>
              </a:rPr>
              <a:t>BH</a:t>
            </a:r>
            <a:r>
              <a:rPr lang="en-US" altLang="zh-CN" i="0" dirty="0">
                <a:latin typeface="+mn-lt"/>
                <a:ea typeface="黑体" panose="02010609060101010101" pitchFamily="49" charset="-122"/>
              </a:rPr>
              <a:t>=0.5m</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CH</a:t>
            </a:r>
            <a:r>
              <a:rPr lang="en-US" altLang="zh-CN" i="0" dirty="0">
                <a:latin typeface="+mn-lt"/>
                <a:ea typeface="黑体" panose="02010609060101010101" pitchFamily="49" charset="-122"/>
              </a:rPr>
              <a:t>=1.5m</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EH</a:t>
            </a:r>
            <a:r>
              <a:rPr lang="en-US" altLang="zh-CN" i="0" dirty="0">
                <a:latin typeface="+mn-lt"/>
                <a:ea typeface="黑体" panose="02010609060101010101" pitchFamily="49" charset="-122"/>
              </a:rPr>
              <a:t>=0.3m</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ED</a:t>
            </a:r>
            <a:r>
              <a:rPr lang="en-US" altLang="zh-CN" i="0" dirty="0">
                <a:latin typeface="+mn-lt"/>
                <a:ea typeface="黑体" panose="02010609060101010101" pitchFamily="49" charset="-122"/>
              </a:rPr>
              <a:t>=0.5m</a:t>
            </a:r>
            <a:r>
              <a:rPr lang="zh-CN" altLang="en-US" i="0" dirty="0">
                <a:latin typeface="+mn-lt"/>
                <a:ea typeface="黑体" panose="02010609060101010101" pitchFamily="49" charset="-122"/>
              </a:rPr>
              <a:t>，荷载</a:t>
            </a:r>
            <a:r>
              <a:rPr lang="en-US" altLang="zh-CN" dirty="0">
                <a:latin typeface="+mn-lt"/>
                <a:ea typeface="黑体" panose="02010609060101010101" pitchFamily="49" charset="-122"/>
              </a:rPr>
              <a:t>G</a:t>
            </a:r>
            <a:r>
              <a:rPr lang="en-US" altLang="zh-CN" i="0" dirty="0">
                <a:latin typeface="+mn-lt"/>
                <a:ea typeface="黑体" panose="02010609060101010101" pitchFamily="49" charset="-122"/>
              </a:rPr>
              <a:t>=1.5kN</a:t>
            </a:r>
            <a:r>
              <a:rPr lang="zh-CN" altLang="en-US" i="0" dirty="0">
                <a:latin typeface="+mn-lt"/>
                <a:ea typeface="黑体" panose="02010609060101010101" pitchFamily="49" charset="-122"/>
              </a:rPr>
              <a:t>。试求</a:t>
            </a:r>
            <a:r>
              <a:rPr lang="en-US" altLang="zh-CN" dirty="0">
                <a:latin typeface="+mn-lt"/>
                <a:ea typeface="黑体" panose="02010609060101010101" pitchFamily="49" charset="-122"/>
              </a:rPr>
              <a:t>A</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B</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C</a:t>
            </a:r>
            <a:r>
              <a:rPr lang="zh-CN" altLang="en-US" i="0" dirty="0">
                <a:latin typeface="+mn-lt"/>
                <a:ea typeface="黑体" panose="02010609060101010101" pitchFamily="49" charset="-122"/>
              </a:rPr>
              <a:t>三轮所受到的压力。</a:t>
            </a:r>
          </a:p>
          <a:p>
            <a:pPr algn="l">
              <a:spcBef>
                <a:spcPct val="0"/>
              </a:spcBef>
              <a:buClrTx/>
              <a:buSzTx/>
              <a:buNone/>
            </a:pPr>
            <a:endParaRPr lang="zh-CN" altLang="en-US" i="0" dirty="0">
              <a:latin typeface="+mj-lt"/>
              <a:ea typeface="黑体" panose="02010609060101010101" pitchFamily="49" charset="-122"/>
            </a:endParaRPr>
          </a:p>
        </p:txBody>
      </p:sp>
      <p:sp>
        <p:nvSpPr>
          <p:cNvPr id="33" name="Rectangle 61"/>
          <p:cNvSpPr>
            <a:spLocks noChangeArrowheads="1"/>
          </p:cNvSpPr>
          <p:nvPr/>
        </p:nvSpPr>
        <p:spPr bwMode="auto">
          <a:xfrm>
            <a:off x="7392143" y="980729"/>
            <a:ext cx="4320481" cy="3744416"/>
          </a:xfrm>
          <a:prstGeom prst="rect">
            <a:avLst/>
          </a:prstGeom>
          <a:solidFill>
            <a:srgbClr val="B9CDE5"/>
          </a:solidFill>
          <a:ln>
            <a:noFill/>
          </a:ln>
          <a:effectLst/>
        </p:spPr>
        <p:txBody>
          <a:bodyPr wrap="none" anchor="ctr"/>
          <a:lstStyle/>
          <a:p>
            <a:endParaRPr lang="zh-CN" altLang="en-US"/>
          </a:p>
        </p:txBody>
      </p:sp>
      <p:sp>
        <p:nvSpPr>
          <p:cNvPr id="148" name="Rectangle 5"/>
          <p:cNvSpPr>
            <a:spLocks noChangeArrowheads="1"/>
          </p:cNvSpPr>
          <p:nvPr/>
        </p:nvSpPr>
        <p:spPr bwMode="auto">
          <a:xfrm>
            <a:off x="279412" y="2089703"/>
            <a:ext cx="10801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a:t>
            </a:r>
            <a:r>
              <a:rPr lang="en-US" altLang="zh-CN" i="0" dirty="0">
                <a:latin typeface="+mn-lt"/>
                <a:ea typeface="黑体" panose="02010609060101010101" pitchFamily="49" charset="-122"/>
              </a:rPr>
              <a:t> 1</a:t>
            </a:r>
            <a:r>
              <a:rPr lang="zh-CN" altLang="en-US" i="0" dirty="0">
                <a:latin typeface="+mn-lt"/>
                <a:ea typeface="黑体" panose="02010609060101010101" pitchFamily="49" charset="-122"/>
              </a:rPr>
              <a:t>）作出受力图</a:t>
            </a:r>
          </a:p>
          <a:p>
            <a:pPr algn="l">
              <a:lnSpc>
                <a:spcPct val="120000"/>
              </a:lnSpc>
              <a:buNone/>
            </a:pPr>
            <a:r>
              <a:rPr lang="zh-CN" altLang="en-US" i="0" dirty="0">
                <a:latin typeface="+mn-lt"/>
                <a:ea typeface="黑体" panose="02010609060101010101" pitchFamily="49" charset="-122"/>
              </a:rPr>
              <a:t>       </a:t>
            </a:r>
            <a:r>
              <a:rPr lang="en-US" altLang="zh-CN" i="0" dirty="0">
                <a:latin typeface="+mn-lt"/>
                <a:ea typeface="黑体" panose="02010609060101010101" pitchFamily="49" charset="-122"/>
              </a:rPr>
              <a:t>2</a:t>
            </a:r>
            <a:r>
              <a:rPr lang="zh-CN" altLang="en-US" i="0" dirty="0">
                <a:latin typeface="+mn-lt"/>
                <a:ea typeface="黑体" panose="02010609060101010101" pitchFamily="49" charset="-122"/>
              </a:rPr>
              <a:t>）并标上直角坐标系</a:t>
            </a:r>
          </a:p>
          <a:p>
            <a:pPr algn="l">
              <a:lnSpc>
                <a:spcPct val="120000"/>
              </a:lnSpc>
              <a:buNone/>
            </a:pPr>
            <a:r>
              <a:rPr lang="en-US" altLang="zh-CN" i="0" dirty="0">
                <a:latin typeface="+mn-lt"/>
                <a:ea typeface="黑体" panose="02010609060101010101" pitchFamily="49" charset="-122"/>
              </a:rPr>
              <a:t>       3</a:t>
            </a:r>
            <a:r>
              <a:rPr lang="zh-CN" altLang="en-US" i="0" dirty="0">
                <a:latin typeface="+mn-lt"/>
                <a:ea typeface="黑体" panose="02010609060101010101" pitchFamily="49" charset="-122"/>
              </a:rPr>
              <a:t>）列力系的平衡方程求解</a:t>
            </a:r>
          </a:p>
        </p:txBody>
      </p:sp>
      <p:sp>
        <p:nvSpPr>
          <p:cNvPr id="155" name="Line 3"/>
          <p:cNvSpPr>
            <a:spLocks noChangeShapeType="1"/>
          </p:cNvSpPr>
          <p:nvPr/>
        </p:nvSpPr>
        <p:spPr bwMode="auto">
          <a:xfrm>
            <a:off x="9431561" y="3154191"/>
            <a:ext cx="0" cy="109696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6" name="Text Box 8"/>
          <p:cNvSpPr txBox="1">
            <a:spLocks noChangeAspect="1" noChangeArrowheads="1"/>
          </p:cNvSpPr>
          <p:nvPr/>
        </p:nvSpPr>
        <p:spPr bwMode="auto">
          <a:xfrm>
            <a:off x="9449024" y="3727278"/>
            <a:ext cx="59055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G</a:t>
            </a:r>
            <a:endParaRPr lang="en-US" altLang="zh-CN" i="1" baseline="-25000">
              <a:solidFill>
                <a:srgbClr val="FF0000"/>
              </a:solidFill>
            </a:endParaRPr>
          </a:p>
        </p:txBody>
      </p:sp>
      <p:sp>
        <p:nvSpPr>
          <p:cNvPr id="157" name="Text Box 9"/>
          <p:cNvSpPr txBox="1">
            <a:spLocks noChangeArrowheads="1"/>
          </p:cNvSpPr>
          <p:nvPr/>
        </p:nvSpPr>
        <p:spPr bwMode="auto">
          <a:xfrm>
            <a:off x="7759924" y="3449466"/>
            <a:ext cx="506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A</a:t>
            </a:r>
          </a:p>
        </p:txBody>
      </p:sp>
      <p:sp>
        <p:nvSpPr>
          <p:cNvPr id="158" name="Text Box 10"/>
          <p:cNvSpPr txBox="1">
            <a:spLocks noChangeArrowheads="1"/>
          </p:cNvSpPr>
          <p:nvPr/>
        </p:nvSpPr>
        <p:spPr bwMode="auto">
          <a:xfrm>
            <a:off x="10769824" y="3158953"/>
            <a:ext cx="506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C</a:t>
            </a:r>
          </a:p>
        </p:txBody>
      </p:sp>
      <p:sp>
        <p:nvSpPr>
          <p:cNvPr id="159" name="Text Box 11"/>
          <p:cNvSpPr txBox="1">
            <a:spLocks noChangeAspect="1" noChangeArrowheads="1"/>
          </p:cNvSpPr>
          <p:nvPr/>
        </p:nvSpPr>
        <p:spPr bwMode="auto">
          <a:xfrm>
            <a:off x="8844186" y="1130128"/>
            <a:ext cx="482600" cy="601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00FF"/>
                </a:solidFill>
                <a:ea typeface="宋体" panose="02010600030101010101" pitchFamily="2" charset="-122"/>
              </a:rPr>
              <a:t>z</a:t>
            </a:r>
          </a:p>
        </p:txBody>
      </p:sp>
      <p:sp>
        <p:nvSpPr>
          <p:cNvPr id="160" name="Text Box 12"/>
          <p:cNvSpPr txBox="1">
            <a:spLocks noChangeAspect="1" noChangeArrowheads="1"/>
          </p:cNvSpPr>
          <p:nvPr/>
        </p:nvSpPr>
        <p:spPr bwMode="auto">
          <a:xfrm>
            <a:off x="10947624" y="2489028"/>
            <a:ext cx="401637"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00FF"/>
                </a:solidFill>
                <a:ea typeface="宋体" panose="02010600030101010101" pitchFamily="2" charset="-122"/>
              </a:rPr>
              <a:t>y</a:t>
            </a:r>
          </a:p>
        </p:txBody>
      </p:sp>
      <p:sp>
        <p:nvSpPr>
          <p:cNvPr id="161" name="Line 13"/>
          <p:cNvSpPr>
            <a:spLocks noChangeShapeType="1"/>
          </p:cNvSpPr>
          <p:nvPr/>
        </p:nvSpPr>
        <p:spPr bwMode="auto">
          <a:xfrm flipV="1">
            <a:off x="8882286" y="1331741"/>
            <a:ext cx="0" cy="1609725"/>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2" name="Line 14"/>
          <p:cNvSpPr>
            <a:spLocks noChangeShapeType="1"/>
          </p:cNvSpPr>
          <p:nvPr/>
        </p:nvSpPr>
        <p:spPr bwMode="auto">
          <a:xfrm flipH="1">
            <a:off x="7956774" y="2928766"/>
            <a:ext cx="923925" cy="100965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3" name="Text Box 15"/>
          <p:cNvSpPr txBox="1">
            <a:spLocks noChangeAspect="1" noChangeArrowheads="1"/>
          </p:cNvSpPr>
          <p:nvPr/>
        </p:nvSpPr>
        <p:spPr bwMode="auto">
          <a:xfrm>
            <a:off x="7958361" y="3654253"/>
            <a:ext cx="400050"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00FF"/>
                </a:solidFill>
                <a:ea typeface="宋体" panose="02010600030101010101" pitchFamily="2" charset="-122"/>
              </a:rPr>
              <a:t>x</a:t>
            </a:r>
          </a:p>
        </p:txBody>
      </p:sp>
      <p:sp>
        <p:nvSpPr>
          <p:cNvPr id="164" name="Line 16"/>
          <p:cNvSpPr>
            <a:spLocks noChangeShapeType="1"/>
          </p:cNvSpPr>
          <p:nvPr/>
        </p:nvSpPr>
        <p:spPr bwMode="auto">
          <a:xfrm>
            <a:off x="8877524" y="2938291"/>
            <a:ext cx="2312987"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5" name="Line 17"/>
          <p:cNvSpPr>
            <a:spLocks noChangeShapeType="1"/>
          </p:cNvSpPr>
          <p:nvPr/>
        </p:nvSpPr>
        <p:spPr bwMode="auto">
          <a:xfrm flipV="1">
            <a:off x="8896574" y="2887491"/>
            <a:ext cx="0" cy="76041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 name="Text Box 18"/>
          <p:cNvSpPr txBox="1">
            <a:spLocks noChangeAspect="1" noChangeArrowheads="1"/>
          </p:cNvSpPr>
          <p:nvPr/>
        </p:nvSpPr>
        <p:spPr bwMode="auto">
          <a:xfrm>
            <a:off x="8836249" y="3422478"/>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a:t>
            </a:r>
            <a:endParaRPr lang="en-US" altLang="zh-CN" i="1" baseline="-25000">
              <a:solidFill>
                <a:srgbClr val="FF0000"/>
              </a:solidFill>
            </a:endParaRPr>
          </a:p>
        </p:txBody>
      </p:sp>
      <p:sp>
        <p:nvSpPr>
          <p:cNvPr id="167" name="Line 19"/>
          <p:cNvSpPr>
            <a:spLocks noChangeShapeType="1"/>
          </p:cNvSpPr>
          <p:nvPr/>
        </p:nvSpPr>
        <p:spPr bwMode="auto">
          <a:xfrm flipV="1">
            <a:off x="8212361" y="3609803"/>
            <a:ext cx="0" cy="7604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 name="Text Box 20"/>
          <p:cNvSpPr txBox="1">
            <a:spLocks noChangeAspect="1" noChangeArrowheads="1"/>
          </p:cNvSpPr>
          <p:nvPr/>
        </p:nvSpPr>
        <p:spPr bwMode="auto">
          <a:xfrm>
            <a:off x="8221886" y="4032078"/>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a:t>
            </a:r>
            <a:endParaRPr lang="en-US" altLang="zh-CN" i="1" baseline="-25000">
              <a:solidFill>
                <a:srgbClr val="FF0000"/>
              </a:solidFill>
            </a:endParaRPr>
          </a:p>
        </p:txBody>
      </p:sp>
      <p:sp>
        <p:nvSpPr>
          <p:cNvPr id="169" name="Line 21"/>
          <p:cNvSpPr>
            <a:spLocks noChangeShapeType="1"/>
          </p:cNvSpPr>
          <p:nvPr/>
        </p:nvSpPr>
        <p:spPr bwMode="auto">
          <a:xfrm flipV="1">
            <a:off x="10744424" y="3468516"/>
            <a:ext cx="0" cy="76041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 name="Text Box 22"/>
          <p:cNvSpPr txBox="1">
            <a:spLocks noChangeAspect="1" noChangeArrowheads="1"/>
          </p:cNvSpPr>
          <p:nvPr/>
        </p:nvSpPr>
        <p:spPr bwMode="auto">
          <a:xfrm>
            <a:off x="10120536" y="3905078"/>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C</a:t>
            </a:r>
            <a:endParaRPr lang="en-US" altLang="zh-CN" i="1" baseline="-25000">
              <a:solidFill>
                <a:srgbClr val="FF0000"/>
              </a:solidFill>
            </a:endParaRPr>
          </a:p>
        </p:txBody>
      </p:sp>
      <p:grpSp>
        <p:nvGrpSpPr>
          <p:cNvPr id="171" name="Group 23"/>
          <p:cNvGrpSpPr>
            <a:grpSpLocks/>
          </p:cNvGrpSpPr>
          <p:nvPr/>
        </p:nvGrpSpPr>
        <p:grpSpPr bwMode="auto">
          <a:xfrm>
            <a:off x="7624986" y="1585741"/>
            <a:ext cx="3635375" cy="2151062"/>
            <a:chOff x="3336" y="287"/>
            <a:chExt cx="2290" cy="1355"/>
          </a:xfrm>
        </p:grpSpPr>
        <p:sp>
          <p:nvSpPr>
            <p:cNvPr id="172" name="AutoShape 24"/>
            <p:cNvSpPr>
              <a:spLocks noChangeArrowheads="1"/>
            </p:cNvSpPr>
            <p:nvPr/>
          </p:nvSpPr>
          <p:spPr bwMode="auto">
            <a:xfrm>
              <a:off x="4037" y="954"/>
              <a:ext cx="199" cy="187"/>
            </a:xfrm>
            <a:custGeom>
              <a:avLst/>
              <a:gdLst>
                <a:gd name="G0" fmla="+- 7164 0 0"/>
                <a:gd name="G1" fmla="+- 21600 0 7164"/>
                <a:gd name="G2" fmla="+- 21600 0 716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7164" y="10800"/>
                  </a:moveTo>
                  <a:cubicBezTo>
                    <a:pt x="7164" y="12808"/>
                    <a:pt x="8792" y="14436"/>
                    <a:pt x="10800" y="14436"/>
                  </a:cubicBezTo>
                  <a:cubicBezTo>
                    <a:pt x="12808" y="14436"/>
                    <a:pt x="14436" y="12808"/>
                    <a:pt x="14436" y="10800"/>
                  </a:cubicBezTo>
                  <a:cubicBezTo>
                    <a:pt x="14436" y="8792"/>
                    <a:pt x="12808" y="7164"/>
                    <a:pt x="10800" y="7164"/>
                  </a:cubicBezTo>
                  <a:cubicBezTo>
                    <a:pt x="8792" y="7164"/>
                    <a:pt x="7164" y="8792"/>
                    <a:pt x="7164" y="10800"/>
                  </a:cubicBezTo>
                  <a:close/>
                </a:path>
              </a:pathLst>
            </a:custGeom>
            <a:gradFill rotWithShape="1">
              <a:gsLst>
                <a:gs pos="0">
                  <a:srgbClr val="5F5F5F"/>
                </a:gs>
                <a:gs pos="100000">
                  <a:srgbClr val="5F5F5F">
                    <a:gamma/>
                    <a:shade val="46275"/>
                    <a:invGamma/>
                  </a:srgbClr>
                </a:gs>
              </a:gsLst>
              <a:path path="rect">
                <a:fillToRect l="50000" t="50000" r="50000" b="50000"/>
              </a:path>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3" name="AutoShape 25"/>
            <p:cNvSpPr>
              <a:spLocks noChangeArrowheads="1"/>
            </p:cNvSpPr>
            <p:nvPr/>
          </p:nvSpPr>
          <p:spPr bwMode="auto">
            <a:xfrm flipV="1">
              <a:off x="4060" y="968"/>
              <a:ext cx="152" cy="124"/>
            </a:xfrm>
            <a:prstGeom prst="triangle">
              <a:avLst>
                <a:gd name="adj" fmla="val 50000"/>
              </a:avLst>
            </a:prstGeom>
            <a:gradFill rotWithShape="1">
              <a:gsLst>
                <a:gs pos="0">
                  <a:srgbClr val="5F5F5F"/>
                </a:gs>
                <a:gs pos="100000">
                  <a:srgbClr val="5F5F5F">
                    <a:gamma/>
                    <a:shade val="46275"/>
                    <a:invGamma/>
                  </a:srgbClr>
                </a:gs>
              </a:gsLst>
              <a:lin ang="54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4" name="AutoShape 26"/>
            <p:cNvSpPr>
              <a:spLocks noChangeArrowheads="1"/>
            </p:cNvSpPr>
            <p:nvPr/>
          </p:nvSpPr>
          <p:spPr bwMode="auto">
            <a:xfrm rot="-24374017">
              <a:off x="3550" y="1254"/>
              <a:ext cx="715" cy="61"/>
            </a:xfrm>
            <a:prstGeom prst="roundRect">
              <a:avLst>
                <a:gd name="adj" fmla="val 50000"/>
              </a:avLst>
            </a:prstGeom>
            <a:gradFill rotWithShape="1">
              <a:gsLst>
                <a:gs pos="0">
                  <a:srgbClr val="FF9900"/>
                </a:gs>
                <a:gs pos="50000">
                  <a:srgbClr val="FFFF00"/>
                </a:gs>
                <a:gs pos="100000">
                  <a:srgbClr val="FF9900"/>
                </a:gs>
              </a:gsLst>
              <a:lin ang="2700000" scaled="1"/>
            </a:gra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5" name="AutoShape 27"/>
            <p:cNvSpPr>
              <a:spLocks noChangeArrowheads="1"/>
            </p:cNvSpPr>
            <p:nvPr/>
          </p:nvSpPr>
          <p:spPr bwMode="auto">
            <a:xfrm flipV="1">
              <a:off x="3640" y="1388"/>
              <a:ext cx="152" cy="124"/>
            </a:xfrm>
            <a:prstGeom prst="triangle">
              <a:avLst>
                <a:gd name="adj" fmla="val 50000"/>
              </a:avLst>
            </a:prstGeom>
            <a:gradFill rotWithShape="1">
              <a:gsLst>
                <a:gs pos="0">
                  <a:srgbClr val="5F5F5F"/>
                </a:gs>
                <a:gs pos="100000">
                  <a:srgbClr val="5F5F5F">
                    <a:gamma/>
                    <a:shade val="46275"/>
                    <a:invGamma/>
                  </a:srgbClr>
                </a:gs>
              </a:gsLst>
              <a:lin ang="54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6" name="AutoShape 28"/>
            <p:cNvSpPr>
              <a:spLocks noChangeArrowheads="1"/>
            </p:cNvSpPr>
            <p:nvPr/>
          </p:nvSpPr>
          <p:spPr bwMode="auto">
            <a:xfrm>
              <a:off x="3593" y="1406"/>
              <a:ext cx="199" cy="187"/>
            </a:xfrm>
            <a:custGeom>
              <a:avLst/>
              <a:gdLst>
                <a:gd name="G0" fmla="+- 7164 0 0"/>
                <a:gd name="G1" fmla="+- 21600 0 7164"/>
                <a:gd name="G2" fmla="+- 21600 0 716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7164" y="10800"/>
                  </a:moveTo>
                  <a:cubicBezTo>
                    <a:pt x="7164" y="12808"/>
                    <a:pt x="8792" y="14436"/>
                    <a:pt x="10800" y="14436"/>
                  </a:cubicBezTo>
                  <a:cubicBezTo>
                    <a:pt x="12808" y="14436"/>
                    <a:pt x="14436" y="12808"/>
                    <a:pt x="14436" y="10800"/>
                  </a:cubicBezTo>
                  <a:cubicBezTo>
                    <a:pt x="14436" y="8792"/>
                    <a:pt x="12808" y="7164"/>
                    <a:pt x="10800" y="7164"/>
                  </a:cubicBezTo>
                  <a:cubicBezTo>
                    <a:pt x="8792" y="7164"/>
                    <a:pt x="7164" y="8792"/>
                    <a:pt x="7164" y="10800"/>
                  </a:cubicBezTo>
                  <a:close/>
                </a:path>
              </a:pathLst>
            </a:custGeom>
            <a:gradFill rotWithShape="1">
              <a:gsLst>
                <a:gs pos="0">
                  <a:srgbClr val="5F5F5F"/>
                </a:gs>
                <a:gs pos="100000">
                  <a:srgbClr val="5F5F5F">
                    <a:gamma/>
                    <a:shade val="46275"/>
                    <a:invGamma/>
                  </a:srgbClr>
                </a:gs>
              </a:gsLst>
              <a:path path="rect">
                <a:fillToRect l="50000" t="50000" r="50000" b="50000"/>
              </a:path>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7" name="Oval 29"/>
            <p:cNvSpPr>
              <a:spLocks noChangeArrowheads="1"/>
            </p:cNvSpPr>
            <p:nvPr/>
          </p:nvSpPr>
          <p:spPr bwMode="auto">
            <a:xfrm>
              <a:off x="3660" y="1472"/>
              <a:ext cx="60" cy="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 name="AutoShape 30"/>
            <p:cNvSpPr>
              <a:spLocks noChangeArrowheads="1"/>
            </p:cNvSpPr>
            <p:nvPr/>
          </p:nvSpPr>
          <p:spPr bwMode="auto">
            <a:xfrm>
              <a:off x="3336" y="917"/>
              <a:ext cx="2004" cy="453"/>
            </a:xfrm>
            <a:prstGeom prst="parallelogram">
              <a:avLst>
                <a:gd name="adj" fmla="val 101769"/>
              </a:avLst>
            </a:prstGeom>
            <a:gradFill rotWithShape="1">
              <a:gsLst>
                <a:gs pos="0">
                  <a:srgbClr val="B2B2B2">
                    <a:alpha val="39999"/>
                  </a:srgbClr>
                </a:gs>
                <a:gs pos="100000">
                  <a:srgbClr val="B2B2B2">
                    <a:gamma/>
                    <a:shade val="46275"/>
                    <a:invGamma/>
                    <a:alpha val="39999"/>
                  </a:srgbClr>
                </a:gs>
              </a:gsLst>
              <a:lin ang="5400000" scaled="1"/>
            </a:gradFill>
            <a:ln w="9525" algn="ctr">
              <a:miter lim="800000"/>
              <a:headEnd/>
              <a:tailEnd/>
            </a:ln>
            <a:effectLst/>
            <a:scene3d>
              <a:camera prst="legacyObliqueBottom"/>
              <a:lightRig rig="legacyFlat3" dir="b"/>
            </a:scene3d>
            <a:sp3d extrusionH="125400" prstMaterial="legacyMatte">
              <a:bevelT w="13500" h="13500" prst="angle"/>
              <a:bevelB w="13500" h="13500" prst="angle"/>
              <a:extrusionClr>
                <a:srgbClr val="B2B2B2"/>
              </a:extrusionClr>
              <a:contourClr>
                <a:srgbClr val="B2B2B2"/>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flatTx/>
            </a:bodyPr>
            <a:lstStyle/>
            <a:p>
              <a:endParaRPr lang="zh-CN" altLang="en-US"/>
            </a:p>
          </p:txBody>
        </p:sp>
        <p:sp>
          <p:nvSpPr>
            <p:cNvPr id="179" name="Freeform 31"/>
            <p:cNvSpPr>
              <a:spLocks/>
            </p:cNvSpPr>
            <p:nvPr/>
          </p:nvSpPr>
          <p:spPr bwMode="auto">
            <a:xfrm>
              <a:off x="4892" y="287"/>
              <a:ext cx="734" cy="1105"/>
            </a:xfrm>
            <a:custGeom>
              <a:avLst/>
              <a:gdLst>
                <a:gd name="T0" fmla="*/ 500 w 734"/>
                <a:gd name="T1" fmla="*/ 633 h 1105"/>
                <a:gd name="T2" fmla="*/ 0 w 734"/>
                <a:gd name="T3" fmla="*/ 1105 h 1105"/>
                <a:gd name="T4" fmla="*/ 426 w 734"/>
                <a:gd name="T5" fmla="*/ 259 h 1105"/>
                <a:gd name="T6" fmla="*/ 734 w 734"/>
                <a:gd name="T7" fmla="*/ 0 h 1105"/>
                <a:gd name="T8" fmla="*/ 492 w 734"/>
                <a:gd name="T9" fmla="*/ 634 h 1105"/>
                <a:gd name="T10" fmla="*/ 460 w 734"/>
                <a:gd name="T11" fmla="*/ 633 h 1105"/>
                <a:gd name="T12" fmla="*/ 688 w 734"/>
                <a:gd name="T13" fmla="*/ 69 h 1105"/>
                <a:gd name="T14" fmla="*/ 452 w 734"/>
                <a:gd name="T15" fmla="*/ 265 h 1105"/>
                <a:gd name="T16" fmla="*/ 72 w 734"/>
                <a:gd name="T17" fmla="*/ 1013 h 1105"/>
                <a:gd name="T18" fmla="*/ 464 w 734"/>
                <a:gd name="T19" fmla="*/ 637 h 1105"/>
                <a:gd name="T20" fmla="*/ 440 w 734"/>
                <a:gd name="T21" fmla="*/ 637 h 1105"/>
                <a:gd name="T22" fmla="*/ 500 w 734"/>
                <a:gd name="T23" fmla="*/ 633 h 1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4" h="1105">
                  <a:moveTo>
                    <a:pt x="500" y="633"/>
                  </a:moveTo>
                  <a:lnTo>
                    <a:pt x="0" y="1105"/>
                  </a:lnTo>
                  <a:lnTo>
                    <a:pt x="426" y="259"/>
                  </a:lnTo>
                  <a:lnTo>
                    <a:pt x="734" y="0"/>
                  </a:lnTo>
                  <a:lnTo>
                    <a:pt x="492" y="634"/>
                  </a:lnTo>
                  <a:lnTo>
                    <a:pt x="460" y="633"/>
                  </a:lnTo>
                  <a:lnTo>
                    <a:pt x="688" y="69"/>
                  </a:lnTo>
                  <a:lnTo>
                    <a:pt x="452" y="265"/>
                  </a:lnTo>
                  <a:lnTo>
                    <a:pt x="72" y="1013"/>
                  </a:lnTo>
                  <a:lnTo>
                    <a:pt x="464" y="637"/>
                  </a:lnTo>
                  <a:lnTo>
                    <a:pt x="440" y="637"/>
                  </a:lnTo>
                  <a:lnTo>
                    <a:pt x="500" y="633"/>
                  </a:lnTo>
                  <a:close/>
                </a:path>
              </a:pathLst>
            </a:custGeom>
            <a:gradFill rotWithShape="1">
              <a:gsLst>
                <a:gs pos="0">
                  <a:srgbClr val="FF9900"/>
                </a:gs>
                <a:gs pos="100000">
                  <a:srgbClr val="FF9900">
                    <a:gamma/>
                    <a:shade val="46275"/>
                    <a:invGamma/>
                  </a:srgbClr>
                </a:gs>
              </a:gsLst>
              <a:lin ang="5400000" scaled="1"/>
            </a:gradFill>
            <a:ln>
              <a:noFill/>
            </a:ln>
            <a:effectLst/>
            <a:scene3d>
              <a:camera prst="legacyObliqueTopLeft"/>
              <a:lightRig rig="legacyFlat3" dir="t"/>
            </a:scene3d>
            <a:sp3d extrusionH="36500" prstMaterial="legacyMetal">
              <a:bevelT w="13500" h="13500" prst="angle"/>
              <a:bevelB w="13500" h="13500" prst="angle"/>
              <a:extrusionClr>
                <a:srgbClr val="FF9900"/>
              </a:extrusionClr>
              <a:contourClr>
                <a:srgbClr val="FF9900"/>
              </a:contourClr>
            </a:sp3d>
            <a:extLst>
              <a:ext uri="{91240B29-F687-4F45-9708-019B960494DF}">
                <a14:hiddenLine xmlns:a14="http://schemas.microsoft.com/office/drawing/2010/main" w="9525" cap="flat" cmpd="sng">
                  <a:no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flatTx/>
            </a:bodyPr>
            <a:lstStyle/>
            <a:p>
              <a:endParaRPr lang="zh-CN" altLang="en-US"/>
            </a:p>
          </p:txBody>
        </p:sp>
        <p:sp>
          <p:nvSpPr>
            <p:cNvPr id="180" name="Rectangle 32"/>
            <p:cNvSpPr>
              <a:spLocks noChangeArrowheads="1"/>
            </p:cNvSpPr>
            <p:nvPr/>
          </p:nvSpPr>
          <p:spPr bwMode="auto">
            <a:xfrm>
              <a:off x="5144" y="1100"/>
              <a:ext cx="136" cy="21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Oval 33"/>
            <p:cNvSpPr>
              <a:spLocks noChangeArrowheads="1"/>
            </p:cNvSpPr>
            <p:nvPr/>
          </p:nvSpPr>
          <p:spPr bwMode="auto">
            <a:xfrm>
              <a:off x="5148" y="1056"/>
              <a:ext cx="136" cy="64"/>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 name="AutoShape 34"/>
            <p:cNvSpPr>
              <a:spLocks noChangeArrowheads="1"/>
            </p:cNvSpPr>
            <p:nvPr/>
          </p:nvSpPr>
          <p:spPr bwMode="auto">
            <a:xfrm>
              <a:off x="5213" y="1314"/>
              <a:ext cx="199" cy="187"/>
            </a:xfrm>
            <a:custGeom>
              <a:avLst/>
              <a:gdLst>
                <a:gd name="G0" fmla="+- 7164 0 0"/>
                <a:gd name="G1" fmla="+- 21600 0 7164"/>
                <a:gd name="G2" fmla="+- 21600 0 716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7164" y="10800"/>
                  </a:moveTo>
                  <a:cubicBezTo>
                    <a:pt x="7164" y="12808"/>
                    <a:pt x="8792" y="14436"/>
                    <a:pt x="10800" y="14436"/>
                  </a:cubicBezTo>
                  <a:cubicBezTo>
                    <a:pt x="12808" y="14436"/>
                    <a:pt x="14436" y="12808"/>
                    <a:pt x="14436" y="10800"/>
                  </a:cubicBezTo>
                  <a:cubicBezTo>
                    <a:pt x="14436" y="8792"/>
                    <a:pt x="12808" y="7164"/>
                    <a:pt x="10800" y="7164"/>
                  </a:cubicBezTo>
                  <a:cubicBezTo>
                    <a:pt x="8792" y="7164"/>
                    <a:pt x="7164" y="8792"/>
                    <a:pt x="7164" y="10800"/>
                  </a:cubicBezTo>
                  <a:close/>
                </a:path>
              </a:pathLst>
            </a:custGeom>
            <a:gradFill rotWithShape="1">
              <a:gsLst>
                <a:gs pos="0">
                  <a:srgbClr val="5F5F5F"/>
                </a:gs>
                <a:gs pos="100000">
                  <a:srgbClr val="5F5F5F">
                    <a:gamma/>
                    <a:shade val="46275"/>
                    <a:invGamma/>
                  </a:srgbClr>
                </a:gs>
              </a:gsLst>
              <a:path path="rect">
                <a:fillToRect l="50000" t="50000" r="50000" b="50000"/>
              </a:path>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3" name="Freeform 35"/>
            <p:cNvSpPr>
              <a:spLocks/>
            </p:cNvSpPr>
            <p:nvPr/>
          </p:nvSpPr>
          <p:spPr bwMode="auto">
            <a:xfrm>
              <a:off x="5172" y="1316"/>
              <a:ext cx="181" cy="174"/>
            </a:xfrm>
            <a:custGeom>
              <a:avLst/>
              <a:gdLst>
                <a:gd name="T0" fmla="*/ 0 w 181"/>
                <a:gd name="T1" fmla="*/ 4 h 174"/>
                <a:gd name="T2" fmla="*/ 4 w 181"/>
                <a:gd name="T3" fmla="*/ 88 h 174"/>
                <a:gd name="T4" fmla="*/ 180 w 181"/>
                <a:gd name="T5" fmla="*/ 92 h 174"/>
                <a:gd name="T6" fmla="*/ 176 w 181"/>
                <a:gd name="T7" fmla="*/ 68 h 174"/>
                <a:gd name="T8" fmla="*/ 152 w 181"/>
                <a:gd name="T9" fmla="*/ 60 h 174"/>
                <a:gd name="T10" fmla="*/ 140 w 181"/>
                <a:gd name="T11" fmla="*/ 56 h 174"/>
                <a:gd name="T12" fmla="*/ 96 w 181"/>
                <a:gd name="T13" fmla="*/ 16 h 174"/>
                <a:gd name="T14" fmla="*/ 76 w 181"/>
                <a:gd name="T15" fmla="*/ 0 h 174"/>
                <a:gd name="T16" fmla="*/ 0 w 181"/>
                <a:gd name="T17" fmla="*/ 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174">
                  <a:moveTo>
                    <a:pt x="0" y="4"/>
                  </a:moveTo>
                  <a:lnTo>
                    <a:pt x="4" y="88"/>
                  </a:lnTo>
                  <a:cubicBezTo>
                    <a:pt x="68" y="106"/>
                    <a:pt x="164" y="174"/>
                    <a:pt x="180" y="92"/>
                  </a:cubicBezTo>
                  <a:cubicBezTo>
                    <a:pt x="179" y="84"/>
                    <a:pt x="181" y="74"/>
                    <a:pt x="176" y="68"/>
                  </a:cubicBezTo>
                  <a:cubicBezTo>
                    <a:pt x="170" y="62"/>
                    <a:pt x="160" y="63"/>
                    <a:pt x="152" y="60"/>
                  </a:cubicBezTo>
                  <a:cubicBezTo>
                    <a:pt x="148" y="59"/>
                    <a:pt x="140" y="56"/>
                    <a:pt x="140" y="56"/>
                  </a:cubicBezTo>
                  <a:lnTo>
                    <a:pt x="96" y="16"/>
                  </a:lnTo>
                  <a:lnTo>
                    <a:pt x="76" y="0"/>
                  </a:lnTo>
                  <a:lnTo>
                    <a:pt x="0" y="4"/>
                  </a:lnTo>
                  <a:close/>
                </a:path>
              </a:pathLst>
            </a:custGeom>
            <a:gradFill rotWithShape="1">
              <a:gsLst>
                <a:gs pos="0">
                  <a:srgbClr val="FF9900">
                    <a:gamma/>
                    <a:shade val="46275"/>
                    <a:invGamma/>
                  </a:srgbClr>
                </a:gs>
                <a:gs pos="50000">
                  <a:srgbClr val="FF9900"/>
                </a:gs>
                <a:gs pos="100000">
                  <a:srgbClr val="FF9900">
                    <a:gamma/>
                    <a:shade val="46275"/>
                    <a:invGamma/>
                  </a:srgbClr>
                </a:gs>
              </a:gsLst>
              <a:lin ang="0" scaled="1"/>
            </a:gra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 name="Oval 36"/>
            <p:cNvSpPr>
              <a:spLocks noChangeArrowheads="1"/>
            </p:cNvSpPr>
            <p:nvPr/>
          </p:nvSpPr>
          <p:spPr bwMode="auto">
            <a:xfrm>
              <a:off x="5284" y="1380"/>
              <a:ext cx="64" cy="6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85" name="Picture 37" descr="重物2"/>
            <p:cNvPicPr>
              <a:picLocks noChangeAspect="1" noChangeArrowheads="1"/>
            </p:cNvPicPr>
            <p:nvPr/>
          </p:nvPicPr>
          <p:blipFill>
            <a:blip r:embed="rId3">
              <a:extLst>
                <a:ext uri="{28A0092B-C50C-407E-A947-70E740481C1C}">
                  <a14:useLocalDpi xmlns:a14="http://schemas.microsoft.com/office/drawing/2010/main" val="0"/>
                </a:ext>
              </a:extLst>
            </a:blip>
            <a:srcRect l="22760" r="12709" b="7222"/>
            <a:stretch>
              <a:fillRect/>
            </a:stretch>
          </p:blipFill>
          <p:spPr bwMode="auto">
            <a:xfrm>
              <a:off x="4188" y="741"/>
              <a:ext cx="601" cy="648"/>
            </a:xfrm>
            <a:prstGeom prst="rect">
              <a:avLst/>
            </a:prstGeom>
            <a:noFill/>
            <a:extLst>
              <a:ext uri="{909E8E84-426E-40DD-AFC4-6F175D3DCCD1}">
                <a14:hiddenFill xmlns:a14="http://schemas.microsoft.com/office/drawing/2010/main">
                  <a:solidFill>
                    <a:srgbClr val="FFFFFF"/>
                  </a:solidFill>
                </a14:hiddenFill>
              </a:ext>
            </a:extLst>
          </p:spPr>
        </p:pic>
        <p:sp>
          <p:nvSpPr>
            <p:cNvPr id="186" name="Line 38"/>
            <p:cNvSpPr>
              <a:spLocks noChangeShapeType="1"/>
            </p:cNvSpPr>
            <p:nvPr/>
          </p:nvSpPr>
          <p:spPr bwMode="auto">
            <a:xfrm>
              <a:off x="3891" y="1299"/>
              <a:ext cx="4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7" name="Oval 39"/>
            <p:cNvSpPr>
              <a:spLocks noChangeArrowheads="1"/>
            </p:cNvSpPr>
            <p:nvPr/>
          </p:nvSpPr>
          <p:spPr bwMode="auto">
            <a:xfrm>
              <a:off x="3943" y="1178"/>
              <a:ext cx="56" cy="5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8" name="Text Box 44"/>
          <p:cNvSpPr txBox="1">
            <a:spLocks noChangeArrowheads="1"/>
          </p:cNvSpPr>
          <p:nvPr/>
        </p:nvSpPr>
        <p:spPr bwMode="auto">
          <a:xfrm>
            <a:off x="8086949" y="2850978"/>
            <a:ext cx="506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E</a:t>
            </a:r>
          </a:p>
        </p:txBody>
      </p:sp>
      <p:sp>
        <p:nvSpPr>
          <p:cNvPr id="189" name="Text Box 45"/>
          <p:cNvSpPr txBox="1">
            <a:spLocks noChangeArrowheads="1"/>
          </p:cNvSpPr>
          <p:nvPr/>
        </p:nvSpPr>
        <p:spPr bwMode="auto">
          <a:xfrm>
            <a:off x="8298086" y="2636666"/>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H</a:t>
            </a:r>
          </a:p>
        </p:txBody>
      </p:sp>
      <p:sp>
        <p:nvSpPr>
          <p:cNvPr id="190" name="Text Box 46"/>
          <p:cNvSpPr txBox="1">
            <a:spLocks noChangeArrowheads="1"/>
          </p:cNvSpPr>
          <p:nvPr/>
        </p:nvSpPr>
        <p:spPr bwMode="auto">
          <a:xfrm>
            <a:off x="9044211" y="3160541"/>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D</a:t>
            </a:r>
          </a:p>
        </p:txBody>
      </p:sp>
      <p:sp>
        <p:nvSpPr>
          <p:cNvPr id="191" name="Text Box 47"/>
          <p:cNvSpPr txBox="1">
            <a:spLocks noChangeArrowheads="1"/>
          </p:cNvSpPr>
          <p:nvPr/>
        </p:nvSpPr>
        <p:spPr bwMode="auto">
          <a:xfrm>
            <a:off x="8607649" y="2219153"/>
            <a:ext cx="506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B</a:t>
            </a:r>
          </a:p>
        </p:txBody>
      </p:sp>
      <p:sp>
        <p:nvSpPr>
          <p:cNvPr id="192" name="Text Box 7"/>
          <p:cNvSpPr txBox="1">
            <a:spLocks noChangeArrowheads="1"/>
          </p:cNvSpPr>
          <p:nvPr/>
        </p:nvSpPr>
        <p:spPr bwMode="auto">
          <a:xfrm>
            <a:off x="519855" y="3531018"/>
            <a:ext cx="6491288"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b="0" i="0" dirty="0">
                <a:solidFill>
                  <a:srgbClr val="FFFFFF"/>
                </a:solidFill>
                <a:ea typeface="黑体" panose="02010609060101010101" pitchFamily="49" charset="-122"/>
              </a:rPr>
              <a:t>∑</a:t>
            </a:r>
            <a:r>
              <a:rPr kumimoji="1" lang="en-US" altLang="zh-CN" b="0" dirty="0" err="1">
                <a:solidFill>
                  <a:schemeClr val="tx1"/>
                </a:solidFill>
                <a:ea typeface="黑体" panose="02010609060101010101" pitchFamily="49" charset="-122"/>
              </a:rPr>
              <a:t>M</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HC</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G</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DE</a:t>
            </a:r>
            <a:r>
              <a:rPr kumimoji="1" lang="en-US" altLang="zh-CN" b="0" i="0" dirty="0">
                <a:solidFill>
                  <a:schemeClr val="tx1"/>
                </a:solidFill>
                <a:ea typeface="黑体" panose="02010609060101010101" pitchFamily="49" charset="-122"/>
              </a:rPr>
              <a:t>=0</a:t>
            </a:r>
          </a:p>
          <a:p>
            <a:pPr>
              <a:lnSpc>
                <a:spcPct val="120000"/>
              </a:lnSpc>
            </a:pPr>
            <a:r>
              <a:rPr kumimoji="1" lang="en-US" altLang="zh-CN" b="0" dirty="0">
                <a:solidFill>
                  <a:schemeClr val="tx1"/>
                </a:solidFill>
                <a:ea typeface="黑体" panose="02010609060101010101" pitchFamily="49" charset="-122"/>
              </a:rPr>
              <a:t>   F</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G</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DE</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HC</a:t>
            </a:r>
            <a:r>
              <a:rPr kumimoji="1" lang="en-US" altLang="zh-CN" b="0" i="0" dirty="0">
                <a:solidFill>
                  <a:schemeClr val="tx1"/>
                </a:solidFill>
                <a:ea typeface="黑体" panose="02010609060101010101" pitchFamily="49" charset="-122"/>
              </a:rPr>
              <a:t>=1.5kN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0.5m/1.5m=0.5kN</a:t>
            </a:r>
          </a:p>
        </p:txBody>
      </p:sp>
      <p:sp>
        <p:nvSpPr>
          <p:cNvPr id="193" name="Text Box 40"/>
          <p:cNvSpPr txBox="1">
            <a:spLocks noChangeArrowheads="1"/>
          </p:cNvSpPr>
          <p:nvPr/>
        </p:nvSpPr>
        <p:spPr bwMode="auto">
          <a:xfrm>
            <a:off x="711424" y="4418914"/>
            <a:ext cx="8469312" cy="186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G</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EB</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HB</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AB</a:t>
            </a:r>
            <a:r>
              <a:rPr kumimoji="1" lang="en-US" altLang="zh-CN" b="0" i="0" dirty="0">
                <a:solidFill>
                  <a:schemeClr val="tx1"/>
                </a:solidFill>
                <a:ea typeface="黑体" panose="02010609060101010101" pitchFamily="49" charset="-122"/>
              </a:rPr>
              <a:t>=0</a:t>
            </a:r>
          </a:p>
          <a:p>
            <a:pPr>
              <a:lnSpc>
                <a:spcPct val="120000"/>
              </a:lnSpc>
            </a:pP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G</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EB</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AB</a:t>
            </a:r>
            <a:r>
              <a:rPr kumimoji="1" lang="en-US" altLang="zh-CN" b="0" i="0" dirty="0">
                <a:solidFill>
                  <a:schemeClr val="tx1"/>
                </a:solidFill>
                <a:ea typeface="黑体" panose="02010609060101010101" pitchFamily="49" charset="-122"/>
              </a:rPr>
              <a:t> =(1.5kN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0.8m</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0.5kN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0.5m)/1m=0.95kN</a:t>
            </a:r>
          </a:p>
          <a:p>
            <a:pPr>
              <a:lnSpc>
                <a:spcPct val="120000"/>
              </a:lnSpc>
            </a:pP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W</a:t>
            </a:r>
            <a:r>
              <a:rPr kumimoji="1" lang="en-US" altLang="zh-CN" b="0" i="0" dirty="0">
                <a:solidFill>
                  <a:schemeClr val="tx1"/>
                </a:solidFill>
                <a:ea typeface="黑体" panose="02010609060101010101" pitchFamily="49" charset="-122"/>
              </a:rPr>
              <a:t> =0</a:t>
            </a:r>
          </a:p>
          <a:p>
            <a:pPr>
              <a:lnSpc>
                <a:spcPct val="120000"/>
              </a:lnSpc>
            </a:pP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 G</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1.5kN</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0.95kN</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0.5kN =0.05kN</a:t>
            </a:r>
          </a:p>
        </p:txBody>
      </p:sp>
      <p:sp>
        <p:nvSpPr>
          <p:cNvPr id="194" name="Rectangle 5"/>
          <p:cNvSpPr>
            <a:spLocks noChangeArrowheads="1"/>
          </p:cNvSpPr>
          <p:nvPr/>
        </p:nvSpPr>
        <p:spPr bwMode="auto">
          <a:xfrm>
            <a:off x="7367319" y="5330157"/>
            <a:ext cx="4248472"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solidFill>
                  <a:srgbClr val="FF00FF"/>
                </a:solidFill>
                <a:latin typeface="+mn-lt"/>
                <a:ea typeface="黑体" panose="02010609060101010101" pitchFamily="49" charset="-122"/>
              </a:rPr>
              <a:t>若重物放置过偏，致使</a:t>
            </a:r>
            <a:r>
              <a:rPr lang="en-US" altLang="zh-CN" dirty="0">
                <a:solidFill>
                  <a:srgbClr val="FF00FF"/>
                </a:solidFill>
                <a:latin typeface="+mn-lt"/>
                <a:ea typeface="黑体" panose="02010609060101010101" pitchFamily="49" charset="-122"/>
              </a:rPr>
              <a:t>F</a:t>
            </a:r>
            <a:r>
              <a:rPr lang="en-US" altLang="zh-CN" i="0" baseline="-25000" dirty="0">
                <a:solidFill>
                  <a:srgbClr val="FF00FF"/>
                </a:solidFill>
                <a:latin typeface="+mn-lt"/>
                <a:ea typeface="黑体" panose="02010609060101010101" pitchFamily="49" charset="-122"/>
              </a:rPr>
              <a:t>B</a:t>
            </a:r>
            <a:r>
              <a:rPr lang="zh-CN" altLang="en-US" i="0" dirty="0">
                <a:solidFill>
                  <a:srgbClr val="FF00FF"/>
                </a:solidFill>
                <a:latin typeface="+mn-lt"/>
                <a:ea typeface="黑体" panose="02010609060101010101" pitchFamily="49" charset="-122"/>
              </a:rPr>
              <a:t>为负值，则小车将会翻倒</a:t>
            </a:r>
          </a:p>
        </p:txBody>
      </p:sp>
    </p:spTree>
    <p:extLst>
      <p:ext uri="{BB962C8B-B14F-4D97-AF65-F5344CB8AC3E}">
        <p14:creationId xmlns:p14="http://schemas.microsoft.com/office/powerpoint/2010/main" val="14167662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0"/>
                                        <p:tgtEl>
                                          <p:spTgt spid="171"/>
                                        </p:tgtEl>
                                      </p:cBhvr>
                                    </p:animEffect>
                                  </p:childTnLst>
                                </p:cTn>
                              </p:par>
                            </p:childTnLst>
                          </p:cTn>
                        </p:par>
                        <p:par>
                          <p:cTn id="8" fill="hold">
                            <p:stCondLst>
                              <p:cond delay="5000"/>
                            </p:stCondLst>
                            <p:childTnLst>
                              <p:par>
                                <p:cTn id="9" presetID="20" presetClass="entr" presetSubtype="0" fill="hold" grpId="0" nodeType="afterEffect">
                                  <p:stCondLst>
                                    <p:cond delay="0"/>
                                  </p:stCondLst>
                                  <p:childTnLst>
                                    <p:set>
                                      <p:cBhvr>
                                        <p:cTn id="10" dur="1" fill="hold">
                                          <p:stCondLst>
                                            <p:cond delay="0"/>
                                          </p:stCondLst>
                                        </p:cTn>
                                        <p:tgtEl>
                                          <p:spTgt spid="157"/>
                                        </p:tgtEl>
                                        <p:attrNameLst>
                                          <p:attrName>style.visibility</p:attrName>
                                        </p:attrNameLst>
                                      </p:cBhvr>
                                      <p:to>
                                        <p:strVal val="visible"/>
                                      </p:to>
                                    </p:set>
                                    <p:animEffect transition="in" filter="wedge">
                                      <p:cBhvr>
                                        <p:cTn id="11" dur="2000"/>
                                        <p:tgtEl>
                                          <p:spTgt spid="157"/>
                                        </p:tgtEl>
                                      </p:cBhvr>
                                    </p:animEffect>
                                  </p:childTnLst>
                                </p:cTn>
                              </p:par>
                            </p:childTnLst>
                          </p:cTn>
                        </p:par>
                        <p:par>
                          <p:cTn id="12" fill="hold">
                            <p:stCondLst>
                              <p:cond delay="7000"/>
                            </p:stCondLst>
                            <p:childTnLst>
                              <p:par>
                                <p:cTn id="13" presetID="20" presetClass="entr" presetSubtype="0" fill="hold" grpId="0" nodeType="afterEffect">
                                  <p:stCondLst>
                                    <p:cond delay="0"/>
                                  </p:stCondLst>
                                  <p:childTnLst>
                                    <p:set>
                                      <p:cBhvr>
                                        <p:cTn id="14" dur="1" fill="hold">
                                          <p:stCondLst>
                                            <p:cond delay="0"/>
                                          </p:stCondLst>
                                        </p:cTn>
                                        <p:tgtEl>
                                          <p:spTgt spid="191"/>
                                        </p:tgtEl>
                                        <p:attrNameLst>
                                          <p:attrName>style.visibility</p:attrName>
                                        </p:attrNameLst>
                                      </p:cBhvr>
                                      <p:to>
                                        <p:strVal val="visible"/>
                                      </p:to>
                                    </p:set>
                                    <p:animEffect transition="in" filter="wedge">
                                      <p:cBhvr>
                                        <p:cTn id="15" dur="2000"/>
                                        <p:tgtEl>
                                          <p:spTgt spid="191"/>
                                        </p:tgtEl>
                                      </p:cBhvr>
                                    </p:animEffect>
                                  </p:childTnLst>
                                </p:cTn>
                              </p:par>
                            </p:childTnLst>
                          </p:cTn>
                        </p:par>
                        <p:par>
                          <p:cTn id="16" fill="hold">
                            <p:stCondLst>
                              <p:cond delay="9000"/>
                            </p:stCondLst>
                            <p:childTnLst>
                              <p:par>
                                <p:cTn id="17" presetID="20" presetClass="entr" presetSubtype="0" fill="hold" grpId="0" nodeType="afterEffect">
                                  <p:stCondLst>
                                    <p:cond delay="0"/>
                                  </p:stCondLst>
                                  <p:childTnLst>
                                    <p:set>
                                      <p:cBhvr>
                                        <p:cTn id="18" dur="1" fill="hold">
                                          <p:stCondLst>
                                            <p:cond delay="0"/>
                                          </p:stCondLst>
                                        </p:cTn>
                                        <p:tgtEl>
                                          <p:spTgt spid="158"/>
                                        </p:tgtEl>
                                        <p:attrNameLst>
                                          <p:attrName>style.visibility</p:attrName>
                                        </p:attrNameLst>
                                      </p:cBhvr>
                                      <p:to>
                                        <p:strVal val="visible"/>
                                      </p:to>
                                    </p:set>
                                    <p:animEffect transition="in" filter="wedge">
                                      <p:cBhvr>
                                        <p:cTn id="19" dur="2000"/>
                                        <p:tgtEl>
                                          <p:spTgt spid="158"/>
                                        </p:tgtEl>
                                      </p:cBhvr>
                                    </p:animEffect>
                                  </p:childTnLst>
                                </p:cTn>
                              </p:par>
                            </p:childTnLst>
                          </p:cTn>
                        </p:par>
                        <p:par>
                          <p:cTn id="20" fill="hold">
                            <p:stCondLst>
                              <p:cond delay="11000"/>
                            </p:stCondLst>
                            <p:childTnLst>
                              <p:par>
                                <p:cTn id="21" presetID="20" presetClass="entr" presetSubtype="0" fill="hold" grpId="0" nodeType="afterEffect">
                                  <p:stCondLst>
                                    <p:cond delay="0"/>
                                  </p:stCondLst>
                                  <p:childTnLst>
                                    <p:set>
                                      <p:cBhvr>
                                        <p:cTn id="22" dur="1" fill="hold">
                                          <p:stCondLst>
                                            <p:cond delay="0"/>
                                          </p:stCondLst>
                                        </p:cTn>
                                        <p:tgtEl>
                                          <p:spTgt spid="189"/>
                                        </p:tgtEl>
                                        <p:attrNameLst>
                                          <p:attrName>style.visibility</p:attrName>
                                        </p:attrNameLst>
                                      </p:cBhvr>
                                      <p:to>
                                        <p:strVal val="visible"/>
                                      </p:to>
                                    </p:set>
                                    <p:animEffect transition="in" filter="wedge">
                                      <p:cBhvr>
                                        <p:cTn id="23" dur="2000"/>
                                        <p:tgtEl>
                                          <p:spTgt spid="189"/>
                                        </p:tgtEl>
                                      </p:cBhvr>
                                    </p:animEffect>
                                  </p:childTnLst>
                                </p:cTn>
                              </p:par>
                            </p:childTnLst>
                          </p:cTn>
                        </p:par>
                        <p:par>
                          <p:cTn id="24" fill="hold">
                            <p:stCondLst>
                              <p:cond delay="13000"/>
                            </p:stCondLst>
                            <p:childTnLst>
                              <p:par>
                                <p:cTn id="25" presetID="20" presetClass="entr" presetSubtype="0" fill="hold" grpId="0" nodeType="afterEffect">
                                  <p:stCondLst>
                                    <p:cond delay="0"/>
                                  </p:stCondLst>
                                  <p:childTnLst>
                                    <p:set>
                                      <p:cBhvr>
                                        <p:cTn id="26" dur="1" fill="hold">
                                          <p:stCondLst>
                                            <p:cond delay="0"/>
                                          </p:stCondLst>
                                        </p:cTn>
                                        <p:tgtEl>
                                          <p:spTgt spid="190"/>
                                        </p:tgtEl>
                                        <p:attrNameLst>
                                          <p:attrName>style.visibility</p:attrName>
                                        </p:attrNameLst>
                                      </p:cBhvr>
                                      <p:to>
                                        <p:strVal val="visible"/>
                                      </p:to>
                                    </p:set>
                                    <p:animEffect transition="in" filter="wedge">
                                      <p:cBhvr>
                                        <p:cTn id="27" dur="2000"/>
                                        <p:tgtEl>
                                          <p:spTgt spid="190"/>
                                        </p:tgtEl>
                                      </p:cBhvr>
                                    </p:animEffect>
                                  </p:childTnLst>
                                </p:cTn>
                              </p:par>
                            </p:childTnLst>
                          </p:cTn>
                        </p:par>
                        <p:par>
                          <p:cTn id="28" fill="hold">
                            <p:stCondLst>
                              <p:cond delay="15000"/>
                            </p:stCondLst>
                            <p:childTnLst>
                              <p:par>
                                <p:cTn id="29" presetID="20" presetClass="entr" presetSubtype="0" fill="hold" grpId="0" nodeType="afterEffect">
                                  <p:stCondLst>
                                    <p:cond delay="0"/>
                                  </p:stCondLst>
                                  <p:childTnLst>
                                    <p:set>
                                      <p:cBhvr>
                                        <p:cTn id="30" dur="1" fill="hold">
                                          <p:stCondLst>
                                            <p:cond delay="0"/>
                                          </p:stCondLst>
                                        </p:cTn>
                                        <p:tgtEl>
                                          <p:spTgt spid="188"/>
                                        </p:tgtEl>
                                        <p:attrNameLst>
                                          <p:attrName>style.visibility</p:attrName>
                                        </p:attrNameLst>
                                      </p:cBhvr>
                                      <p:to>
                                        <p:strVal val="visible"/>
                                      </p:to>
                                    </p:set>
                                    <p:animEffect transition="in" filter="wedge">
                                      <p:cBhvr>
                                        <p:cTn id="31" dur="2000"/>
                                        <p:tgtEl>
                                          <p:spTgt spid="188"/>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childTnLst>
                                    <p:set>
                                      <p:cBhvr>
                                        <p:cTn id="35" dur="1" fill="hold">
                                          <p:stCondLst>
                                            <p:cond delay="0"/>
                                          </p:stCondLst>
                                        </p:cTn>
                                        <p:tgtEl>
                                          <p:spTgt spid="155"/>
                                        </p:tgtEl>
                                        <p:attrNameLst>
                                          <p:attrName>style.visibility</p:attrName>
                                        </p:attrNameLst>
                                      </p:cBhvr>
                                      <p:to>
                                        <p:strVal val="visible"/>
                                      </p:to>
                                    </p:set>
                                    <p:animEffect transition="in" filter="slide(fromTop)">
                                      <p:cBhvr>
                                        <p:cTn id="36" dur="5000"/>
                                        <p:tgtEl>
                                          <p:spTgt spid="15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8"/>
                                        </p:tgtEl>
                                        <p:attrNameLst>
                                          <p:attrName>style.visibility</p:attrName>
                                        </p:attrNameLst>
                                      </p:cBhvr>
                                      <p:to>
                                        <p:strVal val="visible"/>
                                      </p:to>
                                    </p:set>
                                  </p:childTnLst>
                                </p:cTn>
                              </p:par>
                              <p:par>
                                <p:cTn id="41" presetID="19" presetClass="entr" presetSubtype="10" fill="hold" grpId="0" nodeType="withEffect">
                                  <p:stCondLst>
                                    <p:cond delay="0"/>
                                  </p:stCondLst>
                                  <p:childTnLst>
                                    <p:set>
                                      <p:cBhvr>
                                        <p:cTn id="42" dur="1" fill="hold">
                                          <p:stCondLst>
                                            <p:cond delay="0"/>
                                          </p:stCondLst>
                                        </p:cTn>
                                        <p:tgtEl>
                                          <p:spTgt spid="156"/>
                                        </p:tgtEl>
                                        <p:attrNameLst>
                                          <p:attrName>style.visibility</p:attrName>
                                        </p:attrNameLst>
                                      </p:cBhvr>
                                      <p:to>
                                        <p:strVal val="visible"/>
                                      </p:to>
                                    </p:set>
                                    <p:anim calcmode="lin" valueType="num">
                                      <p:cBhvr>
                                        <p:cTn id="43" dur="5000" fill="hold"/>
                                        <p:tgtEl>
                                          <p:spTgt spid="156"/>
                                        </p:tgtEl>
                                        <p:attrNameLst>
                                          <p:attrName>ppt_w</p:attrName>
                                        </p:attrNameLst>
                                      </p:cBhvr>
                                      <p:tavLst>
                                        <p:tav tm="0" fmla="#ppt_w*sin(2.5*pi*$)">
                                          <p:val>
                                            <p:fltVal val="0"/>
                                          </p:val>
                                        </p:tav>
                                        <p:tav tm="100000">
                                          <p:val>
                                            <p:fltVal val="1"/>
                                          </p:val>
                                        </p:tav>
                                      </p:tavLst>
                                    </p:anim>
                                    <p:anim calcmode="lin" valueType="num">
                                      <p:cBhvr>
                                        <p:cTn id="44" dur="5000" fill="hold"/>
                                        <p:tgtEl>
                                          <p:spTgt spid="156"/>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67"/>
                                        </p:tgtEl>
                                        <p:attrNameLst>
                                          <p:attrName>style.visibility</p:attrName>
                                        </p:attrNameLst>
                                      </p:cBhvr>
                                      <p:to>
                                        <p:strVal val="visible"/>
                                      </p:to>
                                    </p:set>
                                    <p:animEffect transition="in" filter="slide(fromBottom)">
                                      <p:cBhvr>
                                        <p:cTn id="49" dur="5000"/>
                                        <p:tgtEl>
                                          <p:spTgt spid="167"/>
                                        </p:tgtEl>
                                      </p:cBhvr>
                                    </p:animEffect>
                                  </p:childTnLst>
                                </p:cTn>
                              </p:par>
                              <p:par>
                                <p:cTn id="50" presetID="19" presetClass="entr" presetSubtype="10" fill="hold" grpId="0" nodeType="withEffect">
                                  <p:stCondLst>
                                    <p:cond delay="0"/>
                                  </p:stCondLst>
                                  <p:childTnLst>
                                    <p:set>
                                      <p:cBhvr>
                                        <p:cTn id="51" dur="1" fill="hold">
                                          <p:stCondLst>
                                            <p:cond delay="0"/>
                                          </p:stCondLst>
                                        </p:cTn>
                                        <p:tgtEl>
                                          <p:spTgt spid="168"/>
                                        </p:tgtEl>
                                        <p:attrNameLst>
                                          <p:attrName>style.visibility</p:attrName>
                                        </p:attrNameLst>
                                      </p:cBhvr>
                                      <p:to>
                                        <p:strVal val="visible"/>
                                      </p:to>
                                    </p:set>
                                    <p:anim calcmode="lin" valueType="num">
                                      <p:cBhvr>
                                        <p:cTn id="52" dur="5000" fill="hold"/>
                                        <p:tgtEl>
                                          <p:spTgt spid="168"/>
                                        </p:tgtEl>
                                        <p:attrNameLst>
                                          <p:attrName>ppt_w</p:attrName>
                                        </p:attrNameLst>
                                      </p:cBhvr>
                                      <p:tavLst>
                                        <p:tav tm="0" fmla="#ppt_w*sin(2.5*pi*$)">
                                          <p:val>
                                            <p:fltVal val="0"/>
                                          </p:val>
                                        </p:tav>
                                        <p:tav tm="100000">
                                          <p:val>
                                            <p:fltVal val="1"/>
                                          </p:val>
                                        </p:tav>
                                      </p:tavLst>
                                    </p:anim>
                                    <p:anim calcmode="lin" valueType="num">
                                      <p:cBhvr>
                                        <p:cTn id="53" dur="5000" fill="hold"/>
                                        <p:tgtEl>
                                          <p:spTgt spid="168"/>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165"/>
                                        </p:tgtEl>
                                        <p:attrNameLst>
                                          <p:attrName>style.visibility</p:attrName>
                                        </p:attrNameLst>
                                      </p:cBhvr>
                                      <p:to>
                                        <p:strVal val="visible"/>
                                      </p:to>
                                    </p:set>
                                    <p:animEffect transition="in" filter="slide(fromBottom)">
                                      <p:cBhvr>
                                        <p:cTn id="58" dur="5000"/>
                                        <p:tgtEl>
                                          <p:spTgt spid="165"/>
                                        </p:tgtEl>
                                      </p:cBhvr>
                                    </p:animEffect>
                                  </p:childTnLst>
                                </p:cTn>
                              </p:par>
                              <p:par>
                                <p:cTn id="59" presetID="19" presetClass="entr" presetSubtype="10" fill="hold" grpId="0" nodeType="withEffect">
                                  <p:stCondLst>
                                    <p:cond delay="0"/>
                                  </p:stCondLst>
                                  <p:childTnLst>
                                    <p:set>
                                      <p:cBhvr>
                                        <p:cTn id="60" dur="1" fill="hold">
                                          <p:stCondLst>
                                            <p:cond delay="0"/>
                                          </p:stCondLst>
                                        </p:cTn>
                                        <p:tgtEl>
                                          <p:spTgt spid="166"/>
                                        </p:tgtEl>
                                        <p:attrNameLst>
                                          <p:attrName>style.visibility</p:attrName>
                                        </p:attrNameLst>
                                      </p:cBhvr>
                                      <p:to>
                                        <p:strVal val="visible"/>
                                      </p:to>
                                    </p:set>
                                    <p:anim calcmode="lin" valueType="num">
                                      <p:cBhvr>
                                        <p:cTn id="61" dur="5000" fill="hold"/>
                                        <p:tgtEl>
                                          <p:spTgt spid="166"/>
                                        </p:tgtEl>
                                        <p:attrNameLst>
                                          <p:attrName>ppt_w</p:attrName>
                                        </p:attrNameLst>
                                      </p:cBhvr>
                                      <p:tavLst>
                                        <p:tav tm="0" fmla="#ppt_w*sin(2.5*pi*$)">
                                          <p:val>
                                            <p:fltVal val="0"/>
                                          </p:val>
                                        </p:tav>
                                        <p:tav tm="100000">
                                          <p:val>
                                            <p:fltVal val="1"/>
                                          </p:val>
                                        </p:tav>
                                      </p:tavLst>
                                    </p:anim>
                                    <p:anim calcmode="lin" valueType="num">
                                      <p:cBhvr>
                                        <p:cTn id="62" dur="5000" fill="hold"/>
                                        <p:tgtEl>
                                          <p:spTgt spid="166"/>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169"/>
                                        </p:tgtEl>
                                        <p:attrNameLst>
                                          <p:attrName>style.visibility</p:attrName>
                                        </p:attrNameLst>
                                      </p:cBhvr>
                                      <p:to>
                                        <p:strVal val="visible"/>
                                      </p:to>
                                    </p:set>
                                    <p:animEffect transition="in" filter="slide(fromBottom)">
                                      <p:cBhvr>
                                        <p:cTn id="67" dur="5000"/>
                                        <p:tgtEl>
                                          <p:spTgt spid="169"/>
                                        </p:tgtEl>
                                      </p:cBhvr>
                                    </p:animEffect>
                                  </p:childTnLst>
                                </p:cTn>
                              </p:par>
                              <p:par>
                                <p:cTn id="68" presetID="19" presetClass="entr" presetSubtype="10" fill="hold" grpId="0" nodeType="withEffect">
                                  <p:stCondLst>
                                    <p:cond delay="0"/>
                                  </p:stCondLst>
                                  <p:childTnLst>
                                    <p:set>
                                      <p:cBhvr>
                                        <p:cTn id="69" dur="1" fill="hold">
                                          <p:stCondLst>
                                            <p:cond delay="0"/>
                                          </p:stCondLst>
                                        </p:cTn>
                                        <p:tgtEl>
                                          <p:spTgt spid="170"/>
                                        </p:tgtEl>
                                        <p:attrNameLst>
                                          <p:attrName>style.visibility</p:attrName>
                                        </p:attrNameLst>
                                      </p:cBhvr>
                                      <p:to>
                                        <p:strVal val="visible"/>
                                      </p:to>
                                    </p:set>
                                    <p:anim calcmode="lin" valueType="num">
                                      <p:cBhvr>
                                        <p:cTn id="70" dur="5000" fill="hold"/>
                                        <p:tgtEl>
                                          <p:spTgt spid="170"/>
                                        </p:tgtEl>
                                        <p:attrNameLst>
                                          <p:attrName>ppt_w</p:attrName>
                                        </p:attrNameLst>
                                      </p:cBhvr>
                                      <p:tavLst>
                                        <p:tav tm="0" fmla="#ppt_w*sin(2.5*pi*$)">
                                          <p:val>
                                            <p:fltVal val="0"/>
                                          </p:val>
                                        </p:tav>
                                        <p:tav tm="100000">
                                          <p:val>
                                            <p:fltVal val="1"/>
                                          </p:val>
                                        </p:tav>
                                      </p:tavLst>
                                    </p:anim>
                                    <p:anim calcmode="lin" valueType="num">
                                      <p:cBhvr>
                                        <p:cTn id="71" dur="5000" fill="hold"/>
                                        <p:tgtEl>
                                          <p:spTgt spid="170"/>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8" presetClass="entr" presetSubtype="12" fill="hold" grpId="0" nodeType="clickEffect">
                                  <p:stCondLst>
                                    <p:cond delay="0"/>
                                  </p:stCondLst>
                                  <p:childTnLst>
                                    <p:set>
                                      <p:cBhvr>
                                        <p:cTn id="75" dur="1" fill="hold">
                                          <p:stCondLst>
                                            <p:cond delay="0"/>
                                          </p:stCondLst>
                                        </p:cTn>
                                        <p:tgtEl>
                                          <p:spTgt spid="162"/>
                                        </p:tgtEl>
                                        <p:attrNameLst>
                                          <p:attrName>style.visibility</p:attrName>
                                        </p:attrNameLst>
                                      </p:cBhvr>
                                      <p:to>
                                        <p:strVal val="visible"/>
                                      </p:to>
                                    </p:set>
                                    <p:animEffect transition="in" filter="strips(downLeft)">
                                      <p:cBhvr>
                                        <p:cTn id="76" dur="5000"/>
                                        <p:tgtEl>
                                          <p:spTgt spid="162"/>
                                        </p:tgtEl>
                                      </p:cBhvr>
                                    </p:animEffect>
                                  </p:childTnLst>
                                </p:cTn>
                              </p:par>
                              <p:par>
                                <p:cTn id="77" presetID="19" presetClass="entr" presetSubtype="10" fill="hold" grpId="0" nodeType="withEffect">
                                  <p:stCondLst>
                                    <p:cond delay="0"/>
                                  </p:stCondLst>
                                  <p:childTnLst>
                                    <p:set>
                                      <p:cBhvr>
                                        <p:cTn id="78" dur="1" fill="hold">
                                          <p:stCondLst>
                                            <p:cond delay="0"/>
                                          </p:stCondLst>
                                        </p:cTn>
                                        <p:tgtEl>
                                          <p:spTgt spid="163"/>
                                        </p:tgtEl>
                                        <p:attrNameLst>
                                          <p:attrName>style.visibility</p:attrName>
                                        </p:attrNameLst>
                                      </p:cBhvr>
                                      <p:to>
                                        <p:strVal val="visible"/>
                                      </p:to>
                                    </p:set>
                                    <p:anim calcmode="lin" valueType="num">
                                      <p:cBhvr>
                                        <p:cTn id="79" dur="5000" fill="hold"/>
                                        <p:tgtEl>
                                          <p:spTgt spid="163"/>
                                        </p:tgtEl>
                                        <p:attrNameLst>
                                          <p:attrName>ppt_w</p:attrName>
                                        </p:attrNameLst>
                                      </p:cBhvr>
                                      <p:tavLst>
                                        <p:tav tm="0" fmla="#ppt_w*sin(2.5*pi*$)">
                                          <p:val>
                                            <p:fltVal val="0"/>
                                          </p:val>
                                        </p:tav>
                                        <p:tav tm="100000">
                                          <p:val>
                                            <p:fltVal val="1"/>
                                          </p:val>
                                        </p:tav>
                                      </p:tavLst>
                                    </p:anim>
                                    <p:anim calcmode="lin" valueType="num">
                                      <p:cBhvr>
                                        <p:cTn id="80" dur="5000" fill="hold"/>
                                        <p:tgtEl>
                                          <p:spTgt spid="163"/>
                                        </p:tgtEl>
                                        <p:attrNameLst>
                                          <p:attrName>ppt_h</p:attrName>
                                        </p:attrNameLst>
                                      </p:cBhvr>
                                      <p:tavLst>
                                        <p:tav tm="0">
                                          <p:val>
                                            <p:strVal val="#ppt_h"/>
                                          </p:val>
                                        </p:tav>
                                        <p:tav tm="100000">
                                          <p:val>
                                            <p:strVal val="#ppt_h"/>
                                          </p:val>
                                        </p:tav>
                                      </p:tavLst>
                                    </p:anim>
                                  </p:childTnLst>
                                </p:cTn>
                              </p:par>
                            </p:childTnLst>
                          </p:cTn>
                        </p:par>
                        <p:par>
                          <p:cTn id="81" fill="hold">
                            <p:stCondLst>
                              <p:cond delay="5000"/>
                            </p:stCondLst>
                            <p:childTnLst>
                              <p:par>
                                <p:cTn id="82" presetID="12" presetClass="entr" presetSubtype="8" fill="hold" grpId="0" nodeType="afterEffect">
                                  <p:stCondLst>
                                    <p:cond delay="0"/>
                                  </p:stCondLst>
                                  <p:childTnLst>
                                    <p:set>
                                      <p:cBhvr>
                                        <p:cTn id="83" dur="1" fill="hold">
                                          <p:stCondLst>
                                            <p:cond delay="0"/>
                                          </p:stCondLst>
                                        </p:cTn>
                                        <p:tgtEl>
                                          <p:spTgt spid="164"/>
                                        </p:tgtEl>
                                        <p:attrNameLst>
                                          <p:attrName>style.visibility</p:attrName>
                                        </p:attrNameLst>
                                      </p:cBhvr>
                                      <p:to>
                                        <p:strVal val="visible"/>
                                      </p:to>
                                    </p:set>
                                    <p:animEffect transition="in" filter="slide(fromLeft)">
                                      <p:cBhvr>
                                        <p:cTn id="84" dur="5000"/>
                                        <p:tgtEl>
                                          <p:spTgt spid="164"/>
                                        </p:tgtEl>
                                      </p:cBhvr>
                                    </p:animEffect>
                                  </p:childTnLst>
                                </p:cTn>
                              </p:par>
                              <p:par>
                                <p:cTn id="85" presetID="19" presetClass="entr" presetSubtype="10" fill="hold" grpId="0" nodeType="withEffect">
                                  <p:stCondLst>
                                    <p:cond delay="0"/>
                                  </p:stCondLst>
                                  <p:childTnLst>
                                    <p:set>
                                      <p:cBhvr>
                                        <p:cTn id="86" dur="1" fill="hold">
                                          <p:stCondLst>
                                            <p:cond delay="0"/>
                                          </p:stCondLst>
                                        </p:cTn>
                                        <p:tgtEl>
                                          <p:spTgt spid="160"/>
                                        </p:tgtEl>
                                        <p:attrNameLst>
                                          <p:attrName>style.visibility</p:attrName>
                                        </p:attrNameLst>
                                      </p:cBhvr>
                                      <p:to>
                                        <p:strVal val="visible"/>
                                      </p:to>
                                    </p:set>
                                    <p:anim calcmode="lin" valueType="num">
                                      <p:cBhvr>
                                        <p:cTn id="87" dur="5000" fill="hold"/>
                                        <p:tgtEl>
                                          <p:spTgt spid="160"/>
                                        </p:tgtEl>
                                        <p:attrNameLst>
                                          <p:attrName>ppt_w</p:attrName>
                                        </p:attrNameLst>
                                      </p:cBhvr>
                                      <p:tavLst>
                                        <p:tav tm="0" fmla="#ppt_w*sin(2.5*pi*$)">
                                          <p:val>
                                            <p:fltVal val="0"/>
                                          </p:val>
                                        </p:tav>
                                        <p:tav tm="100000">
                                          <p:val>
                                            <p:fltVal val="1"/>
                                          </p:val>
                                        </p:tav>
                                      </p:tavLst>
                                    </p:anim>
                                    <p:anim calcmode="lin" valueType="num">
                                      <p:cBhvr>
                                        <p:cTn id="88" dur="5000" fill="hold"/>
                                        <p:tgtEl>
                                          <p:spTgt spid="160"/>
                                        </p:tgtEl>
                                        <p:attrNameLst>
                                          <p:attrName>ppt_h</p:attrName>
                                        </p:attrNameLst>
                                      </p:cBhvr>
                                      <p:tavLst>
                                        <p:tav tm="0">
                                          <p:val>
                                            <p:strVal val="#ppt_h"/>
                                          </p:val>
                                        </p:tav>
                                        <p:tav tm="100000">
                                          <p:val>
                                            <p:strVal val="#ppt_h"/>
                                          </p:val>
                                        </p:tav>
                                      </p:tavLst>
                                    </p:anim>
                                  </p:childTnLst>
                                </p:cTn>
                              </p:par>
                            </p:childTnLst>
                          </p:cTn>
                        </p:par>
                        <p:par>
                          <p:cTn id="89" fill="hold">
                            <p:stCondLst>
                              <p:cond delay="10000"/>
                            </p:stCondLst>
                            <p:childTnLst>
                              <p:par>
                                <p:cTn id="90" presetID="12" presetClass="entr" presetSubtype="4" fill="hold" grpId="0" nodeType="afterEffect">
                                  <p:stCondLst>
                                    <p:cond delay="0"/>
                                  </p:stCondLst>
                                  <p:childTnLst>
                                    <p:set>
                                      <p:cBhvr>
                                        <p:cTn id="91" dur="1" fill="hold">
                                          <p:stCondLst>
                                            <p:cond delay="0"/>
                                          </p:stCondLst>
                                        </p:cTn>
                                        <p:tgtEl>
                                          <p:spTgt spid="161"/>
                                        </p:tgtEl>
                                        <p:attrNameLst>
                                          <p:attrName>style.visibility</p:attrName>
                                        </p:attrNameLst>
                                      </p:cBhvr>
                                      <p:to>
                                        <p:strVal val="visible"/>
                                      </p:to>
                                    </p:set>
                                    <p:animEffect transition="in" filter="slide(fromBottom)">
                                      <p:cBhvr>
                                        <p:cTn id="92" dur="500"/>
                                        <p:tgtEl>
                                          <p:spTgt spid="161"/>
                                        </p:tgtEl>
                                      </p:cBhvr>
                                    </p:animEffect>
                                  </p:childTnLst>
                                </p:cTn>
                              </p:par>
                              <p:par>
                                <p:cTn id="93" presetID="19" presetClass="entr" presetSubtype="10" fill="hold" grpId="0" nodeType="withEffect">
                                  <p:stCondLst>
                                    <p:cond delay="0"/>
                                  </p:stCondLst>
                                  <p:childTnLst>
                                    <p:set>
                                      <p:cBhvr>
                                        <p:cTn id="94" dur="1" fill="hold">
                                          <p:stCondLst>
                                            <p:cond delay="0"/>
                                          </p:stCondLst>
                                        </p:cTn>
                                        <p:tgtEl>
                                          <p:spTgt spid="159"/>
                                        </p:tgtEl>
                                        <p:attrNameLst>
                                          <p:attrName>style.visibility</p:attrName>
                                        </p:attrNameLst>
                                      </p:cBhvr>
                                      <p:to>
                                        <p:strVal val="visible"/>
                                      </p:to>
                                    </p:set>
                                    <p:anim calcmode="lin" valueType="num">
                                      <p:cBhvr>
                                        <p:cTn id="95" dur="5000" fill="hold"/>
                                        <p:tgtEl>
                                          <p:spTgt spid="159"/>
                                        </p:tgtEl>
                                        <p:attrNameLst>
                                          <p:attrName>ppt_w</p:attrName>
                                        </p:attrNameLst>
                                      </p:cBhvr>
                                      <p:tavLst>
                                        <p:tav tm="0" fmla="#ppt_w*sin(2.5*pi*$)">
                                          <p:val>
                                            <p:fltVal val="0"/>
                                          </p:val>
                                        </p:tav>
                                        <p:tav tm="100000">
                                          <p:val>
                                            <p:fltVal val="1"/>
                                          </p:val>
                                        </p:tav>
                                      </p:tavLst>
                                    </p:anim>
                                    <p:anim calcmode="lin" valueType="num">
                                      <p:cBhvr>
                                        <p:cTn id="96" dur="5000" fill="hold"/>
                                        <p:tgtEl>
                                          <p:spTgt spid="159"/>
                                        </p:tgtEl>
                                        <p:attrNameLst>
                                          <p:attrName>ppt_h</p:attrName>
                                        </p:attrNameLst>
                                      </p:cBhvr>
                                      <p:tavLst>
                                        <p:tav tm="0">
                                          <p:val>
                                            <p:strVal val="#ppt_h"/>
                                          </p:val>
                                        </p:tav>
                                        <p:tav tm="100000">
                                          <p:val>
                                            <p:strVal val="#ppt_h"/>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iterate type="lt">
                                    <p:tmPct val="70000"/>
                                  </p:iterate>
                                  <p:childTnLst>
                                    <p:set>
                                      <p:cBhvr>
                                        <p:cTn id="100" dur="1" fill="hold">
                                          <p:stCondLst>
                                            <p:cond delay="0"/>
                                          </p:stCondLst>
                                        </p:cTn>
                                        <p:tgtEl>
                                          <p:spTgt spid="192">
                                            <p:txEl>
                                              <p:pRg st="0" end="0"/>
                                            </p:txEl>
                                          </p:spTgt>
                                        </p:tgtEl>
                                        <p:attrNameLst>
                                          <p:attrName>style.visibility</p:attrName>
                                        </p:attrNameLst>
                                      </p:cBhvr>
                                      <p:to>
                                        <p:strVal val="visible"/>
                                      </p:to>
                                    </p:set>
                                    <p:animEffect transition="in" filter="wipe(left)">
                                      <p:cBhvr>
                                        <p:cTn id="101" dur="500"/>
                                        <p:tgtEl>
                                          <p:spTgt spid="192">
                                            <p:txEl>
                                              <p:pRg st="0" end="0"/>
                                            </p:txEl>
                                          </p:spTgt>
                                        </p:tgtEl>
                                      </p:cBhvr>
                                    </p:animEffect>
                                  </p:childTnLst>
                                  <p:subTnLst>
                                    <p:animClr clrSpc="rgb" dir="cw">
                                      <p:cBhvr override="childStyle">
                                        <p:cTn dur="1" fill="hold" display="0" masterRel="nextClick" afterEffect="1"/>
                                        <p:tgtEl>
                                          <p:spTgt spid="192">
                                            <p:txEl>
                                              <p:pRg st="0" end="0"/>
                                            </p:txEl>
                                          </p:spTgt>
                                        </p:tgtEl>
                                        <p:attrNameLst>
                                          <p:attrName>ppt_c</p:attrName>
                                        </p:attrNameLst>
                                      </p:cBhvr>
                                      <p:to>
                                        <a:schemeClr val="tx1"/>
                                      </p:to>
                                    </p:animClr>
                                  </p:sub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iterate type="lt">
                                    <p:tmPct val="70000"/>
                                  </p:iterate>
                                  <p:childTnLst>
                                    <p:set>
                                      <p:cBhvr>
                                        <p:cTn id="105" dur="1" fill="hold">
                                          <p:stCondLst>
                                            <p:cond delay="0"/>
                                          </p:stCondLst>
                                        </p:cTn>
                                        <p:tgtEl>
                                          <p:spTgt spid="192">
                                            <p:txEl>
                                              <p:pRg st="1" end="1"/>
                                            </p:txEl>
                                          </p:spTgt>
                                        </p:tgtEl>
                                        <p:attrNameLst>
                                          <p:attrName>style.visibility</p:attrName>
                                        </p:attrNameLst>
                                      </p:cBhvr>
                                      <p:to>
                                        <p:strVal val="visible"/>
                                      </p:to>
                                    </p:set>
                                    <p:animEffect transition="in" filter="wipe(left)">
                                      <p:cBhvr>
                                        <p:cTn id="106" dur="500"/>
                                        <p:tgtEl>
                                          <p:spTgt spid="192">
                                            <p:txEl>
                                              <p:pRg st="1" end="1"/>
                                            </p:txEl>
                                          </p:spTgt>
                                        </p:tgtEl>
                                      </p:cBhvr>
                                    </p:animEffect>
                                  </p:childTnLst>
                                  <p:subTnLst>
                                    <p:animClr clrSpc="rgb" dir="cw">
                                      <p:cBhvr override="childStyle">
                                        <p:cTn dur="1" fill="hold" display="0" masterRel="nextClick" afterEffect="1"/>
                                        <p:tgtEl>
                                          <p:spTgt spid="192">
                                            <p:txEl>
                                              <p:pRg st="1" end="1"/>
                                            </p:txEl>
                                          </p:spTgt>
                                        </p:tgtEl>
                                        <p:attrNameLst>
                                          <p:attrName>ppt_c</p:attrName>
                                        </p:attrNameLst>
                                      </p:cBhvr>
                                      <p:to>
                                        <a:schemeClr val="tx1"/>
                                      </p:to>
                                    </p:animClr>
                                  </p:sub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iterate type="lt">
                                    <p:tmPct val="70000"/>
                                  </p:iterate>
                                  <p:childTnLst>
                                    <p:set>
                                      <p:cBhvr>
                                        <p:cTn id="110" dur="1" fill="hold">
                                          <p:stCondLst>
                                            <p:cond delay="0"/>
                                          </p:stCondLst>
                                        </p:cTn>
                                        <p:tgtEl>
                                          <p:spTgt spid="193">
                                            <p:txEl>
                                              <p:pRg st="0" end="0"/>
                                            </p:txEl>
                                          </p:spTgt>
                                        </p:tgtEl>
                                        <p:attrNameLst>
                                          <p:attrName>style.visibility</p:attrName>
                                        </p:attrNameLst>
                                      </p:cBhvr>
                                      <p:to>
                                        <p:strVal val="visible"/>
                                      </p:to>
                                    </p:set>
                                    <p:animEffect transition="in" filter="wipe(left)">
                                      <p:cBhvr>
                                        <p:cTn id="111" dur="500"/>
                                        <p:tgtEl>
                                          <p:spTgt spid="193">
                                            <p:txEl>
                                              <p:pRg st="0" end="0"/>
                                            </p:txEl>
                                          </p:spTgt>
                                        </p:tgtEl>
                                      </p:cBhvr>
                                    </p:animEffect>
                                  </p:childTnLst>
                                  <p:subTnLst>
                                    <p:animClr clrSpc="rgb" dir="cw">
                                      <p:cBhvr override="childStyle">
                                        <p:cTn dur="1" fill="hold" display="0" masterRel="nextClick" afterEffect="1"/>
                                        <p:tgtEl>
                                          <p:spTgt spid="193">
                                            <p:txEl>
                                              <p:pRg st="0" end="0"/>
                                            </p:txEl>
                                          </p:spTgt>
                                        </p:tgtEl>
                                        <p:attrNameLst>
                                          <p:attrName>ppt_c</p:attrName>
                                        </p:attrNameLst>
                                      </p:cBhvr>
                                      <p:to>
                                        <a:schemeClr val="tx1"/>
                                      </p:to>
                                    </p:animClr>
                                  </p:sub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iterate type="lt">
                                    <p:tmPct val="70000"/>
                                  </p:iterate>
                                  <p:childTnLst>
                                    <p:set>
                                      <p:cBhvr>
                                        <p:cTn id="115" dur="1" fill="hold">
                                          <p:stCondLst>
                                            <p:cond delay="0"/>
                                          </p:stCondLst>
                                        </p:cTn>
                                        <p:tgtEl>
                                          <p:spTgt spid="193">
                                            <p:txEl>
                                              <p:pRg st="1" end="1"/>
                                            </p:txEl>
                                          </p:spTgt>
                                        </p:tgtEl>
                                        <p:attrNameLst>
                                          <p:attrName>style.visibility</p:attrName>
                                        </p:attrNameLst>
                                      </p:cBhvr>
                                      <p:to>
                                        <p:strVal val="visible"/>
                                      </p:to>
                                    </p:set>
                                    <p:animEffect transition="in" filter="wipe(left)">
                                      <p:cBhvr>
                                        <p:cTn id="116" dur="500"/>
                                        <p:tgtEl>
                                          <p:spTgt spid="193">
                                            <p:txEl>
                                              <p:pRg st="1" end="1"/>
                                            </p:txEl>
                                          </p:spTgt>
                                        </p:tgtEl>
                                      </p:cBhvr>
                                    </p:animEffect>
                                  </p:childTnLst>
                                  <p:subTnLst>
                                    <p:animClr clrSpc="rgb" dir="cw">
                                      <p:cBhvr override="childStyle">
                                        <p:cTn dur="1" fill="hold" display="0" masterRel="nextClick" afterEffect="1"/>
                                        <p:tgtEl>
                                          <p:spTgt spid="193">
                                            <p:txEl>
                                              <p:pRg st="1" end="1"/>
                                            </p:txEl>
                                          </p:spTgt>
                                        </p:tgtEl>
                                        <p:attrNameLst>
                                          <p:attrName>ppt_c</p:attrName>
                                        </p:attrNameLst>
                                      </p:cBhvr>
                                      <p:to>
                                        <a:schemeClr val="tx1"/>
                                      </p:to>
                                    </p:animClr>
                                  </p:sub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iterate type="lt">
                                    <p:tmPct val="70000"/>
                                  </p:iterate>
                                  <p:childTnLst>
                                    <p:set>
                                      <p:cBhvr>
                                        <p:cTn id="120" dur="1" fill="hold">
                                          <p:stCondLst>
                                            <p:cond delay="0"/>
                                          </p:stCondLst>
                                        </p:cTn>
                                        <p:tgtEl>
                                          <p:spTgt spid="193">
                                            <p:txEl>
                                              <p:pRg st="2" end="2"/>
                                            </p:txEl>
                                          </p:spTgt>
                                        </p:tgtEl>
                                        <p:attrNameLst>
                                          <p:attrName>style.visibility</p:attrName>
                                        </p:attrNameLst>
                                      </p:cBhvr>
                                      <p:to>
                                        <p:strVal val="visible"/>
                                      </p:to>
                                    </p:set>
                                    <p:animEffect transition="in" filter="wipe(left)">
                                      <p:cBhvr>
                                        <p:cTn id="121" dur="500"/>
                                        <p:tgtEl>
                                          <p:spTgt spid="193">
                                            <p:txEl>
                                              <p:pRg st="2" end="2"/>
                                            </p:txEl>
                                          </p:spTgt>
                                        </p:tgtEl>
                                      </p:cBhvr>
                                    </p:animEffect>
                                  </p:childTnLst>
                                  <p:subTnLst>
                                    <p:animClr clrSpc="rgb" dir="cw">
                                      <p:cBhvr override="childStyle">
                                        <p:cTn dur="1" fill="hold" display="0" masterRel="nextClick" afterEffect="1"/>
                                        <p:tgtEl>
                                          <p:spTgt spid="193">
                                            <p:txEl>
                                              <p:pRg st="2" end="2"/>
                                            </p:txEl>
                                          </p:spTgt>
                                        </p:tgtEl>
                                        <p:attrNameLst>
                                          <p:attrName>ppt_c</p:attrName>
                                        </p:attrNameLst>
                                      </p:cBhvr>
                                      <p:to>
                                        <a:schemeClr val="tx1"/>
                                      </p:to>
                                    </p:animClr>
                                  </p:sub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iterate type="lt">
                                    <p:tmPct val="70000"/>
                                  </p:iterate>
                                  <p:childTnLst>
                                    <p:set>
                                      <p:cBhvr>
                                        <p:cTn id="125" dur="1" fill="hold">
                                          <p:stCondLst>
                                            <p:cond delay="0"/>
                                          </p:stCondLst>
                                        </p:cTn>
                                        <p:tgtEl>
                                          <p:spTgt spid="193">
                                            <p:txEl>
                                              <p:pRg st="3" end="3"/>
                                            </p:txEl>
                                          </p:spTgt>
                                        </p:tgtEl>
                                        <p:attrNameLst>
                                          <p:attrName>style.visibility</p:attrName>
                                        </p:attrNameLst>
                                      </p:cBhvr>
                                      <p:to>
                                        <p:strVal val="visible"/>
                                      </p:to>
                                    </p:set>
                                    <p:animEffect transition="in" filter="wipe(left)">
                                      <p:cBhvr>
                                        <p:cTn id="126" dur="500"/>
                                        <p:tgtEl>
                                          <p:spTgt spid="193">
                                            <p:txEl>
                                              <p:pRg st="3" end="3"/>
                                            </p:txEl>
                                          </p:spTgt>
                                        </p:tgtEl>
                                      </p:cBhvr>
                                    </p:animEffect>
                                  </p:childTnLst>
                                  <p:subTnLst>
                                    <p:animClr clrSpc="rgb" dir="cw">
                                      <p:cBhvr override="childStyle">
                                        <p:cTn dur="1" fill="hold" display="0" masterRel="nextClick" afterEffect="1"/>
                                        <p:tgtEl>
                                          <p:spTgt spid="193">
                                            <p:txEl>
                                              <p:pRg st="3" end="3"/>
                                            </p:txEl>
                                          </p:spTgt>
                                        </p:tgtEl>
                                        <p:attrNameLst>
                                          <p:attrName>ppt_c</p:attrName>
                                        </p:attrNameLst>
                                      </p:cBhvr>
                                      <p:to>
                                        <a:schemeClr val="tx1"/>
                                      </p:to>
                                    </p:animClr>
                                  </p:sub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55" grpId="0" animBg="1"/>
      <p:bldP spid="156" grpId="0"/>
      <p:bldP spid="157" grpId="0"/>
      <p:bldP spid="158" grpId="0"/>
      <p:bldP spid="159" grpId="0"/>
      <p:bldP spid="160" grpId="0"/>
      <p:bldP spid="161" grpId="0" animBg="1"/>
      <p:bldP spid="162" grpId="0" animBg="1"/>
      <p:bldP spid="163" grpId="0"/>
      <p:bldP spid="164" grpId="0" animBg="1"/>
      <p:bldP spid="165" grpId="0" animBg="1"/>
      <p:bldP spid="166" grpId="0"/>
      <p:bldP spid="167" grpId="0" animBg="1"/>
      <p:bldP spid="168" grpId="0"/>
      <p:bldP spid="169" grpId="0" animBg="1"/>
      <p:bldP spid="170" grpId="0"/>
      <p:bldP spid="188" grpId="0"/>
      <p:bldP spid="189" grpId="0"/>
      <p:bldP spid="190" grpId="0"/>
      <p:bldP spid="191" grpId="0"/>
      <p:bldP spid="192" grpId="0" uiExpand="1" build="p" autoUpdateAnimBg="0"/>
      <p:bldP spid="193" grpId="0" uiExpand="1" build="p" autoUpdateAnimBg="0"/>
      <p:bldP spid="19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2" y="802970"/>
            <a:ext cx="11145180" cy="2234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nSpc>
                <a:spcPct val="12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mn-lt"/>
                <a:ea typeface="黑体" panose="02010609060101010101" pitchFamily="49" charset="-122"/>
              </a:rPr>
              <a:t>图示手摇钻由支点</a:t>
            </a:r>
            <a:r>
              <a:rPr lang="en-US" altLang="zh-CN" dirty="0">
                <a:latin typeface="+mn-lt"/>
                <a:ea typeface="黑体" panose="02010609060101010101" pitchFamily="49" charset="-122"/>
              </a:rPr>
              <a:t>B</a:t>
            </a:r>
            <a:r>
              <a:rPr lang="zh-CN" altLang="en-US" i="0" dirty="0">
                <a:latin typeface="+mn-lt"/>
                <a:ea typeface="黑体" panose="02010609060101010101" pitchFamily="49" charset="-122"/>
              </a:rPr>
              <a:t>、钻头</a:t>
            </a:r>
            <a:r>
              <a:rPr lang="en-US" altLang="zh-CN" dirty="0">
                <a:latin typeface="+mn-lt"/>
                <a:ea typeface="黑体" panose="02010609060101010101" pitchFamily="49" charset="-122"/>
              </a:rPr>
              <a:t>A</a:t>
            </a:r>
            <a:r>
              <a:rPr lang="zh-CN" altLang="en-US" i="0" dirty="0">
                <a:latin typeface="+mn-lt"/>
                <a:ea typeface="黑体" panose="02010609060101010101" pitchFamily="49" charset="-122"/>
              </a:rPr>
              <a:t>和一个弯曲的手柄组成。当支点</a:t>
            </a:r>
            <a:r>
              <a:rPr lang="en-US" altLang="zh-CN" dirty="0">
                <a:latin typeface="+mn-lt"/>
                <a:ea typeface="黑体" panose="02010609060101010101" pitchFamily="49" charset="-122"/>
              </a:rPr>
              <a:t>B</a:t>
            </a:r>
            <a:r>
              <a:rPr lang="zh-CN" altLang="en-US" i="0" dirty="0">
                <a:latin typeface="+mn-lt"/>
                <a:ea typeface="黑体" panose="02010609060101010101" pitchFamily="49" charset="-122"/>
              </a:rPr>
              <a:t>处加压力</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Bx</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By</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Bz</a:t>
            </a:r>
            <a:r>
              <a:rPr lang="zh-CN" altLang="en-US" i="0" dirty="0">
                <a:latin typeface="+mn-lt"/>
                <a:ea typeface="黑体" panose="02010609060101010101" pitchFamily="49" charset="-122"/>
              </a:rPr>
              <a:t>和手柄上加力</a:t>
            </a:r>
            <a:r>
              <a:rPr lang="en-US" altLang="zh-CN" dirty="0">
                <a:latin typeface="+mn-lt"/>
                <a:ea typeface="黑体" panose="02010609060101010101" pitchFamily="49" charset="-122"/>
              </a:rPr>
              <a:t>F</a:t>
            </a:r>
            <a:r>
              <a:rPr lang="zh-CN" altLang="en-US" i="0" dirty="0">
                <a:latin typeface="+mn-lt"/>
                <a:ea typeface="黑体" panose="02010609060101010101" pitchFamily="49" charset="-122"/>
              </a:rPr>
              <a:t>后，即可带动钻头绕转动而钻孔。已知</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Bz</a:t>
            </a:r>
            <a:r>
              <a:rPr lang="en-US" altLang="zh-CN" i="0" dirty="0">
                <a:latin typeface="+mn-lt"/>
                <a:ea typeface="黑体" panose="02010609060101010101" pitchFamily="49" charset="-122"/>
              </a:rPr>
              <a:t> =50N</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F</a:t>
            </a:r>
            <a:r>
              <a:rPr lang="en-US" altLang="zh-CN" i="0" dirty="0">
                <a:latin typeface="+mn-lt"/>
                <a:ea typeface="黑体" panose="02010609060101010101" pitchFamily="49" charset="-122"/>
              </a:rPr>
              <a:t>=150N</a:t>
            </a:r>
            <a:r>
              <a:rPr lang="zh-CN" altLang="en-US" i="0" dirty="0">
                <a:latin typeface="+mn-lt"/>
                <a:ea typeface="黑体" panose="02010609060101010101" pitchFamily="49" charset="-122"/>
              </a:rPr>
              <a:t>，尺寸如图所示。求：</a:t>
            </a:r>
            <a:r>
              <a:rPr lang="en-US" altLang="zh-CN" i="0" dirty="0">
                <a:latin typeface="+mn-lt"/>
                <a:ea typeface="黑体" panose="02010609060101010101" pitchFamily="49" charset="-122"/>
              </a:rPr>
              <a:t>1</a:t>
            </a:r>
            <a:r>
              <a:rPr lang="zh-CN" altLang="en-US" i="0" dirty="0">
                <a:latin typeface="+mn-lt"/>
                <a:ea typeface="黑体" panose="02010609060101010101" pitchFamily="49" charset="-122"/>
              </a:rPr>
              <a:t>）钻头受到的阻抗力偶矩</a:t>
            </a:r>
            <a:r>
              <a:rPr lang="en-US" altLang="zh-CN" dirty="0">
                <a:latin typeface="+mn-lt"/>
                <a:ea typeface="黑体" panose="02010609060101010101" pitchFamily="49" charset="-122"/>
              </a:rPr>
              <a:t>M</a:t>
            </a:r>
            <a:r>
              <a:rPr lang="zh-CN" altLang="en-US" i="0" dirty="0">
                <a:latin typeface="+mn-lt"/>
                <a:ea typeface="黑体" panose="02010609060101010101" pitchFamily="49" charset="-122"/>
              </a:rPr>
              <a:t>；</a:t>
            </a:r>
            <a:r>
              <a:rPr lang="en-US" altLang="zh-CN" i="0" dirty="0">
                <a:latin typeface="+mn-lt"/>
                <a:ea typeface="黑体" panose="02010609060101010101" pitchFamily="49" charset="-122"/>
              </a:rPr>
              <a:t>2</a:t>
            </a:r>
            <a:r>
              <a:rPr lang="zh-CN" altLang="en-US" i="0" dirty="0">
                <a:latin typeface="+mn-lt"/>
                <a:ea typeface="黑体" panose="02010609060101010101" pitchFamily="49" charset="-122"/>
              </a:rPr>
              <a:t>）材料给钻头的反力</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Ax</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Ay</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Az</a:t>
            </a:r>
            <a:r>
              <a:rPr lang="zh-CN" altLang="en-US" i="0" dirty="0">
                <a:latin typeface="+mn-lt"/>
                <a:ea typeface="黑体" panose="02010609060101010101" pitchFamily="49" charset="-122"/>
              </a:rPr>
              <a:t>；</a:t>
            </a:r>
            <a:r>
              <a:rPr lang="en-US" altLang="zh-CN" i="0" dirty="0">
                <a:latin typeface="+mn-lt"/>
                <a:ea typeface="黑体" panose="02010609060101010101" pitchFamily="49" charset="-122"/>
              </a:rPr>
              <a:t>3</a:t>
            </a:r>
            <a:r>
              <a:rPr lang="zh-CN" altLang="en-US" i="0" dirty="0">
                <a:latin typeface="+mn-lt"/>
                <a:ea typeface="黑体" panose="02010609060101010101" pitchFamily="49" charset="-122"/>
              </a:rPr>
              <a:t>）压力</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Bx</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By</a:t>
            </a:r>
            <a:r>
              <a:rPr lang="zh-CN" altLang="en-US" i="0" dirty="0">
                <a:latin typeface="+mn-lt"/>
                <a:ea typeface="黑体" panose="02010609060101010101" pitchFamily="49" charset="-122"/>
              </a:rPr>
              <a:t>的值。 </a:t>
            </a:r>
          </a:p>
          <a:p>
            <a:pPr algn="l">
              <a:spcBef>
                <a:spcPct val="0"/>
              </a:spcBef>
              <a:buClrTx/>
              <a:buSzTx/>
              <a:buNone/>
            </a:pPr>
            <a:endParaRPr lang="zh-CN" altLang="en-US" i="0" dirty="0">
              <a:latin typeface="+mn-lt"/>
              <a:ea typeface="黑体" panose="02010609060101010101" pitchFamily="49" charset="-122"/>
            </a:endParaRPr>
          </a:p>
        </p:txBody>
      </p:sp>
      <p:sp>
        <p:nvSpPr>
          <p:cNvPr id="33" name="Rectangle 61"/>
          <p:cNvSpPr>
            <a:spLocks noChangeArrowheads="1"/>
          </p:cNvSpPr>
          <p:nvPr/>
        </p:nvSpPr>
        <p:spPr bwMode="auto">
          <a:xfrm>
            <a:off x="7629732" y="2356141"/>
            <a:ext cx="4320481" cy="2952328"/>
          </a:xfrm>
          <a:prstGeom prst="rect">
            <a:avLst/>
          </a:prstGeom>
          <a:solidFill>
            <a:srgbClr val="B9CDE5"/>
          </a:solidFill>
          <a:ln>
            <a:noFill/>
          </a:ln>
          <a:effectLst/>
        </p:spPr>
        <p:txBody>
          <a:bodyPr wrap="none" anchor="ctr"/>
          <a:lstStyle/>
          <a:p>
            <a:endParaRPr lang="zh-CN" altLang="en-US"/>
          </a:p>
        </p:txBody>
      </p:sp>
      <p:sp>
        <p:nvSpPr>
          <p:cNvPr id="148" name="Rectangle 5"/>
          <p:cNvSpPr>
            <a:spLocks noChangeArrowheads="1"/>
          </p:cNvSpPr>
          <p:nvPr/>
        </p:nvSpPr>
        <p:spPr bwMode="auto">
          <a:xfrm>
            <a:off x="310553" y="2617267"/>
            <a:ext cx="6073479"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a:t>
            </a:r>
            <a:r>
              <a:rPr lang="en-US" altLang="zh-CN" i="0" dirty="0">
                <a:latin typeface="+mn-lt"/>
                <a:ea typeface="黑体" panose="02010609060101010101" pitchFamily="49" charset="-122"/>
              </a:rPr>
              <a:t> </a:t>
            </a:r>
            <a:r>
              <a:rPr lang="zh-CN" altLang="en-US" i="0" dirty="0">
                <a:latin typeface="+mn-lt"/>
                <a:ea typeface="黑体" panose="02010609060101010101" pitchFamily="49" charset="-122"/>
              </a:rPr>
              <a:t>手摇钻受力情况属于空间任意力系。</a:t>
            </a:r>
          </a:p>
          <a:p>
            <a:pPr algn="l">
              <a:lnSpc>
                <a:spcPct val="120000"/>
              </a:lnSpc>
              <a:buNone/>
            </a:pPr>
            <a:r>
              <a:rPr lang="en-US" altLang="zh-CN" i="0" dirty="0">
                <a:latin typeface="+mn-lt"/>
                <a:ea typeface="黑体" panose="02010609060101010101" pitchFamily="49" charset="-122"/>
              </a:rPr>
              <a:t>       1</a:t>
            </a:r>
            <a:r>
              <a:rPr lang="zh-CN" altLang="en-US" i="0" dirty="0">
                <a:latin typeface="+mn-lt"/>
                <a:ea typeface="黑体" panose="02010609060101010101" pitchFamily="49" charset="-122"/>
              </a:rPr>
              <a:t>）求钻头的阻抗力偶矩</a:t>
            </a:r>
            <a:r>
              <a:rPr lang="en-US" altLang="zh-CN" dirty="0">
                <a:latin typeface="+mn-lt"/>
                <a:ea typeface="黑体" panose="02010609060101010101" pitchFamily="49" charset="-122"/>
              </a:rPr>
              <a:t>M</a:t>
            </a:r>
            <a:r>
              <a:rPr lang="en-US" altLang="zh-CN" i="0" dirty="0">
                <a:latin typeface="+mn-lt"/>
                <a:ea typeface="黑体" panose="02010609060101010101" pitchFamily="49" charset="-122"/>
              </a:rPr>
              <a:t> </a:t>
            </a:r>
          </a:p>
        </p:txBody>
      </p:sp>
      <p:pic>
        <p:nvPicPr>
          <p:cNvPr id="46" name="Picture 3" descr="图3-1"/>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484" t="47090" r="50322" b="15526"/>
          <a:stretch>
            <a:fillRect/>
          </a:stretch>
        </p:blipFill>
        <p:spPr bwMode="auto">
          <a:xfrm>
            <a:off x="7736456" y="2570184"/>
            <a:ext cx="4236654" cy="2522261"/>
          </a:xfrm>
          <a:prstGeom prst="rect">
            <a:avLst/>
          </a:prstGeom>
          <a:noFill/>
          <a:extLst>
            <a:ext uri="{909E8E84-426E-40DD-AFC4-6F175D3DCCD1}">
              <a14:hiddenFill xmlns:a14="http://schemas.microsoft.com/office/drawing/2010/main">
                <a:solidFill>
                  <a:srgbClr val="FFFFFF"/>
                </a:solidFill>
              </a14:hiddenFill>
            </a:ext>
          </a:extLst>
        </p:spPr>
      </p:pic>
      <p:sp>
        <p:nvSpPr>
          <p:cNvPr id="47" name="Text Box 6"/>
          <p:cNvSpPr txBox="1">
            <a:spLocks noChangeArrowheads="1"/>
          </p:cNvSpPr>
          <p:nvPr/>
        </p:nvSpPr>
        <p:spPr bwMode="auto">
          <a:xfrm>
            <a:off x="1293029" y="3567394"/>
            <a:ext cx="7323251"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M</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M</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1.5m =0  </a:t>
            </a:r>
            <a:r>
              <a:rPr kumimoji="1" lang="en-US" altLang="zh-CN" b="0" dirty="0">
                <a:solidFill>
                  <a:schemeClr val="tx1"/>
                </a:solidFill>
                <a:ea typeface="黑体" panose="02010609060101010101" pitchFamily="49" charset="-122"/>
              </a:rPr>
              <a:t>M </a:t>
            </a:r>
            <a:r>
              <a:rPr kumimoji="1" lang="en-US" altLang="zh-CN" b="0" i="0" dirty="0">
                <a:solidFill>
                  <a:schemeClr val="tx1"/>
                </a:solidFill>
                <a:ea typeface="黑体" panose="02010609060101010101" pitchFamily="49" charset="-122"/>
              </a:rPr>
              <a:t>=22.5N·m</a:t>
            </a:r>
          </a:p>
        </p:txBody>
      </p:sp>
      <p:sp>
        <p:nvSpPr>
          <p:cNvPr id="48" name="Rectangle 5"/>
          <p:cNvSpPr>
            <a:spLocks noChangeArrowheads="1"/>
          </p:cNvSpPr>
          <p:nvPr/>
        </p:nvSpPr>
        <p:spPr bwMode="auto">
          <a:xfrm>
            <a:off x="310553" y="4064355"/>
            <a:ext cx="607347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en-US" altLang="zh-CN" i="0" dirty="0">
                <a:latin typeface="+mn-lt"/>
                <a:ea typeface="黑体" panose="02010609060101010101" pitchFamily="49" charset="-122"/>
              </a:rPr>
              <a:t>       2</a:t>
            </a:r>
            <a:r>
              <a:rPr lang="zh-CN" altLang="en-US" i="0" dirty="0">
                <a:latin typeface="+mn-lt"/>
                <a:ea typeface="黑体" panose="02010609060101010101" pitchFamily="49" charset="-122"/>
              </a:rPr>
              <a:t>）计算</a:t>
            </a:r>
            <a:r>
              <a:rPr lang="en-US" altLang="zh-CN" dirty="0">
                <a:latin typeface="+mn-lt"/>
                <a:ea typeface="黑体" panose="02010609060101010101" pitchFamily="49" charset="-122"/>
              </a:rPr>
              <a:t>B</a:t>
            </a:r>
            <a:r>
              <a:rPr lang="zh-CN" altLang="en-US" i="0" dirty="0">
                <a:latin typeface="+mn-lt"/>
                <a:ea typeface="黑体" panose="02010609060101010101" pitchFamily="49" charset="-122"/>
              </a:rPr>
              <a:t>端压力</a:t>
            </a:r>
            <a:r>
              <a:rPr lang="en-US" altLang="zh-CN" i="0" dirty="0">
                <a:latin typeface="+mn-lt"/>
                <a:ea typeface="黑体" panose="02010609060101010101" pitchFamily="49" charset="-122"/>
              </a:rPr>
              <a:t> </a:t>
            </a:r>
          </a:p>
        </p:txBody>
      </p:sp>
      <p:sp>
        <p:nvSpPr>
          <p:cNvPr id="50" name="Text Box 10"/>
          <p:cNvSpPr txBox="1">
            <a:spLocks noChangeArrowheads="1"/>
          </p:cNvSpPr>
          <p:nvPr/>
        </p:nvSpPr>
        <p:spPr bwMode="auto">
          <a:xfrm>
            <a:off x="767408" y="4445864"/>
            <a:ext cx="7056784"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30000"/>
              </a:lnSpc>
            </a:pP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Bx</a:t>
            </a:r>
            <a:r>
              <a:rPr kumimoji="1" lang="en-US" altLang="zh-CN" b="0" baseline="-25000" dirty="0">
                <a:solidFill>
                  <a:schemeClr val="tx1"/>
                </a:solidFill>
                <a:ea typeface="黑体" panose="02010609060101010101" pitchFamily="49" charset="-122"/>
              </a:rPr>
              <a:t> </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0.4m</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0.2m =0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Bx</a:t>
            </a:r>
            <a:r>
              <a:rPr kumimoji="1" lang="en-US" altLang="zh-CN" b="0" i="0" dirty="0">
                <a:solidFill>
                  <a:schemeClr val="tx1"/>
                </a:solidFill>
                <a:ea typeface="黑体" panose="02010609060101010101" pitchFamily="49" charset="-122"/>
              </a:rPr>
              <a:t>=75N </a:t>
            </a:r>
          </a:p>
        </p:txBody>
      </p:sp>
      <p:sp>
        <p:nvSpPr>
          <p:cNvPr id="2" name="矩形 1"/>
          <p:cNvSpPr/>
          <p:nvPr/>
        </p:nvSpPr>
        <p:spPr>
          <a:xfrm>
            <a:off x="1293029" y="4901490"/>
            <a:ext cx="6096000" cy="572464"/>
          </a:xfrm>
          <a:prstGeom prst="rect">
            <a:avLst/>
          </a:prstGeom>
        </p:spPr>
        <p:txBody>
          <a:bodyPr>
            <a:spAutoFit/>
          </a:bodyPr>
          <a:lstStyle/>
          <a:p>
            <a:pPr lvl="0">
              <a:lnSpc>
                <a:spcPct val="130000"/>
              </a:lnSpc>
            </a:pP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M</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By</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0.4m=0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By</a:t>
            </a:r>
            <a:r>
              <a:rPr kumimoji="1" lang="en-US" altLang="zh-CN" b="0" i="0" dirty="0">
                <a:solidFill>
                  <a:schemeClr val="tx1"/>
                </a:solidFill>
                <a:ea typeface="黑体" panose="02010609060101010101" pitchFamily="49" charset="-122"/>
              </a:rPr>
              <a:t> =0 </a:t>
            </a:r>
          </a:p>
        </p:txBody>
      </p:sp>
      <p:sp>
        <p:nvSpPr>
          <p:cNvPr id="52" name="Rectangle 5"/>
          <p:cNvSpPr>
            <a:spLocks noChangeArrowheads="1"/>
          </p:cNvSpPr>
          <p:nvPr/>
        </p:nvSpPr>
        <p:spPr bwMode="auto">
          <a:xfrm>
            <a:off x="310553" y="5375950"/>
            <a:ext cx="607347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en-US" altLang="zh-CN" i="0" dirty="0">
                <a:latin typeface="+mn-lt"/>
                <a:ea typeface="黑体" panose="02010609060101010101" pitchFamily="49" charset="-122"/>
              </a:rPr>
              <a:t>       3</a:t>
            </a:r>
            <a:r>
              <a:rPr lang="zh-CN" altLang="en-US" i="0" dirty="0">
                <a:latin typeface="+mn-lt"/>
                <a:ea typeface="黑体" panose="02010609060101010101" pitchFamily="49" charset="-122"/>
              </a:rPr>
              <a:t>）计算</a:t>
            </a:r>
            <a:r>
              <a:rPr lang="en-US" altLang="zh-CN" dirty="0">
                <a:latin typeface="+mn-lt"/>
                <a:ea typeface="黑体" panose="02010609060101010101" pitchFamily="49" charset="-122"/>
              </a:rPr>
              <a:t>A</a:t>
            </a:r>
            <a:r>
              <a:rPr lang="zh-CN" altLang="en-US" i="0" dirty="0">
                <a:latin typeface="+mn-lt"/>
                <a:ea typeface="黑体" panose="02010609060101010101" pitchFamily="49" charset="-122"/>
              </a:rPr>
              <a:t>端压力</a:t>
            </a:r>
            <a:r>
              <a:rPr lang="en-US" altLang="zh-CN" i="0" dirty="0">
                <a:latin typeface="+mn-lt"/>
                <a:ea typeface="黑体" panose="02010609060101010101" pitchFamily="49" charset="-122"/>
              </a:rPr>
              <a:t> </a:t>
            </a:r>
          </a:p>
        </p:txBody>
      </p:sp>
      <p:sp>
        <p:nvSpPr>
          <p:cNvPr id="54" name="Text Box 13"/>
          <p:cNvSpPr txBox="1">
            <a:spLocks noChangeArrowheads="1"/>
          </p:cNvSpPr>
          <p:nvPr/>
        </p:nvSpPr>
        <p:spPr bwMode="auto">
          <a:xfrm>
            <a:off x="1293029" y="5775558"/>
            <a:ext cx="3794859"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zh-CN"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Az</a:t>
            </a:r>
            <a:r>
              <a:rPr kumimoji="1" lang="en-US" altLang="zh-CN" b="0" i="0" dirty="0" err="1">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Bz</a:t>
            </a:r>
            <a:r>
              <a:rPr kumimoji="1" lang="en-US" altLang="zh-CN" b="0" i="0" dirty="0">
                <a:solidFill>
                  <a:schemeClr val="tx1"/>
                </a:solidFill>
                <a:ea typeface="黑体" panose="02010609060101010101" pitchFamily="49" charset="-122"/>
              </a:rPr>
              <a:t>=0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Az</a:t>
            </a:r>
            <a:r>
              <a:rPr kumimoji="1" lang="en-US" altLang="zh-CN" b="0" i="0" dirty="0">
                <a:solidFill>
                  <a:schemeClr val="tx1"/>
                </a:solidFill>
                <a:ea typeface="黑体" panose="02010609060101010101" pitchFamily="49" charset="-122"/>
              </a:rPr>
              <a:t>=50N</a:t>
            </a:r>
          </a:p>
        </p:txBody>
      </p:sp>
      <p:sp>
        <p:nvSpPr>
          <p:cNvPr id="56" name="Text Box 14"/>
          <p:cNvSpPr txBox="1">
            <a:spLocks noChangeArrowheads="1"/>
          </p:cNvSpPr>
          <p:nvPr/>
        </p:nvSpPr>
        <p:spPr bwMode="auto">
          <a:xfrm>
            <a:off x="6132478" y="5319932"/>
            <a:ext cx="5724162"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By</a:t>
            </a:r>
            <a:r>
              <a:rPr kumimoji="1" lang="en-US" altLang="zh-CN" b="0" i="0" dirty="0" err="1">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Ay</a:t>
            </a:r>
            <a:r>
              <a:rPr kumimoji="1" lang="en-US" altLang="zh-CN" b="0" i="0" dirty="0">
                <a:solidFill>
                  <a:schemeClr val="tx1"/>
                </a:solidFill>
                <a:ea typeface="黑体" panose="02010609060101010101" pitchFamily="49" charset="-122"/>
              </a:rPr>
              <a:t>=0     </a:t>
            </a: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Ay</a:t>
            </a:r>
            <a:r>
              <a:rPr kumimoji="1" lang="en-US" altLang="zh-CN" b="0" i="0" dirty="0">
                <a:solidFill>
                  <a:schemeClr val="tx1"/>
                </a:solidFill>
                <a:ea typeface="黑体" panose="02010609060101010101" pitchFamily="49" charset="-122"/>
              </a:rPr>
              <a:t>=0</a:t>
            </a:r>
          </a:p>
          <a:p>
            <a:pPr>
              <a:lnSpc>
                <a:spcPct val="130000"/>
              </a:lnSpc>
            </a:pP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Bx</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Ax</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Ax</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75N</a:t>
            </a:r>
          </a:p>
        </p:txBody>
      </p:sp>
    </p:spTree>
    <p:extLst>
      <p:ext uri="{BB962C8B-B14F-4D97-AF65-F5344CB8AC3E}">
        <p14:creationId xmlns:p14="http://schemas.microsoft.com/office/powerpoint/2010/main" val="4715411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2000"/>
                                  </p:stCondLst>
                                  <p:childTnLst>
                                    <p:set>
                                      <p:cBhvr>
                                        <p:cTn id="6" dur="1" fill="hold">
                                          <p:stCondLst>
                                            <p:cond delay="0"/>
                                          </p:stCondLst>
                                        </p:cTn>
                                        <p:tgtEl>
                                          <p:spTgt spid="46"/>
                                        </p:tgtEl>
                                        <p:attrNameLst>
                                          <p:attrName>style.visibility</p:attrName>
                                        </p:attrNameLst>
                                      </p:cBhvr>
                                      <p:to>
                                        <p:strVal val="visible"/>
                                      </p:to>
                                    </p:set>
                                    <p:animEffect transition="in" filter="strips(downRight)">
                                      <p:cBhvr>
                                        <p:cTn id="7" dur="50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70000"/>
                                  </p:iterate>
                                  <p:childTnLst>
                                    <p:set>
                                      <p:cBhvr>
                                        <p:cTn id="15" dur="1" fill="hold">
                                          <p:stCondLst>
                                            <p:cond delay="0"/>
                                          </p:stCondLst>
                                        </p:cTn>
                                        <p:tgtEl>
                                          <p:spTgt spid="47">
                                            <p:txEl>
                                              <p:pRg st="0" end="0"/>
                                            </p:txEl>
                                          </p:spTgt>
                                        </p:tgtEl>
                                        <p:attrNameLst>
                                          <p:attrName>style.visibility</p:attrName>
                                        </p:attrNameLst>
                                      </p:cBhvr>
                                      <p:to>
                                        <p:strVal val="visible"/>
                                      </p:to>
                                    </p:set>
                                    <p:animEffect transition="in" filter="wipe(left)">
                                      <p:cBhvr>
                                        <p:cTn id="16" dur="500"/>
                                        <p:tgtEl>
                                          <p:spTgt spid="4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30000"/>
                                  </p:iterate>
                                  <p:childTnLst>
                                    <p:set>
                                      <p:cBhvr>
                                        <p:cTn id="24" dur="1" fill="hold">
                                          <p:stCondLst>
                                            <p:cond delay="0"/>
                                          </p:stCondLst>
                                        </p:cTn>
                                        <p:tgtEl>
                                          <p:spTgt spid="50">
                                            <p:txEl>
                                              <p:pRg st="0" end="0"/>
                                            </p:txEl>
                                          </p:spTgt>
                                        </p:tgtEl>
                                        <p:attrNameLst>
                                          <p:attrName>style.visibility</p:attrName>
                                        </p:attrNameLst>
                                      </p:cBhvr>
                                      <p:to>
                                        <p:strVal val="visible"/>
                                      </p:to>
                                    </p:set>
                                    <p:animEffect transition="in" filter="wipe(left)">
                                      <p:cBhvr>
                                        <p:cTn id="25" dur="500"/>
                                        <p:tgtEl>
                                          <p:spTgt spid="5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lt">
                                    <p:tmPct val="70000"/>
                                  </p:iterate>
                                  <p:childTnLst>
                                    <p:set>
                                      <p:cBhvr>
                                        <p:cTn id="37" dur="1" fill="hold">
                                          <p:stCondLst>
                                            <p:cond delay="0"/>
                                          </p:stCondLst>
                                        </p:cTn>
                                        <p:tgtEl>
                                          <p:spTgt spid="54">
                                            <p:txEl>
                                              <p:pRg st="0" end="0"/>
                                            </p:txEl>
                                          </p:spTgt>
                                        </p:tgtEl>
                                        <p:attrNameLst>
                                          <p:attrName>style.visibility</p:attrName>
                                        </p:attrNameLst>
                                      </p:cBhvr>
                                      <p:to>
                                        <p:strVal val="visible"/>
                                      </p:to>
                                    </p:set>
                                    <p:animEffect transition="in" filter="wipe(left)">
                                      <p:cBhvr>
                                        <p:cTn id="38" dur="500"/>
                                        <p:tgtEl>
                                          <p:spTgt spid="5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70000"/>
                                  </p:iterate>
                                  <p:childTnLst>
                                    <p:set>
                                      <p:cBhvr>
                                        <p:cTn id="42" dur="1" fill="hold">
                                          <p:stCondLst>
                                            <p:cond delay="0"/>
                                          </p:stCondLst>
                                        </p:cTn>
                                        <p:tgtEl>
                                          <p:spTgt spid="56">
                                            <p:txEl>
                                              <p:pRg st="0" end="0"/>
                                            </p:txEl>
                                          </p:spTgt>
                                        </p:tgtEl>
                                        <p:attrNameLst>
                                          <p:attrName>style.visibility</p:attrName>
                                        </p:attrNameLst>
                                      </p:cBhvr>
                                      <p:to>
                                        <p:strVal val="visible"/>
                                      </p:to>
                                    </p:set>
                                    <p:animEffect transition="in" filter="wipe(left)">
                                      <p:cBhvr>
                                        <p:cTn id="43" dur="500"/>
                                        <p:tgtEl>
                                          <p:spTgt spid="5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lt">
                                    <p:tmPct val="70000"/>
                                  </p:iterate>
                                  <p:childTnLst>
                                    <p:set>
                                      <p:cBhvr>
                                        <p:cTn id="47" dur="1" fill="hold">
                                          <p:stCondLst>
                                            <p:cond delay="0"/>
                                          </p:stCondLst>
                                        </p:cTn>
                                        <p:tgtEl>
                                          <p:spTgt spid="56">
                                            <p:txEl>
                                              <p:pRg st="1" end="1"/>
                                            </p:txEl>
                                          </p:spTgt>
                                        </p:tgtEl>
                                        <p:attrNameLst>
                                          <p:attrName>style.visibility</p:attrName>
                                        </p:attrNameLst>
                                      </p:cBhvr>
                                      <p:to>
                                        <p:strVal val="visible"/>
                                      </p:to>
                                    </p:set>
                                    <p:animEffect transition="in" filter="wipe(left)">
                                      <p:cBhvr>
                                        <p:cTn id="48" dur="500"/>
                                        <p:tgtEl>
                                          <p:spTgt spid="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47" grpId="0" build="p" autoUpdateAnimBg="0"/>
      <p:bldP spid="48" grpId="0"/>
      <p:bldP spid="50" grpId="0" build="p" autoUpdateAnimBg="0"/>
      <p:bldP spid="2" grpId="0"/>
      <p:bldP spid="52" grpId="0"/>
      <p:bldP spid="54" grpId="0" build="p" autoUpdateAnimBg="0"/>
      <p:bldP spid="56"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1" y="802970"/>
            <a:ext cx="1131506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1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Times New Roman" panose="02020603050405020304" pitchFamily="18" charset="0"/>
                <a:ea typeface="黑体" panose="02010609060101010101" pitchFamily="49" charset="-122"/>
              </a:rPr>
              <a:t>有一起重绞车的鼓轮轴如图所示。已知</a:t>
            </a:r>
            <a:r>
              <a:rPr lang="en-US" altLang="zh-CN" dirty="0">
                <a:latin typeface="Times New Roman" panose="02020603050405020304" pitchFamily="18" charset="0"/>
                <a:ea typeface="黑体" panose="02010609060101010101" pitchFamily="49" charset="-122"/>
              </a:rPr>
              <a:t>W</a:t>
            </a:r>
            <a:r>
              <a:rPr lang="en-US" altLang="zh-CN" i="0" dirty="0">
                <a:latin typeface="Times New Roman" panose="02020603050405020304" pitchFamily="18" charset="0"/>
                <a:ea typeface="黑体" panose="02010609060101010101" pitchFamily="49" charset="-122"/>
              </a:rPr>
              <a:t>=10kN</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b</a:t>
            </a:r>
            <a:r>
              <a:rPr lang="en-US" altLang="zh-CN"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c</a:t>
            </a:r>
            <a:r>
              <a:rPr lang="en-US" altLang="zh-CN" i="0" dirty="0">
                <a:latin typeface="Times New Roman" panose="02020603050405020304" pitchFamily="18" charset="0"/>
                <a:ea typeface="黑体" panose="02010609060101010101" pitchFamily="49" charset="-122"/>
              </a:rPr>
              <a:t>=30cm</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a</a:t>
            </a:r>
            <a:r>
              <a:rPr lang="en-US" altLang="zh-CN" i="0" dirty="0">
                <a:latin typeface="Times New Roman" panose="02020603050405020304" pitchFamily="18" charset="0"/>
                <a:ea typeface="黑体" panose="02010609060101010101" pitchFamily="49" charset="-122"/>
              </a:rPr>
              <a:t>=20cm</a:t>
            </a:r>
            <a:r>
              <a:rPr lang="zh-CN" altLang="en-US" i="0" dirty="0">
                <a:latin typeface="Times New Roman" panose="02020603050405020304" pitchFamily="18" charset="0"/>
                <a:ea typeface="黑体" panose="02010609060101010101" pitchFamily="49" charset="-122"/>
              </a:rPr>
              <a:t>，大齿轮半径</a:t>
            </a:r>
            <a:r>
              <a:rPr lang="en-US" altLang="zh-CN" dirty="0">
                <a:latin typeface="Times New Roman" panose="02020603050405020304" pitchFamily="18" charset="0"/>
                <a:ea typeface="黑体" panose="02010609060101010101" pitchFamily="49" charset="-122"/>
              </a:rPr>
              <a:t>R</a:t>
            </a:r>
            <a:r>
              <a:rPr lang="en-US" altLang="zh-CN" i="0" dirty="0">
                <a:latin typeface="Times New Roman" panose="02020603050405020304" pitchFamily="18" charset="0"/>
                <a:ea typeface="黑体" panose="02010609060101010101" pitchFamily="49" charset="-122"/>
              </a:rPr>
              <a:t>=20cm</a:t>
            </a:r>
            <a:r>
              <a:rPr lang="zh-CN" altLang="en-US" i="0" dirty="0">
                <a:latin typeface="Times New Roman" panose="02020603050405020304" pitchFamily="18" charset="0"/>
                <a:ea typeface="黑体" panose="02010609060101010101" pitchFamily="49" charset="-122"/>
              </a:rPr>
              <a:t>，在最高处</a:t>
            </a:r>
            <a:r>
              <a:rPr lang="en-US" altLang="zh-CN" dirty="0">
                <a:latin typeface="Times New Roman" panose="02020603050405020304" pitchFamily="18" charset="0"/>
                <a:ea typeface="黑体" panose="02010609060101010101" pitchFamily="49" charset="-122"/>
              </a:rPr>
              <a:t>E</a:t>
            </a:r>
            <a:r>
              <a:rPr lang="zh-CN" altLang="en-US" i="0" dirty="0">
                <a:latin typeface="Times New Roman" panose="02020603050405020304" pitchFamily="18" charset="0"/>
                <a:ea typeface="黑体" panose="02010609060101010101" pitchFamily="49" charset="-122"/>
              </a:rPr>
              <a:t>点受</a:t>
            </a:r>
            <a:r>
              <a:rPr lang="en-US" altLang="zh-CN" dirty="0" err="1">
                <a:latin typeface="Times New Roman" panose="02020603050405020304" pitchFamily="18" charset="0"/>
                <a:ea typeface="黑体" panose="02010609060101010101" pitchFamily="49" charset="-122"/>
              </a:rPr>
              <a:t>F</a:t>
            </a:r>
            <a:r>
              <a:rPr lang="en-US" altLang="zh-CN" i="0" baseline="-25000" dirty="0" err="1">
                <a:latin typeface="Times New Roman" panose="02020603050405020304" pitchFamily="18" charset="0"/>
                <a:ea typeface="黑体" panose="02010609060101010101" pitchFamily="49" charset="-122"/>
              </a:rPr>
              <a:t>n</a:t>
            </a:r>
            <a:r>
              <a:rPr lang="zh-CN" altLang="en-US" i="0" dirty="0">
                <a:latin typeface="Times New Roman" panose="02020603050405020304" pitchFamily="18" charset="0"/>
                <a:ea typeface="黑体" panose="02010609060101010101" pitchFamily="49" charset="-122"/>
              </a:rPr>
              <a:t>的作用，</a:t>
            </a:r>
            <a:r>
              <a:rPr lang="en-US" altLang="zh-CN" dirty="0" err="1">
                <a:latin typeface="Times New Roman" panose="02020603050405020304" pitchFamily="18" charset="0"/>
                <a:ea typeface="黑体" panose="02010609060101010101" pitchFamily="49" charset="-122"/>
              </a:rPr>
              <a:t>F</a:t>
            </a:r>
            <a:r>
              <a:rPr lang="en-US" altLang="zh-CN" i="0" baseline="-25000" dirty="0" err="1">
                <a:latin typeface="Times New Roman" panose="02020603050405020304" pitchFamily="18" charset="0"/>
                <a:ea typeface="黑体" panose="02010609060101010101" pitchFamily="49" charset="-122"/>
              </a:rPr>
              <a:t>n</a:t>
            </a:r>
            <a:r>
              <a:rPr lang="zh-CN" altLang="en-US" i="0" dirty="0">
                <a:latin typeface="Times New Roman" panose="02020603050405020304" pitchFamily="18" charset="0"/>
                <a:ea typeface="黑体" panose="02010609060101010101" pitchFamily="49" charset="-122"/>
              </a:rPr>
              <a:t>与齿轮分度圆切线之夹角为</a:t>
            </a:r>
            <a:r>
              <a:rPr lang="zh-CN" altLang="en-US" dirty="0">
                <a:latin typeface="Times New Roman" panose="02020603050405020304" pitchFamily="18" charset="0"/>
                <a:ea typeface="黑体" panose="02010609060101010101" pitchFamily="49" charset="-122"/>
                <a:sym typeface="Symbol" panose="05050102010706020507" pitchFamily="18" charset="2"/>
              </a:rPr>
              <a:t></a:t>
            </a:r>
            <a:r>
              <a:rPr lang="en-US" altLang="zh-CN" i="0" dirty="0">
                <a:latin typeface="Times New Roman" panose="02020603050405020304" pitchFamily="18" charset="0"/>
                <a:ea typeface="黑体" panose="02010609060101010101" pitchFamily="49" charset="-122"/>
              </a:rPr>
              <a:t>=20</a:t>
            </a:r>
            <a:r>
              <a:rPr lang="en-US" altLang="zh-CN" i="0" dirty="0">
                <a:latin typeface="Times New Roman" panose="02020603050405020304" pitchFamily="18" charset="0"/>
                <a:ea typeface="黑体" panose="02010609060101010101" pitchFamily="49" charset="-122"/>
                <a:sym typeface="Symbol" panose="05050102010706020507" pitchFamily="18" charset="2"/>
              </a:rPr>
              <a:t></a:t>
            </a:r>
            <a:r>
              <a:rPr lang="zh-CN" altLang="en-US" i="0" dirty="0">
                <a:latin typeface="Times New Roman" panose="02020603050405020304" pitchFamily="18" charset="0"/>
                <a:ea typeface="黑体" panose="02010609060101010101" pitchFamily="49" charset="-122"/>
              </a:rPr>
              <a:t>，鼓轮半径</a:t>
            </a:r>
            <a:r>
              <a:rPr lang="en-US" altLang="zh-CN" dirty="0">
                <a:latin typeface="Times New Roman" panose="02020603050405020304" pitchFamily="18" charset="0"/>
                <a:ea typeface="黑体" panose="02010609060101010101" pitchFamily="49" charset="-122"/>
              </a:rPr>
              <a:t>r</a:t>
            </a:r>
            <a:r>
              <a:rPr lang="en-US" altLang="zh-CN" i="0" dirty="0">
                <a:latin typeface="Times New Roman" panose="02020603050405020304" pitchFamily="18" charset="0"/>
                <a:ea typeface="黑体" panose="02010609060101010101" pitchFamily="49" charset="-122"/>
              </a:rPr>
              <a:t>=10cm</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A</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B</a:t>
            </a:r>
            <a:r>
              <a:rPr lang="zh-CN" altLang="en-US" i="0" dirty="0">
                <a:latin typeface="Times New Roman" panose="02020603050405020304" pitchFamily="18" charset="0"/>
                <a:ea typeface="黑体" panose="02010609060101010101" pitchFamily="49" charset="-122"/>
              </a:rPr>
              <a:t>两端为向心轴承。试求齿轮作用力</a:t>
            </a:r>
            <a:r>
              <a:rPr lang="en-US" altLang="zh-CN" dirty="0" err="1">
                <a:latin typeface="Times New Roman" panose="02020603050405020304" pitchFamily="18" charset="0"/>
                <a:ea typeface="黑体" panose="02010609060101010101" pitchFamily="49" charset="-122"/>
              </a:rPr>
              <a:t>F</a:t>
            </a:r>
            <a:r>
              <a:rPr lang="en-US" altLang="zh-CN" i="0" baseline="-25000" dirty="0" err="1">
                <a:latin typeface="Times New Roman" panose="02020603050405020304" pitchFamily="18" charset="0"/>
                <a:ea typeface="黑体" panose="02010609060101010101" pitchFamily="49" charset="-122"/>
              </a:rPr>
              <a:t>n</a:t>
            </a:r>
            <a:r>
              <a:rPr lang="zh-CN" altLang="en-US" i="0" dirty="0">
                <a:latin typeface="Times New Roman" panose="02020603050405020304" pitchFamily="18" charset="0"/>
                <a:ea typeface="黑体" panose="02010609060101010101" pitchFamily="49" charset="-122"/>
              </a:rPr>
              <a:t>以及</a:t>
            </a:r>
            <a:r>
              <a:rPr lang="en-US" altLang="zh-CN" dirty="0">
                <a:latin typeface="Times New Roman" panose="02020603050405020304" pitchFamily="18" charset="0"/>
                <a:ea typeface="黑体" panose="02010609060101010101" pitchFamily="49" charset="-122"/>
              </a:rPr>
              <a:t>AB</a:t>
            </a:r>
            <a:r>
              <a:rPr lang="zh-CN" altLang="en-US" i="0" dirty="0">
                <a:latin typeface="Times New Roman" panose="02020603050405020304" pitchFamily="18" charset="0"/>
                <a:ea typeface="黑体" panose="02010609060101010101" pitchFamily="49" charset="-122"/>
              </a:rPr>
              <a:t>两轴承受的压力</a:t>
            </a:r>
            <a:r>
              <a:rPr lang="zh-CN" altLang="en-US" b="0" i="0" dirty="0">
                <a:latin typeface="Times New Roman" panose="02020603050405020304" pitchFamily="18" charset="0"/>
                <a:ea typeface="黑体" panose="02010609060101010101" pitchFamily="49" charset="-122"/>
              </a:rPr>
              <a:t>。</a:t>
            </a:r>
            <a:endParaRPr lang="zh-CN" altLang="en-US" i="0" dirty="0">
              <a:latin typeface="+mn-lt"/>
              <a:ea typeface="黑体" panose="02010609060101010101" pitchFamily="49" charset="-122"/>
            </a:endParaRPr>
          </a:p>
        </p:txBody>
      </p:sp>
      <p:sp>
        <p:nvSpPr>
          <p:cNvPr id="33" name="Rectangle 61"/>
          <p:cNvSpPr>
            <a:spLocks noChangeArrowheads="1"/>
          </p:cNvSpPr>
          <p:nvPr/>
        </p:nvSpPr>
        <p:spPr bwMode="auto">
          <a:xfrm>
            <a:off x="7389029" y="2201726"/>
            <a:ext cx="4727733" cy="4057732"/>
          </a:xfrm>
          <a:prstGeom prst="rect">
            <a:avLst/>
          </a:prstGeom>
          <a:solidFill>
            <a:srgbClr val="B9CDE5"/>
          </a:solidFill>
          <a:ln>
            <a:noFill/>
          </a:ln>
          <a:effectLst/>
        </p:spPr>
        <p:txBody>
          <a:bodyPr wrap="none" anchor="ctr"/>
          <a:lstStyle/>
          <a:p>
            <a:endParaRPr lang="zh-CN" altLang="en-US"/>
          </a:p>
        </p:txBody>
      </p:sp>
      <p:sp>
        <p:nvSpPr>
          <p:cNvPr id="148" name="Rectangle 5"/>
          <p:cNvSpPr>
            <a:spLocks noChangeArrowheads="1"/>
          </p:cNvSpPr>
          <p:nvPr/>
        </p:nvSpPr>
        <p:spPr bwMode="auto">
          <a:xfrm>
            <a:off x="310553" y="2114098"/>
            <a:ext cx="6486106"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20000"/>
              </a:lnSpc>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a:t>
            </a:r>
            <a:r>
              <a:rPr lang="en-US" altLang="zh-CN" i="0" dirty="0">
                <a:latin typeface="+mn-lt"/>
                <a:ea typeface="黑体" panose="02010609060101010101" pitchFamily="49" charset="-122"/>
              </a:rPr>
              <a:t> </a:t>
            </a:r>
            <a:r>
              <a:rPr lang="zh-CN" altLang="en-US" i="0" dirty="0">
                <a:latin typeface="+mn-lt"/>
                <a:ea typeface="黑体" panose="02010609060101010101" pitchFamily="49" charset="-122"/>
              </a:rPr>
              <a:t>取鼓轮轴为研究对象，其上作用有齿轮作用力</a:t>
            </a:r>
            <a:r>
              <a:rPr lang="en-US" altLang="zh-CN" dirty="0" err="1">
                <a:latin typeface="+mn-lt"/>
                <a:ea typeface="黑体" panose="02010609060101010101" pitchFamily="49" charset="-122"/>
              </a:rPr>
              <a:t>F</a:t>
            </a:r>
            <a:r>
              <a:rPr lang="en-US" altLang="zh-CN" i="0" baseline="-25000" dirty="0" err="1">
                <a:latin typeface="+mn-lt"/>
                <a:ea typeface="黑体" panose="02010609060101010101" pitchFamily="49" charset="-122"/>
              </a:rPr>
              <a:t>n</a:t>
            </a:r>
            <a:r>
              <a:rPr lang="zh-CN" altLang="en-US" i="0" dirty="0">
                <a:latin typeface="+mn-lt"/>
                <a:ea typeface="黑体" panose="02010609060101010101" pitchFamily="49" charset="-122"/>
              </a:rPr>
              <a:t>、起重物重量</a:t>
            </a:r>
            <a:r>
              <a:rPr lang="en-US" altLang="zh-CN" dirty="0">
                <a:latin typeface="+mn-lt"/>
                <a:ea typeface="黑体" panose="02010609060101010101" pitchFamily="49" charset="-122"/>
              </a:rPr>
              <a:t>W</a:t>
            </a:r>
            <a:r>
              <a:rPr lang="zh-CN" altLang="en-US" i="0" dirty="0">
                <a:latin typeface="+mn-lt"/>
                <a:ea typeface="黑体" panose="02010609060101010101" pitchFamily="49" charset="-122"/>
              </a:rPr>
              <a:t>和轴承</a:t>
            </a:r>
            <a:r>
              <a:rPr lang="en-US" altLang="zh-CN" dirty="0">
                <a:latin typeface="+mn-lt"/>
                <a:ea typeface="黑体" panose="02010609060101010101" pitchFamily="49" charset="-122"/>
              </a:rPr>
              <a:t>A</a:t>
            </a:r>
            <a:r>
              <a:rPr lang="zh-CN" altLang="en-US" i="0" dirty="0">
                <a:latin typeface="+mn-lt"/>
                <a:ea typeface="黑体" panose="02010609060101010101" pitchFamily="49" charset="-122"/>
              </a:rPr>
              <a:t>、</a:t>
            </a:r>
            <a:r>
              <a:rPr lang="en-US" altLang="zh-CN" dirty="0">
                <a:latin typeface="+mn-lt"/>
                <a:ea typeface="黑体" panose="02010609060101010101" pitchFamily="49" charset="-122"/>
              </a:rPr>
              <a:t>B</a:t>
            </a:r>
            <a:r>
              <a:rPr lang="zh-CN" altLang="en-US" i="0" dirty="0">
                <a:latin typeface="+mn-lt"/>
                <a:ea typeface="黑体" panose="02010609060101010101" pitchFamily="49" charset="-122"/>
              </a:rPr>
              <a:t>处的约束反力</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Ax</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Az</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Bx</a:t>
            </a:r>
            <a:r>
              <a:rPr lang="zh-CN" altLang="en-US" i="0" dirty="0">
                <a:latin typeface="+mn-lt"/>
                <a:ea typeface="黑体" panose="02010609060101010101" pitchFamily="49" charset="-122"/>
              </a:rPr>
              <a:t>、</a:t>
            </a:r>
            <a:r>
              <a:rPr lang="en-US" altLang="zh-CN" dirty="0" err="1">
                <a:latin typeface="+mn-lt"/>
                <a:ea typeface="黑体" panose="02010609060101010101" pitchFamily="49" charset="-122"/>
              </a:rPr>
              <a:t>F</a:t>
            </a:r>
            <a:r>
              <a:rPr lang="en-US" altLang="zh-CN" baseline="-25000" dirty="0" err="1">
                <a:latin typeface="+mn-lt"/>
                <a:ea typeface="黑体" panose="02010609060101010101" pitchFamily="49" charset="-122"/>
              </a:rPr>
              <a:t>Bz</a:t>
            </a:r>
            <a:r>
              <a:rPr lang="zh-CN" altLang="en-US" i="0" dirty="0">
                <a:latin typeface="+mn-lt"/>
                <a:ea typeface="黑体" panose="02010609060101010101" pitchFamily="49" charset="-122"/>
              </a:rPr>
              <a:t>，如图所示</a:t>
            </a:r>
            <a:endParaRPr lang="en-US" altLang="zh-CN" i="0" dirty="0">
              <a:latin typeface="+mn-lt"/>
              <a:ea typeface="黑体" panose="02010609060101010101" pitchFamily="49" charset="-122"/>
            </a:endParaRPr>
          </a:p>
        </p:txBody>
      </p:sp>
      <p:sp>
        <p:nvSpPr>
          <p:cNvPr id="48" name="Rectangle 5"/>
          <p:cNvSpPr>
            <a:spLocks noChangeArrowheads="1"/>
          </p:cNvSpPr>
          <p:nvPr/>
        </p:nvSpPr>
        <p:spPr bwMode="auto">
          <a:xfrm>
            <a:off x="310553" y="3625882"/>
            <a:ext cx="6357909"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latin typeface="+mn-lt"/>
                <a:ea typeface="黑体" panose="02010609060101010101" pitchFamily="49" charset="-122"/>
              </a:rPr>
              <a:t>该力系为空间任意力系，可列平衡方程式如下</a:t>
            </a:r>
            <a:r>
              <a:rPr lang="en-US" altLang="zh-CN" i="0" dirty="0">
                <a:latin typeface="+mn-lt"/>
                <a:ea typeface="黑体" panose="02010609060101010101" pitchFamily="49" charset="-122"/>
              </a:rPr>
              <a:t> </a:t>
            </a:r>
          </a:p>
        </p:txBody>
      </p:sp>
      <p:grpSp>
        <p:nvGrpSpPr>
          <p:cNvPr id="14" name="Group 2"/>
          <p:cNvGrpSpPr>
            <a:grpSpLocks/>
          </p:cNvGrpSpPr>
          <p:nvPr/>
        </p:nvGrpSpPr>
        <p:grpSpPr bwMode="auto">
          <a:xfrm>
            <a:off x="7914650" y="2151008"/>
            <a:ext cx="3679825" cy="4108450"/>
            <a:chOff x="3113" y="1114"/>
            <a:chExt cx="2318" cy="2588"/>
          </a:xfrm>
        </p:grpSpPr>
        <p:grpSp>
          <p:nvGrpSpPr>
            <p:cNvPr id="15" name="Group 3"/>
            <p:cNvGrpSpPr>
              <a:grpSpLocks/>
            </p:cNvGrpSpPr>
            <p:nvPr/>
          </p:nvGrpSpPr>
          <p:grpSpPr bwMode="auto">
            <a:xfrm>
              <a:off x="3113" y="1114"/>
              <a:ext cx="2318" cy="2588"/>
              <a:chOff x="3113" y="1114"/>
              <a:chExt cx="2318" cy="2588"/>
            </a:xfrm>
          </p:grpSpPr>
          <p:grpSp>
            <p:nvGrpSpPr>
              <p:cNvPr id="25" name="Group 4"/>
              <p:cNvGrpSpPr>
                <a:grpSpLocks/>
              </p:cNvGrpSpPr>
              <p:nvPr/>
            </p:nvGrpSpPr>
            <p:grpSpPr bwMode="auto">
              <a:xfrm rot="16200000" flipV="1">
                <a:off x="3381" y="2099"/>
                <a:ext cx="117" cy="219"/>
                <a:chOff x="5152" y="2677"/>
                <a:chExt cx="186" cy="300"/>
              </a:xfrm>
            </p:grpSpPr>
            <p:sp>
              <p:nvSpPr>
                <p:cNvPr id="61" name="Rectangle 5"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Rectangle 6"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6" name="Group 7"/>
              <p:cNvGrpSpPr>
                <a:grpSpLocks/>
              </p:cNvGrpSpPr>
              <p:nvPr/>
            </p:nvGrpSpPr>
            <p:grpSpPr bwMode="auto">
              <a:xfrm rot="5400000">
                <a:off x="3420" y="1796"/>
                <a:ext cx="117" cy="300"/>
                <a:chOff x="5152" y="2677"/>
                <a:chExt cx="186" cy="300"/>
              </a:xfrm>
            </p:grpSpPr>
            <p:sp>
              <p:nvSpPr>
                <p:cNvPr id="59" name="Rectangle 8"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Rectangle 9"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7" name="Picture 10" descr="例3-6"/>
              <p:cNvPicPr>
                <a:picLocks noChangeAspect="1" noChangeArrowheads="1"/>
              </p:cNvPicPr>
              <p:nvPr/>
            </p:nvPicPr>
            <p:blipFill>
              <a:blip r:embed="rId3">
                <a:clrChange>
                  <a:clrFrom>
                    <a:srgbClr val="000000"/>
                  </a:clrFrom>
                  <a:clrTo>
                    <a:srgbClr val="000000">
                      <a:alpha val="0"/>
                    </a:srgbClr>
                  </a:clrTo>
                </a:clrChange>
                <a:lum contrast="30000"/>
                <a:extLst>
                  <a:ext uri="{28A0092B-C50C-407E-A947-70E740481C1C}">
                    <a14:useLocalDpi xmlns:a14="http://schemas.microsoft.com/office/drawing/2010/main" val="0"/>
                  </a:ext>
                </a:extLst>
              </a:blip>
              <a:srcRect/>
              <a:stretch>
                <a:fillRect/>
              </a:stretch>
            </p:blipFill>
            <p:spPr bwMode="auto">
              <a:xfrm rot="21300000">
                <a:off x="3113" y="1249"/>
                <a:ext cx="2315" cy="1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 Box 11"/>
              <p:cNvSpPr txBox="1">
                <a:spLocks noChangeAspect="1" noChangeArrowheads="1"/>
              </p:cNvSpPr>
              <p:nvPr/>
            </p:nvSpPr>
            <p:spPr bwMode="auto">
              <a:xfrm>
                <a:off x="3450" y="1380"/>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E</a:t>
                </a:r>
              </a:p>
            </p:txBody>
          </p:sp>
          <p:sp>
            <p:nvSpPr>
              <p:cNvPr id="29" name="Text Box 12"/>
              <p:cNvSpPr txBox="1">
                <a:spLocks noChangeAspect="1" noChangeArrowheads="1"/>
              </p:cNvSpPr>
              <p:nvPr/>
            </p:nvSpPr>
            <p:spPr bwMode="auto">
              <a:xfrm>
                <a:off x="3118" y="1826"/>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B</a:t>
                </a:r>
              </a:p>
            </p:txBody>
          </p:sp>
          <p:sp>
            <p:nvSpPr>
              <p:cNvPr id="30" name="Text Box 13"/>
              <p:cNvSpPr txBox="1">
                <a:spLocks noChangeAspect="1" noChangeArrowheads="1"/>
              </p:cNvSpPr>
              <p:nvPr/>
            </p:nvSpPr>
            <p:spPr bwMode="auto">
              <a:xfrm>
                <a:off x="5175" y="2257"/>
                <a:ext cx="256"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A</a:t>
                </a:r>
              </a:p>
            </p:txBody>
          </p:sp>
          <p:sp>
            <p:nvSpPr>
              <p:cNvPr id="31" name="Text Box 14"/>
              <p:cNvSpPr txBox="1">
                <a:spLocks noChangeAspect="1" noChangeArrowheads="1"/>
              </p:cNvSpPr>
              <p:nvPr/>
            </p:nvSpPr>
            <p:spPr bwMode="auto">
              <a:xfrm>
                <a:off x="3652" y="1114"/>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ea typeface="宋体" panose="02010600030101010101" pitchFamily="2" charset="-122"/>
                  </a:rPr>
                  <a:t>F</a:t>
                </a:r>
                <a:r>
                  <a:rPr lang="en-US" altLang="zh-CN" baseline="-25000">
                    <a:ea typeface="宋体" panose="02010600030101010101" pitchFamily="2" charset="-122"/>
                  </a:rPr>
                  <a:t>n</a:t>
                </a:r>
              </a:p>
            </p:txBody>
          </p:sp>
          <p:sp>
            <p:nvSpPr>
              <p:cNvPr id="34" name="Text Box 15"/>
              <p:cNvSpPr txBox="1">
                <a:spLocks noChangeAspect="1" noChangeArrowheads="1"/>
              </p:cNvSpPr>
              <p:nvPr/>
            </p:nvSpPr>
            <p:spPr bwMode="auto">
              <a:xfrm>
                <a:off x="4480" y="3386"/>
                <a:ext cx="47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dirty="0">
                    <a:ea typeface="宋体" panose="02010600030101010101" pitchFamily="2" charset="-122"/>
                  </a:rPr>
                  <a:t>W</a:t>
                </a:r>
                <a:endParaRPr lang="en-US" altLang="zh-CN" i="1" baseline="-25000" dirty="0">
                  <a:ea typeface="宋体" panose="02010600030101010101" pitchFamily="2" charset="-122"/>
                </a:endParaRPr>
              </a:p>
            </p:txBody>
          </p:sp>
          <p:grpSp>
            <p:nvGrpSpPr>
              <p:cNvPr id="35" name="Group 16"/>
              <p:cNvGrpSpPr>
                <a:grpSpLocks/>
              </p:cNvGrpSpPr>
              <p:nvPr/>
            </p:nvGrpSpPr>
            <p:grpSpPr bwMode="auto">
              <a:xfrm rot="5400000">
                <a:off x="5187" y="1826"/>
                <a:ext cx="117" cy="219"/>
                <a:chOff x="5152" y="2677"/>
                <a:chExt cx="186" cy="300"/>
              </a:xfrm>
            </p:grpSpPr>
            <p:sp>
              <p:nvSpPr>
                <p:cNvPr id="57" name="Rectangle 17"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Rectangle 18"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6" name="Arc 19"/>
              <p:cNvSpPr>
                <a:spLocks/>
              </p:cNvSpPr>
              <p:nvPr/>
            </p:nvSpPr>
            <p:spPr bwMode="auto">
              <a:xfrm flipH="1">
                <a:off x="4073" y="1793"/>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Arc 20"/>
              <p:cNvSpPr>
                <a:spLocks/>
              </p:cNvSpPr>
              <p:nvPr/>
            </p:nvSpPr>
            <p:spPr bwMode="auto">
              <a:xfrm flipH="1">
                <a:off x="4161" y="1793"/>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Arc 21"/>
              <p:cNvSpPr>
                <a:spLocks/>
              </p:cNvSpPr>
              <p:nvPr/>
            </p:nvSpPr>
            <p:spPr bwMode="auto">
              <a:xfrm flipH="1">
                <a:off x="4249" y="1791"/>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Arc 22"/>
              <p:cNvSpPr>
                <a:spLocks/>
              </p:cNvSpPr>
              <p:nvPr/>
            </p:nvSpPr>
            <p:spPr bwMode="auto">
              <a:xfrm flipH="1">
                <a:off x="4337" y="1791"/>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23"/>
              <p:cNvSpPr>
                <a:spLocks noChangeShapeType="1"/>
              </p:cNvSpPr>
              <p:nvPr/>
            </p:nvSpPr>
            <p:spPr bwMode="auto">
              <a:xfrm>
                <a:off x="4494" y="2402"/>
                <a:ext cx="0" cy="5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Rectangle 24"/>
              <p:cNvSpPr>
                <a:spLocks noChangeArrowheads="1"/>
              </p:cNvSpPr>
              <p:nvPr/>
            </p:nvSpPr>
            <p:spPr bwMode="auto">
              <a:xfrm>
                <a:off x="4194" y="2896"/>
                <a:ext cx="528" cy="300"/>
              </a:xfrm>
              <a:prstGeom prst="rect">
                <a:avLst/>
              </a:prstGeom>
              <a:solidFill>
                <a:schemeClr val="accent1"/>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42" name="Line 25"/>
              <p:cNvSpPr>
                <a:spLocks noChangeAspect="1" noChangeShapeType="1"/>
              </p:cNvSpPr>
              <p:nvPr/>
            </p:nvSpPr>
            <p:spPr bwMode="auto">
              <a:xfrm>
                <a:off x="4493" y="3219"/>
                <a:ext cx="0" cy="460"/>
              </a:xfrm>
              <a:prstGeom prst="line">
                <a:avLst/>
              </a:prstGeom>
              <a:noFill/>
              <a:ln w="412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Text Box 26"/>
              <p:cNvSpPr txBox="1">
                <a:spLocks noChangeArrowheads="1"/>
              </p:cNvSpPr>
              <p:nvPr/>
            </p:nvSpPr>
            <p:spPr bwMode="auto">
              <a:xfrm>
                <a:off x="3940" y="1152"/>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ym typeface="Symbol" panose="05050102010706020507" pitchFamily="18" charset="2"/>
                  </a:rPr>
                  <a:t></a:t>
                </a:r>
              </a:p>
            </p:txBody>
          </p:sp>
          <p:sp>
            <p:nvSpPr>
              <p:cNvPr id="44" name="Line 27"/>
              <p:cNvSpPr>
                <a:spLocks noChangeShapeType="1"/>
              </p:cNvSpPr>
              <p:nvPr/>
            </p:nvSpPr>
            <p:spPr bwMode="auto">
              <a:xfrm flipH="1">
                <a:off x="3670" y="1228"/>
                <a:ext cx="390" cy="42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8"/>
              <p:cNvSpPr>
                <a:spLocks noChangeShapeType="1"/>
              </p:cNvSpPr>
              <p:nvPr/>
            </p:nvSpPr>
            <p:spPr bwMode="auto">
              <a:xfrm flipV="1">
                <a:off x="3667" y="1395"/>
                <a:ext cx="414" cy="2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Arc 29"/>
              <p:cNvSpPr>
                <a:spLocks/>
              </p:cNvSpPr>
              <p:nvPr/>
            </p:nvSpPr>
            <p:spPr bwMode="auto">
              <a:xfrm>
                <a:off x="3951" y="1331"/>
                <a:ext cx="81"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 name="Group 30"/>
              <p:cNvGrpSpPr>
                <a:grpSpLocks/>
              </p:cNvGrpSpPr>
              <p:nvPr/>
            </p:nvGrpSpPr>
            <p:grpSpPr bwMode="auto">
              <a:xfrm rot="16200000" flipV="1">
                <a:off x="5193" y="2141"/>
                <a:ext cx="117" cy="219"/>
                <a:chOff x="5152" y="2677"/>
                <a:chExt cx="186" cy="300"/>
              </a:xfrm>
            </p:grpSpPr>
            <p:sp>
              <p:nvSpPr>
                <p:cNvPr id="53" name="Rectangle 31"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Rectangle 32"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16" name="Text Box 33"/>
            <p:cNvSpPr txBox="1">
              <a:spLocks noChangeAspect="1" noChangeArrowheads="1"/>
            </p:cNvSpPr>
            <p:nvPr/>
          </p:nvSpPr>
          <p:spPr bwMode="auto">
            <a:xfrm>
              <a:off x="4077" y="2542"/>
              <a:ext cx="264"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b</a:t>
              </a:r>
            </a:p>
          </p:txBody>
        </p:sp>
        <p:sp>
          <p:nvSpPr>
            <p:cNvPr id="17" name="Text Box 34"/>
            <p:cNvSpPr txBox="1">
              <a:spLocks noChangeArrowheads="1"/>
            </p:cNvSpPr>
            <p:nvPr/>
          </p:nvSpPr>
          <p:spPr bwMode="auto">
            <a:xfrm>
              <a:off x="3497" y="2523"/>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t>a</a:t>
              </a:r>
            </a:p>
          </p:txBody>
        </p:sp>
        <p:sp>
          <p:nvSpPr>
            <p:cNvPr id="18" name="Text Box 35"/>
            <p:cNvSpPr txBox="1">
              <a:spLocks noChangeArrowheads="1"/>
            </p:cNvSpPr>
            <p:nvPr/>
          </p:nvSpPr>
          <p:spPr bwMode="auto">
            <a:xfrm>
              <a:off x="4695" y="2535"/>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t>c</a:t>
              </a:r>
            </a:p>
          </p:txBody>
        </p:sp>
        <p:sp>
          <p:nvSpPr>
            <p:cNvPr id="19" name="Line 36"/>
            <p:cNvSpPr>
              <a:spLocks noChangeShapeType="1"/>
            </p:cNvSpPr>
            <p:nvPr/>
          </p:nvSpPr>
          <p:spPr bwMode="auto">
            <a:xfrm>
              <a:off x="3412" y="2284"/>
              <a:ext cx="0" cy="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37"/>
            <p:cNvSpPr>
              <a:spLocks noChangeShapeType="1"/>
            </p:cNvSpPr>
            <p:nvPr/>
          </p:nvSpPr>
          <p:spPr bwMode="auto">
            <a:xfrm>
              <a:off x="3880" y="2376"/>
              <a:ext cx="0" cy="5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38"/>
            <p:cNvSpPr>
              <a:spLocks noChangeShapeType="1"/>
            </p:cNvSpPr>
            <p:nvPr/>
          </p:nvSpPr>
          <p:spPr bwMode="auto">
            <a:xfrm>
              <a:off x="5220" y="2308"/>
              <a:ext cx="0" cy="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39"/>
            <p:cNvSpPr>
              <a:spLocks noChangeShapeType="1"/>
            </p:cNvSpPr>
            <p:nvPr/>
          </p:nvSpPr>
          <p:spPr bwMode="auto">
            <a:xfrm>
              <a:off x="3412" y="2764"/>
              <a:ext cx="468"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40"/>
            <p:cNvSpPr>
              <a:spLocks noChangeShapeType="1"/>
            </p:cNvSpPr>
            <p:nvPr/>
          </p:nvSpPr>
          <p:spPr bwMode="auto">
            <a:xfrm>
              <a:off x="3880" y="2764"/>
              <a:ext cx="612"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41"/>
            <p:cNvSpPr>
              <a:spLocks noChangeShapeType="1"/>
            </p:cNvSpPr>
            <p:nvPr/>
          </p:nvSpPr>
          <p:spPr bwMode="auto">
            <a:xfrm>
              <a:off x="4496" y="2764"/>
              <a:ext cx="724"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3" name="Line 42"/>
          <p:cNvSpPr>
            <a:spLocks noChangeShapeType="1"/>
          </p:cNvSpPr>
          <p:nvPr/>
        </p:nvSpPr>
        <p:spPr bwMode="auto">
          <a:xfrm>
            <a:off x="11151562" y="3717871"/>
            <a:ext cx="86360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Text Box 47"/>
          <p:cNvSpPr txBox="1">
            <a:spLocks noChangeAspect="1" noChangeArrowheads="1"/>
          </p:cNvSpPr>
          <p:nvPr/>
        </p:nvSpPr>
        <p:spPr bwMode="auto">
          <a:xfrm>
            <a:off x="8354387" y="2133546"/>
            <a:ext cx="379413"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z</a:t>
            </a:r>
          </a:p>
        </p:txBody>
      </p:sp>
      <p:sp>
        <p:nvSpPr>
          <p:cNvPr id="65" name="Text Box 48"/>
          <p:cNvSpPr txBox="1">
            <a:spLocks noChangeAspect="1" noChangeArrowheads="1"/>
          </p:cNvSpPr>
          <p:nvPr/>
        </p:nvSpPr>
        <p:spPr bwMode="auto">
          <a:xfrm>
            <a:off x="11715125" y="3660721"/>
            <a:ext cx="401637"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y</a:t>
            </a:r>
          </a:p>
        </p:txBody>
      </p:sp>
      <p:sp>
        <p:nvSpPr>
          <p:cNvPr id="66" name="Line 49"/>
          <p:cNvSpPr>
            <a:spLocks noChangeShapeType="1"/>
          </p:cNvSpPr>
          <p:nvPr/>
        </p:nvSpPr>
        <p:spPr bwMode="auto">
          <a:xfrm flipV="1">
            <a:off x="8392487" y="2308171"/>
            <a:ext cx="0" cy="136525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7" name="Line 50"/>
          <p:cNvSpPr>
            <a:spLocks noChangeShapeType="1"/>
          </p:cNvSpPr>
          <p:nvPr/>
        </p:nvSpPr>
        <p:spPr bwMode="auto">
          <a:xfrm flipH="1">
            <a:off x="7544762" y="3687708"/>
            <a:ext cx="860425" cy="93980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 name="Text Box 51"/>
          <p:cNvSpPr txBox="1">
            <a:spLocks noChangeAspect="1" noChangeArrowheads="1"/>
          </p:cNvSpPr>
          <p:nvPr/>
        </p:nvSpPr>
        <p:spPr bwMode="auto">
          <a:xfrm>
            <a:off x="7500312" y="4476696"/>
            <a:ext cx="40005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x</a:t>
            </a:r>
          </a:p>
        </p:txBody>
      </p:sp>
      <p:sp>
        <p:nvSpPr>
          <p:cNvPr id="69" name="Line 52"/>
          <p:cNvSpPr>
            <a:spLocks noChangeShapeType="1"/>
          </p:cNvSpPr>
          <p:nvPr/>
        </p:nvSpPr>
        <p:spPr bwMode="auto">
          <a:xfrm flipV="1">
            <a:off x="8382962" y="2763783"/>
            <a:ext cx="0" cy="7604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Text Box 53"/>
          <p:cNvSpPr txBox="1">
            <a:spLocks noChangeAspect="1" noChangeArrowheads="1"/>
          </p:cNvSpPr>
          <p:nvPr/>
        </p:nvSpPr>
        <p:spPr bwMode="auto">
          <a:xfrm>
            <a:off x="7768600" y="2620908"/>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Bz</a:t>
            </a:r>
            <a:endParaRPr lang="en-US" altLang="zh-CN" i="1" baseline="-25000"/>
          </a:p>
        </p:txBody>
      </p:sp>
      <p:sp>
        <p:nvSpPr>
          <p:cNvPr id="71" name="Line 54"/>
          <p:cNvSpPr>
            <a:spLocks noChangeShapeType="1"/>
          </p:cNvSpPr>
          <p:nvPr/>
        </p:nvSpPr>
        <p:spPr bwMode="auto">
          <a:xfrm flipV="1">
            <a:off x="11300787" y="2792358"/>
            <a:ext cx="0" cy="7604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Text Box 55"/>
          <p:cNvSpPr txBox="1">
            <a:spLocks noChangeAspect="1" noChangeArrowheads="1"/>
          </p:cNvSpPr>
          <p:nvPr/>
        </p:nvSpPr>
        <p:spPr bwMode="auto">
          <a:xfrm>
            <a:off x="11299200" y="2647896"/>
            <a:ext cx="68897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Az</a:t>
            </a:r>
            <a:endParaRPr lang="en-US" altLang="zh-CN" i="1" baseline="-25000"/>
          </a:p>
        </p:txBody>
      </p:sp>
      <p:sp>
        <p:nvSpPr>
          <p:cNvPr id="73" name="Line 56"/>
          <p:cNvSpPr>
            <a:spLocks noChangeShapeType="1"/>
          </p:cNvSpPr>
          <p:nvPr/>
        </p:nvSpPr>
        <p:spPr bwMode="auto">
          <a:xfrm flipH="1">
            <a:off x="10646737" y="3736921"/>
            <a:ext cx="619125" cy="67627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Text Box 57"/>
          <p:cNvSpPr txBox="1">
            <a:spLocks noChangeAspect="1" noChangeArrowheads="1"/>
          </p:cNvSpPr>
          <p:nvPr/>
        </p:nvSpPr>
        <p:spPr bwMode="auto">
          <a:xfrm>
            <a:off x="10614987" y="4248096"/>
            <a:ext cx="68897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Ax</a:t>
            </a:r>
            <a:endParaRPr lang="en-US" altLang="zh-CN" i="1" baseline="-25000"/>
          </a:p>
        </p:txBody>
      </p:sp>
      <p:sp>
        <p:nvSpPr>
          <p:cNvPr id="75" name="Line 58"/>
          <p:cNvSpPr>
            <a:spLocks noChangeShapeType="1"/>
          </p:cNvSpPr>
          <p:nvPr/>
        </p:nvSpPr>
        <p:spPr bwMode="auto">
          <a:xfrm flipH="1">
            <a:off x="7889250" y="3690883"/>
            <a:ext cx="506412" cy="5524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Text Box 59"/>
          <p:cNvSpPr txBox="1">
            <a:spLocks noChangeAspect="1" noChangeArrowheads="1"/>
          </p:cNvSpPr>
          <p:nvPr/>
        </p:nvSpPr>
        <p:spPr bwMode="auto">
          <a:xfrm>
            <a:off x="7479675" y="3633733"/>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Bx</a:t>
            </a:r>
            <a:endParaRPr lang="en-US" altLang="zh-CN" i="1" baseline="-25000"/>
          </a:p>
        </p:txBody>
      </p:sp>
      <p:sp>
        <p:nvSpPr>
          <p:cNvPr id="4" name="矩形 3"/>
          <p:cNvSpPr/>
          <p:nvPr/>
        </p:nvSpPr>
        <p:spPr>
          <a:xfrm>
            <a:off x="584691" y="4325094"/>
            <a:ext cx="6561215" cy="1052596"/>
          </a:xfrm>
          <a:prstGeom prst="rect">
            <a:avLst/>
          </a:prstGeom>
        </p:spPr>
        <p:txBody>
          <a:bodyPr wrap="square">
            <a:spAutoFit/>
          </a:bodyPr>
          <a:lstStyle/>
          <a:p>
            <a:pPr>
              <a:lnSpc>
                <a:spcPct val="130000"/>
              </a:lnSpc>
            </a:pPr>
            <a:r>
              <a:rPr lang="zh-CN" altLang="en-US" b="0" dirty="0">
                <a:solidFill>
                  <a:schemeClr val="tx1"/>
                </a:solidFill>
              </a:rPr>
              <a:t> ∑</a:t>
            </a:r>
            <a:r>
              <a:rPr lang="en-US" altLang="zh-CN" b="0" dirty="0">
                <a:solidFill>
                  <a:schemeClr val="tx1"/>
                </a:solidFill>
              </a:rPr>
              <a:t>M</a:t>
            </a:r>
            <a:r>
              <a:rPr lang="en-US" altLang="zh-CN" b="0" baseline="-25000" dirty="0">
                <a:solidFill>
                  <a:schemeClr val="tx1"/>
                </a:solidFill>
              </a:rPr>
              <a:t>y</a:t>
            </a:r>
            <a:r>
              <a:rPr lang="en-US" altLang="zh-CN" b="0" i="0" dirty="0">
                <a:solidFill>
                  <a:schemeClr val="tx1"/>
                </a:solidFill>
              </a:rPr>
              <a:t>(</a:t>
            </a:r>
            <a:r>
              <a:rPr lang="en-US" altLang="zh-CN" dirty="0">
                <a:solidFill>
                  <a:schemeClr val="tx1"/>
                </a:solidFill>
              </a:rPr>
              <a:t>F</a:t>
            </a:r>
            <a:r>
              <a:rPr lang="en-US" altLang="zh-CN" b="0" i="0" dirty="0">
                <a:solidFill>
                  <a:schemeClr val="tx1"/>
                </a:solidFill>
              </a:rPr>
              <a:t>)=0</a:t>
            </a:r>
            <a:r>
              <a:rPr lang="en-US" altLang="zh-CN" b="0" dirty="0">
                <a:solidFill>
                  <a:schemeClr val="tx1"/>
                </a:solidFill>
              </a:rPr>
              <a:t>     </a:t>
            </a:r>
            <a:r>
              <a:rPr lang="en-US" altLang="zh-CN" b="0" dirty="0" err="1">
                <a:solidFill>
                  <a:schemeClr val="tx1"/>
                </a:solidFill>
              </a:rPr>
              <a:t>F</a:t>
            </a:r>
            <a:r>
              <a:rPr lang="en-US" altLang="zh-CN" b="0" i="0" baseline="-25000" dirty="0" err="1">
                <a:solidFill>
                  <a:schemeClr val="tx1"/>
                </a:solidFill>
              </a:rPr>
              <a:t>n</a:t>
            </a:r>
            <a:r>
              <a:rPr lang="en-US" altLang="zh-CN" b="0" dirty="0" err="1">
                <a:solidFill>
                  <a:schemeClr val="tx1"/>
                </a:solidFill>
              </a:rPr>
              <a:t>·R</a:t>
            </a:r>
            <a:r>
              <a:rPr lang="en-US" altLang="zh-CN" b="0" i="0" dirty="0" err="1">
                <a:solidFill>
                  <a:schemeClr val="tx1"/>
                </a:solidFill>
              </a:rPr>
              <a:t>cos</a:t>
            </a:r>
            <a:r>
              <a:rPr lang="en-US" altLang="zh-CN" b="0" dirty="0">
                <a:solidFill>
                  <a:schemeClr val="tx1"/>
                </a:solidFill>
                <a:sym typeface="Symbol" panose="05050102010706020507" pitchFamily="18" charset="2"/>
              </a:rPr>
              <a:t></a:t>
            </a:r>
            <a:r>
              <a:rPr lang="zh-CN" altLang="en-US" b="0" i="0" dirty="0">
                <a:solidFill>
                  <a:schemeClr val="tx1"/>
                </a:solidFill>
              </a:rPr>
              <a:t>－</a:t>
            </a:r>
            <a:r>
              <a:rPr lang="en-US" altLang="zh-CN" b="0" dirty="0" err="1">
                <a:solidFill>
                  <a:schemeClr val="tx1"/>
                </a:solidFill>
              </a:rPr>
              <a:t>W·r</a:t>
            </a:r>
            <a:r>
              <a:rPr lang="en-US" altLang="zh-CN" b="0" dirty="0">
                <a:solidFill>
                  <a:schemeClr val="tx1"/>
                </a:solidFill>
              </a:rPr>
              <a:t> </a:t>
            </a:r>
            <a:r>
              <a:rPr lang="en-US" altLang="zh-CN" b="0" i="0" dirty="0">
                <a:solidFill>
                  <a:schemeClr val="tx1"/>
                </a:solidFill>
              </a:rPr>
              <a:t>=0</a:t>
            </a:r>
          </a:p>
          <a:p>
            <a:pPr>
              <a:lnSpc>
                <a:spcPct val="130000"/>
              </a:lnSpc>
            </a:pPr>
            <a:r>
              <a:rPr lang="en-US" altLang="zh-CN" b="0" dirty="0">
                <a:solidFill>
                  <a:schemeClr val="tx1"/>
                </a:solidFill>
              </a:rPr>
              <a:t>  </a:t>
            </a:r>
            <a:r>
              <a:rPr lang="en-US" altLang="zh-CN" b="0" dirty="0" err="1">
                <a:solidFill>
                  <a:schemeClr val="tx1"/>
                </a:solidFill>
              </a:rPr>
              <a:t>F</a:t>
            </a:r>
            <a:r>
              <a:rPr lang="en-US" altLang="zh-CN" b="0" i="0" baseline="-25000" dirty="0" err="1">
                <a:solidFill>
                  <a:schemeClr val="tx1"/>
                </a:solidFill>
              </a:rPr>
              <a:t>n</a:t>
            </a:r>
            <a:r>
              <a:rPr lang="en-US" altLang="zh-CN" b="0" i="0" dirty="0">
                <a:solidFill>
                  <a:schemeClr val="tx1"/>
                </a:solidFill>
              </a:rPr>
              <a:t>=</a:t>
            </a:r>
            <a:r>
              <a:rPr lang="en-US" altLang="zh-CN" b="0" dirty="0" err="1">
                <a:solidFill>
                  <a:schemeClr val="tx1"/>
                </a:solidFill>
              </a:rPr>
              <a:t>W·r</a:t>
            </a:r>
            <a:r>
              <a:rPr lang="en-US" altLang="zh-CN" b="0" dirty="0">
                <a:solidFill>
                  <a:schemeClr val="tx1"/>
                </a:solidFill>
              </a:rPr>
              <a:t>/</a:t>
            </a:r>
            <a:r>
              <a:rPr lang="en-US" altLang="zh-CN" b="0" dirty="0" err="1">
                <a:solidFill>
                  <a:schemeClr val="tx1"/>
                </a:solidFill>
              </a:rPr>
              <a:t>R</a:t>
            </a:r>
            <a:r>
              <a:rPr lang="en-US" altLang="zh-CN" b="0" i="0" dirty="0" err="1">
                <a:solidFill>
                  <a:schemeClr val="tx1"/>
                </a:solidFill>
              </a:rPr>
              <a:t>cos</a:t>
            </a:r>
            <a:r>
              <a:rPr lang="en-US" altLang="zh-CN" b="0" dirty="0">
                <a:solidFill>
                  <a:schemeClr val="tx1"/>
                </a:solidFill>
                <a:sym typeface="Symbol" panose="05050102010706020507" pitchFamily="18" charset="2"/>
              </a:rPr>
              <a:t></a:t>
            </a:r>
            <a:r>
              <a:rPr lang="en-US" altLang="zh-CN" b="0" dirty="0">
                <a:solidFill>
                  <a:schemeClr val="tx1"/>
                </a:solidFill>
              </a:rPr>
              <a:t>=</a:t>
            </a:r>
            <a:r>
              <a:rPr lang="en-US" altLang="zh-CN" b="0" i="0" dirty="0">
                <a:solidFill>
                  <a:schemeClr val="tx1"/>
                </a:solidFill>
              </a:rPr>
              <a:t>10</a:t>
            </a:r>
            <a:r>
              <a:rPr lang="en-US" altLang="zh-CN" b="0" i="0" dirty="0">
                <a:solidFill>
                  <a:schemeClr val="tx1"/>
                </a:solidFill>
                <a:sym typeface="Symbol" panose="05050102010706020507" pitchFamily="18" charset="2"/>
              </a:rPr>
              <a:t></a:t>
            </a:r>
            <a:r>
              <a:rPr lang="en-US" altLang="zh-CN" b="0" i="0" dirty="0">
                <a:solidFill>
                  <a:schemeClr val="tx1"/>
                </a:solidFill>
              </a:rPr>
              <a:t>10/(20cos20</a:t>
            </a:r>
            <a:r>
              <a:rPr lang="en-US" altLang="zh-CN" b="0" i="0" dirty="0">
                <a:solidFill>
                  <a:schemeClr val="tx1"/>
                </a:solidFill>
                <a:sym typeface="Symbol" panose="05050102010706020507" pitchFamily="18" charset="2"/>
              </a:rPr>
              <a:t></a:t>
            </a:r>
            <a:r>
              <a:rPr lang="en-US" altLang="zh-CN" b="0" i="0" dirty="0">
                <a:solidFill>
                  <a:schemeClr val="tx1"/>
                </a:solidFill>
              </a:rPr>
              <a:t>) </a:t>
            </a:r>
            <a:r>
              <a:rPr lang="en-US" altLang="zh-CN" b="0" i="0" dirty="0" err="1">
                <a:solidFill>
                  <a:schemeClr val="tx1"/>
                </a:solidFill>
              </a:rPr>
              <a:t>kN</a:t>
            </a:r>
            <a:r>
              <a:rPr lang="en-US" altLang="zh-CN" b="0" i="0" dirty="0">
                <a:solidFill>
                  <a:schemeClr val="tx1"/>
                </a:solidFill>
              </a:rPr>
              <a:t>=5.32 </a:t>
            </a:r>
            <a:r>
              <a:rPr lang="en-US" altLang="zh-CN" b="0" i="0" dirty="0" err="1">
                <a:solidFill>
                  <a:schemeClr val="tx1"/>
                </a:solidFill>
              </a:rPr>
              <a:t>kN</a:t>
            </a:r>
            <a:r>
              <a:rPr lang="en-US" altLang="zh-CN" b="0" i="0" dirty="0">
                <a:solidFill>
                  <a:schemeClr val="tx1"/>
                </a:solidFill>
              </a:rPr>
              <a:t> </a:t>
            </a:r>
            <a:endParaRPr lang="zh-CN" altLang="en-US" b="0" i="0" dirty="0">
              <a:solidFill>
                <a:schemeClr val="tx1"/>
              </a:solidFill>
            </a:endParaRPr>
          </a:p>
        </p:txBody>
      </p:sp>
    </p:spTree>
    <p:extLst>
      <p:ext uri="{BB962C8B-B14F-4D97-AF65-F5344CB8AC3E}">
        <p14:creationId xmlns:p14="http://schemas.microsoft.com/office/powerpoint/2010/main" val="33766161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0" fill="hold"/>
                                        <p:tgtEl>
                                          <p:spTgt spid="14"/>
                                        </p:tgtEl>
                                        <p:attrNameLst>
                                          <p:attrName>ppt_w</p:attrName>
                                        </p:attrNameLst>
                                      </p:cBhvr>
                                      <p:tavLst>
                                        <p:tav tm="0">
                                          <p:val>
                                            <p:fltVal val="0"/>
                                          </p:val>
                                        </p:tav>
                                        <p:tav tm="100000">
                                          <p:val>
                                            <p:strVal val="#ppt_w"/>
                                          </p:val>
                                        </p:tav>
                                      </p:tavLst>
                                    </p:anim>
                                    <p:anim calcmode="lin" valueType="num">
                                      <p:cBhvr>
                                        <p:cTn id="8" dur="5000" fill="hold"/>
                                        <p:tgtEl>
                                          <p:spTgt spid="14"/>
                                        </p:tgtEl>
                                        <p:attrNameLst>
                                          <p:attrName>ppt_h</p:attrName>
                                        </p:attrNameLst>
                                      </p:cBhvr>
                                      <p:tavLst>
                                        <p:tav tm="0">
                                          <p:val>
                                            <p:fltVal val="0"/>
                                          </p:val>
                                        </p:tav>
                                        <p:tav tm="100000">
                                          <p:val>
                                            <p:strVal val="#ppt_h"/>
                                          </p:val>
                                        </p:tav>
                                      </p:tavLst>
                                    </p:anim>
                                    <p:animEffect transition="in" filter="fade">
                                      <p:cBhvr>
                                        <p:cTn id="9" dur="5000"/>
                                        <p:tgtEl>
                                          <p:spTgt spid="14"/>
                                        </p:tgtEl>
                                      </p:cBhvr>
                                    </p:animEffect>
                                  </p:childTnLst>
                                </p:cTn>
                              </p:par>
                            </p:childTnLst>
                          </p:cTn>
                        </p:par>
                        <p:par>
                          <p:cTn id="10" fill="hold">
                            <p:stCondLst>
                              <p:cond delay="5000"/>
                            </p:stCondLst>
                            <p:childTnLst>
                              <p:par>
                                <p:cTn id="11" presetID="18" presetClass="entr" presetSubtype="12" fill="hold" grpId="0" nodeType="after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strips(downLeft)">
                                      <p:cBhvr>
                                        <p:cTn id="13" dur="5000"/>
                                        <p:tgtEl>
                                          <p:spTgt spid="67"/>
                                        </p:tgtEl>
                                      </p:cBhvr>
                                    </p:animEffect>
                                  </p:childTnLst>
                                </p:cTn>
                              </p:par>
                              <p:par>
                                <p:cTn id="14" presetID="19"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 calcmode="lin" valueType="num">
                                      <p:cBhvr>
                                        <p:cTn id="16" dur="5000" fill="hold"/>
                                        <p:tgtEl>
                                          <p:spTgt spid="68"/>
                                        </p:tgtEl>
                                        <p:attrNameLst>
                                          <p:attrName>ppt_w</p:attrName>
                                        </p:attrNameLst>
                                      </p:cBhvr>
                                      <p:tavLst>
                                        <p:tav tm="0" fmla="#ppt_w*sin(2.5*pi*$)">
                                          <p:val>
                                            <p:fltVal val="0"/>
                                          </p:val>
                                        </p:tav>
                                        <p:tav tm="100000">
                                          <p:val>
                                            <p:fltVal val="1"/>
                                          </p:val>
                                        </p:tav>
                                      </p:tavLst>
                                    </p:anim>
                                    <p:anim calcmode="lin" valueType="num">
                                      <p:cBhvr>
                                        <p:cTn id="17" dur="5000" fill="hold"/>
                                        <p:tgtEl>
                                          <p:spTgt spid="68"/>
                                        </p:tgtEl>
                                        <p:attrNameLst>
                                          <p:attrName>ppt_h</p:attrName>
                                        </p:attrNameLst>
                                      </p:cBhvr>
                                      <p:tavLst>
                                        <p:tav tm="0">
                                          <p:val>
                                            <p:strVal val="#ppt_h"/>
                                          </p:val>
                                        </p:tav>
                                        <p:tav tm="100000">
                                          <p:val>
                                            <p:strVal val="#ppt_h"/>
                                          </p:val>
                                        </p:tav>
                                      </p:tavLst>
                                    </p:anim>
                                  </p:childTnLst>
                                </p:cTn>
                              </p:par>
                              <p:par>
                                <p:cTn id="18" presetID="19" presetClass="entr" presetSubtype="10"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anim calcmode="lin" valueType="num">
                                      <p:cBhvr>
                                        <p:cTn id="20" dur="5000" fill="hold"/>
                                        <p:tgtEl>
                                          <p:spTgt spid="65"/>
                                        </p:tgtEl>
                                        <p:attrNameLst>
                                          <p:attrName>ppt_w</p:attrName>
                                        </p:attrNameLst>
                                      </p:cBhvr>
                                      <p:tavLst>
                                        <p:tav tm="0" fmla="#ppt_w*sin(2.5*pi*$)">
                                          <p:val>
                                            <p:fltVal val="0"/>
                                          </p:val>
                                        </p:tav>
                                        <p:tav tm="100000">
                                          <p:val>
                                            <p:fltVal val="1"/>
                                          </p:val>
                                        </p:tav>
                                      </p:tavLst>
                                    </p:anim>
                                    <p:anim calcmode="lin" valueType="num">
                                      <p:cBhvr>
                                        <p:cTn id="21" dur="5000" fill="hold"/>
                                        <p:tgtEl>
                                          <p:spTgt spid="65"/>
                                        </p:tgtEl>
                                        <p:attrNameLst>
                                          <p:attrName>ppt_h</p:attrName>
                                        </p:attrNameLst>
                                      </p:cBhvr>
                                      <p:tavLst>
                                        <p:tav tm="0">
                                          <p:val>
                                            <p:strVal val="#ppt_h"/>
                                          </p:val>
                                        </p:tav>
                                        <p:tav tm="100000">
                                          <p:val>
                                            <p:strVal val="#ppt_h"/>
                                          </p:val>
                                        </p:tav>
                                      </p:tavLst>
                                    </p:anim>
                                  </p:childTnLst>
                                </p:cTn>
                              </p:par>
                              <p:par>
                                <p:cTn id="22" presetID="12" presetClass="entr" presetSubtype="4"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slide(fromBottom)">
                                      <p:cBhvr>
                                        <p:cTn id="24" dur="5000"/>
                                        <p:tgtEl>
                                          <p:spTgt spid="66"/>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anim calcmode="lin" valueType="num">
                                      <p:cBhvr>
                                        <p:cTn id="27" dur="5000" fill="hold"/>
                                        <p:tgtEl>
                                          <p:spTgt spid="64"/>
                                        </p:tgtEl>
                                        <p:attrNameLst>
                                          <p:attrName>ppt_w</p:attrName>
                                        </p:attrNameLst>
                                      </p:cBhvr>
                                      <p:tavLst>
                                        <p:tav tm="0" fmla="#ppt_w*sin(2.5*pi*$)">
                                          <p:val>
                                            <p:fltVal val="0"/>
                                          </p:val>
                                        </p:tav>
                                        <p:tav tm="100000">
                                          <p:val>
                                            <p:fltVal val="1"/>
                                          </p:val>
                                        </p:tav>
                                      </p:tavLst>
                                    </p:anim>
                                    <p:anim calcmode="lin" valueType="num">
                                      <p:cBhvr>
                                        <p:cTn id="28" dur="5000" fill="hold"/>
                                        <p:tgtEl>
                                          <p:spTgt spid="64"/>
                                        </p:tgtEl>
                                        <p:attrNameLst>
                                          <p:attrName>ppt_h</p:attrName>
                                        </p:attrNameLst>
                                      </p:cBhvr>
                                      <p:tavLst>
                                        <p:tav tm="0">
                                          <p:val>
                                            <p:strVal val="#ppt_h"/>
                                          </p:val>
                                        </p:tav>
                                        <p:tav tm="100000">
                                          <p:val>
                                            <p:strVal val="#ppt_h"/>
                                          </p:val>
                                        </p:tav>
                                      </p:tavLst>
                                    </p:anim>
                                  </p:childTnLst>
                                </p:cTn>
                              </p:par>
                              <p:par>
                                <p:cTn id="29" presetID="12" presetClass="entr" presetSubtype="8"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slide(fromLeft)">
                                      <p:cBhvr>
                                        <p:cTn id="31" dur="5000"/>
                                        <p:tgtEl>
                                          <p:spTgt spid="63"/>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slide(fromBottom)">
                                      <p:cBhvr>
                                        <p:cTn id="36" dur="5000"/>
                                        <p:tgtEl>
                                          <p:spTgt spid="7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8"/>
                                        </p:tgtEl>
                                        <p:attrNameLst>
                                          <p:attrName>style.visibility</p:attrName>
                                        </p:attrNameLst>
                                      </p:cBhvr>
                                      <p:to>
                                        <p:strVal val="visible"/>
                                      </p:to>
                                    </p:set>
                                  </p:childTnLst>
                                </p:cTn>
                              </p:par>
                              <p:par>
                                <p:cTn id="41" presetID="19" presetClass="entr" presetSubtype="1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anim calcmode="lin" valueType="num">
                                      <p:cBhvr>
                                        <p:cTn id="43" dur="5000" fill="hold"/>
                                        <p:tgtEl>
                                          <p:spTgt spid="72"/>
                                        </p:tgtEl>
                                        <p:attrNameLst>
                                          <p:attrName>ppt_w</p:attrName>
                                        </p:attrNameLst>
                                      </p:cBhvr>
                                      <p:tavLst>
                                        <p:tav tm="0" fmla="#ppt_w*sin(2.5*pi*$)">
                                          <p:val>
                                            <p:fltVal val="0"/>
                                          </p:val>
                                        </p:tav>
                                        <p:tav tm="100000">
                                          <p:val>
                                            <p:fltVal val="1"/>
                                          </p:val>
                                        </p:tav>
                                      </p:tavLst>
                                    </p:anim>
                                    <p:anim calcmode="lin" valueType="num">
                                      <p:cBhvr>
                                        <p:cTn id="44" dur="5000" fill="hold"/>
                                        <p:tgtEl>
                                          <p:spTgt spid="72"/>
                                        </p:tgtEl>
                                        <p:attrNameLst>
                                          <p:attrName>ppt_h</p:attrName>
                                        </p:attrNameLst>
                                      </p:cBhvr>
                                      <p:tavLst>
                                        <p:tav tm="0">
                                          <p:val>
                                            <p:strVal val="#ppt_h"/>
                                          </p:val>
                                        </p:tav>
                                        <p:tav tm="100000">
                                          <p:val>
                                            <p:strVal val="#ppt_h"/>
                                          </p:val>
                                        </p:tav>
                                      </p:tavLst>
                                    </p:anim>
                                  </p:childTnLst>
                                </p:cTn>
                              </p:par>
                            </p:childTnLst>
                          </p:cTn>
                        </p:par>
                        <p:par>
                          <p:cTn id="45" fill="hold">
                            <p:stCondLst>
                              <p:cond delay="5000"/>
                            </p:stCondLst>
                            <p:childTnLst>
                              <p:par>
                                <p:cTn id="46" presetID="18" presetClass="entr" presetSubtype="12" fill="hold" grpId="0" nodeType="after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strips(downLeft)">
                                      <p:cBhvr>
                                        <p:cTn id="48" dur="5000"/>
                                        <p:tgtEl>
                                          <p:spTgt spid="73"/>
                                        </p:tgtEl>
                                      </p:cBhvr>
                                    </p:animEffect>
                                  </p:childTnLst>
                                </p:cTn>
                              </p:par>
                              <p:par>
                                <p:cTn id="49" presetID="19" presetClass="entr" presetSubtype="10" fill="hold" grpId="0" nodeType="withEffect">
                                  <p:stCondLst>
                                    <p:cond delay="0"/>
                                  </p:stCondLst>
                                  <p:childTnLst>
                                    <p:set>
                                      <p:cBhvr>
                                        <p:cTn id="50" dur="1" fill="hold">
                                          <p:stCondLst>
                                            <p:cond delay="0"/>
                                          </p:stCondLst>
                                        </p:cTn>
                                        <p:tgtEl>
                                          <p:spTgt spid="74"/>
                                        </p:tgtEl>
                                        <p:attrNameLst>
                                          <p:attrName>style.visibility</p:attrName>
                                        </p:attrNameLst>
                                      </p:cBhvr>
                                      <p:to>
                                        <p:strVal val="visible"/>
                                      </p:to>
                                    </p:set>
                                    <p:anim calcmode="lin" valueType="num">
                                      <p:cBhvr>
                                        <p:cTn id="51" dur="5000" fill="hold"/>
                                        <p:tgtEl>
                                          <p:spTgt spid="74"/>
                                        </p:tgtEl>
                                        <p:attrNameLst>
                                          <p:attrName>ppt_w</p:attrName>
                                        </p:attrNameLst>
                                      </p:cBhvr>
                                      <p:tavLst>
                                        <p:tav tm="0" fmla="#ppt_w*sin(2.5*pi*$)">
                                          <p:val>
                                            <p:fltVal val="0"/>
                                          </p:val>
                                        </p:tav>
                                        <p:tav tm="100000">
                                          <p:val>
                                            <p:fltVal val="1"/>
                                          </p:val>
                                        </p:tav>
                                      </p:tavLst>
                                    </p:anim>
                                    <p:anim calcmode="lin" valueType="num">
                                      <p:cBhvr>
                                        <p:cTn id="52" dur="5000" fill="hold"/>
                                        <p:tgtEl>
                                          <p:spTgt spid="74"/>
                                        </p:tgtEl>
                                        <p:attrNameLst>
                                          <p:attrName>ppt_h</p:attrName>
                                        </p:attrNameLst>
                                      </p:cBhvr>
                                      <p:tavLst>
                                        <p:tav tm="0">
                                          <p:val>
                                            <p:strVal val="#ppt_h"/>
                                          </p:val>
                                        </p:tav>
                                        <p:tav tm="100000">
                                          <p:val>
                                            <p:strVal val="#ppt_h"/>
                                          </p:val>
                                        </p:tav>
                                      </p:tavLst>
                                    </p:anim>
                                  </p:childTnLst>
                                </p:cTn>
                              </p:par>
                            </p:childTnLst>
                          </p:cTn>
                        </p:par>
                        <p:par>
                          <p:cTn id="53" fill="hold">
                            <p:stCondLst>
                              <p:cond delay="10000"/>
                            </p:stCondLst>
                            <p:childTnLst>
                              <p:par>
                                <p:cTn id="54" presetID="12" presetClass="entr" presetSubtype="4" fill="hold" grpId="0" nodeType="afterEffect">
                                  <p:stCondLst>
                                    <p:cond delay="0"/>
                                  </p:stCondLst>
                                  <p:childTnLst>
                                    <p:set>
                                      <p:cBhvr>
                                        <p:cTn id="55" dur="1" fill="hold">
                                          <p:stCondLst>
                                            <p:cond delay="0"/>
                                          </p:stCondLst>
                                        </p:cTn>
                                        <p:tgtEl>
                                          <p:spTgt spid="69"/>
                                        </p:tgtEl>
                                        <p:attrNameLst>
                                          <p:attrName>style.visibility</p:attrName>
                                        </p:attrNameLst>
                                      </p:cBhvr>
                                      <p:to>
                                        <p:strVal val="visible"/>
                                      </p:to>
                                    </p:set>
                                    <p:animEffect transition="in" filter="slide(fromBottom)">
                                      <p:cBhvr>
                                        <p:cTn id="56" dur="5000"/>
                                        <p:tgtEl>
                                          <p:spTgt spid="69"/>
                                        </p:tgtEl>
                                      </p:cBhvr>
                                    </p:animEffect>
                                  </p:childTnLst>
                                </p:cTn>
                              </p:par>
                              <p:par>
                                <p:cTn id="57" presetID="19" presetClass="entr" presetSubtype="10" fill="hold" grpId="0" nodeType="withEffect">
                                  <p:stCondLst>
                                    <p:cond delay="0"/>
                                  </p:stCondLst>
                                  <p:childTnLst>
                                    <p:set>
                                      <p:cBhvr>
                                        <p:cTn id="58" dur="1" fill="hold">
                                          <p:stCondLst>
                                            <p:cond delay="0"/>
                                          </p:stCondLst>
                                        </p:cTn>
                                        <p:tgtEl>
                                          <p:spTgt spid="70"/>
                                        </p:tgtEl>
                                        <p:attrNameLst>
                                          <p:attrName>style.visibility</p:attrName>
                                        </p:attrNameLst>
                                      </p:cBhvr>
                                      <p:to>
                                        <p:strVal val="visible"/>
                                      </p:to>
                                    </p:set>
                                    <p:anim calcmode="lin" valueType="num">
                                      <p:cBhvr>
                                        <p:cTn id="59" dur="5000" fill="hold"/>
                                        <p:tgtEl>
                                          <p:spTgt spid="70"/>
                                        </p:tgtEl>
                                        <p:attrNameLst>
                                          <p:attrName>ppt_w</p:attrName>
                                        </p:attrNameLst>
                                      </p:cBhvr>
                                      <p:tavLst>
                                        <p:tav tm="0" fmla="#ppt_w*sin(2.5*pi*$)">
                                          <p:val>
                                            <p:fltVal val="0"/>
                                          </p:val>
                                        </p:tav>
                                        <p:tav tm="100000">
                                          <p:val>
                                            <p:fltVal val="1"/>
                                          </p:val>
                                        </p:tav>
                                      </p:tavLst>
                                    </p:anim>
                                    <p:anim calcmode="lin" valueType="num">
                                      <p:cBhvr>
                                        <p:cTn id="60" dur="5000" fill="hold"/>
                                        <p:tgtEl>
                                          <p:spTgt spid="70"/>
                                        </p:tgtEl>
                                        <p:attrNameLst>
                                          <p:attrName>ppt_h</p:attrName>
                                        </p:attrNameLst>
                                      </p:cBhvr>
                                      <p:tavLst>
                                        <p:tav tm="0">
                                          <p:val>
                                            <p:strVal val="#ppt_h"/>
                                          </p:val>
                                        </p:tav>
                                        <p:tav tm="100000">
                                          <p:val>
                                            <p:strVal val="#ppt_h"/>
                                          </p:val>
                                        </p:tav>
                                      </p:tavLst>
                                    </p:anim>
                                  </p:childTnLst>
                                </p:cTn>
                              </p:par>
                            </p:childTnLst>
                          </p:cTn>
                        </p:par>
                        <p:par>
                          <p:cTn id="61" fill="hold">
                            <p:stCondLst>
                              <p:cond delay="15000"/>
                            </p:stCondLst>
                            <p:childTnLst>
                              <p:par>
                                <p:cTn id="62" presetID="18" presetClass="entr" presetSubtype="12" fill="hold" grpId="0" nodeType="after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strips(downLeft)">
                                      <p:cBhvr>
                                        <p:cTn id="64" dur="5000"/>
                                        <p:tgtEl>
                                          <p:spTgt spid="75"/>
                                        </p:tgtEl>
                                      </p:cBhvr>
                                    </p:animEffect>
                                  </p:childTnLst>
                                </p:cTn>
                              </p:par>
                              <p:par>
                                <p:cTn id="65" presetID="19" presetClass="entr" presetSubtype="10"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anim calcmode="lin" valueType="num">
                                      <p:cBhvr>
                                        <p:cTn id="67" dur="5000" fill="hold"/>
                                        <p:tgtEl>
                                          <p:spTgt spid="76"/>
                                        </p:tgtEl>
                                        <p:attrNameLst>
                                          <p:attrName>ppt_w</p:attrName>
                                        </p:attrNameLst>
                                      </p:cBhvr>
                                      <p:tavLst>
                                        <p:tav tm="0" fmla="#ppt_w*sin(2.5*pi*$)">
                                          <p:val>
                                            <p:fltVal val="0"/>
                                          </p:val>
                                        </p:tav>
                                        <p:tav tm="100000">
                                          <p:val>
                                            <p:fltVal val="1"/>
                                          </p:val>
                                        </p:tav>
                                      </p:tavLst>
                                    </p:anim>
                                    <p:anim calcmode="lin" valueType="num">
                                      <p:cBhvr>
                                        <p:cTn id="68" dur="5000" fill="hold"/>
                                        <p:tgtEl>
                                          <p:spTgt spid="76"/>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48" grpId="0"/>
      <p:bldP spid="63" grpId="0" animBg="1"/>
      <p:bldP spid="64" grpId="0"/>
      <p:bldP spid="65" grpId="0"/>
      <p:bldP spid="66" grpId="0" animBg="1"/>
      <p:bldP spid="67" grpId="0" animBg="1"/>
      <p:bldP spid="68" grpId="0"/>
      <p:bldP spid="69" grpId="0" animBg="1"/>
      <p:bldP spid="70" grpId="0"/>
      <p:bldP spid="71" grpId="0" animBg="1"/>
      <p:bldP spid="72" grpId="0"/>
      <p:bldP spid="73" grpId="0" animBg="1"/>
      <p:bldP spid="74" grpId="0"/>
      <p:bldP spid="75" grpId="0" animBg="1"/>
      <p:bldP spid="76"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1" y="802970"/>
            <a:ext cx="1131506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1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Times New Roman" panose="02020603050405020304" pitchFamily="18" charset="0"/>
                <a:ea typeface="黑体" panose="02010609060101010101" pitchFamily="49" charset="-122"/>
              </a:rPr>
              <a:t>有一起重绞车的鼓轮轴如图所示。已知</a:t>
            </a:r>
            <a:r>
              <a:rPr lang="en-US" altLang="zh-CN" dirty="0">
                <a:latin typeface="Times New Roman" panose="02020603050405020304" pitchFamily="18" charset="0"/>
                <a:ea typeface="黑体" panose="02010609060101010101" pitchFamily="49" charset="-122"/>
              </a:rPr>
              <a:t>W</a:t>
            </a:r>
            <a:r>
              <a:rPr lang="en-US" altLang="zh-CN" i="0" dirty="0">
                <a:latin typeface="Times New Roman" panose="02020603050405020304" pitchFamily="18" charset="0"/>
                <a:ea typeface="黑体" panose="02010609060101010101" pitchFamily="49" charset="-122"/>
              </a:rPr>
              <a:t>=10kN</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b</a:t>
            </a:r>
            <a:r>
              <a:rPr lang="en-US" altLang="zh-CN"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c</a:t>
            </a:r>
            <a:r>
              <a:rPr lang="en-US" altLang="zh-CN" i="0" dirty="0">
                <a:latin typeface="Times New Roman" panose="02020603050405020304" pitchFamily="18" charset="0"/>
                <a:ea typeface="黑体" panose="02010609060101010101" pitchFamily="49" charset="-122"/>
              </a:rPr>
              <a:t>=30cm</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a</a:t>
            </a:r>
            <a:r>
              <a:rPr lang="en-US" altLang="zh-CN" i="0" dirty="0">
                <a:latin typeface="Times New Roman" panose="02020603050405020304" pitchFamily="18" charset="0"/>
                <a:ea typeface="黑体" panose="02010609060101010101" pitchFamily="49" charset="-122"/>
              </a:rPr>
              <a:t>=20cm</a:t>
            </a:r>
            <a:r>
              <a:rPr lang="zh-CN" altLang="en-US" i="0" dirty="0">
                <a:latin typeface="Times New Roman" panose="02020603050405020304" pitchFamily="18" charset="0"/>
                <a:ea typeface="黑体" panose="02010609060101010101" pitchFamily="49" charset="-122"/>
              </a:rPr>
              <a:t>，大齿轮半径</a:t>
            </a:r>
            <a:r>
              <a:rPr lang="en-US" altLang="zh-CN" dirty="0">
                <a:latin typeface="Times New Roman" panose="02020603050405020304" pitchFamily="18" charset="0"/>
                <a:ea typeface="黑体" panose="02010609060101010101" pitchFamily="49" charset="-122"/>
              </a:rPr>
              <a:t>R</a:t>
            </a:r>
            <a:r>
              <a:rPr lang="en-US" altLang="zh-CN" i="0" dirty="0">
                <a:latin typeface="Times New Roman" panose="02020603050405020304" pitchFamily="18" charset="0"/>
                <a:ea typeface="黑体" panose="02010609060101010101" pitchFamily="49" charset="-122"/>
              </a:rPr>
              <a:t>=20cm</a:t>
            </a:r>
            <a:r>
              <a:rPr lang="zh-CN" altLang="en-US" i="0" dirty="0">
                <a:latin typeface="Times New Roman" panose="02020603050405020304" pitchFamily="18" charset="0"/>
                <a:ea typeface="黑体" panose="02010609060101010101" pitchFamily="49" charset="-122"/>
              </a:rPr>
              <a:t>，在最高处</a:t>
            </a:r>
            <a:r>
              <a:rPr lang="en-US" altLang="zh-CN" dirty="0">
                <a:latin typeface="Times New Roman" panose="02020603050405020304" pitchFamily="18" charset="0"/>
                <a:ea typeface="黑体" panose="02010609060101010101" pitchFamily="49" charset="-122"/>
              </a:rPr>
              <a:t>E</a:t>
            </a:r>
            <a:r>
              <a:rPr lang="zh-CN" altLang="en-US" i="0" dirty="0">
                <a:latin typeface="Times New Roman" panose="02020603050405020304" pitchFamily="18" charset="0"/>
                <a:ea typeface="黑体" panose="02010609060101010101" pitchFamily="49" charset="-122"/>
              </a:rPr>
              <a:t>点受</a:t>
            </a:r>
            <a:r>
              <a:rPr lang="en-US" altLang="zh-CN" dirty="0" err="1">
                <a:latin typeface="Times New Roman" panose="02020603050405020304" pitchFamily="18" charset="0"/>
                <a:ea typeface="黑体" panose="02010609060101010101" pitchFamily="49" charset="-122"/>
              </a:rPr>
              <a:t>F</a:t>
            </a:r>
            <a:r>
              <a:rPr lang="en-US" altLang="zh-CN" i="0" baseline="-25000" dirty="0" err="1">
                <a:latin typeface="Times New Roman" panose="02020603050405020304" pitchFamily="18" charset="0"/>
                <a:ea typeface="黑体" panose="02010609060101010101" pitchFamily="49" charset="-122"/>
              </a:rPr>
              <a:t>n</a:t>
            </a:r>
            <a:r>
              <a:rPr lang="zh-CN" altLang="en-US" i="0" dirty="0">
                <a:latin typeface="Times New Roman" panose="02020603050405020304" pitchFamily="18" charset="0"/>
                <a:ea typeface="黑体" panose="02010609060101010101" pitchFamily="49" charset="-122"/>
              </a:rPr>
              <a:t>的作用，</a:t>
            </a:r>
            <a:r>
              <a:rPr lang="en-US" altLang="zh-CN" dirty="0" err="1">
                <a:latin typeface="Times New Roman" panose="02020603050405020304" pitchFamily="18" charset="0"/>
                <a:ea typeface="黑体" panose="02010609060101010101" pitchFamily="49" charset="-122"/>
              </a:rPr>
              <a:t>F</a:t>
            </a:r>
            <a:r>
              <a:rPr lang="en-US" altLang="zh-CN" i="0" baseline="-25000" dirty="0" err="1">
                <a:latin typeface="Times New Roman" panose="02020603050405020304" pitchFamily="18" charset="0"/>
                <a:ea typeface="黑体" panose="02010609060101010101" pitchFamily="49" charset="-122"/>
              </a:rPr>
              <a:t>n</a:t>
            </a:r>
            <a:r>
              <a:rPr lang="zh-CN" altLang="en-US" i="0" dirty="0">
                <a:latin typeface="Times New Roman" panose="02020603050405020304" pitchFamily="18" charset="0"/>
                <a:ea typeface="黑体" panose="02010609060101010101" pitchFamily="49" charset="-122"/>
              </a:rPr>
              <a:t>与齿轮分度圆切线之夹角为</a:t>
            </a:r>
            <a:r>
              <a:rPr lang="zh-CN" altLang="en-US" dirty="0">
                <a:latin typeface="Times New Roman" panose="02020603050405020304" pitchFamily="18" charset="0"/>
                <a:ea typeface="黑体" panose="02010609060101010101" pitchFamily="49" charset="-122"/>
                <a:sym typeface="Symbol" panose="05050102010706020507" pitchFamily="18" charset="2"/>
              </a:rPr>
              <a:t></a:t>
            </a:r>
            <a:r>
              <a:rPr lang="en-US" altLang="zh-CN" i="0" dirty="0">
                <a:latin typeface="Times New Roman" panose="02020603050405020304" pitchFamily="18" charset="0"/>
                <a:ea typeface="黑体" panose="02010609060101010101" pitchFamily="49" charset="-122"/>
              </a:rPr>
              <a:t>=20</a:t>
            </a:r>
            <a:r>
              <a:rPr lang="en-US" altLang="zh-CN" i="0" dirty="0">
                <a:latin typeface="Times New Roman" panose="02020603050405020304" pitchFamily="18" charset="0"/>
                <a:ea typeface="黑体" panose="02010609060101010101" pitchFamily="49" charset="-122"/>
                <a:sym typeface="Symbol" panose="05050102010706020507" pitchFamily="18" charset="2"/>
              </a:rPr>
              <a:t></a:t>
            </a:r>
            <a:r>
              <a:rPr lang="zh-CN" altLang="en-US" i="0" dirty="0">
                <a:latin typeface="Times New Roman" panose="02020603050405020304" pitchFamily="18" charset="0"/>
                <a:ea typeface="黑体" panose="02010609060101010101" pitchFamily="49" charset="-122"/>
              </a:rPr>
              <a:t>，鼓轮半径</a:t>
            </a:r>
            <a:r>
              <a:rPr lang="en-US" altLang="zh-CN" dirty="0">
                <a:latin typeface="Times New Roman" panose="02020603050405020304" pitchFamily="18" charset="0"/>
                <a:ea typeface="黑体" panose="02010609060101010101" pitchFamily="49" charset="-122"/>
              </a:rPr>
              <a:t>r</a:t>
            </a:r>
            <a:r>
              <a:rPr lang="en-US" altLang="zh-CN" i="0" dirty="0">
                <a:latin typeface="Times New Roman" panose="02020603050405020304" pitchFamily="18" charset="0"/>
                <a:ea typeface="黑体" panose="02010609060101010101" pitchFamily="49" charset="-122"/>
              </a:rPr>
              <a:t>=10cm</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A</a:t>
            </a:r>
            <a:r>
              <a:rPr lang="zh-CN" altLang="en-US"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B</a:t>
            </a:r>
            <a:r>
              <a:rPr lang="zh-CN" altLang="en-US" i="0" dirty="0">
                <a:latin typeface="Times New Roman" panose="02020603050405020304" pitchFamily="18" charset="0"/>
                <a:ea typeface="黑体" panose="02010609060101010101" pitchFamily="49" charset="-122"/>
              </a:rPr>
              <a:t>两端为向心轴承。试求齿轮作用力</a:t>
            </a:r>
            <a:r>
              <a:rPr lang="en-US" altLang="zh-CN" dirty="0" err="1">
                <a:latin typeface="Times New Roman" panose="02020603050405020304" pitchFamily="18" charset="0"/>
                <a:ea typeface="黑体" panose="02010609060101010101" pitchFamily="49" charset="-122"/>
              </a:rPr>
              <a:t>F</a:t>
            </a:r>
            <a:r>
              <a:rPr lang="en-US" altLang="zh-CN" i="0" baseline="-25000" dirty="0" err="1">
                <a:latin typeface="Times New Roman" panose="02020603050405020304" pitchFamily="18" charset="0"/>
                <a:ea typeface="黑体" panose="02010609060101010101" pitchFamily="49" charset="-122"/>
              </a:rPr>
              <a:t>n</a:t>
            </a:r>
            <a:r>
              <a:rPr lang="zh-CN" altLang="en-US" i="0" dirty="0">
                <a:latin typeface="Times New Roman" panose="02020603050405020304" pitchFamily="18" charset="0"/>
                <a:ea typeface="黑体" panose="02010609060101010101" pitchFamily="49" charset="-122"/>
              </a:rPr>
              <a:t>以及</a:t>
            </a:r>
            <a:r>
              <a:rPr lang="en-US" altLang="zh-CN" dirty="0">
                <a:latin typeface="Times New Roman" panose="02020603050405020304" pitchFamily="18" charset="0"/>
                <a:ea typeface="黑体" panose="02010609060101010101" pitchFamily="49" charset="-122"/>
              </a:rPr>
              <a:t>AB</a:t>
            </a:r>
            <a:r>
              <a:rPr lang="zh-CN" altLang="en-US" i="0" dirty="0">
                <a:latin typeface="Times New Roman" panose="02020603050405020304" pitchFamily="18" charset="0"/>
                <a:ea typeface="黑体" panose="02010609060101010101" pitchFamily="49" charset="-122"/>
              </a:rPr>
              <a:t>两轴承受的压力</a:t>
            </a:r>
            <a:r>
              <a:rPr lang="zh-CN" altLang="en-US" b="0" i="0" dirty="0">
                <a:latin typeface="Times New Roman" panose="02020603050405020304" pitchFamily="18" charset="0"/>
                <a:ea typeface="黑体" panose="02010609060101010101" pitchFamily="49" charset="-122"/>
              </a:rPr>
              <a:t>。</a:t>
            </a:r>
            <a:endParaRPr lang="zh-CN" altLang="en-US" i="0" dirty="0">
              <a:latin typeface="+mn-lt"/>
              <a:ea typeface="黑体" panose="02010609060101010101" pitchFamily="49" charset="-122"/>
            </a:endParaRPr>
          </a:p>
        </p:txBody>
      </p:sp>
      <p:sp>
        <p:nvSpPr>
          <p:cNvPr id="33" name="Rectangle 61"/>
          <p:cNvSpPr>
            <a:spLocks noChangeArrowheads="1"/>
          </p:cNvSpPr>
          <p:nvPr/>
        </p:nvSpPr>
        <p:spPr bwMode="auto">
          <a:xfrm>
            <a:off x="7389029" y="2201726"/>
            <a:ext cx="4727733" cy="4057732"/>
          </a:xfrm>
          <a:prstGeom prst="rect">
            <a:avLst/>
          </a:prstGeom>
          <a:solidFill>
            <a:srgbClr val="B9CDE5"/>
          </a:solidFill>
          <a:ln>
            <a:noFill/>
          </a:ln>
          <a:effectLst/>
        </p:spPr>
        <p:txBody>
          <a:bodyPr wrap="none" anchor="ctr"/>
          <a:lstStyle/>
          <a:p>
            <a:endParaRPr lang="zh-CN" altLang="en-US"/>
          </a:p>
        </p:txBody>
      </p:sp>
      <p:grpSp>
        <p:nvGrpSpPr>
          <p:cNvPr id="14" name="Group 2"/>
          <p:cNvGrpSpPr>
            <a:grpSpLocks/>
          </p:cNvGrpSpPr>
          <p:nvPr/>
        </p:nvGrpSpPr>
        <p:grpSpPr bwMode="auto">
          <a:xfrm>
            <a:off x="7914650" y="2151008"/>
            <a:ext cx="3679825" cy="4108450"/>
            <a:chOff x="3113" y="1114"/>
            <a:chExt cx="2318" cy="2588"/>
          </a:xfrm>
        </p:grpSpPr>
        <p:grpSp>
          <p:nvGrpSpPr>
            <p:cNvPr id="15" name="Group 3"/>
            <p:cNvGrpSpPr>
              <a:grpSpLocks/>
            </p:cNvGrpSpPr>
            <p:nvPr/>
          </p:nvGrpSpPr>
          <p:grpSpPr bwMode="auto">
            <a:xfrm>
              <a:off x="3113" y="1114"/>
              <a:ext cx="2318" cy="2588"/>
              <a:chOff x="3113" y="1114"/>
              <a:chExt cx="2318" cy="2588"/>
            </a:xfrm>
          </p:grpSpPr>
          <p:grpSp>
            <p:nvGrpSpPr>
              <p:cNvPr id="25" name="Group 4"/>
              <p:cNvGrpSpPr>
                <a:grpSpLocks/>
              </p:cNvGrpSpPr>
              <p:nvPr/>
            </p:nvGrpSpPr>
            <p:grpSpPr bwMode="auto">
              <a:xfrm rot="16200000" flipV="1">
                <a:off x="3381" y="2099"/>
                <a:ext cx="117" cy="219"/>
                <a:chOff x="5152" y="2677"/>
                <a:chExt cx="186" cy="300"/>
              </a:xfrm>
            </p:grpSpPr>
            <p:sp>
              <p:nvSpPr>
                <p:cNvPr id="61" name="Rectangle 5"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Rectangle 6"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6" name="Group 7"/>
              <p:cNvGrpSpPr>
                <a:grpSpLocks/>
              </p:cNvGrpSpPr>
              <p:nvPr/>
            </p:nvGrpSpPr>
            <p:grpSpPr bwMode="auto">
              <a:xfrm rot="5400000">
                <a:off x="3420" y="1796"/>
                <a:ext cx="117" cy="300"/>
                <a:chOff x="5152" y="2677"/>
                <a:chExt cx="186" cy="300"/>
              </a:xfrm>
            </p:grpSpPr>
            <p:sp>
              <p:nvSpPr>
                <p:cNvPr id="59" name="Rectangle 8"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Rectangle 9"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7" name="Picture 10" descr="例3-6"/>
              <p:cNvPicPr>
                <a:picLocks noChangeAspect="1" noChangeArrowheads="1"/>
              </p:cNvPicPr>
              <p:nvPr/>
            </p:nvPicPr>
            <p:blipFill>
              <a:blip r:embed="rId3">
                <a:clrChange>
                  <a:clrFrom>
                    <a:srgbClr val="000000"/>
                  </a:clrFrom>
                  <a:clrTo>
                    <a:srgbClr val="000000">
                      <a:alpha val="0"/>
                    </a:srgbClr>
                  </a:clrTo>
                </a:clrChange>
                <a:lum contrast="30000"/>
                <a:extLst>
                  <a:ext uri="{28A0092B-C50C-407E-A947-70E740481C1C}">
                    <a14:useLocalDpi xmlns:a14="http://schemas.microsoft.com/office/drawing/2010/main" val="0"/>
                  </a:ext>
                </a:extLst>
              </a:blip>
              <a:srcRect/>
              <a:stretch>
                <a:fillRect/>
              </a:stretch>
            </p:blipFill>
            <p:spPr bwMode="auto">
              <a:xfrm rot="21300000">
                <a:off x="3113" y="1249"/>
                <a:ext cx="2315" cy="1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 Box 11"/>
              <p:cNvSpPr txBox="1">
                <a:spLocks noChangeAspect="1" noChangeArrowheads="1"/>
              </p:cNvSpPr>
              <p:nvPr/>
            </p:nvSpPr>
            <p:spPr bwMode="auto">
              <a:xfrm>
                <a:off x="3450" y="1380"/>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E</a:t>
                </a:r>
              </a:p>
            </p:txBody>
          </p:sp>
          <p:sp>
            <p:nvSpPr>
              <p:cNvPr id="29" name="Text Box 12"/>
              <p:cNvSpPr txBox="1">
                <a:spLocks noChangeAspect="1" noChangeArrowheads="1"/>
              </p:cNvSpPr>
              <p:nvPr/>
            </p:nvSpPr>
            <p:spPr bwMode="auto">
              <a:xfrm>
                <a:off x="3118" y="1826"/>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B</a:t>
                </a:r>
              </a:p>
            </p:txBody>
          </p:sp>
          <p:sp>
            <p:nvSpPr>
              <p:cNvPr id="30" name="Text Box 13"/>
              <p:cNvSpPr txBox="1">
                <a:spLocks noChangeAspect="1" noChangeArrowheads="1"/>
              </p:cNvSpPr>
              <p:nvPr/>
            </p:nvSpPr>
            <p:spPr bwMode="auto">
              <a:xfrm>
                <a:off x="5175" y="2257"/>
                <a:ext cx="256"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A</a:t>
                </a:r>
              </a:p>
            </p:txBody>
          </p:sp>
          <p:sp>
            <p:nvSpPr>
              <p:cNvPr id="31" name="Text Box 14"/>
              <p:cNvSpPr txBox="1">
                <a:spLocks noChangeAspect="1" noChangeArrowheads="1"/>
              </p:cNvSpPr>
              <p:nvPr/>
            </p:nvSpPr>
            <p:spPr bwMode="auto">
              <a:xfrm>
                <a:off x="3652" y="1114"/>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ea typeface="宋体" panose="02010600030101010101" pitchFamily="2" charset="-122"/>
                  </a:rPr>
                  <a:t>F</a:t>
                </a:r>
                <a:r>
                  <a:rPr lang="en-US" altLang="zh-CN" baseline="-25000">
                    <a:ea typeface="宋体" panose="02010600030101010101" pitchFamily="2" charset="-122"/>
                  </a:rPr>
                  <a:t>n</a:t>
                </a:r>
              </a:p>
            </p:txBody>
          </p:sp>
          <p:sp>
            <p:nvSpPr>
              <p:cNvPr id="34" name="Text Box 15"/>
              <p:cNvSpPr txBox="1">
                <a:spLocks noChangeAspect="1" noChangeArrowheads="1"/>
              </p:cNvSpPr>
              <p:nvPr/>
            </p:nvSpPr>
            <p:spPr bwMode="auto">
              <a:xfrm>
                <a:off x="4480" y="3386"/>
                <a:ext cx="47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dirty="0">
                    <a:ea typeface="宋体" panose="02010600030101010101" pitchFamily="2" charset="-122"/>
                  </a:rPr>
                  <a:t>W</a:t>
                </a:r>
                <a:endParaRPr lang="en-US" altLang="zh-CN" i="1" baseline="-25000" dirty="0">
                  <a:ea typeface="宋体" panose="02010600030101010101" pitchFamily="2" charset="-122"/>
                </a:endParaRPr>
              </a:p>
            </p:txBody>
          </p:sp>
          <p:grpSp>
            <p:nvGrpSpPr>
              <p:cNvPr id="35" name="Group 16"/>
              <p:cNvGrpSpPr>
                <a:grpSpLocks/>
              </p:cNvGrpSpPr>
              <p:nvPr/>
            </p:nvGrpSpPr>
            <p:grpSpPr bwMode="auto">
              <a:xfrm rot="5400000">
                <a:off x="5187" y="1826"/>
                <a:ext cx="117" cy="219"/>
                <a:chOff x="5152" y="2677"/>
                <a:chExt cx="186" cy="300"/>
              </a:xfrm>
            </p:grpSpPr>
            <p:sp>
              <p:nvSpPr>
                <p:cNvPr id="57" name="Rectangle 17"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Rectangle 18"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6" name="Arc 19"/>
              <p:cNvSpPr>
                <a:spLocks/>
              </p:cNvSpPr>
              <p:nvPr/>
            </p:nvSpPr>
            <p:spPr bwMode="auto">
              <a:xfrm flipH="1">
                <a:off x="4073" y="1793"/>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Arc 20"/>
              <p:cNvSpPr>
                <a:spLocks/>
              </p:cNvSpPr>
              <p:nvPr/>
            </p:nvSpPr>
            <p:spPr bwMode="auto">
              <a:xfrm flipH="1">
                <a:off x="4161" y="1793"/>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Arc 21"/>
              <p:cNvSpPr>
                <a:spLocks/>
              </p:cNvSpPr>
              <p:nvPr/>
            </p:nvSpPr>
            <p:spPr bwMode="auto">
              <a:xfrm flipH="1">
                <a:off x="4249" y="1791"/>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Arc 22"/>
              <p:cNvSpPr>
                <a:spLocks/>
              </p:cNvSpPr>
              <p:nvPr/>
            </p:nvSpPr>
            <p:spPr bwMode="auto">
              <a:xfrm flipH="1">
                <a:off x="4337" y="1791"/>
                <a:ext cx="121" cy="611"/>
              </a:xfrm>
              <a:custGeom>
                <a:avLst/>
                <a:gdLst>
                  <a:gd name="G0" fmla="+- 0 0 0"/>
                  <a:gd name="G1" fmla="+- 21600 0 0"/>
                  <a:gd name="G2" fmla="+- 21600 0 0"/>
                  <a:gd name="T0" fmla="*/ 0 w 21600"/>
                  <a:gd name="T1" fmla="*/ 0 h 40533"/>
                  <a:gd name="T2" fmla="*/ 10397 w 21600"/>
                  <a:gd name="T3" fmla="*/ 40533 h 40533"/>
                  <a:gd name="T4" fmla="*/ 0 w 21600"/>
                  <a:gd name="T5" fmla="*/ 21600 h 40533"/>
                </a:gdLst>
                <a:ahLst/>
                <a:cxnLst>
                  <a:cxn ang="0">
                    <a:pos x="T0" y="T1"/>
                  </a:cxn>
                  <a:cxn ang="0">
                    <a:pos x="T2" y="T3"/>
                  </a:cxn>
                  <a:cxn ang="0">
                    <a:pos x="T4" y="T5"/>
                  </a:cxn>
                </a:cxnLst>
                <a:rect l="0" t="0" r="r" b="b"/>
                <a:pathLst>
                  <a:path w="21600" h="40533" fill="none" extrusionOk="0">
                    <a:moveTo>
                      <a:pt x="0" y="0"/>
                    </a:moveTo>
                    <a:cubicBezTo>
                      <a:pt x="11929" y="0"/>
                      <a:pt x="21600" y="9670"/>
                      <a:pt x="21600" y="21600"/>
                    </a:cubicBezTo>
                    <a:cubicBezTo>
                      <a:pt x="21600" y="29482"/>
                      <a:pt x="17306" y="36738"/>
                      <a:pt x="10397" y="40533"/>
                    </a:cubicBezTo>
                  </a:path>
                  <a:path w="21600" h="40533" stroke="0" extrusionOk="0">
                    <a:moveTo>
                      <a:pt x="0" y="0"/>
                    </a:moveTo>
                    <a:cubicBezTo>
                      <a:pt x="11929" y="0"/>
                      <a:pt x="21600" y="9670"/>
                      <a:pt x="21600" y="21600"/>
                    </a:cubicBezTo>
                    <a:cubicBezTo>
                      <a:pt x="21600" y="29482"/>
                      <a:pt x="17306" y="36738"/>
                      <a:pt x="10397" y="40533"/>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23"/>
              <p:cNvSpPr>
                <a:spLocks noChangeShapeType="1"/>
              </p:cNvSpPr>
              <p:nvPr/>
            </p:nvSpPr>
            <p:spPr bwMode="auto">
              <a:xfrm>
                <a:off x="4494" y="2402"/>
                <a:ext cx="0" cy="5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Rectangle 24"/>
              <p:cNvSpPr>
                <a:spLocks noChangeArrowheads="1"/>
              </p:cNvSpPr>
              <p:nvPr/>
            </p:nvSpPr>
            <p:spPr bwMode="auto">
              <a:xfrm>
                <a:off x="4194" y="2896"/>
                <a:ext cx="528" cy="300"/>
              </a:xfrm>
              <a:prstGeom prst="rect">
                <a:avLst/>
              </a:prstGeom>
              <a:solidFill>
                <a:schemeClr val="accent1"/>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42" name="Line 25"/>
              <p:cNvSpPr>
                <a:spLocks noChangeAspect="1" noChangeShapeType="1"/>
              </p:cNvSpPr>
              <p:nvPr/>
            </p:nvSpPr>
            <p:spPr bwMode="auto">
              <a:xfrm>
                <a:off x="4493" y="3219"/>
                <a:ext cx="0" cy="460"/>
              </a:xfrm>
              <a:prstGeom prst="line">
                <a:avLst/>
              </a:prstGeom>
              <a:noFill/>
              <a:ln w="412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Text Box 26"/>
              <p:cNvSpPr txBox="1">
                <a:spLocks noChangeArrowheads="1"/>
              </p:cNvSpPr>
              <p:nvPr/>
            </p:nvSpPr>
            <p:spPr bwMode="auto">
              <a:xfrm>
                <a:off x="3940" y="1152"/>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ym typeface="Symbol" panose="05050102010706020507" pitchFamily="18" charset="2"/>
                  </a:rPr>
                  <a:t></a:t>
                </a:r>
              </a:p>
            </p:txBody>
          </p:sp>
          <p:sp>
            <p:nvSpPr>
              <p:cNvPr id="44" name="Line 27"/>
              <p:cNvSpPr>
                <a:spLocks noChangeShapeType="1"/>
              </p:cNvSpPr>
              <p:nvPr/>
            </p:nvSpPr>
            <p:spPr bwMode="auto">
              <a:xfrm flipH="1">
                <a:off x="3670" y="1228"/>
                <a:ext cx="390" cy="42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8"/>
              <p:cNvSpPr>
                <a:spLocks noChangeShapeType="1"/>
              </p:cNvSpPr>
              <p:nvPr/>
            </p:nvSpPr>
            <p:spPr bwMode="auto">
              <a:xfrm flipV="1">
                <a:off x="3667" y="1395"/>
                <a:ext cx="414" cy="2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Arc 29"/>
              <p:cNvSpPr>
                <a:spLocks/>
              </p:cNvSpPr>
              <p:nvPr/>
            </p:nvSpPr>
            <p:spPr bwMode="auto">
              <a:xfrm>
                <a:off x="3951" y="1331"/>
                <a:ext cx="81" cy="9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 name="Group 30"/>
              <p:cNvGrpSpPr>
                <a:grpSpLocks/>
              </p:cNvGrpSpPr>
              <p:nvPr/>
            </p:nvGrpSpPr>
            <p:grpSpPr bwMode="auto">
              <a:xfrm rot="16200000" flipV="1">
                <a:off x="5193" y="2141"/>
                <a:ext cx="117" cy="219"/>
                <a:chOff x="5152" y="2677"/>
                <a:chExt cx="186" cy="300"/>
              </a:xfrm>
            </p:grpSpPr>
            <p:sp>
              <p:nvSpPr>
                <p:cNvPr id="53" name="Rectangle 31" descr="宽上对角线"/>
                <p:cNvSpPr>
                  <a:spLocks noChangeArrowheads="1"/>
                </p:cNvSpPr>
                <p:nvPr/>
              </p:nvSpPr>
              <p:spPr bwMode="auto">
                <a:xfrm>
                  <a:off x="5160" y="2677"/>
                  <a:ext cx="178" cy="300"/>
                </a:xfrm>
                <a:prstGeom prst="rect">
                  <a:avLst/>
                </a:prstGeom>
                <a:pattFill prst="wdUpDiag">
                  <a:fgClr>
                    <a:schemeClr val="tx1"/>
                  </a:fgClr>
                  <a:bgClr>
                    <a:schemeClr val="bg1"/>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Rectangle 32" descr="宽上对角线"/>
                <p:cNvSpPr>
                  <a:spLocks noChangeArrowheads="1"/>
                </p:cNvSpPr>
                <p:nvPr/>
              </p:nvSpPr>
              <p:spPr bwMode="auto">
                <a:xfrm>
                  <a:off x="5152" y="2687"/>
                  <a:ext cx="175" cy="273"/>
                </a:xfrm>
                <a:prstGeom prst="rect">
                  <a:avLst/>
                </a:prstGeom>
                <a:pattFill prst="wdUpDiag">
                  <a:fgClr>
                    <a:schemeClr val="tx1"/>
                  </a:fgClr>
                  <a:bgClr>
                    <a:schemeClr val="bg1"/>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16" name="Text Box 33"/>
            <p:cNvSpPr txBox="1">
              <a:spLocks noChangeAspect="1" noChangeArrowheads="1"/>
            </p:cNvSpPr>
            <p:nvPr/>
          </p:nvSpPr>
          <p:spPr bwMode="auto">
            <a:xfrm>
              <a:off x="4077" y="2542"/>
              <a:ext cx="264"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b</a:t>
              </a:r>
            </a:p>
          </p:txBody>
        </p:sp>
        <p:sp>
          <p:nvSpPr>
            <p:cNvPr id="17" name="Text Box 34"/>
            <p:cNvSpPr txBox="1">
              <a:spLocks noChangeArrowheads="1"/>
            </p:cNvSpPr>
            <p:nvPr/>
          </p:nvSpPr>
          <p:spPr bwMode="auto">
            <a:xfrm>
              <a:off x="3497" y="2523"/>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t>a</a:t>
              </a:r>
            </a:p>
          </p:txBody>
        </p:sp>
        <p:sp>
          <p:nvSpPr>
            <p:cNvPr id="18" name="Text Box 35"/>
            <p:cNvSpPr txBox="1">
              <a:spLocks noChangeArrowheads="1"/>
            </p:cNvSpPr>
            <p:nvPr/>
          </p:nvSpPr>
          <p:spPr bwMode="auto">
            <a:xfrm>
              <a:off x="4695" y="2535"/>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t>c</a:t>
              </a:r>
            </a:p>
          </p:txBody>
        </p:sp>
        <p:sp>
          <p:nvSpPr>
            <p:cNvPr id="19" name="Line 36"/>
            <p:cNvSpPr>
              <a:spLocks noChangeShapeType="1"/>
            </p:cNvSpPr>
            <p:nvPr/>
          </p:nvSpPr>
          <p:spPr bwMode="auto">
            <a:xfrm>
              <a:off x="3412" y="2284"/>
              <a:ext cx="0" cy="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37"/>
            <p:cNvSpPr>
              <a:spLocks noChangeShapeType="1"/>
            </p:cNvSpPr>
            <p:nvPr/>
          </p:nvSpPr>
          <p:spPr bwMode="auto">
            <a:xfrm>
              <a:off x="3880" y="2376"/>
              <a:ext cx="0" cy="5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38"/>
            <p:cNvSpPr>
              <a:spLocks noChangeShapeType="1"/>
            </p:cNvSpPr>
            <p:nvPr/>
          </p:nvSpPr>
          <p:spPr bwMode="auto">
            <a:xfrm>
              <a:off x="5220" y="2308"/>
              <a:ext cx="0" cy="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39"/>
            <p:cNvSpPr>
              <a:spLocks noChangeShapeType="1"/>
            </p:cNvSpPr>
            <p:nvPr/>
          </p:nvSpPr>
          <p:spPr bwMode="auto">
            <a:xfrm>
              <a:off x="3412" y="2764"/>
              <a:ext cx="468"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40"/>
            <p:cNvSpPr>
              <a:spLocks noChangeShapeType="1"/>
            </p:cNvSpPr>
            <p:nvPr/>
          </p:nvSpPr>
          <p:spPr bwMode="auto">
            <a:xfrm>
              <a:off x="3880" y="2764"/>
              <a:ext cx="612"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41"/>
            <p:cNvSpPr>
              <a:spLocks noChangeShapeType="1"/>
            </p:cNvSpPr>
            <p:nvPr/>
          </p:nvSpPr>
          <p:spPr bwMode="auto">
            <a:xfrm>
              <a:off x="4496" y="2764"/>
              <a:ext cx="724"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3" name="Line 42"/>
          <p:cNvSpPr>
            <a:spLocks noChangeShapeType="1"/>
          </p:cNvSpPr>
          <p:nvPr/>
        </p:nvSpPr>
        <p:spPr bwMode="auto">
          <a:xfrm>
            <a:off x="11151562" y="3717871"/>
            <a:ext cx="863600" cy="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Text Box 47"/>
          <p:cNvSpPr txBox="1">
            <a:spLocks noChangeAspect="1" noChangeArrowheads="1"/>
          </p:cNvSpPr>
          <p:nvPr/>
        </p:nvSpPr>
        <p:spPr bwMode="auto">
          <a:xfrm>
            <a:off x="8354387" y="2133546"/>
            <a:ext cx="379413"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z</a:t>
            </a:r>
          </a:p>
        </p:txBody>
      </p:sp>
      <p:sp>
        <p:nvSpPr>
          <p:cNvPr id="65" name="Text Box 48"/>
          <p:cNvSpPr txBox="1">
            <a:spLocks noChangeAspect="1" noChangeArrowheads="1"/>
          </p:cNvSpPr>
          <p:nvPr/>
        </p:nvSpPr>
        <p:spPr bwMode="auto">
          <a:xfrm>
            <a:off x="11715125" y="3660721"/>
            <a:ext cx="401637"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y</a:t>
            </a:r>
          </a:p>
        </p:txBody>
      </p:sp>
      <p:sp>
        <p:nvSpPr>
          <p:cNvPr id="66" name="Line 49"/>
          <p:cNvSpPr>
            <a:spLocks noChangeShapeType="1"/>
          </p:cNvSpPr>
          <p:nvPr/>
        </p:nvSpPr>
        <p:spPr bwMode="auto">
          <a:xfrm flipV="1">
            <a:off x="8392487" y="2308171"/>
            <a:ext cx="0" cy="136525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7" name="Line 50"/>
          <p:cNvSpPr>
            <a:spLocks noChangeShapeType="1"/>
          </p:cNvSpPr>
          <p:nvPr/>
        </p:nvSpPr>
        <p:spPr bwMode="auto">
          <a:xfrm flipH="1">
            <a:off x="7544762" y="3687708"/>
            <a:ext cx="860425" cy="939800"/>
          </a:xfrm>
          <a:prstGeom prst="line">
            <a:avLst/>
          </a:prstGeom>
          <a:noFill/>
          <a:ln w="19050">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 name="Text Box 51"/>
          <p:cNvSpPr txBox="1">
            <a:spLocks noChangeAspect="1" noChangeArrowheads="1"/>
          </p:cNvSpPr>
          <p:nvPr/>
        </p:nvSpPr>
        <p:spPr bwMode="auto">
          <a:xfrm>
            <a:off x="7500312" y="4476696"/>
            <a:ext cx="40005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x</a:t>
            </a:r>
          </a:p>
        </p:txBody>
      </p:sp>
      <p:sp>
        <p:nvSpPr>
          <p:cNvPr id="69" name="Line 52"/>
          <p:cNvSpPr>
            <a:spLocks noChangeShapeType="1"/>
          </p:cNvSpPr>
          <p:nvPr/>
        </p:nvSpPr>
        <p:spPr bwMode="auto">
          <a:xfrm flipV="1">
            <a:off x="8382962" y="2763783"/>
            <a:ext cx="0" cy="7604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Text Box 53"/>
          <p:cNvSpPr txBox="1">
            <a:spLocks noChangeAspect="1" noChangeArrowheads="1"/>
          </p:cNvSpPr>
          <p:nvPr/>
        </p:nvSpPr>
        <p:spPr bwMode="auto">
          <a:xfrm>
            <a:off x="7768600" y="2620908"/>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Bz</a:t>
            </a:r>
            <a:endParaRPr lang="en-US" altLang="zh-CN" i="1" baseline="-25000"/>
          </a:p>
        </p:txBody>
      </p:sp>
      <p:sp>
        <p:nvSpPr>
          <p:cNvPr id="71" name="Line 54"/>
          <p:cNvSpPr>
            <a:spLocks noChangeShapeType="1"/>
          </p:cNvSpPr>
          <p:nvPr/>
        </p:nvSpPr>
        <p:spPr bwMode="auto">
          <a:xfrm flipV="1">
            <a:off x="11300787" y="2792358"/>
            <a:ext cx="0" cy="7604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Text Box 55"/>
          <p:cNvSpPr txBox="1">
            <a:spLocks noChangeAspect="1" noChangeArrowheads="1"/>
          </p:cNvSpPr>
          <p:nvPr/>
        </p:nvSpPr>
        <p:spPr bwMode="auto">
          <a:xfrm>
            <a:off x="11299200" y="2647896"/>
            <a:ext cx="68897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Az</a:t>
            </a:r>
            <a:endParaRPr lang="en-US" altLang="zh-CN" i="1" baseline="-25000"/>
          </a:p>
        </p:txBody>
      </p:sp>
      <p:sp>
        <p:nvSpPr>
          <p:cNvPr id="73" name="Line 56"/>
          <p:cNvSpPr>
            <a:spLocks noChangeShapeType="1"/>
          </p:cNvSpPr>
          <p:nvPr/>
        </p:nvSpPr>
        <p:spPr bwMode="auto">
          <a:xfrm flipH="1">
            <a:off x="10646737" y="3736921"/>
            <a:ext cx="619125" cy="67627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Text Box 57"/>
          <p:cNvSpPr txBox="1">
            <a:spLocks noChangeAspect="1" noChangeArrowheads="1"/>
          </p:cNvSpPr>
          <p:nvPr/>
        </p:nvSpPr>
        <p:spPr bwMode="auto">
          <a:xfrm>
            <a:off x="10614987" y="4248096"/>
            <a:ext cx="68897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Ax</a:t>
            </a:r>
            <a:endParaRPr lang="en-US" altLang="zh-CN" i="1" baseline="-25000"/>
          </a:p>
        </p:txBody>
      </p:sp>
      <p:sp>
        <p:nvSpPr>
          <p:cNvPr id="75" name="Line 58"/>
          <p:cNvSpPr>
            <a:spLocks noChangeShapeType="1"/>
          </p:cNvSpPr>
          <p:nvPr/>
        </p:nvSpPr>
        <p:spPr bwMode="auto">
          <a:xfrm flipH="1">
            <a:off x="7889250" y="3690883"/>
            <a:ext cx="506412" cy="5524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Text Box 59"/>
          <p:cNvSpPr txBox="1">
            <a:spLocks noChangeAspect="1" noChangeArrowheads="1"/>
          </p:cNvSpPr>
          <p:nvPr/>
        </p:nvSpPr>
        <p:spPr bwMode="auto">
          <a:xfrm>
            <a:off x="7479675" y="3633733"/>
            <a:ext cx="6889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ea typeface="宋体" panose="02010600030101010101" pitchFamily="2" charset="-122"/>
              </a:rPr>
              <a:t>F</a:t>
            </a:r>
            <a:r>
              <a:rPr lang="en-US" altLang="zh-CN" i="1" baseline="-25000">
                <a:ea typeface="宋体" panose="02010600030101010101" pitchFamily="2" charset="-122"/>
              </a:rPr>
              <a:t>Bx</a:t>
            </a:r>
            <a:endParaRPr lang="en-US" altLang="zh-CN" i="1" baseline="-25000"/>
          </a:p>
        </p:txBody>
      </p:sp>
      <p:sp>
        <p:nvSpPr>
          <p:cNvPr id="77" name="Text Box 60"/>
          <p:cNvSpPr txBox="1">
            <a:spLocks noChangeArrowheads="1"/>
          </p:cNvSpPr>
          <p:nvPr/>
        </p:nvSpPr>
        <p:spPr bwMode="auto">
          <a:xfrm>
            <a:off x="0" y="1924050"/>
            <a:ext cx="7254875"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i="0" dirty="0">
                <a:solidFill>
                  <a:srgbClr val="FFFFFF"/>
                </a:solidFill>
                <a:ea typeface="黑体" panose="02010609060101010101" pitchFamily="49" charset="-122"/>
              </a:rPr>
              <a:t>       </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M</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 </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Az</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W</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 sin</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Az</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W</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 sin</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 </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)=6.7kN</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=0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Az</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Bz</a:t>
            </a:r>
            <a:r>
              <a:rPr kumimoji="1" lang="en-US" altLang="zh-CN" b="0" i="0" dirty="0" err="1">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sin</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W</a:t>
            </a:r>
            <a:r>
              <a:rPr kumimoji="1" lang="en-US" altLang="zh-CN" b="0" i="0" dirty="0">
                <a:solidFill>
                  <a:schemeClr val="tx1"/>
                </a:solidFill>
                <a:ea typeface="黑体" panose="02010609060101010101" pitchFamily="49" charset="-122"/>
              </a:rPr>
              <a:t> =0</a:t>
            </a:r>
          </a:p>
          <a:p>
            <a:pPr>
              <a:lnSpc>
                <a:spcPct val="130000"/>
              </a:lnSpc>
            </a:pP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Bz</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sin</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W </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Az</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Bz</a:t>
            </a:r>
            <a:r>
              <a:rPr kumimoji="1" lang="en-US" altLang="zh-CN" b="0" i="0" dirty="0">
                <a:solidFill>
                  <a:schemeClr val="tx1"/>
                </a:solidFill>
                <a:ea typeface="黑体" panose="02010609060101010101" pitchFamily="49" charset="-122"/>
              </a:rPr>
              <a:t> = 5.12kN</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M</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   </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Ax</a:t>
            </a:r>
            <a:r>
              <a:rPr kumimoji="1" lang="en-US" altLang="zh-CN" b="0" dirty="0">
                <a:solidFill>
                  <a:schemeClr val="tx1"/>
                </a:solidFill>
                <a:ea typeface="黑体" panose="02010609060101010101" pitchFamily="49" charset="-122"/>
              </a:rPr>
              <a:t> </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cos</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=0</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Ax</a:t>
            </a:r>
            <a:r>
              <a:rPr kumimoji="1" lang="en-US" altLang="zh-CN" b="0" dirty="0">
                <a:solidFill>
                  <a:schemeClr val="tx1"/>
                </a:solidFill>
                <a:ea typeface="黑体" panose="02010609060101010101" pitchFamily="49" charset="-122"/>
              </a:rPr>
              <a:t> </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 cos</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b</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1.25kN</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=0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Ax</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Bx</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cos</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=0</a:t>
            </a:r>
          </a:p>
          <a:p>
            <a:pPr>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Bx</a:t>
            </a:r>
            <a:r>
              <a:rPr kumimoji="1" lang="en-US" altLang="zh-CN" b="0" dirty="0">
                <a:solidFill>
                  <a:schemeClr val="tx1"/>
                </a:solidFill>
                <a:ea typeface="黑体" panose="02010609060101010101" pitchFamily="49" charset="-122"/>
              </a:rPr>
              <a:t> </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Ax</a:t>
            </a:r>
            <a:r>
              <a:rPr kumimoji="1" lang="en-US" altLang="zh-CN" b="0" i="0" dirty="0" err="1">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n</a:t>
            </a:r>
            <a:r>
              <a:rPr kumimoji="1" lang="en-US" altLang="zh-CN" b="0" i="0" dirty="0" err="1">
                <a:solidFill>
                  <a:schemeClr val="tx1"/>
                </a:solidFill>
                <a:ea typeface="黑体" panose="02010609060101010101" pitchFamily="49" charset="-122"/>
              </a:rPr>
              <a:t>cos</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3.75kN </a:t>
            </a:r>
          </a:p>
        </p:txBody>
      </p:sp>
    </p:spTree>
    <p:extLst>
      <p:ext uri="{BB962C8B-B14F-4D97-AF65-F5344CB8AC3E}">
        <p14:creationId xmlns:p14="http://schemas.microsoft.com/office/powerpoint/2010/main" val="62874806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0" fill="hold"/>
                                        <p:tgtEl>
                                          <p:spTgt spid="14"/>
                                        </p:tgtEl>
                                        <p:attrNameLst>
                                          <p:attrName>ppt_w</p:attrName>
                                        </p:attrNameLst>
                                      </p:cBhvr>
                                      <p:tavLst>
                                        <p:tav tm="0">
                                          <p:val>
                                            <p:fltVal val="0"/>
                                          </p:val>
                                        </p:tav>
                                        <p:tav tm="100000">
                                          <p:val>
                                            <p:strVal val="#ppt_w"/>
                                          </p:val>
                                        </p:tav>
                                      </p:tavLst>
                                    </p:anim>
                                    <p:anim calcmode="lin" valueType="num">
                                      <p:cBhvr>
                                        <p:cTn id="8" dur="5000" fill="hold"/>
                                        <p:tgtEl>
                                          <p:spTgt spid="14"/>
                                        </p:tgtEl>
                                        <p:attrNameLst>
                                          <p:attrName>ppt_h</p:attrName>
                                        </p:attrNameLst>
                                      </p:cBhvr>
                                      <p:tavLst>
                                        <p:tav tm="0">
                                          <p:val>
                                            <p:fltVal val="0"/>
                                          </p:val>
                                        </p:tav>
                                        <p:tav tm="100000">
                                          <p:val>
                                            <p:strVal val="#ppt_h"/>
                                          </p:val>
                                        </p:tav>
                                      </p:tavLst>
                                    </p:anim>
                                    <p:animEffect transition="in" filter="fade">
                                      <p:cBhvr>
                                        <p:cTn id="9" dur="5000"/>
                                        <p:tgtEl>
                                          <p:spTgt spid="14"/>
                                        </p:tgtEl>
                                      </p:cBhvr>
                                    </p:animEffect>
                                  </p:childTnLst>
                                </p:cTn>
                              </p:par>
                            </p:childTnLst>
                          </p:cTn>
                        </p:par>
                        <p:par>
                          <p:cTn id="10" fill="hold">
                            <p:stCondLst>
                              <p:cond delay="5000"/>
                            </p:stCondLst>
                            <p:childTnLst>
                              <p:par>
                                <p:cTn id="11" presetID="18" presetClass="entr" presetSubtype="12" fill="hold" grpId="0" nodeType="after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strips(downLeft)">
                                      <p:cBhvr>
                                        <p:cTn id="13" dur="5000"/>
                                        <p:tgtEl>
                                          <p:spTgt spid="67"/>
                                        </p:tgtEl>
                                      </p:cBhvr>
                                    </p:animEffect>
                                  </p:childTnLst>
                                </p:cTn>
                              </p:par>
                              <p:par>
                                <p:cTn id="14" presetID="19"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 calcmode="lin" valueType="num">
                                      <p:cBhvr>
                                        <p:cTn id="16" dur="5000" fill="hold"/>
                                        <p:tgtEl>
                                          <p:spTgt spid="68"/>
                                        </p:tgtEl>
                                        <p:attrNameLst>
                                          <p:attrName>ppt_w</p:attrName>
                                        </p:attrNameLst>
                                      </p:cBhvr>
                                      <p:tavLst>
                                        <p:tav tm="0" fmla="#ppt_w*sin(2.5*pi*$)">
                                          <p:val>
                                            <p:fltVal val="0"/>
                                          </p:val>
                                        </p:tav>
                                        <p:tav tm="100000">
                                          <p:val>
                                            <p:fltVal val="1"/>
                                          </p:val>
                                        </p:tav>
                                      </p:tavLst>
                                    </p:anim>
                                    <p:anim calcmode="lin" valueType="num">
                                      <p:cBhvr>
                                        <p:cTn id="17" dur="5000" fill="hold"/>
                                        <p:tgtEl>
                                          <p:spTgt spid="68"/>
                                        </p:tgtEl>
                                        <p:attrNameLst>
                                          <p:attrName>ppt_h</p:attrName>
                                        </p:attrNameLst>
                                      </p:cBhvr>
                                      <p:tavLst>
                                        <p:tav tm="0">
                                          <p:val>
                                            <p:strVal val="#ppt_h"/>
                                          </p:val>
                                        </p:tav>
                                        <p:tav tm="100000">
                                          <p:val>
                                            <p:strVal val="#ppt_h"/>
                                          </p:val>
                                        </p:tav>
                                      </p:tavLst>
                                    </p:anim>
                                  </p:childTnLst>
                                </p:cTn>
                              </p:par>
                              <p:par>
                                <p:cTn id="18" presetID="19" presetClass="entr" presetSubtype="10" fill="hold" grpId="0" nodeType="withEffect">
                                  <p:stCondLst>
                                    <p:cond delay="0"/>
                                  </p:stCondLst>
                                  <p:childTnLst>
                                    <p:set>
                                      <p:cBhvr>
                                        <p:cTn id="19" dur="1" fill="hold">
                                          <p:stCondLst>
                                            <p:cond delay="0"/>
                                          </p:stCondLst>
                                        </p:cTn>
                                        <p:tgtEl>
                                          <p:spTgt spid="65"/>
                                        </p:tgtEl>
                                        <p:attrNameLst>
                                          <p:attrName>style.visibility</p:attrName>
                                        </p:attrNameLst>
                                      </p:cBhvr>
                                      <p:to>
                                        <p:strVal val="visible"/>
                                      </p:to>
                                    </p:set>
                                    <p:anim calcmode="lin" valueType="num">
                                      <p:cBhvr>
                                        <p:cTn id="20" dur="5000" fill="hold"/>
                                        <p:tgtEl>
                                          <p:spTgt spid="65"/>
                                        </p:tgtEl>
                                        <p:attrNameLst>
                                          <p:attrName>ppt_w</p:attrName>
                                        </p:attrNameLst>
                                      </p:cBhvr>
                                      <p:tavLst>
                                        <p:tav tm="0" fmla="#ppt_w*sin(2.5*pi*$)">
                                          <p:val>
                                            <p:fltVal val="0"/>
                                          </p:val>
                                        </p:tav>
                                        <p:tav tm="100000">
                                          <p:val>
                                            <p:fltVal val="1"/>
                                          </p:val>
                                        </p:tav>
                                      </p:tavLst>
                                    </p:anim>
                                    <p:anim calcmode="lin" valueType="num">
                                      <p:cBhvr>
                                        <p:cTn id="21" dur="5000" fill="hold"/>
                                        <p:tgtEl>
                                          <p:spTgt spid="65"/>
                                        </p:tgtEl>
                                        <p:attrNameLst>
                                          <p:attrName>ppt_h</p:attrName>
                                        </p:attrNameLst>
                                      </p:cBhvr>
                                      <p:tavLst>
                                        <p:tav tm="0">
                                          <p:val>
                                            <p:strVal val="#ppt_h"/>
                                          </p:val>
                                        </p:tav>
                                        <p:tav tm="100000">
                                          <p:val>
                                            <p:strVal val="#ppt_h"/>
                                          </p:val>
                                        </p:tav>
                                      </p:tavLst>
                                    </p:anim>
                                  </p:childTnLst>
                                </p:cTn>
                              </p:par>
                              <p:par>
                                <p:cTn id="22" presetID="12" presetClass="entr" presetSubtype="4"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slide(fromBottom)">
                                      <p:cBhvr>
                                        <p:cTn id="24" dur="5000"/>
                                        <p:tgtEl>
                                          <p:spTgt spid="66"/>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anim calcmode="lin" valueType="num">
                                      <p:cBhvr>
                                        <p:cTn id="27" dur="5000" fill="hold"/>
                                        <p:tgtEl>
                                          <p:spTgt spid="64"/>
                                        </p:tgtEl>
                                        <p:attrNameLst>
                                          <p:attrName>ppt_w</p:attrName>
                                        </p:attrNameLst>
                                      </p:cBhvr>
                                      <p:tavLst>
                                        <p:tav tm="0" fmla="#ppt_w*sin(2.5*pi*$)">
                                          <p:val>
                                            <p:fltVal val="0"/>
                                          </p:val>
                                        </p:tav>
                                        <p:tav tm="100000">
                                          <p:val>
                                            <p:fltVal val="1"/>
                                          </p:val>
                                        </p:tav>
                                      </p:tavLst>
                                    </p:anim>
                                    <p:anim calcmode="lin" valueType="num">
                                      <p:cBhvr>
                                        <p:cTn id="28" dur="5000" fill="hold"/>
                                        <p:tgtEl>
                                          <p:spTgt spid="64"/>
                                        </p:tgtEl>
                                        <p:attrNameLst>
                                          <p:attrName>ppt_h</p:attrName>
                                        </p:attrNameLst>
                                      </p:cBhvr>
                                      <p:tavLst>
                                        <p:tav tm="0">
                                          <p:val>
                                            <p:strVal val="#ppt_h"/>
                                          </p:val>
                                        </p:tav>
                                        <p:tav tm="100000">
                                          <p:val>
                                            <p:strVal val="#ppt_h"/>
                                          </p:val>
                                        </p:tav>
                                      </p:tavLst>
                                    </p:anim>
                                  </p:childTnLst>
                                </p:cTn>
                              </p:par>
                              <p:par>
                                <p:cTn id="29" presetID="12" presetClass="entr" presetSubtype="8"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slide(fromLeft)">
                                      <p:cBhvr>
                                        <p:cTn id="31" dur="5000"/>
                                        <p:tgtEl>
                                          <p:spTgt spid="63"/>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slide(fromBottom)">
                                      <p:cBhvr>
                                        <p:cTn id="36" dur="5000"/>
                                        <p:tgtEl>
                                          <p:spTgt spid="71"/>
                                        </p:tgtEl>
                                      </p:cBhvr>
                                    </p:animEffect>
                                  </p:childTnLst>
                                </p:cTn>
                              </p:par>
                              <p:par>
                                <p:cTn id="37" presetID="19" presetClass="entr" presetSubtype="1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anim calcmode="lin" valueType="num">
                                      <p:cBhvr>
                                        <p:cTn id="39" dur="5000" fill="hold"/>
                                        <p:tgtEl>
                                          <p:spTgt spid="72"/>
                                        </p:tgtEl>
                                        <p:attrNameLst>
                                          <p:attrName>ppt_w</p:attrName>
                                        </p:attrNameLst>
                                      </p:cBhvr>
                                      <p:tavLst>
                                        <p:tav tm="0" fmla="#ppt_w*sin(2.5*pi*$)">
                                          <p:val>
                                            <p:fltVal val="0"/>
                                          </p:val>
                                        </p:tav>
                                        <p:tav tm="100000">
                                          <p:val>
                                            <p:fltVal val="1"/>
                                          </p:val>
                                        </p:tav>
                                      </p:tavLst>
                                    </p:anim>
                                    <p:anim calcmode="lin" valueType="num">
                                      <p:cBhvr>
                                        <p:cTn id="40" dur="5000" fill="hold"/>
                                        <p:tgtEl>
                                          <p:spTgt spid="72"/>
                                        </p:tgtEl>
                                        <p:attrNameLst>
                                          <p:attrName>ppt_h</p:attrName>
                                        </p:attrNameLst>
                                      </p:cBhvr>
                                      <p:tavLst>
                                        <p:tav tm="0">
                                          <p:val>
                                            <p:strVal val="#ppt_h"/>
                                          </p:val>
                                        </p:tav>
                                        <p:tav tm="100000">
                                          <p:val>
                                            <p:strVal val="#ppt_h"/>
                                          </p:val>
                                        </p:tav>
                                      </p:tavLst>
                                    </p:anim>
                                  </p:childTnLst>
                                </p:cTn>
                              </p:par>
                            </p:childTnLst>
                          </p:cTn>
                        </p:par>
                        <p:par>
                          <p:cTn id="41" fill="hold">
                            <p:stCondLst>
                              <p:cond delay="5000"/>
                            </p:stCondLst>
                            <p:childTnLst>
                              <p:par>
                                <p:cTn id="42" presetID="18" presetClass="entr" presetSubtype="12" fill="hold" grpId="0" nodeType="afterEffect">
                                  <p:stCondLst>
                                    <p:cond delay="0"/>
                                  </p:stCondLst>
                                  <p:childTnLst>
                                    <p:set>
                                      <p:cBhvr>
                                        <p:cTn id="43" dur="1" fill="hold">
                                          <p:stCondLst>
                                            <p:cond delay="0"/>
                                          </p:stCondLst>
                                        </p:cTn>
                                        <p:tgtEl>
                                          <p:spTgt spid="73"/>
                                        </p:tgtEl>
                                        <p:attrNameLst>
                                          <p:attrName>style.visibility</p:attrName>
                                        </p:attrNameLst>
                                      </p:cBhvr>
                                      <p:to>
                                        <p:strVal val="visible"/>
                                      </p:to>
                                    </p:set>
                                    <p:animEffect transition="in" filter="strips(downLeft)">
                                      <p:cBhvr>
                                        <p:cTn id="44" dur="5000"/>
                                        <p:tgtEl>
                                          <p:spTgt spid="73"/>
                                        </p:tgtEl>
                                      </p:cBhvr>
                                    </p:animEffect>
                                  </p:childTnLst>
                                </p:cTn>
                              </p:par>
                              <p:par>
                                <p:cTn id="45" presetID="19" presetClass="entr" presetSubtype="10" fill="hold" grpId="0" nodeType="withEffect">
                                  <p:stCondLst>
                                    <p:cond delay="0"/>
                                  </p:stCondLst>
                                  <p:childTnLst>
                                    <p:set>
                                      <p:cBhvr>
                                        <p:cTn id="46" dur="1" fill="hold">
                                          <p:stCondLst>
                                            <p:cond delay="0"/>
                                          </p:stCondLst>
                                        </p:cTn>
                                        <p:tgtEl>
                                          <p:spTgt spid="74"/>
                                        </p:tgtEl>
                                        <p:attrNameLst>
                                          <p:attrName>style.visibility</p:attrName>
                                        </p:attrNameLst>
                                      </p:cBhvr>
                                      <p:to>
                                        <p:strVal val="visible"/>
                                      </p:to>
                                    </p:set>
                                    <p:anim calcmode="lin" valueType="num">
                                      <p:cBhvr>
                                        <p:cTn id="47" dur="5000" fill="hold"/>
                                        <p:tgtEl>
                                          <p:spTgt spid="74"/>
                                        </p:tgtEl>
                                        <p:attrNameLst>
                                          <p:attrName>ppt_w</p:attrName>
                                        </p:attrNameLst>
                                      </p:cBhvr>
                                      <p:tavLst>
                                        <p:tav tm="0" fmla="#ppt_w*sin(2.5*pi*$)">
                                          <p:val>
                                            <p:fltVal val="0"/>
                                          </p:val>
                                        </p:tav>
                                        <p:tav tm="100000">
                                          <p:val>
                                            <p:fltVal val="1"/>
                                          </p:val>
                                        </p:tav>
                                      </p:tavLst>
                                    </p:anim>
                                    <p:anim calcmode="lin" valueType="num">
                                      <p:cBhvr>
                                        <p:cTn id="48" dur="5000" fill="hold"/>
                                        <p:tgtEl>
                                          <p:spTgt spid="74"/>
                                        </p:tgtEl>
                                        <p:attrNameLst>
                                          <p:attrName>ppt_h</p:attrName>
                                        </p:attrNameLst>
                                      </p:cBhvr>
                                      <p:tavLst>
                                        <p:tav tm="0">
                                          <p:val>
                                            <p:strVal val="#ppt_h"/>
                                          </p:val>
                                        </p:tav>
                                        <p:tav tm="100000">
                                          <p:val>
                                            <p:strVal val="#ppt_h"/>
                                          </p:val>
                                        </p:tav>
                                      </p:tavLst>
                                    </p:anim>
                                  </p:childTnLst>
                                </p:cTn>
                              </p:par>
                            </p:childTnLst>
                          </p:cTn>
                        </p:par>
                        <p:par>
                          <p:cTn id="49" fill="hold">
                            <p:stCondLst>
                              <p:cond delay="10000"/>
                            </p:stCondLst>
                            <p:childTnLst>
                              <p:par>
                                <p:cTn id="50" presetID="12" presetClass="entr" presetSubtype="4" fill="hold" grpId="0" nodeType="afterEffect">
                                  <p:stCondLst>
                                    <p:cond delay="0"/>
                                  </p:stCondLst>
                                  <p:childTnLst>
                                    <p:set>
                                      <p:cBhvr>
                                        <p:cTn id="51" dur="1" fill="hold">
                                          <p:stCondLst>
                                            <p:cond delay="0"/>
                                          </p:stCondLst>
                                        </p:cTn>
                                        <p:tgtEl>
                                          <p:spTgt spid="69"/>
                                        </p:tgtEl>
                                        <p:attrNameLst>
                                          <p:attrName>style.visibility</p:attrName>
                                        </p:attrNameLst>
                                      </p:cBhvr>
                                      <p:to>
                                        <p:strVal val="visible"/>
                                      </p:to>
                                    </p:set>
                                    <p:animEffect transition="in" filter="slide(fromBottom)">
                                      <p:cBhvr>
                                        <p:cTn id="52" dur="5000"/>
                                        <p:tgtEl>
                                          <p:spTgt spid="69"/>
                                        </p:tgtEl>
                                      </p:cBhvr>
                                    </p:animEffect>
                                  </p:childTnLst>
                                </p:cTn>
                              </p:par>
                              <p:par>
                                <p:cTn id="53" presetID="19" presetClass="entr" presetSubtype="10" fill="hold" grpId="0" nodeType="withEffect">
                                  <p:stCondLst>
                                    <p:cond delay="0"/>
                                  </p:stCondLst>
                                  <p:childTnLst>
                                    <p:set>
                                      <p:cBhvr>
                                        <p:cTn id="54" dur="1" fill="hold">
                                          <p:stCondLst>
                                            <p:cond delay="0"/>
                                          </p:stCondLst>
                                        </p:cTn>
                                        <p:tgtEl>
                                          <p:spTgt spid="70"/>
                                        </p:tgtEl>
                                        <p:attrNameLst>
                                          <p:attrName>style.visibility</p:attrName>
                                        </p:attrNameLst>
                                      </p:cBhvr>
                                      <p:to>
                                        <p:strVal val="visible"/>
                                      </p:to>
                                    </p:set>
                                    <p:anim calcmode="lin" valueType="num">
                                      <p:cBhvr>
                                        <p:cTn id="55" dur="5000" fill="hold"/>
                                        <p:tgtEl>
                                          <p:spTgt spid="70"/>
                                        </p:tgtEl>
                                        <p:attrNameLst>
                                          <p:attrName>ppt_w</p:attrName>
                                        </p:attrNameLst>
                                      </p:cBhvr>
                                      <p:tavLst>
                                        <p:tav tm="0" fmla="#ppt_w*sin(2.5*pi*$)">
                                          <p:val>
                                            <p:fltVal val="0"/>
                                          </p:val>
                                        </p:tav>
                                        <p:tav tm="100000">
                                          <p:val>
                                            <p:fltVal val="1"/>
                                          </p:val>
                                        </p:tav>
                                      </p:tavLst>
                                    </p:anim>
                                    <p:anim calcmode="lin" valueType="num">
                                      <p:cBhvr>
                                        <p:cTn id="56" dur="5000" fill="hold"/>
                                        <p:tgtEl>
                                          <p:spTgt spid="70"/>
                                        </p:tgtEl>
                                        <p:attrNameLst>
                                          <p:attrName>ppt_h</p:attrName>
                                        </p:attrNameLst>
                                      </p:cBhvr>
                                      <p:tavLst>
                                        <p:tav tm="0">
                                          <p:val>
                                            <p:strVal val="#ppt_h"/>
                                          </p:val>
                                        </p:tav>
                                        <p:tav tm="100000">
                                          <p:val>
                                            <p:strVal val="#ppt_h"/>
                                          </p:val>
                                        </p:tav>
                                      </p:tavLst>
                                    </p:anim>
                                  </p:childTnLst>
                                </p:cTn>
                              </p:par>
                            </p:childTnLst>
                          </p:cTn>
                        </p:par>
                        <p:par>
                          <p:cTn id="57" fill="hold">
                            <p:stCondLst>
                              <p:cond delay="15000"/>
                            </p:stCondLst>
                            <p:childTnLst>
                              <p:par>
                                <p:cTn id="58" presetID="18" presetClass="entr" presetSubtype="12" fill="hold" grpId="0" nodeType="afterEffect">
                                  <p:stCondLst>
                                    <p:cond delay="0"/>
                                  </p:stCondLst>
                                  <p:childTnLst>
                                    <p:set>
                                      <p:cBhvr>
                                        <p:cTn id="59" dur="1" fill="hold">
                                          <p:stCondLst>
                                            <p:cond delay="0"/>
                                          </p:stCondLst>
                                        </p:cTn>
                                        <p:tgtEl>
                                          <p:spTgt spid="75"/>
                                        </p:tgtEl>
                                        <p:attrNameLst>
                                          <p:attrName>style.visibility</p:attrName>
                                        </p:attrNameLst>
                                      </p:cBhvr>
                                      <p:to>
                                        <p:strVal val="visible"/>
                                      </p:to>
                                    </p:set>
                                    <p:animEffect transition="in" filter="strips(downLeft)">
                                      <p:cBhvr>
                                        <p:cTn id="60" dur="5000"/>
                                        <p:tgtEl>
                                          <p:spTgt spid="75"/>
                                        </p:tgtEl>
                                      </p:cBhvr>
                                    </p:animEffect>
                                  </p:childTnLst>
                                </p:cTn>
                              </p:par>
                              <p:par>
                                <p:cTn id="61" presetID="19" presetClass="entr" presetSubtype="10" fill="hold" grpId="0" nodeType="withEffect">
                                  <p:stCondLst>
                                    <p:cond delay="0"/>
                                  </p:stCondLst>
                                  <p:childTnLst>
                                    <p:set>
                                      <p:cBhvr>
                                        <p:cTn id="62" dur="1" fill="hold">
                                          <p:stCondLst>
                                            <p:cond delay="0"/>
                                          </p:stCondLst>
                                        </p:cTn>
                                        <p:tgtEl>
                                          <p:spTgt spid="76"/>
                                        </p:tgtEl>
                                        <p:attrNameLst>
                                          <p:attrName>style.visibility</p:attrName>
                                        </p:attrNameLst>
                                      </p:cBhvr>
                                      <p:to>
                                        <p:strVal val="visible"/>
                                      </p:to>
                                    </p:set>
                                    <p:anim calcmode="lin" valueType="num">
                                      <p:cBhvr>
                                        <p:cTn id="63" dur="5000" fill="hold"/>
                                        <p:tgtEl>
                                          <p:spTgt spid="76"/>
                                        </p:tgtEl>
                                        <p:attrNameLst>
                                          <p:attrName>ppt_w</p:attrName>
                                        </p:attrNameLst>
                                      </p:cBhvr>
                                      <p:tavLst>
                                        <p:tav tm="0" fmla="#ppt_w*sin(2.5*pi*$)">
                                          <p:val>
                                            <p:fltVal val="0"/>
                                          </p:val>
                                        </p:tav>
                                        <p:tav tm="100000">
                                          <p:val>
                                            <p:fltVal val="1"/>
                                          </p:val>
                                        </p:tav>
                                      </p:tavLst>
                                    </p:anim>
                                    <p:anim calcmode="lin" valueType="num">
                                      <p:cBhvr>
                                        <p:cTn id="64" dur="5000" fill="hold"/>
                                        <p:tgtEl>
                                          <p:spTgt spid="76"/>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iterate type="lt">
                                    <p:tmPct val="60000"/>
                                  </p:iterate>
                                  <p:childTnLst>
                                    <p:set>
                                      <p:cBhvr>
                                        <p:cTn id="68" dur="1" fill="hold">
                                          <p:stCondLst>
                                            <p:cond delay="0"/>
                                          </p:stCondLst>
                                        </p:cTn>
                                        <p:tgtEl>
                                          <p:spTgt spid="77">
                                            <p:txEl>
                                              <p:pRg st="0" end="0"/>
                                            </p:txEl>
                                          </p:spTgt>
                                        </p:tgtEl>
                                        <p:attrNameLst>
                                          <p:attrName>style.visibility</p:attrName>
                                        </p:attrNameLst>
                                      </p:cBhvr>
                                      <p:to>
                                        <p:strVal val="visible"/>
                                      </p:to>
                                    </p:set>
                                    <p:animEffect transition="in" filter="wipe(left)">
                                      <p:cBhvr>
                                        <p:cTn id="69" dur="500"/>
                                        <p:tgtEl>
                                          <p:spTgt spid="77">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iterate type="lt">
                                    <p:tmPct val="60000"/>
                                  </p:iterate>
                                  <p:childTnLst>
                                    <p:set>
                                      <p:cBhvr>
                                        <p:cTn id="73" dur="1" fill="hold">
                                          <p:stCondLst>
                                            <p:cond delay="0"/>
                                          </p:stCondLst>
                                        </p:cTn>
                                        <p:tgtEl>
                                          <p:spTgt spid="77">
                                            <p:txEl>
                                              <p:pRg st="1" end="1"/>
                                            </p:txEl>
                                          </p:spTgt>
                                        </p:tgtEl>
                                        <p:attrNameLst>
                                          <p:attrName>style.visibility</p:attrName>
                                        </p:attrNameLst>
                                      </p:cBhvr>
                                      <p:to>
                                        <p:strVal val="visible"/>
                                      </p:to>
                                    </p:set>
                                    <p:animEffect transition="in" filter="wipe(left)">
                                      <p:cBhvr>
                                        <p:cTn id="74" dur="500"/>
                                        <p:tgtEl>
                                          <p:spTgt spid="77">
                                            <p:txEl>
                                              <p:pRg st="1" end="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iterate type="lt">
                                    <p:tmPct val="60000"/>
                                  </p:iterate>
                                  <p:childTnLst>
                                    <p:set>
                                      <p:cBhvr>
                                        <p:cTn id="78" dur="1" fill="hold">
                                          <p:stCondLst>
                                            <p:cond delay="0"/>
                                          </p:stCondLst>
                                        </p:cTn>
                                        <p:tgtEl>
                                          <p:spTgt spid="77">
                                            <p:txEl>
                                              <p:pRg st="2" end="2"/>
                                            </p:txEl>
                                          </p:spTgt>
                                        </p:tgtEl>
                                        <p:attrNameLst>
                                          <p:attrName>style.visibility</p:attrName>
                                        </p:attrNameLst>
                                      </p:cBhvr>
                                      <p:to>
                                        <p:strVal val="visible"/>
                                      </p:to>
                                    </p:set>
                                    <p:animEffect transition="in" filter="wipe(left)">
                                      <p:cBhvr>
                                        <p:cTn id="79" dur="500"/>
                                        <p:tgtEl>
                                          <p:spTgt spid="77">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iterate type="lt">
                                    <p:tmPct val="60000"/>
                                  </p:iterate>
                                  <p:childTnLst>
                                    <p:set>
                                      <p:cBhvr>
                                        <p:cTn id="83" dur="1" fill="hold">
                                          <p:stCondLst>
                                            <p:cond delay="0"/>
                                          </p:stCondLst>
                                        </p:cTn>
                                        <p:tgtEl>
                                          <p:spTgt spid="77">
                                            <p:txEl>
                                              <p:pRg st="3" end="3"/>
                                            </p:txEl>
                                          </p:spTgt>
                                        </p:tgtEl>
                                        <p:attrNameLst>
                                          <p:attrName>style.visibility</p:attrName>
                                        </p:attrNameLst>
                                      </p:cBhvr>
                                      <p:to>
                                        <p:strVal val="visible"/>
                                      </p:to>
                                    </p:set>
                                    <p:animEffect transition="in" filter="wipe(left)">
                                      <p:cBhvr>
                                        <p:cTn id="84" dur="500"/>
                                        <p:tgtEl>
                                          <p:spTgt spid="77">
                                            <p:txEl>
                                              <p:pRg st="3" end="3"/>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iterate type="lt">
                                    <p:tmPct val="60000"/>
                                  </p:iterate>
                                  <p:childTnLst>
                                    <p:set>
                                      <p:cBhvr>
                                        <p:cTn id="88" dur="1" fill="hold">
                                          <p:stCondLst>
                                            <p:cond delay="0"/>
                                          </p:stCondLst>
                                        </p:cTn>
                                        <p:tgtEl>
                                          <p:spTgt spid="77">
                                            <p:txEl>
                                              <p:pRg st="4" end="4"/>
                                            </p:txEl>
                                          </p:spTgt>
                                        </p:tgtEl>
                                        <p:attrNameLst>
                                          <p:attrName>style.visibility</p:attrName>
                                        </p:attrNameLst>
                                      </p:cBhvr>
                                      <p:to>
                                        <p:strVal val="visible"/>
                                      </p:to>
                                    </p:set>
                                    <p:animEffect transition="in" filter="wipe(left)">
                                      <p:cBhvr>
                                        <p:cTn id="89" dur="500"/>
                                        <p:tgtEl>
                                          <p:spTgt spid="77">
                                            <p:txEl>
                                              <p:pRg st="4" end="4"/>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iterate type="lt">
                                    <p:tmPct val="60000"/>
                                  </p:iterate>
                                  <p:childTnLst>
                                    <p:set>
                                      <p:cBhvr>
                                        <p:cTn id="93" dur="1" fill="hold">
                                          <p:stCondLst>
                                            <p:cond delay="0"/>
                                          </p:stCondLst>
                                        </p:cTn>
                                        <p:tgtEl>
                                          <p:spTgt spid="77">
                                            <p:txEl>
                                              <p:pRg st="5" end="5"/>
                                            </p:txEl>
                                          </p:spTgt>
                                        </p:tgtEl>
                                        <p:attrNameLst>
                                          <p:attrName>style.visibility</p:attrName>
                                        </p:attrNameLst>
                                      </p:cBhvr>
                                      <p:to>
                                        <p:strVal val="visible"/>
                                      </p:to>
                                    </p:set>
                                    <p:animEffect transition="in" filter="wipe(left)">
                                      <p:cBhvr>
                                        <p:cTn id="94" dur="500"/>
                                        <p:tgtEl>
                                          <p:spTgt spid="77">
                                            <p:txEl>
                                              <p:pRg st="5" end="5"/>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iterate type="lt">
                                    <p:tmPct val="60000"/>
                                  </p:iterate>
                                  <p:childTnLst>
                                    <p:set>
                                      <p:cBhvr>
                                        <p:cTn id="98" dur="1" fill="hold">
                                          <p:stCondLst>
                                            <p:cond delay="0"/>
                                          </p:stCondLst>
                                        </p:cTn>
                                        <p:tgtEl>
                                          <p:spTgt spid="77">
                                            <p:txEl>
                                              <p:pRg st="6" end="6"/>
                                            </p:txEl>
                                          </p:spTgt>
                                        </p:tgtEl>
                                        <p:attrNameLst>
                                          <p:attrName>style.visibility</p:attrName>
                                        </p:attrNameLst>
                                      </p:cBhvr>
                                      <p:to>
                                        <p:strVal val="visible"/>
                                      </p:to>
                                    </p:set>
                                    <p:animEffect transition="in" filter="wipe(left)">
                                      <p:cBhvr>
                                        <p:cTn id="99" dur="500"/>
                                        <p:tgtEl>
                                          <p:spTgt spid="77">
                                            <p:txEl>
                                              <p:pRg st="6" end="6"/>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iterate type="lt">
                                    <p:tmPct val="60000"/>
                                  </p:iterate>
                                  <p:childTnLst>
                                    <p:set>
                                      <p:cBhvr>
                                        <p:cTn id="103" dur="1" fill="hold">
                                          <p:stCondLst>
                                            <p:cond delay="0"/>
                                          </p:stCondLst>
                                        </p:cTn>
                                        <p:tgtEl>
                                          <p:spTgt spid="77">
                                            <p:txEl>
                                              <p:pRg st="7" end="7"/>
                                            </p:txEl>
                                          </p:spTgt>
                                        </p:tgtEl>
                                        <p:attrNameLst>
                                          <p:attrName>style.visibility</p:attrName>
                                        </p:attrNameLst>
                                      </p:cBhvr>
                                      <p:to>
                                        <p:strVal val="visible"/>
                                      </p:to>
                                    </p:set>
                                    <p:animEffect transition="in" filter="wipe(left)">
                                      <p:cBhvr>
                                        <p:cTn id="104" dur="500"/>
                                        <p:tgtEl>
                                          <p:spTgt spid="77">
                                            <p:txEl>
                                              <p:pRg st="7" end="7"/>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iterate type="lt">
                                    <p:tmPct val="60000"/>
                                  </p:iterate>
                                  <p:childTnLst>
                                    <p:set>
                                      <p:cBhvr>
                                        <p:cTn id="108" dur="1" fill="hold">
                                          <p:stCondLst>
                                            <p:cond delay="0"/>
                                          </p:stCondLst>
                                        </p:cTn>
                                        <p:tgtEl>
                                          <p:spTgt spid="77">
                                            <p:txEl>
                                              <p:pRg st="8" end="8"/>
                                            </p:txEl>
                                          </p:spTgt>
                                        </p:tgtEl>
                                        <p:attrNameLst>
                                          <p:attrName>style.visibility</p:attrName>
                                        </p:attrNameLst>
                                      </p:cBhvr>
                                      <p:to>
                                        <p:strVal val="visible"/>
                                      </p:to>
                                    </p:set>
                                    <p:animEffect transition="in" filter="wipe(left)">
                                      <p:cBhvr>
                                        <p:cTn id="109" dur="500"/>
                                        <p:tgtEl>
                                          <p:spTgt spid="7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p:bldP spid="65" grpId="0"/>
      <p:bldP spid="66" grpId="0" animBg="1"/>
      <p:bldP spid="67" grpId="0" animBg="1"/>
      <p:bldP spid="68" grpId="0"/>
      <p:bldP spid="69" grpId="0" animBg="1"/>
      <p:bldP spid="70" grpId="0"/>
      <p:bldP spid="71" grpId="0" animBg="1"/>
      <p:bldP spid="72" grpId="0"/>
      <p:bldP spid="73" grpId="0" animBg="1"/>
      <p:bldP spid="74" grpId="0"/>
      <p:bldP spid="75" grpId="0" animBg="1"/>
      <p:bldP spid="76" grpId="0"/>
      <p:bldP spid="7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§3-5  </a:t>
            </a:r>
            <a:r>
              <a:rPr lang="zh-CN" altLang="en-US" sz="3000" i="0" dirty="0">
                <a:solidFill>
                  <a:schemeClr val="accent6">
                    <a:lumMod val="75000"/>
                  </a:schemeClr>
                </a:solidFill>
                <a:latin typeface="+mn-lt"/>
                <a:ea typeface="微软雅黑" panose="020B0503020204020204" pitchFamily="34" charset="-122"/>
              </a:rPr>
              <a:t>重心的概念及重心坐标</a:t>
            </a:r>
          </a:p>
        </p:txBody>
      </p:sp>
      <p:sp>
        <p:nvSpPr>
          <p:cNvPr id="52" name="Text Box 9"/>
          <p:cNvSpPr txBox="1">
            <a:spLocks noChangeArrowheads="1"/>
          </p:cNvSpPr>
          <p:nvPr/>
        </p:nvSpPr>
        <p:spPr bwMode="auto">
          <a:xfrm>
            <a:off x="911424" y="1496412"/>
            <a:ext cx="10087645" cy="451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30000"/>
              </a:lnSpc>
              <a:spcBef>
                <a:spcPct val="0"/>
              </a:spcBef>
              <a:buClrTx/>
              <a:buSzTx/>
              <a:buNone/>
            </a:pPr>
            <a:r>
              <a:rPr lang="zh-CN" altLang="en-US" sz="2800" i="0" dirty="0">
                <a:latin typeface="+mn-lt"/>
                <a:ea typeface="微软雅黑" panose="020B0503020204020204" pitchFamily="34" charset="-122"/>
              </a:rPr>
              <a:t>在日常生活与工程实际中，都会遇到重心问题。例如，起重机用起重物时，吊钩必须位于被吊物体重心的上方，才能使起吊过程中保持物体的平衡稳定。机械中高速旋转的构件，如电机转子等，都要求它的重心位于转动轴线上，否则就会使机器产生振动，引起破坏，造成事故。因此，重心与平衡稳定、安全生产有着密切的关系。另一方面，有时也利用重心的偏移形成振源来制造振动大夯机、混凝土捣实机等，从而满足了生产上的需要。因此，</a:t>
            </a:r>
            <a:r>
              <a:rPr lang="zh-CN" altLang="en-US" sz="2800" i="0" dirty="0">
                <a:solidFill>
                  <a:srgbClr val="FF00FF"/>
                </a:solidFill>
                <a:latin typeface="+mn-lt"/>
                <a:ea typeface="微软雅黑" panose="020B0503020204020204" pitchFamily="34" charset="-122"/>
              </a:rPr>
              <a:t>重心应为有关工程技术人员所必备的知识之一。  </a:t>
            </a:r>
          </a:p>
        </p:txBody>
      </p:sp>
    </p:spTree>
    <p:extLst>
      <p:ext uri="{BB962C8B-B14F-4D97-AF65-F5344CB8AC3E}">
        <p14:creationId xmlns:p14="http://schemas.microsoft.com/office/powerpoint/2010/main" val="4612623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23392" y="908720"/>
            <a:ext cx="8352928" cy="5148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zh-CN" altLang="en-US" sz="2800" i="0" dirty="0">
                <a:latin typeface="+mn-lt"/>
                <a:ea typeface="微软雅黑" panose="020B0503020204020204" pitchFamily="34" charset="-122"/>
              </a:rPr>
              <a:t>地球上的物体内各质点都受到地球的吸引力，这些力可近似地认为组成一个空间平行力系，该力系的合力</a:t>
            </a:r>
            <a:r>
              <a:rPr lang="en-US" altLang="zh-CN" sz="2800" dirty="0">
                <a:latin typeface="+mn-lt"/>
                <a:ea typeface="微软雅黑" panose="020B0503020204020204" pitchFamily="34" charset="-122"/>
              </a:rPr>
              <a:t>G</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称为物体的重力。不论物体怎样放置，这些平行力的合力作用点总是一个确定点，这个点叫做物体的</a:t>
            </a:r>
            <a:r>
              <a:rPr lang="zh-CN" altLang="en-US" sz="2800" i="0" dirty="0">
                <a:solidFill>
                  <a:srgbClr val="FF0000"/>
                </a:solidFill>
                <a:latin typeface="+mn-lt"/>
                <a:ea typeface="微软雅黑" panose="020B0503020204020204" pitchFamily="34" charset="-122"/>
              </a:rPr>
              <a:t>重心</a:t>
            </a:r>
            <a:r>
              <a:rPr lang="zh-CN" altLang="en-US" sz="2800" i="0" dirty="0">
                <a:latin typeface="+mn-lt"/>
                <a:ea typeface="微软雅黑" panose="020B0503020204020204" pitchFamily="34" charset="-122"/>
              </a:rPr>
              <a:t>。</a:t>
            </a:r>
            <a:endParaRPr lang="en-US" altLang="zh-CN" sz="2800" i="0" dirty="0">
              <a:latin typeface="+mn-lt"/>
              <a:ea typeface="微软雅黑" panose="020B0503020204020204" pitchFamily="34" charset="-122"/>
            </a:endParaRPr>
          </a:p>
          <a:p>
            <a:pPr lvl="0">
              <a:lnSpc>
                <a:spcPct val="130000"/>
              </a:lnSpc>
              <a:spcBef>
                <a:spcPct val="0"/>
              </a:spcBef>
              <a:buClrTx/>
              <a:buSzTx/>
              <a:buNone/>
            </a:pPr>
            <a:r>
              <a:rPr lang="zh-CN" altLang="en-US" sz="2800" i="0" dirty="0">
                <a:latin typeface="+mn-lt"/>
                <a:ea typeface="微软雅黑" panose="020B0503020204020204" pitchFamily="34" charset="-122"/>
              </a:rPr>
              <a:t>设有一物体由许多小块组成，每一小块都受到地球的吸引，其吸引为</a:t>
            </a:r>
            <a:r>
              <a:rPr lang="zh-CN" altLang="en-US" sz="2800" i="0" dirty="0">
                <a:latin typeface="+mn-lt"/>
                <a:ea typeface="微软雅黑" panose="020B0503020204020204" pitchFamily="34" charset="-122"/>
                <a:sym typeface="Symbol" panose="05050102010706020507" pitchFamily="18" charset="2"/>
              </a:rPr>
              <a:t></a:t>
            </a:r>
            <a:r>
              <a:rPr lang="en-US" altLang="zh-CN" sz="2800" dirty="0">
                <a:latin typeface="+mn-lt"/>
                <a:ea typeface="微软雅黑" panose="020B0503020204020204" pitchFamily="34" charset="-122"/>
              </a:rPr>
              <a:t>G</a:t>
            </a:r>
            <a:r>
              <a:rPr lang="en-US" altLang="zh-CN" sz="280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zh-CN" altLang="en-US" sz="2800" i="0" dirty="0">
                <a:latin typeface="+mn-lt"/>
                <a:ea typeface="微软雅黑" panose="020B0503020204020204" pitchFamily="34" charset="-122"/>
                <a:sym typeface="Symbol" panose="05050102010706020507" pitchFamily="18" charset="2"/>
              </a:rPr>
              <a:t></a:t>
            </a:r>
            <a:r>
              <a:rPr lang="en-US" altLang="zh-CN" sz="2800" dirty="0">
                <a:latin typeface="+mn-lt"/>
                <a:ea typeface="微软雅黑" panose="020B0503020204020204" pitchFamily="34" charset="-122"/>
              </a:rPr>
              <a:t>G</a:t>
            </a:r>
            <a:r>
              <a:rPr lang="en-US" altLang="zh-CN" sz="2800" i="0" baseline="-25000" dirty="0">
                <a:latin typeface="+mn-lt"/>
                <a:ea typeface="微软雅黑" panose="020B0503020204020204" pitchFamily="34" charset="-122"/>
              </a:rPr>
              <a:t>2</a:t>
            </a:r>
            <a:r>
              <a:rPr lang="zh-CN" altLang="en-US" sz="2800" i="0" dirty="0">
                <a:latin typeface="+mn-lt"/>
                <a:ea typeface="微软雅黑" panose="020B0503020204020204" pitchFamily="34" charset="-122"/>
              </a:rPr>
              <a:t>、</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a:t>
            </a:r>
            <a:r>
              <a:rPr lang="zh-CN" altLang="en-US" sz="2800" i="0" dirty="0">
                <a:latin typeface="+mn-lt"/>
                <a:ea typeface="微软雅黑" panose="020B0503020204020204" pitchFamily="34" charset="-122"/>
                <a:sym typeface="Symbol" panose="05050102010706020507" pitchFamily="18" charset="2"/>
              </a:rPr>
              <a:t></a:t>
            </a:r>
            <a:r>
              <a:rPr lang="en-US" altLang="zh-CN" sz="2800" dirty="0" err="1">
                <a:latin typeface="+mn-lt"/>
                <a:ea typeface="微软雅黑" panose="020B0503020204020204" pitchFamily="34" charset="-122"/>
              </a:rPr>
              <a:t>G</a:t>
            </a:r>
            <a:r>
              <a:rPr lang="en-US" altLang="zh-CN" sz="2800" baseline="-25000" dirty="0" err="1">
                <a:latin typeface="+mn-lt"/>
                <a:ea typeface="微软雅黑" panose="020B0503020204020204" pitchFamily="34" charset="-122"/>
              </a:rPr>
              <a:t>n</a:t>
            </a:r>
            <a:r>
              <a:rPr lang="zh-CN" altLang="en-US" sz="2800" i="0" dirty="0">
                <a:latin typeface="+mn-lt"/>
                <a:ea typeface="微软雅黑" panose="020B0503020204020204" pitchFamily="34" charset="-122"/>
              </a:rPr>
              <a:t>，它们组成一个空间平行力系。这个空间平行力系的合力</a:t>
            </a:r>
            <a:r>
              <a:rPr lang="en-US" altLang="zh-CN" sz="2800" dirty="0">
                <a:latin typeface="+mn-lt"/>
                <a:ea typeface="微软雅黑" panose="020B0503020204020204" pitchFamily="34" charset="-122"/>
              </a:rPr>
              <a:t>G</a:t>
            </a:r>
            <a:r>
              <a:rPr lang="zh-CN" altLang="en-US" sz="2800" i="0" dirty="0">
                <a:latin typeface="+mn-lt"/>
                <a:ea typeface="微软雅黑" panose="020B0503020204020204" pitchFamily="34" charset="-122"/>
              </a:rPr>
              <a:t>，即为该物体的重力，即</a:t>
            </a:r>
          </a:p>
        </p:txBody>
      </p:sp>
      <p:sp>
        <p:nvSpPr>
          <p:cNvPr id="3" name="Rectangle 61">
            <a:extLst>
              <a:ext uri="{FF2B5EF4-FFF2-40B4-BE49-F238E27FC236}">
                <a16:creationId xmlns:a16="http://schemas.microsoft.com/office/drawing/2014/main" id="{A087FACB-094E-0168-BC17-D516343CD459}"/>
              </a:ext>
            </a:extLst>
          </p:cNvPr>
          <p:cNvSpPr>
            <a:spLocks noChangeArrowheads="1"/>
          </p:cNvSpPr>
          <p:nvPr/>
        </p:nvSpPr>
        <p:spPr bwMode="auto">
          <a:xfrm>
            <a:off x="8976320" y="1340768"/>
            <a:ext cx="3096344" cy="4320480"/>
          </a:xfrm>
          <a:prstGeom prst="rect">
            <a:avLst/>
          </a:prstGeom>
          <a:solidFill>
            <a:schemeClr val="accent2"/>
          </a:solidFill>
          <a:ln>
            <a:noFill/>
          </a:ln>
          <a:effectLst/>
        </p:spPr>
        <p:txBody>
          <a:bodyPr wrap="none" anchor="ctr"/>
          <a:lstStyle/>
          <a:p>
            <a:endParaRPr lang="zh-CN" altLang="en-US" dirty="0"/>
          </a:p>
        </p:txBody>
      </p:sp>
      <p:sp>
        <p:nvSpPr>
          <p:cNvPr id="4" name="Line 2">
            <a:extLst>
              <a:ext uri="{FF2B5EF4-FFF2-40B4-BE49-F238E27FC236}">
                <a16:creationId xmlns:a16="http://schemas.microsoft.com/office/drawing/2014/main" id="{DCAA24F4-7254-68F4-26A1-10DD8F032F08}"/>
              </a:ext>
            </a:extLst>
          </p:cNvPr>
          <p:cNvSpPr>
            <a:spLocks noChangeShapeType="1"/>
          </p:cNvSpPr>
          <p:nvPr/>
        </p:nvSpPr>
        <p:spPr bwMode="auto">
          <a:xfrm>
            <a:off x="10676892" y="3852862"/>
            <a:ext cx="0" cy="609600"/>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6" name="Line 3">
            <a:extLst>
              <a:ext uri="{FF2B5EF4-FFF2-40B4-BE49-F238E27FC236}">
                <a16:creationId xmlns:a16="http://schemas.microsoft.com/office/drawing/2014/main" id="{578603E7-A240-9649-5454-0CE83FBB5498}"/>
              </a:ext>
            </a:extLst>
          </p:cNvPr>
          <p:cNvSpPr>
            <a:spLocks noChangeShapeType="1"/>
          </p:cNvSpPr>
          <p:nvPr/>
        </p:nvSpPr>
        <p:spPr bwMode="auto">
          <a:xfrm>
            <a:off x="10141905" y="2251075"/>
            <a:ext cx="0" cy="666750"/>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sp>
        <p:nvSpPr>
          <p:cNvPr id="8" name="Rectangle 4">
            <a:extLst>
              <a:ext uri="{FF2B5EF4-FFF2-40B4-BE49-F238E27FC236}">
                <a16:creationId xmlns:a16="http://schemas.microsoft.com/office/drawing/2014/main" id="{1B3D408D-3DDF-FD71-3D61-426F43949334}"/>
              </a:ext>
            </a:extLst>
          </p:cNvPr>
          <p:cNvSpPr>
            <a:spLocks noChangeArrowheads="1"/>
          </p:cNvSpPr>
          <p:nvPr/>
        </p:nvSpPr>
        <p:spPr bwMode="auto">
          <a:xfrm>
            <a:off x="10368917" y="1939925"/>
            <a:ext cx="687388" cy="457200"/>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a:solidFill>
                  <a:srgbClr val="FFFF00"/>
                </a:solidFill>
                <a:ea typeface="黑体" panose="02010609060101010101" pitchFamily="49" charset="-122"/>
              </a:rPr>
              <a:t>G</a:t>
            </a:r>
            <a:endParaRPr kumimoji="1" lang="en-US" altLang="zh-CN" b="0" baseline="-25000">
              <a:solidFill>
                <a:srgbClr val="FFFF00"/>
              </a:solidFill>
              <a:ea typeface="黑体" panose="02010609060101010101" pitchFamily="49" charset="-122"/>
            </a:endParaRPr>
          </a:p>
        </p:txBody>
      </p:sp>
      <p:sp>
        <p:nvSpPr>
          <p:cNvPr id="9" name="Rectangle 6">
            <a:extLst>
              <a:ext uri="{FF2B5EF4-FFF2-40B4-BE49-F238E27FC236}">
                <a16:creationId xmlns:a16="http://schemas.microsoft.com/office/drawing/2014/main" id="{9A51D3BC-4DA5-DFE7-74D4-FA9D27CF1505}"/>
              </a:ext>
            </a:extLst>
          </p:cNvPr>
          <p:cNvSpPr>
            <a:spLocks noChangeArrowheads="1"/>
          </p:cNvSpPr>
          <p:nvPr/>
        </p:nvSpPr>
        <p:spPr bwMode="auto">
          <a:xfrm>
            <a:off x="9795830" y="1825625"/>
            <a:ext cx="561975" cy="477837"/>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0" i="0" dirty="0">
                <a:solidFill>
                  <a:srgbClr val="FFFF00"/>
                </a:solidFill>
                <a:ea typeface="黑体" panose="02010609060101010101" pitchFamily="49" charset="-122"/>
                <a:sym typeface="Symbol" panose="05050102010706020507" pitchFamily="18" charset="2"/>
              </a:rPr>
              <a:t></a:t>
            </a:r>
            <a:r>
              <a:rPr kumimoji="1" lang="en-US" altLang="zh-CN" dirty="0">
                <a:solidFill>
                  <a:srgbClr val="FFFF00"/>
                </a:solidFill>
                <a:ea typeface="黑体" panose="02010609060101010101" pitchFamily="49" charset="-122"/>
              </a:rPr>
              <a:t>G</a:t>
            </a:r>
            <a:r>
              <a:rPr kumimoji="1" lang="en-US" altLang="zh-CN" b="0" baseline="-25000" dirty="0">
                <a:solidFill>
                  <a:srgbClr val="FFFF00"/>
                </a:solidFill>
                <a:ea typeface="黑体" panose="02010609060101010101" pitchFamily="49" charset="-122"/>
              </a:rPr>
              <a:t>i</a:t>
            </a:r>
          </a:p>
        </p:txBody>
      </p:sp>
      <p:sp>
        <p:nvSpPr>
          <p:cNvPr id="10" name="Rectangle 7">
            <a:extLst>
              <a:ext uri="{FF2B5EF4-FFF2-40B4-BE49-F238E27FC236}">
                <a16:creationId xmlns:a16="http://schemas.microsoft.com/office/drawing/2014/main" id="{E3F4230D-CCF8-D428-C8CE-7235D4D1390A}"/>
              </a:ext>
            </a:extLst>
          </p:cNvPr>
          <p:cNvSpPr>
            <a:spLocks noChangeArrowheads="1"/>
          </p:cNvSpPr>
          <p:nvPr/>
        </p:nvSpPr>
        <p:spPr bwMode="auto">
          <a:xfrm>
            <a:off x="10713405" y="4238625"/>
            <a:ext cx="561975" cy="477837"/>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0" i="0">
                <a:solidFill>
                  <a:srgbClr val="FFFF00"/>
                </a:solidFill>
                <a:ea typeface="黑体" panose="02010609060101010101" pitchFamily="49" charset="-122"/>
                <a:sym typeface="Symbol" panose="05050102010706020507" pitchFamily="18" charset="2"/>
              </a:rPr>
              <a:t></a:t>
            </a:r>
            <a:r>
              <a:rPr kumimoji="1" lang="en-US" altLang="zh-CN">
                <a:solidFill>
                  <a:srgbClr val="FFFF00"/>
                </a:solidFill>
                <a:ea typeface="黑体" panose="02010609060101010101" pitchFamily="49" charset="-122"/>
              </a:rPr>
              <a:t>G</a:t>
            </a:r>
            <a:r>
              <a:rPr kumimoji="1" lang="en-US" altLang="zh-CN" b="0" baseline="-25000">
                <a:solidFill>
                  <a:srgbClr val="FFFF00"/>
                </a:solidFill>
                <a:ea typeface="黑体" panose="02010609060101010101" pitchFamily="49" charset="-122"/>
              </a:rPr>
              <a:t>k</a:t>
            </a:r>
          </a:p>
        </p:txBody>
      </p:sp>
      <p:sp>
        <p:nvSpPr>
          <p:cNvPr id="11" name="Line 8">
            <a:extLst>
              <a:ext uri="{FF2B5EF4-FFF2-40B4-BE49-F238E27FC236}">
                <a16:creationId xmlns:a16="http://schemas.microsoft.com/office/drawing/2014/main" id="{334E6C14-D0E9-3D75-6C89-3E37B87F6010}"/>
              </a:ext>
            </a:extLst>
          </p:cNvPr>
          <p:cNvSpPr>
            <a:spLocks noChangeShapeType="1"/>
          </p:cNvSpPr>
          <p:nvPr/>
        </p:nvSpPr>
        <p:spPr bwMode="auto">
          <a:xfrm>
            <a:off x="10484805" y="2209800"/>
            <a:ext cx="0" cy="1103312"/>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en-US" b="0" i="0">
              <a:solidFill>
                <a:srgbClr val="FFFFFF"/>
              </a:solidFill>
              <a:ea typeface="黑体" panose="02010609060101010101" pitchFamily="49" charset="-122"/>
            </a:endParaRPr>
          </a:p>
        </p:txBody>
      </p:sp>
      <p:pic>
        <p:nvPicPr>
          <p:cNvPr id="12" name="Picture 9">
            <a:extLst>
              <a:ext uri="{FF2B5EF4-FFF2-40B4-BE49-F238E27FC236}">
                <a16:creationId xmlns:a16="http://schemas.microsoft.com/office/drawing/2014/main" id="{7E153F02-2220-7455-B9B9-996F4D39D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0492" y="2286000"/>
            <a:ext cx="3048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0">
            <a:extLst>
              <a:ext uri="{FF2B5EF4-FFF2-40B4-BE49-F238E27FC236}">
                <a16:creationId xmlns:a16="http://schemas.microsoft.com/office/drawing/2014/main" id="{45F9EC41-3C42-D01C-0C01-1F756566867E}"/>
              </a:ext>
            </a:extLst>
          </p:cNvPr>
          <p:cNvSpPr>
            <a:spLocks noChangeArrowheads="1"/>
          </p:cNvSpPr>
          <p:nvPr/>
        </p:nvSpPr>
        <p:spPr bwMode="auto">
          <a:xfrm>
            <a:off x="10587992" y="3195637"/>
            <a:ext cx="257175" cy="238125"/>
          </a:xfrm>
          <a:prstGeom prst="rect">
            <a:avLst/>
          </a:prstGeom>
          <a:noFill/>
          <a:ln>
            <a:noFill/>
          </a:ln>
          <a:effectLst/>
        </p:spPr>
        <p:txBody>
          <a:bodyPr wrap="none" anchor="ctr"/>
          <a:lstStyle/>
          <a:p>
            <a:pPr algn="ctr"/>
            <a:r>
              <a:rPr kumimoji="1" lang="en-US" altLang="zh-CN" b="0" dirty="0">
                <a:ea typeface="黑体" panose="02010609060101010101" pitchFamily="49" charset="-122"/>
              </a:rPr>
              <a:t>C</a:t>
            </a:r>
          </a:p>
        </p:txBody>
      </p:sp>
      <p:sp>
        <p:nvSpPr>
          <p:cNvPr id="14" name="Text Box 9">
            <a:extLst>
              <a:ext uri="{FF2B5EF4-FFF2-40B4-BE49-F238E27FC236}">
                <a16:creationId xmlns:a16="http://schemas.microsoft.com/office/drawing/2014/main" id="{25D70F99-2548-3461-CB9E-DD3A7318128C}"/>
              </a:ext>
            </a:extLst>
          </p:cNvPr>
          <p:cNvSpPr txBox="1">
            <a:spLocks noChangeArrowheads="1"/>
          </p:cNvSpPr>
          <p:nvPr/>
        </p:nvSpPr>
        <p:spPr bwMode="auto">
          <a:xfrm>
            <a:off x="4655840" y="5615727"/>
            <a:ext cx="2736304" cy="66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en-US" altLang="zh-CN" sz="3200" dirty="0">
                <a:latin typeface="Times New Roman" panose="02020603050405020304" pitchFamily="18" charset="0"/>
                <a:ea typeface="黑体" panose="02010609060101010101" pitchFamily="49" charset="-122"/>
              </a:rPr>
              <a:t>G</a:t>
            </a:r>
            <a:r>
              <a:rPr lang="en-US" altLang="zh-CN" sz="3200" b="0" i="0" dirty="0">
                <a:latin typeface="Times New Roman" panose="02020603050405020304" pitchFamily="18" charset="0"/>
                <a:ea typeface="黑体" panose="02010609060101010101" pitchFamily="49" charset="-122"/>
              </a:rPr>
              <a:t>=∑(</a:t>
            </a:r>
            <a:r>
              <a:rPr lang="en-US" altLang="zh-CN" sz="3200" b="0" i="0" dirty="0">
                <a:latin typeface="Times New Roman" panose="02020603050405020304" pitchFamily="18" charset="0"/>
                <a:ea typeface="黑体" panose="02010609060101010101" pitchFamily="49" charset="-122"/>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rPr>
              <a:t>G</a:t>
            </a:r>
            <a:r>
              <a:rPr lang="en-US" altLang="zh-CN" sz="3200" b="0" baseline="-25000" dirty="0" err="1">
                <a:latin typeface="Times New Roman" panose="02020603050405020304" pitchFamily="18" charset="0"/>
                <a:ea typeface="黑体" panose="02010609060101010101" pitchFamily="49" charset="-122"/>
              </a:rPr>
              <a:t>k</a:t>
            </a:r>
            <a:r>
              <a:rPr lang="en-US" altLang="zh-CN" sz="3200" b="0" i="0" dirty="0">
                <a:latin typeface="Times New Roman" panose="02020603050405020304" pitchFamily="18" charset="0"/>
                <a:ea typeface="黑体" panose="02010609060101010101" pitchFamily="49" charset="-122"/>
              </a:rPr>
              <a:t>)</a:t>
            </a:r>
            <a:r>
              <a:rPr lang="zh-CN" altLang="en-US" sz="2800" i="0" dirty="0">
                <a:latin typeface="+mn-lt"/>
                <a:ea typeface="微软雅黑" panose="020B0503020204020204" pitchFamily="34" charset="-122"/>
              </a:rPr>
              <a:t> </a:t>
            </a:r>
          </a:p>
        </p:txBody>
      </p:sp>
    </p:spTree>
    <p:extLst>
      <p:ext uri="{BB962C8B-B14F-4D97-AF65-F5344CB8AC3E}">
        <p14:creationId xmlns:p14="http://schemas.microsoft.com/office/powerpoint/2010/main" val="22465363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Top)">
                                      <p:cBhvr>
                                        <p:cTn id="7" dur="3000"/>
                                        <p:tgtEl>
                                          <p:spTgt spid="6"/>
                                        </p:tgtEl>
                                      </p:cBhvr>
                                    </p:animEffect>
                                  </p:childTnLst>
                                </p:cTn>
                              </p:par>
                              <p:par>
                                <p:cTn id="8" presetID="19"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5000" fill="hold"/>
                                        <p:tgtEl>
                                          <p:spTgt spid="9"/>
                                        </p:tgtEl>
                                        <p:attrNameLst>
                                          <p:attrName>ppt_w</p:attrName>
                                        </p:attrNameLst>
                                      </p:cBhvr>
                                      <p:tavLst>
                                        <p:tav tm="0" fmla="#ppt_w*sin(2.5*pi*$)">
                                          <p:val>
                                            <p:fltVal val="0"/>
                                          </p:val>
                                        </p:tav>
                                        <p:tav tm="100000">
                                          <p:val>
                                            <p:fltVal val="1"/>
                                          </p:val>
                                        </p:tav>
                                      </p:tavLst>
                                    </p:anim>
                                    <p:anim calcmode="lin" valueType="num">
                                      <p:cBhvr>
                                        <p:cTn id="11" dur="5000" fill="hold"/>
                                        <p:tgtEl>
                                          <p:spTgt spid="9"/>
                                        </p:tgtEl>
                                        <p:attrNameLst>
                                          <p:attrName>ppt_h</p:attrName>
                                        </p:attrNameLst>
                                      </p:cBhvr>
                                      <p:tavLst>
                                        <p:tav tm="0">
                                          <p:val>
                                            <p:strVal val="#ppt_h"/>
                                          </p:val>
                                        </p:tav>
                                        <p:tav tm="100000">
                                          <p:val>
                                            <p:strVal val="#ppt_h"/>
                                          </p:val>
                                        </p:tav>
                                      </p:tavLst>
                                    </p:anim>
                                  </p:childTnLst>
                                </p:cTn>
                              </p:par>
                              <p:par>
                                <p:cTn id="12" presetID="12" presetClass="entr" presetSubtype="1"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slide(fromTop)">
                                      <p:cBhvr>
                                        <p:cTn id="14" dur="3000"/>
                                        <p:tgtEl>
                                          <p:spTgt spid="4"/>
                                        </p:tgtEl>
                                      </p:cBhvr>
                                    </p:animEffect>
                                  </p:childTnLst>
                                </p:cTn>
                              </p:par>
                              <p:par>
                                <p:cTn id="15" presetID="19" presetClass="entr" presetSubtype="1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0" fill="hold"/>
                                        <p:tgtEl>
                                          <p:spTgt spid="10"/>
                                        </p:tgtEl>
                                        <p:attrNameLst>
                                          <p:attrName>ppt_w</p:attrName>
                                        </p:attrNameLst>
                                      </p:cBhvr>
                                      <p:tavLst>
                                        <p:tav tm="0" fmla="#ppt_w*sin(2.5*pi*$)">
                                          <p:val>
                                            <p:fltVal val="0"/>
                                          </p:val>
                                        </p:tav>
                                        <p:tav tm="100000">
                                          <p:val>
                                            <p:fltVal val="1"/>
                                          </p:val>
                                        </p:tav>
                                      </p:tavLst>
                                    </p:anim>
                                    <p:anim calcmode="lin" valueType="num">
                                      <p:cBhvr>
                                        <p:cTn id="18" dur="5000" fill="hold"/>
                                        <p:tgtEl>
                                          <p:spTgt spid="10"/>
                                        </p:tgtEl>
                                        <p:attrNameLst>
                                          <p:attrName>ppt_h</p:attrName>
                                        </p:attrNameLst>
                                      </p:cBhvr>
                                      <p:tavLst>
                                        <p:tav tm="0">
                                          <p:val>
                                            <p:strVal val="#ppt_h"/>
                                          </p:val>
                                        </p:tav>
                                        <p:tav tm="100000">
                                          <p:val>
                                            <p:strVal val="#ppt_h"/>
                                          </p:val>
                                        </p:tav>
                                      </p:tavLst>
                                    </p:anim>
                                  </p:childTnLst>
                                </p:cTn>
                              </p:par>
                            </p:childTnLst>
                          </p:cTn>
                        </p:par>
                        <p:par>
                          <p:cTn id="19" fill="hold">
                            <p:stCondLst>
                              <p:cond delay="5000"/>
                            </p:stCondLst>
                            <p:childTnLst>
                              <p:par>
                                <p:cTn id="20" presetID="1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lide(fromTop)">
                                      <p:cBhvr>
                                        <p:cTn id="22" dur="3000"/>
                                        <p:tgtEl>
                                          <p:spTgt spid="11"/>
                                        </p:tgtEl>
                                      </p:cBhvr>
                                    </p:animEffect>
                                  </p:childTnLst>
                                </p:cTn>
                              </p:par>
                              <p:par>
                                <p:cTn id="23" presetID="19"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0" fill="hold"/>
                                        <p:tgtEl>
                                          <p:spTgt spid="8"/>
                                        </p:tgtEl>
                                        <p:attrNameLst>
                                          <p:attrName>ppt_w</p:attrName>
                                        </p:attrNameLst>
                                      </p:cBhvr>
                                      <p:tavLst>
                                        <p:tav tm="0" fmla="#ppt_w*sin(2.5*pi*$)">
                                          <p:val>
                                            <p:fltVal val="0"/>
                                          </p:val>
                                        </p:tav>
                                        <p:tav tm="100000">
                                          <p:val>
                                            <p:fltVal val="1"/>
                                          </p:val>
                                        </p:tav>
                                      </p:tavLst>
                                    </p:anim>
                                    <p:anim calcmode="lin" valueType="num">
                                      <p:cBhvr>
                                        <p:cTn id="26" dur="5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8" grpId="0"/>
      <p:bldP spid="9" grpId="0"/>
      <p:bldP spid="10" grpId="0"/>
      <p:bldP spid="1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51347" y="859029"/>
            <a:ext cx="6984776"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zh-CN" altLang="en-US" sz="2800" i="0" dirty="0">
                <a:latin typeface="+mn-lt"/>
                <a:ea typeface="微软雅黑" panose="020B0503020204020204" pitchFamily="34" charset="-122"/>
              </a:rPr>
              <a:t>若合力作用点为</a:t>
            </a:r>
            <a:r>
              <a:rPr lang="en-US" altLang="zh-CN" sz="2800" dirty="0">
                <a:latin typeface="+mn-lt"/>
                <a:ea typeface="微软雅黑" panose="020B0503020204020204" pitchFamily="34" charset="-122"/>
              </a:rPr>
              <a:t>C</a:t>
            </a:r>
            <a:r>
              <a:rPr lang="en-US" altLang="zh-CN"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x</a:t>
            </a:r>
            <a:r>
              <a:rPr lang="en-US" altLang="zh-CN" sz="2800" b="0" baseline="-25000" dirty="0" err="1">
                <a:latin typeface="+mn-lt"/>
                <a:ea typeface="微软雅黑" panose="020B0503020204020204" pitchFamily="34" charset="-122"/>
              </a:rPr>
              <a:t>C</a:t>
            </a:r>
            <a:r>
              <a:rPr lang="zh-CN" altLang="en-US" sz="2800" b="0" i="0" dirty="0">
                <a:latin typeface="+mn-lt"/>
                <a:ea typeface="微软雅黑" panose="020B0503020204020204" pitchFamily="34" charset="-122"/>
              </a:rPr>
              <a:t>、</a:t>
            </a:r>
            <a:r>
              <a:rPr lang="en-US" altLang="zh-CN" sz="2800" b="0" dirty="0" err="1">
                <a:latin typeface="+mn-lt"/>
                <a:ea typeface="微软雅黑" panose="020B0503020204020204" pitchFamily="34" charset="-122"/>
              </a:rPr>
              <a:t>y</a:t>
            </a:r>
            <a:r>
              <a:rPr lang="en-US" altLang="zh-CN" sz="2800" b="0" baseline="-25000" dirty="0" err="1">
                <a:latin typeface="+mn-lt"/>
                <a:ea typeface="微软雅黑" panose="020B0503020204020204" pitchFamily="34" charset="-122"/>
              </a:rPr>
              <a:t>C</a:t>
            </a:r>
            <a:r>
              <a:rPr lang="zh-CN" altLang="en-US" sz="2800" b="0" i="0" dirty="0">
                <a:latin typeface="+mn-lt"/>
                <a:ea typeface="微软雅黑" panose="020B0503020204020204" pitchFamily="34" charset="-122"/>
              </a:rPr>
              <a:t>、</a:t>
            </a:r>
            <a:r>
              <a:rPr lang="en-US" altLang="zh-CN" sz="2800" b="0" dirty="0" err="1">
                <a:latin typeface="+mn-lt"/>
                <a:ea typeface="微软雅黑" panose="020B0503020204020204" pitchFamily="34" charset="-122"/>
              </a:rPr>
              <a:t>z</a:t>
            </a:r>
            <a:r>
              <a:rPr lang="en-US" altLang="zh-CN" sz="2800" b="0" baseline="-25000" dirty="0" err="1">
                <a:latin typeface="+mn-lt"/>
                <a:ea typeface="微软雅黑" panose="020B0503020204020204" pitchFamily="34" charset="-122"/>
              </a:rPr>
              <a:t>C</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，根据合力矩定理，对</a:t>
            </a:r>
            <a:r>
              <a:rPr lang="en-US" altLang="zh-CN" sz="2800" dirty="0">
                <a:latin typeface="+mn-lt"/>
                <a:ea typeface="微软雅黑" panose="020B0503020204020204" pitchFamily="34" charset="-122"/>
              </a:rPr>
              <a:t>y </a:t>
            </a:r>
            <a:r>
              <a:rPr lang="zh-CN" altLang="en-US" sz="2800" i="0" dirty="0">
                <a:latin typeface="+mn-lt"/>
                <a:ea typeface="微软雅黑" panose="020B0503020204020204" pitchFamily="34" charset="-122"/>
              </a:rPr>
              <a:t>轴则有</a:t>
            </a:r>
          </a:p>
        </p:txBody>
      </p:sp>
      <p:sp>
        <p:nvSpPr>
          <p:cNvPr id="3" name="Rectangle 61">
            <a:extLst>
              <a:ext uri="{FF2B5EF4-FFF2-40B4-BE49-F238E27FC236}">
                <a16:creationId xmlns:a16="http://schemas.microsoft.com/office/drawing/2014/main" id="{A087FACB-094E-0168-BC17-D516343CD459}"/>
              </a:ext>
            </a:extLst>
          </p:cNvPr>
          <p:cNvSpPr>
            <a:spLocks noChangeArrowheads="1"/>
          </p:cNvSpPr>
          <p:nvPr/>
        </p:nvSpPr>
        <p:spPr bwMode="auto">
          <a:xfrm>
            <a:off x="8112224" y="1340768"/>
            <a:ext cx="3960440" cy="4320480"/>
          </a:xfrm>
          <a:prstGeom prst="rect">
            <a:avLst/>
          </a:prstGeom>
          <a:solidFill>
            <a:schemeClr val="accent2"/>
          </a:solidFill>
          <a:ln>
            <a:noFill/>
          </a:ln>
          <a:effectLst/>
        </p:spPr>
        <p:txBody>
          <a:bodyPr wrap="none" anchor="ctr"/>
          <a:lstStyle/>
          <a:p>
            <a:endParaRPr lang="zh-CN" altLang="en-US" dirty="0"/>
          </a:p>
        </p:txBody>
      </p:sp>
      <p:sp>
        <p:nvSpPr>
          <p:cNvPr id="44" name="AutoShape 2">
            <a:extLst>
              <a:ext uri="{FF2B5EF4-FFF2-40B4-BE49-F238E27FC236}">
                <a16:creationId xmlns:a16="http://schemas.microsoft.com/office/drawing/2014/main" id="{39DFB29A-4B31-90B8-1728-17930076AE2F}"/>
              </a:ext>
            </a:extLst>
          </p:cNvPr>
          <p:cNvSpPr>
            <a:spLocks noChangeArrowheads="1"/>
          </p:cNvSpPr>
          <p:nvPr/>
        </p:nvSpPr>
        <p:spPr bwMode="auto">
          <a:xfrm>
            <a:off x="8472264" y="3855111"/>
            <a:ext cx="3195638" cy="1003300"/>
          </a:xfrm>
          <a:prstGeom prst="parallelogram">
            <a:avLst>
              <a:gd name="adj" fmla="val 96365"/>
            </a:avLst>
          </a:prstGeom>
          <a:gradFill rotWithShape="1">
            <a:gsLst>
              <a:gs pos="0">
                <a:srgbClr val="0099CC"/>
              </a:gs>
              <a:gs pos="100000">
                <a:srgbClr val="0099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Rectangle 3">
            <a:extLst>
              <a:ext uri="{FF2B5EF4-FFF2-40B4-BE49-F238E27FC236}">
                <a16:creationId xmlns:a16="http://schemas.microsoft.com/office/drawing/2014/main" id="{3ABDCA97-AE44-70E5-777F-01DF40D2B4BD}"/>
              </a:ext>
            </a:extLst>
          </p:cNvPr>
          <p:cNvSpPr>
            <a:spLocks noChangeArrowheads="1"/>
          </p:cNvSpPr>
          <p:nvPr/>
        </p:nvSpPr>
        <p:spPr bwMode="auto">
          <a:xfrm>
            <a:off x="9212039" y="2623211"/>
            <a:ext cx="736600" cy="1473200"/>
          </a:xfrm>
          <a:prstGeom prst="rect">
            <a:avLst/>
          </a:prstGeom>
          <a:noFill/>
          <a:ln w="19050">
            <a:solidFill>
              <a:srgbClr val="FF0000"/>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4">
            <a:extLst>
              <a:ext uri="{FF2B5EF4-FFF2-40B4-BE49-F238E27FC236}">
                <a16:creationId xmlns:a16="http://schemas.microsoft.com/office/drawing/2014/main" id="{E8E01146-41D2-49BA-7087-2FDF48A1096F}"/>
              </a:ext>
            </a:extLst>
          </p:cNvPr>
          <p:cNvSpPr>
            <a:spLocks noChangeArrowheads="1"/>
          </p:cNvSpPr>
          <p:nvPr/>
        </p:nvSpPr>
        <p:spPr bwMode="auto">
          <a:xfrm>
            <a:off x="8913589" y="3055011"/>
            <a:ext cx="1377950" cy="1358900"/>
          </a:xfrm>
          <a:prstGeom prst="rect">
            <a:avLst/>
          </a:prstGeom>
          <a:noFill/>
          <a:ln w="19050">
            <a:solidFill>
              <a:srgbClr val="FF0000"/>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5">
            <a:extLst>
              <a:ext uri="{FF2B5EF4-FFF2-40B4-BE49-F238E27FC236}">
                <a16:creationId xmlns:a16="http://schemas.microsoft.com/office/drawing/2014/main" id="{DF779DBB-C9E9-BD9F-B8E1-B71E0B3BA0E2}"/>
              </a:ext>
            </a:extLst>
          </p:cNvPr>
          <p:cNvSpPr>
            <a:spLocks noChangeArrowheads="1"/>
          </p:cNvSpPr>
          <p:nvPr/>
        </p:nvSpPr>
        <p:spPr bwMode="auto">
          <a:xfrm>
            <a:off x="8672289" y="3556661"/>
            <a:ext cx="1797050" cy="1079500"/>
          </a:xfrm>
          <a:prstGeom prst="rect">
            <a:avLst/>
          </a:prstGeom>
          <a:noFill/>
          <a:ln w="19050">
            <a:solidFill>
              <a:srgbClr val="FF0000"/>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6">
            <a:extLst>
              <a:ext uri="{FF2B5EF4-FFF2-40B4-BE49-F238E27FC236}">
                <a16:creationId xmlns:a16="http://schemas.microsoft.com/office/drawing/2014/main" id="{33C46613-D711-5825-09B2-2B8EC54CE895}"/>
              </a:ext>
            </a:extLst>
          </p:cNvPr>
          <p:cNvSpPr txBox="1">
            <a:spLocks noChangeAspect="1" noChangeArrowheads="1"/>
          </p:cNvSpPr>
          <p:nvPr/>
        </p:nvSpPr>
        <p:spPr bwMode="auto">
          <a:xfrm>
            <a:off x="8154764" y="4564724"/>
            <a:ext cx="522288"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FF00"/>
                </a:solidFill>
                <a:ea typeface="宋体" panose="02010600030101010101" pitchFamily="2" charset="-122"/>
              </a:rPr>
              <a:t>x</a:t>
            </a:r>
          </a:p>
        </p:txBody>
      </p:sp>
      <p:sp>
        <p:nvSpPr>
          <p:cNvPr id="49" name="Text Box 7">
            <a:extLst>
              <a:ext uri="{FF2B5EF4-FFF2-40B4-BE49-F238E27FC236}">
                <a16:creationId xmlns:a16="http://schemas.microsoft.com/office/drawing/2014/main" id="{D391876F-16CF-0C22-6EB3-7341C306D4DA}"/>
              </a:ext>
            </a:extLst>
          </p:cNvPr>
          <p:cNvSpPr txBox="1">
            <a:spLocks noChangeAspect="1" noChangeArrowheads="1"/>
          </p:cNvSpPr>
          <p:nvPr/>
        </p:nvSpPr>
        <p:spPr bwMode="auto">
          <a:xfrm>
            <a:off x="11510739" y="3710649"/>
            <a:ext cx="40005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FF00"/>
                </a:solidFill>
                <a:ea typeface="宋体" panose="02010600030101010101" pitchFamily="2" charset="-122"/>
              </a:rPr>
              <a:t>y</a:t>
            </a:r>
          </a:p>
        </p:txBody>
      </p:sp>
      <p:sp>
        <p:nvSpPr>
          <p:cNvPr id="50" name="Text Box 8">
            <a:extLst>
              <a:ext uri="{FF2B5EF4-FFF2-40B4-BE49-F238E27FC236}">
                <a16:creationId xmlns:a16="http://schemas.microsoft.com/office/drawing/2014/main" id="{E94C8899-BA7C-1FB5-7186-2CD8762B03EE}"/>
              </a:ext>
            </a:extLst>
          </p:cNvPr>
          <p:cNvSpPr txBox="1">
            <a:spLocks noChangeAspect="1" noChangeArrowheads="1"/>
          </p:cNvSpPr>
          <p:nvPr/>
        </p:nvSpPr>
        <p:spPr bwMode="auto">
          <a:xfrm>
            <a:off x="9102502" y="1337336"/>
            <a:ext cx="685800"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FF00"/>
                </a:solidFill>
                <a:ea typeface="宋体" panose="02010600030101010101" pitchFamily="2" charset="-122"/>
              </a:rPr>
              <a:t>z</a:t>
            </a:r>
          </a:p>
        </p:txBody>
      </p:sp>
      <p:sp>
        <p:nvSpPr>
          <p:cNvPr id="51" name="Line 9">
            <a:extLst>
              <a:ext uri="{FF2B5EF4-FFF2-40B4-BE49-F238E27FC236}">
                <a16:creationId xmlns:a16="http://schemas.microsoft.com/office/drawing/2014/main" id="{EA2FEB0C-EEA7-FBC9-45E7-4DC404C8BED1}"/>
              </a:ext>
            </a:extLst>
          </p:cNvPr>
          <p:cNvSpPr>
            <a:spLocks noChangeAspect="1" noChangeShapeType="1"/>
          </p:cNvSpPr>
          <p:nvPr/>
        </p:nvSpPr>
        <p:spPr bwMode="auto">
          <a:xfrm flipV="1">
            <a:off x="9446989" y="1497674"/>
            <a:ext cx="0" cy="2368550"/>
          </a:xfrm>
          <a:prstGeom prst="line">
            <a:avLst/>
          </a:prstGeom>
          <a:noFill/>
          <a:ln w="190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Line 10">
            <a:extLst>
              <a:ext uri="{FF2B5EF4-FFF2-40B4-BE49-F238E27FC236}">
                <a16:creationId xmlns:a16="http://schemas.microsoft.com/office/drawing/2014/main" id="{30742B54-A158-5323-51E3-EDEE35F45109}"/>
              </a:ext>
            </a:extLst>
          </p:cNvPr>
          <p:cNvSpPr>
            <a:spLocks noChangeAspect="1" noChangeShapeType="1"/>
          </p:cNvSpPr>
          <p:nvPr/>
        </p:nvSpPr>
        <p:spPr bwMode="auto">
          <a:xfrm>
            <a:off x="9446989" y="3851936"/>
            <a:ext cx="2339975" cy="0"/>
          </a:xfrm>
          <a:prstGeom prst="line">
            <a:avLst/>
          </a:prstGeom>
          <a:noFill/>
          <a:ln w="190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Line 11">
            <a:extLst>
              <a:ext uri="{FF2B5EF4-FFF2-40B4-BE49-F238E27FC236}">
                <a16:creationId xmlns:a16="http://schemas.microsoft.com/office/drawing/2014/main" id="{EB3047B1-E8D4-1980-F71F-0829026C669F}"/>
              </a:ext>
            </a:extLst>
          </p:cNvPr>
          <p:cNvSpPr>
            <a:spLocks noChangeAspect="1" noChangeShapeType="1"/>
          </p:cNvSpPr>
          <p:nvPr/>
        </p:nvSpPr>
        <p:spPr bwMode="auto">
          <a:xfrm flipH="1">
            <a:off x="8402414" y="3851936"/>
            <a:ext cx="1042988" cy="1081088"/>
          </a:xfrm>
          <a:prstGeom prst="line">
            <a:avLst/>
          </a:prstGeom>
          <a:noFill/>
          <a:ln w="190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Line 12">
            <a:extLst>
              <a:ext uri="{FF2B5EF4-FFF2-40B4-BE49-F238E27FC236}">
                <a16:creationId xmlns:a16="http://schemas.microsoft.com/office/drawing/2014/main" id="{F671D610-F079-5961-2B05-B67555E68BAC}"/>
              </a:ext>
            </a:extLst>
          </p:cNvPr>
          <p:cNvSpPr>
            <a:spLocks noChangeShapeType="1"/>
          </p:cNvSpPr>
          <p:nvPr/>
        </p:nvSpPr>
        <p:spPr bwMode="auto">
          <a:xfrm>
            <a:off x="10469339" y="3556661"/>
            <a:ext cx="0" cy="609600"/>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3">
            <a:extLst>
              <a:ext uri="{FF2B5EF4-FFF2-40B4-BE49-F238E27FC236}">
                <a16:creationId xmlns:a16="http://schemas.microsoft.com/office/drawing/2014/main" id="{AB20BA45-61CC-0764-FFB9-02569A0BA3F4}"/>
              </a:ext>
            </a:extLst>
          </p:cNvPr>
          <p:cNvSpPr>
            <a:spLocks noChangeShapeType="1"/>
          </p:cNvSpPr>
          <p:nvPr/>
        </p:nvSpPr>
        <p:spPr bwMode="auto">
          <a:xfrm>
            <a:off x="9948639" y="1973924"/>
            <a:ext cx="0" cy="609600"/>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Text Box 14">
            <a:extLst>
              <a:ext uri="{FF2B5EF4-FFF2-40B4-BE49-F238E27FC236}">
                <a16:creationId xmlns:a16="http://schemas.microsoft.com/office/drawing/2014/main" id="{2D83F84F-1A9A-4A40-B484-4AB58020E51E}"/>
              </a:ext>
            </a:extLst>
          </p:cNvPr>
          <p:cNvSpPr txBox="1">
            <a:spLocks noChangeAspect="1" noChangeArrowheads="1"/>
          </p:cNvSpPr>
          <p:nvPr/>
        </p:nvSpPr>
        <p:spPr bwMode="auto">
          <a:xfrm>
            <a:off x="9072339" y="3459823"/>
            <a:ext cx="533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FF00"/>
                </a:solidFill>
                <a:ea typeface="宋体" panose="02010600030101010101" pitchFamily="2" charset="-122"/>
              </a:rPr>
              <a:t>O</a:t>
            </a:r>
            <a:endParaRPr lang="en-US" altLang="zh-CN">
              <a:solidFill>
                <a:srgbClr val="FFFF00"/>
              </a:solidFill>
            </a:endParaRPr>
          </a:p>
        </p:txBody>
      </p:sp>
      <p:sp>
        <p:nvSpPr>
          <p:cNvPr id="58" name="Line 15">
            <a:extLst>
              <a:ext uri="{FF2B5EF4-FFF2-40B4-BE49-F238E27FC236}">
                <a16:creationId xmlns:a16="http://schemas.microsoft.com/office/drawing/2014/main" id="{B3AC445C-7290-5261-7649-B6B10F0FD8D9}"/>
              </a:ext>
            </a:extLst>
          </p:cNvPr>
          <p:cNvSpPr>
            <a:spLocks noChangeAspect="1" noChangeShapeType="1"/>
          </p:cNvSpPr>
          <p:nvPr/>
        </p:nvSpPr>
        <p:spPr bwMode="auto">
          <a:xfrm flipH="1">
            <a:off x="10496327" y="3840824"/>
            <a:ext cx="766762" cy="795337"/>
          </a:xfrm>
          <a:prstGeom prst="line">
            <a:avLst/>
          </a:prstGeom>
          <a:noFill/>
          <a:ln w="19050">
            <a:solidFill>
              <a:srgbClr val="FF0000"/>
            </a:solidFill>
            <a:prstDash val="lg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6">
            <a:extLst>
              <a:ext uri="{FF2B5EF4-FFF2-40B4-BE49-F238E27FC236}">
                <a16:creationId xmlns:a16="http://schemas.microsoft.com/office/drawing/2014/main" id="{B0E4E742-341B-E32F-20C9-2AA2A99B6CAC}"/>
              </a:ext>
            </a:extLst>
          </p:cNvPr>
          <p:cNvSpPr>
            <a:spLocks noChangeAspect="1" noChangeShapeType="1"/>
          </p:cNvSpPr>
          <p:nvPr/>
        </p:nvSpPr>
        <p:spPr bwMode="auto">
          <a:xfrm flipH="1">
            <a:off x="9956577" y="3859874"/>
            <a:ext cx="214312" cy="222250"/>
          </a:xfrm>
          <a:prstGeom prst="line">
            <a:avLst/>
          </a:prstGeom>
          <a:noFill/>
          <a:ln w="19050">
            <a:solidFill>
              <a:srgbClr val="FF0000"/>
            </a:solidFill>
            <a:prstDash val="lg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17">
            <a:extLst>
              <a:ext uri="{FF2B5EF4-FFF2-40B4-BE49-F238E27FC236}">
                <a16:creationId xmlns:a16="http://schemas.microsoft.com/office/drawing/2014/main" id="{B16D0291-49B3-A7C0-5FCA-D566B627C9B0}"/>
              </a:ext>
            </a:extLst>
          </p:cNvPr>
          <p:cNvSpPr>
            <a:spLocks noChangeAspect="1" noChangeShapeType="1"/>
          </p:cNvSpPr>
          <p:nvPr/>
        </p:nvSpPr>
        <p:spPr bwMode="auto">
          <a:xfrm flipH="1">
            <a:off x="10312177" y="3859874"/>
            <a:ext cx="519112" cy="538162"/>
          </a:xfrm>
          <a:prstGeom prst="line">
            <a:avLst/>
          </a:prstGeom>
          <a:noFill/>
          <a:ln w="19050">
            <a:solidFill>
              <a:srgbClr val="FF0000"/>
            </a:solidFill>
            <a:prstDash val="lg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18">
            <a:extLst>
              <a:ext uri="{FF2B5EF4-FFF2-40B4-BE49-F238E27FC236}">
                <a16:creationId xmlns:a16="http://schemas.microsoft.com/office/drawing/2014/main" id="{BCFE0C42-FDC1-971F-AF1F-44B9CE6E7BE8}"/>
              </a:ext>
            </a:extLst>
          </p:cNvPr>
          <p:cNvSpPr txBox="1">
            <a:spLocks noChangeAspect="1" noChangeArrowheads="1"/>
          </p:cNvSpPr>
          <p:nvPr/>
        </p:nvSpPr>
        <p:spPr bwMode="auto">
          <a:xfrm>
            <a:off x="10447114" y="3856699"/>
            <a:ext cx="5461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x</a:t>
            </a:r>
            <a:r>
              <a:rPr lang="en-US" altLang="zh-CN" i="1" baseline="-25000">
                <a:ea typeface="宋体" panose="02010600030101010101" pitchFamily="2" charset="-122"/>
              </a:rPr>
              <a:t>C</a:t>
            </a:r>
          </a:p>
        </p:txBody>
      </p:sp>
      <p:sp>
        <p:nvSpPr>
          <p:cNvPr id="62" name="Text Box 19">
            <a:extLst>
              <a:ext uri="{FF2B5EF4-FFF2-40B4-BE49-F238E27FC236}">
                <a16:creationId xmlns:a16="http://schemas.microsoft.com/office/drawing/2014/main" id="{2B26DA7C-769E-39F6-43AE-37D4E003ADD9}"/>
              </a:ext>
            </a:extLst>
          </p:cNvPr>
          <p:cNvSpPr txBox="1">
            <a:spLocks noChangeAspect="1" noChangeArrowheads="1"/>
          </p:cNvSpPr>
          <p:nvPr/>
        </p:nvSpPr>
        <p:spPr bwMode="auto">
          <a:xfrm>
            <a:off x="10927879" y="3929592"/>
            <a:ext cx="52228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dirty="0" err="1">
                <a:ea typeface="宋体" panose="02010600030101010101" pitchFamily="2" charset="-122"/>
              </a:rPr>
              <a:t>x</a:t>
            </a:r>
            <a:r>
              <a:rPr lang="en-US" altLang="zh-CN" i="1" baseline="-25000" dirty="0" err="1">
                <a:ea typeface="宋体" panose="02010600030101010101" pitchFamily="2" charset="-122"/>
              </a:rPr>
              <a:t>k</a:t>
            </a:r>
            <a:endParaRPr lang="en-US" altLang="zh-CN" i="1" baseline="-25000" dirty="0">
              <a:ea typeface="宋体" panose="02010600030101010101" pitchFamily="2" charset="-122"/>
            </a:endParaRPr>
          </a:p>
        </p:txBody>
      </p:sp>
      <p:sp>
        <p:nvSpPr>
          <p:cNvPr id="63" name="Text Box 20">
            <a:extLst>
              <a:ext uri="{FF2B5EF4-FFF2-40B4-BE49-F238E27FC236}">
                <a16:creationId xmlns:a16="http://schemas.microsoft.com/office/drawing/2014/main" id="{62EC99DB-912C-1E75-4197-C7532EDCE2C8}"/>
              </a:ext>
            </a:extLst>
          </p:cNvPr>
          <p:cNvSpPr txBox="1">
            <a:spLocks noChangeAspect="1" noChangeArrowheads="1"/>
          </p:cNvSpPr>
          <p:nvPr/>
        </p:nvSpPr>
        <p:spPr bwMode="auto">
          <a:xfrm>
            <a:off x="9935939" y="3821774"/>
            <a:ext cx="5222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x</a:t>
            </a:r>
            <a:r>
              <a:rPr lang="en-US" altLang="zh-CN" i="1" baseline="-25000">
                <a:ea typeface="宋体" panose="02010600030101010101" pitchFamily="2" charset="-122"/>
              </a:rPr>
              <a:t>i</a:t>
            </a:r>
          </a:p>
        </p:txBody>
      </p:sp>
      <p:sp>
        <p:nvSpPr>
          <p:cNvPr id="64" name="Text Box 21">
            <a:extLst>
              <a:ext uri="{FF2B5EF4-FFF2-40B4-BE49-F238E27FC236}">
                <a16:creationId xmlns:a16="http://schemas.microsoft.com/office/drawing/2014/main" id="{0ABB980F-573E-864C-E54E-E8AC6CC490B9}"/>
              </a:ext>
            </a:extLst>
          </p:cNvPr>
          <p:cNvSpPr txBox="1">
            <a:spLocks noChangeAspect="1" noChangeArrowheads="1"/>
          </p:cNvSpPr>
          <p:nvPr/>
        </p:nvSpPr>
        <p:spPr bwMode="auto">
          <a:xfrm>
            <a:off x="9253314" y="3970999"/>
            <a:ext cx="560388"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dirty="0" err="1">
                <a:ea typeface="宋体" panose="02010600030101010101" pitchFamily="2" charset="-122"/>
              </a:rPr>
              <a:t>y</a:t>
            </a:r>
            <a:r>
              <a:rPr lang="en-US" altLang="zh-CN" i="1" baseline="-25000" dirty="0" err="1">
                <a:ea typeface="宋体" panose="02010600030101010101" pitchFamily="2" charset="-122"/>
              </a:rPr>
              <a:t>C</a:t>
            </a:r>
            <a:endParaRPr lang="en-US" altLang="zh-CN" i="1" baseline="-25000" dirty="0">
              <a:ea typeface="宋体" panose="02010600030101010101" pitchFamily="2" charset="-122"/>
            </a:endParaRPr>
          </a:p>
        </p:txBody>
      </p:sp>
      <p:sp>
        <p:nvSpPr>
          <p:cNvPr id="65" name="Text Box 22">
            <a:extLst>
              <a:ext uri="{FF2B5EF4-FFF2-40B4-BE49-F238E27FC236}">
                <a16:creationId xmlns:a16="http://schemas.microsoft.com/office/drawing/2014/main" id="{0D4526ED-4B98-B394-B21C-54964A01C906}"/>
              </a:ext>
            </a:extLst>
          </p:cNvPr>
          <p:cNvSpPr txBox="1">
            <a:spLocks noChangeAspect="1" noChangeArrowheads="1"/>
          </p:cNvSpPr>
          <p:nvPr/>
        </p:nvSpPr>
        <p:spPr bwMode="auto">
          <a:xfrm>
            <a:off x="9446927" y="4473223"/>
            <a:ext cx="5222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dirty="0" err="1">
                <a:ea typeface="宋体" panose="02010600030101010101" pitchFamily="2" charset="-122"/>
              </a:rPr>
              <a:t>y</a:t>
            </a:r>
            <a:r>
              <a:rPr lang="en-US" altLang="zh-CN" i="1" baseline="-25000" dirty="0" err="1">
                <a:ea typeface="宋体" panose="02010600030101010101" pitchFamily="2" charset="-122"/>
              </a:rPr>
              <a:t>k</a:t>
            </a:r>
            <a:endParaRPr lang="en-US" altLang="zh-CN" i="1" baseline="-25000" dirty="0">
              <a:ea typeface="宋体" panose="02010600030101010101" pitchFamily="2" charset="-122"/>
            </a:endParaRPr>
          </a:p>
        </p:txBody>
      </p:sp>
      <p:sp>
        <p:nvSpPr>
          <p:cNvPr id="66" name="Text Box 23">
            <a:extLst>
              <a:ext uri="{FF2B5EF4-FFF2-40B4-BE49-F238E27FC236}">
                <a16:creationId xmlns:a16="http://schemas.microsoft.com/office/drawing/2014/main" id="{1AF478F2-F51B-EFFC-9B34-5670EB2506F8}"/>
              </a:ext>
            </a:extLst>
          </p:cNvPr>
          <p:cNvSpPr txBox="1">
            <a:spLocks noChangeAspect="1" noChangeArrowheads="1"/>
          </p:cNvSpPr>
          <p:nvPr/>
        </p:nvSpPr>
        <p:spPr bwMode="auto">
          <a:xfrm>
            <a:off x="9370789" y="3647148"/>
            <a:ext cx="5222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y</a:t>
            </a:r>
            <a:r>
              <a:rPr lang="en-US" altLang="zh-CN" i="1" baseline="-25000">
                <a:ea typeface="宋体" panose="02010600030101010101" pitchFamily="2" charset="-122"/>
              </a:rPr>
              <a:t>i</a:t>
            </a:r>
          </a:p>
        </p:txBody>
      </p:sp>
      <p:sp>
        <p:nvSpPr>
          <p:cNvPr id="67" name="Text Box 24">
            <a:extLst>
              <a:ext uri="{FF2B5EF4-FFF2-40B4-BE49-F238E27FC236}">
                <a16:creationId xmlns:a16="http://schemas.microsoft.com/office/drawing/2014/main" id="{BF26D2EC-57E9-33FB-E80E-D822AE523DFE}"/>
              </a:ext>
            </a:extLst>
          </p:cNvPr>
          <p:cNvSpPr txBox="1">
            <a:spLocks noChangeAspect="1" noChangeArrowheads="1"/>
          </p:cNvSpPr>
          <p:nvPr/>
        </p:nvSpPr>
        <p:spPr bwMode="auto">
          <a:xfrm>
            <a:off x="8502426" y="3072474"/>
            <a:ext cx="560388"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dirty="0" err="1">
                <a:ea typeface="宋体" panose="02010600030101010101" pitchFamily="2" charset="-122"/>
              </a:rPr>
              <a:t>z</a:t>
            </a:r>
            <a:r>
              <a:rPr lang="en-US" altLang="zh-CN" i="1" baseline="-25000" dirty="0" err="1">
                <a:ea typeface="宋体" panose="02010600030101010101" pitchFamily="2" charset="-122"/>
              </a:rPr>
              <a:t>C</a:t>
            </a:r>
            <a:endParaRPr lang="en-US" altLang="zh-CN" i="1" baseline="-25000" dirty="0">
              <a:ea typeface="宋体" panose="02010600030101010101" pitchFamily="2" charset="-122"/>
            </a:endParaRPr>
          </a:p>
        </p:txBody>
      </p:sp>
      <p:sp>
        <p:nvSpPr>
          <p:cNvPr id="68" name="Text Box 25">
            <a:extLst>
              <a:ext uri="{FF2B5EF4-FFF2-40B4-BE49-F238E27FC236}">
                <a16:creationId xmlns:a16="http://schemas.microsoft.com/office/drawing/2014/main" id="{59A60025-F281-2C32-F38E-F89A5FD20671}"/>
              </a:ext>
            </a:extLst>
          </p:cNvPr>
          <p:cNvSpPr txBox="1">
            <a:spLocks noChangeAspect="1" noChangeArrowheads="1"/>
          </p:cNvSpPr>
          <p:nvPr/>
        </p:nvSpPr>
        <p:spPr bwMode="auto">
          <a:xfrm>
            <a:off x="8307325" y="3821774"/>
            <a:ext cx="5222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dirty="0" err="1">
                <a:ea typeface="宋体" panose="02010600030101010101" pitchFamily="2" charset="-122"/>
              </a:rPr>
              <a:t>z</a:t>
            </a:r>
            <a:r>
              <a:rPr lang="en-US" altLang="zh-CN" i="1" baseline="-25000" dirty="0" err="1">
                <a:ea typeface="宋体" panose="02010600030101010101" pitchFamily="2" charset="-122"/>
              </a:rPr>
              <a:t>k</a:t>
            </a:r>
            <a:endParaRPr lang="en-US" altLang="zh-CN" i="1" baseline="-25000" dirty="0">
              <a:ea typeface="宋体" panose="02010600030101010101" pitchFamily="2" charset="-122"/>
            </a:endParaRPr>
          </a:p>
        </p:txBody>
      </p:sp>
      <p:sp>
        <p:nvSpPr>
          <p:cNvPr id="69" name="Text Box 26">
            <a:extLst>
              <a:ext uri="{FF2B5EF4-FFF2-40B4-BE49-F238E27FC236}">
                <a16:creationId xmlns:a16="http://schemas.microsoft.com/office/drawing/2014/main" id="{372EEB50-5EAD-C07B-F05B-1DE1FE082B5E}"/>
              </a:ext>
            </a:extLst>
          </p:cNvPr>
          <p:cNvSpPr txBox="1">
            <a:spLocks noChangeAspect="1" noChangeArrowheads="1"/>
          </p:cNvSpPr>
          <p:nvPr/>
        </p:nvSpPr>
        <p:spPr bwMode="auto">
          <a:xfrm>
            <a:off x="8875490" y="2551774"/>
            <a:ext cx="52228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ea typeface="宋体" panose="02010600030101010101" pitchFamily="2" charset="-122"/>
              </a:rPr>
              <a:t>z</a:t>
            </a:r>
            <a:r>
              <a:rPr lang="en-US" altLang="zh-CN" i="1" baseline="-25000">
                <a:ea typeface="宋体" panose="02010600030101010101" pitchFamily="2" charset="-122"/>
              </a:rPr>
              <a:t>i</a:t>
            </a:r>
          </a:p>
        </p:txBody>
      </p:sp>
      <p:sp>
        <p:nvSpPr>
          <p:cNvPr id="70" name="Rectangle 27">
            <a:extLst>
              <a:ext uri="{FF2B5EF4-FFF2-40B4-BE49-F238E27FC236}">
                <a16:creationId xmlns:a16="http://schemas.microsoft.com/office/drawing/2014/main" id="{8C30BFA1-D210-08C2-D73B-6C5FB4DD123E}"/>
              </a:ext>
            </a:extLst>
          </p:cNvPr>
          <p:cNvSpPr>
            <a:spLocks noChangeArrowheads="1"/>
          </p:cNvSpPr>
          <p:nvPr/>
        </p:nvSpPr>
        <p:spPr bwMode="auto">
          <a:xfrm>
            <a:off x="9983564" y="4083711"/>
            <a:ext cx="74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solidFill>
                  <a:srgbClr val="FFFF00"/>
                </a:solidFill>
                <a:sym typeface="Symbol" panose="05050102010706020507" pitchFamily="18" charset="2"/>
              </a:rPr>
              <a:t></a:t>
            </a:r>
            <a:r>
              <a:rPr lang="en-US" altLang="zh-CN" b="1" i="1">
                <a:solidFill>
                  <a:srgbClr val="FFFF00"/>
                </a:solidFill>
              </a:rPr>
              <a:t>G</a:t>
            </a:r>
            <a:r>
              <a:rPr lang="en-US" altLang="zh-CN" i="1" baseline="-25000">
                <a:solidFill>
                  <a:srgbClr val="FFFF00"/>
                </a:solidFill>
              </a:rPr>
              <a:t>k</a:t>
            </a:r>
          </a:p>
        </p:txBody>
      </p:sp>
      <p:sp>
        <p:nvSpPr>
          <p:cNvPr id="71" name="Rectangle 30">
            <a:extLst>
              <a:ext uri="{FF2B5EF4-FFF2-40B4-BE49-F238E27FC236}">
                <a16:creationId xmlns:a16="http://schemas.microsoft.com/office/drawing/2014/main" id="{202CAE1D-153F-966D-C1BB-8B5BAC370491}"/>
              </a:ext>
            </a:extLst>
          </p:cNvPr>
          <p:cNvSpPr>
            <a:spLocks noChangeArrowheads="1"/>
          </p:cNvSpPr>
          <p:nvPr/>
        </p:nvSpPr>
        <p:spPr bwMode="auto">
          <a:xfrm>
            <a:off x="10151839" y="1691349"/>
            <a:ext cx="687388" cy="457200"/>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i="1">
                <a:solidFill>
                  <a:srgbClr val="FFFF00"/>
                </a:solidFill>
              </a:rPr>
              <a:t>G</a:t>
            </a:r>
            <a:endParaRPr lang="en-US" altLang="zh-CN" i="1" baseline="-25000">
              <a:solidFill>
                <a:srgbClr val="FFFF00"/>
              </a:solidFill>
            </a:endParaRPr>
          </a:p>
        </p:txBody>
      </p:sp>
      <p:sp>
        <p:nvSpPr>
          <p:cNvPr id="72" name="Rectangle 31">
            <a:extLst>
              <a:ext uri="{FF2B5EF4-FFF2-40B4-BE49-F238E27FC236}">
                <a16:creationId xmlns:a16="http://schemas.microsoft.com/office/drawing/2014/main" id="{DEE4C6E1-3144-E540-4819-B765755F6D9B}"/>
              </a:ext>
            </a:extLst>
          </p:cNvPr>
          <p:cNvSpPr>
            <a:spLocks noChangeArrowheads="1"/>
          </p:cNvSpPr>
          <p:nvPr/>
        </p:nvSpPr>
        <p:spPr bwMode="auto">
          <a:xfrm>
            <a:off x="9664477" y="1561174"/>
            <a:ext cx="561975" cy="477837"/>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solidFill>
                  <a:srgbClr val="FFFF00"/>
                </a:solidFill>
                <a:sym typeface="Symbol" panose="05050102010706020507" pitchFamily="18" charset="2"/>
              </a:rPr>
              <a:t></a:t>
            </a:r>
            <a:r>
              <a:rPr lang="en-US" altLang="zh-CN" b="1" i="1">
                <a:solidFill>
                  <a:srgbClr val="FFFF00"/>
                </a:solidFill>
              </a:rPr>
              <a:t>G</a:t>
            </a:r>
            <a:r>
              <a:rPr lang="en-US" altLang="zh-CN" i="1" baseline="-25000">
                <a:solidFill>
                  <a:srgbClr val="FFFF00"/>
                </a:solidFill>
              </a:rPr>
              <a:t>i</a:t>
            </a:r>
          </a:p>
        </p:txBody>
      </p:sp>
      <p:sp>
        <p:nvSpPr>
          <p:cNvPr id="73" name="Line 32">
            <a:extLst>
              <a:ext uri="{FF2B5EF4-FFF2-40B4-BE49-F238E27FC236}">
                <a16:creationId xmlns:a16="http://schemas.microsoft.com/office/drawing/2014/main" id="{589B1758-BB54-A2C2-CA31-BF2E9969B632}"/>
              </a:ext>
            </a:extLst>
          </p:cNvPr>
          <p:cNvSpPr>
            <a:spLocks noChangeShapeType="1"/>
          </p:cNvSpPr>
          <p:nvPr/>
        </p:nvSpPr>
        <p:spPr bwMode="auto">
          <a:xfrm>
            <a:off x="10267727" y="1965986"/>
            <a:ext cx="0" cy="1103313"/>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74" name="Picture 33">
            <a:extLst>
              <a:ext uri="{FF2B5EF4-FFF2-40B4-BE49-F238E27FC236}">
                <a16:creationId xmlns:a16="http://schemas.microsoft.com/office/drawing/2014/main" id="{08C9B493-50F2-DF5E-275C-76DC01CEC9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5639" y="1977099"/>
            <a:ext cx="3048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34">
            <a:extLst>
              <a:ext uri="{FF2B5EF4-FFF2-40B4-BE49-F238E27FC236}">
                <a16:creationId xmlns:a16="http://schemas.microsoft.com/office/drawing/2014/main" id="{84C280C8-76FA-FBAF-12B2-1DD3AA758049}"/>
              </a:ext>
            </a:extLst>
          </p:cNvPr>
          <p:cNvSpPr>
            <a:spLocks noChangeArrowheads="1"/>
          </p:cNvSpPr>
          <p:nvPr/>
        </p:nvSpPr>
        <p:spPr bwMode="auto">
          <a:xfrm>
            <a:off x="10380439" y="2899436"/>
            <a:ext cx="257175" cy="238125"/>
          </a:xfrm>
          <a:prstGeom prst="rect">
            <a:avLst/>
          </a:prstGeom>
          <a:noFill/>
          <a:ln>
            <a:noFill/>
          </a:ln>
          <a:effectLst/>
        </p:spPr>
        <p:txBody>
          <a:bodyPr wrap="none" anchor="ctr"/>
          <a:lstStyle/>
          <a:p>
            <a:r>
              <a:rPr lang="en-US" altLang="zh-CN" i="1" dirty="0"/>
              <a:t>C</a:t>
            </a:r>
          </a:p>
        </p:txBody>
      </p:sp>
      <p:sp>
        <p:nvSpPr>
          <p:cNvPr id="77" name="文本框 76">
            <a:extLst>
              <a:ext uri="{FF2B5EF4-FFF2-40B4-BE49-F238E27FC236}">
                <a16:creationId xmlns:a16="http://schemas.microsoft.com/office/drawing/2014/main" id="{D4C27EE9-6325-6B1A-9844-CB0307E87B34}"/>
              </a:ext>
            </a:extLst>
          </p:cNvPr>
          <p:cNvSpPr txBox="1"/>
          <p:nvPr/>
        </p:nvSpPr>
        <p:spPr>
          <a:xfrm>
            <a:off x="1511945" y="2099991"/>
            <a:ext cx="6115050" cy="523220"/>
          </a:xfrm>
          <a:prstGeom prst="rect">
            <a:avLst/>
          </a:prstGeom>
          <a:noFill/>
        </p:spPr>
        <p:txBody>
          <a:bodyPr wrap="square">
            <a:spAutoFit/>
          </a:bodyPr>
          <a:lstStyle/>
          <a:p>
            <a:r>
              <a:rPr kumimoji="1" lang="en-US" altLang="zh-CN" sz="2800" b="0" i="1" u="none" strike="noStrike" kern="120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cs typeface="+mn-cs"/>
              </a:rPr>
              <a:t>G</a:t>
            </a:r>
            <a:r>
              <a:rPr lang="en-US" altLang="zh-CN" sz="2800" b="0" i="1" dirty="0">
                <a:solidFill>
                  <a:schemeClr val="tx1"/>
                </a:solidFill>
              </a:rPr>
              <a:t> G </a:t>
            </a:r>
            <a:r>
              <a:rPr kumimoji="1" lang="en-US" altLang="zh-CN" sz="28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8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1" lang="en-US" altLang="zh-CN" sz="28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C</a:t>
            </a:r>
            <a:r>
              <a:rPr kumimoji="1"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8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G</a:t>
            </a:r>
            <a:r>
              <a:rPr kumimoji="1" lang="en-US" altLang="zh-CN" sz="28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k</a:t>
            </a:r>
            <a:r>
              <a:rPr kumimoji="1" lang="en-US" altLang="zh-CN" sz="28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8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1" lang="en-US" altLang="zh-CN" sz="28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k</a:t>
            </a:r>
            <a:endParaRPr lang="zh-CN" altLang="en-US" dirty="0">
              <a:solidFill>
                <a:schemeClr val="tx1"/>
              </a:solidFill>
            </a:endParaRPr>
          </a:p>
        </p:txBody>
      </p:sp>
      <p:sp>
        <p:nvSpPr>
          <p:cNvPr id="78" name="Text Box 9">
            <a:extLst>
              <a:ext uri="{FF2B5EF4-FFF2-40B4-BE49-F238E27FC236}">
                <a16:creationId xmlns:a16="http://schemas.microsoft.com/office/drawing/2014/main" id="{3B3D88EF-5868-BCBA-9DFD-13E24E919159}"/>
              </a:ext>
            </a:extLst>
          </p:cNvPr>
          <p:cNvSpPr txBox="1">
            <a:spLocks noChangeArrowheads="1"/>
          </p:cNvSpPr>
          <p:nvPr/>
        </p:nvSpPr>
        <p:spPr bwMode="auto">
          <a:xfrm>
            <a:off x="651347" y="2642922"/>
            <a:ext cx="6984776"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zh-CN" altLang="en-US" sz="2800" i="0" dirty="0">
                <a:latin typeface="+mn-lt"/>
                <a:ea typeface="微软雅黑" panose="020B0503020204020204" pitchFamily="34" charset="-122"/>
              </a:rPr>
              <a:t>同理，对其它两轴应用合力矩定理可得</a:t>
            </a:r>
            <a:r>
              <a:rPr lang="zh-CN" altLang="en-US" sz="2800" i="0" dirty="0">
                <a:solidFill>
                  <a:srgbClr val="FF00FF"/>
                </a:solidFill>
                <a:latin typeface="+mn-lt"/>
                <a:ea typeface="微软雅黑" panose="020B0503020204020204" pitchFamily="34" charset="-122"/>
              </a:rPr>
              <a:t>重心坐标</a:t>
            </a:r>
          </a:p>
        </p:txBody>
      </p:sp>
      <p:sp>
        <p:nvSpPr>
          <p:cNvPr id="79" name="Text Box 28">
            <a:extLst>
              <a:ext uri="{FF2B5EF4-FFF2-40B4-BE49-F238E27FC236}">
                <a16:creationId xmlns:a16="http://schemas.microsoft.com/office/drawing/2014/main" id="{5ED26C60-5698-11DA-1494-F0CB0BBD6164}"/>
              </a:ext>
            </a:extLst>
          </p:cNvPr>
          <p:cNvSpPr txBox="1">
            <a:spLocks noChangeArrowheads="1"/>
          </p:cNvSpPr>
          <p:nvPr/>
        </p:nvSpPr>
        <p:spPr bwMode="auto">
          <a:xfrm>
            <a:off x="1943323" y="3673547"/>
            <a:ext cx="881062"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lang="en-US" altLang="zh-CN" b="0" i="1" dirty="0" err="1">
                <a:solidFill>
                  <a:schemeClr val="tx1"/>
                </a:solidFill>
              </a:rPr>
              <a:t>x</a:t>
            </a:r>
            <a:r>
              <a:rPr lang="en-US" altLang="zh-CN" b="0" i="1" baseline="-25000" dirty="0" err="1">
                <a:solidFill>
                  <a:schemeClr val="tx1"/>
                </a:solidFill>
              </a:rPr>
              <a:t>C</a:t>
            </a:r>
            <a:r>
              <a:rPr lang="en-US" altLang="zh-CN" b="0" dirty="0">
                <a:solidFill>
                  <a:schemeClr val="tx1"/>
                </a:solidFill>
              </a:rPr>
              <a:t> = </a:t>
            </a:r>
          </a:p>
        </p:txBody>
      </p:sp>
      <p:graphicFrame>
        <p:nvGraphicFramePr>
          <p:cNvPr id="80" name="Object 29">
            <a:extLst>
              <a:ext uri="{FF2B5EF4-FFF2-40B4-BE49-F238E27FC236}">
                <a16:creationId xmlns:a16="http://schemas.microsoft.com/office/drawing/2014/main" id="{CEEDD249-37B0-3997-EB88-BA711CA459BE}"/>
              </a:ext>
            </a:extLst>
          </p:cNvPr>
          <p:cNvGraphicFramePr>
            <a:graphicFrameLocks noChangeAspect="1"/>
          </p:cNvGraphicFramePr>
          <p:nvPr>
            <p:extLst>
              <p:ext uri="{D42A27DB-BD31-4B8C-83A1-F6EECF244321}">
                <p14:modId xmlns:p14="http://schemas.microsoft.com/office/powerpoint/2010/main" val="1629224328"/>
              </p:ext>
            </p:extLst>
          </p:nvPr>
        </p:nvGraphicFramePr>
        <p:xfrm>
          <a:off x="2745010" y="3499511"/>
          <a:ext cx="1585913" cy="906463"/>
        </p:xfrm>
        <a:graphic>
          <a:graphicData uri="http://schemas.openxmlformats.org/presentationml/2006/ole">
            <mc:AlternateContent xmlns:mc="http://schemas.openxmlformats.org/markup-compatibility/2006">
              <mc:Choice xmlns:v="urn:schemas-microsoft-com:vml" Requires="v">
                <p:oleObj name="Equation" r:id="rId5" imgW="698400" imgH="393480" progId="Equation.DSMT4">
                  <p:embed/>
                </p:oleObj>
              </mc:Choice>
              <mc:Fallback>
                <p:oleObj name="Equation" r:id="rId5" imgW="698400" imgH="393480" progId="Equation.DSMT4">
                  <p:embed/>
                  <p:pic>
                    <p:nvPicPr>
                      <p:cNvPr id="928797" name="Object 29">
                        <a:extLst>
                          <a:ext uri="{FF2B5EF4-FFF2-40B4-BE49-F238E27FC236}">
                            <a16:creationId xmlns:a16="http://schemas.microsoft.com/office/drawing/2014/main" id="{53DC60A5-B066-2550-B968-DC06C01F0BF4}"/>
                          </a:ext>
                        </a:extLst>
                      </p:cNvPr>
                      <p:cNvPicPr>
                        <a:picLocks noChangeAspect="1" noChangeArrowheads="1"/>
                      </p:cNvPicPr>
                      <p:nvPr/>
                    </p:nvPicPr>
                    <p:blipFill>
                      <a:blip r:embed="rId6"/>
                      <a:srcRect/>
                      <a:stretch>
                        <a:fillRect/>
                      </a:stretch>
                    </p:blipFill>
                    <p:spPr bwMode="auto">
                      <a:xfrm>
                        <a:off x="2745010" y="3499511"/>
                        <a:ext cx="1585913"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 name="Text Box 36">
            <a:extLst>
              <a:ext uri="{FF2B5EF4-FFF2-40B4-BE49-F238E27FC236}">
                <a16:creationId xmlns:a16="http://schemas.microsoft.com/office/drawing/2014/main" id="{EF8BBFC6-43CF-5ACD-7D06-AA2DC994C49A}"/>
              </a:ext>
            </a:extLst>
          </p:cNvPr>
          <p:cNvSpPr txBox="1">
            <a:spLocks noChangeArrowheads="1"/>
          </p:cNvSpPr>
          <p:nvPr/>
        </p:nvSpPr>
        <p:spPr bwMode="auto">
          <a:xfrm>
            <a:off x="1943323" y="4583185"/>
            <a:ext cx="100965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en-US" altLang="zh-CN" b="0" i="1" dirty="0" err="1">
                <a:solidFill>
                  <a:schemeClr val="tx1"/>
                </a:solidFill>
              </a:rPr>
              <a:t>y</a:t>
            </a:r>
            <a:r>
              <a:rPr lang="en-US" altLang="zh-CN" b="0" i="1" baseline="-25000" dirty="0" err="1">
                <a:solidFill>
                  <a:schemeClr val="tx1"/>
                </a:solidFill>
              </a:rPr>
              <a:t>C</a:t>
            </a:r>
            <a:r>
              <a:rPr lang="en-US" altLang="zh-CN" b="0" dirty="0">
                <a:solidFill>
                  <a:schemeClr val="tx1"/>
                </a:solidFill>
              </a:rPr>
              <a:t> = </a:t>
            </a:r>
          </a:p>
        </p:txBody>
      </p:sp>
      <p:graphicFrame>
        <p:nvGraphicFramePr>
          <p:cNvPr id="82" name="Object 37">
            <a:extLst>
              <a:ext uri="{FF2B5EF4-FFF2-40B4-BE49-F238E27FC236}">
                <a16:creationId xmlns:a16="http://schemas.microsoft.com/office/drawing/2014/main" id="{4B8A8F29-7B8F-1E53-402F-27A70778B047}"/>
              </a:ext>
            </a:extLst>
          </p:cNvPr>
          <p:cNvGraphicFramePr>
            <a:graphicFrameLocks noChangeAspect="1"/>
          </p:cNvGraphicFramePr>
          <p:nvPr>
            <p:extLst>
              <p:ext uri="{D42A27DB-BD31-4B8C-83A1-F6EECF244321}">
                <p14:modId xmlns:p14="http://schemas.microsoft.com/office/powerpoint/2010/main" val="3359904716"/>
              </p:ext>
            </p:extLst>
          </p:nvPr>
        </p:nvGraphicFramePr>
        <p:xfrm>
          <a:off x="2676525" y="4401211"/>
          <a:ext cx="1597025" cy="903288"/>
        </p:xfrm>
        <a:graphic>
          <a:graphicData uri="http://schemas.openxmlformats.org/presentationml/2006/ole">
            <mc:AlternateContent xmlns:mc="http://schemas.openxmlformats.org/markup-compatibility/2006">
              <mc:Choice xmlns:v="urn:schemas-microsoft-com:vml" Requires="v">
                <p:oleObj name="Equation" r:id="rId7" imgW="698400" imgH="393480" progId="Equation.DSMT4">
                  <p:embed/>
                </p:oleObj>
              </mc:Choice>
              <mc:Fallback>
                <p:oleObj name="Equation" r:id="rId7" imgW="698400" imgH="393480" progId="Equation.DSMT4">
                  <p:embed/>
                  <p:pic>
                    <p:nvPicPr>
                      <p:cNvPr id="928805" name="Object 37">
                        <a:extLst>
                          <a:ext uri="{FF2B5EF4-FFF2-40B4-BE49-F238E27FC236}">
                            <a16:creationId xmlns:a16="http://schemas.microsoft.com/office/drawing/2014/main" id="{064E4D34-7BF5-D4D3-9F61-9F7BC5FDA21D}"/>
                          </a:ext>
                        </a:extLst>
                      </p:cNvPr>
                      <p:cNvPicPr>
                        <a:picLocks noChangeAspect="1" noChangeArrowheads="1"/>
                      </p:cNvPicPr>
                      <p:nvPr/>
                    </p:nvPicPr>
                    <p:blipFill>
                      <a:blip r:embed="rId8"/>
                      <a:srcRect/>
                      <a:stretch>
                        <a:fillRect/>
                      </a:stretch>
                    </p:blipFill>
                    <p:spPr bwMode="auto">
                      <a:xfrm>
                        <a:off x="2676525" y="4401211"/>
                        <a:ext cx="1597025" cy="903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 name="Object 39">
            <a:extLst>
              <a:ext uri="{FF2B5EF4-FFF2-40B4-BE49-F238E27FC236}">
                <a16:creationId xmlns:a16="http://schemas.microsoft.com/office/drawing/2014/main" id="{CE5C747C-05BA-1B06-AE48-CDDA2490CEF0}"/>
              </a:ext>
            </a:extLst>
          </p:cNvPr>
          <p:cNvGraphicFramePr>
            <a:graphicFrameLocks noChangeAspect="1"/>
          </p:cNvGraphicFramePr>
          <p:nvPr>
            <p:extLst>
              <p:ext uri="{D42A27DB-BD31-4B8C-83A1-F6EECF244321}">
                <p14:modId xmlns:p14="http://schemas.microsoft.com/office/powerpoint/2010/main" val="3146986001"/>
              </p:ext>
            </p:extLst>
          </p:nvPr>
        </p:nvGraphicFramePr>
        <p:xfrm>
          <a:off x="2689225" y="5404511"/>
          <a:ext cx="1560513" cy="904875"/>
        </p:xfrm>
        <a:graphic>
          <a:graphicData uri="http://schemas.openxmlformats.org/presentationml/2006/ole">
            <mc:AlternateContent xmlns:mc="http://schemas.openxmlformats.org/markup-compatibility/2006">
              <mc:Choice xmlns:v="urn:schemas-microsoft-com:vml" Requires="v">
                <p:oleObj name="Equation" r:id="rId9" imgW="685800" imgH="393480" progId="Equation.DSMT4">
                  <p:embed/>
                </p:oleObj>
              </mc:Choice>
              <mc:Fallback>
                <p:oleObj name="Equation" r:id="rId9" imgW="685800" imgH="393480" progId="Equation.DSMT4">
                  <p:embed/>
                  <p:pic>
                    <p:nvPicPr>
                      <p:cNvPr id="928807" name="Object 39">
                        <a:extLst>
                          <a:ext uri="{FF2B5EF4-FFF2-40B4-BE49-F238E27FC236}">
                            <a16:creationId xmlns:a16="http://schemas.microsoft.com/office/drawing/2014/main" id="{7BE7C74E-DE05-9FF5-26BF-689FC13D323A}"/>
                          </a:ext>
                        </a:extLst>
                      </p:cNvPr>
                      <p:cNvPicPr>
                        <a:picLocks noChangeAspect="1" noChangeArrowheads="1"/>
                      </p:cNvPicPr>
                      <p:nvPr/>
                    </p:nvPicPr>
                    <p:blipFill>
                      <a:blip r:embed="rId10"/>
                      <a:srcRect/>
                      <a:stretch>
                        <a:fillRect/>
                      </a:stretch>
                    </p:blipFill>
                    <p:spPr bwMode="auto">
                      <a:xfrm>
                        <a:off x="2689225" y="5404511"/>
                        <a:ext cx="1560513"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 name="AutoShape 40">
            <a:extLst>
              <a:ext uri="{FF2B5EF4-FFF2-40B4-BE49-F238E27FC236}">
                <a16:creationId xmlns:a16="http://schemas.microsoft.com/office/drawing/2014/main" id="{04ACFDF7-E75E-48F7-A013-86B8A256A219}"/>
              </a:ext>
            </a:extLst>
          </p:cNvPr>
          <p:cNvSpPr>
            <a:spLocks/>
          </p:cNvSpPr>
          <p:nvPr/>
        </p:nvSpPr>
        <p:spPr bwMode="auto">
          <a:xfrm>
            <a:off x="4711923" y="3866224"/>
            <a:ext cx="188912" cy="2233612"/>
          </a:xfrm>
          <a:prstGeom prst="rightBrace">
            <a:avLst>
              <a:gd name="adj1" fmla="val 9853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solidFill>
                <a:schemeClr val="tx1"/>
              </a:solidFill>
            </a:endParaRPr>
          </a:p>
        </p:txBody>
      </p:sp>
      <p:sp>
        <p:nvSpPr>
          <p:cNvPr id="85" name="Text Box 42">
            <a:extLst>
              <a:ext uri="{FF2B5EF4-FFF2-40B4-BE49-F238E27FC236}">
                <a16:creationId xmlns:a16="http://schemas.microsoft.com/office/drawing/2014/main" id="{B81428E6-96C8-93AE-A019-16F5F3158C44}"/>
              </a:ext>
            </a:extLst>
          </p:cNvPr>
          <p:cNvSpPr txBox="1">
            <a:spLocks noChangeArrowheads="1"/>
          </p:cNvSpPr>
          <p:nvPr/>
        </p:nvSpPr>
        <p:spPr bwMode="auto">
          <a:xfrm>
            <a:off x="2000473" y="5564849"/>
            <a:ext cx="100965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en-US" altLang="zh-CN" b="0" i="1" dirty="0" err="1">
                <a:solidFill>
                  <a:schemeClr val="tx1"/>
                </a:solidFill>
              </a:rPr>
              <a:t>z</a:t>
            </a:r>
            <a:r>
              <a:rPr lang="en-US" altLang="zh-CN" b="0" i="1" baseline="-25000" dirty="0" err="1">
                <a:solidFill>
                  <a:schemeClr val="tx1"/>
                </a:solidFill>
              </a:rPr>
              <a:t>C</a:t>
            </a:r>
            <a:r>
              <a:rPr lang="en-US" altLang="zh-CN" b="0" dirty="0">
                <a:solidFill>
                  <a:schemeClr val="tx1"/>
                </a:solidFill>
              </a:rPr>
              <a:t> = </a:t>
            </a:r>
          </a:p>
        </p:txBody>
      </p:sp>
    </p:spTree>
    <p:extLst>
      <p:ext uri="{BB962C8B-B14F-4D97-AF65-F5344CB8AC3E}">
        <p14:creationId xmlns:p14="http://schemas.microsoft.com/office/powerpoint/2010/main" val="261747392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0" fill="hold"/>
                                        <p:tgtEl>
                                          <p:spTgt spid="51"/>
                                        </p:tgtEl>
                                        <p:attrNameLst>
                                          <p:attrName>ppt_x</p:attrName>
                                        </p:attrNameLst>
                                      </p:cBhvr>
                                      <p:tavLst>
                                        <p:tav tm="0">
                                          <p:val>
                                            <p:strVal val="#ppt_x"/>
                                          </p:val>
                                        </p:tav>
                                        <p:tav tm="100000">
                                          <p:val>
                                            <p:strVal val="#ppt_x"/>
                                          </p:val>
                                        </p:tav>
                                      </p:tavLst>
                                    </p:anim>
                                    <p:anim calcmode="lin" valueType="num">
                                      <p:cBhvr>
                                        <p:cTn id="8" dur="5000" fill="hold"/>
                                        <p:tgtEl>
                                          <p:spTgt spid="51"/>
                                        </p:tgtEl>
                                        <p:attrNameLst>
                                          <p:attrName>ppt_y</p:attrName>
                                        </p:attrNameLst>
                                      </p:cBhvr>
                                      <p:tavLst>
                                        <p:tav tm="0">
                                          <p:val>
                                            <p:strVal val="#ppt_y+#ppt_h/2"/>
                                          </p:val>
                                        </p:tav>
                                        <p:tav tm="100000">
                                          <p:val>
                                            <p:strVal val="#ppt_y"/>
                                          </p:val>
                                        </p:tav>
                                      </p:tavLst>
                                    </p:anim>
                                    <p:anim calcmode="lin" valueType="num">
                                      <p:cBhvr>
                                        <p:cTn id="9" dur="5000" fill="hold"/>
                                        <p:tgtEl>
                                          <p:spTgt spid="51"/>
                                        </p:tgtEl>
                                        <p:attrNameLst>
                                          <p:attrName>ppt_w</p:attrName>
                                        </p:attrNameLst>
                                      </p:cBhvr>
                                      <p:tavLst>
                                        <p:tav tm="0">
                                          <p:val>
                                            <p:strVal val="#ppt_w"/>
                                          </p:val>
                                        </p:tav>
                                        <p:tav tm="100000">
                                          <p:val>
                                            <p:strVal val="#ppt_w"/>
                                          </p:val>
                                        </p:tav>
                                      </p:tavLst>
                                    </p:anim>
                                    <p:anim calcmode="lin" valueType="num">
                                      <p:cBhvr>
                                        <p:cTn id="10" dur="50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
                                        </p:tgtEl>
                                        <p:attrNameLst>
                                          <p:attrName>style.visibility</p:attrName>
                                        </p:attrNameLst>
                                      </p:cBhvr>
                                      <p:to>
                                        <p:strVal val="visible"/>
                                      </p:to>
                                    </p:set>
                                  </p:childTnLst>
                                </p:cTn>
                              </p:par>
                              <p:par>
                                <p:cTn id="15" presetID="17" presetClass="entr" presetSubtype="8" fill="hold" nodeType="with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p:cTn id="17" dur="5000" fill="hold"/>
                                        <p:tgtEl>
                                          <p:spTgt spid="53"/>
                                        </p:tgtEl>
                                        <p:attrNameLst>
                                          <p:attrName>ppt_x</p:attrName>
                                        </p:attrNameLst>
                                      </p:cBhvr>
                                      <p:tavLst>
                                        <p:tav tm="0">
                                          <p:val>
                                            <p:strVal val="#ppt_x-#ppt_w/2"/>
                                          </p:val>
                                        </p:tav>
                                        <p:tav tm="100000">
                                          <p:val>
                                            <p:strVal val="#ppt_x"/>
                                          </p:val>
                                        </p:tav>
                                      </p:tavLst>
                                    </p:anim>
                                    <p:anim calcmode="lin" valueType="num">
                                      <p:cBhvr>
                                        <p:cTn id="18" dur="5000" fill="hold"/>
                                        <p:tgtEl>
                                          <p:spTgt spid="53"/>
                                        </p:tgtEl>
                                        <p:attrNameLst>
                                          <p:attrName>ppt_y</p:attrName>
                                        </p:attrNameLst>
                                      </p:cBhvr>
                                      <p:tavLst>
                                        <p:tav tm="0">
                                          <p:val>
                                            <p:strVal val="#ppt_y"/>
                                          </p:val>
                                        </p:tav>
                                        <p:tav tm="100000">
                                          <p:val>
                                            <p:strVal val="#ppt_y"/>
                                          </p:val>
                                        </p:tav>
                                      </p:tavLst>
                                    </p:anim>
                                    <p:anim calcmode="lin" valueType="num">
                                      <p:cBhvr>
                                        <p:cTn id="19" dur="5000" fill="hold"/>
                                        <p:tgtEl>
                                          <p:spTgt spid="53"/>
                                        </p:tgtEl>
                                        <p:attrNameLst>
                                          <p:attrName>ppt_w</p:attrName>
                                        </p:attrNameLst>
                                      </p:cBhvr>
                                      <p:tavLst>
                                        <p:tav tm="0">
                                          <p:val>
                                            <p:fltVal val="0"/>
                                          </p:val>
                                        </p:tav>
                                        <p:tav tm="100000">
                                          <p:val>
                                            <p:strVal val="#ppt_w"/>
                                          </p:val>
                                        </p:tav>
                                      </p:tavLst>
                                    </p:anim>
                                    <p:anim calcmode="lin" valueType="num">
                                      <p:cBhvr>
                                        <p:cTn id="20" dur="5000" fill="hold"/>
                                        <p:tgtEl>
                                          <p:spTgt spid="53"/>
                                        </p:tgtEl>
                                        <p:attrNameLst>
                                          <p:attrName>ppt_h</p:attrName>
                                        </p:attrNameLst>
                                      </p:cBhvr>
                                      <p:tavLst>
                                        <p:tav tm="0">
                                          <p:val>
                                            <p:strVal val="#ppt_h"/>
                                          </p:val>
                                        </p:tav>
                                        <p:tav tm="100000">
                                          <p:val>
                                            <p:strVal val="#ppt_h"/>
                                          </p:val>
                                        </p:tav>
                                      </p:tavLst>
                                    </p:anim>
                                  </p:childTnLst>
                                </p:cTn>
                              </p:par>
                              <p:par>
                                <p:cTn id="21" presetID="18" presetClass="entr" presetSubtype="12"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strips(downLeft)">
                                      <p:cBhvr>
                                        <p:cTn id="23" dur="5000"/>
                                        <p:tgtEl>
                                          <p:spTgt spid="54"/>
                                        </p:tgtEl>
                                      </p:cBhvr>
                                    </p:animEffect>
                                  </p:childTnLst>
                                </p:cTn>
                              </p:par>
                              <p:par>
                                <p:cTn id="24" presetID="19" presetClass="entr" presetSubtype="10" fill="hold" grpId="0" nodeType="withEffect">
                                  <p:stCondLst>
                                    <p:cond delay="0"/>
                                  </p:stCondLst>
                                  <p:childTnLst>
                                    <p:set>
                                      <p:cBhvr>
                                        <p:cTn id="25" dur="1" fill="hold">
                                          <p:stCondLst>
                                            <p:cond delay="0"/>
                                          </p:stCondLst>
                                        </p:cTn>
                                        <p:tgtEl>
                                          <p:spTgt spid="48"/>
                                        </p:tgtEl>
                                        <p:attrNameLst>
                                          <p:attrName>style.visibility</p:attrName>
                                        </p:attrNameLst>
                                      </p:cBhvr>
                                      <p:to>
                                        <p:strVal val="visible"/>
                                      </p:to>
                                    </p:set>
                                    <p:anim calcmode="lin" valueType="num">
                                      <p:cBhvr>
                                        <p:cTn id="26" dur="5000" fill="hold"/>
                                        <p:tgtEl>
                                          <p:spTgt spid="48"/>
                                        </p:tgtEl>
                                        <p:attrNameLst>
                                          <p:attrName>ppt_w</p:attrName>
                                        </p:attrNameLst>
                                      </p:cBhvr>
                                      <p:tavLst>
                                        <p:tav tm="0" fmla="#ppt_w*sin(2.5*pi*$)">
                                          <p:val>
                                            <p:fltVal val="0"/>
                                          </p:val>
                                        </p:tav>
                                        <p:tav tm="100000">
                                          <p:val>
                                            <p:fltVal val="1"/>
                                          </p:val>
                                        </p:tav>
                                      </p:tavLst>
                                    </p:anim>
                                    <p:anim calcmode="lin" valueType="num">
                                      <p:cBhvr>
                                        <p:cTn id="27" dur="5000" fill="hold"/>
                                        <p:tgtEl>
                                          <p:spTgt spid="48"/>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7"/>
                                        </p:tgtEl>
                                        <p:attrNameLst>
                                          <p:attrName>style.visibility</p:attrName>
                                        </p:attrNameLst>
                                      </p:cBhvr>
                                      <p:to>
                                        <p:strVal val="visible"/>
                                      </p:to>
                                    </p:set>
                                  </p:childTnLst>
                                </p:cTn>
                              </p:par>
                              <p:par>
                                <p:cTn id="32" presetID="19" presetClass="entr" presetSubtype="10" fill="hold" grpId="0" nodeType="withEffect">
                                  <p:stCondLst>
                                    <p:cond delay="0"/>
                                  </p:stCondLst>
                                  <p:childTnLst>
                                    <p:set>
                                      <p:cBhvr>
                                        <p:cTn id="33" dur="1" fill="hold">
                                          <p:stCondLst>
                                            <p:cond delay="0"/>
                                          </p:stCondLst>
                                        </p:cTn>
                                        <p:tgtEl>
                                          <p:spTgt spid="50"/>
                                        </p:tgtEl>
                                        <p:attrNameLst>
                                          <p:attrName>style.visibility</p:attrName>
                                        </p:attrNameLst>
                                      </p:cBhvr>
                                      <p:to>
                                        <p:strVal val="visible"/>
                                      </p:to>
                                    </p:set>
                                    <p:anim calcmode="lin" valueType="num">
                                      <p:cBhvr>
                                        <p:cTn id="34" dur="5000" fill="hold"/>
                                        <p:tgtEl>
                                          <p:spTgt spid="50"/>
                                        </p:tgtEl>
                                        <p:attrNameLst>
                                          <p:attrName>ppt_w</p:attrName>
                                        </p:attrNameLst>
                                      </p:cBhvr>
                                      <p:tavLst>
                                        <p:tav tm="0" fmla="#ppt_w*sin(2.5*pi*$)">
                                          <p:val>
                                            <p:fltVal val="0"/>
                                          </p:val>
                                        </p:tav>
                                        <p:tav tm="100000">
                                          <p:val>
                                            <p:fltVal val="1"/>
                                          </p:val>
                                        </p:tav>
                                      </p:tavLst>
                                    </p:anim>
                                    <p:anim calcmode="lin" valueType="num">
                                      <p:cBhvr>
                                        <p:cTn id="35" dur="5000" fill="hold"/>
                                        <p:tgtEl>
                                          <p:spTgt spid="50"/>
                                        </p:tgtEl>
                                        <p:attrNameLst>
                                          <p:attrName>ppt_h</p:attrName>
                                        </p:attrNameLst>
                                      </p:cBhvr>
                                      <p:tavLst>
                                        <p:tav tm="0">
                                          <p:val>
                                            <p:strVal val="#ppt_h"/>
                                          </p:val>
                                        </p:tav>
                                        <p:tav tm="100000">
                                          <p:val>
                                            <p:strVal val="#ppt_h"/>
                                          </p:val>
                                        </p:tav>
                                      </p:tavLst>
                                    </p:anim>
                                  </p:childTnLst>
                                </p:cTn>
                              </p:par>
                              <p:par>
                                <p:cTn id="36" presetID="19" presetClass="entr" presetSubtype="10" fill="hold" grpId="0" nodeType="withEffect">
                                  <p:stCondLst>
                                    <p:cond delay="0"/>
                                  </p:stCondLst>
                                  <p:childTnLst>
                                    <p:set>
                                      <p:cBhvr>
                                        <p:cTn id="37" dur="1" fill="hold">
                                          <p:stCondLst>
                                            <p:cond delay="0"/>
                                          </p:stCondLst>
                                        </p:cTn>
                                        <p:tgtEl>
                                          <p:spTgt spid="49"/>
                                        </p:tgtEl>
                                        <p:attrNameLst>
                                          <p:attrName>style.visibility</p:attrName>
                                        </p:attrNameLst>
                                      </p:cBhvr>
                                      <p:to>
                                        <p:strVal val="visible"/>
                                      </p:to>
                                    </p:set>
                                    <p:anim calcmode="lin" valueType="num">
                                      <p:cBhvr>
                                        <p:cTn id="38" dur="5000" fill="hold"/>
                                        <p:tgtEl>
                                          <p:spTgt spid="49"/>
                                        </p:tgtEl>
                                        <p:attrNameLst>
                                          <p:attrName>ppt_w</p:attrName>
                                        </p:attrNameLst>
                                      </p:cBhvr>
                                      <p:tavLst>
                                        <p:tav tm="0" fmla="#ppt_w*sin(2.5*pi*$)">
                                          <p:val>
                                            <p:fltVal val="0"/>
                                          </p:val>
                                        </p:tav>
                                        <p:tav tm="100000">
                                          <p:val>
                                            <p:fltVal val="1"/>
                                          </p:val>
                                        </p:tav>
                                      </p:tavLst>
                                    </p:anim>
                                    <p:anim calcmode="lin" valueType="num">
                                      <p:cBhvr>
                                        <p:cTn id="39" dur="5000" fill="hold"/>
                                        <p:tgtEl>
                                          <p:spTgt spid="49"/>
                                        </p:tgtEl>
                                        <p:attrNameLst>
                                          <p:attrName>ppt_h</p:attrName>
                                        </p:attrNameLst>
                                      </p:cBhvr>
                                      <p:tavLst>
                                        <p:tav tm="0">
                                          <p:val>
                                            <p:strVal val="#ppt_h"/>
                                          </p:val>
                                        </p:tav>
                                        <p:tav tm="100000">
                                          <p:val>
                                            <p:strVal val="#ppt_h"/>
                                          </p:val>
                                        </p:tav>
                                      </p:tavLst>
                                    </p:anim>
                                  </p:childTnLst>
                                </p:cTn>
                              </p:par>
                              <p:par>
                                <p:cTn id="40" presetID="19" presetClass="entr" presetSubtype="10" fill="hold" grpId="0" nodeType="withEffect">
                                  <p:stCondLst>
                                    <p:cond delay="0"/>
                                  </p:stCondLst>
                                  <p:childTnLst>
                                    <p:set>
                                      <p:cBhvr>
                                        <p:cTn id="41" dur="1" fill="hold">
                                          <p:stCondLst>
                                            <p:cond delay="0"/>
                                          </p:stCondLst>
                                        </p:cTn>
                                        <p:tgtEl>
                                          <p:spTgt spid="57"/>
                                        </p:tgtEl>
                                        <p:attrNameLst>
                                          <p:attrName>style.visibility</p:attrName>
                                        </p:attrNameLst>
                                      </p:cBhvr>
                                      <p:to>
                                        <p:strVal val="visible"/>
                                      </p:to>
                                    </p:set>
                                    <p:anim calcmode="lin" valueType="num">
                                      <p:cBhvr>
                                        <p:cTn id="42" dur="5000" fill="hold"/>
                                        <p:tgtEl>
                                          <p:spTgt spid="57"/>
                                        </p:tgtEl>
                                        <p:attrNameLst>
                                          <p:attrName>ppt_w</p:attrName>
                                        </p:attrNameLst>
                                      </p:cBhvr>
                                      <p:tavLst>
                                        <p:tav tm="0" fmla="#ppt_w*sin(2.5*pi*$)">
                                          <p:val>
                                            <p:fltVal val="0"/>
                                          </p:val>
                                        </p:tav>
                                        <p:tav tm="100000">
                                          <p:val>
                                            <p:fltVal val="1"/>
                                          </p:val>
                                        </p:tav>
                                      </p:tavLst>
                                    </p:anim>
                                    <p:anim calcmode="lin" valueType="num">
                                      <p:cBhvr>
                                        <p:cTn id="43" dur="5000" fill="hold"/>
                                        <p:tgtEl>
                                          <p:spTgt spid="57"/>
                                        </p:tgtEl>
                                        <p:attrNameLst>
                                          <p:attrName>ppt_h</p:attrName>
                                        </p:attrNameLst>
                                      </p:cBhvr>
                                      <p:tavLst>
                                        <p:tav tm="0">
                                          <p:val>
                                            <p:strVal val="#ppt_h"/>
                                          </p:val>
                                        </p:tav>
                                        <p:tav tm="100000">
                                          <p:val>
                                            <p:strVal val="#ppt_h"/>
                                          </p:val>
                                        </p:tav>
                                      </p:tavLst>
                                    </p:anim>
                                  </p:childTnLst>
                                </p:cTn>
                              </p:par>
                            </p:childTnLst>
                          </p:cTn>
                        </p:par>
                        <p:par>
                          <p:cTn id="44" fill="hold">
                            <p:stCondLst>
                              <p:cond delay="5000"/>
                            </p:stCondLst>
                            <p:childTnLst>
                              <p:par>
                                <p:cTn id="45" presetID="5" presetClass="entr" presetSubtype="10" fill="hold" nodeType="after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checkerboard(across)">
                                      <p:cBhvr>
                                        <p:cTn id="47" dur="50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strips(downLeft)">
                                      <p:cBhvr>
                                        <p:cTn id="52" dur="5000"/>
                                        <p:tgtEl>
                                          <p:spTgt spid="45"/>
                                        </p:tgtEl>
                                      </p:cBhvr>
                                    </p:animEffect>
                                  </p:childTnLst>
                                </p:cTn>
                              </p:par>
                            </p:childTnLst>
                          </p:cTn>
                        </p:par>
                        <p:par>
                          <p:cTn id="53" fill="hold">
                            <p:stCondLst>
                              <p:cond delay="5000"/>
                            </p:stCondLst>
                            <p:childTnLst>
                              <p:par>
                                <p:cTn id="54" presetID="19" presetClass="entr" presetSubtype="10" fill="hold" grpId="0" nodeType="afterEffect">
                                  <p:stCondLst>
                                    <p:cond delay="0"/>
                                  </p:stCondLst>
                                  <p:childTnLst>
                                    <p:set>
                                      <p:cBhvr>
                                        <p:cTn id="55" dur="1" fill="hold">
                                          <p:stCondLst>
                                            <p:cond delay="0"/>
                                          </p:stCondLst>
                                        </p:cTn>
                                        <p:tgtEl>
                                          <p:spTgt spid="69"/>
                                        </p:tgtEl>
                                        <p:attrNameLst>
                                          <p:attrName>style.visibility</p:attrName>
                                        </p:attrNameLst>
                                      </p:cBhvr>
                                      <p:to>
                                        <p:strVal val="visible"/>
                                      </p:to>
                                    </p:set>
                                    <p:anim calcmode="lin" valueType="num">
                                      <p:cBhvr>
                                        <p:cTn id="56" dur="5000" fill="hold"/>
                                        <p:tgtEl>
                                          <p:spTgt spid="69"/>
                                        </p:tgtEl>
                                        <p:attrNameLst>
                                          <p:attrName>ppt_w</p:attrName>
                                        </p:attrNameLst>
                                      </p:cBhvr>
                                      <p:tavLst>
                                        <p:tav tm="0" fmla="#ppt_w*sin(2.5*pi*$)">
                                          <p:val>
                                            <p:fltVal val="0"/>
                                          </p:val>
                                        </p:tav>
                                        <p:tav tm="100000">
                                          <p:val>
                                            <p:fltVal val="1"/>
                                          </p:val>
                                        </p:tav>
                                      </p:tavLst>
                                    </p:anim>
                                    <p:anim calcmode="lin" valueType="num">
                                      <p:cBhvr>
                                        <p:cTn id="57" dur="5000" fill="hold"/>
                                        <p:tgtEl>
                                          <p:spTgt spid="69"/>
                                        </p:tgtEl>
                                        <p:attrNameLst>
                                          <p:attrName>ppt_h</p:attrName>
                                        </p:attrNameLst>
                                      </p:cBhvr>
                                      <p:tavLst>
                                        <p:tav tm="0">
                                          <p:val>
                                            <p:strVal val="#ppt_h"/>
                                          </p:val>
                                        </p:tav>
                                        <p:tav tm="100000">
                                          <p:val>
                                            <p:strVal val="#ppt_h"/>
                                          </p:val>
                                        </p:tav>
                                      </p:tavLst>
                                    </p:anim>
                                  </p:childTnLst>
                                </p:cTn>
                              </p:par>
                            </p:childTnLst>
                          </p:cTn>
                        </p:par>
                        <p:par>
                          <p:cTn id="58" fill="hold">
                            <p:stCondLst>
                              <p:cond delay="10000"/>
                            </p:stCondLst>
                            <p:childTnLst>
                              <p:par>
                                <p:cTn id="59" presetID="19" presetClass="entr" presetSubtype="10" fill="hold" grpId="0" nodeType="afterEffect">
                                  <p:stCondLst>
                                    <p:cond delay="0"/>
                                  </p:stCondLst>
                                  <p:childTnLst>
                                    <p:set>
                                      <p:cBhvr>
                                        <p:cTn id="60" dur="1" fill="hold">
                                          <p:stCondLst>
                                            <p:cond delay="0"/>
                                          </p:stCondLst>
                                        </p:cTn>
                                        <p:tgtEl>
                                          <p:spTgt spid="66"/>
                                        </p:tgtEl>
                                        <p:attrNameLst>
                                          <p:attrName>style.visibility</p:attrName>
                                        </p:attrNameLst>
                                      </p:cBhvr>
                                      <p:to>
                                        <p:strVal val="visible"/>
                                      </p:to>
                                    </p:set>
                                    <p:anim calcmode="lin" valueType="num">
                                      <p:cBhvr>
                                        <p:cTn id="61" dur="5000" fill="hold"/>
                                        <p:tgtEl>
                                          <p:spTgt spid="66"/>
                                        </p:tgtEl>
                                        <p:attrNameLst>
                                          <p:attrName>ppt_w</p:attrName>
                                        </p:attrNameLst>
                                      </p:cBhvr>
                                      <p:tavLst>
                                        <p:tav tm="0" fmla="#ppt_w*sin(2.5*pi*$)">
                                          <p:val>
                                            <p:fltVal val="0"/>
                                          </p:val>
                                        </p:tav>
                                        <p:tav tm="100000">
                                          <p:val>
                                            <p:fltVal val="1"/>
                                          </p:val>
                                        </p:tav>
                                      </p:tavLst>
                                    </p:anim>
                                    <p:anim calcmode="lin" valueType="num">
                                      <p:cBhvr>
                                        <p:cTn id="62" dur="5000" fill="hold"/>
                                        <p:tgtEl>
                                          <p:spTgt spid="66"/>
                                        </p:tgtEl>
                                        <p:attrNameLst>
                                          <p:attrName>ppt_h</p:attrName>
                                        </p:attrNameLst>
                                      </p:cBhvr>
                                      <p:tavLst>
                                        <p:tav tm="0">
                                          <p:val>
                                            <p:strVal val="#ppt_h"/>
                                          </p:val>
                                        </p:tav>
                                        <p:tav tm="100000">
                                          <p:val>
                                            <p:strVal val="#ppt_h"/>
                                          </p:val>
                                        </p:tav>
                                      </p:tavLst>
                                    </p:anim>
                                  </p:childTnLst>
                                </p:cTn>
                              </p:par>
                            </p:childTnLst>
                          </p:cTn>
                        </p:par>
                        <p:par>
                          <p:cTn id="63" fill="hold">
                            <p:stCondLst>
                              <p:cond delay="15000"/>
                            </p:stCondLst>
                            <p:childTnLst>
                              <p:par>
                                <p:cTn id="64" presetID="18" presetClass="entr" presetSubtype="3" fill="hold" nodeType="afterEffect">
                                  <p:stCondLst>
                                    <p:cond delay="0"/>
                                  </p:stCondLst>
                                  <p:childTnLst>
                                    <p:set>
                                      <p:cBhvr>
                                        <p:cTn id="65" dur="1" fill="hold">
                                          <p:stCondLst>
                                            <p:cond delay="0"/>
                                          </p:stCondLst>
                                        </p:cTn>
                                        <p:tgtEl>
                                          <p:spTgt spid="59"/>
                                        </p:tgtEl>
                                        <p:attrNameLst>
                                          <p:attrName>style.visibility</p:attrName>
                                        </p:attrNameLst>
                                      </p:cBhvr>
                                      <p:to>
                                        <p:strVal val="visible"/>
                                      </p:to>
                                    </p:set>
                                    <p:animEffect transition="in" filter="strips(upRight)">
                                      <p:cBhvr>
                                        <p:cTn id="66" dur="3000"/>
                                        <p:tgtEl>
                                          <p:spTgt spid="59"/>
                                        </p:tgtEl>
                                      </p:cBhvr>
                                    </p:animEffect>
                                  </p:childTnLst>
                                </p:cTn>
                              </p:par>
                            </p:childTnLst>
                          </p:cTn>
                        </p:par>
                        <p:par>
                          <p:cTn id="67" fill="hold">
                            <p:stCondLst>
                              <p:cond delay="18000"/>
                            </p:stCondLst>
                            <p:childTnLst>
                              <p:par>
                                <p:cTn id="68" presetID="19" presetClass="entr" presetSubtype="10" fill="hold" grpId="0" nodeType="afterEffect">
                                  <p:stCondLst>
                                    <p:cond delay="0"/>
                                  </p:stCondLst>
                                  <p:childTnLst>
                                    <p:set>
                                      <p:cBhvr>
                                        <p:cTn id="69" dur="1" fill="hold">
                                          <p:stCondLst>
                                            <p:cond delay="0"/>
                                          </p:stCondLst>
                                        </p:cTn>
                                        <p:tgtEl>
                                          <p:spTgt spid="63"/>
                                        </p:tgtEl>
                                        <p:attrNameLst>
                                          <p:attrName>style.visibility</p:attrName>
                                        </p:attrNameLst>
                                      </p:cBhvr>
                                      <p:to>
                                        <p:strVal val="visible"/>
                                      </p:to>
                                    </p:set>
                                    <p:anim calcmode="lin" valueType="num">
                                      <p:cBhvr>
                                        <p:cTn id="70" dur="5000" fill="hold"/>
                                        <p:tgtEl>
                                          <p:spTgt spid="63"/>
                                        </p:tgtEl>
                                        <p:attrNameLst>
                                          <p:attrName>ppt_w</p:attrName>
                                        </p:attrNameLst>
                                      </p:cBhvr>
                                      <p:tavLst>
                                        <p:tav tm="0" fmla="#ppt_w*sin(2.5*pi*$)">
                                          <p:val>
                                            <p:fltVal val="0"/>
                                          </p:val>
                                        </p:tav>
                                        <p:tav tm="100000">
                                          <p:val>
                                            <p:fltVal val="1"/>
                                          </p:val>
                                        </p:tav>
                                      </p:tavLst>
                                    </p:anim>
                                    <p:anim calcmode="lin" valueType="num">
                                      <p:cBhvr>
                                        <p:cTn id="71" dur="5000" fill="hold"/>
                                        <p:tgtEl>
                                          <p:spTgt spid="63"/>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8" presetClass="entr" presetSubtype="12" fill="hold" nodeType="click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strips(downLeft)">
                                      <p:cBhvr>
                                        <p:cTn id="76" dur="5000"/>
                                        <p:tgtEl>
                                          <p:spTgt spid="47"/>
                                        </p:tgtEl>
                                      </p:cBhvr>
                                    </p:animEffect>
                                  </p:childTnLst>
                                </p:cTn>
                              </p:par>
                            </p:childTnLst>
                          </p:cTn>
                        </p:par>
                        <p:par>
                          <p:cTn id="77" fill="hold">
                            <p:stCondLst>
                              <p:cond delay="5000"/>
                            </p:stCondLst>
                            <p:childTnLst>
                              <p:par>
                                <p:cTn id="78" presetID="19" presetClass="entr" presetSubtype="10" fill="hold" grpId="0" nodeType="afterEffect">
                                  <p:stCondLst>
                                    <p:cond delay="0"/>
                                  </p:stCondLst>
                                  <p:childTnLst>
                                    <p:set>
                                      <p:cBhvr>
                                        <p:cTn id="79" dur="1" fill="hold">
                                          <p:stCondLst>
                                            <p:cond delay="0"/>
                                          </p:stCondLst>
                                        </p:cTn>
                                        <p:tgtEl>
                                          <p:spTgt spid="68"/>
                                        </p:tgtEl>
                                        <p:attrNameLst>
                                          <p:attrName>style.visibility</p:attrName>
                                        </p:attrNameLst>
                                      </p:cBhvr>
                                      <p:to>
                                        <p:strVal val="visible"/>
                                      </p:to>
                                    </p:set>
                                    <p:anim calcmode="lin" valueType="num">
                                      <p:cBhvr>
                                        <p:cTn id="80" dur="5000" fill="hold"/>
                                        <p:tgtEl>
                                          <p:spTgt spid="68"/>
                                        </p:tgtEl>
                                        <p:attrNameLst>
                                          <p:attrName>ppt_w</p:attrName>
                                        </p:attrNameLst>
                                      </p:cBhvr>
                                      <p:tavLst>
                                        <p:tav tm="0" fmla="#ppt_w*sin(2.5*pi*$)">
                                          <p:val>
                                            <p:fltVal val="0"/>
                                          </p:val>
                                        </p:tav>
                                        <p:tav tm="100000">
                                          <p:val>
                                            <p:fltVal val="1"/>
                                          </p:val>
                                        </p:tav>
                                      </p:tavLst>
                                    </p:anim>
                                    <p:anim calcmode="lin" valueType="num">
                                      <p:cBhvr>
                                        <p:cTn id="81" dur="5000" fill="hold"/>
                                        <p:tgtEl>
                                          <p:spTgt spid="68"/>
                                        </p:tgtEl>
                                        <p:attrNameLst>
                                          <p:attrName>ppt_h</p:attrName>
                                        </p:attrNameLst>
                                      </p:cBhvr>
                                      <p:tavLst>
                                        <p:tav tm="0">
                                          <p:val>
                                            <p:strVal val="#ppt_h"/>
                                          </p:val>
                                        </p:tav>
                                        <p:tav tm="100000">
                                          <p:val>
                                            <p:strVal val="#ppt_h"/>
                                          </p:val>
                                        </p:tav>
                                      </p:tavLst>
                                    </p:anim>
                                  </p:childTnLst>
                                </p:cTn>
                              </p:par>
                            </p:childTnLst>
                          </p:cTn>
                        </p:par>
                        <p:par>
                          <p:cTn id="82" fill="hold">
                            <p:stCondLst>
                              <p:cond delay="10000"/>
                            </p:stCondLst>
                            <p:childTnLst>
                              <p:par>
                                <p:cTn id="83" presetID="19" presetClass="entr" presetSubtype="10" fill="hold" grpId="0" nodeType="afterEffect">
                                  <p:stCondLst>
                                    <p:cond delay="0"/>
                                  </p:stCondLst>
                                  <p:childTnLst>
                                    <p:set>
                                      <p:cBhvr>
                                        <p:cTn id="84" dur="1" fill="hold">
                                          <p:stCondLst>
                                            <p:cond delay="0"/>
                                          </p:stCondLst>
                                        </p:cTn>
                                        <p:tgtEl>
                                          <p:spTgt spid="65"/>
                                        </p:tgtEl>
                                        <p:attrNameLst>
                                          <p:attrName>style.visibility</p:attrName>
                                        </p:attrNameLst>
                                      </p:cBhvr>
                                      <p:to>
                                        <p:strVal val="visible"/>
                                      </p:to>
                                    </p:set>
                                    <p:anim calcmode="lin" valueType="num">
                                      <p:cBhvr>
                                        <p:cTn id="85" dur="5000" fill="hold"/>
                                        <p:tgtEl>
                                          <p:spTgt spid="65"/>
                                        </p:tgtEl>
                                        <p:attrNameLst>
                                          <p:attrName>ppt_w</p:attrName>
                                        </p:attrNameLst>
                                      </p:cBhvr>
                                      <p:tavLst>
                                        <p:tav tm="0" fmla="#ppt_w*sin(2.5*pi*$)">
                                          <p:val>
                                            <p:fltVal val="0"/>
                                          </p:val>
                                        </p:tav>
                                        <p:tav tm="100000">
                                          <p:val>
                                            <p:fltVal val="1"/>
                                          </p:val>
                                        </p:tav>
                                      </p:tavLst>
                                    </p:anim>
                                    <p:anim calcmode="lin" valueType="num">
                                      <p:cBhvr>
                                        <p:cTn id="86" dur="5000" fill="hold"/>
                                        <p:tgtEl>
                                          <p:spTgt spid="65"/>
                                        </p:tgtEl>
                                        <p:attrNameLst>
                                          <p:attrName>ppt_h</p:attrName>
                                        </p:attrNameLst>
                                      </p:cBhvr>
                                      <p:tavLst>
                                        <p:tav tm="0">
                                          <p:val>
                                            <p:strVal val="#ppt_h"/>
                                          </p:val>
                                        </p:tav>
                                        <p:tav tm="100000">
                                          <p:val>
                                            <p:strVal val="#ppt_h"/>
                                          </p:val>
                                        </p:tav>
                                      </p:tavLst>
                                    </p:anim>
                                  </p:childTnLst>
                                </p:cTn>
                              </p:par>
                            </p:childTnLst>
                          </p:cTn>
                        </p:par>
                        <p:par>
                          <p:cTn id="87" fill="hold">
                            <p:stCondLst>
                              <p:cond delay="15000"/>
                            </p:stCondLst>
                            <p:childTnLst>
                              <p:par>
                                <p:cTn id="88" presetID="18" presetClass="entr" presetSubtype="3" fill="hold" nodeType="afterEffect">
                                  <p:stCondLst>
                                    <p:cond delay="0"/>
                                  </p:stCondLst>
                                  <p:childTnLst>
                                    <p:set>
                                      <p:cBhvr>
                                        <p:cTn id="89" dur="1" fill="hold">
                                          <p:stCondLst>
                                            <p:cond delay="0"/>
                                          </p:stCondLst>
                                        </p:cTn>
                                        <p:tgtEl>
                                          <p:spTgt spid="58"/>
                                        </p:tgtEl>
                                        <p:attrNameLst>
                                          <p:attrName>style.visibility</p:attrName>
                                        </p:attrNameLst>
                                      </p:cBhvr>
                                      <p:to>
                                        <p:strVal val="visible"/>
                                      </p:to>
                                    </p:set>
                                    <p:animEffect transition="in" filter="strips(upRight)">
                                      <p:cBhvr>
                                        <p:cTn id="90" dur="3000"/>
                                        <p:tgtEl>
                                          <p:spTgt spid="58"/>
                                        </p:tgtEl>
                                      </p:cBhvr>
                                    </p:animEffect>
                                  </p:childTnLst>
                                </p:cTn>
                              </p:par>
                            </p:childTnLst>
                          </p:cTn>
                        </p:par>
                        <p:par>
                          <p:cTn id="91" fill="hold">
                            <p:stCondLst>
                              <p:cond delay="18000"/>
                            </p:stCondLst>
                            <p:childTnLst>
                              <p:par>
                                <p:cTn id="92" presetID="19" presetClass="entr" presetSubtype="10" fill="hold" grpId="0" nodeType="afterEffect">
                                  <p:stCondLst>
                                    <p:cond delay="0"/>
                                  </p:stCondLst>
                                  <p:childTnLst>
                                    <p:set>
                                      <p:cBhvr>
                                        <p:cTn id="93" dur="1" fill="hold">
                                          <p:stCondLst>
                                            <p:cond delay="0"/>
                                          </p:stCondLst>
                                        </p:cTn>
                                        <p:tgtEl>
                                          <p:spTgt spid="62"/>
                                        </p:tgtEl>
                                        <p:attrNameLst>
                                          <p:attrName>style.visibility</p:attrName>
                                        </p:attrNameLst>
                                      </p:cBhvr>
                                      <p:to>
                                        <p:strVal val="visible"/>
                                      </p:to>
                                    </p:set>
                                    <p:anim calcmode="lin" valueType="num">
                                      <p:cBhvr>
                                        <p:cTn id="94" dur="5000" fill="hold"/>
                                        <p:tgtEl>
                                          <p:spTgt spid="62"/>
                                        </p:tgtEl>
                                        <p:attrNameLst>
                                          <p:attrName>ppt_w</p:attrName>
                                        </p:attrNameLst>
                                      </p:cBhvr>
                                      <p:tavLst>
                                        <p:tav tm="0" fmla="#ppt_w*sin(2.5*pi*$)">
                                          <p:val>
                                            <p:fltVal val="0"/>
                                          </p:val>
                                        </p:tav>
                                        <p:tav tm="100000">
                                          <p:val>
                                            <p:fltVal val="1"/>
                                          </p:val>
                                        </p:tav>
                                      </p:tavLst>
                                    </p:anim>
                                    <p:anim calcmode="lin" valueType="num">
                                      <p:cBhvr>
                                        <p:cTn id="95" dur="5000" fill="hold"/>
                                        <p:tgtEl>
                                          <p:spTgt spid="62"/>
                                        </p:tgtEl>
                                        <p:attrNameLst>
                                          <p:attrName>ppt_h</p:attrName>
                                        </p:attrNameLst>
                                      </p:cBhvr>
                                      <p:tavLst>
                                        <p:tav tm="0">
                                          <p:val>
                                            <p:strVal val="#ppt_h"/>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18" presetClass="entr" presetSubtype="12" fill="hold" nodeType="click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strips(downLeft)">
                                      <p:cBhvr>
                                        <p:cTn id="100" dur="5000"/>
                                        <p:tgtEl>
                                          <p:spTgt spid="46"/>
                                        </p:tgtEl>
                                      </p:cBhvr>
                                    </p:animEffect>
                                  </p:childTnLst>
                                </p:cTn>
                              </p:par>
                            </p:childTnLst>
                          </p:cTn>
                        </p:par>
                        <p:par>
                          <p:cTn id="101" fill="hold">
                            <p:stCondLst>
                              <p:cond delay="5000"/>
                            </p:stCondLst>
                            <p:childTnLst>
                              <p:par>
                                <p:cTn id="102" presetID="19" presetClass="entr" presetSubtype="10" fill="hold" grpId="0" nodeType="afterEffect">
                                  <p:stCondLst>
                                    <p:cond delay="0"/>
                                  </p:stCondLst>
                                  <p:childTnLst>
                                    <p:set>
                                      <p:cBhvr>
                                        <p:cTn id="103" dur="1" fill="hold">
                                          <p:stCondLst>
                                            <p:cond delay="0"/>
                                          </p:stCondLst>
                                        </p:cTn>
                                        <p:tgtEl>
                                          <p:spTgt spid="67"/>
                                        </p:tgtEl>
                                        <p:attrNameLst>
                                          <p:attrName>style.visibility</p:attrName>
                                        </p:attrNameLst>
                                      </p:cBhvr>
                                      <p:to>
                                        <p:strVal val="visible"/>
                                      </p:to>
                                    </p:set>
                                    <p:anim calcmode="lin" valueType="num">
                                      <p:cBhvr>
                                        <p:cTn id="104" dur="5000" fill="hold"/>
                                        <p:tgtEl>
                                          <p:spTgt spid="67"/>
                                        </p:tgtEl>
                                        <p:attrNameLst>
                                          <p:attrName>ppt_w</p:attrName>
                                        </p:attrNameLst>
                                      </p:cBhvr>
                                      <p:tavLst>
                                        <p:tav tm="0" fmla="#ppt_w*sin(2.5*pi*$)">
                                          <p:val>
                                            <p:fltVal val="0"/>
                                          </p:val>
                                        </p:tav>
                                        <p:tav tm="100000">
                                          <p:val>
                                            <p:fltVal val="1"/>
                                          </p:val>
                                        </p:tav>
                                      </p:tavLst>
                                    </p:anim>
                                    <p:anim calcmode="lin" valueType="num">
                                      <p:cBhvr>
                                        <p:cTn id="105" dur="5000" fill="hold"/>
                                        <p:tgtEl>
                                          <p:spTgt spid="67"/>
                                        </p:tgtEl>
                                        <p:attrNameLst>
                                          <p:attrName>ppt_h</p:attrName>
                                        </p:attrNameLst>
                                      </p:cBhvr>
                                      <p:tavLst>
                                        <p:tav tm="0">
                                          <p:val>
                                            <p:strVal val="#ppt_h"/>
                                          </p:val>
                                        </p:tav>
                                        <p:tav tm="100000">
                                          <p:val>
                                            <p:strVal val="#ppt_h"/>
                                          </p:val>
                                        </p:tav>
                                      </p:tavLst>
                                    </p:anim>
                                  </p:childTnLst>
                                </p:cTn>
                              </p:par>
                            </p:childTnLst>
                          </p:cTn>
                        </p:par>
                        <p:par>
                          <p:cTn id="106" fill="hold">
                            <p:stCondLst>
                              <p:cond delay="10000"/>
                            </p:stCondLst>
                            <p:childTnLst>
                              <p:par>
                                <p:cTn id="107" presetID="19" presetClass="entr" presetSubtype="10" fill="hold" grpId="0" nodeType="afterEffect">
                                  <p:stCondLst>
                                    <p:cond delay="0"/>
                                  </p:stCondLst>
                                  <p:childTnLst>
                                    <p:set>
                                      <p:cBhvr>
                                        <p:cTn id="108" dur="1" fill="hold">
                                          <p:stCondLst>
                                            <p:cond delay="0"/>
                                          </p:stCondLst>
                                        </p:cTn>
                                        <p:tgtEl>
                                          <p:spTgt spid="64"/>
                                        </p:tgtEl>
                                        <p:attrNameLst>
                                          <p:attrName>style.visibility</p:attrName>
                                        </p:attrNameLst>
                                      </p:cBhvr>
                                      <p:to>
                                        <p:strVal val="visible"/>
                                      </p:to>
                                    </p:set>
                                    <p:anim calcmode="lin" valueType="num">
                                      <p:cBhvr>
                                        <p:cTn id="109" dur="5000" fill="hold"/>
                                        <p:tgtEl>
                                          <p:spTgt spid="64"/>
                                        </p:tgtEl>
                                        <p:attrNameLst>
                                          <p:attrName>ppt_w</p:attrName>
                                        </p:attrNameLst>
                                      </p:cBhvr>
                                      <p:tavLst>
                                        <p:tav tm="0" fmla="#ppt_w*sin(2.5*pi*$)">
                                          <p:val>
                                            <p:fltVal val="0"/>
                                          </p:val>
                                        </p:tav>
                                        <p:tav tm="100000">
                                          <p:val>
                                            <p:fltVal val="1"/>
                                          </p:val>
                                        </p:tav>
                                      </p:tavLst>
                                    </p:anim>
                                    <p:anim calcmode="lin" valueType="num">
                                      <p:cBhvr>
                                        <p:cTn id="110" dur="5000" fill="hold"/>
                                        <p:tgtEl>
                                          <p:spTgt spid="64"/>
                                        </p:tgtEl>
                                        <p:attrNameLst>
                                          <p:attrName>ppt_h</p:attrName>
                                        </p:attrNameLst>
                                      </p:cBhvr>
                                      <p:tavLst>
                                        <p:tav tm="0">
                                          <p:val>
                                            <p:strVal val="#ppt_h"/>
                                          </p:val>
                                        </p:tav>
                                        <p:tav tm="100000">
                                          <p:val>
                                            <p:strVal val="#ppt_h"/>
                                          </p:val>
                                        </p:tav>
                                      </p:tavLst>
                                    </p:anim>
                                  </p:childTnLst>
                                </p:cTn>
                              </p:par>
                            </p:childTnLst>
                          </p:cTn>
                        </p:par>
                        <p:par>
                          <p:cTn id="111" fill="hold">
                            <p:stCondLst>
                              <p:cond delay="15000"/>
                            </p:stCondLst>
                            <p:childTnLst>
                              <p:par>
                                <p:cTn id="112" presetID="18" presetClass="entr" presetSubtype="3" fill="hold" nodeType="after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strips(upRight)">
                                      <p:cBhvr>
                                        <p:cTn id="114" dur="3000"/>
                                        <p:tgtEl>
                                          <p:spTgt spid="60"/>
                                        </p:tgtEl>
                                      </p:cBhvr>
                                    </p:animEffect>
                                  </p:childTnLst>
                                </p:cTn>
                              </p:par>
                            </p:childTnLst>
                          </p:cTn>
                        </p:par>
                        <p:par>
                          <p:cTn id="115" fill="hold">
                            <p:stCondLst>
                              <p:cond delay="18000"/>
                            </p:stCondLst>
                            <p:childTnLst>
                              <p:par>
                                <p:cTn id="116" presetID="19" presetClass="entr" presetSubtype="10" fill="hold" grpId="0" nodeType="afterEffect">
                                  <p:stCondLst>
                                    <p:cond delay="0"/>
                                  </p:stCondLst>
                                  <p:childTnLst>
                                    <p:set>
                                      <p:cBhvr>
                                        <p:cTn id="117" dur="1" fill="hold">
                                          <p:stCondLst>
                                            <p:cond delay="0"/>
                                          </p:stCondLst>
                                        </p:cTn>
                                        <p:tgtEl>
                                          <p:spTgt spid="61"/>
                                        </p:tgtEl>
                                        <p:attrNameLst>
                                          <p:attrName>style.visibility</p:attrName>
                                        </p:attrNameLst>
                                      </p:cBhvr>
                                      <p:to>
                                        <p:strVal val="visible"/>
                                      </p:to>
                                    </p:set>
                                    <p:anim calcmode="lin" valueType="num">
                                      <p:cBhvr>
                                        <p:cTn id="118" dur="5000" fill="hold"/>
                                        <p:tgtEl>
                                          <p:spTgt spid="61"/>
                                        </p:tgtEl>
                                        <p:attrNameLst>
                                          <p:attrName>ppt_w</p:attrName>
                                        </p:attrNameLst>
                                      </p:cBhvr>
                                      <p:tavLst>
                                        <p:tav tm="0" fmla="#ppt_w*sin(2.5*pi*$)">
                                          <p:val>
                                            <p:fltVal val="0"/>
                                          </p:val>
                                        </p:tav>
                                        <p:tav tm="100000">
                                          <p:val>
                                            <p:fltVal val="1"/>
                                          </p:val>
                                        </p:tav>
                                      </p:tavLst>
                                    </p:anim>
                                    <p:anim calcmode="lin" valueType="num">
                                      <p:cBhvr>
                                        <p:cTn id="119" dur="5000" fill="hold"/>
                                        <p:tgtEl>
                                          <p:spTgt spid="61"/>
                                        </p:tgtEl>
                                        <p:attrNameLst>
                                          <p:attrName>ppt_h</p:attrName>
                                        </p:attrNameLst>
                                      </p:cBhvr>
                                      <p:tavLst>
                                        <p:tav tm="0">
                                          <p:val>
                                            <p:strVal val="#ppt_h"/>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499"/>
                                          </p:stCondLst>
                                        </p:cTn>
                                        <p:tgtEl>
                                          <p:spTgt spid="78"/>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iterate type="lt">
                                    <p:tmPct val="30000"/>
                                  </p:iterate>
                                  <p:childTnLst>
                                    <p:set>
                                      <p:cBhvr>
                                        <p:cTn id="127" dur="1" fill="hold">
                                          <p:stCondLst>
                                            <p:cond delay="0"/>
                                          </p:stCondLst>
                                        </p:cTn>
                                        <p:tgtEl>
                                          <p:spTgt spid="79">
                                            <p:txEl>
                                              <p:pRg st="0" end="0"/>
                                            </p:txEl>
                                          </p:spTgt>
                                        </p:tgtEl>
                                        <p:attrNameLst>
                                          <p:attrName>style.visibility</p:attrName>
                                        </p:attrNameLst>
                                      </p:cBhvr>
                                      <p:to>
                                        <p:strVal val="visible"/>
                                      </p:to>
                                    </p:set>
                                    <p:animEffect transition="in" filter="wipe(left)">
                                      <p:cBhvr>
                                        <p:cTn id="128" dur="500"/>
                                        <p:tgtEl>
                                          <p:spTgt spid="79">
                                            <p:txEl>
                                              <p:pRg st="0" end="0"/>
                                            </p:txEl>
                                          </p:spTgt>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par>
                          <p:cTn id="129" fill="hold">
                            <p:stCondLst>
                              <p:cond delay="800"/>
                            </p:stCondLst>
                            <p:childTnLst>
                              <p:par>
                                <p:cTn id="130" presetID="22" presetClass="entr" presetSubtype="8" fill="hold" nodeType="afterEffect">
                                  <p:stCondLst>
                                    <p:cond delay="0"/>
                                  </p:stCondLst>
                                  <p:childTnLst>
                                    <p:set>
                                      <p:cBhvr>
                                        <p:cTn id="131" dur="1" fill="hold">
                                          <p:stCondLst>
                                            <p:cond delay="0"/>
                                          </p:stCondLst>
                                        </p:cTn>
                                        <p:tgtEl>
                                          <p:spTgt spid="80"/>
                                        </p:tgtEl>
                                        <p:attrNameLst>
                                          <p:attrName>style.visibility</p:attrName>
                                        </p:attrNameLst>
                                      </p:cBhvr>
                                      <p:to>
                                        <p:strVal val="visible"/>
                                      </p:to>
                                    </p:set>
                                    <p:animEffect transition="in" filter="wipe(left)">
                                      <p:cBhvr>
                                        <p:cTn id="132" dur="3000"/>
                                        <p:tgtEl>
                                          <p:spTgt spid="80"/>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iterate type="lt">
                                    <p:tmPct val="30000"/>
                                  </p:iterate>
                                  <p:childTnLst>
                                    <p:set>
                                      <p:cBhvr>
                                        <p:cTn id="136" dur="1" fill="hold">
                                          <p:stCondLst>
                                            <p:cond delay="0"/>
                                          </p:stCondLst>
                                        </p:cTn>
                                        <p:tgtEl>
                                          <p:spTgt spid="81">
                                            <p:txEl>
                                              <p:pRg st="0" end="0"/>
                                            </p:txEl>
                                          </p:spTgt>
                                        </p:tgtEl>
                                        <p:attrNameLst>
                                          <p:attrName>style.visibility</p:attrName>
                                        </p:attrNameLst>
                                      </p:cBhvr>
                                      <p:to>
                                        <p:strVal val="visible"/>
                                      </p:to>
                                    </p:set>
                                    <p:animEffect transition="in" filter="wipe(left)">
                                      <p:cBhvr>
                                        <p:cTn id="137" dur="500"/>
                                        <p:tgtEl>
                                          <p:spTgt spid="81">
                                            <p:txEl>
                                              <p:pRg st="0" end="0"/>
                                            </p:txEl>
                                          </p:spTgt>
                                        </p:tgtEl>
                                      </p:cBhvr>
                                    </p:animEffect>
                                  </p:childTnLst>
                                  <p:subTnLst>
                                    <p:audio>
                                      <p:cMediaNode>
                                        <p:cTn display="0" masterRel="sameClick">
                                          <p:stCondLst>
                                            <p:cond evt="begin" delay="0">
                                              <p:tn val="135"/>
                                            </p:cond>
                                          </p:stCondLst>
                                          <p:endCondLst>
                                            <p:cond evt="onStopAudio" delay="0">
                                              <p:tgtEl>
                                                <p:sldTgt/>
                                              </p:tgtEl>
                                            </p:cond>
                                          </p:endCondLst>
                                        </p:cTn>
                                        <p:tgtEl>
                                          <p:sndTgt r:embed="rId3" name="CAMERA.WAV"/>
                                        </p:tgtEl>
                                      </p:cMediaNode>
                                    </p:audio>
                                  </p:subTnLst>
                                </p:cTn>
                              </p:par>
                            </p:childTnLst>
                          </p:cTn>
                        </p:par>
                        <p:par>
                          <p:cTn id="138" fill="hold">
                            <p:stCondLst>
                              <p:cond delay="800"/>
                            </p:stCondLst>
                            <p:childTnLst>
                              <p:par>
                                <p:cTn id="139" presetID="22" presetClass="entr" presetSubtype="8" fill="hold" nodeType="afterEffect">
                                  <p:stCondLst>
                                    <p:cond delay="0"/>
                                  </p:stCondLst>
                                  <p:childTnLst>
                                    <p:set>
                                      <p:cBhvr>
                                        <p:cTn id="140" dur="1" fill="hold">
                                          <p:stCondLst>
                                            <p:cond delay="0"/>
                                          </p:stCondLst>
                                        </p:cTn>
                                        <p:tgtEl>
                                          <p:spTgt spid="82"/>
                                        </p:tgtEl>
                                        <p:attrNameLst>
                                          <p:attrName>style.visibility</p:attrName>
                                        </p:attrNameLst>
                                      </p:cBhvr>
                                      <p:to>
                                        <p:strVal val="visible"/>
                                      </p:to>
                                    </p:set>
                                    <p:animEffect transition="in" filter="wipe(left)">
                                      <p:cBhvr>
                                        <p:cTn id="141" dur="3000"/>
                                        <p:tgtEl>
                                          <p:spTgt spid="82"/>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iterate type="lt">
                                    <p:tmPct val="30000"/>
                                  </p:iterate>
                                  <p:childTnLst>
                                    <p:set>
                                      <p:cBhvr>
                                        <p:cTn id="145" dur="1" fill="hold">
                                          <p:stCondLst>
                                            <p:cond delay="0"/>
                                          </p:stCondLst>
                                        </p:cTn>
                                        <p:tgtEl>
                                          <p:spTgt spid="85">
                                            <p:txEl>
                                              <p:pRg st="0" end="0"/>
                                            </p:txEl>
                                          </p:spTgt>
                                        </p:tgtEl>
                                        <p:attrNameLst>
                                          <p:attrName>style.visibility</p:attrName>
                                        </p:attrNameLst>
                                      </p:cBhvr>
                                      <p:to>
                                        <p:strVal val="visible"/>
                                      </p:to>
                                    </p:set>
                                    <p:animEffect transition="in" filter="wipe(left)">
                                      <p:cBhvr>
                                        <p:cTn id="146" dur="500"/>
                                        <p:tgtEl>
                                          <p:spTgt spid="85">
                                            <p:txEl>
                                              <p:pRg st="0" end="0"/>
                                            </p:txEl>
                                          </p:spTgt>
                                        </p:tgtEl>
                                      </p:cBhvr>
                                    </p:animEffect>
                                  </p:childTnLst>
                                  <p:subTnLst>
                                    <p:audio>
                                      <p:cMediaNode>
                                        <p:cTn display="0" masterRel="sameClick">
                                          <p:stCondLst>
                                            <p:cond evt="begin" delay="0">
                                              <p:tn val="144"/>
                                            </p:cond>
                                          </p:stCondLst>
                                          <p:endCondLst>
                                            <p:cond evt="onStopAudio" delay="0">
                                              <p:tgtEl>
                                                <p:sldTgt/>
                                              </p:tgtEl>
                                            </p:cond>
                                          </p:endCondLst>
                                        </p:cTn>
                                        <p:tgtEl>
                                          <p:sndTgt r:embed="rId3" name="CAMERA.WAV"/>
                                        </p:tgtEl>
                                      </p:cMediaNode>
                                    </p:audio>
                                  </p:subTnLst>
                                </p:cTn>
                              </p:par>
                            </p:childTnLst>
                          </p:cTn>
                        </p:par>
                        <p:par>
                          <p:cTn id="147" fill="hold">
                            <p:stCondLst>
                              <p:cond delay="800"/>
                            </p:stCondLst>
                            <p:childTnLst>
                              <p:par>
                                <p:cTn id="148" presetID="22" presetClass="entr" presetSubtype="8" fill="hold" nodeType="afterEffect">
                                  <p:stCondLst>
                                    <p:cond delay="0"/>
                                  </p:stCondLst>
                                  <p:childTnLst>
                                    <p:set>
                                      <p:cBhvr>
                                        <p:cTn id="149" dur="1" fill="hold">
                                          <p:stCondLst>
                                            <p:cond delay="0"/>
                                          </p:stCondLst>
                                        </p:cTn>
                                        <p:tgtEl>
                                          <p:spTgt spid="83"/>
                                        </p:tgtEl>
                                        <p:attrNameLst>
                                          <p:attrName>style.visibility</p:attrName>
                                        </p:attrNameLst>
                                      </p:cBhvr>
                                      <p:to>
                                        <p:strVal val="visible"/>
                                      </p:to>
                                    </p:set>
                                    <p:animEffect transition="in" filter="wipe(left)">
                                      <p:cBhvr>
                                        <p:cTn id="150" dur="3000"/>
                                        <p:tgtEl>
                                          <p:spTgt spid="83"/>
                                        </p:tgtEl>
                                      </p:cBhvr>
                                    </p:animEffect>
                                  </p:childTnLst>
                                </p:cTn>
                              </p:par>
                            </p:childTnLst>
                          </p:cTn>
                        </p:par>
                      </p:childTnLst>
                    </p:cTn>
                  </p:par>
                  <p:par>
                    <p:cTn id="151" fill="hold">
                      <p:stCondLst>
                        <p:cond delay="indefinite"/>
                      </p:stCondLst>
                      <p:childTnLst>
                        <p:par>
                          <p:cTn id="152" fill="hold">
                            <p:stCondLst>
                              <p:cond delay="0"/>
                            </p:stCondLst>
                            <p:childTnLst>
                              <p:par>
                                <p:cTn id="153" presetID="16" presetClass="entr" presetSubtype="26" fill="hold" nodeType="clickEffect">
                                  <p:stCondLst>
                                    <p:cond delay="0"/>
                                  </p:stCondLst>
                                  <p:childTnLst>
                                    <p:set>
                                      <p:cBhvr>
                                        <p:cTn id="154" dur="1" fill="hold">
                                          <p:stCondLst>
                                            <p:cond delay="0"/>
                                          </p:stCondLst>
                                        </p:cTn>
                                        <p:tgtEl>
                                          <p:spTgt spid="84"/>
                                        </p:tgtEl>
                                        <p:attrNameLst>
                                          <p:attrName>style.visibility</p:attrName>
                                        </p:attrNameLst>
                                      </p:cBhvr>
                                      <p:to>
                                        <p:strVal val="visible"/>
                                      </p:to>
                                    </p:set>
                                    <p:animEffect transition="in" filter="barn(inHorizontal)">
                                      <p:cBhvr>
                                        <p:cTn id="155" dur="3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48" grpId="0"/>
      <p:bldP spid="49" grpId="0"/>
      <p:bldP spid="50" grpId="0"/>
      <p:bldP spid="57" grpId="0"/>
      <p:bldP spid="61" grpId="0"/>
      <p:bldP spid="62" grpId="0"/>
      <p:bldP spid="63" grpId="0"/>
      <p:bldP spid="64" grpId="0"/>
      <p:bldP spid="65" grpId="0"/>
      <p:bldP spid="66" grpId="0"/>
      <p:bldP spid="67" grpId="0"/>
      <p:bldP spid="68" grpId="0"/>
      <p:bldP spid="69" grpId="0"/>
      <p:bldP spid="77" grpId="0"/>
      <p:bldP spid="78" grpId="0" autoUpdateAnimBg="0"/>
      <p:bldP spid="79" grpId="0" build="p" autoUpdateAnimBg="0"/>
      <p:bldP spid="81" grpId="0" build="p" autoUpdateAnimBg="0"/>
      <p:bldP spid="8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51346" y="967596"/>
            <a:ext cx="10413205" cy="596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zh-CN" altLang="en-US" sz="2800" i="0" dirty="0">
                <a:latin typeface="+mn-lt"/>
                <a:ea typeface="微软雅黑" panose="020B0503020204020204" pitchFamily="34" charset="-122"/>
              </a:rPr>
              <a:t>有若物体为均质体，则</a:t>
            </a:r>
            <a:r>
              <a:rPr lang="en-US" altLang="zh-CN" sz="2800" b="0" dirty="0">
                <a:latin typeface="+mn-lt"/>
                <a:ea typeface="微软雅黑" panose="020B0503020204020204" pitchFamily="34" charset="-122"/>
              </a:rPr>
              <a:t>G</a:t>
            </a:r>
            <a:r>
              <a:rPr lang="en-US" altLang="zh-CN" sz="280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V</a:t>
            </a:r>
            <a:r>
              <a:rPr lang="zh-CN" altLang="en-US" sz="2800" i="0" dirty="0">
                <a:latin typeface="+mn-lt"/>
                <a:ea typeface="微软雅黑" panose="020B0503020204020204" pitchFamily="34" charset="-122"/>
              </a:rPr>
              <a:t>，</a:t>
            </a:r>
            <a:r>
              <a:rPr lang="zh-CN" altLang="en-US" sz="2800" i="0" dirty="0">
                <a:latin typeface="+mn-lt"/>
                <a:ea typeface="微软雅黑" panose="020B0503020204020204" pitchFamily="34" charset="-122"/>
                <a:sym typeface="Symbol" panose="05050102010706020507" pitchFamily="18" charset="2"/>
              </a:rPr>
              <a:t></a:t>
            </a:r>
            <a:r>
              <a:rPr lang="en-US" altLang="zh-CN" sz="2800" b="0" dirty="0" err="1">
                <a:latin typeface="+mn-lt"/>
                <a:ea typeface="微软雅黑" panose="020B0503020204020204" pitchFamily="34" charset="-122"/>
              </a:rPr>
              <a:t>G</a:t>
            </a:r>
            <a:r>
              <a:rPr lang="en-US" altLang="zh-CN" sz="2800" b="0" baseline="-25000" dirty="0" err="1">
                <a:latin typeface="+mn-lt"/>
                <a:ea typeface="微软雅黑" panose="020B0503020204020204" pitchFamily="34" charset="-122"/>
              </a:rPr>
              <a:t>k</a:t>
            </a:r>
            <a:r>
              <a:rPr lang="en-US" altLang="zh-CN" sz="2800" i="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en-US" altLang="zh-CN" sz="2800" b="0" i="0" dirty="0">
                <a:latin typeface="+mn-lt"/>
                <a:ea typeface="微软雅黑" panose="020B0503020204020204" pitchFamily="34" charset="-122"/>
                <a:sym typeface="Symbol" panose="05050102010706020507" pitchFamily="18" charset="2"/>
              </a:rPr>
              <a:t></a:t>
            </a:r>
            <a:r>
              <a:rPr lang="en-US" altLang="zh-CN" sz="2800" b="0" dirty="0" err="1">
                <a:latin typeface="+mn-lt"/>
                <a:ea typeface="微软雅黑" panose="020B0503020204020204" pitchFamily="34" charset="-122"/>
              </a:rPr>
              <a:t>V</a:t>
            </a:r>
            <a:r>
              <a:rPr lang="en-US" altLang="zh-CN" sz="2800" b="0" baseline="-25000" dirty="0" err="1">
                <a:latin typeface="+mn-lt"/>
                <a:ea typeface="微软雅黑" panose="020B0503020204020204" pitchFamily="34" charset="-122"/>
              </a:rPr>
              <a:t>k</a:t>
            </a:r>
            <a:r>
              <a:rPr lang="zh-CN" altLang="en-US" sz="2800" i="0" dirty="0">
                <a:latin typeface="+mn-lt"/>
                <a:ea typeface="微软雅黑" panose="020B0503020204020204" pitchFamily="34" charset="-122"/>
              </a:rPr>
              <a:t>，代入消去</a:t>
            </a:r>
            <a:r>
              <a:rPr lang="zh-CN" altLang="en-US"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，可得 </a:t>
            </a:r>
          </a:p>
        </p:txBody>
      </p:sp>
      <p:sp>
        <p:nvSpPr>
          <p:cNvPr id="2" name="Text Box 3">
            <a:extLst>
              <a:ext uri="{FF2B5EF4-FFF2-40B4-BE49-F238E27FC236}">
                <a16:creationId xmlns:a16="http://schemas.microsoft.com/office/drawing/2014/main" id="{8B491619-C652-324C-EAD2-AFA5DAC65DA5}"/>
              </a:ext>
            </a:extLst>
          </p:cNvPr>
          <p:cNvSpPr txBox="1">
            <a:spLocks noChangeArrowheads="1"/>
          </p:cNvSpPr>
          <p:nvPr/>
        </p:nvSpPr>
        <p:spPr bwMode="auto">
          <a:xfrm>
            <a:off x="3954711" y="2219598"/>
            <a:ext cx="1290637"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dirty="0" err="1">
                <a:solidFill>
                  <a:schemeClr val="tx1"/>
                </a:solidFill>
                <a:ea typeface="黑体" panose="02010609060101010101" pitchFamily="49" charset="-122"/>
              </a:rPr>
              <a:t>x</a:t>
            </a:r>
            <a:r>
              <a:rPr kumimoji="1" lang="en-US" altLang="zh-CN" b="0" baseline="-2500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 </a:t>
            </a:r>
          </a:p>
        </p:txBody>
      </p:sp>
      <p:sp>
        <p:nvSpPr>
          <p:cNvPr id="4" name="Text Box 4">
            <a:extLst>
              <a:ext uri="{FF2B5EF4-FFF2-40B4-BE49-F238E27FC236}">
                <a16:creationId xmlns:a16="http://schemas.microsoft.com/office/drawing/2014/main" id="{72090B3F-8EAF-2D03-32AE-58CD45060B2B}"/>
              </a:ext>
            </a:extLst>
          </p:cNvPr>
          <p:cNvSpPr txBox="1">
            <a:spLocks noChangeArrowheads="1"/>
          </p:cNvSpPr>
          <p:nvPr/>
        </p:nvSpPr>
        <p:spPr bwMode="auto">
          <a:xfrm>
            <a:off x="4008686" y="3162573"/>
            <a:ext cx="100965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dirty="0" err="1">
                <a:solidFill>
                  <a:schemeClr val="tx1"/>
                </a:solidFill>
                <a:ea typeface="黑体" panose="02010609060101010101" pitchFamily="49" charset="-122"/>
              </a:rPr>
              <a:t>y</a:t>
            </a:r>
            <a:r>
              <a:rPr kumimoji="1" lang="en-US" altLang="zh-CN" b="0" baseline="-2500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 </a:t>
            </a:r>
          </a:p>
        </p:txBody>
      </p:sp>
      <p:sp>
        <p:nvSpPr>
          <p:cNvPr id="5" name="Text Box 5">
            <a:extLst>
              <a:ext uri="{FF2B5EF4-FFF2-40B4-BE49-F238E27FC236}">
                <a16:creationId xmlns:a16="http://schemas.microsoft.com/office/drawing/2014/main" id="{AB156FCF-3105-5EB5-146F-CDCAD53AD5C9}"/>
              </a:ext>
            </a:extLst>
          </p:cNvPr>
          <p:cNvSpPr txBox="1">
            <a:spLocks noChangeArrowheads="1"/>
          </p:cNvSpPr>
          <p:nvPr/>
        </p:nvSpPr>
        <p:spPr bwMode="auto">
          <a:xfrm>
            <a:off x="3942011" y="4183335"/>
            <a:ext cx="100965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dirty="0" err="1">
                <a:solidFill>
                  <a:schemeClr val="tx1"/>
                </a:solidFill>
                <a:ea typeface="黑体" panose="02010609060101010101" pitchFamily="49" charset="-122"/>
              </a:rPr>
              <a:t>z</a:t>
            </a:r>
            <a:r>
              <a:rPr kumimoji="1" lang="en-US" altLang="zh-CN" b="0" baseline="-2500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 </a:t>
            </a:r>
          </a:p>
        </p:txBody>
      </p:sp>
      <p:graphicFrame>
        <p:nvGraphicFramePr>
          <p:cNvPr id="6" name="Object 6">
            <a:extLst>
              <a:ext uri="{FF2B5EF4-FFF2-40B4-BE49-F238E27FC236}">
                <a16:creationId xmlns:a16="http://schemas.microsoft.com/office/drawing/2014/main" id="{B2DEEE1F-1974-1047-0FC2-CA61CC07C0DB}"/>
              </a:ext>
            </a:extLst>
          </p:cNvPr>
          <p:cNvGraphicFramePr>
            <a:graphicFrameLocks noChangeAspect="1"/>
          </p:cNvGraphicFramePr>
          <p:nvPr>
            <p:extLst>
              <p:ext uri="{D42A27DB-BD31-4B8C-83A1-F6EECF244321}">
                <p14:modId xmlns:p14="http://schemas.microsoft.com/office/powerpoint/2010/main" val="3258350348"/>
              </p:ext>
            </p:extLst>
          </p:nvPr>
        </p:nvGraphicFramePr>
        <p:xfrm>
          <a:off x="4672287" y="1865825"/>
          <a:ext cx="2705100" cy="1108075"/>
        </p:xfrm>
        <a:graphic>
          <a:graphicData uri="http://schemas.openxmlformats.org/presentationml/2006/ole">
            <mc:AlternateContent xmlns:mc="http://schemas.openxmlformats.org/markup-compatibility/2006">
              <mc:Choice xmlns:v="urn:schemas-microsoft-com:vml" Requires="v">
                <p:oleObj name="Equation" r:id="rId4" imgW="1193760" imgH="482400" progId="Equation.DSMT4">
                  <p:embed/>
                </p:oleObj>
              </mc:Choice>
              <mc:Fallback>
                <p:oleObj name="Equation" r:id="rId4" imgW="1193760" imgH="482400" progId="Equation.DSMT4">
                  <p:embed/>
                  <p:pic>
                    <p:nvPicPr>
                      <p:cNvPr id="6" name="Object 6">
                        <a:extLst>
                          <a:ext uri="{FF2B5EF4-FFF2-40B4-BE49-F238E27FC236}">
                            <a16:creationId xmlns:a16="http://schemas.microsoft.com/office/drawing/2014/main" id="{B2DEEE1F-1974-1047-0FC2-CA61CC07C0DB}"/>
                          </a:ext>
                        </a:extLst>
                      </p:cNvPr>
                      <p:cNvPicPr>
                        <a:picLocks noChangeAspect="1" noChangeArrowheads="1"/>
                      </p:cNvPicPr>
                      <p:nvPr/>
                    </p:nvPicPr>
                    <p:blipFill>
                      <a:blip r:embed="rId5"/>
                      <a:srcRect/>
                      <a:stretch>
                        <a:fillRect/>
                      </a:stretch>
                    </p:blipFill>
                    <p:spPr bwMode="auto">
                      <a:xfrm>
                        <a:off x="4672287" y="1865825"/>
                        <a:ext cx="2705100"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56619B30-9070-4F62-30B3-6D976C7B01F3}"/>
              </a:ext>
            </a:extLst>
          </p:cNvPr>
          <p:cNvGraphicFramePr>
            <a:graphicFrameLocks noChangeAspect="1"/>
          </p:cNvGraphicFramePr>
          <p:nvPr>
            <p:extLst>
              <p:ext uri="{D42A27DB-BD31-4B8C-83A1-F6EECF244321}">
                <p14:modId xmlns:p14="http://schemas.microsoft.com/office/powerpoint/2010/main" val="628768345"/>
              </p:ext>
            </p:extLst>
          </p:nvPr>
        </p:nvGraphicFramePr>
        <p:xfrm>
          <a:off x="4643712" y="2779839"/>
          <a:ext cx="2762250" cy="1108075"/>
        </p:xfrm>
        <a:graphic>
          <a:graphicData uri="http://schemas.openxmlformats.org/presentationml/2006/ole">
            <mc:AlternateContent xmlns:mc="http://schemas.openxmlformats.org/markup-compatibility/2006">
              <mc:Choice xmlns:v="urn:schemas-microsoft-com:vml" Requires="v">
                <p:oleObj name="Equation" r:id="rId6" imgW="1206360" imgH="482400" progId="Equation.DSMT4">
                  <p:embed/>
                </p:oleObj>
              </mc:Choice>
              <mc:Fallback>
                <p:oleObj name="Equation" r:id="rId6" imgW="1206360" imgH="482400" progId="Equation.DSMT4">
                  <p:embed/>
                  <p:pic>
                    <p:nvPicPr>
                      <p:cNvPr id="8" name="Object 7">
                        <a:extLst>
                          <a:ext uri="{FF2B5EF4-FFF2-40B4-BE49-F238E27FC236}">
                            <a16:creationId xmlns:a16="http://schemas.microsoft.com/office/drawing/2014/main" id="{56619B30-9070-4F62-30B3-6D976C7B01F3}"/>
                          </a:ext>
                        </a:extLst>
                      </p:cNvPr>
                      <p:cNvPicPr>
                        <a:picLocks noChangeAspect="1" noChangeArrowheads="1"/>
                      </p:cNvPicPr>
                      <p:nvPr/>
                    </p:nvPicPr>
                    <p:blipFill>
                      <a:blip r:embed="rId7"/>
                      <a:srcRect/>
                      <a:stretch>
                        <a:fillRect/>
                      </a:stretch>
                    </p:blipFill>
                    <p:spPr bwMode="auto">
                      <a:xfrm>
                        <a:off x="4643712" y="2779839"/>
                        <a:ext cx="2762250"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52DFE428-1BE8-F6E7-62A5-C3A84C8D5A87}"/>
              </a:ext>
            </a:extLst>
          </p:cNvPr>
          <p:cNvGraphicFramePr>
            <a:graphicFrameLocks noChangeAspect="1"/>
          </p:cNvGraphicFramePr>
          <p:nvPr>
            <p:extLst>
              <p:ext uri="{D42A27DB-BD31-4B8C-83A1-F6EECF244321}">
                <p14:modId xmlns:p14="http://schemas.microsoft.com/office/powerpoint/2010/main" val="3261933010"/>
              </p:ext>
            </p:extLst>
          </p:nvPr>
        </p:nvGraphicFramePr>
        <p:xfrm>
          <a:off x="4650769" y="3819496"/>
          <a:ext cx="2676525" cy="1104900"/>
        </p:xfrm>
        <a:graphic>
          <a:graphicData uri="http://schemas.openxmlformats.org/presentationml/2006/ole">
            <mc:AlternateContent xmlns:mc="http://schemas.openxmlformats.org/markup-compatibility/2006">
              <mc:Choice xmlns:v="urn:schemas-microsoft-com:vml" Requires="v">
                <p:oleObj name="Equation" r:id="rId8" imgW="1180800" imgH="482400" progId="Equation.DSMT4">
                  <p:embed/>
                </p:oleObj>
              </mc:Choice>
              <mc:Fallback>
                <p:oleObj name="Equation" r:id="rId8" imgW="1180800" imgH="482400" progId="Equation.DSMT4">
                  <p:embed/>
                  <p:pic>
                    <p:nvPicPr>
                      <p:cNvPr id="9" name="Object 8">
                        <a:extLst>
                          <a:ext uri="{FF2B5EF4-FFF2-40B4-BE49-F238E27FC236}">
                            <a16:creationId xmlns:a16="http://schemas.microsoft.com/office/drawing/2014/main" id="{52DFE428-1BE8-F6E7-62A5-C3A84C8D5A87}"/>
                          </a:ext>
                        </a:extLst>
                      </p:cNvPr>
                      <p:cNvPicPr>
                        <a:picLocks noChangeAspect="1" noChangeArrowheads="1"/>
                      </p:cNvPicPr>
                      <p:nvPr/>
                    </p:nvPicPr>
                    <p:blipFill>
                      <a:blip r:embed="rId9"/>
                      <a:srcRect/>
                      <a:stretch>
                        <a:fillRect/>
                      </a:stretch>
                    </p:blipFill>
                    <p:spPr bwMode="auto">
                      <a:xfrm>
                        <a:off x="4650769" y="3819496"/>
                        <a:ext cx="2676525"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AutoShape 9">
            <a:extLst>
              <a:ext uri="{FF2B5EF4-FFF2-40B4-BE49-F238E27FC236}">
                <a16:creationId xmlns:a16="http://schemas.microsoft.com/office/drawing/2014/main" id="{F54BCCFD-29F3-53AB-4E0A-112A3975C779}"/>
              </a:ext>
            </a:extLst>
          </p:cNvPr>
          <p:cNvSpPr>
            <a:spLocks/>
          </p:cNvSpPr>
          <p:nvPr/>
        </p:nvSpPr>
        <p:spPr bwMode="auto">
          <a:xfrm>
            <a:off x="7509048" y="2316435"/>
            <a:ext cx="188913" cy="2233613"/>
          </a:xfrm>
          <a:prstGeom prst="rightBrace">
            <a:avLst>
              <a:gd name="adj1" fmla="val 9852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chemeClr val="tx1"/>
              </a:solidFill>
              <a:effectLst/>
              <a:uLnTx/>
              <a:uFillTx/>
              <a:ea typeface="黑体" panose="02010609060101010101" pitchFamily="49" charset="-122"/>
            </a:endParaRPr>
          </a:p>
        </p:txBody>
      </p:sp>
      <p:sp>
        <p:nvSpPr>
          <p:cNvPr id="12" name="文本框 11">
            <a:extLst>
              <a:ext uri="{FF2B5EF4-FFF2-40B4-BE49-F238E27FC236}">
                <a16:creationId xmlns:a16="http://schemas.microsoft.com/office/drawing/2014/main" id="{85D13958-8FCD-A246-9C3C-D5E5B0067742}"/>
              </a:ext>
            </a:extLst>
          </p:cNvPr>
          <p:cNvSpPr txBox="1"/>
          <p:nvPr/>
        </p:nvSpPr>
        <p:spPr>
          <a:xfrm>
            <a:off x="911424" y="5140889"/>
            <a:ext cx="9145016" cy="954107"/>
          </a:xfrm>
          <a:prstGeom prst="rect">
            <a:avLst/>
          </a:prstGeom>
          <a:noFill/>
        </p:spPr>
        <p:txBody>
          <a:bodyPr wrap="square">
            <a:spAutoFit/>
          </a:bodyPr>
          <a:lstStyle/>
          <a:p>
            <a:r>
              <a:rPr kumimoji="1" lang="zh-CN" altLang="en-US" sz="2800" i="0" dirty="0">
                <a:solidFill>
                  <a:schemeClr val="tx1"/>
                </a:solidFill>
                <a:latin typeface="+mn-lt"/>
                <a:ea typeface="微软雅黑" panose="020B0503020204020204" pitchFamily="34" charset="-122"/>
              </a:rPr>
              <a:t>均质物体的重心位置完全取决于物体的形状。于是，均质物体的重心也就改称为</a:t>
            </a:r>
            <a:r>
              <a:rPr kumimoji="1" lang="zh-CN" altLang="en-US" sz="2800" i="0" dirty="0">
                <a:latin typeface="+mn-lt"/>
                <a:ea typeface="微软雅黑" panose="020B0503020204020204" pitchFamily="34" charset="-122"/>
              </a:rPr>
              <a:t>形心</a:t>
            </a:r>
            <a:r>
              <a:rPr kumimoji="1" lang="zh-CN" altLang="en-US" sz="2800" i="0" dirty="0">
                <a:solidFill>
                  <a:schemeClr val="tx1"/>
                </a:solidFill>
                <a:latin typeface="+mn-lt"/>
                <a:ea typeface="微软雅黑" panose="020B0503020204020204" pitchFamily="34" charset="-122"/>
              </a:rPr>
              <a:t>。 </a:t>
            </a:r>
          </a:p>
        </p:txBody>
      </p:sp>
    </p:spTree>
    <p:extLst>
      <p:ext uri="{BB962C8B-B14F-4D97-AF65-F5344CB8AC3E}">
        <p14:creationId xmlns:p14="http://schemas.microsoft.com/office/powerpoint/2010/main" val="39150554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30000"/>
                                  </p:iterate>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par>
                          <p:cTn id="12" fill="hold">
                            <p:stCondLst>
                              <p:cond delay="8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3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30000"/>
                                  </p:iterate>
                                  <p:childTnLst>
                                    <p:set>
                                      <p:cBhvr>
                                        <p:cTn id="19" dur="1" fill="hold">
                                          <p:stCondLst>
                                            <p:cond delay="0"/>
                                          </p:stCondLst>
                                        </p:cTn>
                                        <p:tgtEl>
                                          <p:spTgt spid="4">
                                            <p:txEl>
                                              <p:pRg st="0" end="0"/>
                                            </p:txEl>
                                          </p:spTgt>
                                        </p:tgtEl>
                                        <p:attrNameLst>
                                          <p:attrName>style.visibility</p:attrName>
                                        </p:attrNameLst>
                                      </p:cBhvr>
                                      <p:to>
                                        <p:strVal val="visible"/>
                                      </p:to>
                                    </p:set>
                                    <p:animEffect transition="in" filter="wipe(left)">
                                      <p:cBhvr>
                                        <p:cTn id="20" dur="500"/>
                                        <p:tgtEl>
                                          <p:spTgt spid="4">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par>
                          <p:cTn id="21" fill="hold">
                            <p:stCondLst>
                              <p:cond delay="8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0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30000"/>
                                  </p:iterate>
                                  <p:childTnLst>
                                    <p:set>
                                      <p:cBhvr>
                                        <p:cTn id="28" dur="1" fill="hold">
                                          <p:stCondLst>
                                            <p:cond delay="0"/>
                                          </p:stCondLst>
                                        </p:cTn>
                                        <p:tgtEl>
                                          <p:spTgt spid="5">
                                            <p:txEl>
                                              <p:pRg st="0" end="0"/>
                                            </p:txEl>
                                          </p:spTgt>
                                        </p:tgtEl>
                                        <p:attrNameLst>
                                          <p:attrName>style.visibility</p:attrName>
                                        </p:attrNameLst>
                                      </p:cBhvr>
                                      <p:to>
                                        <p:strVal val="visible"/>
                                      </p:to>
                                    </p:set>
                                    <p:animEffect transition="in" filter="wipe(left)">
                                      <p:cBhvr>
                                        <p:cTn id="29" dur="500"/>
                                        <p:tgtEl>
                                          <p:spTgt spid="5">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0" fill="hold">
                            <p:stCondLst>
                              <p:cond delay="800"/>
                            </p:stCondLst>
                            <p:childTnLst>
                              <p:par>
                                <p:cTn id="31" presetID="22" presetClass="entr" presetSubtype="8"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3000"/>
                                        <p:tgtEl>
                                          <p:spTgt spid="9"/>
                                        </p:tgtEl>
                                      </p:cBhvr>
                                    </p:animEffect>
                                  </p:childTnLst>
                                </p:cTn>
                              </p:par>
                            </p:childTnLst>
                          </p:cTn>
                        </p:par>
                        <p:par>
                          <p:cTn id="34" fill="hold">
                            <p:stCondLst>
                              <p:cond delay="3800"/>
                            </p:stCondLst>
                            <p:childTnLst>
                              <p:par>
                                <p:cTn id="35" presetID="16" presetClass="entr" presetSubtype="26"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arn(inHorizontal)">
                                      <p:cBhvr>
                                        <p:cTn id="37" dur="30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2" grpId="0" build="p" autoUpdateAnimBg="0"/>
      <p:bldP spid="4" grpId="0" build="p" autoUpdateAnimBg="0"/>
      <p:bldP spid="5" grpId="0" build="p" autoUpdateAnimBg="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2" name="Text Box 9"/>
          <p:cNvSpPr txBox="1">
            <a:spLocks noChangeArrowheads="1"/>
          </p:cNvSpPr>
          <p:nvPr/>
        </p:nvSpPr>
        <p:spPr bwMode="auto">
          <a:xfrm>
            <a:off x="651346" y="767207"/>
            <a:ext cx="10413205"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zh-CN" altLang="en-US" sz="2800" i="0" dirty="0">
                <a:latin typeface="+mn-lt"/>
                <a:ea typeface="微软雅黑" panose="020B0503020204020204" pitchFamily="34" charset="-122"/>
              </a:rPr>
              <a:t>如果物体不仅是均质的，而且是等厚平板，消去板厚，则其形心坐标为</a:t>
            </a:r>
          </a:p>
        </p:txBody>
      </p:sp>
      <p:sp>
        <p:nvSpPr>
          <p:cNvPr id="12" name="文本框 11">
            <a:extLst>
              <a:ext uri="{FF2B5EF4-FFF2-40B4-BE49-F238E27FC236}">
                <a16:creationId xmlns:a16="http://schemas.microsoft.com/office/drawing/2014/main" id="{85D13958-8FCD-A246-9C3C-D5E5B0067742}"/>
              </a:ext>
            </a:extLst>
          </p:cNvPr>
          <p:cNvSpPr txBox="1"/>
          <p:nvPr/>
        </p:nvSpPr>
        <p:spPr>
          <a:xfrm>
            <a:off x="911424" y="4392455"/>
            <a:ext cx="10009112" cy="1717971"/>
          </a:xfrm>
          <a:prstGeom prst="rect">
            <a:avLst/>
          </a:prstGeom>
          <a:noFill/>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zh-CN" altLang="en-US" sz="2800" i="0" u="none" strike="noStrike" kern="1200" cap="none" spc="0" normalizeH="0" baseline="0" noProof="0" dirty="0">
                <a:ln>
                  <a:noFill/>
                </a:ln>
                <a:solidFill>
                  <a:schemeClr val="tx1"/>
                </a:solidFill>
                <a:effectLst/>
                <a:uLnTx/>
                <a:uFillTx/>
                <a:latin typeface="+mj-lt"/>
                <a:ea typeface="微软雅黑" panose="020B0503020204020204" pitchFamily="34" charset="-122"/>
              </a:rPr>
              <a:t>∑</a:t>
            </a:r>
            <a:r>
              <a:rPr kumimoji="1" lang="en-US" altLang="zh-CN" sz="2800" i="0" u="none" strike="noStrike" kern="1200" cap="none" spc="0" normalizeH="0" baseline="0" noProof="0" dirty="0">
                <a:ln>
                  <a:noFill/>
                </a:ln>
                <a:solidFill>
                  <a:schemeClr val="tx1"/>
                </a:solidFill>
                <a:effectLst/>
                <a:uLnTx/>
                <a:uFillTx/>
                <a:latin typeface="+mj-lt"/>
                <a:ea typeface="微软雅黑" panose="020B0503020204020204" pitchFamily="34" charset="-122"/>
              </a:rPr>
              <a:t>(</a:t>
            </a:r>
            <a:r>
              <a:rPr kumimoji="1" lang="en-US" altLang="zh-CN" sz="2800" i="0" u="none" strike="noStrike" kern="1200" cap="none" spc="0" normalizeH="0" baseline="0" noProof="0" dirty="0">
                <a:ln>
                  <a:noFill/>
                </a:ln>
                <a:solidFill>
                  <a:schemeClr val="tx1"/>
                </a:solidFill>
                <a:effectLst/>
                <a:uLnTx/>
                <a:uFillTx/>
                <a:latin typeface="+mj-lt"/>
                <a:ea typeface="微软雅黑" panose="020B0503020204020204" pitchFamily="34" charset="-122"/>
                <a:sym typeface="Symbol" panose="05050102010706020507" pitchFamily="18" charset="2"/>
              </a:rPr>
              <a:t></a:t>
            </a:r>
            <a:r>
              <a:rPr kumimoji="1" lang="en-US" altLang="zh-CN" sz="2800" b="0" u="none" strike="noStrike" kern="1200" cap="none" spc="0" normalizeH="0" baseline="0" noProof="0" dirty="0" err="1">
                <a:ln>
                  <a:noFill/>
                </a:ln>
                <a:solidFill>
                  <a:schemeClr val="tx1"/>
                </a:solidFill>
                <a:effectLst/>
                <a:uLnTx/>
                <a:uFillTx/>
                <a:latin typeface="+mj-lt"/>
                <a:ea typeface="微软雅黑" panose="020B0503020204020204" pitchFamily="34" charset="-122"/>
              </a:rPr>
              <a:t>A</a:t>
            </a:r>
            <a:r>
              <a:rPr kumimoji="1" lang="en-US" altLang="zh-CN" sz="2800" i="1" u="none" strike="noStrike" kern="1200" cap="none" spc="0" normalizeH="0" baseline="-25000" noProof="0" dirty="0" err="1">
                <a:ln>
                  <a:noFill/>
                </a:ln>
                <a:solidFill>
                  <a:schemeClr val="tx1"/>
                </a:solidFill>
                <a:effectLst/>
                <a:uLnTx/>
                <a:uFillTx/>
                <a:latin typeface="+mj-lt"/>
                <a:ea typeface="微软雅黑" panose="020B0503020204020204" pitchFamily="34" charset="-122"/>
              </a:rPr>
              <a:t>k</a:t>
            </a:r>
            <a:r>
              <a:rPr kumimoji="1" lang="en-US" altLang="zh-CN" sz="2800" b="0" i="1" u="none" strike="noStrike" kern="1200" cap="none" spc="0" normalizeH="0" baseline="0" noProof="0" dirty="0" err="1">
                <a:ln>
                  <a:noFill/>
                </a:ln>
                <a:solidFill>
                  <a:schemeClr val="tx1"/>
                </a:solidFill>
                <a:effectLst/>
                <a:uLnTx/>
                <a:uFillTx/>
                <a:latin typeface="+mj-lt"/>
                <a:ea typeface="微软雅黑" panose="020B0503020204020204" pitchFamily="34" charset="-122"/>
              </a:rPr>
              <a:t>y</a:t>
            </a:r>
            <a:r>
              <a:rPr kumimoji="1" lang="en-US" altLang="zh-CN" sz="2800" i="1" u="none" strike="noStrike" kern="1200" cap="none" spc="0" normalizeH="0" baseline="-25000" noProof="0" dirty="0" err="1">
                <a:ln>
                  <a:noFill/>
                </a:ln>
                <a:solidFill>
                  <a:schemeClr val="tx1"/>
                </a:solidFill>
                <a:effectLst/>
                <a:uLnTx/>
                <a:uFillTx/>
                <a:latin typeface="+mj-lt"/>
                <a:ea typeface="微软雅黑" panose="020B0503020204020204" pitchFamily="34" charset="-122"/>
              </a:rPr>
              <a:t>k</a:t>
            </a:r>
            <a:r>
              <a:rPr kumimoji="1" lang="en-US" altLang="zh-CN" sz="2800" i="0" u="none" strike="noStrike" kern="1200" cap="none" spc="0" normalizeH="0" baseline="0" noProof="0" dirty="0">
                <a:ln>
                  <a:noFill/>
                </a:ln>
                <a:solidFill>
                  <a:schemeClr val="tx1"/>
                </a:solidFill>
                <a:effectLst/>
                <a:uLnTx/>
                <a:uFillTx/>
                <a:latin typeface="+mj-lt"/>
                <a:ea typeface="微软雅黑" panose="020B0503020204020204" pitchFamily="34" charset="-122"/>
              </a:rPr>
              <a:t>) =</a:t>
            </a:r>
            <a:r>
              <a:rPr kumimoji="1" lang="en-US" altLang="zh-CN" sz="2800" b="0" i="1" u="none" strike="noStrike" kern="1200" cap="none" spc="0" normalizeH="0" baseline="0" noProof="0" dirty="0" err="1">
                <a:ln>
                  <a:noFill/>
                </a:ln>
                <a:solidFill>
                  <a:schemeClr val="tx1"/>
                </a:solidFill>
                <a:effectLst/>
                <a:uLnTx/>
                <a:uFillTx/>
                <a:latin typeface="+mj-lt"/>
                <a:ea typeface="微软雅黑" panose="020B0503020204020204" pitchFamily="34" charset="-122"/>
              </a:rPr>
              <a:t>Ay</a:t>
            </a:r>
            <a:r>
              <a:rPr kumimoji="1" lang="en-US" altLang="zh-CN" sz="2800" b="0" i="1" u="none" strike="noStrike" kern="1200" cap="none" spc="0" normalizeH="0" baseline="-25000" noProof="0" dirty="0" err="1">
                <a:ln>
                  <a:noFill/>
                </a:ln>
                <a:solidFill>
                  <a:schemeClr val="tx1"/>
                </a:solidFill>
                <a:effectLst/>
                <a:uLnTx/>
                <a:uFillTx/>
                <a:latin typeface="+mj-lt"/>
                <a:ea typeface="微软雅黑" panose="020B0503020204020204" pitchFamily="34" charset="-122"/>
              </a:rPr>
              <a:t>C</a:t>
            </a:r>
            <a:r>
              <a:rPr kumimoji="1" lang="zh-CN" altLang="en-US" sz="2800" i="0" u="none" strike="noStrike" kern="1200" cap="none" spc="0" normalizeH="0" baseline="0" noProof="0" dirty="0">
                <a:ln>
                  <a:noFill/>
                </a:ln>
                <a:solidFill>
                  <a:schemeClr val="tx1"/>
                </a:solidFill>
                <a:effectLst/>
                <a:uLnTx/>
                <a:uFillTx/>
                <a:latin typeface="+mj-lt"/>
                <a:ea typeface="微软雅黑" panose="020B0503020204020204" pitchFamily="34" charset="-122"/>
              </a:rPr>
              <a:t>称为图形对 </a:t>
            </a:r>
            <a:r>
              <a:rPr kumimoji="1" lang="en-US" altLang="zh-CN" sz="2800" b="0" i="1" u="none" strike="noStrike" kern="1200" cap="none" spc="0" normalizeH="0" baseline="0" noProof="0" dirty="0">
                <a:ln>
                  <a:noFill/>
                </a:ln>
                <a:solidFill>
                  <a:schemeClr val="tx1"/>
                </a:solidFill>
                <a:effectLst/>
                <a:uLnTx/>
                <a:uFillTx/>
                <a:latin typeface="+mj-lt"/>
                <a:ea typeface="微软雅黑" panose="020B0503020204020204" pitchFamily="34" charset="-122"/>
              </a:rPr>
              <a:t>x </a:t>
            </a:r>
            <a:r>
              <a:rPr kumimoji="1" lang="zh-CN" altLang="en-US" sz="2800" i="0" u="none" strike="noStrike" kern="1200" cap="none" spc="0" normalizeH="0" baseline="0" noProof="0" dirty="0">
                <a:ln>
                  <a:noFill/>
                </a:ln>
                <a:solidFill>
                  <a:schemeClr val="tx1"/>
                </a:solidFill>
                <a:effectLst/>
                <a:uLnTx/>
                <a:uFillTx/>
                <a:latin typeface="+mj-lt"/>
                <a:ea typeface="微软雅黑" panose="020B0503020204020204" pitchFamily="34" charset="-122"/>
              </a:rPr>
              <a:t>轴的静矩。由此可得出结论：</a:t>
            </a:r>
          </a:p>
          <a:p>
            <a:pPr marL="0" marR="0" lvl="0" indent="0" algn="l" defTabSz="914400" rtl="0" eaLnBrk="1" fontAlgn="base" latinLnBrk="0" hangingPunct="1">
              <a:lnSpc>
                <a:spcPct val="130000"/>
              </a:lnSpc>
              <a:spcBef>
                <a:spcPct val="0"/>
              </a:spcBef>
              <a:spcAft>
                <a:spcPct val="0"/>
              </a:spcAft>
              <a:buClrTx/>
              <a:buSzTx/>
              <a:buFontTx/>
              <a:buNone/>
              <a:tabLst/>
              <a:defRPr/>
            </a:pPr>
            <a:r>
              <a:rPr kumimoji="1" lang="zh-CN" altLang="en-US" sz="2800" i="0" u="none" strike="noStrike" kern="1200" cap="none" spc="0" normalizeH="0" baseline="0" noProof="0" dirty="0">
                <a:ln>
                  <a:noFill/>
                </a:ln>
                <a:solidFill>
                  <a:schemeClr val="tx1"/>
                </a:solidFill>
                <a:effectLst/>
                <a:uLnTx/>
                <a:uFillTx/>
                <a:latin typeface="+mj-lt"/>
                <a:ea typeface="微软雅黑" panose="020B0503020204020204" pitchFamily="34" charset="-122"/>
              </a:rPr>
              <a:t>         </a:t>
            </a:r>
            <a:r>
              <a:rPr kumimoji="1" lang="en-US" altLang="zh-CN" sz="2800" i="0" u="none" strike="noStrike" kern="1200" cap="none" spc="0" normalizeH="0" baseline="0" noProof="0" dirty="0">
                <a:ln>
                  <a:noFill/>
                </a:ln>
                <a:effectLst/>
                <a:uLnTx/>
                <a:uFillTx/>
                <a:latin typeface="+mj-lt"/>
                <a:ea typeface="微软雅黑" panose="020B0503020204020204" pitchFamily="34" charset="-122"/>
              </a:rPr>
              <a:t>1</a:t>
            </a:r>
            <a:r>
              <a:rPr kumimoji="1" lang="zh-CN" altLang="en-US" sz="2800" i="0" u="none" strike="noStrike" kern="1200" cap="none" spc="0" normalizeH="0" baseline="0" noProof="0" dirty="0">
                <a:ln>
                  <a:noFill/>
                </a:ln>
                <a:effectLst/>
                <a:uLnTx/>
                <a:uFillTx/>
                <a:latin typeface="+mj-lt"/>
                <a:ea typeface="微软雅黑" panose="020B0503020204020204" pitchFamily="34" charset="-122"/>
              </a:rPr>
              <a:t>）若某轴通过图形的形心，则图形对该轴的静矩必为零。</a:t>
            </a:r>
          </a:p>
          <a:p>
            <a:pPr marL="0" marR="0" lvl="0" indent="0" algn="l" defTabSz="914400" rtl="0" eaLnBrk="1" fontAlgn="base" latinLnBrk="0" hangingPunct="1">
              <a:lnSpc>
                <a:spcPct val="130000"/>
              </a:lnSpc>
              <a:spcBef>
                <a:spcPct val="0"/>
              </a:spcBef>
              <a:spcAft>
                <a:spcPct val="0"/>
              </a:spcAft>
              <a:buClrTx/>
              <a:buSzTx/>
              <a:buFontTx/>
              <a:buNone/>
              <a:tabLst/>
              <a:defRPr/>
            </a:pPr>
            <a:r>
              <a:rPr kumimoji="1" lang="zh-CN" altLang="en-US" sz="2800" i="0" u="none" strike="noStrike" kern="1200" cap="none" spc="0" normalizeH="0" baseline="0" noProof="0" dirty="0">
                <a:ln>
                  <a:noFill/>
                </a:ln>
                <a:solidFill>
                  <a:schemeClr val="tx1"/>
                </a:solidFill>
                <a:effectLst/>
                <a:uLnTx/>
                <a:uFillTx/>
                <a:latin typeface="+mj-lt"/>
                <a:ea typeface="微软雅黑" panose="020B0503020204020204" pitchFamily="34" charset="-122"/>
              </a:rPr>
              <a:t>         </a:t>
            </a:r>
            <a:r>
              <a:rPr kumimoji="1" lang="en-US" altLang="zh-CN" sz="2800" i="0" dirty="0">
                <a:latin typeface="+mj-lt"/>
                <a:ea typeface="微软雅黑" panose="020B0503020204020204" pitchFamily="34" charset="-122"/>
              </a:rPr>
              <a:t>2</a:t>
            </a:r>
            <a:r>
              <a:rPr kumimoji="1" lang="zh-CN" altLang="en-US" sz="2800" i="0" dirty="0">
                <a:latin typeface="+mj-lt"/>
                <a:ea typeface="微软雅黑" panose="020B0503020204020204" pitchFamily="34" charset="-122"/>
              </a:rPr>
              <a:t>）若图形对某轴的静矩为零，则该轴必通过图形的形心。  </a:t>
            </a:r>
          </a:p>
        </p:txBody>
      </p:sp>
      <p:sp>
        <p:nvSpPr>
          <p:cNvPr id="13" name="Text Box 3">
            <a:extLst>
              <a:ext uri="{FF2B5EF4-FFF2-40B4-BE49-F238E27FC236}">
                <a16:creationId xmlns:a16="http://schemas.microsoft.com/office/drawing/2014/main" id="{18180AF7-6E32-BF58-4B1F-33B764246673}"/>
              </a:ext>
            </a:extLst>
          </p:cNvPr>
          <p:cNvSpPr txBox="1">
            <a:spLocks noChangeArrowheads="1"/>
          </p:cNvSpPr>
          <p:nvPr/>
        </p:nvSpPr>
        <p:spPr bwMode="auto">
          <a:xfrm>
            <a:off x="2365723" y="1809055"/>
            <a:ext cx="1290637"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dirty="0" err="1">
                <a:solidFill>
                  <a:schemeClr val="tx1"/>
                </a:solidFill>
                <a:ea typeface="黑体" panose="02010609060101010101" pitchFamily="49" charset="-122"/>
              </a:rPr>
              <a:t>x</a:t>
            </a:r>
            <a:r>
              <a:rPr kumimoji="1" lang="en-US" altLang="zh-CN" b="0" baseline="-2500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 </a:t>
            </a:r>
          </a:p>
        </p:txBody>
      </p:sp>
      <p:sp>
        <p:nvSpPr>
          <p:cNvPr id="14" name="Text Box 4">
            <a:extLst>
              <a:ext uri="{FF2B5EF4-FFF2-40B4-BE49-F238E27FC236}">
                <a16:creationId xmlns:a16="http://schemas.microsoft.com/office/drawing/2014/main" id="{094348DA-F20B-84AD-005B-94A956181704}"/>
              </a:ext>
            </a:extLst>
          </p:cNvPr>
          <p:cNvSpPr txBox="1">
            <a:spLocks noChangeArrowheads="1"/>
          </p:cNvSpPr>
          <p:nvPr/>
        </p:nvSpPr>
        <p:spPr bwMode="auto">
          <a:xfrm>
            <a:off x="2419698" y="2752030"/>
            <a:ext cx="100965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dirty="0" err="1">
                <a:solidFill>
                  <a:schemeClr val="tx1"/>
                </a:solidFill>
                <a:ea typeface="黑体" panose="02010609060101010101" pitchFamily="49" charset="-122"/>
              </a:rPr>
              <a:t>y</a:t>
            </a:r>
            <a:r>
              <a:rPr kumimoji="1" lang="en-US" altLang="zh-CN" b="0" baseline="-2500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 </a:t>
            </a:r>
          </a:p>
        </p:txBody>
      </p:sp>
      <p:sp>
        <p:nvSpPr>
          <p:cNvPr id="15" name="Text Box 5">
            <a:extLst>
              <a:ext uri="{FF2B5EF4-FFF2-40B4-BE49-F238E27FC236}">
                <a16:creationId xmlns:a16="http://schemas.microsoft.com/office/drawing/2014/main" id="{2B3EC6EF-A70A-74D3-D601-8A9754909089}"/>
              </a:ext>
            </a:extLst>
          </p:cNvPr>
          <p:cNvSpPr txBox="1">
            <a:spLocks noChangeArrowheads="1"/>
          </p:cNvSpPr>
          <p:nvPr/>
        </p:nvSpPr>
        <p:spPr bwMode="auto">
          <a:xfrm>
            <a:off x="2353023" y="3772792"/>
            <a:ext cx="1009650" cy="52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0" dirty="0" err="1">
                <a:solidFill>
                  <a:schemeClr val="tx1"/>
                </a:solidFill>
                <a:ea typeface="黑体" panose="02010609060101010101" pitchFamily="49" charset="-122"/>
              </a:rPr>
              <a:t>z</a:t>
            </a:r>
            <a:r>
              <a:rPr kumimoji="1" lang="en-US" altLang="zh-CN" b="0" baseline="-25000" dirty="0" err="1">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 = </a:t>
            </a:r>
          </a:p>
        </p:txBody>
      </p:sp>
      <p:graphicFrame>
        <p:nvGraphicFramePr>
          <p:cNvPr id="16" name="Object 6">
            <a:extLst>
              <a:ext uri="{FF2B5EF4-FFF2-40B4-BE49-F238E27FC236}">
                <a16:creationId xmlns:a16="http://schemas.microsoft.com/office/drawing/2014/main" id="{1ECF797E-A322-75DA-5247-4E231B3EF9E5}"/>
              </a:ext>
            </a:extLst>
          </p:cNvPr>
          <p:cNvGraphicFramePr>
            <a:graphicFrameLocks noChangeAspect="1"/>
          </p:cNvGraphicFramePr>
          <p:nvPr>
            <p:extLst>
              <p:ext uri="{D42A27DB-BD31-4B8C-83A1-F6EECF244321}">
                <p14:modId xmlns:p14="http://schemas.microsoft.com/office/powerpoint/2010/main" val="1697720938"/>
              </p:ext>
            </p:extLst>
          </p:nvPr>
        </p:nvGraphicFramePr>
        <p:xfrm>
          <a:off x="3054997" y="1454770"/>
          <a:ext cx="2762250" cy="1108075"/>
        </p:xfrm>
        <a:graphic>
          <a:graphicData uri="http://schemas.openxmlformats.org/presentationml/2006/ole">
            <mc:AlternateContent xmlns:mc="http://schemas.openxmlformats.org/markup-compatibility/2006">
              <mc:Choice xmlns:v="urn:schemas-microsoft-com:vml" Requires="v">
                <p:oleObj name="Equation" r:id="rId4" imgW="1218960" imgH="482400" progId="Equation.DSMT4">
                  <p:embed/>
                </p:oleObj>
              </mc:Choice>
              <mc:Fallback>
                <p:oleObj name="Equation" r:id="rId4" imgW="1218960" imgH="482400" progId="Equation.DSMT4">
                  <p:embed/>
                  <p:pic>
                    <p:nvPicPr>
                      <p:cNvPr id="6" name="Object 6">
                        <a:extLst>
                          <a:ext uri="{FF2B5EF4-FFF2-40B4-BE49-F238E27FC236}">
                            <a16:creationId xmlns:a16="http://schemas.microsoft.com/office/drawing/2014/main" id="{B2DEEE1F-1974-1047-0FC2-CA61CC07C0DB}"/>
                          </a:ext>
                        </a:extLst>
                      </p:cNvPr>
                      <p:cNvPicPr>
                        <a:picLocks noChangeAspect="1" noChangeArrowheads="1"/>
                      </p:cNvPicPr>
                      <p:nvPr/>
                    </p:nvPicPr>
                    <p:blipFill>
                      <a:blip r:embed="rId5"/>
                      <a:srcRect/>
                      <a:stretch>
                        <a:fillRect/>
                      </a:stretch>
                    </p:blipFill>
                    <p:spPr bwMode="auto">
                      <a:xfrm>
                        <a:off x="3054997" y="1454770"/>
                        <a:ext cx="2762250"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AutoShape 9">
            <a:extLst>
              <a:ext uri="{FF2B5EF4-FFF2-40B4-BE49-F238E27FC236}">
                <a16:creationId xmlns:a16="http://schemas.microsoft.com/office/drawing/2014/main" id="{B9C475A8-00F8-3FFB-5F76-73794351AA82}"/>
              </a:ext>
            </a:extLst>
          </p:cNvPr>
          <p:cNvSpPr>
            <a:spLocks/>
          </p:cNvSpPr>
          <p:nvPr/>
        </p:nvSpPr>
        <p:spPr bwMode="auto">
          <a:xfrm>
            <a:off x="5920060" y="1905892"/>
            <a:ext cx="188913" cy="2233613"/>
          </a:xfrm>
          <a:prstGeom prst="rightBrace">
            <a:avLst>
              <a:gd name="adj1" fmla="val 9852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chemeClr val="tx1"/>
              </a:solidFill>
              <a:effectLst/>
              <a:uLnTx/>
              <a:uFillTx/>
              <a:ea typeface="黑体" panose="02010609060101010101" pitchFamily="49" charset="-122"/>
            </a:endParaRPr>
          </a:p>
        </p:txBody>
      </p:sp>
      <p:graphicFrame>
        <p:nvGraphicFramePr>
          <p:cNvPr id="20" name="Object 6">
            <a:extLst>
              <a:ext uri="{FF2B5EF4-FFF2-40B4-BE49-F238E27FC236}">
                <a16:creationId xmlns:a16="http://schemas.microsoft.com/office/drawing/2014/main" id="{A95501CB-4C1E-A867-0664-1C6CED684D61}"/>
              </a:ext>
            </a:extLst>
          </p:cNvPr>
          <p:cNvGraphicFramePr>
            <a:graphicFrameLocks noChangeAspect="1"/>
          </p:cNvGraphicFramePr>
          <p:nvPr>
            <p:extLst>
              <p:ext uri="{D42A27DB-BD31-4B8C-83A1-F6EECF244321}">
                <p14:modId xmlns:p14="http://schemas.microsoft.com/office/powerpoint/2010/main" val="79902319"/>
              </p:ext>
            </p:extLst>
          </p:nvPr>
        </p:nvGraphicFramePr>
        <p:xfrm>
          <a:off x="3026422" y="2354882"/>
          <a:ext cx="2820987" cy="1108075"/>
        </p:xfrm>
        <a:graphic>
          <a:graphicData uri="http://schemas.openxmlformats.org/presentationml/2006/ole">
            <mc:AlternateContent xmlns:mc="http://schemas.openxmlformats.org/markup-compatibility/2006">
              <mc:Choice xmlns:v="urn:schemas-microsoft-com:vml" Requires="v">
                <p:oleObj name="Equation" r:id="rId6" imgW="1244520" imgH="482400" progId="Equation.DSMT4">
                  <p:embed/>
                </p:oleObj>
              </mc:Choice>
              <mc:Fallback>
                <p:oleObj name="Equation" r:id="rId6" imgW="1244520" imgH="482400" progId="Equation.DSMT4">
                  <p:embed/>
                  <p:pic>
                    <p:nvPicPr>
                      <p:cNvPr id="16" name="Object 6">
                        <a:extLst>
                          <a:ext uri="{FF2B5EF4-FFF2-40B4-BE49-F238E27FC236}">
                            <a16:creationId xmlns:a16="http://schemas.microsoft.com/office/drawing/2014/main" id="{1ECF797E-A322-75DA-5247-4E231B3EF9E5}"/>
                          </a:ext>
                        </a:extLst>
                      </p:cNvPr>
                      <p:cNvPicPr>
                        <a:picLocks noChangeAspect="1" noChangeArrowheads="1"/>
                      </p:cNvPicPr>
                      <p:nvPr/>
                    </p:nvPicPr>
                    <p:blipFill>
                      <a:blip r:embed="rId7"/>
                      <a:srcRect/>
                      <a:stretch>
                        <a:fillRect/>
                      </a:stretch>
                    </p:blipFill>
                    <p:spPr bwMode="auto">
                      <a:xfrm>
                        <a:off x="3026422" y="2354882"/>
                        <a:ext cx="2820987"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6">
            <a:extLst>
              <a:ext uri="{FF2B5EF4-FFF2-40B4-BE49-F238E27FC236}">
                <a16:creationId xmlns:a16="http://schemas.microsoft.com/office/drawing/2014/main" id="{E5C826E8-0CC7-9FB6-3C1A-A160F4746C4A}"/>
              </a:ext>
            </a:extLst>
          </p:cNvPr>
          <p:cNvGraphicFramePr>
            <a:graphicFrameLocks noChangeAspect="1"/>
          </p:cNvGraphicFramePr>
          <p:nvPr>
            <p:extLst>
              <p:ext uri="{D42A27DB-BD31-4B8C-83A1-F6EECF244321}">
                <p14:modId xmlns:p14="http://schemas.microsoft.com/office/powerpoint/2010/main" val="2216825683"/>
              </p:ext>
            </p:extLst>
          </p:nvPr>
        </p:nvGraphicFramePr>
        <p:xfrm>
          <a:off x="3069284" y="3393107"/>
          <a:ext cx="2733675" cy="1108075"/>
        </p:xfrm>
        <a:graphic>
          <a:graphicData uri="http://schemas.openxmlformats.org/presentationml/2006/ole">
            <mc:AlternateContent xmlns:mc="http://schemas.openxmlformats.org/markup-compatibility/2006">
              <mc:Choice xmlns:v="urn:schemas-microsoft-com:vml" Requires="v">
                <p:oleObj name="Equation" r:id="rId8" imgW="1206360" imgH="482400" progId="Equation.DSMT4">
                  <p:embed/>
                </p:oleObj>
              </mc:Choice>
              <mc:Fallback>
                <p:oleObj name="Equation" r:id="rId8" imgW="1206360" imgH="482400" progId="Equation.DSMT4">
                  <p:embed/>
                  <p:pic>
                    <p:nvPicPr>
                      <p:cNvPr id="20" name="Object 6">
                        <a:extLst>
                          <a:ext uri="{FF2B5EF4-FFF2-40B4-BE49-F238E27FC236}">
                            <a16:creationId xmlns:a16="http://schemas.microsoft.com/office/drawing/2014/main" id="{A95501CB-4C1E-A867-0664-1C6CED684D61}"/>
                          </a:ext>
                        </a:extLst>
                      </p:cNvPr>
                      <p:cNvPicPr>
                        <a:picLocks noChangeAspect="1" noChangeArrowheads="1"/>
                      </p:cNvPicPr>
                      <p:nvPr/>
                    </p:nvPicPr>
                    <p:blipFill>
                      <a:blip r:embed="rId9"/>
                      <a:srcRect/>
                      <a:stretch>
                        <a:fillRect/>
                      </a:stretch>
                    </p:blipFill>
                    <p:spPr bwMode="auto">
                      <a:xfrm>
                        <a:off x="3069284" y="3393107"/>
                        <a:ext cx="2733675"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168820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iterate type="lt">
                                    <p:tmPct val="30000"/>
                                  </p:iterate>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wipe(left)">
                                      <p:cBhvr>
                                        <p:cTn id="11" dur="500"/>
                                        <p:tgtEl>
                                          <p:spTgt spid="13">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par>
                          <p:cTn id="12" fill="hold">
                            <p:stCondLst>
                              <p:cond delay="8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30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30000"/>
                                  </p:iterate>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wipe(left)">
                                      <p:cBhvr>
                                        <p:cTn id="20" dur="500"/>
                                        <p:tgtEl>
                                          <p:spTgt spid="14">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30000"/>
                                  </p:iterate>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wipe(left)">
                                      <p:cBhvr>
                                        <p:cTn id="25" dur="500"/>
                                        <p:tgtEl>
                                          <p:spTgt spid="15">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800"/>
                            </p:stCondLst>
                            <p:childTnLst>
                              <p:par>
                                <p:cTn id="27" presetID="16" presetClass="entr" presetSubtype="26"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barn(inHorizontal)">
                                      <p:cBhvr>
                                        <p:cTn id="29" dur="3000"/>
                                        <p:tgtEl>
                                          <p:spTgt spid="19"/>
                                        </p:tgtEl>
                                      </p:cBhvr>
                                    </p:animEffect>
                                  </p:childTnLst>
                                </p:cTn>
                              </p:par>
                            </p:childTnLst>
                          </p:cTn>
                        </p:par>
                        <p:par>
                          <p:cTn id="30" fill="hold">
                            <p:stCondLst>
                              <p:cond delay="3800"/>
                            </p:stCondLst>
                            <p:childTnLst>
                              <p:par>
                                <p:cTn id="31" presetID="22" presetClass="entr" presetSubtype="8" fill="hold" nodeType="after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3000"/>
                                        <p:tgtEl>
                                          <p:spTgt spid="20"/>
                                        </p:tgtEl>
                                      </p:cBhvr>
                                    </p:animEffect>
                                  </p:childTnLst>
                                </p:cTn>
                              </p:par>
                            </p:childTnLst>
                          </p:cTn>
                        </p:par>
                        <p:par>
                          <p:cTn id="34" fill="hold">
                            <p:stCondLst>
                              <p:cond delay="6800"/>
                            </p:stCondLst>
                            <p:childTnLst>
                              <p:par>
                                <p:cTn id="35" presetID="22" presetClass="entr" presetSubtype="8"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30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P spid="12" grpId="0"/>
      <p:bldP spid="13" grpId="0" build="p" autoUpdateAnimBg="0"/>
      <p:bldP spid="14" grpId="0" build="p" autoUpdateAnimBg="0"/>
      <p:bldP spid="15"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§3-5  </a:t>
            </a:r>
            <a:r>
              <a:rPr lang="zh-CN" altLang="en-US" sz="3000" i="0" dirty="0">
                <a:solidFill>
                  <a:schemeClr val="accent6">
                    <a:lumMod val="75000"/>
                  </a:schemeClr>
                </a:solidFill>
                <a:latin typeface="+mn-lt"/>
                <a:ea typeface="微软雅黑" panose="020B0503020204020204" pitchFamily="34" charset="-122"/>
              </a:rPr>
              <a:t>重心及形心位置的求法</a:t>
            </a:r>
          </a:p>
        </p:txBody>
      </p:sp>
      <p:sp>
        <p:nvSpPr>
          <p:cNvPr id="3" name="矩形 2">
            <a:extLst>
              <a:ext uri="{FF2B5EF4-FFF2-40B4-BE49-F238E27FC236}">
                <a16:creationId xmlns:a16="http://schemas.microsoft.com/office/drawing/2014/main" id="{FCFC88F3-692D-3FED-F1AB-89065C787DA5}"/>
              </a:ext>
            </a:extLst>
          </p:cNvPr>
          <p:cNvSpPr/>
          <p:nvPr/>
        </p:nvSpPr>
        <p:spPr>
          <a:xfrm>
            <a:off x="1004367" y="1577837"/>
            <a:ext cx="7160935" cy="633187"/>
          </a:xfrm>
          <a:prstGeom prst="rect">
            <a:avLst/>
          </a:prstGeom>
        </p:spPr>
        <p:txBody>
          <a:bodyPr wrap="none">
            <a:spAutoFit/>
          </a:bodyPr>
          <a:lstStyle/>
          <a:p>
            <a:pPr>
              <a:lnSpc>
                <a:spcPct val="120000"/>
              </a:lnSpc>
            </a:pPr>
            <a:r>
              <a:rPr lang="zh-CN" altLang="en-US" sz="3200" i="0" dirty="0">
                <a:solidFill>
                  <a:srgbClr val="FF0000"/>
                </a:solidFill>
                <a:latin typeface="微软雅黑" panose="020B0503020204020204" pitchFamily="34" charset="-122"/>
                <a:ea typeface="微软雅黑" panose="020B0503020204020204" pitchFamily="34" charset="-122"/>
              </a:rPr>
              <a:t>一）</a:t>
            </a:r>
            <a:r>
              <a:rPr kumimoji="0" lang="zh-CN" altLang="en-US" sz="3200" i="0" noProof="1">
                <a:solidFill>
                  <a:srgbClr val="FF0000"/>
                </a:solidFill>
                <a:latin typeface="微软雅黑" panose="020B0503020204020204" pitchFamily="34" charset="-122"/>
                <a:ea typeface="微软雅黑" panose="020B0503020204020204" pitchFamily="34" charset="-122"/>
              </a:rPr>
              <a:t>简单几何形状物体的重心（查表）</a:t>
            </a:r>
            <a:endParaRPr lang="zh-CN" altLang="en-US" sz="3000" i="0" dirty="0">
              <a:solidFill>
                <a:srgbClr val="FF0000"/>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EDE5C05A-8BC5-DE2A-124C-C28F54DFB038}"/>
              </a:ext>
            </a:extLst>
          </p:cNvPr>
          <p:cNvSpPr/>
          <p:nvPr/>
        </p:nvSpPr>
        <p:spPr>
          <a:xfrm>
            <a:off x="1004367" y="2353259"/>
            <a:ext cx="5561138" cy="2110514"/>
          </a:xfrm>
          <a:prstGeom prst="rect">
            <a:avLst/>
          </a:prstGeom>
        </p:spPr>
        <p:txBody>
          <a:bodyPr wrap="none">
            <a:spAutoFit/>
          </a:bodyPr>
          <a:lstStyle/>
          <a:p>
            <a:pPr algn="l">
              <a:lnSpc>
                <a:spcPct val="150000"/>
              </a:lnSpc>
              <a:spcBef>
                <a:spcPct val="0"/>
              </a:spcBef>
              <a:buClrTx/>
              <a:buSzTx/>
              <a:buFontTx/>
              <a:buNone/>
            </a:pPr>
            <a:r>
              <a:rPr lang="zh-CN" altLang="en-US" sz="3200" i="0" dirty="0">
                <a:solidFill>
                  <a:srgbClr val="FF0000"/>
                </a:solidFill>
                <a:latin typeface="微软雅黑" panose="020B0503020204020204" pitchFamily="34" charset="-122"/>
                <a:ea typeface="微软雅黑" panose="020B0503020204020204" pitchFamily="34" charset="-122"/>
              </a:rPr>
              <a:t>二）</a:t>
            </a:r>
            <a:r>
              <a:rPr lang="zh-CN" altLang="en-US" sz="3200" i="0" noProof="1">
                <a:solidFill>
                  <a:srgbClr val="FF0000"/>
                </a:solidFill>
                <a:latin typeface="微软雅黑" panose="020B0503020204020204" pitchFamily="34" charset="-122"/>
                <a:ea typeface="微软雅黑" panose="020B0503020204020204" pitchFamily="34" charset="-122"/>
              </a:rPr>
              <a:t>用组合法求重心</a:t>
            </a:r>
          </a:p>
          <a:p>
            <a:pPr algn="l">
              <a:lnSpc>
                <a:spcPct val="150000"/>
              </a:lnSpc>
              <a:spcBef>
                <a:spcPct val="0"/>
              </a:spcBef>
              <a:buClrTx/>
              <a:buSzTx/>
              <a:buFont typeface="宋体" panose="02010600030101010101" pitchFamily="2" charset="-122"/>
              <a:buNone/>
            </a:pPr>
            <a:r>
              <a:rPr lang="zh-CN" altLang="en-US" sz="3200" i="0" dirty="0">
                <a:solidFill>
                  <a:srgbClr val="FF0000"/>
                </a:solidFill>
                <a:latin typeface="微软雅黑" panose="020B0503020204020204" pitchFamily="34" charset="-122"/>
                <a:ea typeface="微软雅黑" panose="020B0503020204020204" pitchFamily="34" charset="-122"/>
              </a:rPr>
              <a:t>     </a:t>
            </a:r>
            <a:r>
              <a:rPr lang="en-US" altLang="zh-CN" sz="3200" i="0" dirty="0">
                <a:solidFill>
                  <a:srgbClr val="FF0000"/>
                </a:solidFill>
                <a:latin typeface="微软雅黑" panose="020B0503020204020204" pitchFamily="34" charset="-122"/>
                <a:ea typeface="微软雅黑" panose="020B0503020204020204" pitchFamily="34" charset="-122"/>
              </a:rPr>
              <a:t>1</a:t>
            </a:r>
            <a:r>
              <a:rPr lang="zh-CN" altLang="en-US" sz="3200" i="0" dirty="0">
                <a:solidFill>
                  <a:srgbClr val="FF0000"/>
                </a:solidFill>
                <a:latin typeface="微软雅黑" panose="020B0503020204020204" pitchFamily="34" charset="-122"/>
                <a:ea typeface="微软雅黑" panose="020B0503020204020204" pitchFamily="34" charset="-122"/>
              </a:rPr>
              <a:t>）分割法</a:t>
            </a:r>
          </a:p>
          <a:p>
            <a:pPr>
              <a:lnSpc>
                <a:spcPct val="120000"/>
              </a:lnSpc>
            </a:pPr>
            <a:r>
              <a:rPr lang="en-US" altLang="zh-CN" sz="3200" i="0" dirty="0">
                <a:solidFill>
                  <a:srgbClr val="FF0000"/>
                </a:solidFill>
                <a:latin typeface="微软雅黑" panose="020B0503020204020204" pitchFamily="34" charset="-122"/>
                <a:ea typeface="微软雅黑" panose="020B0503020204020204" pitchFamily="34" charset="-122"/>
              </a:rPr>
              <a:t>     2</a:t>
            </a:r>
            <a:r>
              <a:rPr lang="zh-CN" altLang="en-US" sz="3200" i="0" dirty="0">
                <a:solidFill>
                  <a:srgbClr val="FF0000"/>
                </a:solidFill>
                <a:latin typeface="微软雅黑" panose="020B0503020204020204" pitchFamily="34" charset="-122"/>
                <a:ea typeface="微软雅黑" panose="020B0503020204020204" pitchFamily="34" charset="-122"/>
              </a:rPr>
              <a:t>）负面积法（负体积法）</a:t>
            </a:r>
          </a:p>
        </p:txBody>
      </p:sp>
    </p:spTree>
    <p:extLst>
      <p:ext uri="{BB962C8B-B14F-4D97-AF65-F5344CB8AC3E}">
        <p14:creationId xmlns:p14="http://schemas.microsoft.com/office/powerpoint/2010/main" val="3354119152"/>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1" y="802970"/>
            <a:ext cx="11315063" cy="46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1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kumimoji="0" lang="zh-CN" altLang="en-US" b="1" i="0" dirty="0">
                <a:latin typeface="Times New Roman" panose="02020603050405020304" pitchFamily="18" charset="0"/>
                <a:ea typeface="黑体" panose="02010609060101010101" pitchFamily="49" charset="-122"/>
              </a:rPr>
              <a:t>求图示均质等厚</a:t>
            </a:r>
            <a:r>
              <a:rPr kumimoji="0" lang="en-US" altLang="zh-CN" b="1" i="0" dirty="0">
                <a:latin typeface="Times New Roman" panose="02020603050405020304" pitchFamily="18" charset="0"/>
                <a:ea typeface="黑体" panose="02010609060101010101" pitchFamily="49" charset="-122"/>
              </a:rPr>
              <a:t>Z</a:t>
            </a:r>
            <a:r>
              <a:rPr kumimoji="0" lang="zh-CN" altLang="en-US" b="1" i="0" dirty="0">
                <a:latin typeface="Times New Roman" panose="02020603050405020304" pitchFamily="18" charset="0"/>
                <a:ea typeface="黑体" panose="02010609060101010101" pitchFamily="49" charset="-122"/>
              </a:rPr>
              <a:t>字型薄板的重心坐标。</a:t>
            </a:r>
            <a:endParaRPr lang="zh-CN" altLang="en-US" i="0" dirty="0">
              <a:latin typeface="+mn-lt"/>
              <a:ea typeface="黑体" panose="02010609060101010101" pitchFamily="49" charset="-122"/>
            </a:endParaRPr>
          </a:p>
        </p:txBody>
      </p:sp>
      <p:sp>
        <p:nvSpPr>
          <p:cNvPr id="33" name="Rectangle 61"/>
          <p:cNvSpPr>
            <a:spLocks noChangeArrowheads="1"/>
          </p:cNvSpPr>
          <p:nvPr/>
        </p:nvSpPr>
        <p:spPr bwMode="auto">
          <a:xfrm>
            <a:off x="7389029" y="1364142"/>
            <a:ext cx="4727733" cy="4057732"/>
          </a:xfrm>
          <a:prstGeom prst="rect">
            <a:avLst/>
          </a:prstGeom>
          <a:solidFill>
            <a:srgbClr val="B9CDE5"/>
          </a:solidFill>
          <a:ln>
            <a:noFill/>
          </a:ln>
          <a:effectLst/>
        </p:spPr>
        <p:txBody>
          <a:bodyPr wrap="none" anchor="ctr"/>
          <a:lstStyle/>
          <a:p>
            <a:endParaRPr lang="zh-CN" altLang="en-US"/>
          </a:p>
        </p:txBody>
      </p:sp>
      <p:pic>
        <p:nvPicPr>
          <p:cNvPr id="3" name="Picture 5" descr="l04-13">
            <a:extLst>
              <a:ext uri="{FF2B5EF4-FFF2-40B4-BE49-F238E27FC236}">
                <a16:creationId xmlns:a16="http://schemas.microsoft.com/office/drawing/2014/main" id="{E471D23F-F7F8-99F4-6CA8-5FBDDEDD8B2B}"/>
              </a:ext>
            </a:extLst>
          </p:cNvPr>
          <p:cNvPicPr>
            <a:picLocks noChangeAspect="1" noChangeArrowheads="1"/>
          </p:cNvPicPr>
          <p:nvPr/>
        </p:nvPicPr>
        <p:blipFill>
          <a:blip r:embed="rId3">
            <a:lum bright="-22000" contrast="28000"/>
            <a:extLst>
              <a:ext uri="{28A0092B-C50C-407E-A947-70E740481C1C}">
                <a14:useLocalDpi xmlns:a14="http://schemas.microsoft.com/office/drawing/2010/main" val="0"/>
              </a:ext>
            </a:extLst>
          </a:blip>
          <a:srcRect l="3720" r="5009"/>
          <a:stretch>
            <a:fillRect/>
          </a:stretch>
        </p:blipFill>
        <p:spPr bwMode="auto">
          <a:xfrm>
            <a:off x="8010263" y="1583304"/>
            <a:ext cx="3611198" cy="3562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8">
            <a:extLst>
              <a:ext uri="{FF2B5EF4-FFF2-40B4-BE49-F238E27FC236}">
                <a16:creationId xmlns:a16="http://schemas.microsoft.com/office/drawing/2014/main" id="{27CDF02F-6012-B6E7-8722-56263AC2DF9F}"/>
              </a:ext>
            </a:extLst>
          </p:cNvPr>
          <p:cNvSpPr>
            <a:spLocks noChangeArrowheads="1"/>
          </p:cNvSpPr>
          <p:nvPr/>
        </p:nvSpPr>
        <p:spPr bwMode="auto">
          <a:xfrm>
            <a:off x="1085178" y="1583304"/>
            <a:ext cx="462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50000"/>
              </a:spcBef>
              <a:buClrTx/>
              <a:buSzTx/>
              <a:buFontTx/>
              <a:buNone/>
            </a:pPr>
            <a:r>
              <a:rPr kumimoji="0" lang="zh-CN" altLang="en-US" i="0" dirty="0">
                <a:solidFill>
                  <a:srgbClr val="FF00FF"/>
                </a:solidFill>
                <a:latin typeface="Times New Roman" panose="02020603050405020304" pitchFamily="18" charset="0"/>
                <a:ea typeface="黑体" panose="02010609060101010101" pitchFamily="49" charset="-122"/>
              </a:rPr>
              <a:t>三个小矩形的面积与坐标分别为</a:t>
            </a:r>
          </a:p>
        </p:txBody>
      </p:sp>
      <p:graphicFrame>
        <p:nvGraphicFramePr>
          <p:cNvPr id="5" name="Object 26">
            <a:extLst>
              <a:ext uri="{FF2B5EF4-FFF2-40B4-BE49-F238E27FC236}">
                <a16:creationId xmlns:a16="http://schemas.microsoft.com/office/drawing/2014/main" id="{CF3F5B07-DD3C-0455-C3D6-4FA06360D4BC}"/>
              </a:ext>
            </a:extLst>
          </p:cNvPr>
          <p:cNvGraphicFramePr>
            <a:graphicFrameLocks noChangeAspect="1"/>
          </p:cNvGraphicFramePr>
          <p:nvPr>
            <p:extLst>
              <p:ext uri="{D42A27DB-BD31-4B8C-83A1-F6EECF244321}">
                <p14:modId xmlns:p14="http://schemas.microsoft.com/office/powerpoint/2010/main" val="3598950920"/>
              </p:ext>
            </p:extLst>
          </p:nvPr>
        </p:nvGraphicFramePr>
        <p:xfrm>
          <a:off x="870866" y="2226241"/>
          <a:ext cx="1574800" cy="431800"/>
        </p:xfrm>
        <a:graphic>
          <a:graphicData uri="http://schemas.openxmlformats.org/presentationml/2006/ole">
            <mc:AlternateContent xmlns:mc="http://schemas.openxmlformats.org/markup-compatibility/2006">
              <mc:Choice xmlns:v="urn:schemas-microsoft-com:vml" Requires="v">
                <p:oleObj name="Equation" r:id="rId4" imgW="786765" imgH="215900" progId="Equation.3">
                  <p:embed/>
                </p:oleObj>
              </mc:Choice>
              <mc:Fallback>
                <p:oleObj name="Equation" r:id="rId4" imgW="786765" imgH="215900" progId="Equation.3">
                  <p:embed/>
                  <p:pic>
                    <p:nvPicPr>
                      <p:cNvPr id="40986"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866" y="2226241"/>
                        <a:ext cx="1574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27">
            <a:extLst>
              <a:ext uri="{FF2B5EF4-FFF2-40B4-BE49-F238E27FC236}">
                <a16:creationId xmlns:a16="http://schemas.microsoft.com/office/drawing/2014/main" id="{49617099-2130-8AD7-DA04-A245E50F830E}"/>
              </a:ext>
            </a:extLst>
          </p:cNvPr>
          <p:cNvGraphicFramePr>
            <a:graphicFrameLocks noChangeAspect="1"/>
          </p:cNvGraphicFramePr>
          <p:nvPr>
            <p:extLst>
              <p:ext uri="{D42A27DB-BD31-4B8C-83A1-F6EECF244321}">
                <p14:modId xmlns:p14="http://schemas.microsoft.com/office/powerpoint/2010/main" val="406962263"/>
              </p:ext>
            </p:extLst>
          </p:nvPr>
        </p:nvGraphicFramePr>
        <p:xfrm>
          <a:off x="2513928" y="2226241"/>
          <a:ext cx="1397000" cy="431800"/>
        </p:xfrm>
        <a:graphic>
          <a:graphicData uri="http://schemas.openxmlformats.org/presentationml/2006/ole">
            <mc:AlternateContent xmlns:mc="http://schemas.openxmlformats.org/markup-compatibility/2006">
              <mc:Choice xmlns:v="urn:schemas-microsoft-com:vml" Requires="v">
                <p:oleObj name="Equation" r:id="rId6" imgW="698500" imgH="215900" progId="Equation.3">
                  <p:embed/>
                </p:oleObj>
              </mc:Choice>
              <mc:Fallback>
                <p:oleObj name="Equation" r:id="rId6" imgW="698500" imgH="215900" progId="Equation.3">
                  <p:embed/>
                  <p:pic>
                    <p:nvPicPr>
                      <p:cNvPr id="40987"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3928" y="2226241"/>
                        <a:ext cx="13970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28">
            <a:extLst>
              <a:ext uri="{FF2B5EF4-FFF2-40B4-BE49-F238E27FC236}">
                <a16:creationId xmlns:a16="http://schemas.microsoft.com/office/drawing/2014/main" id="{B8AD42C6-8852-61E2-1595-515DB4181DB4}"/>
              </a:ext>
            </a:extLst>
          </p:cNvPr>
          <p:cNvGraphicFramePr>
            <a:graphicFrameLocks noChangeAspect="1"/>
          </p:cNvGraphicFramePr>
          <p:nvPr>
            <p:extLst>
              <p:ext uri="{D42A27DB-BD31-4B8C-83A1-F6EECF244321}">
                <p14:modId xmlns:p14="http://schemas.microsoft.com/office/powerpoint/2010/main" val="1917068504"/>
              </p:ext>
            </p:extLst>
          </p:nvPr>
        </p:nvGraphicFramePr>
        <p:xfrm>
          <a:off x="4156991" y="2226241"/>
          <a:ext cx="1651000" cy="457200"/>
        </p:xfrm>
        <a:graphic>
          <a:graphicData uri="http://schemas.openxmlformats.org/presentationml/2006/ole">
            <mc:AlternateContent xmlns:mc="http://schemas.openxmlformats.org/markup-compatibility/2006">
              <mc:Choice xmlns:v="urn:schemas-microsoft-com:vml" Requires="v">
                <p:oleObj name="Equation" r:id="rId8" imgW="825500" imgH="228600" progId="Equation.3">
                  <p:embed/>
                </p:oleObj>
              </mc:Choice>
              <mc:Fallback>
                <p:oleObj name="Equation" r:id="rId8" imgW="825500" imgH="228600" progId="Equation.3">
                  <p:embed/>
                  <p:pic>
                    <p:nvPicPr>
                      <p:cNvPr id="40988"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6991" y="2226241"/>
                        <a:ext cx="165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29">
            <a:extLst>
              <a:ext uri="{FF2B5EF4-FFF2-40B4-BE49-F238E27FC236}">
                <a16:creationId xmlns:a16="http://schemas.microsoft.com/office/drawing/2014/main" id="{8D212DEE-4A70-2062-D584-D8049503F889}"/>
              </a:ext>
            </a:extLst>
          </p:cNvPr>
          <p:cNvGraphicFramePr>
            <a:graphicFrameLocks noChangeAspect="1"/>
          </p:cNvGraphicFramePr>
          <p:nvPr>
            <p:extLst>
              <p:ext uri="{D42A27DB-BD31-4B8C-83A1-F6EECF244321}">
                <p14:modId xmlns:p14="http://schemas.microsoft.com/office/powerpoint/2010/main" val="3279331137"/>
              </p:ext>
            </p:extLst>
          </p:nvPr>
        </p:nvGraphicFramePr>
        <p:xfrm>
          <a:off x="870866" y="2940616"/>
          <a:ext cx="1397000" cy="431800"/>
        </p:xfrm>
        <a:graphic>
          <a:graphicData uri="http://schemas.openxmlformats.org/presentationml/2006/ole">
            <mc:AlternateContent xmlns:mc="http://schemas.openxmlformats.org/markup-compatibility/2006">
              <mc:Choice xmlns:v="urn:schemas-microsoft-com:vml" Requires="v">
                <p:oleObj name="Equation" r:id="rId10" imgW="698500" imgH="215900" progId="Equation.3">
                  <p:embed/>
                </p:oleObj>
              </mc:Choice>
              <mc:Fallback>
                <p:oleObj name="Equation" r:id="rId10" imgW="698500" imgH="215900" progId="Equation.3">
                  <p:embed/>
                  <p:pic>
                    <p:nvPicPr>
                      <p:cNvPr id="40989"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0866" y="2940616"/>
                        <a:ext cx="13970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30">
            <a:extLst>
              <a:ext uri="{FF2B5EF4-FFF2-40B4-BE49-F238E27FC236}">
                <a16:creationId xmlns:a16="http://schemas.microsoft.com/office/drawing/2014/main" id="{4967BEED-57AE-279E-7646-931CE680148D}"/>
              </a:ext>
            </a:extLst>
          </p:cNvPr>
          <p:cNvGraphicFramePr>
            <a:graphicFrameLocks noChangeAspect="1"/>
          </p:cNvGraphicFramePr>
          <p:nvPr>
            <p:extLst>
              <p:ext uri="{D42A27DB-BD31-4B8C-83A1-F6EECF244321}">
                <p14:modId xmlns:p14="http://schemas.microsoft.com/office/powerpoint/2010/main" val="2440507694"/>
              </p:ext>
            </p:extLst>
          </p:nvPr>
        </p:nvGraphicFramePr>
        <p:xfrm>
          <a:off x="2513928" y="2905497"/>
          <a:ext cx="1446213" cy="431800"/>
        </p:xfrm>
        <a:graphic>
          <a:graphicData uri="http://schemas.openxmlformats.org/presentationml/2006/ole">
            <mc:AlternateContent xmlns:mc="http://schemas.openxmlformats.org/markup-compatibility/2006">
              <mc:Choice xmlns:v="urn:schemas-microsoft-com:vml" Requires="v">
                <p:oleObj name="Equation" r:id="rId12" imgW="723900" imgH="215900" progId="Equation.3">
                  <p:embed/>
                </p:oleObj>
              </mc:Choice>
              <mc:Fallback>
                <p:oleObj name="Equation" r:id="rId12" imgW="723900" imgH="215900" progId="Equation.3">
                  <p:embed/>
                  <p:pic>
                    <p:nvPicPr>
                      <p:cNvPr id="4099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3928" y="2905497"/>
                        <a:ext cx="14462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31">
            <a:extLst>
              <a:ext uri="{FF2B5EF4-FFF2-40B4-BE49-F238E27FC236}">
                <a16:creationId xmlns:a16="http://schemas.microsoft.com/office/drawing/2014/main" id="{8A64E91A-EC28-2F7F-161C-EE9AD16B3E4A}"/>
              </a:ext>
            </a:extLst>
          </p:cNvPr>
          <p:cNvGraphicFramePr>
            <a:graphicFrameLocks noChangeAspect="1"/>
          </p:cNvGraphicFramePr>
          <p:nvPr>
            <p:extLst>
              <p:ext uri="{D42A27DB-BD31-4B8C-83A1-F6EECF244321}">
                <p14:modId xmlns:p14="http://schemas.microsoft.com/office/powerpoint/2010/main" val="369128025"/>
              </p:ext>
            </p:extLst>
          </p:nvPr>
        </p:nvGraphicFramePr>
        <p:xfrm>
          <a:off x="4156991" y="2880097"/>
          <a:ext cx="1676400" cy="457200"/>
        </p:xfrm>
        <a:graphic>
          <a:graphicData uri="http://schemas.openxmlformats.org/presentationml/2006/ole">
            <mc:AlternateContent xmlns:mc="http://schemas.openxmlformats.org/markup-compatibility/2006">
              <mc:Choice xmlns:v="urn:schemas-microsoft-com:vml" Requires="v">
                <p:oleObj name="Equation" r:id="rId14" imgW="838200" imgH="228600" progId="Equation.3">
                  <p:embed/>
                </p:oleObj>
              </mc:Choice>
              <mc:Fallback>
                <p:oleObj name="Equation" r:id="rId14" imgW="838200" imgH="228600" progId="Equation.3">
                  <p:embed/>
                  <p:pic>
                    <p:nvPicPr>
                      <p:cNvPr id="40991"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56991" y="2880097"/>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32">
            <a:extLst>
              <a:ext uri="{FF2B5EF4-FFF2-40B4-BE49-F238E27FC236}">
                <a16:creationId xmlns:a16="http://schemas.microsoft.com/office/drawing/2014/main" id="{9C651777-3E38-DA83-6126-14E4456F4E61}"/>
              </a:ext>
            </a:extLst>
          </p:cNvPr>
          <p:cNvGraphicFramePr>
            <a:graphicFrameLocks noChangeAspect="1"/>
          </p:cNvGraphicFramePr>
          <p:nvPr>
            <p:extLst>
              <p:ext uri="{D42A27DB-BD31-4B8C-83A1-F6EECF244321}">
                <p14:modId xmlns:p14="http://schemas.microsoft.com/office/powerpoint/2010/main" val="3190680944"/>
              </p:ext>
            </p:extLst>
          </p:nvPr>
        </p:nvGraphicFramePr>
        <p:xfrm>
          <a:off x="870866" y="3654991"/>
          <a:ext cx="1446212" cy="457200"/>
        </p:xfrm>
        <a:graphic>
          <a:graphicData uri="http://schemas.openxmlformats.org/presentationml/2006/ole">
            <mc:AlternateContent xmlns:mc="http://schemas.openxmlformats.org/markup-compatibility/2006">
              <mc:Choice xmlns:v="urn:schemas-microsoft-com:vml" Requires="v">
                <p:oleObj name="Equation" r:id="rId16" imgW="723900" imgH="228600" progId="Equation.3">
                  <p:embed/>
                </p:oleObj>
              </mc:Choice>
              <mc:Fallback>
                <p:oleObj name="Equation" r:id="rId16" imgW="723900" imgH="228600" progId="Equation.3">
                  <p:embed/>
                  <p:pic>
                    <p:nvPicPr>
                      <p:cNvPr id="40992"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0866" y="3654991"/>
                        <a:ext cx="1446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33">
            <a:extLst>
              <a:ext uri="{FF2B5EF4-FFF2-40B4-BE49-F238E27FC236}">
                <a16:creationId xmlns:a16="http://schemas.microsoft.com/office/drawing/2014/main" id="{9E226BAA-7A5C-8428-0783-AC069D6B6D63}"/>
              </a:ext>
            </a:extLst>
          </p:cNvPr>
          <p:cNvGraphicFramePr>
            <a:graphicFrameLocks noChangeAspect="1"/>
          </p:cNvGraphicFramePr>
          <p:nvPr>
            <p:extLst>
              <p:ext uri="{D42A27DB-BD31-4B8C-83A1-F6EECF244321}">
                <p14:modId xmlns:p14="http://schemas.microsoft.com/office/powerpoint/2010/main" val="229292892"/>
              </p:ext>
            </p:extLst>
          </p:nvPr>
        </p:nvGraphicFramePr>
        <p:xfrm>
          <a:off x="2513928" y="3619872"/>
          <a:ext cx="1268413" cy="457200"/>
        </p:xfrm>
        <a:graphic>
          <a:graphicData uri="http://schemas.openxmlformats.org/presentationml/2006/ole">
            <mc:AlternateContent xmlns:mc="http://schemas.openxmlformats.org/markup-compatibility/2006">
              <mc:Choice xmlns:v="urn:schemas-microsoft-com:vml" Requires="v">
                <p:oleObj name="Equation" r:id="rId18" imgW="635000" imgH="228600" progId="Equation.3">
                  <p:embed/>
                </p:oleObj>
              </mc:Choice>
              <mc:Fallback>
                <p:oleObj name="Equation" r:id="rId18" imgW="635000" imgH="228600" progId="Equation.3">
                  <p:embed/>
                  <p:pic>
                    <p:nvPicPr>
                      <p:cNvPr id="40993" name="Object 3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13928" y="3619872"/>
                        <a:ext cx="126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34">
            <a:extLst>
              <a:ext uri="{FF2B5EF4-FFF2-40B4-BE49-F238E27FC236}">
                <a16:creationId xmlns:a16="http://schemas.microsoft.com/office/drawing/2014/main" id="{8A2D6FC0-C96F-73D5-97ED-93FC0F11B542}"/>
              </a:ext>
            </a:extLst>
          </p:cNvPr>
          <p:cNvGraphicFramePr>
            <a:graphicFrameLocks noChangeAspect="1"/>
          </p:cNvGraphicFramePr>
          <p:nvPr>
            <p:extLst>
              <p:ext uri="{D42A27DB-BD31-4B8C-83A1-F6EECF244321}">
                <p14:modId xmlns:p14="http://schemas.microsoft.com/office/powerpoint/2010/main" val="3820563803"/>
              </p:ext>
            </p:extLst>
          </p:nvPr>
        </p:nvGraphicFramePr>
        <p:xfrm>
          <a:off x="4156991" y="3594472"/>
          <a:ext cx="1676400" cy="482600"/>
        </p:xfrm>
        <a:graphic>
          <a:graphicData uri="http://schemas.openxmlformats.org/presentationml/2006/ole">
            <mc:AlternateContent xmlns:mc="http://schemas.openxmlformats.org/markup-compatibility/2006">
              <mc:Choice xmlns:v="urn:schemas-microsoft-com:vml" Requires="v">
                <p:oleObj name="Equation" r:id="rId20" imgW="838200" imgH="241300" progId="Equation.3">
                  <p:embed/>
                </p:oleObj>
              </mc:Choice>
              <mc:Fallback>
                <p:oleObj name="Equation" r:id="rId20" imgW="838200" imgH="241300" progId="Equation.3">
                  <p:embed/>
                  <p:pic>
                    <p:nvPicPr>
                      <p:cNvPr id="40994" name="Object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56991" y="3594472"/>
                        <a:ext cx="16764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 name="Object 35">
            <a:extLst>
              <a:ext uri="{FF2B5EF4-FFF2-40B4-BE49-F238E27FC236}">
                <a16:creationId xmlns:a16="http://schemas.microsoft.com/office/drawing/2014/main" id="{67505E04-A76E-5CE2-2EC0-C56E3503633F}"/>
              </a:ext>
            </a:extLst>
          </p:cNvPr>
          <p:cNvGraphicFramePr>
            <a:graphicFrameLocks noChangeAspect="1"/>
          </p:cNvGraphicFramePr>
          <p:nvPr>
            <p:extLst>
              <p:ext uri="{D42A27DB-BD31-4B8C-83A1-F6EECF244321}">
                <p14:modId xmlns:p14="http://schemas.microsoft.com/office/powerpoint/2010/main" val="1919725481"/>
              </p:ext>
            </p:extLst>
          </p:nvPr>
        </p:nvGraphicFramePr>
        <p:xfrm>
          <a:off x="1442366" y="4512241"/>
          <a:ext cx="4773612" cy="863600"/>
        </p:xfrm>
        <a:graphic>
          <a:graphicData uri="http://schemas.openxmlformats.org/presentationml/2006/ole">
            <mc:AlternateContent xmlns:mc="http://schemas.openxmlformats.org/markup-compatibility/2006">
              <mc:Choice xmlns:v="urn:schemas-microsoft-com:vml" Requires="v">
                <p:oleObj name="Equation" r:id="rId22" imgW="2387600" imgH="431800" progId="Equation.3">
                  <p:embed/>
                </p:oleObj>
              </mc:Choice>
              <mc:Fallback>
                <p:oleObj name="Equation" r:id="rId22" imgW="2387600" imgH="431800" progId="Equation.3">
                  <p:embed/>
                  <p:pic>
                    <p:nvPicPr>
                      <p:cNvPr id="40995" name="Object 3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442366" y="4512241"/>
                        <a:ext cx="477361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36">
            <a:extLst>
              <a:ext uri="{FF2B5EF4-FFF2-40B4-BE49-F238E27FC236}">
                <a16:creationId xmlns:a16="http://schemas.microsoft.com/office/drawing/2014/main" id="{8B7D714A-07BD-581C-657B-316B0DEBFDD7}"/>
              </a:ext>
            </a:extLst>
          </p:cNvPr>
          <p:cNvGraphicFramePr>
            <a:graphicFrameLocks noChangeAspect="1"/>
          </p:cNvGraphicFramePr>
          <p:nvPr>
            <p:extLst>
              <p:ext uri="{D42A27DB-BD31-4B8C-83A1-F6EECF244321}">
                <p14:modId xmlns:p14="http://schemas.microsoft.com/office/powerpoint/2010/main" val="422510833"/>
              </p:ext>
            </p:extLst>
          </p:nvPr>
        </p:nvGraphicFramePr>
        <p:xfrm>
          <a:off x="1513803" y="5369491"/>
          <a:ext cx="5002213" cy="863600"/>
        </p:xfrm>
        <a:graphic>
          <a:graphicData uri="http://schemas.openxmlformats.org/presentationml/2006/ole">
            <mc:AlternateContent xmlns:mc="http://schemas.openxmlformats.org/markup-compatibility/2006">
              <mc:Choice xmlns:v="urn:schemas-microsoft-com:vml" Requires="v">
                <p:oleObj name="Equation" r:id="rId24" imgW="2501900" imgH="431800" progId="Equation.3">
                  <p:embed/>
                </p:oleObj>
              </mc:Choice>
              <mc:Fallback>
                <p:oleObj name="Equation" r:id="rId24" imgW="2501900" imgH="431800" progId="Equation.3">
                  <p:embed/>
                  <p:pic>
                    <p:nvPicPr>
                      <p:cNvPr id="40996" name="Object 3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13803" y="5369491"/>
                        <a:ext cx="50022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02479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6"/>
                                        </p:tgtEl>
                                        <p:attrNameLst>
                                          <p:attrName>style.visibility</p:attrName>
                                        </p:attrNameLst>
                                      </p:cBhvr>
                                      <p:to>
                                        <p:strVal val="visible"/>
                                      </p:to>
                                    </p:set>
                                    <p:anim calcmode="lin" valueType="num">
                                      <p:cBhvr additive="base">
                                        <p:cTn id="59" dur="500" fill="hold"/>
                                        <p:tgtEl>
                                          <p:spTgt spid="46"/>
                                        </p:tgtEl>
                                        <p:attrNameLst>
                                          <p:attrName>ppt_x</p:attrName>
                                        </p:attrNameLst>
                                      </p:cBhvr>
                                      <p:tavLst>
                                        <p:tav tm="0">
                                          <p:val>
                                            <p:strVal val="#ppt_x"/>
                                          </p:val>
                                        </p:tav>
                                        <p:tav tm="100000">
                                          <p:val>
                                            <p:strVal val="#ppt_x"/>
                                          </p:val>
                                        </p:tav>
                                      </p:tavLst>
                                    </p:anim>
                                    <p:anim calcmode="lin" valueType="num">
                                      <p:cBhvr additive="base">
                                        <p:cTn id="6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7"/>
                                        </p:tgtEl>
                                        <p:attrNameLst>
                                          <p:attrName>style.visibility</p:attrName>
                                        </p:attrNameLst>
                                      </p:cBhvr>
                                      <p:to>
                                        <p:strVal val="visible"/>
                                      </p:to>
                                    </p:set>
                                    <p:anim calcmode="lin" valueType="num">
                                      <p:cBhvr additive="base">
                                        <p:cTn id="65" dur="500" fill="hold"/>
                                        <p:tgtEl>
                                          <p:spTgt spid="47"/>
                                        </p:tgtEl>
                                        <p:attrNameLst>
                                          <p:attrName>ppt_x</p:attrName>
                                        </p:attrNameLst>
                                      </p:cBhvr>
                                      <p:tavLst>
                                        <p:tav tm="0">
                                          <p:val>
                                            <p:strVal val="#ppt_x"/>
                                          </p:val>
                                        </p:tav>
                                        <p:tav tm="100000">
                                          <p:val>
                                            <p:strVal val="#ppt_x"/>
                                          </p:val>
                                        </p:tav>
                                      </p:tavLst>
                                    </p:anim>
                                    <p:anim calcmode="lin" valueType="num">
                                      <p:cBhvr additive="base">
                                        <p:cTn id="6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fill="hold"/>
                                        <p:tgtEl>
                                          <p:spTgt spid="48"/>
                                        </p:tgtEl>
                                        <p:attrNameLst>
                                          <p:attrName>ppt_x</p:attrName>
                                        </p:attrNameLst>
                                      </p:cBhvr>
                                      <p:tavLst>
                                        <p:tav tm="0">
                                          <p:val>
                                            <p:strVal val="#ppt_x"/>
                                          </p:val>
                                        </p:tav>
                                        <p:tav tm="100000">
                                          <p:val>
                                            <p:strVal val="#ppt_x"/>
                                          </p:val>
                                        </p:tav>
                                      </p:tavLst>
                                    </p:anim>
                                    <p:anim calcmode="lin" valueType="num">
                                      <p:cBhvr additive="base">
                                        <p:cTn id="7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2" name="Rectangle 5"/>
          <p:cNvSpPr>
            <a:spLocks noChangeArrowheads="1"/>
          </p:cNvSpPr>
          <p:nvPr/>
        </p:nvSpPr>
        <p:spPr bwMode="auto">
          <a:xfrm>
            <a:off x="279411" y="802970"/>
            <a:ext cx="11315063" cy="46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1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kumimoji="0" lang="zh-CN" altLang="en-US" i="0" dirty="0">
                <a:latin typeface="Times New Roman" panose="02020603050405020304" pitchFamily="18" charset="0"/>
                <a:ea typeface="黑体" panose="02010609060101010101" pitchFamily="49" charset="-122"/>
              </a:rPr>
              <a:t>求图示等厚均质偏心块的重心坐标。</a:t>
            </a:r>
          </a:p>
        </p:txBody>
      </p:sp>
      <p:sp>
        <p:nvSpPr>
          <p:cNvPr id="33" name="Rectangle 61"/>
          <p:cNvSpPr>
            <a:spLocks noChangeArrowheads="1"/>
          </p:cNvSpPr>
          <p:nvPr/>
        </p:nvSpPr>
        <p:spPr bwMode="auto">
          <a:xfrm>
            <a:off x="7389029" y="1364142"/>
            <a:ext cx="4727733" cy="4057732"/>
          </a:xfrm>
          <a:prstGeom prst="rect">
            <a:avLst/>
          </a:prstGeom>
          <a:solidFill>
            <a:srgbClr val="B9CDE5"/>
          </a:solidFill>
          <a:ln>
            <a:noFill/>
          </a:ln>
          <a:effectLst/>
        </p:spPr>
        <p:txBody>
          <a:bodyPr wrap="none" anchor="ctr"/>
          <a:lstStyle/>
          <a:p>
            <a:endParaRPr lang="zh-CN" altLang="en-US"/>
          </a:p>
        </p:txBody>
      </p:sp>
      <p:sp>
        <p:nvSpPr>
          <p:cNvPr id="2" name="Rectangle 5">
            <a:extLst>
              <a:ext uri="{FF2B5EF4-FFF2-40B4-BE49-F238E27FC236}">
                <a16:creationId xmlns:a16="http://schemas.microsoft.com/office/drawing/2014/main" id="{2A39D40A-35F7-7A17-D7D3-EDE7BABF770B}"/>
              </a:ext>
            </a:extLst>
          </p:cNvPr>
          <p:cNvSpPr>
            <a:spLocks noChangeArrowheads="1"/>
          </p:cNvSpPr>
          <p:nvPr/>
        </p:nvSpPr>
        <p:spPr bwMode="auto">
          <a:xfrm>
            <a:off x="279411" y="1203402"/>
            <a:ext cx="11315063" cy="12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lvl="0" algn="l">
              <a:lnSpc>
                <a:spcPct val="11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解  </a:t>
            </a:r>
            <a:r>
              <a:rPr kumimoji="0" lang="zh-CN" altLang="en-US" i="0" dirty="0">
                <a:solidFill>
                  <a:srgbClr val="FF00FF"/>
                </a:solidFill>
                <a:latin typeface="Times New Roman" panose="02020603050405020304" pitchFamily="18" charset="0"/>
                <a:ea typeface="黑体" panose="02010609060101010101" pitchFamily="49" charset="-122"/>
              </a:rPr>
              <a:t>用负面积法 </a:t>
            </a:r>
            <a:r>
              <a:rPr kumimoji="0" lang="zh-CN" altLang="en-US" i="0" dirty="0">
                <a:latin typeface="Times New Roman" panose="02020603050405020304" pitchFamily="18" charset="0"/>
                <a:ea typeface="黑体" panose="02010609060101010101" pitchFamily="49" charset="-122"/>
              </a:rPr>
              <a:t>。</a:t>
            </a:r>
            <a:endParaRPr kumimoji="0" lang="en-US" altLang="zh-CN" i="0" dirty="0">
              <a:latin typeface="Times New Roman" panose="02020603050405020304" pitchFamily="18" charset="0"/>
              <a:ea typeface="黑体" panose="02010609060101010101" pitchFamily="49" charset="-122"/>
            </a:endParaRPr>
          </a:p>
          <a:p>
            <a:pPr algn="l">
              <a:lnSpc>
                <a:spcPct val="110000"/>
              </a:lnSpc>
              <a:spcBef>
                <a:spcPct val="0"/>
              </a:spcBef>
              <a:buClrTx/>
              <a:buSzTx/>
              <a:buNone/>
            </a:pPr>
            <a:r>
              <a:rPr kumimoji="0" lang="en-US" altLang="zh-CN" i="0" dirty="0">
                <a:latin typeface="Times New Roman" panose="02020603050405020304" pitchFamily="18" charset="0"/>
                <a:ea typeface="黑体" panose="02010609060101010101" pitchFamily="49" charset="-122"/>
              </a:rPr>
              <a:t>      </a:t>
            </a:r>
            <a:r>
              <a:rPr kumimoji="0" lang="zh-CN" altLang="en-US" i="0" dirty="0">
                <a:latin typeface="Times New Roman" panose="02020603050405020304" pitchFamily="18" charset="0"/>
                <a:ea typeface="黑体" panose="02010609060101010101" pitchFamily="49" charset="-122"/>
              </a:rPr>
              <a:t>由对称性，可得 </a:t>
            </a:r>
            <a:r>
              <a:rPr kumimoji="1" lang="en-US" altLang="zh-CN" b="0" dirty="0" err="1">
                <a:solidFill>
                  <a:schemeClr val="tx1"/>
                </a:solidFill>
                <a:latin typeface="+mj-lt"/>
                <a:ea typeface="黑体" panose="02010609060101010101" pitchFamily="49" charset="-122"/>
              </a:rPr>
              <a:t>x</a:t>
            </a:r>
            <a:r>
              <a:rPr kumimoji="1" lang="en-US" altLang="zh-CN" b="0" baseline="-25000" dirty="0" err="1">
                <a:solidFill>
                  <a:schemeClr val="tx1"/>
                </a:solidFill>
                <a:latin typeface="+mj-lt"/>
                <a:ea typeface="黑体" panose="02010609060101010101" pitchFamily="49" charset="-122"/>
              </a:rPr>
              <a:t>C</a:t>
            </a:r>
            <a:r>
              <a:rPr kumimoji="1" lang="en-US" altLang="zh-CN" b="0" i="0" dirty="0">
                <a:solidFill>
                  <a:schemeClr val="tx1"/>
                </a:solidFill>
                <a:latin typeface="+mj-lt"/>
                <a:ea typeface="黑体" panose="02010609060101010101" pitchFamily="49" charset="-122"/>
              </a:rPr>
              <a:t> =0 </a:t>
            </a:r>
          </a:p>
          <a:p>
            <a:pPr lvl="0" algn="l">
              <a:lnSpc>
                <a:spcPct val="110000"/>
              </a:lnSpc>
              <a:spcBef>
                <a:spcPct val="0"/>
              </a:spcBef>
              <a:buClrTx/>
              <a:buSzTx/>
              <a:buNone/>
            </a:pPr>
            <a:endParaRPr kumimoji="0" lang="zh-CN" altLang="en-US" i="0" dirty="0">
              <a:latin typeface="Times New Roman" panose="02020603050405020304" pitchFamily="18" charset="0"/>
              <a:ea typeface="黑体" panose="02010609060101010101" pitchFamily="49" charset="-122"/>
            </a:endParaRPr>
          </a:p>
        </p:txBody>
      </p:sp>
      <p:grpSp>
        <p:nvGrpSpPr>
          <p:cNvPr id="14" name="组合 34">
            <a:extLst>
              <a:ext uri="{FF2B5EF4-FFF2-40B4-BE49-F238E27FC236}">
                <a16:creationId xmlns:a16="http://schemas.microsoft.com/office/drawing/2014/main" id="{3A1BD0A7-8F48-B7ED-5FA7-A18C1B5C2281}"/>
              </a:ext>
            </a:extLst>
          </p:cNvPr>
          <p:cNvGrpSpPr/>
          <p:nvPr/>
        </p:nvGrpSpPr>
        <p:grpSpPr bwMode="auto">
          <a:xfrm>
            <a:off x="7871117" y="1772816"/>
            <a:ext cx="3738562" cy="3101975"/>
            <a:chOff x="5297266" y="2971800"/>
            <a:chExt cx="3738784" cy="3101975"/>
          </a:xfrm>
        </p:grpSpPr>
        <p:pic>
          <p:nvPicPr>
            <p:cNvPr id="15" name="Picture 4" descr="l04-14">
              <a:extLst>
                <a:ext uri="{FF2B5EF4-FFF2-40B4-BE49-F238E27FC236}">
                  <a16:creationId xmlns:a16="http://schemas.microsoft.com/office/drawing/2014/main" id="{321F9C59-7E74-2A61-0A0A-43E3E33B5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3050" y="2971800"/>
              <a:ext cx="3683000"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Object 34">
              <a:extLst>
                <a:ext uri="{FF2B5EF4-FFF2-40B4-BE49-F238E27FC236}">
                  <a16:creationId xmlns:a16="http://schemas.microsoft.com/office/drawing/2014/main" id="{8A05F475-986D-A91B-04C7-6F6D95094D7B}"/>
                </a:ext>
              </a:extLst>
            </p:cNvPr>
            <p:cNvGraphicFramePr>
              <a:graphicFrameLocks noChangeAspect="1"/>
            </p:cNvGraphicFramePr>
            <p:nvPr/>
          </p:nvGraphicFramePr>
          <p:xfrm>
            <a:off x="5297266" y="5715016"/>
            <a:ext cx="3689361" cy="333376"/>
          </p:xfrm>
          <a:graphic>
            <a:graphicData uri="http://schemas.openxmlformats.org/presentationml/2006/ole">
              <mc:AlternateContent xmlns:mc="http://schemas.openxmlformats.org/markup-compatibility/2006">
                <mc:Choice xmlns:v="urn:schemas-microsoft-com:vml" Requires="v">
                  <p:oleObj name="Equation" r:id="rId4" imgW="2108200" imgH="190500" progId="Equation.3">
                    <p:embed/>
                  </p:oleObj>
                </mc:Choice>
                <mc:Fallback>
                  <p:oleObj name="Equation" r:id="rId4" imgW="2108200" imgH="190500" progId="Equation.3">
                    <p:embed/>
                    <p:pic>
                      <p:nvPicPr>
                        <p:cNvPr id="100369"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7266" y="5715016"/>
                          <a:ext cx="3689361" cy="33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 name="矩形 16">
            <a:extLst>
              <a:ext uri="{FF2B5EF4-FFF2-40B4-BE49-F238E27FC236}">
                <a16:creationId xmlns:a16="http://schemas.microsoft.com/office/drawing/2014/main" id="{8A9E9A73-FF00-4DEB-A4ED-497079968D99}"/>
              </a:ext>
            </a:extLst>
          </p:cNvPr>
          <p:cNvSpPr>
            <a:spLocks noChangeArrowheads="1"/>
          </p:cNvSpPr>
          <p:nvPr/>
        </p:nvSpPr>
        <p:spPr bwMode="auto">
          <a:xfrm>
            <a:off x="8180679" y="2272879"/>
            <a:ext cx="29702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FontTx/>
              <a:buNone/>
            </a:pPr>
            <a:r>
              <a:rPr kumimoji="0" lang="zh-CN" altLang="en-US" b="1">
                <a:solidFill>
                  <a:srgbClr val="0033CC"/>
                </a:solidFill>
                <a:latin typeface="宋体" panose="02010600030101010101" pitchFamily="2" charset="-122"/>
              </a:rPr>
              <a:t>大半圆</a:t>
            </a:r>
            <a:r>
              <a:rPr kumimoji="0" lang="en-US" altLang="zh-CN" b="1">
                <a:solidFill>
                  <a:srgbClr val="0033CC"/>
                </a:solidFill>
                <a:latin typeface="宋体" panose="02010600030101010101" pitchFamily="2" charset="-122"/>
              </a:rPr>
              <a:t>+</a:t>
            </a:r>
            <a:r>
              <a:rPr kumimoji="0" lang="zh-CN" altLang="en-US" b="1">
                <a:solidFill>
                  <a:srgbClr val="0033CC"/>
                </a:solidFill>
                <a:latin typeface="宋体" panose="02010600030101010101" pitchFamily="2" charset="-122"/>
              </a:rPr>
              <a:t>小半圆</a:t>
            </a:r>
            <a:r>
              <a:rPr kumimoji="0" lang="en-US" altLang="zh-CN" b="1">
                <a:solidFill>
                  <a:srgbClr val="0033CC"/>
                </a:solidFill>
                <a:latin typeface="宋体" panose="02010600030101010101" pitchFamily="2" charset="-122"/>
              </a:rPr>
              <a:t>-</a:t>
            </a:r>
            <a:r>
              <a:rPr kumimoji="0" lang="zh-CN" altLang="en-US" b="1">
                <a:solidFill>
                  <a:srgbClr val="0033CC"/>
                </a:solidFill>
                <a:latin typeface="宋体" panose="02010600030101010101" pitchFamily="2" charset="-122"/>
              </a:rPr>
              <a:t>小圆</a:t>
            </a:r>
            <a:endParaRPr kumimoji="0" lang="zh-CN" altLang="en-US">
              <a:solidFill>
                <a:srgbClr val="0033CC"/>
              </a:solidFill>
              <a:latin typeface="Times New Roman" panose="02020603050405020304" pitchFamily="18" charset="0"/>
            </a:endParaRPr>
          </a:p>
        </p:txBody>
      </p:sp>
      <p:graphicFrame>
        <p:nvGraphicFramePr>
          <p:cNvPr id="18" name="Object 36">
            <a:extLst>
              <a:ext uri="{FF2B5EF4-FFF2-40B4-BE49-F238E27FC236}">
                <a16:creationId xmlns:a16="http://schemas.microsoft.com/office/drawing/2014/main" id="{8D9545F8-2107-7208-619F-3EAAA6D9BE8A}"/>
              </a:ext>
            </a:extLst>
          </p:cNvPr>
          <p:cNvGraphicFramePr>
            <a:graphicFrameLocks noChangeAspect="1"/>
          </p:cNvGraphicFramePr>
          <p:nvPr>
            <p:extLst>
              <p:ext uri="{D42A27DB-BD31-4B8C-83A1-F6EECF244321}">
                <p14:modId xmlns:p14="http://schemas.microsoft.com/office/powerpoint/2010/main" val="2250204764"/>
              </p:ext>
            </p:extLst>
          </p:nvPr>
        </p:nvGraphicFramePr>
        <p:xfrm>
          <a:off x="855960" y="2168716"/>
          <a:ext cx="1249363" cy="788988"/>
        </p:xfrm>
        <a:graphic>
          <a:graphicData uri="http://schemas.openxmlformats.org/presentationml/2006/ole">
            <mc:AlternateContent xmlns:mc="http://schemas.openxmlformats.org/markup-compatibility/2006">
              <mc:Choice xmlns:v="urn:schemas-microsoft-com:vml" Requires="v">
                <p:oleObj name="Equation" r:id="rId6" imgW="622300" imgH="393700" progId="Equation.3">
                  <p:embed/>
                </p:oleObj>
              </mc:Choice>
              <mc:Fallback>
                <p:oleObj name="Equation" r:id="rId6" imgW="622300" imgH="393700" progId="Equation.3">
                  <p:embed/>
                  <p:pic>
                    <p:nvPicPr>
                      <p:cNvPr id="36970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960" y="2168716"/>
                        <a:ext cx="1249363"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35">
            <a:extLst>
              <a:ext uri="{FF2B5EF4-FFF2-40B4-BE49-F238E27FC236}">
                <a16:creationId xmlns:a16="http://schemas.microsoft.com/office/drawing/2014/main" id="{12C9A212-C94D-D481-73AB-9F5DFC2D0B2E}"/>
              </a:ext>
            </a:extLst>
          </p:cNvPr>
          <p:cNvGraphicFramePr>
            <a:graphicFrameLocks noChangeAspect="1"/>
          </p:cNvGraphicFramePr>
          <p:nvPr>
            <p:extLst>
              <p:ext uri="{D42A27DB-BD31-4B8C-83A1-F6EECF244321}">
                <p14:modId xmlns:p14="http://schemas.microsoft.com/office/powerpoint/2010/main" val="2638039718"/>
              </p:ext>
            </p:extLst>
          </p:nvPr>
        </p:nvGraphicFramePr>
        <p:xfrm>
          <a:off x="855960" y="3025966"/>
          <a:ext cx="1828800" cy="787400"/>
        </p:xfrm>
        <a:graphic>
          <a:graphicData uri="http://schemas.openxmlformats.org/presentationml/2006/ole">
            <mc:AlternateContent xmlns:mc="http://schemas.openxmlformats.org/markup-compatibility/2006">
              <mc:Choice xmlns:v="urn:schemas-microsoft-com:vml" Requires="v">
                <p:oleObj name="Equation" r:id="rId8" imgW="914400" imgH="393700" progId="Equation.3">
                  <p:embed/>
                </p:oleObj>
              </mc:Choice>
              <mc:Fallback>
                <p:oleObj name="Equation" r:id="rId8" imgW="914400" imgH="393700" progId="Equation.3">
                  <p:embed/>
                  <p:pic>
                    <p:nvPicPr>
                      <p:cNvPr id="39971" name="Object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5960" y="3025966"/>
                        <a:ext cx="18288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5">
            <a:extLst>
              <a:ext uri="{FF2B5EF4-FFF2-40B4-BE49-F238E27FC236}">
                <a16:creationId xmlns:a16="http://schemas.microsoft.com/office/drawing/2014/main" id="{9D99126C-2433-19A4-5874-143A4868050D}"/>
              </a:ext>
            </a:extLst>
          </p:cNvPr>
          <p:cNvGraphicFramePr>
            <a:graphicFrameLocks noChangeAspect="1"/>
          </p:cNvGraphicFramePr>
          <p:nvPr>
            <p:extLst>
              <p:ext uri="{D42A27DB-BD31-4B8C-83A1-F6EECF244321}">
                <p14:modId xmlns:p14="http://schemas.microsoft.com/office/powerpoint/2010/main" val="3521839634"/>
              </p:ext>
            </p:extLst>
          </p:nvPr>
        </p:nvGraphicFramePr>
        <p:xfrm>
          <a:off x="855960" y="3954654"/>
          <a:ext cx="1243013" cy="482600"/>
        </p:xfrm>
        <a:graphic>
          <a:graphicData uri="http://schemas.openxmlformats.org/presentationml/2006/ole">
            <mc:AlternateContent xmlns:mc="http://schemas.openxmlformats.org/markup-compatibility/2006">
              <mc:Choice xmlns:v="urn:schemas-microsoft-com:vml" Requires="v">
                <p:oleObj name="Equation" r:id="rId10" imgW="622300" imgH="241300" progId="Equation.3">
                  <p:embed/>
                </p:oleObj>
              </mc:Choice>
              <mc:Fallback>
                <p:oleObj name="Equation" r:id="rId10" imgW="622300" imgH="241300" progId="Equation.3">
                  <p:embed/>
                  <p:pic>
                    <p:nvPicPr>
                      <p:cNvPr id="39972"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5960" y="3954654"/>
                        <a:ext cx="1243013"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37">
            <a:extLst>
              <a:ext uri="{FF2B5EF4-FFF2-40B4-BE49-F238E27FC236}">
                <a16:creationId xmlns:a16="http://schemas.microsoft.com/office/drawing/2014/main" id="{685BD57D-2A98-F47E-4D83-36C8A3C66986}"/>
              </a:ext>
            </a:extLst>
          </p:cNvPr>
          <p:cNvGraphicFramePr>
            <a:graphicFrameLocks noChangeAspect="1"/>
          </p:cNvGraphicFramePr>
          <p:nvPr>
            <p:extLst>
              <p:ext uri="{D42A27DB-BD31-4B8C-83A1-F6EECF244321}">
                <p14:modId xmlns:p14="http://schemas.microsoft.com/office/powerpoint/2010/main" val="1745921930"/>
              </p:ext>
            </p:extLst>
          </p:nvPr>
        </p:nvGraphicFramePr>
        <p:xfrm>
          <a:off x="2927648" y="2168716"/>
          <a:ext cx="1096962" cy="788988"/>
        </p:xfrm>
        <a:graphic>
          <a:graphicData uri="http://schemas.openxmlformats.org/presentationml/2006/ole">
            <mc:AlternateContent xmlns:mc="http://schemas.openxmlformats.org/markup-compatibility/2006">
              <mc:Choice xmlns:v="urn:schemas-microsoft-com:vml" Requires="v">
                <p:oleObj name="Equation" r:id="rId12" imgW="546100" imgH="393700" progId="Equation.3">
                  <p:embed/>
                </p:oleObj>
              </mc:Choice>
              <mc:Fallback>
                <p:oleObj name="Equation" r:id="rId12" imgW="546100" imgH="393700" progId="Equation.3">
                  <p:embed/>
                  <p:pic>
                    <p:nvPicPr>
                      <p:cNvPr id="39"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7648" y="2168716"/>
                        <a:ext cx="1096962"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2" name="Object 38">
                <a:extLst>
                  <a:ext uri="{FF2B5EF4-FFF2-40B4-BE49-F238E27FC236}">
                    <a16:creationId xmlns:a16="http://schemas.microsoft.com/office/drawing/2014/main" id="{71007C06-421A-81FF-2D5E-18EBE7BBB2B7}"/>
                  </a:ext>
                </a:extLst>
              </p:cNvPr>
              <p:cNvSpPr txBox="1"/>
              <p:nvPr/>
            </p:nvSpPr>
            <p:spPr bwMode="auto">
              <a:xfrm>
                <a:off x="2927350" y="3025775"/>
                <a:ext cx="1912938" cy="788988"/>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𝑟</m:t>
                          </m:r>
                          <m:r>
                            <a:rPr lang="en-US" altLang="zh-CN" b="1"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𝜋</m:t>
                          </m:r>
                        </m:den>
                      </m:f>
                    </m:oMath>
                  </m:oMathPara>
                </a14:m>
                <a:endParaRPr lang="zh-CN" altLang="en-US" dirty="0"/>
              </a:p>
            </p:txBody>
          </p:sp>
        </mc:Choice>
        <mc:Fallback xmlns="">
          <p:sp>
            <p:nvSpPr>
              <p:cNvPr id="22" name="Object 38">
                <a:extLst>
                  <a:ext uri="{FF2B5EF4-FFF2-40B4-BE49-F238E27FC236}">
                    <a16:creationId xmlns:a16="http://schemas.microsoft.com/office/drawing/2014/main" id="{71007C06-421A-81FF-2D5E-18EBE7BBB2B7}"/>
                  </a:ext>
                </a:extLst>
              </p:cNvPr>
              <p:cNvSpPr txBox="1">
                <a:spLocks noRot="1" noChangeAspect="1" noMove="1" noResize="1" noEditPoints="1" noAdjustHandles="1" noChangeArrowheads="1" noChangeShapeType="1" noTextEdit="1"/>
              </p:cNvSpPr>
              <p:nvPr/>
            </p:nvSpPr>
            <p:spPr bwMode="auto">
              <a:xfrm>
                <a:off x="2927350" y="3025775"/>
                <a:ext cx="1912938" cy="788988"/>
              </a:xfrm>
              <a:prstGeom prst="rect">
                <a:avLst/>
              </a:prstGeom>
              <a:blipFill>
                <a:blip r:embed="rId14"/>
                <a:stretch>
                  <a:fillRect/>
                </a:stretch>
              </a:blipFill>
              <a:ln>
                <a:noFill/>
              </a:ln>
              <a:effectLst/>
            </p:spPr>
            <p:txBody>
              <a:bodyPr/>
              <a:lstStyle/>
              <a:p>
                <a:r>
                  <a:rPr lang="zh-CN" altLang="en-US">
                    <a:noFill/>
                  </a:rPr>
                  <a:t> </a:t>
                </a:r>
              </a:p>
            </p:txBody>
          </p:sp>
        </mc:Fallback>
      </mc:AlternateContent>
      <p:graphicFrame>
        <p:nvGraphicFramePr>
          <p:cNvPr id="23" name="Object 39">
            <a:extLst>
              <a:ext uri="{FF2B5EF4-FFF2-40B4-BE49-F238E27FC236}">
                <a16:creationId xmlns:a16="http://schemas.microsoft.com/office/drawing/2014/main" id="{4D4A4633-D97C-0A75-011F-3396D048601C}"/>
              </a:ext>
            </a:extLst>
          </p:cNvPr>
          <p:cNvGraphicFramePr>
            <a:graphicFrameLocks noChangeAspect="1"/>
          </p:cNvGraphicFramePr>
          <p:nvPr>
            <p:extLst>
              <p:ext uri="{D42A27DB-BD31-4B8C-83A1-F6EECF244321}">
                <p14:modId xmlns:p14="http://schemas.microsoft.com/office/powerpoint/2010/main" val="2042489849"/>
              </p:ext>
            </p:extLst>
          </p:nvPr>
        </p:nvGraphicFramePr>
        <p:xfrm>
          <a:off x="2943523" y="3954654"/>
          <a:ext cx="841375" cy="457200"/>
        </p:xfrm>
        <a:graphic>
          <a:graphicData uri="http://schemas.openxmlformats.org/presentationml/2006/ole">
            <mc:AlternateContent xmlns:mc="http://schemas.openxmlformats.org/markup-compatibility/2006">
              <mc:Choice xmlns:v="urn:schemas-microsoft-com:vml" Requires="v">
                <p:oleObj name="Equation" r:id="rId15" imgW="419100" imgH="228600" progId="Equation.3">
                  <p:embed/>
                </p:oleObj>
              </mc:Choice>
              <mc:Fallback>
                <p:oleObj name="Equation" r:id="rId15" imgW="419100" imgH="228600" progId="Equation.3">
                  <p:embed/>
                  <p:pic>
                    <p:nvPicPr>
                      <p:cNvPr id="41"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43523" y="3954654"/>
                        <a:ext cx="841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40">
            <a:extLst>
              <a:ext uri="{FF2B5EF4-FFF2-40B4-BE49-F238E27FC236}">
                <a16:creationId xmlns:a16="http://schemas.microsoft.com/office/drawing/2014/main" id="{FC7894BD-2C4C-E027-DA16-C793E0B74824}"/>
              </a:ext>
            </a:extLst>
          </p:cNvPr>
          <p:cNvGraphicFramePr>
            <a:graphicFrameLocks noChangeAspect="1"/>
          </p:cNvGraphicFramePr>
          <p:nvPr>
            <p:extLst>
              <p:ext uri="{D42A27DB-BD31-4B8C-83A1-F6EECF244321}">
                <p14:modId xmlns:p14="http://schemas.microsoft.com/office/powerpoint/2010/main" val="2243542820"/>
              </p:ext>
            </p:extLst>
          </p:nvPr>
        </p:nvGraphicFramePr>
        <p:xfrm>
          <a:off x="855960" y="4740466"/>
          <a:ext cx="4911725" cy="1000125"/>
        </p:xfrm>
        <a:graphic>
          <a:graphicData uri="http://schemas.openxmlformats.org/presentationml/2006/ole">
            <mc:AlternateContent xmlns:mc="http://schemas.openxmlformats.org/markup-compatibility/2006">
              <mc:Choice xmlns:v="urn:schemas-microsoft-com:vml" Requires="v">
                <p:oleObj name="Equation" r:id="rId17" imgW="2120900" imgH="431800" progId="Equation.3">
                  <p:embed/>
                </p:oleObj>
              </mc:Choice>
              <mc:Fallback>
                <p:oleObj name="Equation" r:id="rId17" imgW="2120900" imgH="431800" progId="Equation.3">
                  <p:embed/>
                  <p:pic>
                    <p:nvPicPr>
                      <p:cNvPr id="39976"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5960" y="4740466"/>
                        <a:ext cx="491172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198142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3" name="Rectangle 61"/>
          <p:cNvSpPr>
            <a:spLocks noChangeArrowheads="1"/>
          </p:cNvSpPr>
          <p:nvPr/>
        </p:nvSpPr>
        <p:spPr bwMode="auto">
          <a:xfrm>
            <a:off x="3431704" y="2529787"/>
            <a:ext cx="6264696" cy="3529012"/>
          </a:xfrm>
          <a:prstGeom prst="rect">
            <a:avLst/>
          </a:prstGeom>
          <a:solidFill>
            <a:srgbClr val="B9CDE5"/>
          </a:solidFill>
          <a:ln>
            <a:noFill/>
          </a:ln>
          <a:effectLst/>
        </p:spPr>
        <p:txBody>
          <a:bodyPr wrap="none" anchor="ctr"/>
          <a:lstStyle/>
          <a:p>
            <a:endParaRPr lang="zh-CN" altLang="en-US"/>
          </a:p>
        </p:txBody>
      </p:sp>
      <p:sp>
        <p:nvSpPr>
          <p:cNvPr id="6" name="矩形 5">
            <a:extLst>
              <a:ext uri="{FF2B5EF4-FFF2-40B4-BE49-F238E27FC236}">
                <a16:creationId xmlns:a16="http://schemas.microsoft.com/office/drawing/2014/main" id="{7D0D8141-A6F9-23E6-79CC-C6FC0E25ED00}"/>
              </a:ext>
            </a:extLst>
          </p:cNvPr>
          <p:cNvSpPr/>
          <p:nvPr/>
        </p:nvSpPr>
        <p:spPr>
          <a:xfrm>
            <a:off x="1004367" y="799201"/>
            <a:ext cx="5929828" cy="2110514"/>
          </a:xfrm>
          <a:prstGeom prst="rect">
            <a:avLst/>
          </a:prstGeom>
        </p:spPr>
        <p:txBody>
          <a:bodyPr wrap="none">
            <a:spAutoFit/>
          </a:bodyPr>
          <a:lstStyle/>
          <a:p>
            <a:pPr>
              <a:lnSpc>
                <a:spcPct val="150000"/>
              </a:lnSpc>
            </a:pPr>
            <a:r>
              <a:rPr lang="zh-CN" altLang="en-US" sz="3200" i="0" dirty="0">
                <a:solidFill>
                  <a:srgbClr val="FF0000"/>
                </a:solidFill>
                <a:latin typeface="微软雅黑" panose="020B0503020204020204" pitchFamily="34" charset="-122"/>
                <a:ea typeface="微软雅黑" panose="020B0503020204020204" pitchFamily="34" charset="-122"/>
              </a:rPr>
              <a:t>二）</a:t>
            </a:r>
            <a:r>
              <a:rPr lang="zh-CN" altLang="en-US" sz="3200" i="0" noProof="1">
                <a:solidFill>
                  <a:srgbClr val="FF0000"/>
                </a:solidFill>
                <a:latin typeface="微软雅黑" panose="020B0503020204020204" pitchFamily="34" charset="-122"/>
                <a:ea typeface="微软雅黑" panose="020B0503020204020204" pitchFamily="34" charset="-122"/>
              </a:rPr>
              <a:t>用实验方法测定重心的位置</a:t>
            </a:r>
          </a:p>
          <a:p>
            <a:pPr algn="l">
              <a:lnSpc>
                <a:spcPct val="150000"/>
              </a:lnSpc>
              <a:spcBef>
                <a:spcPct val="0"/>
              </a:spcBef>
              <a:buClrTx/>
              <a:buSzTx/>
              <a:buFont typeface="宋体" panose="02010600030101010101" pitchFamily="2" charset="-122"/>
              <a:buNone/>
            </a:pPr>
            <a:r>
              <a:rPr lang="zh-CN" altLang="en-US" sz="3200" i="0" dirty="0">
                <a:solidFill>
                  <a:srgbClr val="FF0000"/>
                </a:solidFill>
                <a:latin typeface="微软雅黑" panose="020B0503020204020204" pitchFamily="34" charset="-122"/>
                <a:ea typeface="微软雅黑" panose="020B0503020204020204" pitchFamily="34" charset="-122"/>
              </a:rPr>
              <a:t>     </a:t>
            </a:r>
            <a:r>
              <a:rPr lang="en-US" altLang="zh-CN" sz="3200" i="0" dirty="0">
                <a:solidFill>
                  <a:srgbClr val="FF0000"/>
                </a:solidFill>
                <a:latin typeface="微软雅黑" panose="020B0503020204020204" pitchFamily="34" charset="-122"/>
                <a:ea typeface="微软雅黑" panose="020B0503020204020204" pitchFamily="34" charset="-122"/>
              </a:rPr>
              <a:t>1</a:t>
            </a:r>
            <a:r>
              <a:rPr lang="zh-CN" altLang="en-US" sz="3200" i="0" dirty="0">
                <a:solidFill>
                  <a:srgbClr val="FF0000"/>
                </a:solidFill>
                <a:latin typeface="微软雅黑" panose="020B0503020204020204" pitchFamily="34" charset="-122"/>
                <a:ea typeface="微软雅黑" panose="020B0503020204020204" pitchFamily="34" charset="-122"/>
              </a:rPr>
              <a:t>）悬挂法</a:t>
            </a:r>
          </a:p>
          <a:p>
            <a:pPr>
              <a:lnSpc>
                <a:spcPct val="120000"/>
              </a:lnSpc>
            </a:pPr>
            <a:r>
              <a:rPr lang="en-US" altLang="zh-CN" sz="3200" i="0" dirty="0">
                <a:solidFill>
                  <a:srgbClr val="FF0000"/>
                </a:solidFill>
                <a:latin typeface="微软雅黑" panose="020B0503020204020204" pitchFamily="34" charset="-122"/>
                <a:ea typeface="微软雅黑" panose="020B0503020204020204" pitchFamily="34" charset="-122"/>
              </a:rPr>
              <a:t>     </a:t>
            </a:r>
            <a:endParaRPr lang="zh-CN" altLang="en-US" sz="3200" i="0" dirty="0">
              <a:solidFill>
                <a:srgbClr val="FF0000"/>
              </a:solidFill>
              <a:latin typeface="微软雅黑" panose="020B0503020204020204" pitchFamily="34" charset="-122"/>
              <a:ea typeface="微软雅黑" panose="020B0503020204020204" pitchFamily="34" charset="-122"/>
            </a:endParaRPr>
          </a:p>
        </p:txBody>
      </p:sp>
      <p:pic>
        <p:nvPicPr>
          <p:cNvPr id="10" name="Picture 7" descr="04-39-a">
            <a:extLst>
              <a:ext uri="{FF2B5EF4-FFF2-40B4-BE49-F238E27FC236}">
                <a16:creationId xmlns:a16="http://schemas.microsoft.com/office/drawing/2014/main" id="{77FA3CB5-C6AC-74A1-E8A4-9DF824575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885" t="8289" r="9814" b="3603"/>
          <a:stretch>
            <a:fillRect/>
          </a:stretch>
        </p:blipFill>
        <p:spPr bwMode="auto">
          <a:xfrm>
            <a:off x="4151784" y="2687305"/>
            <a:ext cx="1813002" cy="3282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04-39-b">
            <a:extLst>
              <a:ext uri="{FF2B5EF4-FFF2-40B4-BE49-F238E27FC236}">
                <a16:creationId xmlns:a16="http://schemas.microsoft.com/office/drawing/2014/main" id="{E0D1A0F9-0CEE-700B-0688-47A5CC9517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1748" t="6554" r="7378" b="4471"/>
          <a:stretch>
            <a:fillRect/>
          </a:stretch>
        </p:blipFill>
        <p:spPr bwMode="auto">
          <a:xfrm>
            <a:off x="7010764" y="2721262"/>
            <a:ext cx="1770186" cy="3214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460787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第三章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空间问题的受力分析</a:t>
            </a:r>
          </a:p>
        </p:txBody>
      </p:sp>
      <p:sp>
        <p:nvSpPr>
          <p:cNvPr id="33" name="Rectangle 61"/>
          <p:cNvSpPr>
            <a:spLocks noChangeArrowheads="1"/>
          </p:cNvSpPr>
          <p:nvPr/>
        </p:nvSpPr>
        <p:spPr bwMode="auto">
          <a:xfrm>
            <a:off x="7337102" y="1178496"/>
            <a:ext cx="4464496" cy="4804072"/>
          </a:xfrm>
          <a:prstGeom prst="rect">
            <a:avLst/>
          </a:prstGeom>
          <a:solidFill>
            <a:srgbClr val="B9CDE5"/>
          </a:solidFill>
          <a:ln>
            <a:noFill/>
          </a:ln>
          <a:effectLst/>
        </p:spPr>
        <p:txBody>
          <a:bodyPr wrap="none" anchor="ctr"/>
          <a:lstStyle/>
          <a:p>
            <a:endParaRPr lang="zh-CN" altLang="en-US"/>
          </a:p>
        </p:txBody>
      </p:sp>
      <p:sp>
        <p:nvSpPr>
          <p:cNvPr id="6" name="矩形 5">
            <a:extLst>
              <a:ext uri="{FF2B5EF4-FFF2-40B4-BE49-F238E27FC236}">
                <a16:creationId xmlns:a16="http://schemas.microsoft.com/office/drawing/2014/main" id="{7D0D8141-A6F9-23E6-79CC-C6FC0E25ED00}"/>
              </a:ext>
            </a:extLst>
          </p:cNvPr>
          <p:cNvSpPr/>
          <p:nvPr/>
        </p:nvSpPr>
        <p:spPr>
          <a:xfrm>
            <a:off x="1004367" y="799201"/>
            <a:ext cx="2079415" cy="743986"/>
          </a:xfrm>
          <a:prstGeom prst="rect">
            <a:avLst/>
          </a:prstGeom>
        </p:spPr>
        <p:txBody>
          <a:bodyPr wrap="none">
            <a:spAutoFit/>
          </a:bodyPr>
          <a:lstStyle/>
          <a:p>
            <a:pPr>
              <a:lnSpc>
                <a:spcPct val="150000"/>
              </a:lnSpc>
            </a:pPr>
            <a:r>
              <a:rPr lang="en-US" altLang="zh-CN" sz="3200" i="0" dirty="0">
                <a:solidFill>
                  <a:srgbClr val="FF0000"/>
                </a:solidFill>
                <a:latin typeface="微软雅黑" panose="020B0503020204020204" pitchFamily="34" charset="-122"/>
                <a:ea typeface="微软雅黑" panose="020B0503020204020204" pitchFamily="34" charset="-122"/>
              </a:rPr>
              <a:t>2</a:t>
            </a:r>
            <a:r>
              <a:rPr lang="zh-CN" altLang="en-US" sz="3200" i="0" dirty="0">
                <a:solidFill>
                  <a:srgbClr val="FF0000"/>
                </a:solidFill>
                <a:latin typeface="微软雅黑" panose="020B0503020204020204" pitchFamily="34" charset="-122"/>
                <a:ea typeface="微软雅黑" panose="020B0503020204020204" pitchFamily="34" charset="-122"/>
              </a:rPr>
              <a:t>）称重法</a:t>
            </a:r>
          </a:p>
        </p:txBody>
      </p:sp>
      <p:pic>
        <p:nvPicPr>
          <p:cNvPr id="2" name="Picture 5" descr="04-40">
            <a:extLst>
              <a:ext uri="{FF2B5EF4-FFF2-40B4-BE49-F238E27FC236}">
                <a16:creationId xmlns:a16="http://schemas.microsoft.com/office/drawing/2014/main" id="{50326C34-6DD1-C701-9915-6305DC4D6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519" b="13390"/>
          <a:stretch>
            <a:fillRect/>
          </a:stretch>
        </p:blipFill>
        <p:spPr bwMode="auto">
          <a:xfrm>
            <a:off x="7824192" y="1412776"/>
            <a:ext cx="3675062"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3">
            <a:extLst>
              <a:ext uri="{FF2B5EF4-FFF2-40B4-BE49-F238E27FC236}">
                <a16:creationId xmlns:a16="http://schemas.microsoft.com/office/drawing/2014/main" id="{96FC3F03-9E66-A762-04B3-0E8C88AB24C5}"/>
              </a:ext>
            </a:extLst>
          </p:cNvPr>
          <p:cNvGrpSpPr/>
          <p:nvPr/>
        </p:nvGrpSpPr>
        <p:grpSpPr bwMode="auto">
          <a:xfrm>
            <a:off x="7821017" y="3430489"/>
            <a:ext cx="3678237" cy="2286000"/>
            <a:chOff x="2975" y="1423"/>
            <a:chExt cx="2688" cy="1557"/>
          </a:xfrm>
        </p:grpSpPr>
        <p:grpSp>
          <p:nvGrpSpPr>
            <p:cNvPr id="4" name="Group 7">
              <a:extLst>
                <a:ext uri="{FF2B5EF4-FFF2-40B4-BE49-F238E27FC236}">
                  <a16:creationId xmlns:a16="http://schemas.microsoft.com/office/drawing/2014/main" id="{CFAD3883-B295-02AB-81F4-2ACF89585E13}"/>
                </a:ext>
              </a:extLst>
            </p:cNvPr>
            <p:cNvGrpSpPr/>
            <p:nvPr/>
          </p:nvGrpSpPr>
          <p:grpSpPr bwMode="auto">
            <a:xfrm>
              <a:off x="2975" y="1423"/>
              <a:ext cx="2688" cy="1557"/>
              <a:chOff x="2975" y="1423"/>
              <a:chExt cx="2688" cy="1557"/>
            </a:xfrm>
          </p:grpSpPr>
          <p:pic>
            <p:nvPicPr>
              <p:cNvPr id="8" name="Picture 8" descr="04-41">
                <a:extLst>
                  <a:ext uri="{FF2B5EF4-FFF2-40B4-BE49-F238E27FC236}">
                    <a16:creationId xmlns:a16="http://schemas.microsoft.com/office/drawing/2014/main" id="{88BE553D-1B30-5C10-886B-4024F0AA76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6934"/>
              <a:stretch>
                <a:fillRect/>
              </a:stretch>
            </p:blipFill>
            <p:spPr bwMode="auto">
              <a:xfrm>
                <a:off x="2975" y="1423"/>
                <a:ext cx="2688" cy="1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a:extLst>
                  <a:ext uri="{FF2B5EF4-FFF2-40B4-BE49-F238E27FC236}">
                    <a16:creationId xmlns:a16="http://schemas.microsoft.com/office/drawing/2014/main" id="{0B9B544B-EF68-8ACB-F9FD-2DB09AB1F10A}"/>
                  </a:ext>
                </a:extLst>
              </p:cNvPr>
              <p:cNvSpPr txBox="1">
                <a:spLocks noChangeArrowheads="1"/>
              </p:cNvSpPr>
              <p:nvPr/>
            </p:nvSpPr>
            <p:spPr bwMode="auto">
              <a:xfrm>
                <a:off x="4932" y="2058"/>
                <a:ext cx="2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50000"/>
                  </a:spcBef>
                  <a:buClrTx/>
                  <a:buSzTx/>
                  <a:buFontTx/>
                  <a:buNone/>
                </a:pPr>
                <a:r>
                  <a:rPr kumimoji="0" lang="en-US" altLang="zh-CN" sz="1600" b="1">
                    <a:latin typeface="Times New Roman" panose="02020603050405020304" pitchFamily="18" charset="0"/>
                  </a:rPr>
                  <a:t>B</a:t>
                </a:r>
              </a:p>
            </p:txBody>
          </p:sp>
        </p:grpSp>
        <p:sp>
          <p:nvSpPr>
            <p:cNvPr id="5" name="Text Box 12">
              <a:extLst>
                <a:ext uri="{FF2B5EF4-FFF2-40B4-BE49-F238E27FC236}">
                  <a16:creationId xmlns:a16="http://schemas.microsoft.com/office/drawing/2014/main" id="{856E1431-7829-02B3-1BA3-BEC11CDA4789}"/>
                </a:ext>
              </a:extLst>
            </p:cNvPr>
            <p:cNvSpPr txBox="1">
              <a:spLocks noChangeArrowheads="1"/>
            </p:cNvSpPr>
            <p:nvPr/>
          </p:nvSpPr>
          <p:spPr bwMode="auto">
            <a:xfrm>
              <a:off x="5317" y="2245"/>
              <a:ext cx="2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50000"/>
                </a:spcBef>
                <a:buClrTx/>
                <a:buSzTx/>
                <a:buFontTx/>
                <a:buNone/>
              </a:pPr>
              <a:r>
                <a:rPr kumimoji="0" lang="en-US" altLang="zh-CN" sz="1200" b="1" i="1">
                  <a:solidFill>
                    <a:srgbClr val="FF9933"/>
                  </a:solidFill>
                  <a:latin typeface="Times New Roman" panose="02020603050405020304" pitchFamily="18" charset="0"/>
                </a:rPr>
                <a:t>H</a:t>
              </a:r>
            </a:p>
          </p:txBody>
        </p:sp>
      </p:grpSp>
      <p:graphicFrame>
        <p:nvGraphicFramePr>
          <p:cNvPr id="12" name="Object 3">
            <a:extLst>
              <a:ext uri="{FF2B5EF4-FFF2-40B4-BE49-F238E27FC236}">
                <a16:creationId xmlns:a16="http://schemas.microsoft.com/office/drawing/2014/main" id="{5B45C0C5-096A-2F48-181F-9C9EDB7164D7}"/>
              </a:ext>
            </a:extLst>
          </p:cNvPr>
          <p:cNvGraphicFramePr>
            <a:graphicFrameLocks noChangeAspect="1"/>
          </p:cNvGraphicFramePr>
          <p:nvPr>
            <p:extLst>
              <p:ext uri="{D42A27DB-BD31-4B8C-83A1-F6EECF244321}">
                <p14:modId xmlns:p14="http://schemas.microsoft.com/office/powerpoint/2010/main" val="3305660398"/>
              </p:ext>
            </p:extLst>
          </p:nvPr>
        </p:nvGraphicFramePr>
        <p:xfrm>
          <a:off x="3500438" y="5179876"/>
          <a:ext cx="3319462" cy="749300"/>
        </p:xfrm>
        <a:graphic>
          <a:graphicData uri="http://schemas.openxmlformats.org/presentationml/2006/ole">
            <mc:AlternateContent xmlns:mc="http://schemas.openxmlformats.org/markup-compatibility/2006">
              <mc:Choice xmlns:v="urn:schemas-microsoft-com:vml" Requires="v">
                <p:oleObj r:id="rId5" imgW="1866265" imgH="393700" progId="Equation.DSMT4">
                  <p:embed/>
                </p:oleObj>
              </mc:Choice>
              <mc:Fallback>
                <p:oleObj r:id="rId5" imgW="1866265" imgH="393700" progId="Equation.DSMT4">
                  <p:embed/>
                  <p:pic>
                    <p:nvPicPr>
                      <p:cNvPr id="36761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0438" y="5179876"/>
                        <a:ext cx="3319462"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sp>
        <p:nvSpPr>
          <p:cNvPr id="13" name="Rectangle 4">
            <a:extLst>
              <a:ext uri="{FF2B5EF4-FFF2-40B4-BE49-F238E27FC236}">
                <a16:creationId xmlns:a16="http://schemas.microsoft.com/office/drawing/2014/main" id="{6954C84A-2024-E8D9-EB66-6A448E3F55D9}"/>
              </a:ext>
            </a:extLst>
          </p:cNvPr>
          <p:cNvSpPr>
            <a:spLocks noChangeArrowheads="1"/>
          </p:cNvSpPr>
          <p:nvPr/>
        </p:nvSpPr>
        <p:spPr bwMode="auto">
          <a:xfrm>
            <a:off x="1214438" y="2971800"/>
            <a:ext cx="354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FontTx/>
              <a:buNone/>
            </a:pPr>
            <a:r>
              <a:rPr kumimoji="0" lang="zh-CN" altLang="en-US" b="1" i="0" dirty="0">
                <a:latin typeface="黑体" panose="02010609060101010101" pitchFamily="49" charset="-122"/>
                <a:ea typeface="黑体" panose="02010609060101010101" pitchFamily="49" charset="-122"/>
              </a:rPr>
              <a:t>把图中的几何关系带入</a:t>
            </a:r>
            <a:r>
              <a:rPr kumimoji="0" lang="en-US" altLang="zh-CN" b="1" i="0" dirty="0">
                <a:latin typeface="黑体" panose="02010609060101010101" pitchFamily="49" charset="-122"/>
                <a:ea typeface="黑体" panose="02010609060101010101" pitchFamily="49" charset="-122"/>
              </a:rPr>
              <a:t>:</a:t>
            </a:r>
          </a:p>
        </p:txBody>
      </p:sp>
      <p:graphicFrame>
        <p:nvGraphicFramePr>
          <p:cNvPr id="14" name="Object 10">
            <a:extLst>
              <a:ext uri="{FF2B5EF4-FFF2-40B4-BE49-F238E27FC236}">
                <a16:creationId xmlns:a16="http://schemas.microsoft.com/office/drawing/2014/main" id="{05F4D8A5-8897-A997-FF27-67BF6616C10D}"/>
              </a:ext>
            </a:extLst>
          </p:cNvPr>
          <p:cNvGraphicFramePr>
            <a:graphicFrameLocks noChangeAspect="1"/>
          </p:cNvGraphicFramePr>
          <p:nvPr>
            <p:extLst>
              <p:ext uri="{D42A27DB-BD31-4B8C-83A1-F6EECF244321}">
                <p14:modId xmlns:p14="http://schemas.microsoft.com/office/powerpoint/2010/main" val="3023976155"/>
              </p:ext>
            </p:extLst>
          </p:nvPr>
        </p:nvGraphicFramePr>
        <p:xfrm>
          <a:off x="1489075" y="1423988"/>
          <a:ext cx="3646488" cy="798512"/>
        </p:xfrm>
        <a:graphic>
          <a:graphicData uri="http://schemas.openxmlformats.org/presentationml/2006/ole">
            <mc:AlternateContent xmlns:mc="http://schemas.openxmlformats.org/markup-compatibility/2006">
              <mc:Choice xmlns:v="urn:schemas-microsoft-com:vml" Requires="v">
                <p:oleObj name="Equation" r:id="rId7" imgW="1841400" imgH="393480" progId="Equation.DSMT4">
                  <p:embed/>
                </p:oleObj>
              </mc:Choice>
              <mc:Fallback>
                <p:oleObj name="Equation" r:id="rId7" imgW="1841400" imgH="393480" progId="Equation.DSMT4">
                  <p:embed/>
                  <p:pic>
                    <p:nvPicPr>
                      <p:cNvPr id="367626" name="Object 10"/>
                      <p:cNvPicPr>
                        <a:picLocks noChangeAspect="1" noChangeArrowheads="1"/>
                      </p:cNvPicPr>
                      <p:nvPr/>
                    </p:nvPicPr>
                    <p:blipFill>
                      <a:blip r:embed="rId8"/>
                      <a:srcRect/>
                      <a:stretch>
                        <a:fillRect/>
                      </a:stretch>
                    </p:blipFill>
                    <p:spPr bwMode="auto">
                      <a:xfrm>
                        <a:off x="1489075" y="1423988"/>
                        <a:ext cx="3646488"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1">
            <a:extLst>
              <a:ext uri="{FF2B5EF4-FFF2-40B4-BE49-F238E27FC236}">
                <a16:creationId xmlns:a16="http://schemas.microsoft.com/office/drawing/2014/main" id="{82E7ABE0-5223-39BD-6A48-0480279F7CE0}"/>
              </a:ext>
            </a:extLst>
          </p:cNvPr>
          <p:cNvGraphicFramePr>
            <a:graphicFrameLocks noChangeAspect="1"/>
          </p:cNvGraphicFramePr>
          <p:nvPr>
            <p:extLst>
              <p:ext uri="{D42A27DB-BD31-4B8C-83A1-F6EECF244321}">
                <p14:modId xmlns:p14="http://schemas.microsoft.com/office/powerpoint/2010/main" val="2147898601"/>
              </p:ext>
            </p:extLst>
          </p:nvPr>
        </p:nvGraphicFramePr>
        <p:xfrm>
          <a:off x="1495425" y="2209800"/>
          <a:ext cx="3679825" cy="787400"/>
        </p:xfrm>
        <a:graphic>
          <a:graphicData uri="http://schemas.openxmlformats.org/presentationml/2006/ole">
            <mc:AlternateContent xmlns:mc="http://schemas.openxmlformats.org/markup-compatibility/2006">
              <mc:Choice xmlns:v="urn:schemas-microsoft-com:vml" Requires="v">
                <p:oleObj name="Equation" r:id="rId9" imgW="1892160" imgH="393480" progId="Equation.DSMT4">
                  <p:embed/>
                </p:oleObj>
              </mc:Choice>
              <mc:Fallback>
                <p:oleObj name="Equation" r:id="rId9" imgW="1892160" imgH="393480" progId="Equation.DSMT4">
                  <p:embed/>
                  <p:pic>
                    <p:nvPicPr>
                      <p:cNvPr id="367627" name="Object 11"/>
                      <p:cNvPicPr>
                        <a:picLocks noChangeAspect="1" noChangeArrowheads="1"/>
                      </p:cNvPicPr>
                      <p:nvPr/>
                    </p:nvPicPr>
                    <p:blipFill>
                      <a:blip r:embed="rId10"/>
                      <a:srcRect/>
                      <a:stretch>
                        <a:fillRect/>
                      </a:stretch>
                    </p:blipFill>
                    <p:spPr bwMode="auto">
                      <a:xfrm>
                        <a:off x="1495425" y="2209800"/>
                        <a:ext cx="367982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4">
            <a:extLst>
              <a:ext uri="{FF2B5EF4-FFF2-40B4-BE49-F238E27FC236}">
                <a16:creationId xmlns:a16="http://schemas.microsoft.com/office/drawing/2014/main" id="{408E4795-0172-1AD3-03D0-FB31E0251294}"/>
              </a:ext>
            </a:extLst>
          </p:cNvPr>
          <p:cNvGraphicFramePr>
            <a:graphicFrameLocks noChangeAspect="1"/>
          </p:cNvGraphicFramePr>
          <p:nvPr>
            <p:extLst>
              <p:ext uri="{D42A27DB-BD31-4B8C-83A1-F6EECF244321}">
                <p14:modId xmlns:p14="http://schemas.microsoft.com/office/powerpoint/2010/main" val="605809461"/>
              </p:ext>
            </p:extLst>
          </p:nvPr>
        </p:nvGraphicFramePr>
        <p:xfrm>
          <a:off x="1574800" y="3500438"/>
          <a:ext cx="1457325" cy="390525"/>
        </p:xfrm>
        <a:graphic>
          <a:graphicData uri="http://schemas.openxmlformats.org/presentationml/2006/ole">
            <mc:AlternateContent xmlns:mc="http://schemas.openxmlformats.org/markup-compatibility/2006">
              <mc:Choice xmlns:v="urn:schemas-microsoft-com:vml" Requires="v">
                <p:oleObj name="Equation" r:id="rId11" imgW="661670" imgH="175260" progId="Equation.DSMT4">
                  <p:embed/>
                </p:oleObj>
              </mc:Choice>
              <mc:Fallback>
                <p:oleObj name="Equation" r:id="rId11" imgW="661670" imgH="175260" progId="Equation.DSMT4">
                  <p:embed/>
                  <p:pic>
                    <p:nvPicPr>
                      <p:cNvPr id="36763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74800" y="3500438"/>
                        <a:ext cx="1457325"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5">
            <a:extLst>
              <a:ext uri="{FF2B5EF4-FFF2-40B4-BE49-F238E27FC236}">
                <a16:creationId xmlns:a16="http://schemas.microsoft.com/office/drawing/2014/main" id="{07F48CDB-E547-8985-C762-020D3B8E1968}"/>
              </a:ext>
            </a:extLst>
          </p:cNvPr>
          <p:cNvGraphicFramePr>
            <a:graphicFrameLocks noChangeAspect="1"/>
          </p:cNvGraphicFramePr>
          <p:nvPr>
            <p:extLst>
              <p:ext uri="{D42A27DB-BD31-4B8C-83A1-F6EECF244321}">
                <p14:modId xmlns:p14="http://schemas.microsoft.com/office/powerpoint/2010/main" val="1329465654"/>
              </p:ext>
            </p:extLst>
          </p:nvPr>
        </p:nvGraphicFramePr>
        <p:xfrm>
          <a:off x="1530350" y="3910807"/>
          <a:ext cx="2886075" cy="503238"/>
        </p:xfrm>
        <a:graphic>
          <a:graphicData uri="http://schemas.openxmlformats.org/presentationml/2006/ole">
            <mc:AlternateContent xmlns:mc="http://schemas.openxmlformats.org/markup-compatibility/2006">
              <mc:Choice xmlns:v="urn:schemas-microsoft-com:vml" Requires="v">
                <p:oleObj name="Equation" r:id="rId13" imgW="1322705" imgH="223520" progId="Equation.DSMT4">
                  <p:embed/>
                </p:oleObj>
              </mc:Choice>
              <mc:Fallback>
                <p:oleObj name="Equation" r:id="rId13" imgW="1322705" imgH="223520" progId="Equation.DSMT4">
                  <p:embed/>
                  <p:pic>
                    <p:nvPicPr>
                      <p:cNvPr id="367631"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30350" y="3910807"/>
                        <a:ext cx="28860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6">
            <a:extLst>
              <a:ext uri="{FF2B5EF4-FFF2-40B4-BE49-F238E27FC236}">
                <a16:creationId xmlns:a16="http://schemas.microsoft.com/office/drawing/2014/main" id="{DFBA1BB6-30D9-4F28-6F78-838B906A953E}"/>
              </a:ext>
            </a:extLst>
          </p:cNvPr>
          <p:cNvGraphicFramePr>
            <a:graphicFrameLocks noChangeAspect="1"/>
          </p:cNvGraphicFramePr>
          <p:nvPr>
            <p:extLst>
              <p:ext uri="{D42A27DB-BD31-4B8C-83A1-F6EECF244321}">
                <p14:modId xmlns:p14="http://schemas.microsoft.com/office/powerpoint/2010/main" val="4281076803"/>
              </p:ext>
            </p:extLst>
          </p:nvPr>
        </p:nvGraphicFramePr>
        <p:xfrm>
          <a:off x="1539965" y="4371838"/>
          <a:ext cx="3498850" cy="800100"/>
        </p:xfrm>
        <a:graphic>
          <a:graphicData uri="http://schemas.openxmlformats.org/presentationml/2006/ole">
            <mc:AlternateContent xmlns:mc="http://schemas.openxmlformats.org/markup-compatibility/2006">
              <mc:Choice xmlns:v="urn:schemas-microsoft-com:vml" Requires="v">
                <p:oleObj name="Equation" r:id="rId15" imgW="1974850" imgH="447675" progId="Equation.DSMT4">
                  <p:embed/>
                </p:oleObj>
              </mc:Choice>
              <mc:Fallback>
                <p:oleObj name="Equation" r:id="rId15" imgW="1974850" imgH="447675" progId="Equation.DSMT4">
                  <p:embed/>
                  <p:pic>
                    <p:nvPicPr>
                      <p:cNvPr id="367632"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39965" y="4371838"/>
                        <a:ext cx="349885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Rectangle 17">
            <a:extLst>
              <a:ext uri="{FF2B5EF4-FFF2-40B4-BE49-F238E27FC236}">
                <a16:creationId xmlns:a16="http://schemas.microsoft.com/office/drawing/2014/main" id="{1E620941-B066-BBDC-0243-B20CB1DBA2BA}"/>
              </a:ext>
            </a:extLst>
          </p:cNvPr>
          <p:cNvSpPr>
            <a:spLocks noChangeArrowheads="1"/>
          </p:cNvSpPr>
          <p:nvPr/>
        </p:nvSpPr>
        <p:spPr bwMode="auto">
          <a:xfrm>
            <a:off x="1357313" y="5251314"/>
            <a:ext cx="2143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FontTx/>
              <a:buNone/>
            </a:pPr>
            <a:r>
              <a:rPr kumimoji="0" lang="zh-CN" altLang="en-US" i="0" dirty="0">
                <a:latin typeface="黑体" panose="02010609060101010101" pitchFamily="49" charset="-122"/>
                <a:ea typeface="黑体" panose="02010609060101010101" pitchFamily="49" charset="-122"/>
              </a:rPr>
              <a:t>整理后，得：</a:t>
            </a:r>
          </a:p>
        </p:txBody>
      </p:sp>
    </p:spTree>
    <p:extLst>
      <p:ext uri="{BB962C8B-B14F-4D97-AF65-F5344CB8AC3E}">
        <p14:creationId xmlns:p14="http://schemas.microsoft.com/office/powerpoint/2010/main" val="37150490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25" name="Rectangle 5"/>
          <p:cNvSpPr>
            <a:spLocks noChangeArrowheads="1"/>
          </p:cNvSpPr>
          <p:nvPr/>
        </p:nvSpPr>
        <p:spPr bwMode="auto">
          <a:xfrm>
            <a:off x="263352" y="1022350"/>
            <a:ext cx="7920880" cy="496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spcBef>
                <a:spcPct val="0"/>
              </a:spcBef>
              <a:buClrTx/>
              <a:buSzTx/>
              <a:buNone/>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latin typeface="+mn-lt"/>
                <a:ea typeface="微软雅黑" panose="020B0503020204020204" pitchFamily="34" charset="-122"/>
              </a:rPr>
              <a:t>3-2</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3-5 </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3-8</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3-9</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3-15</a:t>
            </a:r>
            <a:r>
              <a:rPr lang="zh-CN" altLang="en-US" i="0" dirty="0">
                <a:ea typeface="微软雅黑" panose="020B0503020204020204" pitchFamily="34" charset="-122"/>
              </a:rPr>
              <a:t> （</a:t>
            </a:r>
            <a:r>
              <a:rPr lang="en-US" altLang="zh-CN" i="0" dirty="0">
                <a:latin typeface="+mn-lt"/>
                <a:ea typeface="微软雅黑" panose="020B0503020204020204" pitchFamily="34" charset="-122"/>
              </a:rPr>
              <a:t>b</a:t>
            </a:r>
            <a:r>
              <a:rPr lang="zh-CN" altLang="en-US" i="0" dirty="0">
                <a:ea typeface="微软雅黑" panose="020B0503020204020204" pitchFamily="34" charset="-122"/>
              </a:rPr>
              <a:t>）</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3-16</a:t>
            </a:r>
            <a:endParaRPr lang="zh-CN" altLang="en-US" i="0" dirty="0">
              <a:latin typeface="+mn-lt"/>
              <a:ea typeface="黑体" panose="02010609060101010101" pitchFamily="49" charset="-122"/>
            </a:endParaRPr>
          </a:p>
        </p:txBody>
      </p:sp>
    </p:spTree>
    <p:extLst>
      <p:ext uri="{BB962C8B-B14F-4D97-AF65-F5344CB8AC3E}">
        <p14:creationId xmlns:p14="http://schemas.microsoft.com/office/powerpoint/2010/main" val="3544259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4*#ppt_w"/>
                                          </p:val>
                                        </p:tav>
                                        <p:tav tm="100000">
                                          <p:val>
                                            <p:strVal val="#ppt_w"/>
                                          </p:val>
                                        </p:tav>
                                      </p:tavLst>
                                    </p:anim>
                                    <p:anim calcmode="lin" valueType="num">
                                      <p:cBhvr>
                                        <p:cTn id="8" dur="500" fill="hold"/>
                                        <p:tgtEl>
                                          <p:spTgt spid="2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Lst>
  </p:timing>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7745</TotalTime>
  <Words>2655</Words>
  <Application>Microsoft Office PowerPoint</Application>
  <PresentationFormat>宽屏</PresentationFormat>
  <Paragraphs>310</Paragraphs>
  <Slides>29</Slides>
  <Notes>29</Notes>
  <HiddenSlides>0</HiddenSlides>
  <MMClips>5</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3</vt:i4>
      </vt:variant>
      <vt:variant>
        <vt:lpstr>幻灯片标题</vt:lpstr>
      </vt:variant>
      <vt:variant>
        <vt:i4>29</vt:i4>
      </vt:variant>
    </vt:vector>
  </HeadingPairs>
  <TitlesOfParts>
    <vt:vector size="48" baseType="lpstr">
      <vt:lpstr>Monotype Sorts</vt:lpstr>
      <vt:lpstr>黑体</vt:lpstr>
      <vt:lpstr>华文彩云</vt:lpstr>
      <vt:lpstr>宋体</vt:lpstr>
      <vt:lpstr>微软雅黑</vt:lpstr>
      <vt:lpstr>Arial</vt:lpstr>
      <vt:lpstr>Calibri</vt:lpstr>
      <vt:lpstr>Cambria Math</vt:lpstr>
      <vt:lpstr>Impact</vt:lpstr>
      <vt:lpstr>Monotype Corsiva</vt:lpstr>
      <vt:lpstr>Times</vt:lpstr>
      <vt:lpstr>Times New Roman</vt:lpstr>
      <vt:lpstr>Wingdings</vt:lpstr>
      <vt:lpstr>1_Update 10-8-02</vt:lpstr>
      <vt:lpstr>自定义设计方案</vt:lpstr>
      <vt:lpstr>1_自定义设计方案</vt:lpstr>
      <vt:lpstr>Equation</vt:lpstr>
      <vt:lpstr>公式</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吴 化平</cp:lastModifiedBy>
  <cp:revision>457</cp:revision>
  <dcterms:created xsi:type="dcterms:W3CDTF">2006-04-13T12:56:12Z</dcterms:created>
  <dcterms:modified xsi:type="dcterms:W3CDTF">2023-10-17T02:59:15Z</dcterms:modified>
</cp:coreProperties>
</file>