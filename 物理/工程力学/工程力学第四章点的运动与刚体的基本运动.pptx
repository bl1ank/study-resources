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6" r:id="rId2"/>
    <p:sldMasterId id="2147483678" r:id="rId3"/>
  </p:sldMasterIdLst>
  <p:notesMasterIdLst>
    <p:notesMasterId r:id="rId28"/>
  </p:notesMasterIdLst>
  <p:sldIdLst>
    <p:sldId id="602" r:id="rId4"/>
    <p:sldId id="640" r:id="rId5"/>
    <p:sldId id="641" r:id="rId6"/>
    <p:sldId id="642" r:id="rId7"/>
    <p:sldId id="643" r:id="rId8"/>
    <p:sldId id="644" r:id="rId9"/>
    <p:sldId id="645" r:id="rId10"/>
    <p:sldId id="646" r:id="rId11"/>
    <p:sldId id="647" r:id="rId12"/>
    <p:sldId id="648" r:id="rId13"/>
    <p:sldId id="649" r:id="rId14"/>
    <p:sldId id="650" r:id="rId15"/>
    <p:sldId id="651" r:id="rId16"/>
    <p:sldId id="652" r:id="rId17"/>
    <p:sldId id="653" r:id="rId18"/>
    <p:sldId id="655" r:id="rId19"/>
    <p:sldId id="654" r:id="rId20"/>
    <p:sldId id="656" r:id="rId21"/>
    <p:sldId id="657" r:id="rId22"/>
    <p:sldId id="658" r:id="rId23"/>
    <p:sldId id="659" r:id="rId24"/>
    <p:sldId id="660" r:id="rId25"/>
    <p:sldId id="662" r:id="rId26"/>
    <p:sldId id="663" r:id="rId27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b="1" i="1" kern="1200">
        <a:solidFill>
          <a:srgbClr val="FF00FF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00FF"/>
    <a:srgbClr val="993300"/>
    <a:srgbClr val="B9CDE5"/>
    <a:srgbClr val="4F81BD"/>
    <a:srgbClr val="E9EDF4"/>
    <a:srgbClr val="CC0066"/>
    <a:srgbClr val="339933"/>
    <a:srgbClr val="3366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6" autoAdjust="0"/>
    <p:restoredTop sz="87237" autoAdjust="0"/>
  </p:normalViewPr>
  <p:slideViewPr>
    <p:cSldViewPr>
      <p:cViewPr varScale="1">
        <p:scale>
          <a:sx n="88" d="100"/>
          <a:sy n="88" d="100"/>
        </p:scale>
        <p:origin x="432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3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i="0"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39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39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i="0"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 smtClean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0DFEE44B-64F7-4F5D-B160-0DBA82F94B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0237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6168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6215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5771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5068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1100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3814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0506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808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759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6380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9712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216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7154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7271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60916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598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8559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702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08031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67448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05554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52501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3731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FEE44B-64F7-4F5D-B160-0DBA82F94B7E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7399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7003882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60000" y="2160000"/>
            <a:ext cx="10560000" cy="4140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46798571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28925802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60000" y="2213865"/>
            <a:ext cx="5280000" cy="408613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4120" y="2213866"/>
            <a:ext cx="5220581" cy="409545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02511005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95434" y="2213325"/>
            <a:ext cx="52205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95434" y="2933946"/>
            <a:ext cx="5220580" cy="333037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70635" y="2213325"/>
            <a:ext cx="516057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96034" y="2933945"/>
            <a:ext cx="5160573" cy="333037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986008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23023355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9325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3840000" cy="10800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95867" y="1088740"/>
            <a:ext cx="6686533" cy="52205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82733" y="2213865"/>
            <a:ext cx="3840427" cy="40954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862014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6916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043735"/>
            <a:ext cx="7315200" cy="37759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459453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3039906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60000" y="2258871"/>
            <a:ext cx="10560000" cy="40411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40425338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256240" y="1072310"/>
            <a:ext cx="3360373" cy="523701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60000" y="1080000"/>
            <a:ext cx="7200000" cy="5220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82278293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960000" y="1080000"/>
            <a:ext cx="10560000" cy="1080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60826" y="2213866"/>
            <a:ext cx="5315193" cy="193521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456040" y="2213865"/>
            <a:ext cx="5100568" cy="195780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78790" y="4265046"/>
            <a:ext cx="5297231" cy="2044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56041" y="4284095"/>
            <a:ext cx="5100567" cy="19802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2297882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60000" y="1080001"/>
            <a:ext cx="10560000" cy="51843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94604936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 userDrawn="1"/>
        </p:nvSpPr>
        <p:spPr bwMode="auto">
          <a:xfrm>
            <a:off x="2855640" y="1916832"/>
            <a:ext cx="6732748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6600" i="0" kern="2000" spc="600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itchFamily="2" charset="-122"/>
                <a:ea typeface="黑体" pitchFamily="2" charset="-122"/>
              </a:rPr>
              <a:t>工   程   力   学</a:t>
            </a:r>
            <a:endParaRPr kumimoji="1" lang="zh-CN" altLang="en-US" sz="6600" i="0" kern="2000" spc="600" baseline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黑体" pitchFamily="2" charset="-122"/>
            </a:endParaRPr>
          </a:p>
        </p:txBody>
      </p:sp>
      <p:sp>
        <p:nvSpPr>
          <p:cNvPr id="3" name="Text Box 12"/>
          <p:cNvSpPr txBox="1">
            <a:spLocks noChangeArrowheads="1"/>
          </p:cNvSpPr>
          <p:nvPr userDrawn="1"/>
        </p:nvSpPr>
        <p:spPr bwMode="auto">
          <a:xfrm>
            <a:off x="3071664" y="3356992"/>
            <a:ext cx="58686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5400" dirty="0">
                <a:solidFill>
                  <a:srgbClr val="0000FF"/>
                </a:solidFill>
                <a:latin typeface="Monotype Corsiva" pitchFamily="66" charset="0"/>
                <a:ea typeface="华文琥珀" pitchFamily="2" charset="-122"/>
              </a:rPr>
              <a:t>Engineering</a:t>
            </a:r>
            <a:r>
              <a:rPr kumimoji="1" lang="en-US" altLang="zh-CN" sz="5400" baseline="0" dirty="0">
                <a:solidFill>
                  <a:srgbClr val="0000FF"/>
                </a:solidFill>
                <a:latin typeface="Monotype Corsiva" pitchFamily="66" charset="0"/>
                <a:ea typeface="华文琥珀" pitchFamily="2" charset="-122"/>
              </a:rPr>
              <a:t> </a:t>
            </a:r>
            <a:r>
              <a:rPr kumimoji="1" lang="en-US" altLang="zh-CN" sz="5400" dirty="0">
                <a:solidFill>
                  <a:srgbClr val="0000FF"/>
                </a:solidFill>
                <a:latin typeface="Monotype Corsiva" pitchFamily="66" charset="0"/>
                <a:ea typeface="华文琥珀" pitchFamily="2" charset="-122"/>
              </a:rPr>
              <a:t>Mechanics</a:t>
            </a:r>
          </a:p>
        </p:txBody>
      </p:sp>
    </p:spTree>
    <p:extLst>
      <p:ext uri="{BB962C8B-B14F-4D97-AF65-F5344CB8AC3E}">
        <p14:creationId xmlns:p14="http://schemas.microsoft.com/office/powerpoint/2010/main" val="352965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54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12"/>
          <p:cNvSpPr txBox="1">
            <a:spLocks noChangeArrowheads="1"/>
          </p:cNvSpPr>
          <p:nvPr/>
        </p:nvSpPr>
        <p:spPr bwMode="auto">
          <a:xfrm>
            <a:off x="1390651" y="1125538"/>
            <a:ext cx="10081683" cy="467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endParaRPr lang="zh-CN" altLang="zh-CN" sz="2400">
              <a:latin typeface="Times" pitchFamily="18" charset="0"/>
            </a:endParaRPr>
          </a:p>
        </p:txBody>
      </p:sp>
      <p:sp>
        <p:nvSpPr>
          <p:cNvPr id="1027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967" y="1079500"/>
            <a:ext cx="10560051" cy="522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6" name="矩形 15"/>
          <p:cNvSpPr/>
          <p:nvPr userDrawn="1"/>
        </p:nvSpPr>
        <p:spPr bwMode="auto">
          <a:xfrm>
            <a:off x="-2117" y="6308726"/>
            <a:ext cx="12194117" cy="549275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1349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24" name="矩形 23"/>
          <p:cNvSpPr/>
          <p:nvPr userDrawn="1"/>
        </p:nvSpPr>
        <p:spPr bwMode="auto">
          <a:xfrm>
            <a:off x="1" y="-11113"/>
            <a:ext cx="8909550" cy="796907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21349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27" name="Text Box 12"/>
          <p:cNvSpPr txBox="1">
            <a:spLocks noChangeArrowheads="1"/>
          </p:cNvSpPr>
          <p:nvPr userDrawn="1"/>
        </p:nvSpPr>
        <p:spPr bwMode="auto">
          <a:xfrm>
            <a:off x="20520" y="50348"/>
            <a:ext cx="7011616" cy="714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1" lang="zh-CN" altLang="en-US" sz="3200" i="0" dirty="0">
                <a:solidFill>
                  <a:srgbClr val="FFFFFF"/>
                </a:solidFill>
                <a:ea typeface="黑体" pitchFamily="49" charset="-122"/>
              </a:rPr>
              <a:t>      </a:t>
            </a:r>
            <a:endParaRPr kumimoji="1" lang="zh-CN" altLang="en-US" sz="3200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 userDrawn="1"/>
        </p:nvCxnSpPr>
        <p:spPr bwMode="auto">
          <a:xfrm>
            <a:off x="-2117" y="785794"/>
            <a:ext cx="12194117" cy="0"/>
          </a:xfrm>
          <a:prstGeom prst="line">
            <a:avLst/>
          </a:prstGeom>
          <a:solidFill>
            <a:srgbClr val="3366CC"/>
          </a:solidFill>
          <a:ln w="38100">
            <a:solidFill>
              <a:srgbClr val="4F81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http://www.jdxy.zjut.edu.cn/images/img_02.jpg"/>
          <p:cNvPicPr/>
          <p:nvPr userDrawn="1"/>
        </p:nvPicPr>
        <p:blipFill rotWithShape="1">
          <a:blip r:embed="rId15" cstate="print"/>
          <a:srcRect l="3571" r="6619"/>
          <a:stretch/>
        </p:blipFill>
        <p:spPr bwMode="auto">
          <a:xfrm>
            <a:off x="7183971" y="-16198"/>
            <a:ext cx="5000625" cy="7854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transition spd="slow"/>
  <p:txStyles>
    <p:titleStyle>
      <a:lvl1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+mj-lt"/>
          <a:ea typeface="+mj-ea"/>
          <a:cs typeface="+mj-cs"/>
        </a:defRPr>
      </a:lvl1pPr>
      <a:lvl2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2pPr>
      <a:lvl3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3pPr>
      <a:lvl4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4pPr>
      <a:lvl5pPr marL="442913" indent="-442913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5pPr>
      <a:lvl6pPr marL="900113" algn="l" rtl="0" fontAlgn="base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6pPr>
      <a:lvl7pPr marL="1357313" algn="l" rtl="0" fontAlgn="base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7pPr>
      <a:lvl8pPr marL="1814513" algn="l" rtl="0" fontAlgn="base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8pPr>
      <a:lvl9pPr marL="2271713" algn="l" rtl="0" fontAlgn="base">
        <a:spcBef>
          <a:spcPct val="0"/>
        </a:spcBef>
        <a:spcAft>
          <a:spcPct val="0"/>
        </a:spcAft>
        <a:defRPr sz="3200" b="1">
          <a:solidFill>
            <a:srgbClr val="3333FF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0"/>
        </a:spcAft>
        <a:buClr>
          <a:schemeClr val="hlink"/>
        </a:buClr>
        <a:buSzPct val="62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0000"/>
        </a:spcBef>
        <a:spcAft>
          <a:spcPct val="0"/>
        </a:spcAft>
        <a:buClr>
          <a:schemeClr val="hlink"/>
        </a:buClr>
        <a:buSzPct val="62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à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5FE3E41-3E3A-4598-854A-0ADDC3E3F895}" type="datetimeFigureOut">
              <a:rPr lang="zh-CN" altLang="en-US"/>
              <a:pPr>
                <a:defRPr/>
              </a:pPr>
              <a:t>2022-09-26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D69B51-3C8E-4B0D-9184-6356F897FB9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2053" name="Picture 63" descr="图片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37" b="11566"/>
          <a:stretch>
            <a:fillRect/>
          </a:stretch>
        </p:blipFill>
        <p:spPr bwMode="auto">
          <a:xfrm>
            <a:off x="-8467" y="4579938"/>
            <a:ext cx="12200467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reeform 29"/>
          <p:cNvSpPr>
            <a:spLocks/>
          </p:cNvSpPr>
          <p:nvPr userDrawn="1"/>
        </p:nvSpPr>
        <p:spPr bwMode="gray">
          <a:xfrm>
            <a:off x="-2117" y="-1588"/>
            <a:ext cx="12206817" cy="4641851"/>
          </a:xfrm>
          <a:custGeom>
            <a:avLst/>
            <a:gdLst>
              <a:gd name="T0" fmla="*/ 2147483647 w 5767"/>
              <a:gd name="T1" fmla="*/ 2147483647 h 3128"/>
              <a:gd name="T2" fmla="*/ 2147483647 w 5767"/>
              <a:gd name="T3" fmla="*/ 2147483647 h 3128"/>
              <a:gd name="T4" fmla="*/ 2147483647 w 5767"/>
              <a:gd name="T5" fmla="*/ 2147483647 h 3128"/>
              <a:gd name="T6" fmla="*/ 2147483647 w 5767"/>
              <a:gd name="T7" fmla="*/ 2147483647 h 3128"/>
              <a:gd name="T8" fmla="*/ 2147483647 w 5767"/>
              <a:gd name="T9" fmla="*/ 2147483647 h 3128"/>
              <a:gd name="T10" fmla="*/ 2147483647 w 5767"/>
              <a:gd name="T11" fmla="*/ 2147483647 h 3128"/>
              <a:gd name="T12" fmla="*/ 2147483647 w 5767"/>
              <a:gd name="T13" fmla="*/ 0 h 3128"/>
              <a:gd name="T14" fmla="*/ 0 w 5767"/>
              <a:gd name="T15" fmla="*/ 2147483647 h 3128"/>
              <a:gd name="T16" fmla="*/ 2147483647 w 5767"/>
              <a:gd name="T17" fmla="*/ 2147483647 h 31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3128">
                <a:moveTo>
                  <a:pt x="8" y="3103"/>
                </a:moveTo>
                <a:lnTo>
                  <a:pt x="2913" y="3102"/>
                </a:lnTo>
                <a:cubicBezTo>
                  <a:pt x="3054" y="3102"/>
                  <a:pt x="3012" y="3128"/>
                  <a:pt x="3143" y="3022"/>
                </a:cubicBezTo>
                <a:lnTo>
                  <a:pt x="3668" y="2460"/>
                </a:lnTo>
                <a:cubicBezTo>
                  <a:pt x="3832" y="2329"/>
                  <a:pt x="3809" y="2215"/>
                  <a:pt x="4129" y="2235"/>
                </a:cubicBezTo>
                <a:lnTo>
                  <a:pt x="5761" y="2235"/>
                </a:lnTo>
                <a:lnTo>
                  <a:pt x="5767" y="0"/>
                </a:lnTo>
                <a:lnTo>
                  <a:pt x="0" y="1"/>
                </a:lnTo>
                <a:lnTo>
                  <a:pt x="8" y="3103"/>
                </a:lnTo>
                <a:close/>
              </a:path>
            </a:pathLst>
          </a:custGeom>
          <a:solidFill>
            <a:schemeClr val="bg2">
              <a:alpha val="898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Freeform 28"/>
          <p:cNvSpPr>
            <a:spLocks/>
          </p:cNvSpPr>
          <p:nvPr userDrawn="1"/>
        </p:nvSpPr>
        <p:spPr bwMode="gray">
          <a:xfrm>
            <a:off x="1" y="-1588"/>
            <a:ext cx="12206817" cy="4581526"/>
          </a:xfrm>
          <a:custGeom>
            <a:avLst/>
            <a:gdLst/>
            <a:ahLst/>
            <a:cxnLst>
              <a:cxn ang="0">
                <a:pos x="8" y="2730"/>
              </a:cxn>
              <a:cxn ang="0">
                <a:pos x="3040" y="2726"/>
              </a:cxn>
              <a:cxn ang="0">
                <a:pos x="3347" y="2630"/>
              </a:cxn>
              <a:cxn ang="0">
                <a:pos x="3795" y="2170"/>
              </a:cxn>
              <a:cxn ang="0">
                <a:pos x="4115" y="2080"/>
              </a:cxn>
              <a:cxn ang="0">
                <a:pos x="5760" y="2093"/>
              </a:cxn>
              <a:cxn ang="0">
                <a:pos x="5767" y="0"/>
              </a:cxn>
              <a:cxn ang="0">
                <a:pos x="0" y="1"/>
              </a:cxn>
              <a:cxn ang="0">
                <a:pos x="8" y="2730"/>
              </a:cxn>
            </a:cxnLst>
            <a:rect l="0" t="0" r="r" b="b"/>
            <a:pathLst>
              <a:path w="5767" h="2730">
                <a:moveTo>
                  <a:pt x="8" y="2730"/>
                </a:moveTo>
                <a:lnTo>
                  <a:pt x="3040" y="2726"/>
                </a:lnTo>
                <a:cubicBezTo>
                  <a:pt x="3181" y="2726"/>
                  <a:pt x="3224" y="2728"/>
                  <a:pt x="3347" y="2630"/>
                </a:cubicBezTo>
                <a:lnTo>
                  <a:pt x="3795" y="2170"/>
                </a:lnTo>
                <a:cubicBezTo>
                  <a:pt x="3923" y="2078"/>
                  <a:pt x="3942" y="2074"/>
                  <a:pt x="4115" y="2080"/>
                </a:cubicBezTo>
                <a:lnTo>
                  <a:pt x="5760" y="2093"/>
                </a:lnTo>
                <a:lnTo>
                  <a:pt x="5767" y="0"/>
                </a:lnTo>
                <a:lnTo>
                  <a:pt x="0" y="1"/>
                </a:lnTo>
                <a:lnTo>
                  <a:pt x="8" y="273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89999"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sz="2400">
              <a:latin typeface="Arial" charset="0"/>
              <a:ea typeface="宋体" charset="-122"/>
            </a:endParaRPr>
          </a:p>
        </p:txBody>
      </p:sp>
      <p:sp>
        <p:nvSpPr>
          <p:cNvPr id="2056" name="Freeform 30"/>
          <p:cNvSpPr>
            <a:spLocks/>
          </p:cNvSpPr>
          <p:nvPr userDrawn="1"/>
        </p:nvSpPr>
        <p:spPr bwMode="gray">
          <a:xfrm>
            <a:off x="1" y="0"/>
            <a:ext cx="12204700" cy="1600200"/>
          </a:xfrm>
          <a:custGeom>
            <a:avLst/>
            <a:gdLst>
              <a:gd name="T0" fmla="*/ 0 w 5766"/>
              <a:gd name="T1" fmla="*/ 2147483647 h 1008"/>
              <a:gd name="T2" fmla="*/ 2147483647 w 5766"/>
              <a:gd name="T3" fmla="*/ 2147483647 h 1008"/>
              <a:gd name="T4" fmla="*/ 2147483647 w 5766"/>
              <a:gd name="T5" fmla="*/ 2147483647 h 1008"/>
              <a:gd name="T6" fmla="*/ 2147483647 w 5766"/>
              <a:gd name="T7" fmla="*/ 2147483647 h 1008"/>
              <a:gd name="T8" fmla="*/ 2147483647 w 5766"/>
              <a:gd name="T9" fmla="*/ 2147483647 h 1008"/>
              <a:gd name="T10" fmla="*/ 2147483647 w 5766"/>
              <a:gd name="T11" fmla="*/ 2147483647 h 1008"/>
              <a:gd name="T12" fmla="*/ 2147483647 w 5766"/>
              <a:gd name="T13" fmla="*/ 0 h 1008"/>
              <a:gd name="T14" fmla="*/ 0 w 5766"/>
              <a:gd name="T15" fmla="*/ 2147483647 h 1008"/>
              <a:gd name="T16" fmla="*/ 0 w 5766"/>
              <a:gd name="T17" fmla="*/ 2147483647 h 100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10" name="Picture 2" descr="C:\Users\LibeR\Desktop\学院设计\部分素材\标志.png">
            <a:extLst>
              <a:ext uri="{FF2B5EF4-FFF2-40B4-BE49-F238E27FC236}">
                <a16:creationId xmlns:a16="http://schemas.microsoft.com/office/drawing/2014/main" id="{0FD5FD62-6A64-4DAD-8F38-E1AD4CEA33B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56" t="26667" r="5834" b="39999"/>
          <a:stretch/>
        </p:blipFill>
        <p:spPr bwMode="auto">
          <a:xfrm>
            <a:off x="4170622" y="-19186"/>
            <a:ext cx="7920880" cy="1042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图片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30" b="14191"/>
          <a:stretch>
            <a:fillRect/>
          </a:stretch>
        </p:blipFill>
        <p:spPr bwMode="auto">
          <a:xfrm>
            <a:off x="-16933" y="-98425"/>
            <a:ext cx="12247033" cy="208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wmf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oleObject" Target="../embeddings/oleObject1.bin"/><Relationship Id="rId11" Type="http://schemas.openxmlformats.org/officeDocument/2006/relationships/image" Target="../media/image7.wmf"/><Relationship Id="rId5" Type="http://schemas.openxmlformats.org/officeDocument/2006/relationships/image" Target="../media/image4.png"/><Relationship Id="rId10" Type="http://schemas.openxmlformats.org/officeDocument/2006/relationships/oleObject" Target="../embeddings/oleObject3.bin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3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5.bin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2.wmf"/><Relationship Id="rId5" Type="http://schemas.openxmlformats.org/officeDocument/2006/relationships/image" Target="../media/image19.png"/><Relationship Id="rId10" Type="http://schemas.openxmlformats.org/officeDocument/2006/relationships/oleObject" Target="../embeddings/oleObject14.bin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8.wmf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6.wmf"/><Relationship Id="rId3" Type="http://schemas.openxmlformats.org/officeDocument/2006/relationships/image" Target="../media/image31.png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27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2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43.wmf"/><Relationship Id="rId18" Type="http://schemas.openxmlformats.org/officeDocument/2006/relationships/image" Target="../media/image45.wmf"/><Relationship Id="rId3" Type="http://schemas.openxmlformats.org/officeDocument/2006/relationships/oleObject" Target="../embeddings/oleObject29.bin"/><Relationship Id="rId21" Type="http://schemas.openxmlformats.org/officeDocument/2006/relationships/oleObject" Target="../embeddings/oleObject38.bin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33.bin"/><Relationship Id="rId17" Type="http://schemas.openxmlformats.org/officeDocument/2006/relationships/oleObject" Target="../embeddings/oleObject36.bin"/><Relationship Id="rId2" Type="http://schemas.openxmlformats.org/officeDocument/2006/relationships/notesSlide" Target="../notesSlides/notesSlide9.xml"/><Relationship Id="rId16" Type="http://schemas.openxmlformats.org/officeDocument/2006/relationships/oleObject" Target="../embeddings/oleObject35.bin"/><Relationship Id="rId20" Type="http://schemas.openxmlformats.org/officeDocument/2006/relationships/image" Target="../media/image4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42.wmf"/><Relationship Id="rId24" Type="http://schemas.openxmlformats.org/officeDocument/2006/relationships/image" Target="../media/image48.wmf"/><Relationship Id="rId5" Type="http://schemas.openxmlformats.org/officeDocument/2006/relationships/image" Target="../media/image39.png"/><Relationship Id="rId15" Type="http://schemas.openxmlformats.org/officeDocument/2006/relationships/image" Target="../media/image44.wmf"/><Relationship Id="rId23" Type="http://schemas.openxmlformats.org/officeDocument/2006/relationships/oleObject" Target="../embeddings/oleObject39.bin"/><Relationship Id="rId10" Type="http://schemas.openxmlformats.org/officeDocument/2006/relationships/oleObject" Target="../embeddings/oleObject32.bin"/><Relationship Id="rId19" Type="http://schemas.openxmlformats.org/officeDocument/2006/relationships/oleObject" Target="../embeddings/oleObject37.bin"/><Relationship Id="rId4" Type="http://schemas.openxmlformats.org/officeDocument/2006/relationships/image" Target="../media/image38.wmf"/><Relationship Id="rId9" Type="http://schemas.openxmlformats.org/officeDocument/2006/relationships/image" Target="../media/image41.wmf"/><Relationship Id="rId14" Type="http://schemas.openxmlformats.org/officeDocument/2006/relationships/oleObject" Target="../embeddings/oleObject34.bin"/><Relationship Id="rId22" Type="http://schemas.openxmlformats.org/officeDocument/2006/relationships/image" Target="../media/image47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9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wmf"/><Relationship Id="rId11" Type="http://schemas.openxmlformats.org/officeDocument/2006/relationships/image" Target="../media/image53.wmf"/><Relationship Id="rId5" Type="http://schemas.openxmlformats.org/officeDocument/2006/relationships/oleObject" Target="../embeddings/oleObject41.bin"/><Relationship Id="rId10" Type="http://schemas.openxmlformats.org/officeDocument/2006/relationships/oleObject" Target="../embeddings/oleObject43.bin"/><Relationship Id="rId4" Type="http://schemas.openxmlformats.org/officeDocument/2006/relationships/image" Target="../media/image50.wmf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wmf"/><Relationship Id="rId11" Type="http://schemas.openxmlformats.org/officeDocument/2006/relationships/image" Target="../media/image58.png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4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image" Target="../media/image64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oleObject" Target="../embeddings/oleObject5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wmf"/><Relationship Id="rId11" Type="http://schemas.openxmlformats.org/officeDocument/2006/relationships/image" Target="../media/image63.wmf"/><Relationship Id="rId5" Type="http://schemas.openxmlformats.org/officeDocument/2006/relationships/oleObject" Target="../embeddings/oleObject49.bin"/><Relationship Id="rId10" Type="http://schemas.openxmlformats.org/officeDocument/2006/relationships/oleObject" Target="../embeddings/oleObject51.bin"/><Relationship Id="rId4" Type="http://schemas.openxmlformats.org/officeDocument/2006/relationships/image" Target="../media/image59.wmf"/><Relationship Id="rId9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69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75.wmf"/><Relationship Id="rId18" Type="http://schemas.openxmlformats.org/officeDocument/2006/relationships/oleObject" Target="../embeddings/oleObject64.bin"/><Relationship Id="rId3" Type="http://schemas.openxmlformats.org/officeDocument/2006/relationships/image" Target="../media/image70.png"/><Relationship Id="rId21" Type="http://schemas.openxmlformats.org/officeDocument/2006/relationships/image" Target="../media/image79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77.wmf"/><Relationship Id="rId2" Type="http://schemas.openxmlformats.org/officeDocument/2006/relationships/notesSlide" Target="../notesSlides/notesSlide17.xml"/><Relationship Id="rId16" Type="http://schemas.openxmlformats.org/officeDocument/2006/relationships/oleObject" Target="../embeddings/oleObject63.bin"/><Relationship Id="rId20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5" Type="http://schemas.openxmlformats.org/officeDocument/2006/relationships/image" Target="../media/image76.wmf"/><Relationship Id="rId23" Type="http://schemas.openxmlformats.org/officeDocument/2006/relationships/image" Target="../media/image80.w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78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62.bin"/><Relationship Id="rId22" Type="http://schemas.openxmlformats.org/officeDocument/2006/relationships/oleObject" Target="../embeddings/oleObject6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81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6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6.pn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85.emf"/><Relationship Id="rId5" Type="http://schemas.openxmlformats.org/officeDocument/2006/relationships/oleObject" Target="../embeddings/oleObject69.bin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9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7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image" Target="../media/image93.png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98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97.wmf"/><Relationship Id="rId4" Type="http://schemas.openxmlformats.org/officeDocument/2006/relationships/image" Target="../media/image94.png"/><Relationship Id="rId9" Type="http://schemas.openxmlformats.org/officeDocument/2006/relationships/oleObject" Target="../embeddings/oleObject78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911424" y="3356992"/>
            <a:ext cx="1036915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运动学：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研究物体运动的几何性质（轨迹、运动方程、速度、加速度等）的科学。</a:t>
            </a:r>
            <a:endParaRPr lang="en-US" altLang="zh-CN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参考体及参考系：</a:t>
            </a: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研究物体机械运动要选取另外一个物体为参考体，与参考体固连的坐标系为参考系，一般取与地面固结的坐标系为参考系。</a:t>
            </a:r>
            <a:endParaRPr lang="en-US" altLang="zh-CN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5242791" y="20969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endParaRPr kumimoji="0" lang="zh-CN" altLang="zh-CN" b="1" i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Text Box 24"/>
          <p:cNvSpPr txBox="1">
            <a:spLocks noChangeArrowheads="1"/>
          </p:cNvSpPr>
          <p:nvPr/>
        </p:nvSpPr>
        <p:spPr bwMode="auto">
          <a:xfrm>
            <a:off x="1033479" y="1373416"/>
            <a:ext cx="41344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物体在不平衡力系作用下</a:t>
            </a:r>
          </a:p>
        </p:txBody>
      </p:sp>
      <p:sp>
        <p:nvSpPr>
          <p:cNvPr id="19" name="AutoShape 25"/>
          <p:cNvSpPr>
            <a:spLocks noChangeArrowheads="1"/>
          </p:cNvSpPr>
          <p:nvPr/>
        </p:nvSpPr>
        <p:spPr bwMode="auto">
          <a:xfrm>
            <a:off x="5131666" y="1479451"/>
            <a:ext cx="1163637" cy="311150"/>
          </a:xfrm>
          <a:prstGeom prst="rightArrow">
            <a:avLst>
              <a:gd name="adj1" fmla="val 50000"/>
              <a:gd name="adj2" fmla="val 93495"/>
            </a:avLst>
          </a:prstGeom>
          <a:solidFill>
            <a:srgbClr val="FF00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i="0">
              <a:latin typeface="Times New Roman" panose="02020603050405020304" pitchFamily="18" charset="0"/>
            </a:endParaRPr>
          </a:p>
        </p:txBody>
      </p:sp>
      <p:sp>
        <p:nvSpPr>
          <p:cNvPr id="20" name="Text Box 26"/>
          <p:cNvSpPr txBox="1">
            <a:spLocks noChangeArrowheads="1"/>
          </p:cNvSpPr>
          <p:nvPr/>
        </p:nvSpPr>
        <p:spPr bwMode="auto">
          <a:xfrm>
            <a:off x="6585260" y="1373416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运动</a:t>
            </a: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4642716" y="2546251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受力情况</a:t>
            </a:r>
          </a:p>
        </p:txBody>
      </p:sp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6312766" y="2563713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初始状态</a:t>
            </a:r>
          </a:p>
        </p:txBody>
      </p: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7989166" y="2563713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物体惯性</a:t>
            </a:r>
          </a:p>
        </p:txBody>
      </p:sp>
      <p:sp>
        <p:nvSpPr>
          <p:cNvPr id="24" name="Line 30"/>
          <p:cNvSpPr>
            <a:spLocks noChangeShapeType="1"/>
          </p:cNvSpPr>
          <p:nvPr/>
        </p:nvSpPr>
        <p:spPr bwMode="auto">
          <a:xfrm>
            <a:off x="7036666" y="2008088"/>
            <a:ext cx="0" cy="431800"/>
          </a:xfrm>
          <a:prstGeom prst="line">
            <a:avLst/>
          </a:prstGeom>
          <a:noFill/>
          <a:ln w="76200">
            <a:solidFill>
              <a:srgbClr val="990033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i="0"/>
          </a:p>
        </p:txBody>
      </p:sp>
      <p:sp>
        <p:nvSpPr>
          <p:cNvPr id="25" name="Line 31"/>
          <p:cNvSpPr>
            <a:spLocks noChangeShapeType="1"/>
          </p:cNvSpPr>
          <p:nvPr/>
        </p:nvSpPr>
        <p:spPr bwMode="auto">
          <a:xfrm flipH="1" flipV="1">
            <a:off x="7304953" y="1863626"/>
            <a:ext cx="1295400" cy="576262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i="0"/>
          </a:p>
        </p:txBody>
      </p:sp>
      <p:sp>
        <p:nvSpPr>
          <p:cNvPr id="26" name="Line 32"/>
          <p:cNvSpPr>
            <a:spLocks noChangeShapeType="1"/>
          </p:cNvSpPr>
          <p:nvPr/>
        </p:nvSpPr>
        <p:spPr bwMode="auto">
          <a:xfrm flipV="1">
            <a:off x="5360266" y="1863626"/>
            <a:ext cx="1368425" cy="454025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i="0"/>
          </a:p>
        </p:txBody>
      </p:sp>
    </p:spTree>
    <p:extLst>
      <p:ext uri="{BB962C8B-B14F-4D97-AF65-F5344CB8AC3E}">
        <p14:creationId xmlns:p14="http://schemas.microsoft.com/office/powerpoint/2010/main" val="5043191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8" grpId="0"/>
      <p:bldP spid="19" grpId="0" animBg="1"/>
      <p:bldP spid="20" grpId="0"/>
      <p:bldP spid="21" grpId="0"/>
      <p:bldP spid="22" grpId="0"/>
      <p:bldP spid="23" grpId="0"/>
      <p:bldP spid="24" grpId="0" animBg="1"/>
      <p:bldP spid="25" grpId="0" animBg="1"/>
      <p:bldP spid="2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4442" y="928670"/>
            <a:ext cx="974798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§4-1  </a:t>
            </a:r>
            <a:r>
              <a:rPr lang="zh-CN" altLang="en-US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点的运动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055440" y="2172612"/>
            <a:ext cx="252028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点的运动方程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30175" y="1379825"/>
            <a:ext cx="67249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用矢径法确定点的位置、速度及加速度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7004172" y="2027024"/>
            <a:ext cx="4608512" cy="396044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" name="05-01d">
            <a:hlinkClick r:id="" action="ppaction://media"/>
            <a:extLst>
              <a:ext uri="{FF2B5EF4-FFF2-40B4-BE49-F238E27FC236}">
                <a16:creationId xmlns:a16="http://schemas.microsoft.com/office/drawing/2014/main" id="{D0D9D77F-CAEB-477D-8D5D-08BE9C061E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98204" y="2381100"/>
            <a:ext cx="4020447" cy="3015335"/>
          </a:xfrm>
          <a:prstGeom prst="rect">
            <a:avLst/>
          </a:prstGeom>
        </p:spPr>
      </p:pic>
      <p:graphicFrame>
        <p:nvGraphicFramePr>
          <p:cNvPr id="1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691031"/>
              </p:ext>
            </p:extLst>
          </p:nvPr>
        </p:nvGraphicFramePr>
        <p:xfrm>
          <a:off x="3735858" y="2208749"/>
          <a:ext cx="1376259" cy="555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00" imgH="203040" progId="Equation.DSMT4">
                  <p:embed/>
                </p:oleObj>
              </mc:Choice>
              <mc:Fallback>
                <p:oleObj name="Equation" r:id="rId6" imgW="48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858" y="2208749"/>
                        <a:ext cx="1376259" cy="555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055440" y="3215336"/>
            <a:ext cx="2520280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点的速度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055440" y="4209979"/>
            <a:ext cx="252028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点的加速度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67306"/>
              </p:ext>
            </p:extLst>
          </p:nvPr>
        </p:nvGraphicFramePr>
        <p:xfrm>
          <a:off x="3208466" y="3030138"/>
          <a:ext cx="3194051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44520" imgH="393480" progId="Equation.DSMT4">
                  <p:embed/>
                </p:oleObj>
              </mc:Choice>
              <mc:Fallback>
                <p:oleObj name="Equation" r:id="rId8" imgW="1244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466" y="3030138"/>
                        <a:ext cx="3194051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847636"/>
              </p:ext>
            </p:extLst>
          </p:nvPr>
        </p:nvGraphicFramePr>
        <p:xfrm>
          <a:off x="3208465" y="4083331"/>
          <a:ext cx="3501673" cy="1008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320" imgH="431640" progId="Equation.DSMT4">
                  <p:embed/>
                </p:oleObj>
              </mc:Choice>
              <mc:Fallback>
                <p:oleObj name="Equation" r:id="rId10" imgW="1498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8465" y="4083331"/>
                        <a:ext cx="3501673" cy="1008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214668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33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0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4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  <p:bldLst>
      <p:bldP spid="6" grpId="0" autoUpdateAnimBg="0"/>
      <p:bldP spid="9" grpId="0" animBg="1"/>
      <p:bldP spid="12" grpId="0" autoUpdateAnimBg="0"/>
      <p:bldP spid="1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1"/>
          <p:cNvSpPr>
            <a:spLocks noChangeArrowheads="1"/>
          </p:cNvSpPr>
          <p:nvPr/>
        </p:nvSpPr>
        <p:spPr bwMode="auto">
          <a:xfrm>
            <a:off x="6456040" y="1906576"/>
            <a:ext cx="5112568" cy="3384938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055440" y="1107515"/>
            <a:ext cx="252028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矢端曲线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1055440" y="1906576"/>
            <a:ext cx="5112568" cy="3384938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3" name="Picture 14" descr="06-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969" y="2276872"/>
            <a:ext cx="4026709" cy="2683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5" descr="06-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098" y="2276872"/>
            <a:ext cx="4033244" cy="2687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1377950" y="5316538"/>
            <a:ext cx="3352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b="1" dirty="0">
                <a:solidFill>
                  <a:schemeClr val="bg1"/>
                </a:solidFill>
                <a:latin typeface="宋体" panose="02010600030101010101" pitchFamily="2" charset="-122"/>
              </a:rPr>
              <a:t>       </a:t>
            </a: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矢径矢端曲线切线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7464152" y="5316538"/>
            <a:ext cx="3352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加速度</a:t>
            </a:r>
            <a:endParaRPr kumimoji="0" lang="en-US" altLang="zh-CN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速度矢端曲线切线</a:t>
            </a:r>
          </a:p>
        </p:txBody>
      </p:sp>
    </p:spTree>
    <p:extLst>
      <p:ext uri="{BB962C8B-B14F-4D97-AF65-F5344CB8AC3E}">
        <p14:creationId xmlns:p14="http://schemas.microsoft.com/office/powerpoint/2010/main" val="28880935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" grpId="0" autoUpdateAnimBg="0"/>
      <p:bldP spid="9" grpId="0" animBg="1"/>
      <p:bldP spid="19" grpId="0" autoUpdateAnimBg="0"/>
      <p:bldP spid="2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72161" y="1729238"/>
            <a:ext cx="5472608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直角坐标与矢径坐标之间的关系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3632" y="974207"/>
            <a:ext cx="74943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用直角坐标法确定点的位置、速度及加速度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7004172" y="2027024"/>
            <a:ext cx="4780460" cy="396044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72161" y="3215336"/>
            <a:ext cx="2062485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运动方程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755" y="2412898"/>
            <a:ext cx="4349293" cy="3250604"/>
          </a:xfrm>
          <a:prstGeom prst="rect">
            <a:avLst/>
          </a:prstGeom>
        </p:spPr>
      </p:pic>
      <p:graphicFrame>
        <p:nvGraphicFramePr>
          <p:cNvPr id="1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392073"/>
              </p:ext>
            </p:extLst>
          </p:nvPr>
        </p:nvGraphicFramePr>
        <p:xfrm>
          <a:off x="1404204" y="2497238"/>
          <a:ext cx="4776787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190440" progId="Equation.DSMT4">
                  <p:embed/>
                </p:oleObj>
              </mc:Choice>
              <mc:Fallback>
                <p:oleObj name="Equation" r:id="rId4" imgW="13716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204" y="2497238"/>
                        <a:ext cx="4776787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4D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824468"/>
              </p:ext>
            </p:extLst>
          </p:nvPr>
        </p:nvGraphicFramePr>
        <p:xfrm>
          <a:off x="1438275" y="4021138"/>
          <a:ext cx="1592263" cy="19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" imgH="571320" progId="Equation.DSMT4">
                  <p:embed/>
                </p:oleObj>
              </mc:Choice>
              <mc:Fallback>
                <p:oleObj name="Equation" r:id="rId6" imgW="45720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4021138"/>
                        <a:ext cx="1592263" cy="198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4D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757234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nimBg="1"/>
      <p:bldP spid="1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72161" y="1152185"/>
            <a:ext cx="2311471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083668"/>
              </p:ext>
            </p:extLst>
          </p:nvPr>
        </p:nvGraphicFramePr>
        <p:xfrm>
          <a:off x="1981179" y="987642"/>
          <a:ext cx="612933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60440" imgH="355320" progId="Equation.DSMT4">
                  <p:embed/>
                </p:oleObj>
              </mc:Choice>
              <mc:Fallback>
                <p:oleObj name="Equation" r:id="rId3" imgW="226044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179" y="987642"/>
                        <a:ext cx="612933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4D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325707"/>
              </p:ext>
            </p:extLst>
          </p:nvPr>
        </p:nvGraphicFramePr>
        <p:xfrm>
          <a:off x="1981179" y="2084604"/>
          <a:ext cx="42005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49080" imgH="355320" progId="Equation.DSMT4">
                  <p:embed/>
                </p:oleObj>
              </mc:Choice>
              <mc:Fallback>
                <p:oleObj name="Equation" r:id="rId5" imgW="154908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179" y="2084604"/>
                        <a:ext cx="42005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4D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65073" y="3520415"/>
            <a:ext cx="2062485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加速度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07276"/>
              </p:ext>
            </p:extLst>
          </p:nvPr>
        </p:nvGraphicFramePr>
        <p:xfrm>
          <a:off x="2057400" y="3336925"/>
          <a:ext cx="6421438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76440" imgH="368280" progId="Equation.DSMT4">
                  <p:embed/>
                </p:oleObj>
              </mc:Choice>
              <mc:Fallback>
                <p:oleObj name="Equation" r:id="rId7" imgW="247644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36925"/>
                        <a:ext cx="6421438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4D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865010"/>
              </p:ext>
            </p:extLst>
          </p:nvPr>
        </p:nvGraphicFramePr>
        <p:xfrm>
          <a:off x="2064467" y="4476090"/>
          <a:ext cx="23764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8614" imgH="380835" progId="Equation.DSMT4">
                  <p:embed/>
                </p:oleObj>
              </mc:Choice>
              <mc:Fallback>
                <p:oleObj name="Equation" r:id="rId9" imgW="888614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467" y="4476090"/>
                        <a:ext cx="2376487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4D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16496"/>
              </p:ext>
            </p:extLst>
          </p:nvPr>
        </p:nvGraphicFramePr>
        <p:xfrm>
          <a:off x="5045848" y="4494786"/>
          <a:ext cx="23749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01309" imgH="380835" progId="Equation.DSMT4">
                  <p:embed/>
                </p:oleObj>
              </mc:Choice>
              <mc:Fallback>
                <p:oleObj name="Equation" r:id="rId11" imgW="901309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5848" y="4494786"/>
                        <a:ext cx="237490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4D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16841"/>
              </p:ext>
            </p:extLst>
          </p:nvPr>
        </p:nvGraphicFramePr>
        <p:xfrm>
          <a:off x="7896200" y="4476090"/>
          <a:ext cx="216058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87400" imgH="368300" progId="Equation.DSMT4">
                  <p:embed/>
                </p:oleObj>
              </mc:Choice>
              <mc:Fallback>
                <p:oleObj name="Equation" r:id="rId13" imgW="787400" imgH="368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00" y="4476090"/>
                        <a:ext cx="2160588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4D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42620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1"/>
          <p:cNvSpPr>
            <a:spLocks noChangeArrowheads="1"/>
          </p:cNvSpPr>
          <p:nvPr/>
        </p:nvSpPr>
        <p:spPr bwMode="auto">
          <a:xfrm>
            <a:off x="7176120" y="2636911"/>
            <a:ext cx="4824536" cy="3528393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79412" y="802970"/>
            <a:ext cx="10801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lang="zh-CN" altLang="en-US" b="1" i="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0" lang="zh-CN" altLang="en-US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椭圆规的曲柄</a:t>
            </a:r>
            <a:r>
              <a:rPr kumimoji="0"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OC </a:t>
            </a:r>
            <a:r>
              <a:rPr kumimoji="0" lang="zh-CN" altLang="en-US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可绕定轴</a:t>
            </a:r>
            <a:r>
              <a:rPr kumimoji="0"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kumimoji="0" lang="en-US" altLang="zh-CN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转动，其端点</a:t>
            </a:r>
            <a:r>
              <a:rPr kumimoji="0"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en-US" altLang="zh-CN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与规尺</a:t>
            </a:r>
            <a:r>
              <a:rPr kumimoji="0"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kumimoji="0" lang="en-US" altLang="zh-CN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的中点以铰链相连接，而规尺</a:t>
            </a:r>
            <a:r>
              <a:rPr kumimoji="0"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en-US" altLang="zh-CN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两端分别在相互垂直的滑槽中运动。</a:t>
            </a:r>
            <a:endParaRPr kumimoji="0" lang="en-US" altLang="zh-CN" i="0" dirty="0"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spcBef>
                <a:spcPct val="0"/>
              </a:spcBef>
              <a:buClrTx/>
              <a:buSzTx/>
              <a:buNone/>
            </a:pPr>
            <a:r>
              <a:rPr kumimoji="0" lang="zh-CN" altLang="en-US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已知：</a:t>
            </a:r>
            <a:endParaRPr lang="zh-CN" altLang="en-US" i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3" name="06-04d">
            <a:hlinkClick r:id="" action="ppaction://media"/>
            <a:extLst>
              <a:ext uri="{FF2B5EF4-FFF2-40B4-BE49-F238E27FC236}">
                <a16:creationId xmlns:a16="http://schemas.microsoft.com/office/drawing/2014/main" id="{E1C9C054-0AF7-4BE3-83F9-BF7B5032F6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b="14755"/>
          <a:stretch>
            <a:fillRect/>
          </a:stretch>
        </p:blipFill>
        <p:spPr>
          <a:xfrm>
            <a:off x="7338392" y="3084117"/>
            <a:ext cx="4499992" cy="2877021"/>
          </a:xfrm>
          <a:prstGeom prst="rect">
            <a:avLst/>
          </a:prstGeom>
        </p:spPr>
      </p:pic>
      <p:graphicFrame>
        <p:nvGraphicFramePr>
          <p:cNvPr id="1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731793"/>
              </p:ext>
            </p:extLst>
          </p:nvPr>
        </p:nvGraphicFramePr>
        <p:xfrm>
          <a:off x="1199456" y="1594955"/>
          <a:ext cx="4968552" cy="465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2000" imgH="190500" progId="Equation.DSMT4">
                  <p:embed/>
                </p:oleObj>
              </mc:Choice>
              <mc:Fallback>
                <p:oleObj name="Equation" r:id="rId6" imgW="2032000" imgH="190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456" y="1594955"/>
                        <a:ext cx="4968552" cy="465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285376" y="1988840"/>
            <a:ext cx="1080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kumimoji="0" lang="zh-CN" altLang="en-US" i="0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求 </a:t>
            </a:r>
            <a:r>
              <a:rPr kumimoji="0" lang="zh-CN" altLang="en-US" i="0" dirty="0"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kumimoji="0"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M </a:t>
            </a:r>
            <a:r>
              <a:rPr kumimoji="0" lang="zh-CN" altLang="en-US" i="0" dirty="0">
                <a:latin typeface="黑体" panose="02010609060101010101" pitchFamily="49" charset="-122"/>
                <a:ea typeface="黑体" panose="02010609060101010101" pitchFamily="49" charset="-122"/>
              </a:rPr>
              <a:t>点的运动方程；</a:t>
            </a:r>
            <a:r>
              <a:rPr kumimoji="0" lang="en-US" altLang="zh-CN" i="0" dirty="0">
                <a:latin typeface="黑体" panose="02010609060101010101" pitchFamily="49" charset="-122"/>
                <a:ea typeface="黑体" panose="02010609060101010101" pitchFamily="49" charset="-122"/>
              </a:rPr>
              <a:t>② </a:t>
            </a:r>
            <a:r>
              <a:rPr kumimoji="0" lang="zh-CN" altLang="en-US" i="0" dirty="0">
                <a:latin typeface="黑体" panose="02010609060101010101" pitchFamily="49" charset="-122"/>
                <a:ea typeface="黑体" panose="02010609060101010101" pitchFamily="49" charset="-122"/>
              </a:rPr>
              <a:t>轨迹；</a:t>
            </a:r>
            <a:r>
              <a:rPr kumimoji="0" lang="en-US" altLang="zh-CN" i="0" dirty="0">
                <a:latin typeface="黑体" panose="02010609060101010101" pitchFamily="49" charset="-122"/>
                <a:ea typeface="黑体" panose="02010609060101010101" pitchFamily="49" charset="-122"/>
              </a:rPr>
              <a:t>③ </a:t>
            </a:r>
            <a:r>
              <a:rPr kumimoji="0" lang="zh-CN" altLang="en-US" i="0" dirty="0">
                <a:latin typeface="黑体" panose="02010609060101010101" pitchFamily="49" charset="-122"/>
                <a:ea typeface="黑体" panose="02010609060101010101" pitchFamily="49" charset="-122"/>
              </a:rPr>
              <a:t>速度；</a:t>
            </a:r>
            <a:r>
              <a:rPr kumimoji="0" lang="en-US" altLang="zh-CN" i="0" dirty="0">
                <a:latin typeface="黑体" panose="02010609060101010101" pitchFamily="49" charset="-122"/>
                <a:ea typeface="黑体" panose="02010609060101010101" pitchFamily="49" charset="-122"/>
              </a:rPr>
              <a:t>④ </a:t>
            </a:r>
            <a:r>
              <a:rPr kumimoji="0" lang="zh-CN" altLang="en-US" i="0" dirty="0">
                <a:latin typeface="黑体" panose="02010609060101010101" pitchFamily="49" charset="-122"/>
                <a:ea typeface="黑体" panose="02010609060101010101" pitchFamily="49" charset="-122"/>
              </a:rPr>
              <a:t>加速度。</a:t>
            </a:r>
            <a:endParaRPr kumimoji="0"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279412" y="2508054"/>
            <a:ext cx="1080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点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作曲线运动，取坐标系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Oxy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如图所示。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311192" y="3054604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b="1" i="0" dirty="0">
                <a:latin typeface="黑体" panose="02010609060101010101" pitchFamily="49" charset="-122"/>
                <a:ea typeface="黑体" panose="02010609060101010101" pitchFamily="49" charset="-122"/>
              </a:rPr>
              <a:t>运动方程</a:t>
            </a:r>
          </a:p>
        </p:txBody>
      </p:sp>
      <p:graphicFrame>
        <p:nvGraphicFramePr>
          <p:cNvPr id="2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423697"/>
              </p:ext>
            </p:extLst>
          </p:nvPr>
        </p:nvGraphicFramePr>
        <p:xfrm>
          <a:off x="847249" y="3592263"/>
          <a:ext cx="5464776" cy="496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35200" imgH="203200" progId="Equation.DSMT4">
                  <p:embed/>
                </p:oleObj>
              </mc:Choice>
              <mc:Fallback>
                <p:oleObj name="Equation" r:id="rId8" imgW="2235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9" y="3592263"/>
                        <a:ext cx="5464776" cy="496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599549"/>
              </p:ext>
            </p:extLst>
          </p:nvPr>
        </p:nvGraphicFramePr>
        <p:xfrm>
          <a:off x="847248" y="4168526"/>
          <a:ext cx="3952608" cy="465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26451" imgH="203112" progId="Equation.DSMT4">
                  <p:embed/>
                </p:oleObj>
              </mc:Choice>
              <mc:Fallback>
                <p:oleObj name="Equation" r:id="rId10" imgW="17264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" y="4168526"/>
                        <a:ext cx="3952608" cy="465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311192" y="4634246"/>
            <a:ext cx="1507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b="1" i="0" dirty="0">
                <a:latin typeface="黑体" panose="02010609060101010101" pitchFamily="49" charset="-122"/>
                <a:ea typeface="黑体" panose="02010609060101010101" pitchFamily="49" charset="-122"/>
              </a:rPr>
              <a:t>消去时间</a:t>
            </a:r>
            <a:r>
              <a:rPr kumimoji="0" lang="en-US" altLang="zh-CN" b="1" dirty="0">
                <a:latin typeface="+mn-lt"/>
                <a:ea typeface="黑体" panose="02010609060101010101" pitchFamily="49" charset="-122"/>
              </a:rPr>
              <a:t>t</a:t>
            </a:r>
            <a:endParaRPr kumimoji="0" lang="zh-CN" altLang="en-US" b="1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139365"/>
              </p:ext>
            </p:extLst>
          </p:nvPr>
        </p:nvGraphicFramePr>
        <p:xfrm>
          <a:off x="847248" y="5095911"/>
          <a:ext cx="2872488" cy="985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94838" imgH="444307" progId="Equation.DSMT4">
                  <p:embed/>
                </p:oleObj>
              </mc:Choice>
              <mc:Fallback>
                <p:oleObj name="Equation" r:id="rId12" imgW="1294838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" y="5095911"/>
                        <a:ext cx="2872488" cy="985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57139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8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30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24" grpId="0" autoUpdateAnimBg="0"/>
      <p:bldP spid="2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311192" y="1057974"/>
            <a:ext cx="80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i="0" dirty="0">
                <a:latin typeface="黑体" panose="02010609060101010101" pitchFamily="49" charset="-122"/>
                <a:ea typeface="黑体" panose="02010609060101010101" pitchFamily="49" charset="-122"/>
              </a:rPr>
              <a:t>速度</a:t>
            </a:r>
            <a:endParaRPr kumimoji="0" lang="zh-CN" altLang="en-US" b="1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998863"/>
              </p:ext>
            </p:extLst>
          </p:nvPr>
        </p:nvGraphicFramePr>
        <p:xfrm>
          <a:off x="1055441" y="1412776"/>
          <a:ext cx="3456384" cy="572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033" imgH="253890" progId="Equation.DSMT4">
                  <p:embed/>
                </p:oleObj>
              </mc:Choice>
              <mc:Fallback>
                <p:oleObj name="Equation" r:id="rId3" imgW="1536033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1" y="1412776"/>
                        <a:ext cx="3456384" cy="572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691290"/>
              </p:ext>
            </p:extLst>
          </p:nvPr>
        </p:nvGraphicFramePr>
        <p:xfrm>
          <a:off x="4944815" y="1412776"/>
          <a:ext cx="3239417" cy="546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5100" imgH="241300" progId="Equation.DSMT4">
                  <p:embed/>
                </p:oleObj>
              </mc:Choice>
              <mc:Fallback>
                <p:oleObj name="Equation" r:id="rId5" imgW="14351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4815" y="1412776"/>
                        <a:ext cx="3239417" cy="546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618951"/>
              </p:ext>
            </p:extLst>
          </p:nvPr>
        </p:nvGraphicFramePr>
        <p:xfrm>
          <a:off x="1057027" y="2155726"/>
          <a:ext cx="7127205" cy="1234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78200" imgH="584200" progId="Equation.DSMT4">
                  <p:embed/>
                </p:oleObj>
              </mc:Choice>
              <mc:Fallback>
                <p:oleObj name="Equation" r:id="rId7" imgW="3378200" imgH="584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027" y="2155726"/>
                        <a:ext cx="7127205" cy="12344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311192" y="3390182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i="0" dirty="0">
                <a:latin typeface="黑体" panose="02010609060101010101" pitchFamily="49" charset="-122"/>
                <a:ea typeface="黑体" panose="02010609060101010101" pitchFamily="49" charset="-122"/>
              </a:rPr>
              <a:t>加速度</a:t>
            </a:r>
            <a:endParaRPr kumimoji="0" lang="zh-CN" altLang="en-US" b="1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938135"/>
              </p:ext>
            </p:extLst>
          </p:nvPr>
        </p:nvGraphicFramePr>
        <p:xfrm>
          <a:off x="1084828" y="3711742"/>
          <a:ext cx="496093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866900" imgH="241300" progId="Equation.3">
                  <p:embed/>
                </p:oleObj>
              </mc:Choice>
              <mc:Fallback>
                <p:oleObj r:id="rId9" imgW="18669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828" y="3711742"/>
                        <a:ext cx="496093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120124"/>
              </p:ext>
            </p:extLst>
          </p:nvPr>
        </p:nvGraphicFramePr>
        <p:xfrm>
          <a:off x="1092766" y="4288004"/>
          <a:ext cx="51752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853396" imgH="253890" progId="Equation.3">
                  <p:embed/>
                </p:oleObj>
              </mc:Choice>
              <mc:Fallback>
                <p:oleObj r:id="rId11" imgW="1853396" imgH="25389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766" y="4288004"/>
                        <a:ext cx="51752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342999"/>
              </p:ext>
            </p:extLst>
          </p:nvPr>
        </p:nvGraphicFramePr>
        <p:xfrm>
          <a:off x="1084828" y="4862679"/>
          <a:ext cx="78486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337203" imgH="317225" progId="Equation.3">
                  <p:embed/>
                </p:oleObj>
              </mc:Choice>
              <mc:Fallback>
                <p:oleObj r:id="rId13" imgW="3337203" imgH="3172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828" y="4862679"/>
                        <a:ext cx="784860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588457"/>
              </p:ext>
            </p:extLst>
          </p:nvPr>
        </p:nvGraphicFramePr>
        <p:xfrm>
          <a:off x="1315016" y="5654842"/>
          <a:ext cx="42116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662978" imgH="253890" progId="Equation.DSMT4">
                  <p:embed/>
                </p:oleObj>
              </mc:Choice>
              <mc:Fallback>
                <p:oleObj r:id="rId15" imgW="1662978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5016" y="5654842"/>
                        <a:ext cx="42116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06737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  <p:bldP spid="1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1"/>
          <p:cNvSpPr>
            <a:spLocks noChangeArrowheads="1"/>
          </p:cNvSpPr>
          <p:nvPr/>
        </p:nvSpPr>
        <p:spPr bwMode="auto">
          <a:xfrm>
            <a:off x="7176120" y="2021119"/>
            <a:ext cx="4824536" cy="3528393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279412" y="802970"/>
            <a:ext cx="10801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lang="zh-CN" altLang="en-US" b="1" i="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如图所示，当液压减振器工作时，它的活塞在套筒内作直线往复运动。设活塞的加速度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a= </a:t>
            </a:r>
            <a:r>
              <a:rPr lang="en-US" altLang="zh-CN" b="0" i="0" dirty="0"/>
              <a:t>–</a:t>
            </a:r>
            <a:r>
              <a:rPr lang="en-US" altLang="zh-CN" b="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为活塞的速度，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为比例常数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，初速度为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v</a:t>
            </a:r>
            <a:r>
              <a:rPr lang="en-US" altLang="zh-CN" i="0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0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。求活塞的运动规律。</a:t>
            </a:r>
          </a:p>
          <a:p>
            <a:pPr algn="l">
              <a:spcBef>
                <a:spcPct val="0"/>
              </a:spcBef>
              <a:buClrTx/>
              <a:buSzTx/>
              <a:buNone/>
            </a:pPr>
            <a:endParaRPr lang="zh-CN" altLang="en-US" i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279412" y="1925395"/>
            <a:ext cx="1080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活塞作直线运动，取坐标轴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Ox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如图所示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263" y="2204323"/>
            <a:ext cx="4094202" cy="3161984"/>
          </a:xfrm>
          <a:prstGeom prst="rect">
            <a:avLst/>
          </a:prstGeom>
        </p:spPr>
      </p:pic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220720"/>
              </p:ext>
            </p:extLst>
          </p:nvPr>
        </p:nvGraphicFramePr>
        <p:xfrm>
          <a:off x="839416" y="2527871"/>
          <a:ext cx="1782812" cy="849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25480" imgH="393480" progId="Equation.DSMT4">
                  <p:embed/>
                </p:oleObj>
              </mc:Choice>
              <mc:Fallback>
                <p:oleObj name="Equation" r:id="rId4" imgW="825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2527871"/>
                        <a:ext cx="1782812" cy="849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809763"/>
              </p:ext>
            </p:extLst>
          </p:nvPr>
        </p:nvGraphicFramePr>
        <p:xfrm>
          <a:off x="748676" y="4592342"/>
          <a:ext cx="2001515" cy="87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393480" progId="Equation.DSMT4">
                  <p:embed/>
                </p:oleObj>
              </mc:Choice>
              <mc:Fallback>
                <p:oleObj name="Equation" r:id="rId6" imgW="9014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676" y="4592342"/>
                        <a:ext cx="2001515" cy="873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102920"/>
              </p:ext>
            </p:extLst>
          </p:nvPr>
        </p:nvGraphicFramePr>
        <p:xfrm>
          <a:off x="3294326" y="4644083"/>
          <a:ext cx="2336015" cy="76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355320" progId="Equation.DSMT4">
                  <p:embed/>
                </p:oleObj>
              </mc:Choice>
              <mc:Fallback>
                <p:oleObj name="Equation" r:id="rId8" imgW="107928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326" y="4644083"/>
                        <a:ext cx="2336015" cy="76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588684"/>
              </p:ext>
            </p:extLst>
          </p:nvPr>
        </p:nvGraphicFramePr>
        <p:xfrm>
          <a:off x="839416" y="5378000"/>
          <a:ext cx="2664296" cy="859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8671" imgH="393529" progId="Equation.DSMT4">
                  <p:embed/>
                </p:oleObj>
              </mc:Choice>
              <mc:Fallback>
                <p:oleObj name="Equation" r:id="rId10" imgW="1218671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5378000"/>
                        <a:ext cx="2664296" cy="859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313403"/>
              </p:ext>
            </p:extLst>
          </p:nvPr>
        </p:nvGraphicFramePr>
        <p:xfrm>
          <a:off x="3342297" y="2527871"/>
          <a:ext cx="2121680" cy="876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52200" imgH="393480" progId="Equation.DSMT4">
                  <p:embed/>
                </p:oleObj>
              </mc:Choice>
              <mc:Fallback>
                <p:oleObj name="Equation" r:id="rId12" imgW="952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2297" y="2527871"/>
                        <a:ext cx="2121680" cy="8760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530427"/>
              </p:ext>
            </p:extLst>
          </p:nvPr>
        </p:nvGraphicFramePr>
        <p:xfrm>
          <a:off x="839416" y="3452621"/>
          <a:ext cx="2927350" cy="947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33500" imgH="431800" progId="Equation.DSMT4">
                  <p:embed/>
                </p:oleObj>
              </mc:Choice>
              <mc:Fallback>
                <p:oleObj name="Equation" r:id="rId14" imgW="13335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3452621"/>
                        <a:ext cx="2927350" cy="947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279412" y="2722711"/>
            <a:ext cx="560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由</a:t>
            </a: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2822199" y="2722711"/>
            <a:ext cx="560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得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279412" y="4799573"/>
            <a:ext cx="560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由</a:t>
            </a:r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2822199" y="4799573"/>
            <a:ext cx="5600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得</a:t>
            </a:r>
          </a:p>
        </p:txBody>
      </p:sp>
    </p:spTree>
    <p:extLst>
      <p:ext uri="{BB962C8B-B14F-4D97-AF65-F5344CB8AC3E}">
        <p14:creationId xmlns:p14="http://schemas.microsoft.com/office/powerpoint/2010/main" val="421386219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72160" y="1560551"/>
            <a:ext cx="6547044" cy="1599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自然法：</a:t>
            </a: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利用点的运动轨迹建立弧坐标和自然轴系，利用它们描述和分析点的运动的方法。</a:t>
            </a:r>
          </a:p>
        </p:txBody>
      </p:sp>
      <p:sp>
        <p:nvSpPr>
          <p:cNvPr id="8" name="矩形 7"/>
          <p:cNvSpPr/>
          <p:nvPr/>
        </p:nvSpPr>
        <p:spPr>
          <a:xfrm>
            <a:off x="2783632" y="974207"/>
            <a:ext cx="71096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用弧坐标法确定点的位置、速度及加速度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7400730" y="1620538"/>
            <a:ext cx="4419182" cy="4531837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72161" y="3215336"/>
            <a:ext cx="2062485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弧坐标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646562"/>
              </p:ext>
            </p:extLst>
          </p:nvPr>
        </p:nvGraphicFramePr>
        <p:xfrm>
          <a:off x="2000251" y="3239086"/>
          <a:ext cx="1503462" cy="626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200" imgH="190440" progId="Equation.DSMT4">
                  <p:embed/>
                </p:oleObj>
              </mc:Choice>
              <mc:Fallback>
                <p:oleObj name="Equation" r:id="rId3" imgW="4572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1" y="3239086"/>
                        <a:ext cx="1503462" cy="626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823" y="2696934"/>
            <a:ext cx="3297809" cy="1308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472161" y="3898428"/>
            <a:ext cx="2062485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自然轴系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004568" y="4519580"/>
            <a:ext cx="3247576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切向单位矢量</a:t>
            </a:r>
            <a:endParaRPr kumimoji="0" lang="en-US" altLang="zh-CN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972477" y="5095644"/>
            <a:ext cx="306364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主法线单位矢量</a:t>
            </a:r>
            <a:endParaRPr kumimoji="0" lang="en-US" altLang="zh-CN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1004568" y="5671708"/>
            <a:ext cx="3175568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副法线单位矢量</a:t>
            </a:r>
            <a:endParaRPr kumimoji="0" lang="en-US" altLang="zh-CN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52913"/>
              </p:ext>
            </p:extLst>
          </p:nvPr>
        </p:nvGraphicFramePr>
        <p:xfrm>
          <a:off x="3838501" y="5789874"/>
          <a:ext cx="13858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400" imgH="152280" progId="Equation.DSMT4">
                  <p:embed/>
                </p:oleObj>
              </mc:Choice>
              <mc:Fallback>
                <p:oleObj name="Equation" r:id="rId6" imgW="48240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01" y="5789874"/>
                        <a:ext cx="13858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707247"/>
              </p:ext>
            </p:extLst>
          </p:nvPr>
        </p:nvGraphicFramePr>
        <p:xfrm>
          <a:off x="4367808" y="5259388"/>
          <a:ext cx="32861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120" imgH="126720" progId="Equation.DSMT4">
                  <p:embed/>
                </p:oleObj>
              </mc:Choice>
              <mc:Fallback>
                <p:oleObj name="Equation" r:id="rId8" imgW="114120" imgH="12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5259388"/>
                        <a:ext cx="32861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513684"/>
              </p:ext>
            </p:extLst>
          </p:nvPr>
        </p:nvGraphicFramePr>
        <p:xfrm>
          <a:off x="4367808" y="4673600"/>
          <a:ext cx="32861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26720" progId="Equation.DSMT4">
                  <p:embed/>
                </p:oleObj>
              </mc:Choice>
              <mc:Fallback>
                <p:oleObj name="Equation" r:id="rId10" imgW="114120" imgH="12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4673600"/>
                        <a:ext cx="328613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F3E19F7-7D76-C171-F303-F59AC7CD0458}"/>
              </a:ext>
            </a:extLst>
          </p:cNvPr>
          <p:cNvGrpSpPr/>
          <p:nvPr/>
        </p:nvGrpSpPr>
        <p:grpSpPr>
          <a:xfrm>
            <a:off x="7403976" y="1196752"/>
            <a:ext cx="6114142" cy="2662458"/>
            <a:chOff x="7403976" y="1196752"/>
            <a:chExt cx="6114142" cy="266245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9451AC7-9AA9-7F23-CF88-550183DC532E}"/>
                </a:ext>
              </a:extLst>
            </p:cNvPr>
            <p:cNvSpPr txBox="1"/>
            <p:nvPr/>
          </p:nvSpPr>
          <p:spPr>
            <a:xfrm>
              <a:off x="7403976" y="1675680"/>
              <a:ext cx="611414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400" i="0" dirty="0">
                  <a:solidFill>
                    <a:srgbClr val="FF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密切面</a:t>
              </a:r>
              <a:endParaRPr lang="zh-CN" altLang="en-US" i="0" dirty="0">
                <a:solidFill>
                  <a:srgbClr val="FF0000"/>
                </a:solidFill>
              </a:endParaRPr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5FDEBA0-DDFF-87A7-CECE-AE30CFB83B13}"/>
                </a:ext>
              </a:extLst>
            </p:cNvPr>
            <p:cNvGrpSpPr/>
            <p:nvPr/>
          </p:nvGrpSpPr>
          <p:grpSpPr>
            <a:xfrm>
              <a:off x="7594813" y="1196752"/>
              <a:ext cx="4191000" cy="2662458"/>
              <a:chOff x="7594813" y="1196752"/>
              <a:chExt cx="4191000" cy="2662458"/>
            </a:xfrm>
          </p:grpSpPr>
          <p:sp>
            <p:nvSpPr>
              <p:cNvPr id="4" name="Line 3">
                <a:extLst>
                  <a:ext uri="{FF2B5EF4-FFF2-40B4-BE49-F238E27FC236}">
                    <a16:creationId xmlns:a16="http://schemas.microsoft.com/office/drawing/2014/main" id="{87E5DD44-30F3-D024-7369-520D021950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09213" y="3330352"/>
                <a:ext cx="2209800" cy="0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" name="Line 4">
                <a:extLst>
                  <a:ext uri="{FF2B5EF4-FFF2-40B4-BE49-F238E27FC236}">
                    <a16:creationId xmlns:a16="http://schemas.microsoft.com/office/drawing/2014/main" id="{963A171F-C399-E3B9-B98D-1F22BA815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09213" y="2263552"/>
                <a:ext cx="762000" cy="1066800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7" name="Group 5">
                <a:extLst>
                  <a:ext uri="{FF2B5EF4-FFF2-40B4-BE49-F238E27FC236}">
                    <a16:creationId xmlns:a16="http://schemas.microsoft.com/office/drawing/2014/main" id="{D536A53D-CB6F-44A6-817E-3AC7D32AF4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271213" y="2263552"/>
                <a:ext cx="2209800" cy="1066800"/>
                <a:chOff x="3984" y="1008"/>
                <a:chExt cx="1392" cy="672"/>
              </a:xfrm>
            </p:grpSpPr>
            <p:sp>
              <p:nvSpPr>
                <p:cNvPr id="18" name="Line 6">
                  <a:extLst>
                    <a:ext uri="{FF2B5EF4-FFF2-40B4-BE49-F238E27FC236}">
                      <a16:creationId xmlns:a16="http://schemas.microsoft.com/office/drawing/2014/main" id="{A676144C-FF54-CA66-F80D-11BF01FF1A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96" y="1008"/>
                  <a:ext cx="48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7">
                  <a:extLst>
                    <a:ext uri="{FF2B5EF4-FFF2-40B4-BE49-F238E27FC236}">
                      <a16:creationId xmlns:a16="http://schemas.microsoft.com/office/drawing/2014/main" id="{E2303F5E-6F6E-E0DE-9AFB-34A0394CE8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84" y="1008"/>
                  <a:ext cx="13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" name="Freeform 8">
                <a:extLst>
                  <a:ext uri="{FF2B5EF4-FFF2-40B4-BE49-F238E27FC236}">
                    <a16:creationId xmlns:a16="http://schemas.microsoft.com/office/drawing/2014/main" id="{1DF6117C-9DD4-2840-F62E-478EF8D47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4813" y="1196752"/>
                <a:ext cx="3429000" cy="2146300"/>
              </a:xfrm>
              <a:custGeom>
                <a:avLst/>
                <a:gdLst>
                  <a:gd name="T0" fmla="*/ 0 w 2112"/>
                  <a:gd name="T1" fmla="*/ 1056 h 1208"/>
                  <a:gd name="T2" fmla="*/ 576 w 2112"/>
                  <a:gd name="T3" fmla="*/ 1200 h 1208"/>
                  <a:gd name="T4" fmla="*/ 1200 w 2112"/>
                  <a:gd name="T5" fmla="*/ 1104 h 1208"/>
                  <a:gd name="T6" fmla="*/ 1680 w 2112"/>
                  <a:gd name="T7" fmla="*/ 816 h 1208"/>
                  <a:gd name="T8" fmla="*/ 2112 w 2112"/>
                  <a:gd name="T9" fmla="*/ 0 h 12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12"/>
                  <a:gd name="T16" fmla="*/ 0 h 1208"/>
                  <a:gd name="T17" fmla="*/ 2112 w 2112"/>
                  <a:gd name="T18" fmla="*/ 1208 h 12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12" h="1208">
                    <a:moveTo>
                      <a:pt x="0" y="1056"/>
                    </a:moveTo>
                    <a:cubicBezTo>
                      <a:pt x="188" y="1124"/>
                      <a:pt x="376" y="1192"/>
                      <a:pt x="576" y="1200"/>
                    </a:cubicBezTo>
                    <a:cubicBezTo>
                      <a:pt x="776" y="1208"/>
                      <a:pt x="1016" y="1168"/>
                      <a:pt x="1200" y="1104"/>
                    </a:cubicBezTo>
                    <a:cubicBezTo>
                      <a:pt x="1384" y="1040"/>
                      <a:pt x="1528" y="1000"/>
                      <a:pt x="1680" y="816"/>
                    </a:cubicBezTo>
                    <a:cubicBezTo>
                      <a:pt x="1832" y="632"/>
                      <a:pt x="1936" y="128"/>
                      <a:pt x="2112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25" name="Group 9">
                <a:extLst>
                  <a:ext uri="{FF2B5EF4-FFF2-40B4-BE49-F238E27FC236}">
                    <a16:creationId xmlns:a16="http://schemas.microsoft.com/office/drawing/2014/main" id="{3194E491-765B-6DCB-16C6-236BC1D5E2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09213" y="2492152"/>
                <a:ext cx="3276600" cy="838200"/>
                <a:chOff x="3504" y="1152"/>
                <a:chExt cx="2064" cy="528"/>
              </a:xfrm>
            </p:grpSpPr>
            <p:sp>
              <p:nvSpPr>
                <p:cNvPr id="26" name="Line 10">
                  <a:extLst>
                    <a:ext uri="{FF2B5EF4-FFF2-40B4-BE49-F238E27FC236}">
                      <a16:creationId xmlns:a16="http://schemas.microsoft.com/office/drawing/2014/main" id="{4F890F19-D713-16E9-7E93-7273DE4B67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04" y="1152"/>
                  <a:ext cx="672" cy="528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Line 11">
                  <a:extLst>
                    <a:ext uri="{FF2B5EF4-FFF2-40B4-BE49-F238E27FC236}">
                      <a16:creationId xmlns:a16="http://schemas.microsoft.com/office/drawing/2014/main" id="{4ABB5D11-7BD5-9077-5A9D-CB2E6BC9E3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96" y="1152"/>
                  <a:ext cx="672" cy="528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12">
                  <a:extLst>
                    <a:ext uri="{FF2B5EF4-FFF2-40B4-BE49-F238E27FC236}">
                      <a16:creationId xmlns:a16="http://schemas.microsoft.com/office/drawing/2014/main" id="{BA7CF514-1DF7-9A5C-B18C-12DDBBB396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1152"/>
                  <a:ext cx="1392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Group 16">
                <a:extLst>
                  <a:ext uri="{FF2B5EF4-FFF2-40B4-BE49-F238E27FC236}">
                    <a16:creationId xmlns:a16="http://schemas.microsoft.com/office/drawing/2014/main" id="{36F72C10-91D8-6335-3A03-CCB54C17E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87201" y="1623790"/>
                <a:ext cx="838200" cy="1290637"/>
                <a:chOff x="4560" y="624"/>
                <a:chExt cx="528" cy="813"/>
              </a:xfrm>
            </p:grpSpPr>
            <p:sp>
              <p:nvSpPr>
                <p:cNvPr id="30" name="Oval 17">
                  <a:extLst>
                    <a:ext uri="{FF2B5EF4-FFF2-40B4-BE49-F238E27FC236}">
                      <a16:creationId xmlns:a16="http://schemas.microsoft.com/office/drawing/2014/main" id="{DB4417F9-6ADD-4CB8-9C19-1B492F22FB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60" y="1248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31" name="Group 18">
                  <a:extLst>
                    <a:ext uri="{FF2B5EF4-FFF2-40B4-BE49-F238E27FC236}">
                      <a16:creationId xmlns:a16="http://schemas.microsoft.com/office/drawing/2014/main" id="{6819D5AA-01EA-D64F-E514-B231B2F4D5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08" y="624"/>
                  <a:ext cx="480" cy="813"/>
                  <a:chOff x="4608" y="624"/>
                  <a:chExt cx="480" cy="813"/>
                </a:xfrm>
              </p:grpSpPr>
              <p:sp>
                <p:nvSpPr>
                  <p:cNvPr id="32" name="Line 19">
                    <a:extLst>
                      <a:ext uri="{FF2B5EF4-FFF2-40B4-BE49-F238E27FC236}">
                        <a16:creationId xmlns:a16="http://schemas.microsoft.com/office/drawing/2014/main" id="{64F45346-B6CF-B9A1-5C3E-7A3995A911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08" y="624"/>
                    <a:ext cx="480" cy="672"/>
                  </a:xfrm>
                  <a:prstGeom prst="line">
                    <a:avLst/>
                  </a:prstGeom>
                  <a:noFill/>
                  <a:ln w="28575">
                    <a:solidFill>
                      <a:srgbClr val="000099"/>
                    </a:solidFill>
                    <a:round/>
                    <a:headEnd/>
                    <a:tailEnd type="triangl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33" name="Object 20">
                    <a:extLst>
                      <a:ext uri="{FF2B5EF4-FFF2-40B4-BE49-F238E27FC236}">
                        <a16:creationId xmlns:a16="http://schemas.microsoft.com/office/drawing/2014/main" id="{1E386C98-7ED9-309A-7EA4-F84E25979221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656" y="1200"/>
                  <a:ext cx="317" cy="23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公式" r:id="rId12" imgW="203040" imgH="152280" progId="Equation.3">
                          <p:embed/>
                        </p:oleObj>
                      </mc:Choice>
                      <mc:Fallback>
                        <p:oleObj name="公式" r:id="rId12" imgW="203040" imgH="152280" progId="Equation.3">
                          <p:embed/>
                          <p:pic>
                            <p:nvPicPr>
                              <p:cNvPr id="18444" name="Object 20">
                                <a:extLst>
                                  <a:ext uri="{FF2B5EF4-FFF2-40B4-BE49-F238E27FC236}">
                                    <a16:creationId xmlns:a16="http://schemas.microsoft.com/office/drawing/2014/main" id="{2AAB654D-7607-3994-A1E6-1D3D0CE4EBFB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3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656" y="1200"/>
                                <a:ext cx="317" cy="237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graphicFrame>
            <p:nvGraphicFramePr>
              <p:cNvPr id="34" name="Object 59">
                <a:extLst>
                  <a:ext uri="{FF2B5EF4-FFF2-40B4-BE49-F238E27FC236}">
                    <a16:creationId xmlns:a16="http://schemas.microsoft.com/office/drawing/2014/main" id="{24412A29-C04B-EBEC-7533-12787E5C98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3996046"/>
                  </p:ext>
                </p:extLst>
              </p:nvPr>
            </p:nvGraphicFramePr>
            <p:xfrm>
              <a:off x="11195263" y="1623790"/>
              <a:ext cx="409575" cy="4397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164880" imgH="177480" progId="Equation.3">
                      <p:embed/>
                    </p:oleObj>
                  </mc:Choice>
                  <mc:Fallback>
                    <p:oleObj name="公式" r:id="rId14" imgW="164880" imgH="177480" progId="Equation.3">
                      <p:embed/>
                      <p:pic>
                        <p:nvPicPr>
                          <p:cNvPr id="111675" name="Object 59">
                            <a:extLst>
                              <a:ext uri="{FF2B5EF4-FFF2-40B4-BE49-F238E27FC236}">
                                <a16:creationId xmlns:a16="http://schemas.microsoft.com/office/drawing/2014/main" id="{26C58411-E247-20D0-055B-EE1431B6710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95263" y="1623790"/>
                            <a:ext cx="409575" cy="4397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" name="Object 60">
                <a:extLst>
                  <a:ext uri="{FF2B5EF4-FFF2-40B4-BE49-F238E27FC236}">
                    <a16:creationId xmlns:a16="http://schemas.microsoft.com/office/drawing/2014/main" id="{CF521FDC-ABB6-1933-5159-4E6A289F9B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7295042"/>
                  </p:ext>
                </p:extLst>
              </p:nvPr>
            </p:nvGraphicFramePr>
            <p:xfrm>
              <a:off x="8674313" y="2055590"/>
              <a:ext cx="409575" cy="4397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164880" imgH="177480" progId="Equation.3">
                      <p:embed/>
                    </p:oleObj>
                  </mc:Choice>
                  <mc:Fallback>
                    <p:oleObj name="公式" r:id="rId16" imgW="164880" imgH="177480" progId="Equation.3">
                      <p:embed/>
                      <p:pic>
                        <p:nvPicPr>
                          <p:cNvPr id="111676" name="Object 60">
                            <a:extLst>
                              <a:ext uri="{FF2B5EF4-FFF2-40B4-BE49-F238E27FC236}">
                                <a16:creationId xmlns:a16="http://schemas.microsoft.com/office/drawing/2014/main" id="{AAE84A0B-6099-DB61-5B98-B6EF3F77C49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74313" y="2055590"/>
                            <a:ext cx="409575" cy="4397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6" name="Group 13">
                <a:extLst>
                  <a:ext uri="{FF2B5EF4-FFF2-40B4-BE49-F238E27FC236}">
                    <a16:creationId xmlns:a16="http://schemas.microsoft.com/office/drawing/2014/main" id="{5EDA1EF3-3D56-E9A2-4569-738D57A743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7250" y="3249610"/>
                <a:ext cx="533400" cy="609600"/>
                <a:chOff x="3408" y="1344"/>
                <a:chExt cx="336" cy="384"/>
              </a:xfrm>
            </p:grpSpPr>
            <p:sp>
              <p:nvSpPr>
                <p:cNvPr id="37" name="Oval 14">
                  <a:extLst>
                    <a:ext uri="{FF2B5EF4-FFF2-40B4-BE49-F238E27FC236}">
                      <a16:creationId xmlns:a16="http://schemas.microsoft.com/office/drawing/2014/main" id="{92ABD1E5-4969-2C44-A18E-72845ADCAA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34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8" name="Text Box 15">
                  <a:extLst>
                    <a:ext uri="{FF2B5EF4-FFF2-40B4-BE49-F238E27FC236}">
                      <a16:creationId xmlns:a16="http://schemas.microsoft.com/office/drawing/2014/main" id="{14404B41-5519-79E1-C994-850ECEAB1B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08" y="1440"/>
                  <a:ext cx="27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kumimoji="1" lang="en-US" altLang="zh-CN" sz="2400" i="1" dirty="0">
                      <a:latin typeface="Times New Roman" panose="02020603050405020304" pitchFamily="18" charset="0"/>
                    </a:rPr>
                    <a:t>M</a:t>
                  </a:r>
                </a:p>
              </p:txBody>
            </p:sp>
          </p:grpSp>
          <p:graphicFrame>
            <p:nvGraphicFramePr>
              <p:cNvPr id="39" name="Object 58">
                <a:extLst>
                  <a:ext uri="{FF2B5EF4-FFF2-40B4-BE49-F238E27FC236}">
                    <a16:creationId xmlns:a16="http://schemas.microsoft.com/office/drawing/2014/main" id="{94729CF3-A6BE-4BC6-AD44-AA7B74B20B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8192745"/>
                  </p:ext>
                </p:extLst>
              </p:nvPr>
            </p:nvGraphicFramePr>
            <p:xfrm>
              <a:off x="8958475" y="3419473"/>
              <a:ext cx="314325" cy="4079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26720" imgH="164880" progId="Equation.3">
                      <p:embed/>
                    </p:oleObj>
                  </mc:Choice>
                  <mc:Fallback>
                    <p:oleObj name="公式" r:id="rId17" imgW="126720" imgH="164880" progId="Equation.3">
                      <p:embed/>
                      <p:pic>
                        <p:nvPicPr>
                          <p:cNvPr id="111674" name="Object 58">
                            <a:extLst>
                              <a:ext uri="{FF2B5EF4-FFF2-40B4-BE49-F238E27FC236}">
                                <a16:creationId xmlns:a16="http://schemas.microsoft.com/office/drawing/2014/main" id="{EA298B35-3A8E-64D8-4127-7E1F23DD296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58475" y="3419473"/>
                            <a:ext cx="314325" cy="4079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9" name="Group 22">
            <a:extLst>
              <a:ext uri="{FF2B5EF4-FFF2-40B4-BE49-F238E27FC236}">
                <a16:creationId xmlns:a16="http://schemas.microsoft.com/office/drawing/2014/main" id="{981A6614-857D-9BC6-82BE-ED39A3694104}"/>
              </a:ext>
            </a:extLst>
          </p:cNvPr>
          <p:cNvGrpSpPr>
            <a:grpSpLocks/>
          </p:cNvGrpSpPr>
          <p:nvPr/>
        </p:nvGrpSpPr>
        <p:grpSpPr bwMode="auto">
          <a:xfrm>
            <a:off x="8409151" y="6043891"/>
            <a:ext cx="1077913" cy="528638"/>
            <a:chOff x="3456" y="3744"/>
            <a:chExt cx="679" cy="333"/>
          </a:xfrm>
        </p:grpSpPr>
        <p:sp>
          <p:nvSpPr>
            <p:cNvPr id="80" name="Line 23">
              <a:extLst>
                <a:ext uri="{FF2B5EF4-FFF2-40B4-BE49-F238E27FC236}">
                  <a16:creationId xmlns:a16="http://schemas.microsoft.com/office/drawing/2014/main" id="{1AA665BD-FC59-8B72-0E2F-4781A1732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744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1" name="Object 24">
              <a:extLst>
                <a:ext uri="{FF2B5EF4-FFF2-40B4-BE49-F238E27FC236}">
                  <a16:creationId xmlns:a16="http://schemas.microsoft.com/office/drawing/2014/main" id="{84652DCB-1010-FDCD-7C51-19CBB2E583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7" y="3840"/>
            <a:ext cx="178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14120" imgH="152280" progId="Equation.3">
                    <p:embed/>
                  </p:oleObj>
                </mc:Choice>
                <mc:Fallback>
                  <p:oleObj name="公式" r:id="rId19" imgW="114120" imgH="152280" progId="Equation.3">
                    <p:embed/>
                    <p:pic>
                      <p:nvPicPr>
                        <p:cNvPr id="18443" name="Object 24">
                          <a:extLst>
                            <a:ext uri="{FF2B5EF4-FFF2-40B4-BE49-F238E27FC236}">
                              <a16:creationId xmlns:a16="http://schemas.microsoft.com/office/drawing/2014/main" id="{B441917F-FCE1-591D-B040-E5D66FD12A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" y="3840"/>
                          <a:ext cx="178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" name="Group 25">
            <a:extLst>
              <a:ext uri="{FF2B5EF4-FFF2-40B4-BE49-F238E27FC236}">
                <a16:creationId xmlns:a16="http://schemas.microsoft.com/office/drawing/2014/main" id="{590F8BA0-36FF-4A75-9D64-2859DF329E28}"/>
              </a:ext>
            </a:extLst>
          </p:cNvPr>
          <p:cNvGrpSpPr>
            <a:grpSpLocks/>
          </p:cNvGrpSpPr>
          <p:nvPr/>
        </p:nvGrpSpPr>
        <p:grpSpPr bwMode="auto">
          <a:xfrm>
            <a:off x="7936076" y="5156479"/>
            <a:ext cx="473075" cy="887412"/>
            <a:chOff x="3158" y="3185"/>
            <a:chExt cx="298" cy="559"/>
          </a:xfrm>
        </p:grpSpPr>
        <p:sp>
          <p:nvSpPr>
            <p:cNvPr id="83" name="Line 26">
              <a:extLst>
                <a:ext uri="{FF2B5EF4-FFF2-40B4-BE49-F238E27FC236}">
                  <a16:creationId xmlns:a16="http://schemas.microsoft.com/office/drawing/2014/main" id="{A817F516-9B36-1D43-BCD8-FB7569471B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3264"/>
              <a:ext cx="0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4" name="Object 27">
              <a:extLst>
                <a:ext uri="{FF2B5EF4-FFF2-40B4-BE49-F238E27FC236}">
                  <a16:creationId xmlns:a16="http://schemas.microsoft.com/office/drawing/2014/main" id="{005C8AD3-A69D-4830-4CC2-9114BD8B0B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8" y="3185"/>
            <a:ext cx="19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26720" imgH="190440" progId="Equation.3">
                    <p:embed/>
                  </p:oleObj>
                </mc:Choice>
                <mc:Fallback>
                  <p:oleObj name="公式" r:id="rId21" imgW="126720" imgH="190440" progId="Equation.3">
                    <p:embed/>
                    <p:pic>
                      <p:nvPicPr>
                        <p:cNvPr id="18442" name="Object 27">
                          <a:extLst>
                            <a:ext uri="{FF2B5EF4-FFF2-40B4-BE49-F238E27FC236}">
                              <a16:creationId xmlns:a16="http://schemas.microsoft.com/office/drawing/2014/main" id="{1D69E4EB-6360-D69C-E446-B07FB9DD20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8" y="3185"/>
                          <a:ext cx="199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" name="Group 28">
            <a:extLst>
              <a:ext uri="{FF2B5EF4-FFF2-40B4-BE49-F238E27FC236}">
                <a16:creationId xmlns:a16="http://schemas.microsoft.com/office/drawing/2014/main" id="{BF1EFC24-46AF-537F-05C9-7167A0B23119}"/>
              </a:ext>
            </a:extLst>
          </p:cNvPr>
          <p:cNvGrpSpPr>
            <a:grpSpLocks/>
          </p:cNvGrpSpPr>
          <p:nvPr/>
        </p:nvGrpSpPr>
        <p:grpSpPr bwMode="auto">
          <a:xfrm>
            <a:off x="8409151" y="5205691"/>
            <a:ext cx="603250" cy="838200"/>
            <a:chOff x="3456" y="3216"/>
            <a:chExt cx="380" cy="528"/>
          </a:xfrm>
        </p:grpSpPr>
        <p:sp>
          <p:nvSpPr>
            <p:cNvPr id="86" name="Line 29">
              <a:extLst>
                <a:ext uri="{FF2B5EF4-FFF2-40B4-BE49-F238E27FC236}">
                  <a16:creationId xmlns:a16="http://schemas.microsoft.com/office/drawing/2014/main" id="{4484AD26-3091-6A37-3BEA-DC3DCA9A24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3504"/>
              <a:ext cx="288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7" name="Object 30">
              <a:extLst>
                <a:ext uri="{FF2B5EF4-FFF2-40B4-BE49-F238E27FC236}">
                  <a16:creationId xmlns:a16="http://schemas.microsoft.com/office/drawing/2014/main" id="{D67AFEFF-6604-93A7-803B-23DCEFAE9F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8" y="3216"/>
            <a:ext cx="198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26720" imgH="152280" progId="Equation.3">
                    <p:embed/>
                  </p:oleObj>
                </mc:Choice>
                <mc:Fallback>
                  <p:oleObj name="公式" r:id="rId23" imgW="126720" imgH="152280" progId="Equation.3">
                    <p:embed/>
                    <p:pic>
                      <p:nvPicPr>
                        <p:cNvPr id="18441" name="Object 30">
                          <a:extLst>
                            <a:ext uri="{FF2B5EF4-FFF2-40B4-BE49-F238E27FC236}">
                              <a16:creationId xmlns:a16="http://schemas.microsoft.com/office/drawing/2014/main" id="{2AB13BAA-D34A-C486-C071-9F2D235903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8" y="3216"/>
                          <a:ext cx="198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" name="Group 35">
            <a:extLst>
              <a:ext uri="{FF2B5EF4-FFF2-40B4-BE49-F238E27FC236}">
                <a16:creationId xmlns:a16="http://schemas.microsoft.com/office/drawing/2014/main" id="{53297700-F627-877F-22A5-7FA3F87C4632}"/>
              </a:ext>
            </a:extLst>
          </p:cNvPr>
          <p:cNvGrpSpPr>
            <a:grpSpLocks/>
          </p:cNvGrpSpPr>
          <p:nvPr/>
        </p:nvGrpSpPr>
        <p:grpSpPr bwMode="auto">
          <a:xfrm>
            <a:off x="7494751" y="3910291"/>
            <a:ext cx="4191000" cy="2667000"/>
            <a:chOff x="2880" y="2400"/>
            <a:chExt cx="2640" cy="1680"/>
          </a:xfrm>
        </p:grpSpPr>
        <p:grpSp>
          <p:nvGrpSpPr>
            <p:cNvPr id="89" name="Group 36">
              <a:extLst>
                <a:ext uri="{FF2B5EF4-FFF2-40B4-BE49-F238E27FC236}">
                  <a16:creationId xmlns:a16="http://schemas.microsoft.com/office/drawing/2014/main" id="{FD6F2259-2B24-439C-BF6D-1C66F54B33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400"/>
              <a:ext cx="2640" cy="1680"/>
              <a:chOff x="2880" y="2400"/>
              <a:chExt cx="2640" cy="1680"/>
            </a:xfrm>
          </p:grpSpPr>
          <p:sp>
            <p:nvSpPr>
              <p:cNvPr id="91" name="Line 37">
                <a:extLst>
                  <a:ext uri="{FF2B5EF4-FFF2-40B4-BE49-F238E27FC236}">
                    <a16:creationId xmlns:a16="http://schemas.microsoft.com/office/drawing/2014/main" id="{70BE5B00-F027-FE4E-7589-1E793656B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3744"/>
                <a:ext cx="1392" cy="0"/>
              </a:xfrm>
              <a:prstGeom prst="line">
                <a:avLst/>
              </a:prstGeom>
              <a:noFill/>
              <a:ln w="1270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2" name="Group 38">
                <a:extLst>
                  <a:ext uri="{FF2B5EF4-FFF2-40B4-BE49-F238E27FC236}">
                    <a16:creationId xmlns:a16="http://schemas.microsoft.com/office/drawing/2014/main" id="{72486C41-BFAB-9B63-6454-5A83688329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6" y="3216"/>
                <a:ext cx="2064" cy="528"/>
                <a:chOff x="3504" y="1152"/>
                <a:chExt cx="2064" cy="528"/>
              </a:xfrm>
            </p:grpSpPr>
            <p:sp>
              <p:nvSpPr>
                <p:cNvPr id="98" name="Line 39">
                  <a:extLst>
                    <a:ext uri="{FF2B5EF4-FFF2-40B4-BE49-F238E27FC236}">
                      <a16:creationId xmlns:a16="http://schemas.microsoft.com/office/drawing/2014/main" id="{75DEC66E-6DEE-C261-9250-8CA61879EF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04" y="1152"/>
                  <a:ext cx="672" cy="528"/>
                </a:xfrm>
                <a:prstGeom prst="line">
                  <a:avLst/>
                </a:prstGeom>
                <a:noFill/>
                <a:ln w="12700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9" name="Line 40">
                  <a:extLst>
                    <a:ext uri="{FF2B5EF4-FFF2-40B4-BE49-F238E27FC236}">
                      <a16:creationId xmlns:a16="http://schemas.microsoft.com/office/drawing/2014/main" id="{829B8567-6CA0-7B61-15C3-5EF35AA72C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896" y="1152"/>
                  <a:ext cx="672" cy="528"/>
                </a:xfrm>
                <a:prstGeom prst="line">
                  <a:avLst/>
                </a:prstGeom>
                <a:noFill/>
                <a:ln w="12700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0" name="Line 41">
                  <a:extLst>
                    <a:ext uri="{FF2B5EF4-FFF2-40B4-BE49-F238E27FC236}">
                      <a16:creationId xmlns:a16="http://schemas.microsoft.com/office/drawing/2014/main" id="{3B9AA6CB-05E7-FB63-DB98-A64A6E3129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76" y="1152"/>
                  <a:ext cx="1392" cy="0"/>
                </a:xfrm>
                <a:prstGeom prst="line">
                  <a:avLst/>
                </a:prstGeom>
                <a:noFill/>
                <a:ln w="12700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Group 42">
                <a:extLst>
                  <a:ext uri="{FF2B5EF4-FFF2-40B4-BE49-F238E27FC236}">
                    <a16:creationId xmlns:a16="http://schemas.microsoft.com/office/drawing/2014/main" id="{C67A640A-0EAA-19D8-93FC-122D93076C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400"/>
                <a:ext cx="2160" cy="1680"/>
                <a:chOff x="2880" y="2400"/>
                <a:chExt cx="2160" cy="1680"/>
              </a:xfrm>
            </p:grpSpPr>
            <p:sp>
              <p:nvSpPr>
                <p:cNvPr id="94" name="Freeform 43">
                  <a:extLst>
                    <a:ext uri="{FF2B5EF4-FFF2-40B4-BE49-F238E27FC236}">
                      <a16:creationId xmlns:a16="http://schemas.microsoft.com/office/drawing/2014/main" id="{5254CF42-7426-3B74-488A-FEFDDDAC63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2400"/>
                  <a:ext cx="2160" cy="1352"/>
                </a:xfrm>
                <a:custGeom>
                  <a:avLst/>
                  <a:gdLst>
                    <a:gd name="T0" fmla="*/ 0 w 2112"/>
                    <a:gd name="T1" fmla="*/ 1056 h 1208"/>
                    <a:gd name="T2" fmla="*/ 576 w 2112"/>
                    <a:gd name="T3" fmla="*/ 1200 h 1208"/>
                    <a:gd name="T4" fmla="*/ 1200 w 2112"/>
                    <a:gd name="T5" fmla="*/ 1104 h 1208"/>
                    <a:gd name="T6" fmla="*/ 1680 w 2112"/>
                    <a:gd name="T7" fmla="*/ 816 h 1208"/>
                    <a:gd name="T8" fmla="*/ 2112 w 2112"/>
                    <a:gd name="T9" fmla="*/ 0 h 12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112"/>
                    <a:gd name="T16" fmla="*/ 0 h 1208"/>
                    <a:gd name="T17" fmla="*/ 2112 w 2112"/>
                    <a:gd name="T18" fmla="*/ 1208 h 12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112" h="1208">
                      <a:moveTo>
                        <a:pt x="0" y="1056"/>
                      </a:moveTo>
                      <a:cubicBezTo>
                        <a:pt x="188" y="1124"/>
                        <a:pt x="376" y="1192"/>
                        <a:pt x="576" y="1200"/>
                      </a:cubicBezTo>
                      <a:cubicBezTo>
                        <a:pt x="776" y="1208"/>
                        <a:pt x="1016" y="1168"/>
                        <a:pt x="1200" y="1104"/>
                      </a:cubicBezTo>
                      <a:cubicBezTo>
                        <a:pt x="1384" y="1040"/>
                        <a:pt x="1528" y="1000"/>
                        <a:pt x="1680" y="816"/>
                      </a:cubicBezTo>
                      <a:cubicBezTo>
                        <a:pt x="1832" y="632"/>
                        <a:pt x="1936" y="128"/>
                        <a:pt x="2112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pSp>
              <p:nvGrpSpPr>
                <p:cNvPr id="95" name="Group 44">
                  <a:extLst>
                    <a:ext uri="{FF2B5EF4-FFF2-40B4-BE49-F238E27FC236}">
                      <a16:creationId xmlns:a16="http://schemas.microsoft.com/office/drawing/2014/main" id="{668ADC6D-E09C-9466-2F47-42CA3A1541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68" y="3696"/>
                  <a:ext cx="336" cy="384"/>
                  <a:chOff x="3408" y="1344"/>
                  <a:chExt cx="336" cy="384"/>
                </a:xfrm>
              </p:grpSpPr>
              <p:sp>
                <p:nvSpPr>
                  <p:cNvPr id="96" name="Oval 45">
                    <a:extLst>
                      <a:ext uri="{FF2B5EF4-FFF2-40B4-BE49-F238E27FC236}">
                        <a16:creationId xmlns:a16="http://schemas.microsoft.com/office/drawing/2014/main" id="{3EE6E679-9D60-B65E-512D-46329E42CC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1344"/>
                    <a:ext cx="96" cy="96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97" name="Text Box 46">
                    <a:extLst>
                      <a:ext uri="{FF2B5EF4-FFF2-40B4-BE49-F238E27FC236}">
                        <a16:creationId xmlns:a16="http://schemas.microsoft.com/office/drawing/2014/main" id="{8030922B-D5DA-4175-B11A-A5F47045C14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08" y="1440"/>
                    <a:ext cx="287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kumimoji="1" lang="en-US" altLang="zh-CN" sz="2400">
                        <a:latin typeface="Times New Roman" panose="02020603050405020304" pitchFamily="18" charset="0"/>
                      </a:rPr>
                      <a:t>M</a:t>
                    </a:r>
                  </a:p>
                </p:txBody>
              </p:sp>
            </p:grpSp>
          </p:grpSp>
        </p:grpSp>
        <p:sp>
          <p:nvSpPr>
            <p:cNvPr id="90" name="Rectangle 47">
              <a:extLst>
                <a:ext uri="{FF2B5EF4-FFF2-40B4-BE49-F238E27FC236}">
                  <a16:creationId xmlns:a16="http://schemas.microsoft.com/office/drawing/2014/main" id="{024E34D4-A29F-37F7-5FDB-FD0A2E712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216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latin typeface="楷体_GB2312" panose="02010609030101010101" pitchFamily="49" charset="-122"/>
                  <a:ea typeface="楷体_GB2312" panose="02010609030101010101" pitchFamily="49" charset="-122"/>
                </a:rPr>
                <a:t>密切面</a:t>
              </a:r>
              <a:endParaRPr kumimoji="1" lang="zh-CN" altLang="en-US" sz="2800"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101" name="Group 63">
            <a:extLst>
              <a:ext uri="{FF2B5EF4-FFF2-40B4-BE49-F238E27FC236}">
                <a16:creationId xmlns:a16="http://schemas.microsoft.com/office/drawing/2014/main" id="{51D28D78-1264-4B6B-C1C9-9EB5E4E9BCBF}"/>
              </a:ext>
            </a:extLst>
          </p:cNvPr>
          <p:cNvGrpSpPr>
            <a:grpSpLocks/>
          </p:cNvGrpSpPr>
          <p:nvPr/>
        </p:nvGrpSpPr>
        <p:grpSpPr bwMode="auto">
          <a:xfrm>
            <a:off x="8394864" y="3843616"/>
            <a:ext cx="1665287" cy="2227263"/>
            <a:chOff x="3447" y="2358"/>
            <a:chExt cx="1049" cy="1403"/>
          </a:xfrm>
        </p:grpSpPr>
        <p:sp>
          <p:nvSpPr>
            <p:cNvPr id="102" name="AutoShape 61">
              <a:extLst>
                <a:ext uri="{FF2B5EF4-FFF2-40B4-BE49-F238E27FC236}">
                  <a16:creationId xmlns:a16="http://schemas.microsoft.com/office/drawing/2014/main" id="{C345E08D-94E9-F32E-CFD4-4ADB971237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3085" y="2720"/>
              <a:ext cx="1403" cy="680"/>
            </a:xfrm>
            <a:prstGeom prst="parallelogram">
              <a:avLst>
                <a:gd name="adj" fmla="val 79406"/>
              </a:avLst>
            </a:prstGeom>
            <a:noFill/>
            <a:ln w="12700">
              <a:solidFill>
                <a:srgbClr val="0066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3" name="Text Box 62">
              <a:extLst>
                <a:ext uri="{FF2B5EF4-FFF2-40B4-BE49-F238E27FC236}">
                  <a16:creationId xmlns:a16="http://schemas.microsoft.com/office/drawing/2014/main" id="{A0A67F7A-2A92-3F41-4102-2E2A5A09D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" y="2485"/>
              <a:ext cx="76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>
                  <a:ea typeface="楷体_GB2312" panose="02010609030101010101" pitchFamily="49" charset="-122"/>
                </a:rPr>
                <a:t>法平面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370722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nimBg="1"/>
      <p:bldP spid="12" grpId="0"/>
      <p:bldP spid="13" grpId="0" autoUpdateAnimBg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72160" y="1051389"/>
            <a:ext cx="654704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自然坐标轴系的几何性质</a:t>
            </a:r>
            <a:endParaRPr kumimoji="0"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2711624" y="1637578"/>
            <a:ext cx="7488832" cy="4599734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7" name="06-10">
            <a:hlinkClick r:id="" action="ppaction://media"/>
            <a:extLst>
              <a:ext uri="{FF2B5EF4-FFF2-40B4-BE49-F238E27FC236}">
                <a16:creationId xmlns:a16="http://schemas.microsoft.com/office/drawing/2014/main" id="{BE803799-7E38-4D7C-ADC5-BECA8C5D83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10862" y="1890166"/>
            <a:ext cx="5490356" cy="411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269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  <p:bldLst>
      <p:bldP spid="6" grpId="0" autoUpdateAnimBg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2711624" y="3149417"/>
            <a:ext cx="7488832" cy="3087895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082424" y="1124744"/>
            <a:ext cx="1663400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</a:p>
        </p:txBody>
      </p:sp>
      <p:graphicFrame>
        <p:nvGraphicFramePr>
          <p:cNvPr id="1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854638"/>
              </p:ext>
            </p:extLst>
          </p:nvPr>
        </p:nvGraphicFramePr>
        <p:xfrm>
          <a:off x="2322513" y="968375"/>
          <a:ext cx="4005262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360" imgH="393480" progId="Equation.DSMT4">
                  <p:embed/>
                </p:oleObj>
              </mc:Choice>
              <mc:Fallback>
                <p:oleObj name="Equation" r:id="rId3" imgW="1422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968375"/>
                        <a:ext cx="4005262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29"/>
          <p:cNvSpPr>
            <a:spLocks noChangeShapeType="1"/>
          </p:cNvSpPr>
          <p:nvPr/>
        </p:nvSpPr>
        <p:spPr bwMode="auto">
          <a:xfrm flipV="1">
            <a:off x="3267973" y="996800"/>
            <a:ext cx="647700" cy="1081088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6520902" y="1124744"/>
            <a:ext cx="1663400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方向同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946354"/>
              </p:ext>
            </p:extLst>
          </p:nvPr>
        </p:nvGraphicFramePr>
        <p:xfrm>
          <a:off x="7960751" y="1259580"/>
          <a:ext cx="416678" cy="430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20" imgH="126720" progId="Equation.DSMT4">
                  <p:embed/>
                </p:oleObj>
              </mc:Choice>
              <mc:Fallback>
                <p:oleObj name="Equation" r:id="rId5" imgW="114120" imgH="126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0751" y="1259580"/>
                        <a:ext cx="416678" cy="430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4879702" y="2270667"/>
            <a:ext cx="1663400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</a:t>
            </a:r>
          </a:p>
        </p:txBody>
      </p:sp>
      <p:graphicFrame>
        <p:nvGraphicFramePr>
          <p:cNvPr id="2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523302"/>
              </p:ext>
            </p:extLst>
          </p:nvPr>
        </p:nvGraphicFramePr>
        <p:xfrm>
          <a:off x="6826936" y="2003494"/>
          <a:ext cx="13335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7960" imgH="355320" progId="Equation.DSMT4">
                  <p:embed/>
                </p:oleObj>
              </mc:Choice>
              <mc:Fallback>
                <p:oleObj name="Equation" r:id="rId7" imgW="5079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936" y="2003494"/>
                        <a:ext cx="13335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3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013" y="3452306"/>
            <a:ext cx="53721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Object 49">
            <a:extLst>
              <a:ext uri="{FF2B5EF4-FFF2-40B4-BE49-F238E27FC236}">
                <a16:creationId xmlns:a16="http://schemas.microsoft.com/office/drawing/2014/main" id="{D92C26FD-6739-3F75-8513-4AF0BC49C1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430082"/>
              </p:ext>
            </p:extLst>
          </p:nvPr>
        </p:nvGraphicFramePr>
        <p:xfrm>
          <a:off x="983432" y="2207652"/>
          <a:ext cx="31384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09400" imgH="393480" progId="Equation.3">
                  <p:embed/>
                </p:oleObj>
              </mc:Choice>
              <mc:Fallback>
                <p:oleObj name="公式" r:id="rId10" imgW="1409400" imgH="393480" progId="Equation.3">
                  <p:embed/>
                  <p:pic>
                    <p:nvPicPr>
                      <p:cNvPr id="20486" name="Object 49">
                        <a:extLst>
                          <a:ext uri="{FF2B5EF4-FFF2-40B4-BE49-F238E27FC236}">
                            <a16:creationId xmlns:a16="http://schemas.microsoft.com/office/drawing/2014/main" id="{9AF34E4F-857C-FB51-23F0-4E23343418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2207652"/>
                        <a:ext cx="31384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16413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/>
      <p:bldP spid="13" grpId="0" animBg="1"/>
      <p:bldP spid="14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935686" y="1051389"/>
            <a:ext cx="654704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用自然坐标表示点的速度</a:t>
            </a:r>
            <a:endParaRPr kumimoji="0"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7464152" y="1196752"/>
            <a:ext cx="4248472" cy="3672408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581068"/>
              </p:ext>
            </p:extLst>
          </p:nvPr>
        </p:nvGraphicFramePr>
        <p:xfrm>
          <a:off x="1050925" y="1666875"/>
          <a:ext cx="410210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09400" imgH="355320" progId="Equation.DSMT4">
                  <p:embed/>
                </p:oleObj>
              </mc:Choice>
              <mc:Fallback>
                <p:oleObj name="Equation" r:id="rId3" imgW="14094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1666875"/>
                        <a:ext cx="410210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4D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935686" y="2728257"/>
            <a:ext cx="654704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用自然坐标表示点的加速度</a:t>
            </a:r>
            <a:endParaRPr kumimoji="0"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672855"/>
              </p:ext>
            </p:extLst>
          </p:nvPr>
        </p:nvGraphicFramePr>
        <p:xfrm>
          <a:off x="1030288" y="3368675"/>
          <a:ext cx="314483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80800" imgH="355320" progId="Equation.DSMT4">
                  <p:embed/>
                </p:oleObj>
              </mc:Choice>
              <mc:Fallback>
                <p:oleObj name="Equation" r:id="rId5" imgW="118080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3368675"/>
                        <a:ext cx="3144837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35"/>
          <p:cNvGrpSpPr>
            <a:grpSpLocks/>
          </p:cNvGrpSpPr>
          <p:nvPr/>
        </p:nvGrpSpPr>
        <p:grpSpPr bwMode="auto">
          <a:xfrm>
            <a:off x="990519" y="4369581"/>
            <a:ext cx="4165600" cy="976313"/>
            <a:chOff x="0" y="0"/>
            <a:chExt cx="2624" cy="615"/>
          </a:xfrm>
        </p:grpSpPr>
        <p:graphicFrame>
          <p:nvGraphicFramePr>
            <p:cNvPr id="13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6846483"/>
                </p:ext>
              </p:extLst>
            </p:nvPr>
          </p:nvGraphicFramePr>
          <p:xfrm>
            <a:off x="848" y="0"/>
            <a:ext cx="1776" cy="6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66680" imgH="368280" progId="Equation.DSMT4">
                    <p:embed/>
                  </p:oleObj>
                </mc:Choice>
                <mc:Fallback>
                  <p:oleObj name="Equation" r:id="rId7" imgW="1066680" imgH="368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8" y="0"/>
                          <a:ext cx="1776" cy="6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tx1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37"/>
            <p:cNvSpPr txBox="1">
              <a:spLocks noChangeArrowheads="1"/>
            </p:cNvSpPr>
            <p:nvPr/>
          </p:nvSpPr>
          <p:spPr bwMode="auto">
            <a:xfrm>
              <a:off x="0" y="129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•"/>
                <a:defRPr kumimoji="1" sz="24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i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代入</a:t>
              </a:r>
            </a:p>
          </p:txBody>
        </p:sp>
      </p:grpSp>
      <p:grpSp>
        <p:nvGrpSpPr>
          <p:cNvPr id="15" name="Group 38"/>
          <p:cNvGrpSpPr>
            <a:grpSpLocks/>
          </p:cNvGrpSpPr>
          <p:nvPr/>
        </p:nvGrpSpPr>
        <p:grpSpPr bwMode="auto">
          <a:xfrm>
            <a:off x="990519" y="5252231"/>
            <a:ext cx="4722813" cy="992188"/>
            <a:chOff x="0" y="0"/>
            <a:chExt cx="2975" cy="625"/>
          </a:xfrm>
        </p:grpSpPr>
        <p:graphicFrame>
          <p:nvGraphicFramePr>
            <p:cNvPr id="16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0722227"/>
                </p:ext>
              </p:extLst>
            </p:nvPr>
          </p:nvGraphicFramePr>
          <p:xfrm>
            <a:off x="594" y="0"/>
            <a:ext cx="2381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498320" imgH="393480" progId="Equation.DSMT4">
                    <p:embed/>
                  </p:oleObj>
                </mc:Choice>
                <mc:Fallback>
                  <p:oleObj name="Equation" r:id="rId9" imgW="1498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" y="0"/>
                          <a:ext cx="2381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tx1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40"/>
            <p:cNvSpPr txBox="1">
              <a:spLocks noChangeArrowheads="1"/>
            </p:cNvSpPr>
            <p:nvPr/>
          </p:nvSpPr>
          <p:spPr bwMode="auto">
            <a:xfrm>
              <a:off x="0" y="192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•"/>
                <a:defRPr kumimoji="1" sz="24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i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则</a:t>
              </a:r>
            </a:p>
          </p:txBody>
        </p:sp>
      </p:grpSp>
      <p:pic>
        <p:nvPicPr>
          <p:cNvPr id="19" name="Picture 3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719" y="1948693"/>
            <a:ext cx="3335338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135331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6312024" y="1196752"/>
            <a:ext cx="5400600" cy="324036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23392" y="4639291"/>
            <a:ext cx="2592288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曲线匀速运动</a:t>
            </a:r>
            <a:endParaRPr kumimoji="0"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905965"/>
              </p:ext>
            </p:extLst>
          </p:nvPr>
        </p:nvGraphicFramePr>
        <p:xfrm>
          <a:off x="767407" y="1115207"/>
          <a:ext cx="1778999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76681" imgH="419282" progId="Equation.3">
                  <p:embed/>
                </p:oleObj>
              </mc:Choice>
              <mc:Fallback>
                <p:oleObj r:id="rId3" imgW="876681" imgH="41928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7" y="1115207"/>
                        <a:ext cx="1778999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801309"/>
              </p:ext>
            </p:extLst>
          </p:nvPr>
        </p:nvGraphicFramePr>
        <p:xfrm>
          <a:off x="767408" y="2123269"/>
          <a:ext cx="2223601" cy="873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30300" imgH="444500" progId="Equation.3">
                  <p:embed/>
                </p:oleObj>
              </mc:Choice>
              <mc:Fallback>
                <p:oleObj r:id="rId5" imgW="1130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8" y="2123269"/>
                        <a:ext cx="2223601" cy="873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394634"/>
              </p:ext>
            </p:extLst>
          </p:nvPr>
        </p:nvGraphicFramePr>
        <p:xfrm>
          <a:off x="767406" y="3330575"/>
          <a:ext cx="2016225" cy="626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25480" imgH="291960" progId="Equation.DSMT4">
                  <p:embed/>
                </p:oleObj>
              </mc:Choice>
              <mc:Fallback>
                <p:oleObj name="Equation" r:id="rId7" imgW="8254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06" y="3330575"/>
                        <a:ext cx="2016225" cy="626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5"/>
          <p:cNvSpPr txBox="1">
            <a:spLocks noChangeArrowheads="1"/>
          </p:cNvSpPr>
          <p:nvPr/>
        </p:nvSpPr>
        <p:spPr bwMode="auto">
          <a:xfrm>
            <a:off x="3394758" y="1346510"/>
            <a:ext cx="34591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2800" i="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切向加速度</a:t>
            </a: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3394758" y="2298500"/>
            <a:ext cx="34591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2800" i="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法向加速度</a:t>
            </a:r>
          </a:p>
        </p:txBody>
      </p:sp>
      <p:pic>
        <p:nvPicPr>
          <p:cNvPr id="24" name="Picture 28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8"/>
          <a:stretch/>
        </p:blipFill>
        <p:spPr bwMode="auto">
          <a:xfrm>
            <a:off x="6470470" y="1727113"/>
            <a:ext cx="5083707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5879976" y="4738162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b="1" i="0" dirty="0">
                <a:latin typeface="Times New Roman" panose="02020603050405020304" pitchFamily="18" charset="0"/>
                <a:ea typeface="黑体" panose="02010609060101010101" pitchFamily="49" charset="-122"/>
              </a:rPr>
              <a:t>常数</a:t>
            </a:r>
          </a:p>
        </p:txBody>
      </p:sp>
      <p:graphicFrame>
        <p:nvGraphicFramePr>
          <p:cNvPr id="2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92851"/>
              </p:ext>
            </p:extLst>
          </p:nvPr>
        </p:nvGraphicFramePr>
        <p:xfrm>
          <a:off x="3779838" y="4810125"/>
          <a:ext cx="457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19486" imgH="380835" progId="Equation.DSMT4">
                  <p:embed/>
                </p:oleObj>
              </mc:Choice>
              <mc:Fallback>
                <p:oleObj name="Equation" r:id="rId10" imgW="3719486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4810125"/>
                        <a:ext cx="4572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623392" y="5465302"/>
            <a:ext cx="2771366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曲线匀变速运动</a:t>
            </a:r>
            <a:endParaRPr kumimoji="0"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4315166" y="5557276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b="1" i="0" dirty="0">
                <a:latin typeface="Times New Roman" panose="02020603050405020304" pitchFamily="18" charset="0"/>
                <a:ea typeface="黑体" panose="02010609060101010101" pitchFamily="49" charset="-122"/>
              </a:rPr>
              <a:t>常数</a:t>
            </a:r>
          </a:p>
        </p:txBody>
      </p:sp>
      <p:graphicFrame>
        <p:nvGraphicFramePr>
          <p:cNvPr id="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993543"/>
              </p:ext>
            </p:extLst>
          </p:nvPr>
        </p:nvGraphicFramePr>
        <p:xfrm>
          <a:off x="3779838" y="5423926"/>
          <a:ext cx="58515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760434" imgH="723586" progId="Equation.DSMT4">
                  <p:embed/>
                </p:oleObj>
              </mc:Choice>
              <mc:Fallback>
                <p:oleObj name="Equation" r:id="rId12" imgW="4760434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423926"/>
                        <a:ext cx="58515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8074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22" grpId="0" autoUpdateAnimBg="0"/>
      <p:bldP spid="23" grpId="0" autoUpdateAnimBg="0"/>
      <p:bldP spid="26" grpId="0"/>
      <p:bldP spid="28" grpId="0" autoUpdateAnimBg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7632576" y="1833659"/>
            <a:ext cx="3936032" cy="3560111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1F0C48C-A627-13CD-6DA5-887C1F783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802970"/>
            <a:ext cx="10801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None/>
            </a:pPr>
            <a:r>
              <a:rPr lang="zh-CN" altLang="en-US" b="1" i="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杆</a:t>
            </a:r>
            <a:r>
              <a:rPr lang="en-US" altLang="zh-CN" b="0" dirty="0">
                <a:latin typeface="+mn-lt"/>
              </a:rPr>
              <a:t>AB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的</a:t>
            </a:r>
            <a:r>
              <a:rPr lang="en-US" altLang="zh-CN" b="0" dirty="0">
                <a:latin typeface="+mn-lt"/>
              </a:rPr>
              <a:t>A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端铰接固定，环</a:t>
            </a:r>
            <a:r>
              <a:rPr lang="en-US" altLang="zh-CN" b="0" dirty="0">
                <a:latin typeface="+mn-lt"/>
              </a:rPr>
              <a:t>M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r>
              <a:rPr lang="en-US" altLang="zh-CN" b="0" dirty="0">
                <a:latin typeface="+mn-lt"/>
              </a:rPr>
              <a:t>AB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杆与半径为</a:t>
            </a:r>
            <a:r>
              <a:rPr lang="en-US" altLang="zh-CN" b="0" dirty="0">
                <a:latin typeface="+mn-lt"/>
              </a:rPr>
              <a:t>R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的固定圆环套在一起，</a:t>
            </a:r>
            <a:r>
              <a:rPr lang="en-US" altLang="zh-CN" b="0" dirty="0">
                <a:latin typeface="+mn-lt"/>
              </a:rPr>
              <a:t>AB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与垂线之夹角为</a:t>
            </a:r>
            <a:r>
              <a:rPr lang="zh-CN" altLang="en-US" b="0" dirty="0">
                <a:latin typeface="+mn-lt"/>
                <a:sym typeface="Symbol" panose="05050102010706020507" pitchFamily="18" charset="2"/>
              </a:rPr>
              <a:t></a:t>
            </a:r>
            <a:r>
              <a:rPr lang="en-US" altLang="zh-CN" b="0" dirty="0">
                <a:latin typeface="+mn-lt"/>
              </a:rPr>
              <a:t>=</a:t>
            </a:r>
            <a:r>
              <a:rPr lang="en-US" altLang="zh-CN" b="0" dirty="0">
                <a:latin typeface="+mn-lt"/>
                <a:sym typeface="Symbol" panose="05050102010706020507" pitchFamily="18" charset="2"/>
              </a:rPr>
              <a:t></a:t>
            </a:r>
            <a:r>
              <a:rPr lang="en-US" altLang="zh-CN" b="0" dirty="0">
                <a:latin typeface="+mn-lt"/>
              </a:rPr>
              <a:t>t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，如图所示求套环</a:t>
            </a:r>
            <a:r>
              <a:rPr lang="en-US" altLang="zh-CN" b="0" dirty="0">
                <a:latin typeface="+mn-lt"/>
              </a:rPr>
              <a:t>M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的运动方程、速度和加速度。 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C1B164D-E02F-BAEF-96F7-58138EE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637740"/>
            <a:ext cx="6836872" cy="1791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以环</a:t>
            </a:r>
            <a:r>
              <a:rPr lang="en-US" altLang="zh-CN" b="0" dirty="0">
                <a:latin typeface="+mj-lt"/>
              </a:rPr>
              <a:t>M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为研究对象，</a:t>
            </a:r>
            <a:r>
              <a:rPr lang="zh-CN" altLang="en-US" i="0" dirty="0">
                <a:latin typeface="+mn-lt"/>
                <a:ea typeface="黑体" panose="02010609060101010101" pitchFamily="49" charset="-122"/>
              </a:rPr>
              <a:t>由于环</a:t>
            </a:r>
            <a:r>
              <a:rPr lang="en-US" altLang="zh-CN" b="0" dirty="0">
                <a:latin typeface="+mn-lt"/>
              </a:rPr>
              <a:t>M</a:t>
            </a:r>
            <a:r>
              <a:rPr lang="zh-CN" altLang="en-US" i="0" dirty="0">
                <a:latin typeface="+mn-lt"/>
                <a:ea typeface="黑体" panose="02010609060101010101" pitchFamily="49" charset="-122"/>
              </a:rPr>
              <a:t>的运动轨迹已知，故采用自然坐标法求解。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以圆环上</a:t>
            </a:r>
            <a:r>
              <a:rPr lang="en-US" altLang="zh-CN" dirty="0">
                <a:latin typeface="+mn-lt"/>
              </a:rPr>
              <a:t>O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'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点为弧坐标原点，顺时针为弧坐标正向，建立弧坐标轴</a:t>
            </a:r>
            <a:r>
              <a:rPr lang="zh-CN" altLang="en-US" i="0" dirty="0">
                <a:ea typeface="黑体" panose="02010609060101010101" pitchFamily="49" charset="-122"/>
              </a:rPr>
              <a:t>。</a:t>
            </a:r>
            <a:endParaRPr lang="zh-CN" altLang="en-US" i="0" dirty="0">
              <a:latin typeface="+mj-lt"/>
              <a:ea typeface="黑体" panose="02010609060101010101" pitchFamily="49" charset="-122"/>
            </a:endParaRPr>
          </a:p>
          <a:p>
            <a:pPr algn="l">
              <a:spcBef>
                <a:spcPct val="0"/>
              </a:spcBef>
              <a:buClrTx/>
              <a:buSzTx/>
              <a:buNone/>
            </a:pPr>
            <a:endParaRPr lang="zh-CN" altLang="en-US" i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3329992C-FF46-434E-0D33-78C635A479B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442712">
            <a:off x="9628928" y="2241121"/>
            <a:ext cx="5334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i="1">
                <a:solidFill>
                  <a:schemeClr val="tx1"/>
                </a:solidFill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5" name="Arc 17">
            <a:extLst>
              <a:ext uri="{FF2B5EF4-FFF2-40B4-BE49-F238E27FC236}">
                <a16:creationId xmlns:a16="http://schemas.microsoft.com/office/drawing/2014/main" id="{37F5E62D-B84D-0C35-3197-F5C89DDADFA7}"/>
              </a:ext>
            </a:extLst>
          </p:cNvPr>
          <p:cNvSpPr>
            <a:spLocks noChangeAspect="1"/>
          </p:cNvSpPr>
          <p:nvPr/>
        </p:nvSpPr>
        <p:spPr bwMode="auto">
          <a:xfrm rot="3465806" flipH="1">
            <a:off x="9535265" y="3082496"/>
            <a:ext cx="274638" cy="31273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054"/>
              <a:gd name="T1" fmla="*/ 0 h 21600"/>
              <a:gd name="T2" fmla="*/ 21054 w 21054"/>
              <a:gd name="T3" fmla="*/ 16773 h 21600"/>
              <a:gd name="T4" fmla="*/ 0 w 2105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054" h="21600" fill="none" extrusionOk="0">
                <a:moveTo>
                  <a:pt x="-1" y="0"/>
                </a:moveTo>
                <a:cubicBezTo>
                  <a:pt x="10069" y="0"/>
                  <a:pt x="18803" y="6958"/>
                  <a:pt x="21053" y="16773"/>
                </a:cubicBezTo>
              </a:path>
              <a:path w="21054" h="21600" stroke="0" extrusionOk="0">
                <a:moveTo>
                  <a:pt x="-1" y="0"/>
                </a:moveTo>
                <a:cubicBezTo>
                  <a:pt x="10069" y="0"/>
                  <a:pt x="18803" y="6958"/>
                  <a:pt x="21053" y="16773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FE945204-5474-627A-1291-88F358F47725}"/>
              </a:ext>
            </a:extLst>
          </p:cNvPr>
          <p:cNvGrpSpPr>
            <a:grpSpLocks/>
          </p:cNvGrpSpPr>
          <p:nvPr/>
        </p:nvGrpSpPr>
        <p:grpSpPr bwMode="auto">
          <a:xfrm>
            <a:off x="8050953" y="1618821"/>
            <a:ext cx="3281362" cy="3551238"/>
            <a:chOff x="3600" y="0"/>
            <a:chExt cx="2067" cy="2237"/>
          </a:xfrm>
        </p:grpSpPr>
        <p:sp>
          <p:nvSpPr>
            <p:cNvPr id="8" name="Text Box 19">
              <a:extLst>
                <a:ext uri="{FF2B5EF4-FFF2-40B4-BE49-F238E27FC236}">
                  <a16:creationId xmlns:a16="http://schemas.microsoft.com/office/drawing/2014/main" id="{C4A02757-1D09-3832-CA5B-E222B1DBCC5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29" y="1216"/>
              <a:ext cx="23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endParaRPr lang="zh-CN" altLang="zh-CN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Oval 20">
              <a:extLst>
                <a:ext uri="{FF2B5EF4-FFF2-40B4-BE49-F238E27FC236}">
                  <a16:creationId xmlns:a16="http://schemas.microsoft.com/office/drawing/2014/main" id="{4CF36CB9-EC62-7971-32E4-0D379EBE7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625"/>
              <a:ext cx="1353" cy="1353"/>
            </a:xfrm>
            <a:prstGeom prst="ellipse">
              <a:avLst/>
            </a:prstGeom>
            <a:noFill/>
            <a:ln w="5715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FFFF66">
                          <a:gamma/>
                          <a:tint val="0"/>
                          <a:invGamma/>
                        </a:srgbClr>
                      </a:gs>
                      <a:gs pos="100000">
                        <a:srgbClr val="FFFF66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AutoShape 21">
              <a:extLst>
                <a:ext uri="{FF2B5EF4-FFF2-40B4-BE49-F238E27FC236}">
                  <a16:creationId xmlns:a16="http://schemas.microsoft.com/office/drawing/2014/main" id="{9ED44EDE-2EAE-50C5-C07F-7AA186F4A7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159024">
              <a:off x="3917" y="1137"/>
              <a:ext cx="1848" cy="5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3529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Text Box 22">
              <a:extLst>
                <a:ext uri="{FF2B5EF4-FFF2-40B4-BE49-F238E27FC236}">
                  <a16:creationId xmlns:a16="http://schemas.microsoft.com/office/drawing/2014/main" id="{6873C645-CBFC-D9EA-E475-665619AA415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64" y="138"/>
              <a:ext cx="256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2"/>
                  </a:solidFill>
                  <a:ea typeface="宋体" panose="02010600030101010101" pitchFamily="2" charset="-122"/>
                </a:rPr>
                <a:t>B</a:t>
              </a:r>
              <a:endParaRPr lang="en-US" altLang="zh-CN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4" name="Group 23">
              <a:extLst>
                <a:ext uri="{FF2B5EF4-FFF2-40B4-BE49-F238E27FC236}">
                  <a16:creationId xmlns:a16="http://schemas.microsoft.com/office/drawing/2014/main" id="{544DDB93-5CA1-B631-4B2B-56469D066740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423" y="1831"/>
              <a:ext cx="357" cy="455"/>
              <a:chOff x="3681" y="807"/>
              <a:chExt cx="425" cy="532"/>
            </a:xfrm>
          </p:grpSpPr>
          <p:sp>
            <p:nvSpPr>
              <p:cNvPr id="35" name="AutoShape 24">
                <a:extLst>
                  <a:ext uri="{FF2B5EF4-FFF2-40B4-BE49-F238E27FC236}">
                    <a16:creationId xmlns:a16="http://schemas.microsoft.com/office/drawing/2014/main" id="{7D449E1A-EEBE-0C8B-A127-E947BD0E8F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762" y="881"/>
                <a:ext cx="202" cy="196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66FF33">
                      <a:gamma/>
                      <a:shade val="46275"/>
                      <a:invGamma/>
                    </a:srgbClr>
                  </a:gs>
                  <a:gs pos="50000">
                    <a:srgbClr val="66FF33"/>
                  </a:gs>
                  <a:gs pos="100000">
                    <a:srgbClr val="66FF33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Text Box 25">
                <a:extLst>
                  <a:ext uri="{FF2B5EF4-FFF2-40B4-BE49-F238E27FC236}">
                    <a16:creationId xmlns:a16="http://schemas.microsoft.com/office/drawing/2014/main" id="{AD4A651B-A899-0E16-9547-9289C8A3E18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798" y="1031"/>
                <a:ext cx="336" cy="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A</a:t>
                </a:r>
                <a:endParaRPr lang="en-US" altLang="zh-CN" baseline="-25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7" name="Oval 26">
                <a:extLst>
                  <a:ext uri="{FF2B5EF4-FFF2-40B4-BE49-F238E27FC236}">
                    <a16:creationId xmlns:a16="http://schemas.microsoft.com/office/drawing/2014/main" id="{01FD5F51-4F69-6FFB-DE14-CCFF18030B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905" y="947"/>
                <a:ext cx="64" cy="64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Rectangle 27">
                <a:extLst>
                  <a:ext uri="{FF2B5EF4-FFF2-40B4-BE49-F238E27FC236}">
                    <a16:creationId xmlns:a16="http://schemas.microsoft.com/office/drawing/2014/main" id="{44891BBF-ED65-7EB5-6970-CB8A51D649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558" y="931"/>
                <a:ext cx="342" cy="96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CC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28">
                <a:extLst>
                  <a:ext uri="{FF2B5EF4-FFF2-40B4-BE49-F238E27FC236}">
                    <a16:creationId xmlns:a16="http://schemas.microsoft.com/office/drawing/2014/main" id="{FB31ABC2-C17C-772E-F61A-397D601D0CC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3612" y="978"/>
                <a:ext cx="344" cy="1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" name="Line 29">
              <a:extLst>
                <a:ext uri="{FF2B5EF4-FFF2-40B4-BE49-F238E27FC236}">
                  <a16:creationId xmlns:a16="http://schemas.microsoft.com/office/drawing/2014/main" id="{99CC1C82-AAED-D0FF-0B41-660FBC88DF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620" y="279"/>
              <a:ext cx="0" cy="20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30">
              <a:extLst>
                <a:ext uri="{FF2B5EF4-FFF2-40B4-BE49-F238E27FC236}">
                  <a16:creationId xmlns:a16="http://schemas.microsoft.com/office/drawing/2014/main" id="{E3BA6AF7-401B-0042-AB78-2C9ADA4AF1E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92" y="623"/>
              <a:ext cx="33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18" name="Arc 31">
              <a:extLst>
                <a:ext uri="{FF2B5EF4-FFF2-40B4-BE49-F238E27FC236}">
                  <a16:creationId xmlns:a16="http://schemas.microsoft.com/office/drawing/2014/main" id="{8D12C66B-D65B-1FB7-F5C0-75BE54DEC371}"/>
                </a:ext>
              </a:extLst>
            </p:cNvPr>
            <p:cNvSpPr>
              <a:spLocks noChangeAspect="1"/>
            </p:cNvSpPr>
            <p:nvPr/>
          </p:nvSpPr>
          <p:spPr bwMode="auto">
            <a:xfrm rot="2759606" flipH="1">
              <a:off x="4486" y="1581"/>
              <a:ext cx="123" cy="185"/>
            </a:xfrm>
            <a:custGeom>
              <a:avLst/>
              <a:gdLst>
                <a:gd name="G0" fmla="+- 0 0 0"/>
                <a:gd name="G1" fmla="+- 20331 0 0"/>
                <a:gd name="G2" fmla="+- 21600 0 0"/>
                <a:gd name="T0" fmla="*/ 7295 w 18768"/>
                <a:gd name="T1" fmla="*/ 0 h 20331"/>
                <a:gd name="T2" fmla="*/ 18768 w 18768"/>
                <a:gd name="T3" fmla="*/ 9639 h 20331"/>
                <a:gd name="T4" fmla="*/ 0 w 18768"/>
                <a:gd name="T5" fmla="*/ 20331 h 20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768" h="20331" fill="none" extrusionOk="0">
                  <a:moveTo>
                    <a:pt x="7294" y="0"/>
                  </a:moveTo>
                  <a:cubicBezTo>
                    <a:pt x="12146" y="1741"/>
                    <a:pt x="16216" y="5159"/>
                    <a:pt x="18768" y="9638"/>
                  </a:cubicBezTo>
                </a:path>
                <a:path w="18768" h="20331" stroke="0" extrusionOk="0">
                  <a:moveTo>
                    <a:pt x="7294" y="0"/>
                  </a:moveTo>
                  <a:cubicBezTo>
                    <a:pt x="12146" y="1741"/>
                    <a:pt x="16216" y="5159"/>
                    <a:pt x="18768" y="9638"/>
                  </a:cubicBezTo>
                  <a:lnTo>
                    <a:pt x="0" y="2033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32">
              <a:extLst>
                <a:ext uri="{FF2B5EF4-FFF2-40B4-BE49-F238E27FC236}">
                  <a16:creationId xmlns:a16="http://schemas.microsoft.com/office/drawing/2014/main" id="{7EAA983C-180F-ACC5-E39B-5804BC51745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76" y="1060"/>
              <a:ext cx="3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  <a:endParaRPr lang="en-US" altLang="zh-CN" baseline="-25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Text Box 33">
              <a:extLst>
                <a:ext uri="{FF2B5EF4-FFF2-40B4-BE49-F238E27FC236}">
                  <a16:creationId xmlns:a16="http://schemas.microsoft.com/office/drawing/2014/main" id="{326BFCE5-81A2-A4A4-13B2-4C5DF67ADF0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40" y="397"/>
              <a:ext cx="3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lang="en-US" altLang="zh-CN" baseline="-250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E8184544-5AE3-7C41-2739-9C55850730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609" y="1081"/>
              <a:ext cx="1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Arc 35">
              <a:extLst>
                <a:ext uri="{FF2B5EF4-FFF2-40B4-BE49-F238E27FC236}">
                  <a16:creationId xmlns:a16="http://schemas.microsoft.com/office/drawing/2014/main" id="{DA978394-5D0E-199F-2FA2-8BF1B2DC4334}"/>
                </a:ext>
              </a:extLst>
            </p:cNvPr>
            <p:cNvSpPr>
              <a:spLocks/>
            </p:cNvSpPr>
            <p:nvPr/>
          </p:nvSpPr>
          <p:spPr bwMode="auto">
            <a:xfrm rot="19173226" flipH="1">
              <a:off x="4919" y="763"/>
              <a:ext cx="112" cy="114"/>
            </a:xfrm>
            <a:custGeom>
              <a:avLst/>
              <a:gdLst>
                <a:gd name="G0" fmla="+- 21503 0 0"/>
                <a:gd name="G1" fmla="+- 21330 0 0"/>
                <a:gd name="G2" fmla="+- 21600 0 0"/>
                <a:gd name="T0" fmla="*/ 24910 w 43103"/>
                <a:gd name="T1" fmla="*/ 0 h 42930"/>
                <a:gd name="T2" fmla="*/ 0 w 43103"/>
                <a:gd name="T3" fmla="*/ 23370 h 42930"/>
                <a:gd name="T4" fmla="*/ 21503 w 43103"/>
                <a:gd name="T5" fmla="*/ 21330 h 42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03" h="42930" fill="none" extrusionOk="0">
                  <a:moveTo>
                    <a:pt x="24909" y="0"/>
                  </a:moveTo>
                  <a:cubicBezTo>
                    <a:pt x="35391" y="1674"/>
                    <a:pt x="43103" y="10715"/>
                    <a:pt x="43103" y="21330"/>
                  </a:cubicBezTo>
                  <a:cubicBezTo>
                    <a:pt x="43103" y="33259"/>
                    <a:pt x="33432" y="42930"/>
                    <a:pt x="21503" y="42930"/>
                  </a:cubicBezTo>
                  <a:cubicBezTo>
                    <a:pt x="10363" y="42930"/>
                    <a:pt x="1051" y="34459"/>
                    <a:pt x="-1" y="23370"/>
                  </a:cubicBezTo>
                </a:path>
                <a:path w="43103" h="42930" stroke="0" extrusionOk="0">
                  <a:moveTo>
                    <a:pt x="24909" y="0"/>
                  </a:moveTo>
                  <a:cubicBezTo>
                    <a:pt x="35391" y="1674"/>
                    <a:pt x="43103" y="10715"/>
                    <a:pt x="43103" y="21330"/>
                  </a:cubicBezTo>
                  <a:cubicBezTo>
                    <a:pt x="43103" y="33259"/>
                    <a:pt x="33432" y="42930"/>
                    <a:pt x="21503" y="42930"/>
                  </a:cubicBezTo>
                  <a:cubicBezTo>
                    <a:pt x="10363" y="42930"/>
                    <a:pt x="1051" y="34459"/>
                    <a:pt x="-1" y="23370"/>
                  </a:cubicBezTo>
                  <a:lnTo>
                    <a:pt x="21503" y="21330"/>
                  </a:lnTo>
                  <a:close/>
                </a:path>
              </a:pathLst>
            </a:custGeom>
            <a:noFill/>
            <a:ln w="381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Text Box 36">
              <a:extLst>
                <a:ext uri="{FF2B5EF4-FFF2-40B4-BE49-F238E27FC236}">
                  <a16:creationId xmlns:a16="http://schemas.microsoft.com/office/drawing/2014/main" id="{CCD223A8-2029-0A05-F5B7-1D5FA5D653F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8" y="0"/>
              <a:ext cx="33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endParaRPr lang="zh-CN" altLang="zh-CN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Text Box 37">
              <a:extLst>
                <a:ext uri="{FF2B5EF4-FFF2-40B4-BE49-F238E27FC236}">
                  <a16:creationId xmlns:a16="http://schemas.microsoft.com/office/drawing/2014/main" id="{1FFAE247-4912-0A31-FAC6-432CDB18006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5" y="1335"/>
              <a:ext cx="27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</a:t>
              </a:r>
            </a:p>
          </p:txBody>
        </p:sp>
      </p:grpSp>
      <p:sp>
        <p:nvSpPr>
          <p:cNvPr id="40" name="Text Box 38">
            <a:extLst>
              <a:ext uri="{FF2B5EF4-FFF2-40B4-BE49-F238E27FC236}">
                <a16:creationId xmlns:a16="http://schemas.microsoft.com/office/drawing/2014/main" id="{6D9D47B5-D4E6-9D5B-9AD1-29FD450D30A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82878" y="2712609"/>
            <a:ext cx="5476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2B0027EC-CF2D-F5A0-DB30-1A2D403550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09865" y="2874534"/>
            <a:ext cx="738188" cy="803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Text Box 68">
            <a:extLst>
              <a:ext uri="{FF2B5EF4-FFF2-40B4-BE49-F238E27FC236}">
                <a16:creationId xmlns:a16="http://schemas.microsoft.com/office/drawing/2014/main" id="{651F0A2B-A75C-6D38-36F5-E47F99AAC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9003" y="2988834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43" name="Arc 69">
            <a:extLst>
              <a:ext uri="{FF2B5EF4-FFF2-40B4-BE49-F238E27FC236}">
                <a16:creationId xmlns:a16="http://schemas.microsoft.com/office/drawing/2014/main" id="{CE4F9A4F-603E-1D04-B402-4F40B64B4FA3}"/>
              </a:ext>
            </a:extLst>
          </p:cNvPr>
          <p:cNvSpPr>
            <a:spLocks/>
          </p:cNvSpPr>
          <p:nvPr/>
        </p:nvSpPr>
        <p:spPr bwMode="auto">
          <a:xfrm>
            <a:off x="9497165" y="2615771"/>
            <a:ext cx="736600" cy="35401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70">
            <a:extLst>
              <a:ext uri="{FF2B5EF4-FFF2-40B4-BE49-F238E27FC236}">
                <a16:creationId xmlns:a16="http://schemas.microsoft.com/office/drawing/2014/main" id="{ED65C7AF-B9C9-E0C9-9A72-A6EB0505EE6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483003" y="2782459"/>
            <a:ext cx="5048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b="1" i="1">
                <a:solidFill>
                  <a:srgbClr val="FF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v</a:t>
            </a:r>
            <a:endParaRPr lang="en-US" altLang="zh-CN" baseline="-25000">
              <a:solidFill>
                <a:srgbClr val="FF0000"/>
              </a:solidFill>
              <a:latin typeface="Bookman Old Style" panose="020506040505050202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Freeform 71">
            <a:extLst>
              <a:ext uri="{FF2B5EF4-FFF2-40B4-BE49-F238E27FC236}">
                <a16:creationId xmlns:a16="http://schemas.microsoft.com/office/drawing/2014/main" id="{B8B0CF0E-21C6-FDFE-A9CD-D07755430ED7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10209952" y="2823734"/>
            <a:ext cx="442913" cy="471488"/>
          </a:xfrm>
          <a:custGeom>
            <a:avLst/>
            <a:gdLst>
              <a:gd name="T0" fmla="*/ 279 w 279"/>
              <a:gd name="T1" fmla="*/ 0 h 297"/>
              <a:gd name="T2" fmla="*/ 0 w 279"/>
              <a:gd name="T3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79" h="297">
                <a:moveTo>
                  <a:pt x="279" y="0"/>
                </a:moveTo>
                <a:lnTo>
                  <a:pt x="0" y="297"/>
                </a:lnTo>
              </a:path>
            </a:pathLst>
          </a:custGeom>
          <a:noFill/>
          <a:ln w="41275">
            <a:solidFill>
              <a:srgbClr val="FF00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 5">
            <a:extLst>
              <a:ext uri="{FF2B5EF4-FFF2-40B4-BE49-F238E27FC236}">
                <a16:creationId xmlns:a16="http://schemas.microsoft.com/office/drawing/2014/main" id="{9F7AE807-3633-4077-C896-35F877E3A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3047107"/>
            <a:ext cx="6836872" cy="13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建立点的运动方程。由图中几何关系，建立运动方程为</a:t>
            </a:r>
            <a:endParaRPr lang="en-US" altLang="zh-CN" i="0" dirty="0">
              <a:latin typeface="+mj-lt"/>
              <a:ea typeface="黑体" panose="02010609060101010101" pitchFamily="49" charset="-122"/>
            </a:endParaRP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b="0" i="0" dirty="0"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b="0" dirty="0">
                <a:latin typeface="+mn-lt"/>
              </a:rPr>
              <a:t>              </a:t>
            </a:r>
            <a:r>
              <a:rPr lang="en-US" altLang="zh-CN" b="0" dirty="0">
                <a:latin typeface="+mn-lt"/>
              </a:rPr>
              <a:t>s = R</a:t>
            </a:r>
            <a:r>
              <a:rPr lang="en-US" altLang="zh-CN" b="0" i="0" dirty="0">
                <a:latin typeface="+mn-lt"/>
              </a:rPr>
              <a:t>(2</a:t>
            </a:r>
            <a:r>
              <a:rPr lang="en-US" altLang="zh-CN" b="0" dirty="0">
                <a:latin typeface="+mn-lt"/>
                <a:sym typeface="Symbol" panose="05050102010706020507" pitchFamily="18" charset="2"/>
              </a:rPr>
              <a:t></a:t>
            </a:r>
            <a:r>
              <a:rPr lang="en-US" altLang="zh-CN" b="0" i="0" dirty="0">
                <a:latin typeface="+mn-lt"/>
              </a:rPr>
              <a:t>)</a:t>
            </a:r>
            <a:r>
              <a:rPr lang="en-US" altLang="zh-CN" b="0" dirty="0">
                <a:latin typeface="+mn-lt"/>
              </a:rPr>
              <a:t>= </a:t>
            </a:r>
            <a:r>
              <a:rPr lang="en-US" altLang="zh-CN" b="0" i="0" dirty="0">
                <a:latin typeface="+mn-lt"/>
              </a:rPr>
              <a:t>2</a:t>
            </a:r>
            <a:r>
              <a:rPr lang="en-US" altLang="zh-CN" b="0" dirty="0">
                <a:latin typeface="+mn-lt"/>
              </a:rPr>
              <a:t>R</a:t>
            </a:r>
            <a:r>
              <a:rPr lang="en-US" altLang="zh-CN" b="0" dirty="0">
                <a:latin typeface="+mn-lt"/>
                <a:sym typeface="Symbol" panose="05050102010706020507" pitchFamily="18" charset="2"/>
              </a:rPr>
              <a:t> </a:t>
            </a:r>
            <a:r>
              <a:rPr lang="en-US" altLang="zh-CN" b="0" dirty="0">
                <a:latin typeface="+mn-lt"/>
              </a:rPr>
              <a:t>t</a:t>
            </a:r>
            <a:endParaRPr lang="zh-CN" altLang="en-US" b="0" i="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D81CFFDF-DD64-3B07-D395-837C209F6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4438860"/>
            <a:ext cx="6836872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建立点的运动方程。由图中几何关系，建立运动方程为</a:t>
            </a: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求点</a:t>
            </a:r>
            <a:r>
              <a:rPr lang="en-US" altLang="zh-CN" dirty="0">
                <a:latin typeface="+mn-lt"/>
                <a:sym typeface="Symbol" panose="05050102010706020507" pitchFamily="18" charset="2"/>
              </a:rPr>
              <a:t>M</a:t>
            </a: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的速度。</a:t>
            </a:r>
            <a:endParaRPr lang="zh-CN" altLang="en-US" b="0" i="0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49" name="Object 40">
            <a:extLst>
              <a:ext uri="{FF2B5EF4-FFF2-40B4-BE49-F238E27FC236}">
                <a16:creationId xmlns:a16="http://schemas.microsoft.com/office/drawing/2014/main" id="{F7E11A9A-773E-91AA-D813-079E74CCC2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649864"/>
              </p:ext>
            </p:extLst>
          </p:nvPr>
        </p:nvGraphicFramePr>
        <p:xfrm>
          <a:off x="1667773" y="5517233"/>
          <a:ext cx="1763931" cy="793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393480" progId="Equation.DSMT4">
                  <p:embed/>
                </p:oleObj>
              </mc:Choice>
              <mc:Fallback>
                <p:oleObj name="Equation" r:id="rId3" imgW="876240" imgH="393480" progId="Equation.DSMT4">
                  <p:embed/>
                  <p:pic>
                    <p:nvPicPr>
                      <p:cNvPr id="834600" name="Object 40">
                        <a:extLst>
                          <a:ext uri="{FF2B5EF4-FFF2-40B4-BE49-F238E27FC236}">
                            <a16:creationId xmlns:a16="http://schemas.microsoft.com/office/drawing/2014/main" id="{186A834C-B112-4E56-1D59-C981C22282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773" y="5517233"/>
                        <a:ext cx="1763931" cy="7931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04272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7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000"/>
                            </p:stCondLst>
                            <p:childTnLst>
                              <p:par>
                                <p:cTn id="3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3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/>
      <p:bldP spid="4" grpId="0"/>
      <p:bldP spid="40" grpId="0"/>
      <p:bldP spid="42" grpId="0"/>
      <p:bldP spid="44" grpId="0"/>
      <p:bldP spid="47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7632576" y="1833659"/>
            <a:ext cx="3936032" cy="3560111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3329992C-FF46-434E-0D33-78C635A479B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 rot="442712">
            <a:off x="9628928" y="2241121"/>
            <a:ext cx="5334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CN" i="1">
                <a:solidFill>
                  <a:schemeClr val="tx1"/>
                </a:solidFill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5" name="Arc 17">
            <a:extLst>
              <a:ext uri="{FF2B5EF4-FFF2-40B4-BE49-F238E27FC236}">
                <a16:creationId xmlns:a16="http://schemas.microsoft.com/office/drawing/2014/main" id="{37F5E62D-B84D-0C35-3197-F5C89DDADFA7}"/>
              </a:ext>
            </a:extLst>
          </p:cNvPr>
          <p:cNvSpPr>
            <a:spLocks noChangeAspect="1"/>
          </p:cNvSpPr>
          <p:nvPr/>
        </p:nvSpPr>
        <p:spPr bwMode="auto">
          <a:xfrm rot="3465806" flipH="1">
            <a:off x="9535265" y="3082496"/>
            <a:ext cx="274638" cy="31273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054"/>
              <a:gd name="T1" fmla="*/ 0 h 21600"/>
              <a:gd name="T2" fmla="*/ 21054 w 21054"/>
              <a:gd name="T3" fmla="*/ 16773 h 21600"/>
              <a:gd name="T4" fmla="*/ 0 w 2105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054" h="21600" fill="none" extrusionOk="0">
                <a:moveTo>
                  <a:pt x="-1" y="0"/>
                </a:moveTo>
                <a:cubicBezTo>
                  <a:pt x="10069" y="0"/>
                  <a:pt x="18803" y="6958"/>
                  <a:pt x="21053" y="16773"/>
                </a:cubicBezTo>
              </a:path>
              <a:path w="21054" h="21600" stroke="0" extrusionOk="0">
                <a:moveTo>
                  <a:pt x="-1" y="0"/>
                </a:moveTo>
                <a:cubicBezTo>
                  <a:pt x="10069" y="0"/>
                  <a:pt x="18803" y="6958"/>
                  <a:pt x="21053" y="16773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18">
            <a:extLst>
              <a:ext uri="{FF2B5EF4-FFF2-40B4-BE49-F238E27FC236}">
                <a16:creationId xmlns:a16="http://schemas.microsoft.com/office/drawing/2014/main" id="{FE945204-5474-627A-1291-88F358F47725}"/>
              </a:ext>
            </a:extLst>
          </p:cNvPr>
          <p:cNvGrpSpPr>
            <a:grpSpLocks/>
          </p:cNvGrpSpPr>
          <p:nvPr/>
        </p:nvGrpSpPr>
        <p:grpSpPr bwMode="auto">
          <a:xfrm>
            <a:off x="8050953" y="1618821"/>
            <a:ext cx="3281362" cy="3551238"/>
            <a:chOff x="3600" y="0"/>
            <a:chExt cx="2067" cy="2237"/>
          </a:xfrm>
        </p:grpSpPr>
        <p:sp>
          <p:nvSpPr>
            <p:cNvPr id="8" name="Text Box 19">
              <a:extLst>
                <a:ext uri="{FF2B5EF4-FFF2-40B4-BE49-F238E27FC236}">
                  <a16:creationId xmlns:a16="http://schemas.microsoft.com/office/drawing/2014/main" id="{C4A02757-1D09-3832-CA5B-E222B1DBCC5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29" y="1216"/>
              <a:ext cx="23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endParaRPr lang="zh-CN" altLang="zh-CN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" name="Oval 20">
              <a:extLst>
                <a:ext uri="{FF2B5EF4-FFF2-40B4-BE49-F238E27FC236}">
                  <a16:creationId xmlns:a16="http://schemas.microsoft.com/office/drawing/2014/main" id="{4CF36CB9-EC62-7971-32E4-0D379EBE7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625"/>
              <a:ext cx="1353" cy="1353"/>
            </a:xfrm>
            <a:prstGeom prst="ellipse">
              <a:avLst/>
            </a:prstGeom>
            <a:noFill/>
            <a:ln w="5715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FFFF66">
                          <a:gamma/>
                          <a:tint val="0"/>
                          <a:invGamma/>
                        </a:srgbClr>
                      </a:gs>
                      <a:gs pos="100000">
                        <a:srgbClr val="FFFF66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AutoShape 21">
              <a:extLst>
                <a:ext uri="{FF2B5EF4-FFF2-40B4-BE49-F238E27FC236}">
                  <a16:creationId xmlns:a16="http://schemas.microsoft.com/office/drawing/2014/main" id="{9ED44EDE-2EAE-50C5-C07F-7AA186F4A7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159024">
              <a:off x="3917" y="1137"/>
              <a:ext cx="1848" cy="5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chemeClr val="accent1">
                    <a:gamma/>
                    <a:tint val="23529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Text Box 22">
              <a:extLst>
                <a:ext uri="{FF2B5EF4-FFF2-40B4-BE49-F238E27FC236}">
                  <a16:creationId xmlns:a16="http://schemas.microsoft.com/office/drawing/2014/main" id="{6873C645-CBFC-D9EA-E475-665619AA415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64" y="138"/>
              <a:ext cx="256" cy="3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2"/>
                  </a:solidFill>
                  <a:ea typeface="宋体" panose="02010600030101010101" pitchFamily="2" charset="-122"/>
                </a:rPr>
                <a:t>B</a:t>
              </a:r>
              <a:endParaRPr lang="en-US" altLang="zh-CN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4" name="Group 23">
              <a:extLst>
                <a:ext uri="{FF2B5EF4-FFF2-40B4-BE49-F238E27FC236}">
                  <a16:creationId xmlns:a16="http://schemas.microsoft.com/office/drawing/2014/main" id="{544DDB93-5CA1-B631-4B2B-56469D066740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423" y="1831"/>
              <a:ext cx="357" cy="455"/>
              <a:chOff x="3681" y="807"/>
              <a:chExt cx="425" cy="532"/>
            </a:xfrm>
          </p:grpSpPr>
          <p:sp>
            <p:nvSpPr>
              <p:cNvPr id="35" name="AutoShape 24">
                <a:extLst>
                  <a:ext uri="{FF2B5EF4-FFF2-40B4-BE49-F238E27FC236}">
                    <a16:creationId xmlns:a16="http://schemas.microsoft.com/office/drawing/2014/main" id="{7D449E1A-EEBE-0C8B-A127-E947BD0E8F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762" y="881"/>
                <a:ext cx="202" cy="196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rgbClr val="66FF33">
                      <a:gamma/>
                      <a:shade val="46275"/>
                      <a:invGamma/>
                    </a:srgbClr>
                  </a:gs>
                  <a:gs pos="50000">
                    <a:srgbClr val="66FF33"/>
                  </a:gs>
                  <a:gs pos="100000">
                    <a:srgbClr val="66FF33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Text Box 25">
                <a:extLst>
                  <a:ext uri="{FF2B5EF4-FFF2-40B4-BE49-F238E27FC236}">
                    <a16:creationId xmlns:a16="http://schemas.microsoft.com/office/drawing/2014/main" id="{AD4A651B-A899-0E16-9547-9289C8A3E18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798" y="1031"/>
                <a:ext cx="336" cy="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A</a:t>
                </a:r>
                <a:endParaRPr lang="en-US" altLang="zh-CN" baseline="-25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7" name="Oval 26">
                <a:extLst>
                  <a:ext uri="{FF2B5EF4-FFF2-40B4-BE49-F238E27FC236}">
                    <a16:creationId xmlns:a16="http://schemas.microsoft.com/office/drawing/2014/main" id="{01FD5F51-4F69-6FFB-DE14-CCFF18030B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905" y="947"/>
                <a:ext cx="64" cy="64"/>
              </a:xfrm>
              <a:prstGeom prst="ellipse">
                <a:avLst/>
              </a:prstGeom>
              <a:solidFill>
                <a:srgbClr val="FF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Rectangle 27">
                <a:extLst>
                  <a:ext uri="{FF2B5EF4-FFF2-40B4-BE49-F238E27FC236}">
                    <a16:creationId xmlns:a16="http://schemas.microsoft.com/office/drawing/2014/main" id="{44891BBF-ED65-7EB5-6970-CB8A51D649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558" y="931"/>
                <a:ext cx="342" cy="96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CC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28">
                <a:extLst>
                  <a:ext uri="{FF2B5EF4-FFF2-40B4-BE49-F238E27FC236}">
                    <a16:creationId xmlns:a16="http://schemas.microsoft.com/office/drawing/2014/main" id="{FB31ABC2-C17C-772E-F61A-397D601D0CC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3612" y="978"/>
                <a:ext cx="344" cy="1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" name="Line 29">
              <a:extLst>
                <a:ext uri="{FF2B5EF4-FFF2-40B4-BE49-F238E27FC236}">
                  <a16:creationId xmlns:a16="http://schemas.microsoft.com/office/drawing/2014/main" id="{99CC1C82-AAED-D0FF-0B41-660FBC88DF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4620" y="279"/>
              <a:ext cx="0" cy="20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30">
              <a:extLst>
                <a:ext uri="{FF2B5EF4-FFF2-40B4-BE49-F238E27FC236}">
                  <a16:creationId xmlns:a16="http://schemas.microsoft.com/office/drawing/2014/main" id="{E3BA6AF7-401B-0042-AB78-2C9ADA4AF1E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992" y="623"/>
              <a:ext cx="33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18" name="Arc 31">
              <a:extLst>
                <a:ext uri="{FF2B5EF4-FFF2-40B4-BE49-F238E27FC236}">
                  <a16:creationId xmlns:a16="http://schemas.microsoft.com/office/drawing/2014/main" id="{8D12C66B-D65B-1FB7-F5C0-75BE54DEC371}"/>
                </a:ext>
              </a:extLst>
            </p:cNvPr>
            <p:cNvSpPr>
              <a:spLocks noChangeAspect="1"/>
            </p:cNvSpPr>
            <p:nvPr/>
          </p:nvSpPr>
          <p:spPr bwMode="auto">
            <a:xfrm rot="2759606" flipH="1">
              <a:off x="4486" y="1581"/>
              <a:ext cx="123" cy="185"/>
            </a:xfrm>
            <a:custGeom>
              <a:avLst/>
              <a:gdLst>
                <a:gd name="G0" fmla="+- 0 0 0"/>
                <a:gd name="G1" fmla="+- 20331 0 0"/>
                <a:gd name="G2" fmla="+- 21600 0 0"/>
                <a:gd name="T0" fmla="*/ 7295 w 18768"/>
                <a:gd name="T1" fmla="*/ 0 h 20331"/>
                <a:gd name="T2" fmla="*/ 18768 w 18768"/>
                <a:gd name="T3" fmla="*/ 9639 h 20331"/>
                <a:gd name="T4" fmla="*/ 0 w 18768"/>
                <a:gd name="T5" fmla="*/ 20331 h 20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768" h="20331" fill="none" extrusionOk="0">
                  <a:moveTo>
                    <a:pt x="7294" y="0"/>
                  </a:moveTo>
                  <a:cubicBezTo>
                    <a:pt x="12146" y="1741"/>
                    <a:pt x="16216" y="5159"/>
                    <a:pt x="18768" y="9638"/>
                  </a:cubicBezTo>
                </a:path>
                <a:path w="18768" h="20331" stroke="0" extrusionOk="0">
                  <a:moveTo>
                    <a:pt x="7294" y="0"/>
                  </a:moveTo>
                  <a:cubicBezTo>
                    <a:pt x="12146" y="1741"/>
                    <a:pt x="16216" y="5159"/>
                    <a:pt x="18768" y="9638"/>
                  </a:cubicBezTo>
                  <a:lnTo>
                    <a:pt x="0" y="2033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32">
              <a:extLst>
                <a:ext uri="{FF2B5EF4-FFF2-40B4-BE49-F238E27FC236}">
                  <a16:creationId xmlns:a16="http://schemas.microsoft.com/office/drawing/2014/main" id="{7EAA983C-180F-ACC5-E39B-5804BC51745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76" y="1060"/>
              <a:ext cx="3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  <a:endParaRPr lang="en-US" altLang="zh-CN" baseline="-25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5" name="Text Box 33">
              <a:extLst>
                <a:ext uri="{FF2B5EF4-FFF2-40B4-BE49-F238E27FC236}">
                  <a16:creationId xmlns:a16="http://schemas.microsoft.com/office/drawing/2014/main" id="{326BFCE5-81A2-A4A4-13B2-4C5DF67ADF0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40" y="397"/>
              <a:ext cx="34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</a:rPr>
                <a:t>O</a:t>
              </a:r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lang="en-US" altLang="zh-CN" baseline="-250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E8184544-5AE3-7C41-2739-9C55850730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609" y="1081"/>
              <a:ext cx="18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Arc 35">
              <a:extLst>
                <a:ext uri="{FF2B5EF4-FFF2-40B4-BE49-F238E27FC236}">
                  <a16:creationId xmlns:a16="http://schemas.microsoft.com/office/drawing/2014/main" id="{DA978394-5D0E-199F-2FA2-8BF1B2DC4334}"/>
                </a:ext>
              </a:extLst>
            </p:cNvPr>
            <p:cNvSpPr>
              <a:spLocks/>
            </p:cNvSpPr>
            <p:nvPr/>
          </p:nvSpPr>
          <p:spPr bwMode="auto">
            <a:xfrm rot="19173226" flipH="1">
              <a:off x="4919" y="763"/>
              <a:ext cx="112" cy="114"/>
            </a:xfrm>
            <a:custGeom>
              <a:avLst/>
              <a:gdLst>
                <a:gd name="G0" fmla="+- 21503 0 0"/>
                <a:gd name="G1" fmla="+- 21330 0 0"/>
                <a:gd name="G2" fmla="+- 21600 0 0"/>
                <a:gd name="T0" fmla="*/ 24910 w 43103"/>
                <a:gd name="T1" fmla="*/ 0 h 42930"/>
                <a:gd name="T2" fmla="*/ 0 w 43103"/>
                <a:gd name="T3" fmla="*/ 23370 h 42930"/>
                <a:gd name="T4" fmla="*/ 21503 w 43103"/>
                <a:gd name="T5" fmla="*/ 21330 h 42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03" h="42930" fill="none" extrusionOk="0">
                  <a:moveTo>
                    <a:pt x="24909" y="0"/>
                  </a:moveTo>
                  <a:cubicBezTo>
                    <a:pt x="35391" y="1674"/>
                    <a:pt x="43103" y="10715"/>
                    <a:pt x="43103" y="21330"/>
                  </a:cubicBezTo>
                  <a:cubicBezTo>
                    <a:pt x="43103" y="33259"/>
                    <a:pt x="33432" y="42930"/>
                    <a:pt x="21503" y="42930"/>
                  </a:cubicBezTo>
                  <a:cubicBezTo>
                    <a:pt x="10363" y="42930"/>
                    <a:pt x="1051" y="34459"/>
                    <a:pt x="-1" y="23370"/>
                  </a:cubicBezTo>
                </a:path>
                <a:path w="43103" h="42930" stroke="0" extrusionOk="0">
                  <a:moveTo>
                    <a:pt x="24909" y="0"/>
                  </a:moveTo>
                  <a:cubicBezTo>
                    <a:pt x="35391" y="1674"/>
                    <a:pt x="43103" y="10715"/>
                    <a:pt x="43103" y="21330"/>
                  </a:cubicBezTo>
                  <a:cubicBezTo>
                    <a:pt x="43103" y="33259"/>
                    <a:pt x="33432" y="42930"/>
                    <a:pt x="21503" y="42930"/>
                  </a:cubicBezTo>
                  <a:cubicBezTo>
                    <a:pt x="10363" y="42930"/>
                    <a:pt x="1051" y="34459"/>
                    <a:pt x="-1" y="23370"/>
                  </a:cubicBezTo>
                  <a:lnTo>
                    <a:pt x="21503" y="21330"/>
                  </a:lnTo>
                  <a:close/>
                </a:path>
              </a:pathLst>
            </a:custGeom>
            <a:noFill/>
            <a:ln w="38100">
              <a:solidFill>
                <a:srgbClr val="FF99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Text Box 36">
              <a:extLst>
                <a:ext uri="{FF2B5EF4-FFF2-40B4-BE49-F238E27FC236}">
                  <a16:creationId xmlns:a16="http://schemas.microsoft.com/office/drawing/2014/main" id="{CCD223A8-2029-0A05-F5B7-1D5FA5D653F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8" y="0"/>
              <a:ext cx="33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endParaRPr lang="zh-CN" altLang="zh-CN" i="1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4" name="Text Box 37">
              <a:extLst>
                <a:ext uri="{FF2B5EF4-FFF2-40B4-BE49-F238E27FC236}">
                  <a16:creationId xmlns:a16="http://schemas.microsoft.com/office/drawing/2014/main" id="{1FFAE247-4912-0A31-FAC6-432CDB18006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75" y="1335"/>
              <a:ext cx="276" cy="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/>
              <a:r>
                <a:rPr lang="en-US" altLang="zh-CN" i="1">
                  <a:solidFill>
                    <a:schemeClr val="tx1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</a:t>
              </a:r>
            </a:p>
          </p:txBody>
        </p:sp>
      </p:grpSp>
      <p:sp>
        <p:nvSpPr>
          <p:cNvPr id="40" name="Text Box 38">
            <a:extLst>
              <a:ext uri="{FF2B5EF4-FFF2-40B4-BE49-F238E27FC236}">
                <a16:creationId xmlns:a16="http://schemas.microsoft.com/office/drawing/2014/main" id="{6D9D47B5-D4E6-9D5B-9AD1-29FD450D30A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82878" y="2712609"/>
            <a:ext cx="547687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i="1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2B0027EC-CF2D-F5A0-DB30-1A2D403550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09865" y="2874534"/>
            <a:ext cx="738188" cy="803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Text Box 68">
            <a:extLst>
              <a:ext uri="{FF2B5EF4-FFF2-40B4-BE49-F238E27FC236}">
                <a16:creationId xmlns:a16="http://schemas.microsoft.com/office/drawing/2014/main" id="{651F0A2B-A75C-6D38-36F5-E47F99AAC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9003" y="2988834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43" name="Arc 69">
            <a:extLst>
              <a:ext uri="{FF2B5EF4-FFF2-40B4-BE49-F238E27FC236}">
                <a16:creationId xmlns:a16="http://schemas.microsoft.com/office/drawing/2014/main" id="{CE4F9A4F-603E-1D04-B402-4F40B64B4FA3}"/>
              </a:ext>
            </a:extLst>
          </p:cNvPr>
          <p:cNvSpPr>
            <a:spLocks/>
          </p:cNvSpPr>
          <p:nvPr/>
        </p:nvSpPr>
        <p:spPr bwMode="auto">
          <a:xfrm>
            <a:off x="9497165" y="2615771"/>
            <a:ext cx="736600" cy="35401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Text Box 70">
            <a:extLst>
              <a:ext uri="{FF2B5EF4-FFF2-40B4-BE49-F238E27FC236}">
                <a16:creationId xmlns:a16="http://schemas.microsoft.com/office/drawing/2014/main" id="{ED65C7AF-B9C9-E0C9-9A72-A6EB0505EE6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483003" y="2782459"/>
            <a:ext cx="5048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"/>
            <a:r>
              <a:rPr lang="en-US" altLang="zh-CN" b="1" i="1">
                <a:solidFill>
                  <a:srgbClr val="FF0000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v</a:t>
            </a:r>
            <a:endParaRPr lang="en-US" altLang="zh-CN" baseline="-25000">
              <a:solidFill>
                <a:srgbClr val="FF0000"/>
              </a:solidFill>
              <a:latin typeface="Bookman Old Style" panose="02050604050505020204" pitchFamily="18" charset="0"/>
              <a:ea typeface="宋体" panose="02010600030101010101" pitchFamily="2" charset="-122"/>
            </a:endParaRPr>
          </a:p>
        </p:txBody>
      </p:sp>
      <p:sp>
        <p:nvSpPr>
          <p:cNvPr id="45" name="Freeform 71">
            <a:extLst>
              <a:ext uri="{FF2B5EF4-FFF2-40B4-BE49-F238E27FC236}">
                <a16:creationId xmlns:a16="http://schemas.microsoft.com/office/drawing/2014/main" id="{B8B0CF0E-21C6-FDFE-A9CD-D07755430ED7}"/>
              </a:ext>
            </a:extLst>
          </p:cNvPr>
          <p:cNvSpPr>
            <a:spLocks noChangeAspect="1"/>
          </p:cNvSpPr>
          <p:nvPr/>
        </p:nvSpPr>
        <p:spPr bwMode="auto">
          <a:xfrm rot="16200000">
            <a:off x="10209952" y="2823734"/>
            <a:ext cx="442913" cy="471488"/>
          </a:xfrm>
          <a:custGeom>
            <a:avLst/>
            <a:gdLst>
              <a:gd name="T0" fmla="*/ 279 w 279"/>
              <a:gd name="T1" fmla="*/ 0 h 297"/>
              <a:gd name="T2" fmla="*/ 0 w 279"/>
              <a:gd name="T3" fmla="*/ 297 h 29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79" h="297">
                <a:moveTo>
                  <a:pt x="279" y="0"/>
                </a:moveTo>
                <a:lnTo>
                  <a:pt x="0" y="297"/>
                </a:lnTo>
              </a:path>
            </a:pathLst>
          </a:custGeom>
          <a:noFill/>
          <a:ln w="41275">
            <a:solidFill>
              <a:srgbClr val="FF00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Rectangle 5">
            <a:extLst>
              <a:ext uri="{FF2B5EF4-FFF2-40B4-BE49-F238E27FC236}">
                <a16:creationId xmlns:a16="http://schemas.microsoft.com/office/drawing/2014/main" id="{9F7AE807-3633-4077-C896-35F877E3A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012713"/>
            <a:ext cx="6836872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建立点的运动方程。由图中几何关系，建立运动方程为</a:t>
            </a: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求点</a:t>
            </a:r>
            <a:r>
              <a:rPr lang="en-US" altLang="zh-CN" dirty="0">
                <a:latin typeface="+mj-lt"/>
                <a:sym typeface="Symbol" panose="05050102010706020507" pitchFamily="18" charset="2"/>
              </a:rPr>
              <a:t>M</a:t>
            </a: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的加速度。点</a:t>
            </a:r>
            <a:r>
              <a:rPr lang="en-US" altLang="zh-CN" dirty="0">
                <a:latin typeface="+mj-lt"/>
                <a:sym typeface="Symbol" panose="05050102010706020507" pitchFamily="18" charset="2"/>
              </a:rPr>
              <a:t>M</a:t>
            </a: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的切向加速度为</a:t>
            </a:r>
            <a:endParaRPr lang="zh-CN" altLang="en-US" b="0" i="0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10" name="Object 42">
            <a:extLst>
              <a:ext uri="{FF2B5EF4-FFF2-40B4-BE49-F238E27FC236}">
                <a16:creationId xmlns:a16="http://schemas.microsoft.com/office/drawing/2014/main" id="{CBA533F6-3B58-632C-EEDE-12143E509C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36300"/>
              </p:ext>
            </p:extLst>
          </p:nvPr>
        </p:nvGraphicFramePr>
        <p:xfrm>
          <a:off x="1362075" y="2012521"/>
          <a:ext cx="32019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393480" progId="Equation.DSMT4">
                  <p:embed/>
                </p:oleObj>
              </mc:Choice>
              <mc:Fallback>
                <p:oleObj name="Equation" r:id="rId3" imgW="1460160" imgH="393480" progId="Equation.DSMT4">
                  <p:embed/>
                  <p:pic>
                    <p:nvPicPr>
                      <p:cNvPr id="835626" name="Object 42">
                        <a:extLst>
                          <a:ext uri="{FF2B5EF4-FFF2-40B4-BE49-F238E27FC236}">
                            <a16:creationId xmlns:a16="http://schemas.microsoft.com/office/drawing/2014/main" id="{EF57C529-4CE3-B363-07FB-B9BB710779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2012521"/>
                        <a:ext cx="3201988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">
            <a:extLst>
              <a:ext uri="{FF2B5EF4-FFF2-40B4-BE49-F238E27FC236}">
                <a16:creationId xmlns:a16="http://schemas.microsoft.com/office/drawing/2014/main" id="{E09CB6C7-619D-0F51-D4FE-2C6A9E2E6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96" y="2838021"/>
            <a:ext cx="4274676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点</a:t>
            </a:r>
            <a:r>
              <a:rPr lang="en-US" altLang="zh-CN" dirty="0">
                <a:latin typeface="+mj-lt"/>
                <a:sym typeface="Symbol" panose="05050102010706020507" pitchFamily="18" charset="2"/>
              </a:rPr>
              <a:t>M</a:t>
            </a: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的法向加速度为</a:t>
            </a:r>
            <a:endParaRPr lang="zh-CN" altLang="en-US" b="0" i="0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0" name="Object 43">
            <a:extLst>
              <a:ext uri="{FF2B5EF4-FFF2-40B4-BE49-F238E27FC236}">
                <a16:creationId xmlns:a16="http://schemas.microsoft.com/office/drawing/2014/main" id="{EFDA1A3E-0769-586E-E72C-F0A86CB3A8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494992"/>
              </p:ext>
            </p:extLst>
          </p:nvPr>
        </p:nvGraphicFramePr>
        <p:xfrm>
          <a:off x="1292225" y="3420795"/>
          <a:ext cx="3541713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12800" imgH="444240" progId="Equation.DSMT4">
                  <p:embed/>
                </p:oleObj>
              </mc:Choice>
              <mc:Fallback>
                <p:oleObj name="Equation" r:id="rId5" imgW="1612800" imgH="444240" progId="Equation.DSMT4">
                  <p:embed/>
                  <p:pic>
                    <p:nvPicPr>
                      <p:cNvPr id="835627" name="Object 43">
                        <a:extLst>
                          <a:ext uri="{FF2B5EF4-FFF2-40B4-BE49-F238E27FC236}">
                            <a16:creationId xmlns:a16="http://schemas.microsoft.com/office/drawing/2014/main" id="{81392A89-59FF-54A7-F27F-6D88D5E104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3420795"/>
                        <a:ext cx="3541713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5">
            <a:extLst>
              <a:ext uri="{FF2B5EF4-FFF2-40B4-BE49-F238E27FC236}">
                <a16:creationId xmlns:a16="http://schemas.microsoft.com/office/drawing/2014/main" id="{BB5A94C1-E818-1085-7F89-29BF59B7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96" y="4337050"/>
            <a:ext cx="4274676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点</a:t>
            </a:r>
            <a:r>
              <a:rPr lang="en-US" altLang="zh-CN" dirty="0">
                <a:latin typeface="+mj-lt"/>
                <a:sym typeface="Symbol" panose="05050102010706020507" pitchFamily="18" charset="2"/>
              </a:rPr>
              <a:t>M</a:t>
            </a: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的全加速度为</a:t>
            </a:r>
            <a:endParaRPr lang="zh-CN" altLang="en-US" b="0" i="0" dirty="0">
              <a:latin typeface="+mn-lt"/>
              <a:ea typeface="黑体" panose="02010609060101010101" pitchFamily="49" charset="-122"/>
            </a:endParaRPr>
          </a:p>
        </p:txBody>
      </p:sp>
      <p:graphicFrame>
        <p:nvGraphicFramePr>
          <p:cNvPr id="22" name="Object 40">
            <a:extLst>
              <a:ext uri="{FF2B5EF4-FFF2-40B4-BE49-F238E27FC236}">
                <a16:creationId xmlns:a16="http://schemas.microsoft.com/office/drawing/2014/main" id="{29493243-CC81-7494-3696-88A4D1388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718846"/>
              </p:ext>
            </p:extLst>
          </p:nvPr>
        </p:nvGraphicFramePr>
        <p:xfrm>
          <a:off x="1292225" y="4829175"/>
          <a:ext cx="2871787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07880" imgH="291960" progId="Equation.DSMT4">
                  <p:embed/>
                </p:oleObj>
              </mc:Choice>
              <mc:Fallback>
                <p:oleObj name="Equation" r:id="rId7" imgW="1307880" imgH="291960" progId="Equation.DSMT4">
                  <p:embed/>
                  <p:pic>
                    <p:nvPicPr>
                      <p:cNvPr id="837672" name="Object 40">
                        <a:extLst>
                          <a:ext uri="{FF2B5EF4-FFF2-40B4-BE49-F238E27FC236}">
                            <a16:creationId xmlns:a16="http://schemas.microsoft.com/office/drawing/2014/main" id="{848E8C40-ED17-45F3-569B-A7FF954623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4829175"/>
                        <a:ext cx="2871787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5">
            <a:extLst>
              <a:ext uri="{FF2B5EF4-FFF2-40B4-BE49-F238E27FC236}">
                <a16:creationId xmlns:a16="http://schemas.microsoft.com/office/drawing/2014/main" id="{75077198-9C3D-6EC6-2AFA-EB6EB6715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196" y="5393770"/>
            <a:ext cx="6836872" cy="13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其方向沿</a:t>
            </a:r>
            <a:r>
              <a:rPr lang="en-US" altLang="zh-CN" dirty="0">
                <a:latin typeface="+mn-lt"/>
                <a:sym typeface="Symbol" panose="05050102010706020507" pitchFamily="18" charset="2"/>
              </a:rPr>
              <a:t>MO</a:t>
            </a: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且指向</a:t>
            </a:r>
            <a:r>
              <a:rPr lang="en-US" altLang="zh-CN" dirty="0">
                <a:latin typeface="+mn-lt"/>
                <a:sym typeface="Symbol" panose="05050102010706020507" pitchFamily="18" charset="2"/>
              </a:rPr>
              <a:t>O</a:t>
            </a:r>
            <a:r>
              <a:rPr lang="zh-CN" altLang="en-US" i="0" dirty="0">
                <a:latin typeface="+mj-lt"/>
                <a:ea typeface="黑体" panose="02010609060101010101" pitchFamily="49" charset="-122"/>
                <a:sym typeface="Symbol" panose="05050102010706020507" pitchFamily="18" charset="2"/>
              </a:rPr>
              <a:t>，可知套环沿固定圆环作匀速圆周运动。 </a:t>
            </a:r>
          </a:p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endParaRPr lang="zh-CN" altLang="en-US" b="0" i="0" dirty="0"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97495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7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8000"/>
                            </p:stCondLst>
                            <p:childTnLst>
                              <p:par>
                                <p:cTn id="3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3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  <p:bldP spid="40" grpId="0"/>
      <p:bldP spid="42" grpId="0"/>
      <p:bldP spid="44" grpId="0"/>
      <p:bldP spid="47" grpId="0"/>
      <p:bldP spid="17" grpId="0"/>
      <p:bldP spid="21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3359696" y="2308665"/>
            <a:ext cx="5285744" cy="3856639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1F0C48C-A627-13CD-6DA5-887C1F783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802970"/>
            <a:ext cx="10801200" cy="1379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b="1" i="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半径为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r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的轮子沿直线轨道无滑动地滚动（称为纯滚动），设轮子转角              </a:t>
            </a:r>
            <a:r>
              <a:rPr lang="en-US" altLang="zh-CN" b="0" dirty="0">
                <a:latin typeface="+mn-lt"/>
                <a:sym typeface="Symbol" panose="05050102010706020507" pitchFamily="18" charset="2"/>
              </a:rPr>
              <a:t></a:t>
            </a:r>
            <a:r>
              <a:rPr lang="en-US" altLang="zh-CN" b="0" dirty="0">
                <a:latin typeface="+mn-lt"/>
              </a:rPr>
              <a:t>= </a:t>
            </a:r>
            <a:r>
              <a:rPr lang="en-US" altLang="zh-CN" b="0" dirty="0">
                <a:latin typeface="+mn-lt"/>
                <a:sym typeface="Symbol" panose="05050102010706020507" pitchFamily="18" charset="2"/>
              </a:rPr>
              <a:t>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en-US" altLang="zh-CN" b="0" i="0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latin typeface="+mn-lt"/>
                <a:sym typeface="Symbol" panose="05050102010706020507" pitchFamily="18" charset="2"/>
              </a:rPr>
              <a:t>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为常值</a:t>
            </a:r>
            <a:r>
              <a:rPr lang="en-US" altLang="zh-CN" b="0" i="0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，如图所示。求用直角坐标和弧坐标表示的轮缘上任一点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的运动方程，并求该点的速度、切向加速度及法向加速度。</a:t>
            </a:r>
          </a:p>
        </p:txBody>
      </p:sp>
      <p:pic>
        <p:nvPicPr>
          <p:cNvPr id="66" name="06-14d2">
            <a:hlinkClick r:id="" action="ppaction://media"/>
            <a:extLst>
              <a:ext uri="{FF2B5EF4-FFF2-40B4-BE49-F238E27FC236}">
                <a16:creationId xmlns:a16="http://schemas.microsoft.com/office/drawing/2014/main" id="{992DF25B-4D45-02FB-7F4A-FF006199D0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95538" y="2492896"/>
            <a:ext cx="4600924" cy="345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1665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6"/>
                </p:tgtEl>
              </p:cMediaNode>
            </p:video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7632576" y="1374612"/>
            <a:ext cx="4371906" cy="3672408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C1B164D-E02F-BAEF-96F7-58138EE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3" y="1034747"/>
            <a:ext cx="6836872" cy="520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i="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0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点作曲线运动，取</a:t>
            </a:r>
            <a:r>
              <a:rPr kumimoji="0"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直角坐标系如图所示。</a:t>
            </a:r>
            <a:endParaRPr lang="zh-CN" altLang="en-US" i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67" name="Picture 15">
            <a:extLst>
              <a:ext uri="{FF2B5EF4-FFF2-40B4-BE49-F238E27FC236}">
                <a16:creationId xmlns:a16="http://schemas.microsoft.com/office/drawing/2014/main" id="{EB9064BA-BB58-1346-9F96-949618F36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010" y="2174972"/>
            <a:ext cx="3983038" cy="207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 Box 10">
            <a:extLst>
              <a:ext uri="{FF2B5EF4-FFF2-40B4-BE49-F238E27FC236}">
                <a16:creationId xmlns:a16="http://schemas.microsoft.com/office/drawing/2014/main" id="{29EB0FB1-4AD0-8CFA-8CAD-BC4A7A3E1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532205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b="1" i="0" dirty="0">
                <a:latin typeface="Times New Roman" panose="02020603050405020304" pitchFamily="18" charset="0"/>
                <a:ea typeface="黑体" panose="02010609060101010101" pitchFamily="49" charset="-122"/>
              </a:rPr>
              <a:t>由纯滚动条件</a:t>
            </a:r>
          </a:p>
        </p:txBody>
      </p:sp>
      <p:graphicFrame>
        <p:nvGraphicFramePr>
          <p:cNvPr id="69" name="Object 9">
            <a:extLst>
              <a:ext uri="{FF2B5EF4-FFF2-40B4-BE49-F238E27FC236}">
                <a16:creationId xmlns:a16="http://schemas.microsoft.com/office/drawing/2014/main" id="{985CEDF3-DF37-F300-FCC1-C8796B2F1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507486"/>
              </p:ext>
            </p:extLst>
          </p:nvPr>
        </p:nvGraphicFramePr>
        <p:xfrm>
          <a:off x="1127895" y="2013071"/>
          <a:ext cx="3023889" cy="53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30832" imgH="215713" progId="Equation.DSMT4">
                  <p:embed/>
                </p:oleObj>
              </mc:Choice>
              <mc:Fallback>
                <p:oleObj r:id="rId4" imgW="1230832" imgH="215713" progId="Equation.DSMT4">
                  <p:embed/>
                  <p:pic>
                    <p:nvPicPr>
                      <p:cNvPr id="94217" name="Object 9">
                        <a:extLst>
                          <a:ext uri="{FF2B5EF4-FFF2-40B4-BE49-F238E27FC236}">
                            <a16:creationId xmlns:a16="http://schemas.microsoft.com/office/drawing/2014/main" id="{733EB14F-1AAB-3A61-844A-8C0F43368D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895" y="2013071"/>
                        <a:ext cx="3023889" cy="531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Group 11">
            <a:extLst>
              <a:ext uri="{FF2B5EF4-FFF2-40B4-BE49-F238E27FC236}">
                <a16:creationId xmlns:a16="http://schemas.microsoft.com/office/drawing/2014/main" id="{230643AB-1941-FB0D-88CC-649A37556A76}"/>
              </a:ext>
            </a:extLst>
          </p:cNvPr>
          <p:cNvGrpSpPr>
            <a:grpSpLocks/>
          </p:cNvGrpSpPr>
          <p:nvPr/>
        </p:nvGrpSpPr>
        <p:grpSpPr bwMode="auto">
          <a:xfrm>
            <a:off x="983432" y="2519160"/>
            <a:ext cx="5256213" cy="892175"/>
            <a:chOff x="0" y="195"/>
            <a:chExt cx="3311" cy="562"/>
          </a:xfrm>
        </p:grpSpPr>
        <p:graphicFrame>
          <p:nvGraphicFramePr>
            <p:cNvPr id="71" name="Object 12">
              <a:extLst>
                <a:ext uri="{FF2B5EF4-FFF2-40B4-BE49-F238E27FC236}">
                  <a16:creationId xmlns:a16="http://schemas.microsoft.com/office/drawing/2014/main" id="{B113FB0C-BD4B-0A32-4001-F57EB8BAB9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1953804"/>
                </p:ext>
              </p:extLst>
            </p:nvPr>
          </p:nvGraphicFramePr>
          <p:xfrm>
            <a:off x="668" y="206"/>
            <a:ext cx="246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84120" imgH="228600" progId="Equation.DSMT4">
                    <p:embed/>
                  </p:oleObj>
                </mc:Choice>
                <mc:Fallback>
                  <p:oleObj name="Equation" r:id="rId6" imgW="2184120" imgH="228600" progId="Equation.DSMT4">
                    <p:embed/>
                    <p:pic>
                      <p:nvPicPr>
                        <p:cNvPr id="47114" name="Object 12">
                          <a:extLst>
                            <a:ext uri="{FF2B5EF4-FFF2-40B4-BE49-F238E27FC236}">
                              <a16:creationId xmlns:a16="http://schemas.microsoft.com/office/drawing/2014/main" id="{728A4467-99E0-E53F-7C58-CEE377DC28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" y="206"/>
                          <a:ext cx="246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13">
              <a:extLst>
                <a:ext uri="{FF2B5EF4-FFF2-40B4-BE49-F238E27FC236}">
                  <a16:creationId xmlns:a16="http://schemas.microsoft.com/office/drawing/2014/main" id="{E0CC6B53-5305-3CBC-3016-DB88D9D58D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2959686"/>
                </p:ext>
              </p:extLst>
            </p:nvPr>
          </p:nvGraphicFramePr>
          <p:xfrm>
            <a:off x="624" y="489"/>
            <a:ext cx="268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157127" imgH="215713" progId="Equation.DSMT4">
                    <p:embed/>
                  </p:oleObj>
                </mc:Choice>
                <mc:Fallback>
                  <p:oleObj name="Equation" r:id="rId8" imgW="2157127" imgH="215713" progId="Equation.DSMT4">
                    <p:embed/>
                    <p:pic>
                      <p:nvPicPr>
                        <p:cNvPr id="47115" name="Object 13">
                          <a:extLst>
                            <a:ext uri="{FF2B5EF4-FFF2-40B4-BE49-F238E27FC236}">
                              <a16:creationId xmlns:a16="http://schemas.microsoft.com/office/drawing/2014/main" id="{B98A6B6A-7A0D-A889-D9C4-8C92AA6D41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489"/>
                          <a:ext cx="268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Text Box 14">
              <a:extLst>
                <a:ext uri="{FF2B5EF4-FFF2-40B4-BE49-F238E27FC236}">
                  <a16:creationId xmlns:a16="http://schemas.microsoft.com/office/drawing/2014/main" id="{FDCBBDAF-32AD-7DEC-54E8-21585711F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95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•"/>
                <a:defRPr kumimoji="1" sz="24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b="1" i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从而</a:t>
              </a:r>
            </a:p>
          </p:txBody>
        </p:sp>
      </p:grpSp>
      <p:graphicFrame>
        <p:nvGraphicFramePr>
          <p:cNvPr id="74" name="Object 13">
            <a:extLst>
              <a:ext uri="{FF2B5EF4-FFF2-40B4-BE49-F238E27FC236}">
                <a16:creationId xmlns:a16="http://schemas.microsoft.com/office/drawing/2014/main" id="{B3894247-F1A6-0405-C484-C1B3F287C1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024316"/>
              </p:ext>
            </p:extLst>
          </p:nvPr>
        </p:nvGraphicFramePr>
        <p:xfrm>
          <a:off x="1156756" y="3499912"/>
          <a:ext cx="5682675" cy="510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615065" imgH="253890" progId="Equation.DSMT4">
                  <p:embed/>
                </p:oleObj>
              </mc:Choice>
              <mc:Fallback>
                <p:oleObj r:id="rId10" imgW="2615065" imgH="253890" progId="Equation.DSMT4">
                  <p:embed/>
                  <p:pic>
                    <p:nvPicPr>
                      <p:cNvPr id="95245" name="Object 13">
                        <a:extLst>
                          <a:ext uri="{FF2B5EF4-FFF2-40B4-BE49-F238E27FC236}">
                            <a16:creationId xmlns:a16="http://schemas.microsoft.com/office/drawing/2014/main" id="{33C4CE91-7E9F-9AB5-C403-E1EE95A47B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756" y="3499912"/>
                        <a:ext cx="5682675" cy="510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14">
            <a:extLst>
              <a:ext uri="{FF2B5EF4-FFF2-40B4-BE49-F238E27FC236}">
                <a16:creationId xmlns:a16="http://schemas.microsoft.com/office/drawing/2014/main" id="{8851BC48-1E37-E678-41FA-33DF4A2D08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664790"/>
              </p:ext>
            </p:extLst>
          </p:nvPr>
        </p:nvGraphicFramePr>
        <p:xfrm>
          <a:off x="1208182" y="3970885"/>
          <a:ext cx="53848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06560" imgH="393480" progId="Equation.DSMT4">
                  <p:embed/>
                </p:oleObj>
              </mc:Choice>
              <mc:Fallback>
                <p:oleObj name="Equation" r:id="rId12" imgW="2806560" imgH="393480" progId="Equation.DSMT4">
                  <p:embed/>
                  <p:pic>
                    <p:nvPicPr>
                      <p:cNvPr id="95246" name="Object 14">
                        <a:extLst>
                          <a:ext uri="{FF2B5EF4-FFF2-40B4-BE49-F238E27FC236}">
                            <a16:creationId xmlns:a16="http://schemas.microsoft.com/office/drawing/2014/main" id="{E37E5ED5-FE06-A4BB-A4DC-0907C1D1C2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8182" y="3970885"/>
                        <a:ext cx="53848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15">
            <a:extLst>
              <a:ext uri="{FF2B5EF4-FFF2-40B4-BE49-F238E27FC236}">
                <a16:creationId xmlns:a16="http://schemas.microsoft.com/office/drawing/2014/main" id="{90716403-7523-6051-D7D0-BB14936115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785532"/>
              </p:ext>
            </p:extLst>
          </p:nvPr>
        </p:nvGraphicFramePr>
        <p:xfrm>
          <a:off x="1156756" y="5295132"/>
          <a:ext cx="5436226" cy="452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475426" imgH="253890" progId="Equation.DSMT4">
                  <p:embed/>
                </p:oleObj>
              </mc:Choice>
              <mc:Fallback>
                <p:oleObj r:id="rId14" imgW="2475426" imgH="253890" progId="Equation.DSMT4">
                  <p:embed/>
                  <p:pic>
                    <p:nvPicPr>
                      <p:cNvPr id="95247" name="Object 15">
                        <a:extLst>
                          <a:ext uri="{FF2B5EF4-FFF2-40B4-BE49-F238E27FC236}">
                            <a16:creationId xmlns:a16="http://schemas.microsoft.com/office/drawing/2014/main" id="{3DB27816-3AD6-8A9D-83BA-2D6EE8D9D1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756" y="5295132"/>
                        <a:ext cx="5436226" cy="452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6">
            <a:extLst>
              <a:ext uri="{FF2B5EF4-FFF2-40B4-BE49-F238E27FC236}">
                <a16:creationId xmlns:a16="http://schemas.microsoft.com/office/drawing/2014/main" id="{BEC2013C-4EB4-7BEF-FFBC-99BD6BFB8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655339"/>
              </p:ext>
            </p:extLst>
          </p:nvPr>
        </p:nvGraphicFramePr>
        <p:xfrm>
          <a:off x="6839431" y="5190732"/>
          <a:ext cx="2505655" cy="580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218671" imgH="304668" progId="Equation.3">
                  <p:embed/>
                </p:oleObj>
              </mc:Choice>
              <mc:Fallback>
                <p:oleObj r:id="rId16" imgW="1218671" imgH="304668" progId="Equation.3">
                  <p:embed/>
                  <p:pic>
                    <p:nvPicPr>
                      <p:cNvPr id="95248" name="Object 16">
                        <a:extLst>
                          <a:ext uri="{FF2B5EF4-FFF2-40B4-BE49-F238E27FC236}">
                            <a16:creationId xmlns:a16="http://schemas.microsoft.com/office/drawing/2014/main" id="{4A93F1FC-BF1E-C0F5-0DAE-739C5EF948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9431" y="5190732"/>
                        <a:ext cx="2505655" cy="580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7">
            <a:extLst>
              <a:ext uri="{FF2B5EF4-FFF2-40B4-BE49-F238E27FC236}">
                <a16:creationId xmlns:a16="http://schemas.microsoft.com/office/drawing/2014/main" id="{C10EBAAC-462E-F75B-47E1-FAA0C69754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906368"/>
              </p:ext>
            </p:extLst>
          </p:nvPr>
        </p:nvGraphicFramePr>
        <p:xfrm>
          <a:off x="1127895" y="4601447"/>
          <a:ext cx="6606972" cy="645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3732180" imgH="393529" progId="Equation.DSMT4">
                  <p:embed/>
                </p:oleObj>
              </mc:Choice>
              <mc:Fallback>
                <p:oleObj r:id="rId18" imgW="3732180" imgH="393529" progId="Equation.DSMT4">
                  <p:embed/>
                  <p:pic>
                    <p:nvPicPr>
                      <p:cNvPr id="95249" name="Object 17">
                        <a:extLst>
                          <a:ext uri="{FF2B5EF4-FFF2-40B4-BE49-F238E27FC236}">
                            <a16:creationId xmlns:a16="http://schemas.microsoft.com/office/drawing/2014/main" id="{3909F20B-17F0-171F-3C5E-00CA4E536B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895" y="4601447"/>
                        <a:ext cx="6606972" cy="6458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10">
            <a:extLst>
              <a:ext uri="{FF2B5EF4-FFF2-40B4-BE49-F238E27FC236}">
                <a16:creationId xmlns:a16="http://schemas.microsoft.com/office/drawing/2014/main" id="{43CBB15E-9356-3A7D-2B70-2FD82095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619" y="5834710"/>
            <a:ext cx="3276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None/>
            </a:pPr>
            <a:r>
              <a:rPr kumimoji="0"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点</a:t>
            </a:r>
            <a:r>
              <a:rPr kumimoji="0"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M</a:t>
            </a:r>
            <a:r>
              <a:rPr kumimoji="0"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的切向加速度为</a:t>
            </a:r>
            <a:endParaRPr kumimoji="0" lang="zh-CN" altLang="en-US" b="1" i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80" name="Object 19">
            <a:extLst>
              <a:ext uri="{FF2B5EF4-FFF2-40B4-BE49-F238E27FC236}">
                <a16:creationId xmlns:a16="http://schemas.microsoft.com/office/drawing/2014/main" id="{FEC5BFC3-B387-3A73-7232-609D873170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424082"/>
              </p:ext>
            </p:extLst>
          </p:nvPr>
        </p:nvGraphicFramePr>
        <p:xfrm>
          <a:off x="4083743" y="5685068"/>
          <a:ext cx="2300289" cy="633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297703" imgH="723586" progId="Equation.3">
                  <p:embed/>
                </p:oleObj>
              </mc:Choice>
              <mc:Fallback>
                <p:oleObj r:id="rId20" imgW="2297703" imgH="723586" progId="Equation.3">
                  <p:embed/>
                  <p:pic>
                    <p:nvPicPr>
                      <p:cNvPr id="95251" name="Object 19">
                        <a:extLst>
                          <a:ext uri="{FF2B5EF4-FFF2-40B4-BE49-F238E27FC236}">
                            <a16:creationId xmlns:a16="http://schemas.microsoft.com/office/drawing/2014/main" id="{51944AAB-115F-D58B-0EE9-EA9918AF54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743" y="5685068"/>
                        <a:ext cx="2300289" cy="633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20">
            <a:extLst>
              <a:ext uri="{FF2B5EF4-FFF2-40B4-BE49-F238E27FC236}">
                <a16:creationId xmlns:a16="http://schemas.microsoft.com/office/drawing/2014/main" id="{4B9AFFB4-6066-A3CE-FD5A-B8C6609790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0201725"/>
              </p:ext>
            </p:extLst>
          </p:nvPr>
        </p:nvGraphicFramePr>
        <p:xfrm>
          <a:off x="6592982" y="5655279"/>
          <a:ext cx="3252363" cy="633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3249790" imgH="723586" progId="Equation.3">
                  <p:embed/>
                </p:oleObj>
              </mc:Choice>
              <mc:Fallback>
                <p:oleObj r:id="rId22" imgW="3249790" imgH="723586" progId="Equation.3">
                  <p:embed/>
                  <p:pic>
                    <p:nvPicPr>
                      <p:cNvPr id="95252" name="Object 20">
                        <a:extLst>
                          <a:ext uri="{FF2B5EF4-FFF2-40B4-BE49-F238E27FC236}">
                            <a16:creationId xmlns:a16="http://schemas.microsoft.com/office/drawing/2014/main" id="{BC8E1A84-B3BE-9375-117F-8CD342E97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2982" y="5655279"/>
                        <a:ext cx="3252363" cy="633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075484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/>
      <p:bldP spid="68" grpId="0" autoUpdateAnimBg="0"/>
      <p:bldP spid="7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4442" y="928670"/>
            <a:ext cx="974798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§4-2  </a:t>
            </a:r>
            <a:r>
              <a:rPr lang="zh-CN" altLang="en-US" sz="3000" i="0" dirty="0">
                <a:solidFill>
                  <a:schemeClr val="accent6">
                    <a:lumMod val="75000"/>
                  </a:schemeClr>
                </a:solidFill>
                <a:latin typeface="+mn-lt"/>
                <a:ea typeface="微软雅黑" panose="020B0503020204020204" pitchFamily="34" charset="-122"/>
              </a:rPr>
              <a:t>刚体的基本运动</a:t>
            </a:r>
          </a:p>
        </p:txBody>
      </p:sp>
      <p:sp>
        <p:nvSpPr>
          <p:cNvPr id="8" name="矩形 7"/>
          <p:cNvSpPr/>
          <p:nvPr/>
        </p:nvSpPr>
        <p:spPr>
          <a:xfrm>
            <a:off x="3935760" y="1379825"/>
            <a:ext cx="2877711" cy="59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刚体的平行移动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2855640" y="3027521"/>
            <a:ext cx="6336704" cy="3281799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910119" y="1888976"/>
            <a:ext cx="8928992" cy="1082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刚体内任一直线在运动过程中始终平行于初始位置，这种运动称为平行移动，简称</a:t>
            </a: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平动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7-01d5">
            <a:hlinkClick r:id="" action="ppaction://media"/>
            <a:extLst>
              <a:ext uri="{FF2B5EF4-FFF2-40B4-BE49-F238E27FC236}">
                <a16:creationId xmlns:a16="http://schemas.microsoft.com/office/drawing/2014/main" id="{F4CE1D31-D3B4-73A8-68E1-ED08E8BF8B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21714" y="3123848"/>
            <a:ext cx="5148572" cy="308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615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9" grpId="0" animBg="1"/>
      <p:bldP spid="1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7464152" y="1052736"/>
            <a:ext cx="4561480" cy="3281799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910119" y="908720"/>
            <a:ext cx="2377569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运动方程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30">
            <a:extLst>
              <a:ext uri="{FF2B5EF4-FFF2-40B4-BE49-F238E27FC236}">
                <a16:creationId xmlns:a16="http://schemas.microsoft.com/office/drawing/2014/main" id="{30D44BD3-746E-5664-0458-5088CCB29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1322292"/>
            <a:ext cx="3414713" cy="59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2800" dirty="0" err="1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kumimoji="1" lang="en-US" altLang="zh-CN" sz="2800" b="0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kumimoji="1" lang="en-US" altLang="zh-CN" sz="2800" b="0" i="0" dirty="0">
                <a:solidFill>
                  <a:schemeClr val="tx1"/>
                </a:solidFill>
                <a:ea typeface="黑体" panose="02010609060101010101" pitchFamily="49" charset="-122"/>
              </a:rPr>
              <a:t>=</a:t>
            </a:r>
            <a:r>
              <a:rPr kumimoji="1"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kumimoji="1" lang="en-US" altLang="zh-CN" sz="2800" dirty="0" err="1">
                <a:solidFill>
                  <a:schemeClr val="tx1"/>
                </a:solidFill>
                <a:ea typeface="黑体" panose="02010609060101010101" pitchFamily="49" charset="-122"/>
              </a:rPr>
              <a:t>r</a:t>
            </a:r>
            <a:r>
              <a:rPr kumimoji="1" lang="en-US" altLang="zh-CN" sz="2800" b="0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B</a:t>
            </a:r>
            <a:r>
              <a:rPr kumimoji="1" lang="zh-CN" altLang="en-US" sz="2800" b="0" i="0" dirty="0">
                <a:solidFill>
                  <a:schemeClr val="tx1"/>
                </a:solidFill>
                <a:ea typeface="黑体" panose="02010609060101010101" pitchFamily="49" charset="-122"/>
              </a:rPr>
              <a:t>＋</a:t>
            </a:r>
            <a:r>
              <a:rPr kumimoji="1"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BA</a:t>
            </a:r>
            <a:endParaRPr kumimoji="1" lang="en-US" altLang="zh-CN" sz="2800" b="0" i="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DFD454D2-4C59-A648-84DD-C8A8EB45A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9" y="1962669"/>
            <a:ext cx="3414713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速度和加速度分布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3DABB94F-996C-A4C0-5139-B46C29E99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152" y="1376040"/>
            <a:ext cx="4631263" cy="2635189"/>
          </a:xfrm>
          <a:prstGeom prst="rect">
            <a:avLst/>
          </a:prstGeom>
        </p:spPr>
      </p:pic>
      <p:sp>
        <p:nvSpPr>
          <p:cNvPr id="39" name="Text Box 5">
            <a:extLst>
              <a:ext uri="{FF2B5EF4-FFF2-40B4-BE49-F238E27FC236}">
                <a16:creationId xmlns:a16="http://schemas.microsoft.com/office/drawing/2014/main" id="{7E3B22E0-2FAA-7253-AEF4-DB20DA45D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2540826"/>
            <a:ext cx="2724150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8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对时间 </a:t>
            </a:r>
            <a:r>
              <a:rPr lang="en-US" altLang="zh-CN" sz="2800" i="1" dirty="0">
                <a:solidFill>
                  <a:schemeClr val="tx1"/>
                </a:solidFill>
              </a:rPr>
              <a:t>t </a:t>
            </a:r>
            <a:r>
              <a:rPr lang="zh-CN" altLang="en-US" sz="28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求导得 </a:t>
            </a:r>
          </a:p>
        </p:txBody>
      </p:sp>
      <p:graphicFrame>
        <p:nvGraphicFramePr>
          <p:cNvPr id="40" name="Object 32">
            <a:extLst>
              <a:ext uri="{FF2B5EF4-FFF2-40B4-BE49-F238E27FC236}">
                <a16:creationId xmlns:a16="http://schemas.microsoft.com/office/drawing/2014/main" id="{53A2E809-BF37-D24C-78F3-540E2BBF1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2882844"/>
              </p:ext>
            </p:extLst>
          </p:nvPr>
        </p:nvGraphicFramePr>
        <p:xfrm>
          <a:off x="1396616" y="3286125"/>
          <a:ext cx="23685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393480" progId="Equation.DSMT4">
                  <p:embed/>
                </p:oleObj>
              </mc:Choice>
              <mc:Fallback>
                <p:oleObj name="Equation" r:id="rId4" imgW="1079280" imgH="393480" progId="Equation.DSMT4">
                  <p:embed/>
                  <p:pic>
                    <p:nvPicPr>
                      <p:cNvPr id="850976" name="Object 32">
                        <a:extLst>
                          <a:ext uri="{FF2B5EF4-FFF2-40B4-BE49-F238E27FC236}">
                            <a16:creationId xmlns:a16="http://schemas.microsoft.com/office/drawing/2014/main" id="{9F62D7D1-A38F-192C-78E8-C18F7EE6D0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616" y="3286125"/>
                        <a:ext cx="2368550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31">
            <a:extLst>
              <a:ext uri="{FF2B5EF4-FFF2-40B4-BE49-F238E27FC236}">
                <a16:creationId xmlns:a16="http://schemas.microsoft.com/office/drawing/2014/main" id="{5898C238-93EB-33AB-C3E4-4FDA8D528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4144983"/>
            <a:ext cx="6912768" cy="1156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8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BA</a:t>
            </a:r>
            <a:r>
              <a:rPr lang="zh-CN" altLang="en-US" sz="28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是常矢量，因此            </a:t>
            </a:r>
            <a:r>
              <a:rPr lang="zh-CN" altLang="en-US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于是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           </a:t>
            </a:r>
            <a:r>
              <a:rPr lang="en-US" altLang="zh-CN" sz="2800" b="1" dirty="0" err="1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v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=</a:t>
            </a:r>
            <a:r>
              <a:rPr lang="en-US" altLang="zh-CN" sz="2800" b="1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 </a:t>
            </a:r>
            <a:r>
              <a:rPr lang="en-US" altLang="zh-CN" sz="2800" b="1" dirty="0" err="1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v</a:t>
            </a:r>
            <a:r>
              <a:rPr lang="en-US" altLang="zh-CN" sz="2800" baseline="-25000" dirty="0" err="1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rPr>
              <a:t>B</a:t>
            </a:r>
            <a:endParaRPr lang="en-US" altLang="zh-CN" sz="2800" dirty="0">
              <a:solidFill>
                <a:schemeClr val="tx1"/>
              </a:solidFill>
              <a:latin typeface="+mn-lt"/>
              <a:ea typeface="微软雅黑" panose="020B0503020204020204" pitchFamily="34" charset="-122"/>
            </a:endParaRPr>
          </a:p>
        </p:txBody>
      </p:sp>
      <p:graphicFrame>
        <p:nvGraphicFramePr>
          <p:cNvPr id="42" name="Object 34">
            <a:extLst>
              <a:ext uri="{FF2B5EF4-FFF2-40B4-BE49-F238E27FC236}">
                <a16:creationId xmlns:a16="http://schemas.microsoft.com/office/drawing/2014/main" id="{2A968667-585D-8A61-72BA-0DB3A557ED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572341"/>
              </p:ext>
            </p:extLst>
          </p:nvPr>
        </p:nvGraphicFramePr>
        <p:xfrm>
          <a:off x="4452290" y="4075189"/>
          <a:ext cx="10636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0" imgH="393480" progId="Equation.DSMT4">
                  <p:embed/>
                </p:oleObj>
              </mc:Choice>
              <mc:Fallback>
                <p:oleObj name="Equation" r:id="rId6" imgW="533160" imgH="393480" progId="Equation.DSMT4">
                  <p:embed/>
                  <p:pic>
                    <p:nvPicPr>
                      <p:cNvPr id="850978" name="Object 34">
                        <a:extLst>
                          <a:ext uri="{FF2B5EF4-FFF2-40B4-BE49-F238E27FC236}">
                            <a16:creationId xmlns:a16="http://schemas.microsoft.com/office/drawing/2014/main" id="{A96BAC0C-E383-ED44-F331-F9CCCEAD9A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290" y="4075189"/>
                        <a:ext cx="1063625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5">
            <a:extLst>
              <a:ext uri="{FF2B5EF4-FFF2-40B4-BE49-F238E27FC236}">
                <a16:creationId xmlns:a16="http://schemas.microsoft.com/office/drawing/2014/main" id="{BBB7AB41-0F97-3718-AB32-A1F250BF3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5282448"/>
            <a:ext cx="4680521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再对时间 </a:t>
            </a:r>
            <a:r>
              <a:rPr lang="en-US" altLang="zh-CN" sz="2800" i="1" dirty="0">
                <a:solidFill>
                  <a:schemeClr val="tx1"/>
                </a:solidFill>
              </a:rPr>
              <a:t>t </a:t>
            </a:r>
            <a:r>
              <a:rPr lang="zh-CN" altLang="en-US" sz="280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求导得  </a:t>
            </a:r>
            <a:r>
              <a:rPr lang="en-US" altLang="zh-CN" sz="2800" dirty="0" err="1">
                <a:solidFill>
                  <a:schemeClr val="tx1"/>
                </a:solidFill>
              </a:rPr>
              <a:t>a</a:t>
            </a:r>
            <a:r>
              <a:rPr lang="en-US" altLang="zh-CN" sz="2800" baseline="-25000" dirty="0" err="1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= </a:t>
            </a:r>
            <a:r>
              <a:rPr lang="en-US" altLang="zh-CN" sz="2800" dirty="0" err="1">
                <a:solidFill>
                  <a:schemeClr val="tx1"/>
                </a:solidFill>
              </a:rPr>
              <a:t>a</a:t>
            </a:r>
            <a:r>
              <a:rPr lang="en-US" altLang="zh-CN" sz="2800" baseline="-25000" dirty="0" err="1">
                <a:solidFill>
                  <a:schemeClr val="tx1"/>
                </a:solidFill>
              </a:rPr>
              <a:t>B</a:t>
            </a:r>
            <a:endParaRPr lang="zh-CN" altLang="en-US" sz="2800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Box 9">
            <a:extLst>
              <a:ext uri="{FF2B5EF4-FFF2-40B4-BE49-F238E27FC236}">
                <a16:creationId xmlns:a16="http://schemas.microsoft.com/office/drawing/2014/main" id="{67FBB7F8-56C4-2CDE-D7E6-A7D68E483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016" y="5422912"/>
            <a:ext cx="3430747" cy="5232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i="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刚体平移→点的运动</a:t>
            </a:r>
          </a:p>
        </p:txBody>
      </p:sp>
    </p:spTree>
    <p:extLst>
      <p:ext uri="{BB962C8B-B14F-4D97-AF65-F5344CB8AC3E}">
        <p14:creationId xmlns:p14="http://schemas.microsoft.com/office/powerpoint/2010/main" val="35796123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3" grpId="0"/>
      <p:bldP spid="4" grpId="0" autoUpdateAnimBg="0"/>
      <p:bldP spid="39" grpId="0" build="p"/>
      <p:bldP spid="41" grpId="0" build="p"/>
      <p:bldP spid="43" grpId="0" build="p"/>
      <p:bldP spid="44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8" name="矩形 7"/>
          <p:cNvSpPr/>
          <p:nvPr/>
        </p:nvSpPr>
        <p:spPr>
          <a:xfrm>
            <a:off x="3935760" y="904121"/>
            <a:ext cx="2877711" cy="599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000" i="0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刚体绕定轴转动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7119737" y="2471730"/>
            <a:ext cx="4907269" cy="369322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79376" y="1456992"/>
            <a:ext cx="10010417" cy="1082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刚体运动时，刚体上</a:t>
            </a:r>
            <a:r>
              <a:rPr kumimoji="0"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或其扩展部分</a:t>
            </a:r>
            <a:r>
              <a:rPr kumimoji="0" lang="en-US" altLang="zh-CN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两点保持不动，则这种运动称为刚体绕定轴转动，简称</a:t>
            </a: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刚体的转动。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38C98A0-FEE6-AA1D-577C-A2A3BD231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2727216"/>
            <a:ext cx="3206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转轴 ：两点连线                                                                      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CE0BE1E7-492B-C6F3-9117-3DD9374C1E28}"/>
              </a:ext>
            </a:extLst>
          </p:cNvPr>
          <p:cNvGrpSpPr>
            <a:grpSpLocks/>
          </p:cNvGrpSpPr>
          <p:nvPr/>
        </p:nvGrpSpPr>
        <p:grpSpPr bwMode="auto">
          <a:xfrm>
            <a:off x="551384" y="3417387"/>
            <a:ext cx="3946525" cy="523875"/>
            <a:chOff x="2832" y="1632"/>
            <a:chExt cx="2486" cy="330"/>
          </a:xfrm>
        </p:grpSpPr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CA7F806A-D39D-FE4B-5387-9FF1A3CE0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632"/>
              <a:ext cx="76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转角 ：</a:t>
              </a:r>
              <a:endParaRPr kumimoji="1" lang="zh-CN" altLang="en-US" sz="2800" i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0B94C3E4-D5AE-A708-FB87-8718FB9776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3437235"/>
                </p:ext>
              </p:extLst>
            </p:nvPr>
          </p:nvGraphicFramePr>
          <p:xfrm>
            <a:off x="3498" y="1680"/>
            <a:ext cx="20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9680" imgH="164880" progId="Equation.DSMT4">
                    <p:embed/>
                  </p:oleObj>
                </mc:Choice>
                <mc:Fallback>
                  <p:oleObj name="Equation" r:id="rId5" imgW="139680" imgH="164880" progId="Equation.DSMT4">
                    <p:embed/>
                    <p:pic>
                      <p:nvPicPr>
                        <p:cNvPr id="307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8" y="1680"/>
                          <a:ext cx="20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tx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2">
              <a:extLst>
                <a:ext uri="{FF2B5EF4-FFF2-40B4-BE49-F238E27FC236}">
                  <a16:creationId xmlns:a16="http://schemas.microsoft.com/office/drawing/2014/main" id="{59B794B0-F9E5-5F8D-EF32-1C04F9991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632"/>
              <a:ext cx="152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单位</a:t>
              </a:r>
              <a:r>
                <a:rPr lang="en-US" altLang="zh-CN" sz="2800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2800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弧度</a:t>
              </a:r>
              <a:r>
                <a:rPr lang="en-US" altLang="zh-CN" sz="2800" b="0" i="0" dirty="0">
                  <a:latin typeface="+mj-lt"/>
                  <a:ea typeface="微软雅黑" panose="020B0503020204020204" pitchFamily="34" charset="-122"/>
                </a:rPr>
                <a:t>(rad)</a:t>
              </a:r>
            </a:p>
          </p:txBody>
        </p:sp>
      </p:grpSp>
      <p:sp>
        <p:nvSpPr>
          <p:cNvPr id="13" name="Text Box 9">
            <a:extLst>
              <a:ext uri="{FF2B5EF4-FFF2-40B4-BE49-F238E27FC236}">
                <a16:creationId xmlns:a16="http://schemas.microsoft.com/office/drawing/2014/main" id="{31FE06D9-8D47-17F7-49A4-7CE891F8C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4076162"/>
            <a:ext cx="10010417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运动方程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3ABDB7-6D71-24CD-898F-A04D2519CE53}"/>
              </a:ext>
            </a:extLst>
          </p:cNvPr>
          <p:cNvSpPr txBox="1"/>
          <p:nvPr/>
        </p:nvSpPr>
        <p:spPr>
          <a:xfrm>
            <a:off x="1441253" y="4776666"/>
            <a:ext cx="24945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 </a:t>
            </a:r>
            <a:r>
              <a:rPr lang="en-US" altLang="zh-CN" sz="2800" b="0" dirty="0">
                <a:solidFill>
                  <a:schemeClr val="tx1"/>
                </a:solidFill>
              </a:rPr>
              <a:t>=</a:t>
            </a:r>
            <a:r>
              <a:rPr lang="en-US" altLang="zh-CN" sz="2800" b="0" dirty="0">
                <a:solidFill>
                  <a:schemeClr val="tx1"/>
                </a:solidFill>
                <a:sym typeface="Symbol" panose="05050102010706020507" pitchFamily="18" charset="2"/>
              </a:rPr>
              <a:t> </a:t>
            </a:r>
            <a:r>
              <a:rPr lang="en-US" altLang="zh-CN" sz="2800" b="0" i="0" dirty="0">
                <a:solidFill>
                  <a:schemeClr val="tx1"/>
                </a:solidFill>
              </a:rPr>
              <a:t>(</a:t>
            </a:r>
            <a:r>
              <a:rPr lang="en-US" altLang="zh-CN" sz="2800" b="0" dirty="0">
                <a:solidFill>
                  <a:schemeClr val="tx1"/>
                </a:solidFill>
              </a:rPr>
              <a:t>t</a:t>
            </a:r>
            <a:r>
              <a:rPr lang="en-US" altLang="zh-CN" sz="2800" b="0" i="0" dirty="0">
                <a:solidFill>
                  <a:schemeClr val="tx1"/>
                </a:solidFill>
              </a:rPr>
              <a:t>)</a:t>
            </a:r>
            <a:endParaRPr lang="zh-CN" altLang="en-US" sz="2800" b="0" i="0" dirty="0">
              <a:solidFill>
                <a:schemeClr val="tx1"/>
              </a:solidFill>
            </a:endParaRPr>
          </a:p>
        </p:txBody>
      </p:sp>
      <p:pic>
        <p:nvPicPr>
          <p:cNvPr id="16" name="7-02d1">
            <a:hlinkClick r:id="" action="ppaction://media"/>
            <a:extLst>
              <a:ext uri="{FF2B5EF4-FFF2-40B4-BE49-F238E27FC236}">
                <a16:creationId xmlns:a16="http://schemas.microsoft.com/office/drawing/2014/main" id="{B9ECE90D-DB50-CBD7-0DA3-9A5720509E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462919" y="2723830"/>
            <a:ext cx="4249705" cy="318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090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3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  <p:bldLst>
      <p:bldP spid="9" grpId="0" animBg="1"/>
      <p:bldP spid="12" grpId="0" autoUpdateAnimBg="0"/>
      <p:bldP spid="3" grpId="0" autoUpdateAnimBg="0"/>
      <p:bldP spid="13" grpId="0" autoUpdateAnimBg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31FE06D9-8D47-17F7-49A4-7CE891F8C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7" y="1124744"/>
            <a:ext cx="4104456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角速度和角加速度</a:t>
            </a:r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C454D250-218B-DA3D-7DD5-32C47E4EC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013" y="2025629"/>
            <a:ext cx="13874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角速度</a:t>
            </a:r>
          </a:p>
        </p:txBody>
      </p:sp>
      <p:graphicFrame>
        <p:nvGraphicFramePr>
          <p:cNvPr id="5" name="Object 15">
            <a:extLst>
              <a:ext uri="{FF2B5EF4-FFF2-40B4-BE49-F238E27FC236}">
                <a16:creationId xmlns:a16="http://schemas.microsoft.com/office/drawing/2014/main" id="{66B0EE0C-183D-3A2A-F6E3-370869CBA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289398"/>
              </p:ext>
            </p:extLst>
          </p:nvPr>
        </p:nvGraphicFramePr>
        <p:xfrm>
          <a:off x="3571154" y="1571604"/>
          <a:ext cx="344805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200" imgH="545760" progId="Equation.DSMT4">
                  <p:embed/>
                </p:oleObj>
              </mc:Choice>
              <mc:Fallback>
                <p:oleObj name="Equation" r:id="rId3" imgW="1384200" imgH="545760" progId="Equation.DSMT4">
                  <p:embed/>
                  <p:pic>
                    <p:nvPicPr>
                      <p:cNvPr id="1013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154" y="1571604"/>
                        <a:ext cx="344805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CBAFF6FF-E939-E625-9120-3A74DFA237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882447"/>
              </p:ext>
            </p:extLst>
          </p:nvPr>
        </p:nvGraphicFramePr>
        <p:xfrm>
          <a:off x="3537817" y="2888554"/>
          <a:ext cx="302895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120" imgH="368280" progId="Equation.DSMT4">
                  <p:embed/>
                </p:oleObj>
              </mc:Choice>
              <mc:Fallback>
                <p:oleObj name="Equation" r:id="rId5" imgW="1257120" imgH="368280" progId="Equation.DSMT4">
                  <p:embed/>
                  <p:pic>
                    <p:nvPicPr>
                      <p:cNvPr id="10139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7817" y="2888554"/>
                        <a:ext cx="3028950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>
            <a:extLst>
              <a:ext uri="{FF2B5EF4-FFF2-40B4-BE49-F238E27FC236}">
                <a16:creationId xmlns:a16="http://schemas.microsoft.com/office/drawing/2014/main" id="{F40B307C-9533-9E72-D477-3A0D2813A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501" y="3137791"/>
            <a:ext cx="16160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角加速度</a:t>
            </a:r>
          </a:p>
        </p:txBody>
      </p:sp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26C7ED6F-A908-B590-B9F9-648D1DCBCE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681083"/>
              </p:ext>
            </p:extLst>
          </p:nvPr>
        </p:nvGraphicFramePr>
        <p:xfrm>
          <a:off x="3571154" y="3926221"/>
          <a:ext cx="160813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40" imgH="355320" progId="Equation.DSMT4">
                  <p:embed/>
                </p:oleObj>
              </mc:Choice>
              <mc:Fallback>
                <p:oleObj name="Equation" r:id="rId7" imgW="672840" imgH="355320" progId="Equation.DSMT4">
                  <p:embed/>
                  <p:pic>
                    <p:nvPicPr>
                      <p:cNvPr id="10139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154" y="3926221"/>
                        <a:ext cx="1608138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>
            <a:extLst>
              <a:ext uri="{FF2B5EF4-FFF2-40B4-BE49-F238E27FC236}">
                <a16:creationId xmlns:a16="http://schemas.microsoft.com/office/drawing/2014/main" id="{EBF4BD81-E205-0264-DE18-0747530B95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829142"/>
              </p:ext>
            </p:extLst>
          </p:nvPr>
        </p:nvGraphicFramePr>
        <p:xfrm>
          <a:off x="5871442" y="4078621"/>
          <a:ext cx="16859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71320" imgH="177480" progId="Equation.DSMT4">
                  <p:embed/>
                </p:oleObj>
              </mc:Choice>
              <mc:Fallback>
                <p:oleObj name="Equation" r:id="rId9" imgW="571320" imgH="177480" progId="Equation.DSMT4">
                  <p:embed/>
                  <p:pic>
                    <p:nvPicPr>
                      <p:cNvPr id="10139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1442" y="4078621"/>
                        <a:ext cx="16859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>
            <a:extLst>
              <a:ext uri="{FF2B5EF4-FFF2-40B4-BE49-F238E27FC236}">
                <a16:creationId xmlns:a16="http://schemas.microsoft.com/office/drawing/2014/main" id="{495C8138-A685-2AF4-3F39-5EBA6A6C3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501" y="4078621"/>
            <a:ext cx="1649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匀速转动</a:t>
            </a:r>
          </a:p>
        </p:txBody>
      </p:sp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611A2C6F-5570-D9F7-9D1F-37187F4723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350716"/>
              </p:ext>
            </p:extLst>
          </p:nvPr>
        </p:nvGraphicFramePr>
        <p:xfrm>
          <a:off x="3526721" y="4906963"/>
          <a:ext cx="76374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08080" imgH="368280" progId="Equation.DSMT4">
                  <p:embed/>
                </p:oleObj>
              </mc:Choice>
              <mc:Fallback>
                <p:oleObj name="Equation" r:id="rId11" imgW="2908080" imgH="368280" progId="Equation.DSMT4">
                  <p:embed/>
                  <p:pic>
                    <p:nvPicPr>
                      <p:cNvPr id="10139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721" y="4906963"/>
                        <a:ext cx="763746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>
            <a:extLst>
              <a:ext uri="{FF2B5EF4-FFF2-40B4-BE49-F238E27FC236}">
                <a16:creationId xmlns:a16="http://schemas.microsoft.com/office/drawing/2014/main" id="{6F560437-1C9C-F6CA-2DA6-EE1BB541F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501" y="5007995"/>
            <a:ext cx="20252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匀变速转动</a:t>
            </a:r>
          </a:p>
        </p:txBody>
      </p:sp>
    </p:spTree>
    <p:extLst>
      <p:ext uri="{BB962C8B-B14F-4D97-AF65-F5344CB8AC3E}">
        <p14:creationId xmlns:p14="http://schemas.microsoft.com/office/powerpoint/2010/main" val="308691669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2" grpId="0" autoUpdateAnimBg="0"/>
      <p:bldP spid="17" grpId="0" autoUpdateAnimBg="0"/>
      <p:bldP spid="20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1F0C48C-A627-13CD-6DA5-887C1F783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802970"/>
            <a:ext cx="10801200" cy="93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b="1" i="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i="0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某发动机转子在起动过程中的转动方程为</a:t>
            </a:r>
            <a:r>
              <a:rPr lang="zh-CN" altLang="en-US" dirty="0">
                <a:latin typeface="+mj-lt"/>
                <a:sym typeface="Symbol" panose="05050102010706020507" pitchFamily="18" charset="2"/>
              </a:rPr>
              <a:t> </a:t>
            </a:r>
            <a:r>
              <a:rPr lang="en-US" altLang="zh-CN" dirty="0">
                <a:latin typeface="+mj-lt"/>
              </a:rPr>
              <a:t>= </a:t>
            </a:r>
            <a:r>
              <a:rPr lang="en-US" altLang="zh-CN" b="0" dirty="0">
                <a:latin typeface="+mj-lt"/>
              </a:rPr>
              <a:t>t</a:t>
            </a:r>
            <a:r>
              <a:rPr lang="en-US" altLang="zh-CN" baseline="30000" dirty="0">
                <a:latin typeface="+mj-lt"/>
              </a:rPr>
              <a:t>3</a:t>
            </a:r>
            <a:r>
              <a:rPr lang="zh-CN" altLang="en-US" i="0" dirty="0">
                <a:latin typeface="+mj-lt"/>
              </a:rPr>
              <a:t>（</a:t>
            </a:r>
            <a:r>
              <a:rPr lang="en-US" altLang="zh-CN" b="0" i="0" dirty="0">
                <a:latin typeface="+mj-lt"/>
              </a:rPr>
              <a:t>rad</a:t>
            </a:r>
            <a:r>
              <a:rPr lang="zh-CN" altLang="en-US" i="0" dirty="0">
                <a:latin typeface="+mj-lt"/>
              </a:rPr>
              <a:t>），</a:t>
            </a:r>
            <a:r>
              <a:rPr lang="en-US" altLang="zh-CN" b="0" dirty="0">
                <a:latin typeface="+mj-lt"/>
              </a:rPr>
              <a:t>t 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以</a:t>
            </a:r>
            <a:r>
              <a:rPr lang="en-US" altLang="zh-CN" b="0" dirty="0">
                <a:latin typeface="+mj-lt"/>
              </a:rPr>
              <a:t>s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计。试计算转子在</a:t>
            </a:r>
            <a:r>
              <a:rPr lang="en-US" altLang="zh-CN" b="0" i="0" dirty="0">
                <a:latin typeface="+mj-lt"/>
              </a:rPr>
              <a:t>2</a:t>
            </a:r>
            <a:r>
              <a:rPr lang="en-US" altLang="zh-CN" b="0" dirty="0">
                <a:latin typeface="+mj-lt"/>
              </a:rPr>
              <a:t>s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内转过的圈数和 </a:t>
            </a:r>
            <a:r>
              <a:rPr lang="en-US" altLang="zh-CN" b="0" dirty="0">
                <a:latin typeface="+mj-lt"/>
              </a:rPr>
              <a:t>t </a:t>
            </a:r>
            <a:r>
              <a:rPr lang="en-US" altLang="zh-CN" b="0" i="0" dirty="0">
                <a:latin typeface="+mj-lt"/>
              </a:rPr>
              <a:t>=2</a:t>
            </a:r>
            <a:r>
              <a:rPr lang="en-US" altLang="zh-CN" b="0" dirty="0">
                <a:latin typeface="+mj-lt"/>
              </a:rPr>
              <a:t>s</a:t>
            </a:r>
            <a:r>
              <a: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rPr>
              <a:t>时转子的角速度、角加速度。 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C1B164D-E02F-BAEF-96F7-58138EE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637740"/>
            <a:ext cx="6836872" cy="1632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30000"/>
              </a:lnSpc>
              <a:buNone/>
            </a:pPr>
            <a:r>
              <a:rPr lang="zh-CN" altLang="en-US" i="0" dirty="0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  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由转动方程</a:t>
            </a:r>
            <a:r>
              <a:rPr lang="zh-CN" altLang="en-US" b="0" dirty="0">
                <a:latin typeface="+mj-lt"/>
                <a:ea typeface="微软雅黑" panose="020B0503020204020204" pitchFamily="34" charset="-122"/>
                <a:sym typeface="Symbol" panose="05050102010706020507" pitchFamily="18" charset="2"/>
              </a:rPr>
              <a:t></a:t>
            </a:r>
            <a:r>
              <a:rPr lang="zh-CN" altLang="en-US" b="0" i="0" dirty="0">
                <a:latin typeface="+mj-lt"/>
                <a:ea typeface="微软雅黑" panose="020B0503020204020204" pitchFamily="34" charset="-122"/>
                <a:sym typeface="Symbol" panose="05050102010706020507" pitchFamily="18" charset="2"/>
              </a:rPr>
              <a:t>  </a:t>
            </a:r>
            <a:r>
              <a:rPr lang="en-US" altLang="zh-CN" b="0" i="0" dirty="0">
                <a:latin typeface="+mj-lt"/>
                <a:ea typeface="微软雅黑" panose="020B0503020204020204" pitchFamily="34" charset="-122"/>
              </a:rPr>
              <a:t>= </a:t>
            </a:r>
            <a:r>
              <a:rPr lang="en-US" altLang="zh-CN" b="0" dirty="0">
                <a:latin typeface="+mj-lt"/>
                <a:ea typeface="微软雅黑" panose="020B0503020204020204" pitchFamily="34" charset="-122"/>
              </a:rPr>
              <a:t>t</a:t>
            </a:r>
            <a:r>
              <a:rPr lang="en-US" altLang="zh-CN" b="0" i="0" baseline="30000" dirty="0">
                <a:latin typeface="+mj-lt"/>
                <a:ea typeface="微软雅黑" panose="020B0503020204020204" pitchFamily="34" charset="-122"/>
              </a:rPr>
              <a:t>3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可知</a:t>
            </a:r>
          </a:p>
          <a:p>
            <a:pPr algn="l">
              <a:lnSpc>
                <a:spcPct val="130000"/>
              </a:lnSpc>
              <a:buNone/>
            </a:pPr>
            <a:r>
              <a:rPr lang="en-US" altLang="zh-CN" b="0" i="0" dirty="0">
                <a:latin typeface="+mj-lt"/>
                <a:ea typeface="微软雅黑" panose="020B0503020204020204" pitchFamily="34" charset="-122"/>
              </a:rPr>
              <a:t>      </a:t>
            </a:r>
            <a:r>
              <a:rPr lang="en-US" altLang="zh-CN" b="0" dirty="0">
                <a:latin typeface="+mj-lt"/>
                <a:ea typeface="微软雅黑" panose="020B0503020204020204" pitchFamily="34" charset="-122"/>
              </a:rPr>
              <a:t>t</a:t>
            </a:r>
            <a:r>
              <a:rPr lang="en-US" altLang="zh-CN" b="0" i="0" dirty="0">
                <a:latin typeface="+mj-lt"/>
                <a:ea typeface="微软雅黑" panose="020B0503020204020204" pitchFamily="34" charset="-122"/>
              </a:rPr>
              <a:t> =0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时，</a:t>
            </a:r>
            <a:r>
              <a:rPr lang="zh-CN" altLang="en-US" b="0" dirty="0">
                <a:latin typeface="+mj-lt"/>
                <a:ea typeface="微软雅黑" panose="020B0503020204020204" pitchFamily="34" charset="-122"/>
                <a:sym typeface="Symbol" panose="05050102010706020507" pitchFamily="18" charset="2"/>
              </a:rPr>
              <a:t></a:t>
            </a:r>
            <a:r>
              <a:rPr lang="en-US" altLang="zh-CN" b="0" i="0" baseline="-25000" dirty="0">
                <a:latin typeface="+mj-lt"/>
                <a:ea typeface="微软雅黑" panose="020B0503020204020204" pitchFamily="34" charset="-122"/>
              </a:rPr>
              <a:t>0</a:t>
            </a:r>
            <a:r>
              <a:rPr lang="zh-CN" altLang="en-US" b="0" i="0" dirty="0">
                <a:latin typeface="+mj-lt"/>
                <a:ea typeface="微软雅黑" panose="020B0503020204020204" pitchFamily="34" charset="-122"/>
              </a:rPr>
              <a:t>＝</a:t>
            </a:r>
            <a:r>
              <a:rPr lang="en-US" altLang="zh-CN" b="0" i="0" dirty="0">
                <a:latin typeface="+mj-lt"/>
                <a:ea typeface="微软雅黑" panose="020B0503020204020204" pitchFamily="34" charset="-122"/>
              </a:rPr>
              <a:t>0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，转子在</a:t>
            </a:r>
            <a:r>
              <a:rPr lang="en-US" altLang="zh-CN" b="0" i="0" dirty="0">
                <a:latin typeface="+mj-lt"/>
                <a:ea typeface="微软雅黑" panose="020B0503020204020204" pitchFamily="34" charset="-122"/>
              </a:rPr>
              <a:t>2</a:t>
            </a:r>
            <a:r>
              <a:rPr lang="en-US" altLang="zh-CN" b="0" dirty="0">
                <a:latin typeface="+mj-lt"/>
                <a:ea typeface="微软雅黑" panose="020B0503020204020204" pitchFamily="34" charset="-122"/>
              </a:rPr>
              <a:t>s</a:t>
            </a:r>
            <a:r>
              <a:rPr lang="zh-CN" altLang="en-US" i="0" dirty="0">
                <a:latin typeface="+mj-lt"/>
                <a:ea typeface="黑体" panose="02010609060101010101" pitchFamily="49" charset="-122"/>
              </a:rPr>
              <a:t>内转过的角度为</a:t>
            </a:r>
          </a:p>
          <a:p>
            <a:pPr algn="l">
              <a:lnSpc>
                <a:spcPct val="130000"/>
              </a:lnSpc>
              <a:buNone/>
            </a:pPr>
            <a:r>
              <a:rPr lang="zh-CN" altLang="en-US" i="0" dirty="0">
                <a:latin typeface="+mj-lt"/>
                <a:ea typeface="微软雅黑" panose="020B0503020204020204" pitchFamily="34" charset="-122"/>
              </a:rPr>
              <a:t>     </a:t>
            </a:r>
            <a:r>
              <a:rPr lang="zh-CN" altLang="en-US" b="0" dirty="0">
                <a:latin typeface="+mj-lt"/>
                <a:ea typeface="微软雅黑" panose="020B0503020204020204" pitchFamily="34" charset="-122"/>
                <a:sym typeface="Symbol" panose="05050102010706020507" pitchFamily="18" charset="2"/>
              </a:rPr>
              <a:t></a:t>
            </a:r>
            <a:r>
              <a:rPr lang="zh-CN" altLang="en-US" b="0" i="0" dirty="0">
                <a:latin typeface="+mj-lt"/>
                <a:ea typeface="微软雅黑" panose="020B0503020204020204" pitchFamily="34" charset="-122"/>
              </a:rPr>
              <a:t>－</a:t>
            </a:r>
            <a:r>
              <a:rPr lang="zh-CN" altLang="en-US" b="0" dirty="0">
                <a:latin typeface="+mj-lt"/>
                <a:ea typeface="微软雅黑" panose="020B0503020204020204" pitchFamily="34" charset="-122"/>
                <a:sym typeface="Symbol" panose="05050102010706020507" pitchFamily="18" charset="2"/>
              </a:rPr>
              <a:t></a:t>
            </a:r>
            <a:r>
              <a:rPr lang="en-US" altLang="zh-CN" b="0" i="0" baseline="-25000" dirty="0">
                <a:latin typeface="+mj-lt"/>
                <a:ea typeface="微软雅黑" panose="020B0503020204020204" pitchFamily="34" charset="-122"/>
              </a:rPr>
              <a:t>0</a:t>
            </a:r>
            <a:r>
              <a:rPr lang="en-US" altLang="zh-CN" b="0" i="0" dirty="0">
                <a:latin typeface="+mj-lt"/>
                <a:ea typeface="微软雅黑" panose="020B0503020204020204" pitchFamily="34" charset="-122"/>
              </a:rPr>
              <a:t>= </a:t>
            </a:r>
            <a:r>
              <a:rPr lang="en-US" altLang="zh-CN" b="0" dirty="0">
                <a:latin typeface="+mj-lt"/>
                <a:ea typeface="微软雅黑" panose="020B0503020204020204" pitchFamily="34" charset="-122"/>
              </a:rPr>
              <a:t>t</a:t>
            </a:r>
            <a:r>
              <a:rPr lang="en-US" altLang="zh-CN" b="0" i="0" baseline="30000" dirty="0">
                <a:latin typeface="+mj-lt"/>
                <a:ea typeface="微软雅黑" panose="020B0503020204020204" pitchFamily="34" charset="-122"/>
              </a:rPr>
              <a:t>3</a:t>
            </a:r>
            <a:r>
              <a:rPr lang="zh-CN" altLang="en-US" b="0" i="0" dirty="0">
                <a:latin typeface="+mj-lt"/>
                <a:ea typeface="微软雅黑" panose="020B0503020204020204" pitchFamily="34" charset="-122"/>
              </a:rPr>
              <a:t>－</a:t>
            </a:r>
            <a:r>
              <a:rPr lang="en-US" altLang="zh-CN" b="0" i="0" dirty="0">
                <a:latin typeface="+mj-lt"/>
                <a:ea typeface="微软雅黑" panose="020B0503020204020204" pitchFamily="34" charset="-122"/>
              </a:rPr>
              <a:t>0</a:t>
            </a:r>
            <a:r>
              <a:rPr lang="zh-CN" altLang="en-US" b="0" i="0" dirty="0">
                <a:latin typeface="+mn-lt"/>
                <a:ea typeface="微软雅黑" panose="020B0503020204020204" pitchFamily="34" charset="-122"/>
              </a:rPr>
              <a:t>＝</a:t>
            </a:r>
            <a:r>
              <a:rPr lang="en-US" altLang="zh-CN" b="0" i="0" dirty="0">
                <a:latin typeface="+mn-lt"/>
                <a:ea typeface="微软雅黑" panose="020B0503020204020204" pitchFamily="34" charset="-122"/>
              </a:rPr>
              <a:t>2</a:t>
            </a:r>
            <a:r>
              <a:rPr lang="en-US" altLang="zh-CN" b="0" i="0" baseline="30000" dirty="0">
                <a:latin typeface="+mn-lt"/>
                <a:ea typeface="微软雅黑" panose="020B0503020204020204" pitchFamily="34" charset="-122"/>
              </a:rPr>
              <a:t>3</a:t>
            </a:r>
            <a:r>
              <a:rPr lang="en-US" altLang="zh-CN" b="0" i="0" dirty="0">
                <a:latin typeface="+mn-lt"/>
                <a:ea typeface="微软雅黑" panose="020B0503020204020204" pitchFamily="34" charset="-122"/>
              </a:rPr>
              <a:t> rad</a:t>
            </a:r>
            <a:r>
              <a:rPr lang="zh-CN" altLang="en-US" b="0" i="0" dirty="0">
                <a:latin typeface="+mn-lt"/>
                <a:ea typeface="微软雅黑" panose="020B0503020204020204" pitchFamily="34" charset="-122"/>
              </a:rPr>
              <a:t>－</a:t>
            </a:r>
            <a:r>
              <a:rPr lang="en-US" altLang="zh-CN" b="0" i="0" dirty="0">
                <a:latin typeface="+mn-lt"/>
                <a:ea typeface="微软雅黑" panose="020B0503020204020204" pitchFamily="34" charset="-122"/>
              </a:rPr>
              <a:t>0</a:t>
            </a:r>
            <a:r>
              <a:rPr lang="zh-CN" altLang="en-US" b="0" i="0" dirty="0">
                <a:latin typeface="+mn-lt"/>
                <a:ea typeface="微软雅黑" panose="020B0503020204020204" pitchFamily="34" charset="-122"/>
              </a:rPr>
              <a:t>＝</a:t>
            </a:r>
            <a:r>
              <a:rPr lang="en-US" altLang="zh-CN" b="0" i="0" dirty="0">
                <a:latin typeface="+mn-lt"/>
                <a:ea typeface="微软雅黑" panose="020B0503020204020204" pitchFamily="34" charset="-122"/>
              </a:rPr>
              <a:t>8rad</a:t>
            </a:r>
            <a:r>
              <a:rPr lang="en-US" altLang="zh-CN" b="0" i="0" dirty="0">
                <a:latin typeface="+mj-lt"/>
                <a:ea typeface="黑体" panose="02010609060101010101" pitchFamily="49" charset="-122"/>
              </a:rPr>
              <a:t>/</a:t>
            </a:r>
            <a:r>
              <a:rPr lang="en-US" altLang="zh-CN" b="0" dirty="0">
                <a:latin typeface="+mn-lt"/>
                <a:ea typeface="黑体" panose="02010609060101010101" pitchFamily="49" charset="-122"/>
              </a:rPr>
              <a:t>s</a:t>
            </a:r>
            <a:r>
              <a:rPr lang="en-US" altLang="zh-CN" b="0" i="0" baseline="30000" dirty="0">
                <a:latin typeface="+mj-lt"/>
                <a:ea typeface="黑体" panose="02010609060101010101" pitchFamily="49" charset="-122"/>
              </a:rPr>
              <a:t>2</a:t>
            </a:r>
            <a:endParaRPr lang="zh-CN" altLang="en-US" i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0E1B313-E86A-1D63-2502-A67D4A7B704F}"/>
              </a:ext>
            </a:extLst>
          </p:cNvPr>
          <p:cNvGrpSpPr/>
          <p:nvPr/>
        </p:nvGrpSpPr>
        <p:grpSpPr>
          <a:xfrm>
            <a:off x="407368" y="2924944"/>
            <a:ext cx="6836872" cy="2736839"/>
            <a:chOff x="407368" y="2924944"/>
            <a:chExt cx="6836872" cy="2736839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143BABE0-0031-27D0-F86B-F2AC9874B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68" y="2924944"/>
              <a:ext cx="6836872" cy="27368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just"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•"/>
                <a:defRPr kumimoji="1" sz="24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–"/>
                <a:defRPr kumimoji="1" sz="24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Impact" panose="020B080603090205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30000"/>
                </a:lnSpc>
                <a:buNone/>
              </a:pPr>
              <a:endParaRPr lang="en-US" altLang="zh-CN" b="0" i="0" dirty="0">
                <a:latin typeface="+mn-lt"/>
                <a:ea typeface="微软雅黑" panose="020B0503020204020204" pitchFamily="34" charset="-122"/>
              </a:endParaRPr>
            </a:p>
            <a:p>
              <a:pPr algn="l">
                <a:lnSpc>
                  <a:spcPct val="130000"/>
                </a:lnSpc>
                <a:buNone/>
              </a:pPr>
              <a:r>
                <a:rPr lang="zh-CN" altLang="en-US" i="0" dirty="0">
                  <a:latin typeface="+mj-lt"/>
                  <a:ea typeface="黑体" panose="02010609060101010101" pitchFamily="49" charset="-122"/>
                </a:rPr>
                <a:t>      转子转过的圈数为 </a:t>
              </a:r>
              <a:r>
                <a:rPr lang="en-US" altLang="zh-CN" dirty="0">
                  <a:latin typeface="+mj-lt"/>
                  <a:ea typeface="黑体" panose="02010609060101010101" pitchFamily="49" charset="-122"/>
                </a:rPr>
                <a:t>N</a:t>
              </a:r>
              <a:r>
                <a:rPr lang="zh-CN" altLang="en-US" i="0" dirty="0">
                  <a:latin typeface="+mj-lt"/>
                  <a:ea typeface="黑体" panose="02010609060101010101" pitchFamily="49" charset="-122"/>
                </a:rPr>
                <a:t>＝  　　　　　＝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1.27</a:t>
              </a:r>
              <a:r>
                <a:rPr lang="zh-CN" altLang="en-US" i="0" dirty="0">
                  <a:latin typeface="+mj-lt"/>
                  <a:ea typeface="黑体" panose="02010609060101010101" pitchFamily="49" charset="-122"/>
                </a:rPr>
                <a:t>圈</a:t>
              </a:r>
              <a:endParaRPr lang="en-US" altLang="zh-CN" i="0" dirty="0">
                <a:latin typeface="+mj-lt"/>
                <a:ea typeface="黑体" panose="02010609060101010101" pitchFamily="49" charset="-122"/>
              </a:endParaRPr>
            </a:p>
            <a:p>
              <a:pPr algn="l">
                <a:lnSpc>
                  <a:spcPct val="130000"/>
                </a:lnSpc>
                <a:buNone/>
              </a:pPr>
              <a:r>
                <a:rPr lang="zh-CN" altLang="en-US" i="0" dirty="0">
                  <a:latin typeface="+mj-lt"/>
                  <a:ea typeface="黑体" panose="02010609060101010101" pitchFamily="49" charset="-122"/>
                </a:rPr>
                <a:t>      转子的角速度和角加速度为</a:t>
              </a:r>
            </a:p>
            <a:p>
              <a:pPr algn="l">
                <a:lnSpc>
                  <a:spcPct val="130000"/>
                </a:lnSpc>
                <a:buNone/>
              </a:pPr>
              <a:r>
                <a:rPr lang="zh-CN" altLang="en-US" dirty="0">
                  <a:latin typeface="+mj-lt"/>
                  <a:ea typeface="黑体" panose="02010609060101010101" pitchFamily="49" charset="-122"/>
                </a:rPr>
                <a:t>         </a:t>
              </a:r>
              <a:r>
                <a:rPr lang="zh-CN" altLang="en-US" b="0" dirty="0">
                  <a:latin typeface="+mj-lt"/>
                  <a:ea typeface="黑体" panose="02010609060101010101" pitchFamily="49" charset="-122"/>
                  <a:sym typeface="Symbol" panose="05050102010706020507" pitchFamily="18" charset="2"/>
                </a:rPr>
                <a:t></a:t>
              </a:r>
              <a:r>
                <a:rPr lang="zh-CN" altLang="en-US" b="0" i="0" dirty="0">
                  <a:latin typeface="+mj-lt"/>
                  <a:ea typeface="黑体" panose="02010609060101010101" pitchFamily="49" charset="-122"/>
                </a:rPr>
                <a:t> 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=d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  <a:sym typeface="Symbol" panose="05050102010706020507" pitchFamily="18" charset="2"/>
                </a:rPr>
                <a:t>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/d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</a:rPr>
                <a:t>t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=3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</a:rPr>
                <a:t>t</a:t>
              </a:r>
              <a:r>
                <a:rPr lang="en-US" altLang="zh-CN" b="0" i="0" baseline="30000" dirty="0">
                  <a:latin typeface="+mj-lt"/>
                  <a:ea typeface="黑体" panose="02010609060101010101" pitchFamily="49" charset="-122"/>
                </a:rPr>
                <a:t>2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               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  <a:sym typeface="Symbol" panose="05050102010706020507" pitchFamily="18" charset="2"/>
                </a:rPr>
                <a:t></a:t>
              </a:r>
              <a:r>
                <a:rPr lang="en-US" altLang="zh-CN" dirty="0">
                  <a:latin typeface="+mj-lt"/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= d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  <a:sym typeface="Symbol" panose="05050102010706020507" pitchFamily="18" charset="2"/>
                </a:rPr>
                <a:t>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/d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</a:rPr>
                <a:t>t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 =6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</a:rPr>
                <a:t>t</a:t>
              </a:r>
            </a:p>
            <a:p>
              <a:pPr algn="l">
                <a:lnSpc>
                  <a:spcPct val="130000"/>
                </a:lnSpc>
                <a:buNone/>
              </a:pPr>
              <a:r>
                <a:rPr lang="en-US" altLang="zh-CN" i="0" dirty="0">
                  <a:latin typeface="+mj-lt"/>
                  <a:ea typeface="黑体" panose="02010609060101010101" pitchFamily="49" charset="-122"/>
                </a:rPr>
                <a:t>      </a:t>
              </a:r>
              <a:r>
                <a:rPr lang="zh-CN" altLang="en-US" i="0" dirty="0">
                  <a:latin typeface="+mj-lt"/>
                  <a:ea typeface="黑体" panose="02010609060101010101" pitchFamily="49" charset="-122"/>
                </a:rPr>
                <a:t>当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</a:rPr>
                <a:t>t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=2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</a:rPr>
                <a:t>s</a:t>
              </a:r>
              <a:r>
                <a:rPr lang="zh-CN" altLang="en-US" i="0" dirty="0">
                  <a:latin typeface="+mj-lt"/>
                  <a:ea typeface="黑体" panose="02010609060101010101" pitchFamily="49" charset="-122"/>
                </a:rPr>
                <a:t>时   </a:t>
              </a:r>
              <a:r>
                <a:rPr lang="zh-CN" altLang="en-US" b="0" dirty="0">
                  <a:latin typeface="+mj-lt"/>
                  <a:ea typeface="黑体" panose="02010609060101010101" pitchFamily="49" charset="-122"/>
                  <a:sym typeface="Symbol" panose="05050102010706020507" pitchFamily="18" charset="2"/>
                </a:rPr>
                <a:t></a:t>
              </a:r>
              <a:r>
                <a:rPr lang="zh-CN" altLang="en-US" b="0" i="0" dirty="0">
                  <a:latin typeface="+mj-lt"/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=3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</a:rPr>
                <a:t>t</a:t>
              </a:r>
              <a:r>
                <a:rPr lang="en-US" altLang="zh-CN" b="0" i="0" baseline="30000" dirty="0">
                  <a:latin typeface="+mj-lt"/>
                  <a:ea typeface="黑体" panose="02010609060101010101" pitchFamily="49" charset="-122"/>
                </a:rPr>
                <a:t>2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 =12rad/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</a:rPr>
                <a:t>s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         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  <a:sym typeface="Symbol" panose="05050102010706020507" pitchFamily="18" charset="2"/>
                </a:rPr>
                <a:t>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= 6</a:t>
              </a:r>
              <a:r>
                <a:rPr lang="en-US" altLang="zh-CN" b="0" dirty="0">
                  <a:latin typeface="+mj-lt"/>
                  <a:ea typeface="黑体" panose="02010609060101010101" pitchFamily="49" charset="-122"/>
                </a:rPr>
                <a:t>t</a:t>
              </a:r>
              <a:r>
                <a:rPr lang="en-US" altLang="zh-CN" b="0" i="0" dirty="0">
                  <a:latin typeface="+mj-lt"/>
                  <a:ea typeface="黑体" panose="02010609060101010101" pitchFamily="49" charset="-122"/>
                </a:rPr>
                <a:t> =12rad/</a:t>
              </a:r>
              <a:r>
                <a:rPr lang="en-US" altLang="zh-CN" b="0" dirty="0">
                  <a:latin typeface="+mn-lt"/>
                  <a:ea typeface="黑体" panose="02010609060101010101" pitchFamily="49" charset="-122"/>
                </a:rPr>
                <a:t>s</a:t>
              </a:r>
              <a:r>
                <a:rPr lang="en-US" altLang="zh-CN" b="0" i="0" baseline="30000" dirty="0">
                  <a:latin typeface="+mj-lt"/>
                  <a:ea typeface="黑体" panose="02010609060101010101" pitchFamily="49" charset="-122"/>
                </a:rPr>
                <a:t>2</a:t>
              </a:r>
              <a:endParaRPr lang="zh-CN" altLang="en-US" i="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6" name="Object 12">
              <a:extLst>
                <a:ext uri="{FF2B5EF4-FFF2-40B4-BE49-F238E27FC236}">
                  <a16:creationId xmlns:a16="http://schemas.microsoft.com/office/drawing/2014/main" id="{D5D81034-F85D-A1FD-2F6B-303D7CE062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4551472"/>
                </p:ext>
              </p:extLst>
            </p:nvPr>
          </p:nvGraphicFramePr>
          <p:xfrm>
            <a:off x="4079776" y="3367095"/>
            <a:ext cx="1503363" cy="766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749160" imgH="393480" progId="Equation.DSMT4">
                    <p:embed/>
                  </p:oleObj>
                </mc:Choice>
                <mc:Fallback>
                  <p:oleObj name="Equation" r:id="rId3" imgW="749160" imgH="393480" progId="Equation.DSMT4">
                    <p:embed/>
                    <p:pic>
                      <p:nvPicPr>
                        <p:cNvPr id="10" name="Object 12">
                          <a:extLst>
                            <a:ext uri="{FF2B5EF4-FFF2-40B4-BE49-F238E27FC236}">
                              <a16:creationId xmlns:a16="http://schemas.microsoft.com/office/drawing/2014/main" id="{FFD136EB-DD9E-DCE7-B209-B5BBD4D814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9776" y="3367095"/>
                          <a:ext cx="1503363" cy="766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506862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31FE06D9-8D47-17F7-49A4-7CE891F8C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959578"/>
            <a:ext cx="6192687" cy="565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kumimoji="0" lang="zh-CN" altLang="en-US" sz="28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定轴转动刚体上各点的速度、加速度</a:t>
            </a: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C454D250-218B-DA3D-7DD5-32C47E4EC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806" y="1788577"/>
            <a:ext cx="2348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点的运动方程</a:t>
            </a:r>
          </a:p>
        </p:txBody>
      </p:sp>
      <p:sp>
        <p:nvSpPr>
          <p:cNvPr id="17" name="Text Box 17">
            <a:extLst>
              <a:ext uri="{FF2B5EF4-FFF2-40B4-BE49-F238E27FC236}">
                <a16:creationId xmlns:a16="http://schemas.microsoft.com/office/drawing/2014/main" id="{F40B307C-9533-9E72-D477-3A0D2813A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44" y="2606604"/>
            <a:ext cx="302894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速度及速度分布图</a:t>
            </a:r>
          </a:p>
          <a:p>
            <a:endParaRPr lang="zh-CN" altLang="en-US" sz="2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61">
            <a:extLst>
              <a:ext uri="{FF2B5EF4-FFF2-40B4-BE49-F238E27FC236}">
                <a16:creationId xmlns:a16="http://schemas.microsoft.com/office/drawing/2014/main" id="{B0B6E72B-CE71-76FA-6174-CE66E43DE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4445" y="1103312"/>
            <a:ext cx="4561480" cy="5040560"/>
          </a:xfrm>
          <a:prstGeom prst="rect">
            <a:avLst/>
          </a:prstGeom>
          <a:solidFill>
            <a:srgbClr val="B9CDE5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" name="Picture 19">
            <a:extLst>
              <a:ext uri="{FF2B5EF4-FFF2-40B4-BE49-F238E27FC236}">
                <a16:creationId xmlns:a16="http://schemas.microsoft.com/office/drawing/2014/main" id="{9317376B-98FE-5754-9BFB-C074F1D12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066" y="1412615"/>
            <a:ext cx="4039737" cy="1835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1" descr="07-04">
            <a:extLst>
              <a:ext uri="{FF2B5EF4-FFF2-40B4-BE49-F238E27FC236}">
                <a16:creationId xmlns:a16="http://schemas.microsoft.com/office/drawing/2014/main" id="{382025A8-0A17-A304-B433-79244D0FD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918" y="3595630"/>
            <a:ext cx="4084885" cy="2297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18">
            <a:extLst>
              <a:ext uri="{FF2B5EF4-FFF2-40B4-BE49-F238E27FC236}">
                <a16:creationId xmlns:a16="http://schemas.microsoft.com/office/drawing/2014/main" id="{CEDD4AB4-BEBB-E0EE-2AD2-870E577C26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899390"/>
              </p:ext>
            </p:extLst>
          </p:nvPr>
        </p:nvGraphicFramePr>
        <p:xfrm>
          <a:off x="4209266" y="1832168"/>
          <a:ext cx="10937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5320" imgH="164880" progId="Equation.DSMT4">
                  <p:embed/>
                </p:oleObj>
              </mc:Choice>
              <mc:Fallback>
                <p:oleObj name="Equation" r:id="rId5" imgW="355320" imgH="164880" progId="Equation.DSMT4">
                  <p:embed/>
                  <p:pic>
                    <p:nvPicPr>
                      <p:cNvPr id="10241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9266" y="1832168"/>
                        <a:ext cx="10937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>
            <a:extLst>
              <a:ext uri="{FF2B5EF4-FFF2-40B4-BE49-F238E27FC236}">
                <a16:creationId xmlns:a16="http://schemas.microsoft.com/office/drawing/2014/main" id="{B593AFB2-624C-6EF8-6C3F-BF7FACC03E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047320"/>
              </p:ext>
            </p:extLst>
          </p:nvPr>
        </p:nvGraphicFramePr>
        <p:xfrm>
          <a:off x="4203970" y="2688815"/>
          <a:ext cx="24415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88840" imgH="177480" progId="Equation.DSMT4">
                  <p:embed/>
                </p:oleObj>
              </mc:Choice>
              <mc:Fallback>
                <p:oleObj name="Equation" r:id="rId7" imgW="888840" imgH="177480" progId="Equation.DSMT4">
                  <p:embed/>
                  <p:pic>
                    <p:nvPicPr>
                      <p:cNvPr id="1024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970" y="2688815"/>
                        <a:ext cx="244157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7">
            <a:extLst>
              <a:ext uri="{FF2B5EF4-FFF2-40B4-BE49-F238E27FC236}">
                <a16:creationId xmlns:a16="http://schemas.microsoft.com/office/drawing/2014/main" id="{78DC1D82-299B-F039-A477-10B632A80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44" y="3475430"/>
            <a:ext cx="44117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加速度及加速度分布图</a:t>
            </a:r>
          </a:p>
        </p:txBody>
      </p:sp>
      <p:graphicFrame>
        <p:nvGraphicFramePr>
          <p:cNvPr id="12" name="Object 17">
            <a:extLst>
              <a:ext uri="{FF2B5EF4-FFF2-40B4-BE49-F238E27FC236}">
                <a16:creationId xmlns:a16="http://schemas.microsoft.com/office/drawing/2014/main" id="{89CB2B89-BCE4-AD70-857A-E9BD3A8F6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708931"/>
              </p:ext>
            </p:extLst>
          </p:nvPr>
        </p:nvGraphicFramePr>
        <p:xfrm>
          <a:off x="770369" y="4084429"/>
          <a:ext cx="5732478" cy="88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69920" imgH="444240" progId="Equation.DSMT4">
                  <p:embed/>
                </p:oleObj>
              </mc:Choice>
              <mc:Fallback>
                <p:oleObj name="Equation" r:id="rId9" imgW="2869920" imgH="444240" progId="Equation.DSMT4">
                  <p:embed/>
                  <p:pic>
                    <p:nvPicPr>
                      <p:cNvPr id="10344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369" y="4084429"/>
                        <a:ext cx="5732478" cy="885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5DF14839-8F76-6082-3842-B40053043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708268"/>
              </p:ext>
            </p:extLst>
          </p:nvPr>
        </p:nvGraphicFramePr>
        <p:xfrm>
          <a:off x="768707" y="5098312"/>
          <a:ext cx="33877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82680" imgH="228600" progId="Equation.DSMT4">
                  <p:embed/>
                </p:oleObj>
              </mc:Choice>
              <mc:Fallback>
                <p:oleObj name="Equation" r:id="rId11" imgW="1282680" imgH="228600" progId="Equation.DSMT4">
                  <p:embed/>
                  <p:pic>
                    <p:nvPicPr>
                      <p:cNvPr id="10344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707" y="5098312"/>
                        <a:ext cx="33877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236215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2" grpId="0" autoUpdateAnimBg="0"/>
      <p:bldP spid="17" grpId="0" autoUpdateAnimBg="0"/>
      <p:bldP spid="3" grpId="0" animBg="1"/>
      <p:bldP spid="1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64442" y="91693"/>
            <a:ext cx="6854762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r>
              <a:rPr kumimoji="1" lang="en-US" altLang="zh-CN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3400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点的运动与刚体的基本运动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67700E-995E-9C8C-958B-FDCAFB9C5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022350"/>
            <a:ext cx="7920880" cy="497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•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Impact" panose="020B080603090205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课后作业：</a:t>
            </a:r>
            <a:r>
              <a:rPr lang="en-US" altLang="zh-CN" i="0" dirty="0">
                <a:latin typeface="+mn-lt"/>
                <a:ea typeface="微软雅黑" panose="020B0503020204020204" pitchFamily="34" charset="-122"/>
              </a:rPr>
              <a:t>4-3 </a:t>
            </a:r>
            <a:r>
              <a:rPr lang="zh-CN" altLang="en-US" i="0" dirty="0">
                <a:latin typeface="+mn-lt"/>
                <a:ea typeface="微软雅黑" panose="020B0503020204020204" pitchFamily="34" charset="-122"/>
              </a:rPr>
              <a:t>、 </a:t>
            </a:r>
            <a:r>
              <a:rPr lang="en-US" altLang="zh-CN" i="0" dirty="0">
                <a:latin typeface="+mn-lt"/>
                <a:ea typeface="微软雅黑" panose="020B0503020204020204" pitchFamily="34" charset="-122"/>
              </a:rPr>
              <a:t>4-8</a:t>
            </a:r>
            <a:r>
              <a:rPr lang="zh-CN" altLang="en-US" i="0" dirty="0">
                <a:latin typeface="+mn-lt"/>
                <a:ea typeface="微软雅黑" panose="020B0503020204020204" pitchFamily="34" charset="-122"/>
              </a:rPr>
              <a:t> 、</a:t>
            </a:r>
            <a:r>
              <a:rPr lang="en-US" altLang="zh-CN" i="0" dirty="0">
                <a:latin typeface="+mn-lt"/>
                <a:ea typeface="微软雅黑" panose="020B0503020204020204" pitchFamily="34" charset="-122"/>
              </a:rPr>
              <a:t>4-10</a:t>
            </a:r>
            <a:r>
              <a:rPr lang="zh-CN" altLang="en-US" i="0" dirty="0">
                <a:latin typeface="+mn-lt"/>
                <a:ea typeface="微软雅黑" panose="020B0503020204020204" pitchFamily="34" charset="-122"/>
              </a:rPr>
              <a:t> 、</a:t>
            </a:r>
            <a:r>
              <a:rPr lang="en-US" altLang="zh-CN" i="0" dirty="0">
                <a:latin typeface="+mn-lt"/>
                <a:ea typeface="微软雅黑" panose="020B0503020204020204" pitchFamily="34" charset="-122"/>
              </a:rPr>
              <a:t> 4-12</a:t>
            </a:r>
            <a:endParaRPr lang="zh-CN" altLang="en-US" i="0" dirty="0"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302461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theme/theme1.xml><?xml version="1.0" encoding="utf-8"?>
<a:theme xmlns:a="http://schemas.openxmlformats.org/drawingml/2006/main" name="1_Update 10-8-02">
  <a:themeElements>
    <a:clrScheme name="Update 10-8-0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Update 10-8-02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Update 10-8-0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pdate 10-8-0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pdate 10-8-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6572</TotalTime>
  <Words>1268</Words>
  <Application>Microsoft Office PowerPoint</Application>
  <PresentationFormat>宽屏</PresentationFormat>
  <Paragraphs>181</Paragraphs>
  <Slides>24</Slides>
  <Notes>24</Notes>
  <HiddenSlides>0</HiddenSlides>
  <MMClips>6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24</vt:i4>
      </vt:variant>
    </vt:vector>
  </HeadingPairs>
  <TitlesOfParts>
    <vt:vector size="45" baseType="lpstr">
      <vt:lpstr>Monotype Sorts</vt:lpstr>
      <vt:lpstr>黑体</vt:lpstr>
      <vt:lpstr>华文彩云</vt:lpstr>
      <vt:lpstr>楷体_GB2312</vt:lpstr>
      <vt:lpstr>宋体</vt:lpstr>
      <vt:lpstr>微软雅黑</vt:lpstr>
      <vt:lpstr>Arial</vt:lpstr>
      <vt:lpstr>Bookman Old Style</vt:lpstr>
      <vt:lpstr>Calibri</vt:lpstr>
      <vt:lpstr>Impact</vt:lpstr>
      <vt:lpstr>Monotype Corsiva</vt:lpstr>
      <vt:lpstr>Times</vt:lpstr>
      <vt:lpstr>Times New Roman</vt:lpstr>
      <vt:lpstr>Wingdings</vt:lpstr>
      <vt:lpstr>1_Update 10-8-02</vt:lpstr>
      <vt:lpstr>自定义设计方案</vt:lpstr>
      <vt:lpstr>1_自定义设计方案</vt:lpstr>
      <vt:lpstr>Equation</vt:lpstr>
      <vt:lpstr>Microsoft Equation 3.0</vt:lpstr>
      <vt:lpstr>MathType 6.0 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wsn</dc:creator>
  <cp:lastModifiedBy>化平 吴</cp:lastModifiedBy>
  <cp:revision>453</cp:revision>
  <dcterms:created xsi:type="dcterms:W3CDTF">2006-04-13T12:56:12Z</dcterms:created>
  <dcterms:modified xsi:type="dcterms:W3CDTF">2022-09-26T06:28:18Z</dcterms:modified>
</cp:coreProperties>
</file>