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 id="2147483676" r:id="rId2"/>
    <p:sldMasterId id="2147483678" r:id="rId3"/>
  </p:sldMasterIdLst>
  <p:notesMasterIdLst>
    <p:notesMasterId r:id="rId28"/>
  </p:notesMasterIdLst>
  <p:sldIdLst>
    <p:sldId id="802" r:id="rId4"/>
    <p:sldId id="873" r:id="rId5"/>
    <p:sldId id="874" r:id="rId6"/>
    <p:sldId id="875" r:id="rId7"/>
    <p:sldId id="876" r:id="rId8"/>
    <p:sldId id="878" r:id="rId9"/>
    <p:sldId id="817" r:id="rId10"/>
    <p:sldId id="879" r:id="rId11"/>
    <p:sldId id="880" r:id="rId12"/>
    <p:sldId id="881" r:id="rId13"/>
    <p:sldId id="882" r:id="rId14"/>
    <p:sldId id="883" r:id="rId15"/>
    <p:sldId id="884" r:id="rId16"/>
    <p:sldId id="885" r:id="rId17"/>
    <p:sldId id="886" r:id="rId18"/>
    <p:sldId id="887" r:id="rId19"/>
    <p:sldId id="888" r:id="rId20"/>
    <p:sldId id="889" r:id="rId21"/>
    <p:sldId id="890" r:id="rId22"/>
    <p:sldId id="891" r:id="rId23"/>
    <p:sldId id="892" r:id="rId24"/>
    <p:sldId id="893" r:id="rId25"/>
    <p:sldId id="894" r:id="rId26"/>
    <p:sldId id="895" r:id="rId27"/>
  </p:sldIdLst>
  <p:sldSz cx="12192000" cy="6858000"/>
  <p:notesSz cx="6858000" cy="9144000"/>
  <p:defaultTextStyle>
    <a:defPPr>
      <a:defRPr lang="zh-CN"/>
    </a:defPPr>
    <a:lvl1pPr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1pPr>
    <a:lvl2pPr marL="4572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2pPr>
    <a:lvl3pPr marL="9144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3pPr>
    <a:lvl4pPr marL="13716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4pPr>
    <a:lvl5pPr marL="18288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5pPr>
    <a:lvl6pPr marL="2286000" algn="l" defTabSz="914400" rtl="0" eaLnBrk="1" latinLnBrk="0" hangingPunct="1">
      <a:defRPr sz="2400" b="1" i="1" kern="1200">
        <a:solidFill>
          <a:srgbClr val="FF00FF"/>
        </a:solidFill>
        <a:latin typeface="Times New Roman" pitchFamily="18" charset="0"/>
        <a:ea typeface="宋体" pitchFamily="2" charset="-122"/>
        <a:cs typeface="+mn-cs"/>
      </a:defRPr>
    </a:lvl6pPr>
    <a:lvl7pPr marL="2743200" algn="l" defTabSz="914400" rtl="0" eaLnBrk="1" latinLnBrk="0" hangingPunct="1">
      <a:defRPr sz="2400" b="1" i="1" kern="1200">
        <a:solidFill>
          <a:srgbClr val="FF00FF"/>
        </a:solidFill>
        <a:latin typeface="Times New Roman" pitchFamily="18" charset="0"/>
        <a:ea typeface="宋体" pitchFamily="2" charset="-122"/>
        <a:cs typeface="+mn-cs"/>
      </a:defRPr>
    </a:lvl7pPr>
    <a:lvl8pPr marL="3200400" algn="l" defTabSz="914400" rtl="0" eaLnBrk="1" latinLnBrk="0" hangingPunct="1">
      <a:defRPr sz="2400" b="1" i="1" kern="1200">
        <a:solidFill>
          <a:srgbClr val="FF00FF"/>
        </a:solidFill>
        <a:latin typeface="Times New Roman" pitchFamily="18" charset="0"/>
        <a:ea typeface="宋体" pitchFamily="2" charset="-122"/>
        <a:cs typeface="+mn-cs"/>
      </a:defRPr>
    </a:lvl8pPr>
    <a:lvl9pPr marL="3657600" algn="l" defTabSz="914400" rtl="0" eaLnBrk="1" latinLnBrk="0" hangingPunct="1">
      <a:defRPr sz="2400" b="1" i="1" kern="1200">
        <a:solidFill>
          <a:srgbClr val="FF00FF"/>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8000"/>
    <a:srgbClr val="EEEEEE"/>
    <a:srgbClr val="B9CDE5"/>
    <a:srgbClr val="993300"/>
    <a:srgbClr val="996633"/>
    <a:srgbClr val="4F81BD"/>
    <a:srgbClr val="0000FF"/>
    <a:srgbClr val="E9EDF4"/>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73" autoAdjust="0"/>
    <p:restoredTop sz="87237" autoAdjust="0"/>
  </p:normalViewPr>
  <p:slideViewPr>
    <p:cSldViewPr>
      <p:cViewPr varScale="1">
        <p:scale>
          <a:sx n="114" d="100"/>
          <a:sy n="114" d="100"/>
        </p:scale>
        <p:origin x="180" y="450"/>
      </p:cViewPr>
      <p:guideLst>
        <p:guide orient="horz" pos="2160"/>
        <p:guide pos="3840"/>
      </p:guideLst>
    </p:cSldViewPr>
  </p:slideViewPr>
  <p:notesTextViewPr>
    <p:cViewPr>
      <p:scale>
        <a:sx n="100" d="100"/>
        <a:sy n="100" d="100"/>
      </p:scale>
      <p:origin x="0" y="0"/>
    </p:cViewPr>
  </p:notesTextViewPr>
  <p:sorterViewPr>
    <p:cViewPr>
      <p:scale>
        <a:sx n="66" d="100"/>
        <a:sy n="66" d="100"/>
      </p:scale>
      <p:origin x="0" y="433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png"/></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9.wmf"/><Relationship Id="rId7" Type="http://schemas.openxmlformats.org/officeDocument/2006/relationships/image" Target="../media/image23.wmf"/><Relationship Id="rId2" Type="http://schemas.openxmlformats.org/officeDocument/2006/relationships/image" Target="../media/image18.wmf"/><Relationship Id="rId1" Type="http://schemas.openxmlformats.org/officeDocument/2006/relationships/image" Target="../media/image17.wmf"/><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 Id="rId5" Type="http://schemas.openxmlformats.org/officeDocument/2006/relationships/image" Target="../media/image30.wmf"/><Relationship Id="rId4" Type="http://schemas.openxmlformats.org/officeDocument/2006/relationships/image" Target="../media/image29.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 Id="rId4" Type="http://schemas.openxmlformats.org/officeDocument/2006/relationships/image" Target="../media/image37.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 Id="rId4" Type="http://schemas.openxmlformats.org/officeDocument/2006/relationships/image" Target="../media/image41.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 Id="rId5" Type="http://schemas.openxmlformats.org/officeDocument/2006/relationships/image" Target="../media/image46.wmf"/><Relationship Id="rId4" Type="http://schemas.openxmlformats.org/officeDocument/2006/relationships/image" Target="../media/image45.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 Id="rId4" Type="http://schemas.openxmlformats.org/officeDocument/2006/relationships/image" Target="../media/image53.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 Id="rId4" Type="http://schemas.openxmlformats.org/officeDocument/2006/relationships/image" Target="../media/image6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 Id="rId5" Type="http://schemas.openxmlformats.org/officeDocument/2006/relationships/image" Target="../media/image65.wmf"/><Relationship Id="rId4" Type="http://schemas.openxmlformats.org/officeDocument/2006/relationships/image" Target="../media/image64.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 Id="rId4" Type="http://schemas.openxmlformats.org/officeDocument/2006/relationships/image" Target="../media/image6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i="0" smtClean="0">
                <a:solidFill>
                  <a:schemeClr val="tx1"/>
                </a:solidFill>
                <a:latin typeface="Arial" charset="0"/>
              </a:defRPr>
            </a:lvl1pPr>
          </a:lstStyle>
          <a:p>
            <a:pPr>
              <a:defRPr/>
            </a:pPr>
            <a:endParaRPr lang="en-US" altLang="zh-CN"/>
          </a:p>
        </p:txBody>
      </p:sp>
      <p:sp>
        <p:nvSpPr>
          <p:cNvPr id="12390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i="0" smtClean="0">
                <a:solidFill>
                  <a:schemeClr val="tx1"/>
                </a:solidFill>
                <a:latin typeface="Arial" charset="0"/>
              </a:defRPr>
            </a:lvl1pPr>
          </a:lstStyle>
          <a:p>
            <a:pPr>
              <a:defRPr/>
            </a:pPr>
            <a:endParaRPr lang="en-US" altLang="zh-CN"/>
          </a:p>
        </p:txBody>
      </p:sp>
      <p:sp>
        <p:nvSpPr>
          <p:cNvPr id="4608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390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2391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i="0" smtClean="0">
                <a:solidFill>
                  <a:schemeClr val="tx1"/>
                </a:solidFill>
                <a:latin typeface="Arial" charset="0"/>
              </a:defRPr>
            </a:lvl1pPr>
          </a:lstStyle>
          <a:p>
            <a:pPr>
              <a:defRPr/>
            </a:pPr>
            <a:endParaRPr lang="en-US" altLang="zh-CN"/>
          </a:p>
        </p:txBody>
      </p:sp>
      <p:sp>
        <p:nvSpPr>
          <p:cNvPr id="12391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i="0" smtClean="0">
                <a:solidFill>
                  <a:schemeClr val="tx1"/>
                </a:solidFill>
                <a:latin typeface="Arial" charset="0"/>
              </a:defRPr>
            </a:lvl1pPr>
          </a:lstStyle>
          <a:p>
            <a:pPr>
              <a:defRPr/>
            </a:pPr>
            <a:fld id="{0DFEE44B-64F7-4F5D-B160-0DBA82F94B7E}" type="slidenum">
              <a:rPr lang="en-US" altLang="zh-CN"/>
              <a:pPr>
                <a:defRPr/>
              </a:pPr>
              <a:t>‹#›</a:t>
            </a:fld>
            <a:endParaRPr lang="en-US" altLang="zh-CN"/>
          </a:p>
        </p:txBody>
      </p:sp>
    </p:spTree>
    <p:extLst>
      <p:ext uri="{BB962C8B-B14F-4D97-AF65-F5344CB8AC3E}">
        <p14:creationId xmlns:p14="http://schemas.microsoft.com/office/powerpoint/2010/main" val="1580237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a:t>
            </a:fld>
            <a:endParaRPr lang="en-US" altLang="zh-CN" dirty="0"/>
          </a:p>
        </p:txBody>
      </p:sp>
    </p:spTree>
    <p:extLst>
      <p:ext uri="{BB962C8B-B14F-4D97-AF65-F5344CB8AC3E}">
        <p14:creationId xmlns:p14="http://schemas.microsoft.com/office/powerpoint/2010/main" val="2550900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a:t>
            </a:fld>
            <a:endParaRPr lang="en-US" altLang="zh-CN" dirty="0"/>
          </a:p>
        </p:txBody>
      </p:sp>
    </p:spTree>
    <p:extLst>
      <p:ext uri="{BB962C8B-B14F-4D97-AF65-F5344CB8AC3E}">
        <p14:creationId xmlns:p14="http://schemas.microsoft.com/office/powerpoint/2010/main" val="1940975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a:t>
            </a:fld>
            <a:endParaRPr lang="en-US" altLang="zh-CN"/>
          </a:p>
        </p:txBody>
      </p:sp>
    </p:spTree>
    <p:extLst>
      <p:ext uri="{BB962C8B-B14F-4D97-AF65-F5344CB8AC3E}">
        <p14:creationId xmlns:p14="http://schemas.microsoft.com/office/powerpoint/2010/main" val="12153879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a:t>
            </a:fld>
            <a:endParaRPr lang="en-US" altLang="zh-CN"/>
          </a:p>
        </p:txBody>
      </p:sp>
    </p:spTree>
    <p:extLst>
      <p:ext uri="{BB962C8B-B14F-4D97-AF65-F5344CB8AC3E}">
        <p14:creationId xmlns:p14="http://schemas.microsoft.com/office/powerpoint/2010/main" val="2162187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a:t>
            </a:fld>
            <a:endParaRPr lang="en-US" altLang="zh-CN"/>
          </a:p>
        </p:txBody>
      </p:sp>
    </p:spTree>
    <p:extLst>
      <p:ext uri="{BB962C8B-B14F-4D97-AF65-F5344CB8AC3E}">
        <p14:creationId xmlns:p14="http://schemas.microsoft.com/office/powerpoint/2010/main" val="5334726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a:t>
            </a:fld>
            <a:endParaRPr lang="en-US" altLang="zh-CN"/>
          </a:p>
        </p:txBody>
      </p:sp>
    </p:spTree>
    <p:extLst>
      <p:ext uri="{BB962C8B-B14F-4D97-AF65-F5344CB8AC3E}">
        <p14:creationId xmlns:p14="http://schemas.microsoft.com/office/powerpoint/2010/main" val="35743171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7</a:t>
            </a:fld>
            <a:endParaRPr lang="en-US" altLang="zh-CN"/>
          </a:p>
        </p:txBody>
      </p:sp>
    </p:spTree>
    <p:extLst>
      <p:ext uri="{BB962C8B-B14F-4D97-AF65-F5344CB8AC3E}">
        <p14:creationId xmlns:p14="http://schemas.microsoft.com/office/powerpoint/2010/main" val="71613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8</a:t>
            </a:fld>
            <a:endParaRPr lang="en-US" altLang="zh-CN"/>
          </a:p>
        </p:txBody>
      </p:sp>
    </p:spTree>
    <p:extLst>
      <p:ext uri="{BB962C8B-B14F-4D97-AF65-F5344CB8AC3E}">
        <p14:creationId xmlns:p14="http://schemas.microsoft.com/office/powerpoint/2010/main" val="30942617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9</a:t>
            </a:fld>
            <a:endParaRPr lang="en-US" altLang="zh-CN"/>
          </a:p>
        </p:txBody>
      </p:sp>
    </p:spTree>
    <p:extLst>
      <p:ext uri="{BB962C8B-B14F-4D97-AF65-F5344CB8AC3E}">
        <p14:creationId xmlns:p14="http://schemas.microsoft.com/office/powerpoint/2010/main" val="977767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10</a:t>
            </a:fld>
            <a:endParaRPr lang="en-US" altLang="zh-CN"/>
          </a:p>
        </p:txBody>
      </p:sp>
    </p:spTree>
    <p:extLst>
      <p:ext uri="{BB962C8B-B14F-4D97-AF65-F5344CB8AC3E}">
        <p14:creationId xmlns:p14="http://schemas.microsoft.com/office/powerpoint/2010/main" val="4759209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11</a:t>
            </a:fld>
            <a:endParaRPr lang="en-US" altLang="zh-CN"/>
          </a:p>
        </p:txBody>
      </p:sp>
    </p:spTree>
    <p:extLst>
      <p:ext uri="{BB962C8B-B14F-4D97-AF65-F5344CB8AC3E}">
        <p14:creationId xmlns:p14="http://schemas.microsoft.com/office/powerpoint/2010/main" val="99562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12</a:t>
            </a:fld>
            <a:endParaRPr lang="en-US" altLang="zh-CN"/>
          </a:p>
        </p:txBody>
      </p:sp>
    </p:spTree>
    <p:extLst>
      <p:ext uri="{BB962C8B-B14F-4D97-AF65-F5344CB8AC3E}">
        <p14:creationId xmlns:p14="http://schemas.microsoft.com/office/powerpoint/2010/main" val="25316891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13</a:t>
            </a:fld>
            <a:endParaRPr lang="en-US" altLang="zh-CN"/>
          </a:p>
        </p:txBody>
      </p:sp>
    </p:spTree>
    <p:extLst>
      <p:ext uri="{BB962C8B-B14F-4D97-AF65-F5344CB8AC3E}">
        <p14:creationId xmlns:p14="http://schemas.microsoft.com/office/powerpoint/2010/main" val="22758616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14</a:t>
            </a:fld>
            <a:endParaRPr lang="en-US" altLang="zh-CN"/>
          </a:p>
        </p:txBody>
      </p:sp>
    </p:spTree>
    <p:extLst>
      <p:ext uri="{BB962C8B-B14F-4D97-AF65-F5344CB8AC3E}">
        <p14:creationId xmlns:p14="http://schemas.microsoft.com/office/powerpoint/2010/main" val="20074690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15</a:t>
            </a:fld>
            <a:endParaRPr lang="en-US" altLang="zh-CN"/>
          </a:p>
        </p:txBody>
      </p:sp>
    </p:spTree>
    <p:extLst>
      <p:ext uri="{BB962C8B-B14F-4D97-AF65-F5344CB8AC3E}">
        <p14:creationId xmlns:p14="http://schemas.microsoft.com/office/powerpoint/2010/main" val="40237183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16</a:t>
            </a:fld>
            <a:endParaRPr lang="en-US" altLang="zh-CN"/>
          </a:p>
        </p:txBody>
      </p:sp>
    </p:spTree>
    <p:extLst>
      <p:ext uri="{BB962C8B-B14F-4D97-AF65-F5344CB8AC3E}">
        <p14:creationId xmlns:p14="http://schemas.microsoft.com/office/powerpoint/2010/main" val="41238812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17</a:t>
            </a:fld>
            <a:endParaRPr lang="en-US" altLang="zh-CN"/>
          </a:p>
        </p:txBody>
      </p:sp>
    </p:spTree>
    <p:extLst>
      <p:ext uri="{BB962C8B-B14F-4D97-AF65-F5344CB8AC3E}">
        <p14:creationId xmlns:p14="http://schemas.microsoft.com/office/powerpoint/2010/main" val="36851454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18</a:t>
            </a:fld>
            <a:endParaRPr lang="en-US" altLang="zh-CN"/>
          </a:p>
        </p:txBody>
      </p:sp>
    </p:spTree>
    <p:extLst>
      <p:ext uri="{BB962C8B-B14F-4D97-AF65-F5344CB8AC3E}">
        <p14:creationId xmlns:p14="http://schemas.microsoft.com/office/powerpoint/2010/main" val="34827208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19</a:t>
            </a:fld>
            <a:endParaRPr lang="en-US" altLang="zh-CN"/>
          </a:p>
        </p:txBody>
      </p:sp>
    </p:spTree>
    <p:extLst>
      <p:ext uri="{BB962C8B-B14F-4D97-AF65-F5344CB8AC3E}">
        <p14:creationId xmlns:p14="http://schemas.microsoft.com/office/powerpoint/2010/main" val="15126505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20</a:t>
            </a:fld>
            <a:endParaRPr lang="en-US" altLang="zh-CN"/>
          </a:p>
        </p:txBody>
      </p:sp>
    </p:spTree>
    <p:extLst>
      <p:ext uri="{BB962C8B-B14F-4D97-AF65-F5344CB8AC3E}">
        <p14:creationId xmlns:p14="http://schemas.microsoft.com/office/powerpoint/2010/main" val="17667955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21</a:t>
            </a:fld>
            <a:endParaRPr lang="en-US" altLang="zh-CN"/>
          </a:p>
        </p:txBody>
      </p:sp>
    </p:spTree>
    <p:extLst>
      <p:ext uri="{BB962C8B-B14F-4D97-AF65-F5344CB8AC3E}">
        <p14:creationId xmlns:p14="http://schemas.microsoft.com/office/powerpoint/2010/main" val="11680276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22</a:t>
            </a:fld>
            <a:endParaRPr lang="en-US" altLang="zh-CN"/>
          </a:p>
        </p:txBody>
      </p:sp>
    </p:spTree>
    <p:extLst>
      <p:ext uri="{BB962C8B-B14F-4D97-AF65-F5344CB8AC3E}">
        <p14:creationId xmlns:p14="http://schemas.microsoft.com/office/powerpoint/2010/main" val="42706677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23</a:t>
            </a:fld>
            <a:endParaRPr lang="en-US" altLang="zh-CN"/>
          </a:p>
        </p:txBody>
      </p:sp>
    </p:spTree>
    <p:extLst>
      <p:ext uri="{BB962C8B-B14F-4D97-AF65-F5344CB8AC3E}">
        <p14:creationId xmlns:p14="http://schemas.microsoft.com/office/powerpoint/2010/main" val="8660531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24</a:t>
            </a:fld>
            <a:endParaRPr lang="en-US" altLang="zh-CN"/>
          </a:p>
        </p:txBody>
      </p:sp>
    </p:spTree>
    <p:extLst>
      <p:ext uri="{BB962C8B-B14F-4D97-AF65-F5344CB8AC3E}">
        <p14:creationId xmlns:p14="http://schemas.microsoft.com/office/powerpoint/2010/main" val="2409855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a:prstGeom prst="rect">
            <a:avLst/>
          </a:prstGeom>
        </p:spPr>
        <p:txBody>
          <a:bodyPr/>
          <a:lstStyle>
            <a:lvl1pPr algn="ctr">
              <a:defRPr/>
            </a:lvl1p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927003882"/>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960000" y="2160000"/>
            <a:ext cx="10560000" cy="4140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46798571"/>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728925802"/>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960000" y="2213865"/>
            <a:ext cx="5280000" cy="408613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314120" y="2213866"/>
            <a:ext cx="5220581" cy="409545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702511005"/>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995434" y="2213325"/>
            <a:ext cx="522058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995434" y="2933946"/>
            <a:ext cx="5220580" cy="333037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370635" y="2213325"/>
            <a:ext cx="516057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396034" y="2933945"/>
            <a:ext cx="5160573" cy="333037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099860088"/>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23023355"/>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993251"/>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3840000" cy="108000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895867" y="1088740"/>
            <a:ext cx="6686533" cy="52205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982733" y="2213865"/>
            <a:ext cx="3840427" cy="409545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4018620146"/>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6916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1043735"/>
            <a:ext cx="7315200" cy="377595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459453"/>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630399069"/>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960000" y="2258871"/>
            <a:ext cx="10560000" cy="404112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40425338"/>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256240" y="1072310"/>
            <a:ext cx="3360373" cy="523701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60000" y="1080000"/>
            <a:ext cx="7200000" cy="5220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82278293"/>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960000" y="1080000"/>
            <a:ext cx="10560000" cy="1080000"/>
          </a:xfrm>
          <a:prstGeom prst="rect">
            <a:avLst/>
          </a:prstGeom>
        </p:spPr>
        <p:txBody>
          <a:bodyPr/>
          <a:lstStyle/>
          <a:p>
            <a:r>
              <a:rPr lang="zh-CN" altLang="en-US" dirty="0"/>
              <a:t>单击此处编辑母版标题样式</a:t>
            </a:r>
          </a:p>
        </p:txBody>
      </p:sp>
      <p:sp>
        <p:nvSpPr>
          <p:cNvPr id="3" name="内容占位符 2"/>
          <p:cNvSpPr>
            <a:spLocks noGrp="1"/>
          </p:cNvSpPr>
          <p:nvPr>
            <p:ph sz="quarter" idx="1"/>
          </p:nvPr>
        </p:nvSpPr>
        <p:spPr>
          <a:xfrm>
            <a:off x="960826" y="2213866"/>
            <a:ext cx="5315193" cy="193521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quarter" idx="2"/>
          </p:nvPr>
        </p:nvSpPr>
        <p:spPr>
          <a:xfrm>
            <a:off x="6456040" y="2213865"/>
            <a:ext cx="5100568" cy="1957802"/>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quarter" idx="3"/>
          </p:nvPr>
        </p:nvSpPr>
        <p:spPr>
          <a:xfrm>
            <a:off x="978790" y="4265046"/>
            <a:ext cx="5297231" cy="20442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456041" y="4284095"/>
            <a:ext cx="5100567" cy="198022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22978828"/>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60000" y="1080001"/>
            <a:ext cx="10560000" cy="518431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94604936"/>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Text Box 12"/>
          <p:cNvSpPr txBox="1">
            <a:spLocks noChangeArrowheads="1"/>
          </p:cNvSpPr>
          <p:nvPr userDrawn="1"/>
        </p:nvSpPr>
        <p:spPr bwMode="auto">
          <a:xfrm>
            <a:off x="2855640" y="1916832"/>
            <a:ext cx="6732748" cy="1107996"/>
          </a:xfrm>
          <a:prstGeom prst="rect">
            <a:avLst/>
          </a:prstGeom>
          <a:noFill/>
          <a:ln w="9525">
            <a:noFill/>
            <a:miter lim="800000"/>
            <a:headEnd/>
            <a:tailEnd/>
          </a:ln>
          <a:effectLst/>
        </p:spPr>
        <p:txBody>
          <a:bodyPr wrap="square">
            <a:spAutoFit/>
          </a:bodyPr>
          <a:lstStyle/>
          <a:p>
            <a:pPr>
              <a:defRPr/>
            </a:pPr>
            <a:r>
              <a:rPr kumimoji="1" lang="zh-CN" altLang="en-US" sz="6600" i="0" kern="2000" spc="600" baseline="0" dirty="0">
                <a:solidFill>
                  <a:srgbClr val="FF0000"/>
                </a:solidFill>
                <a:effectLst>
                  <a:outerShdw blurRad="38100" dist="38100" dir="2700000" algn="tl">
                    <a:srgbClr val="000000">
                      <a:alpha val="43137"/>
                    </a:srgbClr>
                  </a:outerShdw>
                </a:effectLst>
                <a:latin typeface="华文彩云" pitchFamily="2" charset="-122"/>
                <a:ea typeface="黑体" pitchFamily="2" charset="-122"/>
              </a:rPr>
              <a:t>工   程   力   学</a:t>
            </a:r>
            <a:endParaRPr kumimoji="1" lang="zh-CN" altLang="en-US" sz="6600" i="0" kern="2000" spc="600" baseline="0" dirty="0">
              <a:solidFill>
                <a:srgbClr val="FF0000"/>
              </a:solidFill>
              <a:effectLst>
                <a:outerShdw blurRad="38100" dist="38100" dir="2700000" algn="tl">
                  <a:srgbClr val="000000">
                    <a:alpha val="43137"/>
                  </a:srgbClr>
                </a:outerShdw>
              </a:effectLst>
              <a:ea typeface="黑体" pitchFamily="2" charset="-122"/>
            </a:endParaRPr>
          </a:p>
        </p:txBody>
      </p:sp>
      <p:sp>
        <p:nvSpPr>
          <p:cNvPr id="3" name="Text Box 12"/>
          <p:cNvSpPr txBox="1">
            <a:spLocks noChangeArrowheads="1"/>
          </p:cNvSpPr>
          <p:nvPr userDrawn="1"/>
        </p:nvSpPr>
        <p:spPr bwMode="auto">
          <a:xfrm>
            <a:off x="3071664" y="3356992"/>
            <a:ext cx="586865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9pPr>
          </a:lstStyle>
          <a:p>
            <a:pPr eaLnBrk="1" hangingPunct="1">
              <a:defRPr/>
            </a:pPr>
            <a:r>
              <a:rPr kumimoji="1" lang="en-US" altLang="zh-CN" sz="5400" dirty="0">
                <a:solidFill>
                  <a:srgbClr val="0000FF"/>
                </a:solidFill>
                <a:latin typeface="Monotype Corsiva" pitchFamily="66" charset="0"/>
                <a:ea typeface="华文琥珀" pitchFamily="2" charset="-122"/>
              </a:rPr>
              <a:t>Engineering</a:t>
            </a:r>
            <a:r>
              <a:rPr kumimoji="1" lang="en-US" altLang="zh-CN" sz="5400" baseline="0" dirty="0">
                <a:solidFill>
                  <a:srgbClr val="0000FF"/>
                </a:solidFill>
                <a:latin typeface="Monotype Corsiva" pitchFamily="66" charset="0"/>
                <a:ea typeface="华文琥珀" pitchFamily="2" charset="-122"/>
              </a:rPr>
              <a:t> </a:t>
            </a:r>
            <a:r>
              <a:rPr kumimoji="1" lang="en-US" altLang="zh-CN" sz="5400" dirty="0">
                <a:solidFill>
                  <a:srgbClr val="0000FF"/>
                </a:solidFill>
                <a:latin typeface="Monotype Corsiva" pitchFamily="66" charset="0"/>
                <a:ea typeface="华文琥珀" pitchFamily="2" charset="-122"/>
              </a:rPr>
              <a:t>Mechanics</a:t>
            </a:r>
          </a:p>
        </p:txBody>
      </p:sp>
    </p:spTree>
    <p:extLst>
      <p:ext uri="{BB962C8B-B14F-4D97-AF65-F5344CB8AC3E}">
        <p14:creationId xmlns:p14="http://schemas.microsoft.com/office/powerpoint/2010/main" val="3529653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3542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14.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1" name="Text Box 12"/>
          <p:cNvSpPr txBox="1">
            <a:spLocks noChangeArrowheads="1"/>
          </p:cNvSpPr>
          <p:nvPr/>
        </p:nvSpPr>
        <p:spPr bwMode="auto">
          <a:xfrm>
            <a:off x="1390651" y="1125538"/>
            <a:ext cx="10081683" cy="467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buChar char="•"/>
              <a:defRPr>
                <a:solidFill>
                  <a:schemeClr val="tx1"/>
                </a:solidFill>
                <a:latin typeface="Arial" charset="0"/>
                <a:ea typeface="宋体" pitchFamily="2" charset="-122"/>
              </a:defRPr>
            </a:lvl6pPr>
            <a:lvl7pPr marL="2971800" indent="-228600" algn="ctr" eaLnBrk="0" fontAlgn="base" hangingPunct="0">
              <a:spcBef>
                <a:spcPct val="0"/>
              </a:spcBef>
              <a:spcAft>
                <a:spcPct val="0"/>
              </a:spcAft>
              <a:buChar char="•"/>
              <a:defRPr>
                <a:solidFill>
                  <a:schemeClr val="tx1"/>
                </a:solidFill>
                <a:latin typeface="Arial" charset="0"/>
                <a:ea typeface="宋体" pitchFamily="2" charset="-122"/>
              </a:defRPr>
            </a:lvl7pPr>
            <a:lvl8pPr marL="3429000" indent="-228600" algn="ctr" eaLnBrk="0" fontAlgn="base" hangingPunct="0">
              <a:spcBef>
                <a:spcPct val="0"/>
              </a:spcBef>
              <a:spcAft>
                <a:spcPct val="0"/>
              </a:spcAft>
              <a:buChar char="•"/>
              <a:defRPr>
                <a:solidFill>
                  <a:schemeClr val="tx1"/>
                </a:solidFill>
                <a:latin typeface="Arial" charset="0"/>
                <a:ea typeface="宋体" pitchFamily="2" charset="-122"/>
              </a:defRPr>
            </a:lvl8pPr>
            <a:lvl9pPr marL="3886200" indent="-228600" algn="ctr" eaLnBrk="0" fontAlgn="base" hangingPunct="0">
              <a:spcBef>
                <a:spcPct val="0"/>
              </a:spcBef>
              <a:spcAft>
                <a:spcPct val="0"/>
              </a:spcAft>
              <a:buChar char="•"/>
              <a:defRPr>
                <a:solidFill>
                  <a:schemeClr val="tx1"/>
                </a:solidFill>
                <a:latin typeface="Arial" charset="0"/>
                <a:ea typeface="宋体" pitchFamily="2" charset="-122"/>
              </a:defRPr>
            </a:lvl9pPr>
          </a:lstStyle>
          <a:p>
            <a:pPr>
              <a:spcBef>
                <a:spcPct val="50000"/>
              </a:spcBef>
              <a:defRPr/>
            </a:pPr>
            <a:endParaRPr lang="zh-CN" altLang="zh-CN" sz="2400">
              <a:latin typeface="Times" pitchFamily="18" charset="0"/>
            </a:endParaRPr>
          </a:p>
        </p:txBody>
      </p:sp>
      <p:sp>
        <p:nvSpPr>
          <p:cNvPr id="1027" name="Rectangle 16"/>
          <p:cNvSpPr>
            <a:spLocks noGrp="1" noChangeArrowheads="1"/>
          </p:cNvSpPr>
          <p:nvPr>
            <p:ph type="body" idx="1"/>
          </p:nvPr>
        </p:nvSpPr>
        <p:spPr bwMode="auto">
          <a:xfrm>
            <a:off x="960967" y="1079500"/>
            <a:ext cx="10560051" cy="5221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矩形 15"/>
          <p:cNvSpPr/>
          <p:nvPr userDrawn="1"/>
        </p:nvSpPr>
        <p:spPr bwMode="auto">
          <a:xfrm>
            <a:off x="-2117" y="6308726"/>
            <a:ext cx="12194117" cy="549275"/>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1349" fontAlgn="auto">
              <a:spcBef>
                <a:spcPts val="0"/>
              </a:spcBef>
              <a:spcAft>
                <a:spcPts val="0"/>
              </a:spcAft>
              <a:defRPr/>
            </a:pPr>
            <a:endParaRPr lang="zh-CN" altLang="en-US" sz="2400"/>
          </a:p>
        </p:txBody>
      </p:sp>
      <p:sp>
        <p:nvSpPr>
          <p:cNvPr id="24" name="矩形 23"/>
          <p:cNvSpPr/>
          <p:nvPr userDrawn="1"/>
        </p:nvSpPr>
        <p:spPr bwMode="auto">
          <a:xfrm>
            <a:off x="1" y="-11113"/>
            <a:ext cx="8909550" cy="796907"/>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1349" fontAlgn="auto">
              <a:spcBef>
                <a:spcPts val="0"/>
              </a:spcBef>
              <a:spcAft>
                <a:spcPts val="0"/>
              </a:spcAft>
              <a:defRPr/>
            </a:pPr>
            <a:endParaRPr lang="zh-CN" altLang="en-US" sz="2400"/>
          </a:p>
        </p:txBody>
      </p:sp>
      <p:sp>
        <p:nvSpPr>
          <p:cNvPr id="27" name="Text Box 12"/>
          <p:cNvSpPr txBox="1">
            <a:spLocks noChangeArrowheads="1"/>
          </p:cNvSpPr>
          <p:nvPr userDrawn="1"/>
        </p:nvSpPr>
        <p:spPr bwMode="auto">
          <a:xfrm>
            <a:off x="20520" y="50348"/>
            <a:ext cx="7011616" cy="714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algn="l" eaLnBrk="1" hangingPunct="1">
              <a:defRPr/>
            </a:pPr>
            <a:r>
              <a:rPr kumimoji="1" lang="zh-CN" altLang="en-US" sz="3200" i="0" dirty="0">
                <a:solidFill>
                  <a:srgbClr val="FFFFFF"/>
                </a:solidFill>
                <a:ea typeface="黑体" pitchFamily="49" charset="-122"/>
              </a:rPr>
              <a:t>      </a:t>
            </a:r>
            <a:endParaRPr kumimoji="1" lang="zh-CN" altLang="en-US" sz="3200" i="0" dirty="0">
              <a:solidFill>
                <a:srgbClr val="FFFFFF"/>
              </a:solidFill>
              <a:latin typeface="微软雅黑" panose="020B0503020204020204" pitchFamily="34" charset="-122"/>
              <a:ea typeface="微软雅黑" panose="020B0503020204020204" pitchFamily="34" charset="-122"/>
            </a:endParaRPr>
          </a:p>
        </p:txBody>
      </p:sp>
      <p:cxnSp>
        <p:nvCxnSpPr>
          <p:cNvPr id="15" name="直接连接符 14"/>
          <p:cNvCxnSpPr/>
          <p:nvPr userDrawn="1"/>
        </p:nvCxnSpPr>
        <p:spPr bwMode="auto">
          <a:xfrm>
            <a:off x="-2117" y="785794"/>
            <a:ext cx="12194117" cy="0"/>
          </a:xfrm>
          <a:prstGeom prst="line">
            <a:avLst/>
          </a:prstGeom>
          <a:solidFill>
            <a:srgbClr val="3366CC"/>
          </a:solidFill>
          <a:ln w="38100">
            <a:solidFill>
              <a:srgbClr val="4F81BD"/>
            </a:solidFill>
          </a:ln>
        </p:spPr>
        <p:style>
          <a:lnRef idx="1">
            <a:schemeClr val="accent1"/>
          </a:lnRef>
          <a:fillRef idx="0">
            <a:schemeClr val="accent1"/>
          </a:fillRef>
          <a:effectRef idx="0">
            <a:schemeClr val="accent1"/>
          </a:effectRef>
          <a:fontRef idx="minor">
            <a:schemeClr val="tx1"/>
          </a:fontRef>
        </p:style>
      </p:cxnSp>
      <p:pic>
        <p:nvPicPr>
          <p:cNvPr id="17" name="Picture 2" descr="http://www.jdxy.zjut.edu.cn/images/img_02.jpg"/>
          <p:cNvPicPr/>
          <p:nvPr userDrawn="1"/>
        </p:nvPicPr>
        <p:blipFill rotWithShape="1">
          <a:blip r:embed="rId15" cstate="print"/>
          <a:srcRect l="3571" r="6619"/>
          <a:stretch/>
        </p:blipFill>
        <p:spPr bwMode="auto">
          <a:xfrm>
            <a:off x="7183971" y="-16198"/>
            <a:ext cx="5000625" cy="785495"/>
          </a:xfrm>
          <a:prstGeom prst="rect">
            <a:avLst/>
          </a:prstGeom>
          <a:noFill/>
          <a:ln>
            <a:noFill/>
          </a:ln>
          <a:extLst>
            <a:ext uri="{53640926-AAD7-44D8-BBD7-CCE9431645EC}">
              <a14:shadowObscured xmlns:a14="http://schemas.microsoft.com/office/drawing/2010/main"/>
            </a:ext>
          </a:extLst>
        </p:spPr>
      </p:pic>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transition spd="slow"/>
  <p:txStyles>
    <p:titleStyle>
      <a:lvl1pPr marL="442913" indent="-442913" algn="l" rtl="0" eaLnBrk="0" fontAlgn="base" hangingPunct="0">
        <a:spcBef>
          <a:spcPct val="0"/>
        </a:spcBef>
        <a:spcAft>
          <a:spcPct val="0"/>
        </a:spcAft>
        <a:defRPr sz="3200" b="1">
          <a:solidFill>
            <a:srgbClr val="3333FF"/>
          </a:solidFill>
          <a:latin typeface="+mj-lt"/>
          <a:ea typeface="+mj-ea"/>
          <a:cs typeface="+mj-cs"/>
        </a:defRPr>
      </a:lvl1pPr>
      <a:lvl2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2pPr>
      <a:lvl3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3pPr>
      <a:lvl4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4pPr>
      <a:lvl5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5pPr>
      <a:lvl6pPr marL="900113" algn="l" rtl="0" fontAlgn="base">
        <a:spcBef>
          <a:spcPct val="0"/>
        </a:spcBef>
        <a:spcAft>
          <a:spcPct val="0"/>
        </a:spcAft>
        <a:defRPr sz="3200" b="1">
          <a:solidFill>
            <a:srgbClr val="3333FF"/>
          </a:solidFill>
          <a:latin typeface="Times New Roman" pitchFamily="18" charset="0"/>
          <a:ea typeface="宋体" pitchFamily="2" charset="-122"/>
        </a:defRPr>
      </a:lvl6pPr>
      <a:lvl7pPr marL="1357313" algn="l" rtl="0" fontAlgn="base">
        <a:spcBef>
          <a:spcPct val="0"/>
        </a:spcBef>
        <a:spcAft>
          <a:spcPct val="0"/>
        </a:spcAft>
        <a:defRPr sz="3200" b="1">
          <a:solidFill>
            <a:srgbClr val="3333FF"/>
          </a:solidFill>
          <a:latin typeface="Times New Roman" pitchFamily="18" charset="0"/>
          <a:ea typeface="宋体" pitchFamily="2" charset="-122"/>
        </a:defRPr>
      </a:lvl7pPr>
      <a:lvl8pPr marL="1814513" algn="l" rtl="0" fontAlgn="base">
        <a:spcBef>
          <a:spcPct val="0"/>
        </a:spcBef>
        <a:spcAft>
          <a:spcPct val="0"/>
        </a:spcAft>
        <a:defRPr sz="3200" b="1">
          <a:solidFill>
            <a:srgbClr val="3333FF"/>
          </a:solidFill>
          <a:latin typeface="Times New Roman" pitchFamily="18" charset="0"/>
          <a:ea typeface="宋体" pitchFamily="2" charset="-122"/>
        </a:defRPr>
      </a:lvl8pPr>
      <a:lvl9pPr marL="2271713" algn="l" rtl="0" fontAlgn="base">
        <a:spcBef>
          <a:spcPct val="0"/>
        </a:spcBef>
        <a:spcAft>
          <a:spcPct val="0"/>
        </a:spcAft>
        <a:defRPr sz="3200" b="1">
          <a:solidFill>
            <a:srgbClr val="3333FF"/>
          </a:solidFill>
          <a:latin typeface="Times New Roman" pitchFamily="18" charset="0"/>
          <a:ea typeface="宋体" pitchFamily="2" charset="-122"/>
        </a:defRPr>
      </a:lvl9pPr>
    </p:titleStyle>
    <p:bodyStyle>
      <a:lvl1pPr marL="342900" indent="-342900" algn="l" rtl="0" eaLnBrk="0" fontAlgn="base" hangingPunct="0">
        <a:spcBef>
          <a:spcPct val="30000"/>
        </a:spcBef>
        <a:spcAft>
          <a:spcPct val="0"/>
        </a:spcAft>
        <a:buClr>
          <a:schemeClr val="hlink"/>
        </a:buClr>
        <a:buSzPct val="62000"/>
        <a:buFont typeface="Wingdings" pitchFamily="2" charset="2"/>
        <a:buChar char="n"/>
        <a:defRPr sz="2000">
          <a:solidFill>
            <a:schemeClr val="tx1"/>
          </a:solidFill>
          <a:latin typeface="+mn-lt"/>
          <a:ea typeface="+mn-ea"/>
          <a:cs typeface="+mn-cs"/>
        </a:defRPr>
      </a:lvl1pPr>
      <a:lvl2pPr marL="742950" indent="-285750" algn="l" rtl="0" eaLnBrk="0" fontAlgn="base" hangingPunct="0">
        <a:spcBef>
          <a:spcPct val="30000"/>
        </a:spcBef>
        <a:spcAft>
          <a:spcPct val="0"/>
        </a:spcAft>
        <a:buClr>
          <a:schemeClr val="hlink"/>
        </a:buClr>
        <a:buSzPct val="62000"/>
        <a:buFont typeface="Wingdings" pitchFamily="2" charset="2"/>
        <a:buChar char="l"/>
        <a:defRPr sz="20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75000"/>
        <a:buFont typeface="Wingdings" pitchFamily="2" charset="2"/>
        <a:buChar char="à"/>
        <a:defRPr sz="2000">
          <a:solidFill>
            <a:schemeClr val="tx1"/>
          </a:solidFill>
          <a:latin typeface="+mn-lt"/>
          <a:ea typeface="+mn-ea"/>
        </a:defRPr>
      </a:lvl3pPr>
      <a:lvl4pPr marL="1600200" indent="-228600" algn="l" rtl="0" eaLnBrk="0" fontAlgn="base" hangingPunct="0">
        <a:spcBef>
          <a:spcPct val="20000"/>
        </a:spcBef>
        <a:spcAft>
          <a:spcPct val="0"/>
        </a:spcAft>
        <a:buSzPct val="100000"/>
        <a:buChar char="–"/>
        <a:defRPr sz="2000">
          <a:solidFill>
            <a:schemeClr val="tx1"/>
          </a:solidFill>
          <a:latin typeface="+mn-lt"/>
          <a:ea typeface="+mn-ea"/>
        </a:defRPr>
      </a:lvl4pPr>
      <a:lvl5pPr marL="2057400" indent="-228600" algn="l" rtl="0" eaLnBrk="0" fontAlgn="base" hangingPunct="0">
        <a:spcBef>
          <a:spcPct val="20000"/>
        </a:spcBef>
        <a:spcAft>
          <a:spcPct val="0"/>
        </a:spcAft>
        <a:buSzPct val="100000"/>
        <a:buChar char="»"/>
        <a:defRPr sz="2000">
          <a:solidFill>
            <a:schemeClr val="tx1"/>
          </a:solidFill>
          <a:latin typeface="+mn-lt"/>
          <a:ea typeface="+mn-ea"/>
        </a:defRPr>
      </a:lvl5pPr>
      <a:lvl6pPr marL="2514600" indent="-228600" algn="l" rtl="0" fontAlgn="base">
        <a:spcBef>
          <a:spcPct val="20000"/>
        </a:spcBef>
        <a:spcAft>
          <a:spcPct val="0"/>
        </a:spcAft>
        <a:buSzPct val="100000"/>
        <a:buChar char="»"/>
        <a:defRPr sz="2000">
          <a:solidFill>
            <a:schemeClr val="tx1"/>
          </a:solidFill>
          <a:latin typeface="+mn-lt"/>
          <a:ea typeface="+mn-ea"/>
        </a:defRPr>
      </a:lvl6pPr>
      <a:lvl7pPr marL="2971800" indent="-228600" algn="l" rtl="0" fontAlgn="base">
        <a:spcBef>
          <a:spcPct val="20000"/>
        </a:spcBef>
        <a:spcAft>
          <a:spcPct val="0"/>
        </a:spcAft>
        <a:buSzPct val="100000"/>
        <a:buChar char="»"/>
        <a:defRPr sz="2000">
          <a:solidFill>
            <a:schemeClr val="tx1"/>
          </a:solidFill>
          <a:latin typeface="+mn-lt"/>
          <a:ea typeface="+mn-ea"/>
        </a:defRPr>
      </a:lvl7pPr>
      <a:lvl8pPr marL="3429000" indent="-228600" algn="l" rtl="0" fontAlgn="base">
        <a:spcBef>
          <a:spcPct val="20000"/>
        </a:spcBef>
        <a:spcAft>
          <a:spcPct val="0"/>
        </a:spcAft>
        <a:buSzPct val="100000"/>
        <a:buChar char="»"/>
        <a:defRPr sz="2000">
          <a:solidFill>
            <a:schemeClr val="tx1"/>
          </a:solidFill>
          <a:latin typeface="+mn-lt"/>
          <a:ea typeface="+mn-ea"/>
        </a:defRPr>
      </a:lvl8pPr>
      <a:lvl9pPr marL="3886200" indent="-228600" algn="l" rtl="0" fontAlgn="base">
        <a:spcBef>
          <a:spcPct val="20000"/>
        </a:spcBef>
        <a:spcAft>
          <a:spcPct val="0"/>
        </a:spcAft>
        <a:buSzPct val="10000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75FE3E41-3E3A-4598-854A-0ADDC3E3F895}" type="datetimeFigureOut">
              <a:rPr lang="zh-CN" altLang="en-US"/>
              <a:pPr>
                <a:defRPr/>
              </a:pPr>
              <a:t>2022/11/14</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A7D69B51-3C8E-4B0D-9184-6356F897FB91}" type="slidenum">
              <a:rPr lang="zh-CN" altLang="en-US"/>
              <a:pPr>
                <a:defRPr/>
              </a:pPr>
              <a:t>‹#›</a:t>
            </a:fld>
            <a:endParaRPr lang="zh-CN" altLang="en-US"/>
          </a:p>
        </p:txBody>
      </p:sp>
      <p:pic>
        <p:nvPicPr>
          <p:cNvPr id="2053" name="Picture 63" descr="图片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36037" b="11566"/>
          <a:stretch>
            <a:fillRect/>
          </a:stretch>
        </p:blipFill>
        <p:spPr bwMode="auto">
          <a:xfrm>
            <a:off x="-8467" y="4579938"/>
            <a:ext cx="12200467" cy="227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reeform 29"/>
          <p:cNvSpPr>
            <a:spLocks/>
          </p:cNvSpPr>
          <p:nvPr userDrawn="1"/>
        </p:nvSpPr>
        <p:spPr bwMode="gray">
          <a:xfrm>
            <a:off x="-2117" y="-1588"/>
            <a:ext cx="12206817" cy="4641851"/>
          </a:xfrm>
          <a:custGeom>
            <a:avLst/>
            <a:gdLst>
              <a:gd name="T0" fmla="*/ 2147483647 w 5767"/>
              <a:gd name="T1" fmla="*/ 2147483647 h 3128"/>
              <a:gd name="T2" fmla="*/ 2147483647 w 5767"/>
              <a:gd name="T3" fmla="*/ 2147483647 h 3128"/>
              <a:gd name="T4" fmla="*/ 2147483647 w 5767"/>
              <a:gd name="T5" fmla="*/ 2147483647 h 3128"/>
              <a:gd name="T6" fmla="*/ 2147483647 w 5767"/>
              <a:gd name="T7" fmla="*/ 2147483647 h 3128"/>
              <a:gd name="T8" fmla="*/ 2147483647 w 5767"/>
              <a:gd name="T9" fmla="*/ 2147483647 h 3128"/>
              <a:gd name="T10" fmla="*/ 2147483647 w 5767"/>
              <a:gd name="T11" fmla="*/ 2147483647 h 3128"/>
              <a:gd name="T12" fmla="*/ 2147483647 w 5767"/>
              <a:gd name="T13" fmla="*/ 0 h 3128"/>
              <a:gd name="T14" fmla="*/ 0 w 5767"/>
              <a:gd name="T15" fmla="*/ 2147483647 h 3128"/>
              <a:gd name="T16" fmla="*/ 2147483647 w 5767"/>
              <a:gd name="T17" fmla="*/ 2147483647 h 31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7" h="3128">
                <a:moveTo>
                  <a:pt x="8" y="3103"/>
                </a:moveTo>
                <a:lnTo>
                  <a:pt x="2913" y="3102"/>
                </a:lnTo>
                <a:cubicBezTo>
                  <a:pt x="3054" y="3102"/>
                  <a:pt x="3012" y="3128"/>
                  <a:pt x="3143" y="3022"/>
                </a:cubicBezTo>
                <a:lnTo>
                  <a:pt x="3668" y="2460"/>
                </a:lnTo>
                <a:cubicBezTo>
                  <a:pt x="3832" y="2329"/>
                  <a:pt x="3809" y="2215"/>
                  <a:pt x="4129" y="2235"/>
                </a:cubicBezTo>
                <a:lnTo>
                  <a:pt x="5761" y="2235"/>
                </a:lnTo>
                <a:lnTo>
                  <a:pt x="5767" y="0"/>
                </a:lnTo>
                <a:lnTo>
                  <a:pt x="0" y="1"/>
                </a:lnTo>
                <a:lnTo>
                  <a:pt x="8" y="3103"/>
                </a:lnTo>
                <a:close/>
              </a:path>
            </a:pathLst>
          </a:custGeom>
          <a:solidFill>
            <a:schemeClr val="bg2">
              <a:alpha val="89803"/>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sp>
        <p:nvSpPr>
          <p:cNvPr id="12" name="Freeform 28"/>
          <p:cNvSpPr>
            <a:spLocks/>
          </p:cNvSpPr>
          <p:nvPr userDrawn="1"/>
        </p:nvSpPr>
        <p:spPr bwMode="gray">
          <a:xfrm>
            <a:off x="1" y="-1588"/>
            <a:ext cx="12206817" cy="4581526"/>
          </a:xfrm>
          <a:custGeom>
            <a:avLst/>
            <a:gdLst/>
            <a:ahLst/>
            <a:cxnLst>
              <a:cxn ang="0">
                <a:pos x="8" y="2730"/>
              </a:cxn>
              <a:cxn ang="0">
                <a:pos x="3040" y="2726"/>
              </a:cxn>
              <a:cxn ang="0">
                <a:pos x="3347" y="2630"/>
              </a:cxn>
              <a:cxn ang="0">
                <a:pos x="3795" y="2170"/>
              </a:cxn>
              <a:cxn ang="0">
                <a:pos x="4115" y="2080"/>
              </a:cxn>
              <a:cxn ang="0">
                <a:pos x="5760" y="2093"/>
              </a:cxn>
              <a:cxn ang="0">
                <a:pos x="5767" y="0"/>
              </a:cxn>
              <a:cxn ang="0">
                <a:pos x="0" y="1"/>
              </a:cxn>
              <a:cxn ang="0">
                <a:pos x="8" y="2730"/>
              </a:cxn>
            </a:cxnLst>
            <a:rect l="0" t="0" r="r" b="b"/>
            <a:pathLst>
              <a:path w="5767" h="2730">
                <a:moveTo>
                  <a:pt x="8" y="2730"/>
                </a:moveTo>
                <a:lnTo>
                  <a:pt x="3040" y="2726"/>
                </a:lnTo>
                <a:cubicBezTo>
                  <a:pt x="3181" y="2726"/>
                  <a:pt x="3224" y="2728"/>
                  <a:pt x="3347" y="2630"/>
                </a:cubicBezTo>
                <a:lnTo>
                  <a:pt x="3795" y="2170"/>
                </a:lnTo>
                <a:cubicBezTo>
                  <a:pt x="3923" y="2078"/>
                  <a:pt x="3942" y="2074"/>
                  <a:pt x="4115" y="2080"/>
                </a:cubicBezTo>
                <a:lnTo>
                  <a:pt x="5760" y="2093"/>
                </a:lnTo>
                <a:lnTo>
                  <a:pt x="5767" y="0"/>
                </a:lnTo>
                <a:lnTo>
                  <a:pt x="0" y="1"/>
                </a:lnTo>
                <a:lnTo>
                  <a:pt x="8" y="2730"/>
                </a:lnTo>
                <a:close/>
              </a:path>
            </a:pathLst>
          </a:custGeom>
          <a:gradFill rotWithShape="1">
            <a:gsLst>
              <a:gs pos="0">
                <a:schemeClr val="bg1">
                  <a:gamma/>
                  <a:tint val="0"/>
                  <a:invGamma/>
                </a:schemeClr>
              </a:gs>
              <a:gs pos="100000">
                <a:schemeClr val="bg1">
                  <a:alpha val="89999"/>
                </a:schemeClr>
              </a:gs>
            </a:gsLst>
            <a:lin ang="0" scaled="1"/>
          </a:gradFill>
          <a:ln w="9525">
            <a:noFill/>
            <a:round/>
            <a:headEnd/>
            <a:tailEnd/>
          </a:ln>
          <a:effectLst/>
        </p:spPr>
        <p:txBody>
          <a:bodyPr/>
          <a:lstStyle/>
          <a:p>
            <a:pPr>
              <a:defRPr/>
            </a:pPr>
            <a:endParaRPr lang="zh-CN" altLang="en-US" sz="2400">
              <a:latin typeface="Arial" charset="0"/>
              <a:ea typeface="宋体" charset="-122"/>
            </a:endParaRPr>
          </a:p>
        </p:txBody>
      </p:sp>
      <p:sp>
        <p:nvSpPr>
          <p:cNvPr id="2056" name="Freeform 30"/>
          <p:cNvSpPr>
            <a:spLocks/>
          </p:cNvSpPr>
          <p:nvPr userDrawn="1"/>
        </p:nvSpPr>
        <p:spPr bwMode="gray">
          <a:xfrm>
            <a:off x="1" y="0"/>
            <a:ext cx="12204700" cy="1600200"/>
          </a:xfrm>
          <a:custGeom>
            <a:avLst/>
            <a:gdLst>
              <a:gd name="T0" fmla="*/ 0 w 5766"/>
              <a:gd name="T1" fmla="*/ 2147483647 h 1008"/>
              <a:gd name="T2" fmla="*/ 2147483647 w 5766"/>
              <a:gd name="T3" fmla="*/ 2147483647 h 1008"/>
              <a:gd name="T4" fmla="*/ 2147483647 w 5766"/>
              <a:gd name="T5" fmla="*/ 2147483647 h 1008"/>
              <a:gd name="T6" fmla="*/ 2147483647 w 5766"/>
              <a:gd name="T7" fmla="*/ 2147483647 h 1008"/>
              <a:gd name="T8" fmla="*/ 2147483647 w 5766"/>
              <a:gd name="T9" fmla="*/ 2147483647 h 1008"/>
              <a:gd name="T10" fmla="*/ 2147483647 w 5766"/>
              <a:gd name="T11" fmla="*/ 2147483647 h 1008"/>
              <a:gd name="T12" fmla="*/ 2147483647 w 5766"/>
              <a:gd name="T13" fmla="*/ 0 h 1008"/>
              <a:gd name="T14" fmla="*/ 0 w 5766"/>
              <a:gd name="T15" fmla="*/ 2147483647 h 1008"/>
              <a:gd name="T16" fmla="*/ 0 w 5766"/>
              <a:gd name="T17" fmla="*/ 2147483647 h 100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pic>
        <p:nvPicPr>
          <p:cNvPr id="10" name="Picture 2" descr="C:\Users\LibeR\Desktop\学院设计\部分素材\标志.png">
            <a:extLst>
              <a:ext uri="{FF2B5EF4-FFF2-40B4-BE49-F238E27FC236}">
                <a16:creationId xmlns:a16="http://schemas.microsoft.com/office/drawing/2014/main" xmlns="" id="{0FD5FD62-6A64-4DAD-8F38-E1AD4CEA33BF}"/>
              </a:ext>
            </a:extLst>
          </p:cNvPr>
          <p:cNvPicPr>
            <a:picLocks noChangeAspect="1" noChangeArrowheads="1"/>
          </p:cNvPicPr>
          <p:nvPr userDrawn="1"/>
        </p:nvPicPr>
        <p:blipFill rotWithShape="1">
          <a:blip r:embed="rId4">
            <a:extLst>
              <a:ext uri="{28A0092B-C50C-407E-A947-70E740481C1C}">
                <a14:useLocalDpi xmlns:a14="http://schemas.microsoft.com/office/drawing/2010/main"/>
              </a:ext>
            </a:extLst>
          </a:blip>
          <a:srcRect l="3956" t="26667" r="5834" b="39999"/>
          <a:stretch/>
        </p:blipFill>
        <p:spPr bwMode="auto">
          <a:xfrm>
            <a:off x="4170622" y="-19186"/>
            <a:ext cx="7920880" cy="1042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5"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074" name="Picture 2" descr="图片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37930" b="14191"/>
          <a:stretch>
            <a:fillRect/>
          </a:stretch>
        </p:blipFill>
        <p:spPr bwMode="auto">
          <a:xfrm>
            <a:off x="-16933" y="-98425"/>
            <a:ext cx="12247033" cy="2089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 bg1="lt1" tx1="dk1" bg2="lt2" tx2="dk2" accent1="accent1" accent2="accent2" accent3="accent3" accent4="accent4" accent5="accent5" accent6="accent6" hlink="hlink" folHlink="folHlink"/>
  <p:sldLayoutIdLst>
    <p:sldLayoutId id="2147483694" r:id="rId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audio" Target="../media/audio5.wav"/><Relationship Id="rId3" Type="http://schemas.openxmlformats.org/officeDocument/2006/relationships/notesSlide" Target="../notesSlides/notesSlide1.xml"/><Relationship Id="rId7" Type="http://schemas.openxmlformats.org/officeDocument/2006/relationships/audio" Target="../media/audio4.wav"/><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audio" Target="../media/audio3.wav"/><Relationship Id="rId5" Type="http://schemas.openxmlformats.org/officeDocument/2006/relationships/audio" Target="../media/audio2.wav"/><Relationship Id="rId10" Type="http://schemas.openxmlformats.org/officeDocument/2006/relationships/image" Target="../media/image4.png"/><Relationship Id="rId4" Type="http://schemas.openxmlformats.org/officeDocument/2006/relationships/audio" Target="../media/audio1.wav"/><Relationship Id="rId9"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07/relationships/media" Target="../media/media2.mp4"/><Relationship Id="rId7" Type="http://schemas.openxmlformats.org/officeDocument/2006/relationships/image" Target="../media/image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7.xml"/><Relationship Id="rId4" Type="http://schemas.openxmlformats.org/officeDocument/2006/relationships/video" Target="../media/media2.mp4"/></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7.xml"/><Relationship Id="rId7" Type="http://schemas.openxmlformats.org/officeDocument/2006/relationships/image" Target="../media/image9.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2.bin"/><Relationship Id="rId11" Type="http://schemas.openxmlformats.org/officeDocument/2006/relationships/image" Target="../media/image11.wmf"/><Relationship Id="rId5" Type="http://schemas.openxmlformats.org/officeDocument/2006/relationships/audio" Target="../media/audio6.wav"/><Relationship Id="rId10" Type="http://schemas.openxmlformats.org/officeDocument/2006/relationships/oleObject" Target="../embeddings/oleObject4.bin"/><Relationship Id="rId4" Type="http://schemas.openxmlformats.org/officeDocument/2006/relationships/audio" Target="../media/audio7.wav"/><Relationship Id="rId9" Type="http://schemas.openxmlformats.org/officeDocument/2006/relationships/image" Target="../media/image10.wmf"/></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2.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audio" Target="../media/audio6.wav"/><Relationship Id="rId5" Type="http://schemas.openxmlformats.org/officeDocument/2006/relationships/audio" Target="../media/audio8.wav"/><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9.xml"/><Relationship Id="rId7" Type="http://schemas.openxmlformats.org/officeDocument/2006/relationships/image" Target="../media/image17.png"/><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6.png"/><Relationship Id="rId11" Type="http://schemas.openxmlformats.org/officeDocument/2006/relationships/image" Target="../media/image15.wmf"/><Relationship Id="rId5" Type="http://schemas.openxmlformats.org/officeDocument/2006/relationships/image" Target="../media/image13.png"/><Relationship Id="rId10" Type="http://schemas.openxmlformats.org/officeDocument/2006/relationships/oleObject" Target="../embeddings/oleObject7.bin"/><Relationship Id="rId4" Type="http://schemas.openxmlformats.org/officeDocument/2006/relationships/oleObject" Target="../embeddings/oleObject5.bin"/><Relationship Id="rId9" Type="http://schemas.openxmlformats.org/officeDocument/2006/relationships/image" Target="../media/image14.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21.wmf"/><Relationship Id="rId3" Type="http://schemas.openxmlformats.org/officeDocument/2006/relationships/notesSlide" Target="../notesSlides/notesSlide10.xml"/><Relationship Id="rId7" Type="http://schemas.openxmlformats.org/officeDocument/2006/relationships/image" Target="../media/image18.wmf"/><Relationship Id="rId12" Type="http://schemas.openxmlformats.org/officeDocument/2006/relationships/oleObject" Target="../embeddings/oleObject12.bin"/><Relationship Id="rId17" Type="http://schemas.openxmlformats.org/officeDocument/2006/relationships/image" Target="../media/image23.wmf"/><Relationship Id="rId2" Type="http://schemas.openxmlformats.org/officeDocument/2006/relationships/slideLayout" Target="../slideLayouts/slideLayout7.xml"/><Relationship Id="rId16" Type="http://schemas.openxmlformats.org/officeDocument/2006/relationships/oleObject" Target="../embeddings/oleObject14.bin"/><Relationship Id="rId1" Type="http://schemas.openxmlformats.org/officeDocument/2006/relationships/vmlDrawing" Target="../drawings/vmlDrawing4.vml"/><Relationship Id="rId6" Type="http://schemas.openxmlformats.org/officeDocument/2006/relationships/oleObject" Target="../embeddings/oleObject9.bin"/><Relationship Id="rId11" Type="http://schemas.openxmlformats.org/officeDocument/2006/relationships/image" Target="../media/image20.wmf"/><Relationship Id="rId5" Type="http://schemas.openxmlformats.org/officeDocument/2006/relationships/image" Target="../media/image17.wmf"/><Relationship Id="rId15" Type="http://schemas.openxmlformats.org/officeDocument/2006/relationships/image" Target="../media/image22.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9.wmf"/><Relationship Id="rId14" Type="http://schemas.openxmlformats.org/officeDocument/2006/relationships/oleObject" Target="../embeddings/oleObject13.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25.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16.bin"/><Relationship Id="rId5" Type="http://schemas.openxmlformats.org/officeDocument/2006/relationships/image" Target="../media/image24.wmf"/><Relationship Id="rId4" Type="http://schemas.openxmlformats.org/officeDocument/2006/relationships/oleObject" Target="../embeddings/oleObject15.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image" Target="../media/image30.wmf"/><Relationship Id="rId3" Type="http://schemas.openxmlformats.org/officeDocument/2006/relationships/notesSlide" Target="../notesSlides/notesSlide12.xml"/><Relationship Id="rId7" Type="http://schemas.openxmlformats.org/officeDocument/2006/relationships/image" Target="../media/image27.wmf"/><Relationship Id="rId12"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18.bin"/><Relationship Id="rId11" Type="http://schemas.openxmlformats.org/officeDocument/2006/relationships/image" Target="../media/image29.wmf"/><Relationship Id="rId5" Type="http://schemas.openxmlformats.org/officeDocument/2006/relationships/image" Target="../media/image26.wmf"/><Relationship Id="rId10" Type="http://schemas.openxmlformats.org/officeDocument/2006/relationships/oleObject" Target="../embeddings/oleObject20.bin"/><Relationship Id="rId4" Type="http://schemas.openxmlformats.org/officeDocument/2006/relationships/oleObject" Target="../embeddings/oleObject17.bin"/><Relationship Id="rId9" Type="http://schemas.openxmlformats.org/officeDocument/2006/relationships/image" Target="../media/image28.w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32.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23.bin"/><Relationship Id="rId5" Type="http://schemas.openxmlformats.org/officeDocument/2006/relationships/image" Target="../media/image31.wmf"/><Relationship Id="rId4" Type="http://schemas.openxmlformats.org/officeDocument/2006/relationships/oleObject" Target="../embeddings/oleObject22.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33.wmf"/><Relationship Id="rId4" Type="http://schemas.openxmlformats.org/officeDocument/2006/relationships/oleObject" Target="../embeddings/oleObject24.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37.wmf"/><Relationship Id="rId3" Type="http://schemas.openxmlformats.org/officeDocument/2006/relationships/notesSlide" Target="../notesSlides/notesSlide15.xml"/><Relationship Id="rId7" Type="http://schemas.openxmlformats.org/officeDocument/2006/relationships/image" Target="../media/image34.wmf"/><Relationship Id="rId12"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25.bin"/><Relationship Id="rId11" Type="http://schemas.openxmlformats.org/officeDocument/2006/relationships/image" Target="../media/image36.wmf"/><Relationship Id="rId5" Type="http://schemas.openxmlformats.org/officeDocument/2006/relationships/audio" Target="../media/audio7.wav"/><Relationship Id="rId10" Type="http://schemas.openxmlformats.org/officeDocument/2006/relationships/oleObject" Target="../embeddings/oleObject27.bin"/><Relationship Id="rId4" Type="http://schemas.openxmlformats.org/officeDocument/2006/relationships/audio" Target="../media/audio6.wav"/><Relationship Id="rId9" Type="http://schemas.openxmlformats.org/officeDocument/2006/relationships/image" Target="../media/image35.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31.bin"/><Relationship Id="rId3" Type="http://schemas.openxmlformats.org/officeDocument/2006/relationships/notesSlide" Target="../notesSlides/notesSlide16.xml"/><Relationship Id="rId7" Type="http://schemas.openxmlformats.org/officeDocument/2006/relationships/image" Target="../media/image39.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30.bin"/><Relationship Id="rId11" Type="http://schemas.openxmlformats.org/officeDocument/2006/relationships/image" Target="../media/image41.wmf"/><Relationship Id="rId5" Type="http://schemas.openxmlformats.org/officeDocument/2006/relationships/image" Target="../media/image38.wmf"/><Relationship Id="rId10" Type="http://schemas.openxmlformats.org/officeDocument/2006/relationships/oleObject" Target="../embeddings/oleObject32.bin"/><Relationship Id="rId4" Type="http://schemas.openxmlformats.org/officeDocument/2006/relationships/oleObject" Target="../embeddings/oleObject29.bin"/><Relationship Id="rId9" Type="http://schemas.openxmlformats.org/officeDocument/2006/relationships/image" Target="../media/image40.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35.bin"/><Relationship Id="rId13" Type="http://schemas.openxmlformats.org/officeDocument/2006/relationships/image" Target="../media/image46.wmf"/><Relationship Id="rId3" Type="http://schemas.openxmlformats.org/officeDocument/2006/relationships/notesSlide" Target="../notesSlides/notesSlide17.xml"/><Relationship Id="rId7" Type="http://schemas.openxmlformats.org/officeDocument/2006/relationships/image" Target="../media/image43.wmf"/><Relationship Id="rId12"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oleObject" Target="../embeddings/oleObject34.bin"/><Relationship Id="rId11" Type="http://schemas.openxmlformats.org/officeDocument/2006/relationships/image" Target="../media/image45.wmf"/><Relationship Id="rId5" Type="http://schemas.openxmlformats.org/officeDocument/2006/relationships/image" Target="../media/image42.wmf"/><Relationship Id="rId10" Type="http://schemas.openxmlformats.org/officeDocument/2006/relationships/oleObject" Target="../embeddings/oleObject36.bin"/><Relationship Id="rId4" Type="http://schemas.openxmlformats.org/officeDocument/2006/relationships/oleObject" Target="../embeddings/oleObject33.bin"/><Relationship Id="rId9" Type="http://schemas.openxmlformats.org/officeDocument/2006/relationships/image" Target="../media/image44.wmf"/></Relationships>
</file>

<file path=ppt/slides/_rels/slide1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18.xml"/><Relationship Id="rId7" Type="http://schemas.openxmlformats.org/officeDocument/2006/relationships/image" Target="../media/image48.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39.bin"/><Relationship Id="rId11" Type="http://schemas.openxmlformats.org/officeDocument/2006/relationships/image" Target="../media/image49.wmf"/><Relationship Id="rId5" Type="http://schemas.openxmlformats.org/officeDocument/2006/relationships/image" Target="../media/image47.wmf"/><Relationship Id="rId10" Type="http://schemas.openxmlformats.org/officeDocument/2006/relationships/oleObject" Target="../embeddings/oleObject40.bin"/><Relationship Id="rId4" Type="http://schemas.openxmlformats.org/officeDocument/2006/relationships/oleObject" Target="../embeddings/oleObject38.bin"/><Relationship Id="rId9" Type="http://schemas.openxmlformats.org/officeDocument/2006/relationships/image" Target="../media/image49.png"/></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42.bin"/><Relationship Id="rId13" Type="http://schemas.openxmlformats.org/officeDocument/2006/relationships/image" Target="../media/image53.wmf"/><Relationship Id="rId3" Type="http://schemas.openxmlformats.org/officeDocument/2006/relationships/notesSlide" Target="../notesSlides/notesSlide19.xml"/><Relationship Id="rId7" Type="http://schemas.openxmlformats.org/officeDocument/2006/relationships/image" Target="../media/image50.wmf"/><Relationship Id="rId12"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41.bin"/><Relationship Id="rId11" Type="http://schemas.openxmlformats.org/officeDocument/2006/relationships/image" Target="../media/image52.wmf"/><Relationship Id="rId5" Type="http://schemas.openxmlformats.org/officeDocument/2006/relationships/audio" Target="../media/audio7.wav"/><Relationship Id="rId10" Type="http://schemas.openxmlformats.org/officeDocument/2006/relationships/oleObject" Target="../embeddings/oleObject43.bin"/><Relationship Id="rId4" Type="http://schemas.openxmlformats.org/officeDocument/2006/relationships/audio" Target="../media/audio6.wav"/><Relationship Id="rId9" Type="http://schemas.openxmlformats.org/officeDocument/2006/relationships/image" Target="../media/image51.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47.bin"/><Relationship Id="rId3" Type="http://schemas.openxmlformats.org/officeDocument/2006/relationships/notesSlide" Target="../notesSlides/notesSlide20.xml"/><Relationship Id="rId7" Type="http://schemas.openxmlformats.org/officeDocument/2006/relationships/image" Target="../media/image55.w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46.bin"/><Relationship Id="rId5" Type="http://schemas.openxmlformats.org/officeDocument/2006/relationships/image" Target="../media/image54.wmf"/><Relationship Id="rId4" Type="http://schemas.openxmlformats.org/officeDocument/2006/relationships/oleObject" Target="../embeddings/oleObject45.bin"/><Relationship Id="rId9" Type="http://schemas.openxmlformats.org/officeDocument/2006/relationships/image" Target="../media/image56.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50.bin"/><Relationship Id="rId3" Type="http://schemas.openxmlformats.org/officeDocument/2006/relationships/notesSlide" Target="../notesSlides/notesSlide21.xml"/><Relationship Id="rId7" Type="http://schemas.openxmlformats.org/officeDocument/2006/relationships/image" Target="../media/image58.wmf"/><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49.bin"/><Relationship Id="rId11" Type="http://schemas.openxmlformats.org/officeDocument/2006/relationships/image" Target="../media/image60.wmf"/><Relationship Id="rId5" Type="http://schemas.openxmlformats.org/officeDocument/2006/relationships/image" Target="../media/image57.wmf"/><Relationship Id="rId10" Type="http://schemas.openxmlformats.org/officeDocument/2006/relationships/oleObject" Target="../embeddings/oleObject51.bin"/><Relationship Id="rId4" Type="http://schemas.openxmlformats.org/officeDocument/2006/relationships/oleObject" Target="../embeddings/oleObject48.bin"/><Relationship Id="rId9" Type="http://schemas.openxmlformats.org/officeDocument/2006/relationships/image" Target="../media/image59.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53.bin"/><Relationship Id="rId13" Type="http://schemas.openxmlformats.org/officeDocument/2006/relationships/image" Target="../media/image64.wmf"/><Relationship Id="rId3" Type="http://schemas.openxmlformats.org/officeDocument/2006/relationships/notesSlide" Target="../notesSlides/notesSlide22.xml"/><Relationship Id="rId7" Type="http://schemas.openxmlformats.org/officeDocument/2006/relationships/image" Target="../media/image61.wmf"/><Relationship Id="rId12" Type="http://schemas.openxmlformats.org/officeDocument/2006/relationships/oleObject" Target="../embeddings/oleObject55.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52.bin"/><Relationship Id="rId11" Type="http://schemas.openxmlformats.org/officeDocument/2006/relationships/image" Target="../media/image63.wmf"/><Relationship Id="rId5" Type="http://schemas.openxmlformats.org/officeDocument/2006/relationships/audio" Target="../media/audio7.wav"/><Relationship Id="rId15" Type="http://schemas.openxmlformats.org/officeDocument/2006/relationships/image" Target="../media/image65.wmf"/><Relationship Id="rId10" Type="http://schemas.openxmlformats.org/officeDocument/2006/relationships/oleObject" Target="../embeddings/oleObject54.bin"/><Relationship Id="rId4" Type="http://schemas.openxmlformats.org/officeDocument/2006/relationships/audio" Target="../media/audio6.wav"/><Relationship Id="rId9" Type="http://schemas.openxmlformats.org/officeDocument/2006/relationships/image" Target="../media/image62.wmf"/><Relationship Id="rId14" Type="http://schemas.openxmlformats.org/officeDocument/2006/relationships/oleObject" Target="../embeddings/oleObject56.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59.bin"/><Relationship Id="rId3" Type="http://schemas.openxmlformats.org/officeDocument/2006/relationships/notesSlide" Target="../notesSlides/notesSlide23.xml"/><Relationship Id="rId7" Type="http://schemas.openxmlformats.org/officeDocument/2006/relationships/image" Target="../media/image67.wmf"/><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58.bin"/><Relationship Id="rId11" Type="http://schemas.openxmlformats.org/officeDocument/2006/relationships/image" Target="../media/image69.wmf"/><Relationship Id="rId5" Type="http://schemas.openxmlformats.org/officeDocument/2006/relationships/image" Target="../media/image66.wmf"/><Relationship Id="rId10" Type="http://schemas.openxmlformats.org/officeDocument/2006/relationships/oleObject" Target="../embeddings/oleObject60.bin"/><Relationship Id="rId4" Type="http://schemas.openxmlformats.org/officeDocument/2006/relationships/oleObject" Target="../embeddings/oleObject57.bin"/><Relationship Id="rId9" Type="http://schemas.openxmlformats.org/officeDocument/2006/relationships/image" Target="../media/image68.w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§9-1  </a:t>
            </a:r>
            <a:r>
              <a:rPr lang="zh-CN" altLang="en-US" sz="3000" i="0" dirty="0">
                <a:solidFill>
                  <a:schemeClr val="accent6">
                    <a:lumMod val="75000"/>
                  </a:schemeClr>
                </a:solidFill>
                <a:latin typeface="+mn-lt"/>
                <a:ea typeface="微软雅黑" panose="020B0503020204020204" pitchFamily="34" charset="-122"/>
              </a:rPr>
              <a:t>扭转的概念、扭矩与扭矩图</a:t>
            </a:r>
          </a:p>
        </p:txBody>
      </p:sp>
      <p:sp>
        <p:nvSpPr>
          <p:cNvPr id="14" name="Text Box 1032"/>
          <p:cNvSpPr txBox="1">
            <a:spLocks noChangeArrowheads="1"/>
          </p:cNvSpPr>
          <p:nvPr/>
        </p:nvSpPr>
        <p:spPr bwMode="auto">
          <a:xfrm>
            <a:off x="335361" y="1970218"/>
            <a:ext cx="11521279"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latin typeface="+mj-lt"/>
                <a:ea typeface="微软雅黑" panose="020B0503020204020204" pitchFamily="34" charset="-122"/>
              </a:rPr>
              <a:t>当钳工攻螺纹孔时，加在手柄上两个等值反向的力组成力偶，作用于丝锥杆的上端，工件的反力偶作用在丝锥杆的下端；汽车转向盘的操纵杆，两端分别承受驾驶员作用在转向盘上的外力偶和转向器的反力偶作用。</a:t>
            </a:r>
          </a:p>
        </p:txBody>
      </p:sp>
      <p:sp>
        <p:nvSpPr>
          <p:cNvPr id="9" name="Rectangle 61"/>
          <p:cNvSpPr>
            <a:spLocks noChangeArrowheads="1"/>
          </p:cNvSpPr>
          <p:nvPr/>
        </p:nvSpPr>
        <p:spPr bwMode="auto">
          <a:xfrm>
            <a:off x="947428" y="3613745"/>
            <a:ext cx="10693188" cy="2644475"/>
          </a:xfrm>
          <a:prstGeom prst="rect">
            <a:avLst/>
          </a:prstGeom>
          <a:solidFill>
            <a:srgbClr val="B9CDE5"/>
          </a:solidFill>
          <a:ln>
            <a:noFill/>
          </a:ln>
          <a:effectLst/>
        </p:spPr>
        <p:txBody>
          <a:bodyPr wrap="none" anchor="ctr"/>
          <a:lstStyle/>
          <a:p>
            <a:endParaRPr lang="zh-CN" altLang="en-US"/>
          </a:p>
        </p:txBody>
      </p:sp>
      <p:sp>
        <p:nvSpPr>
          <p:cNvPr id="53" name="矩形 52"/>
          <p:cNvSpPr/>
          <p:nvPr/>
        </p:nvSpPr>
        <p:spPr>
          <a:xfrm>
            <a:off x="4454959" y="1416220"/>
            <a:ext cx="2108269"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扭转的概念</a:t>
            </a:r>
          </a:p>
        </p:txBody>
      </p:sp>
      <p:sp>
        <p:nvSpPr>
          <p:cNvPr id="54" name="Line 5"/>
          <p:cNvSpPr>
            <a:spLocks noChangeShapeType="1"/>
          </p:cNvSpPr>
          <p:nvPr/>
        </p:nvSpPr>
        <p:spPr bwMode="auto">
          <a:xfrm rot="10800000" flipV="1">
            <a:off x="4955612" y="4532292"/>
            <a:ext cx="693737" cy="782637"/>
          </a:xfrm>
          <a:prstGeom prst="line">
            <a:avLst/>
          </a:prstGeom>
          <a:noFill/>
          <a:ln w="38100">
            <a:solidFill>
              <a:srgbClr val="FFFF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55" name="Line 6"/>
          <p:cNvSpPr>
            <a:spLocks noChangeShapeType="1"/>
          </p:cNvSpPr>
          <p:nvPr/>
        </p:nvSpPr>
        <p:spPr bwMode="auto">
          <a:xfrm flipV="1">
            <a:off x="6825687" y="4275117"/>
            <a:ext cx="693737" cy="782637"/>
          </a:xfrm>
          <a:prstGeom prst="line">
            <a:avLst/>
          </a:prstGeom>
          <a:noFill/>
          <a:ln w="38100">
            <a:solidFill>
              <a:srgbClr val="FFFF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grpSp>
        <p:nvGrpSpPr>
          <p:cNvPr id="56" name="Group 7"/>
          <p:cNvGrpSpPr>
            <a:grpSpLocks/>
          </p:cNvGrpSpPr>
          <p:nvPr/>
        </p:nvGrpSpPr>
        <p:grpSpPr bwMode="auto">
          <a:xfrm>
            <a:off x="5485837" y="4335442"/>
            <a:ext cx="1495425" cy="1443037"/>
            <a:chOff x="841" y="2735"/>
            <a:chExt cx="942" cy="909"/>
          </a:xfrm>
        </p:grpSpPr>
        <p:sp>
          <p:nvSpPr>
            <p:cNvPr id="57" name="Rectangle 8"/>
            <p:cNvSpPr>
              <a:spLocks noChangeArrowheads="1"/>
            </p:cNvSpPr>
            <p:nvPr/>
          </p:nvSpPr>
          <p:spPr bwMode="auto">
            <a:xfrm rot="-800516">
              <a:off x="1332" y="3099"/>
              <a:ext cx="112" cy="545"/>
            </a:xfrm>
            <a:prstGeom prst="rect">
              <a:avLst/>
            </a:prstGeom>
            <a:gradFill rotWithShape="1">
              <a:gsLst>
                <a:gs pos="0">
                  <a:srgbClr val="1C1C1C"/>
                </a:gs>
                <a:gs pos="50000">
                  <a:srgbClr val="C0C0C0"/>
                </a:gs>
                <a:gs pos="100000">
                  <a:srgbClr val="1C1C1C"/>
                </a:gs>
              </a:gsLst>
              <a:lin ang="0" scaled="1"/>
            </a:gradFill>
            <a:ln w="38100">
              <a:solidFill>
                <a:srgbClr val="333333"/>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58" name="Oval 9"/>
            <p:cNvSpPr>
              <a:spLocks noChangeArrowheads="1"/>
            </p:cNvSpPr>
            <p:nvPr/>
          </p:nvSpPr>
          <p:spPr bwMode="auto">
            <a:xfrm rot="-592834">
              <a:off x="841" y="2735"/>
              <a:ext cx="942" cy="595"/>
            </a:xfrm>
            <a:prstGeom prst="ellipse">
              <a:avLst/>
            </a:prstGeom>
            <a:noFill/>
            <a:ln w="7620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59" name="Oval 10"/>
            <p:cNvSpPr>
              <a:spLocks noChangeAspect="1" noChangeArrowheads="1"/>
            </p:cNvSpPr>
            <p:nvPr/>
          </p:nvSpPr>
          <p:spPr bwMode="auto">
            <a:xfrm rot="-592834">
              <a:off x="1146" y="2935"/>
              <a:ext cx="302" cy="191"/>
            </a:xfrm>
            <a:prstGeom prst="ellipse">
              <a:avLst/>
            </a:prstGeom>
            <a:gradFill rotWithShape="1">
              <a:gsLst>
                <a:gs pos="0">
                  <a:srgbClr val="FF99FF"/>
                </a:gs>
                <a:gs pos="100000">
                  <a:srgbClr val="CC0099"/>
                </a:gs>
              </a:gsLst>
              <a:path path="shape">
                <a:fillToRect l="50000" t="50000" r="50000" b="50000"/>
              </a:path>
            </a:gradFill>
            <a:ln w="95250" cmpd="thickThin">
              <a:solidFill>
                <a:srgbClr val="FFFF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60" name="Freeform 11"/>
            <p:cNvSpPr>
              <a:spLocks/>
            </p:cNvSpPr>
            <p:nvPr/>
          </p:nvSpPr>
          <p:spPr bwMode="auto">
            <a:xfrm>
              <a:off x="1304" y="2752"/>
              <a:ext cx="140" cy="152"/>
            </a:xfrm>
            <a:custGeom>
              <a:avLst/>
              <a:gdLst>
                <a:gd name="T0" fmla="*/ 0 w 140"/>
                <a:gd name="T1" fmla="*/ 152 h 152"/>
                <a:gd name="T2" fmla="*/ 32 w 140"/>
                <a:gd name="T3" fmla="*/ 84 h 152"/>
                <a:gd name="T4" fmla="*/ 40 w 140"/>
                <a:gd name="T5" fmla="*/ 12 h 152"/>
                <a:gd name="T6" fmla="*/ 120 w 140"/>
                <a:gd name="T7" fmla="*/ 4 h 152"/>
                <a:gd name="T8" fmla="*/ 140 w 140"/>
                <a:gd name="T9" fmla="*/ 12 h 152"/>
                <a:gd name="T10" fmla="*/ 100 w 140"/>
                <a:gd name="T11" fmla="*/ 92 h 152"/>
                <a:gd name="T12" fmla="*/ 76 w 140"/>
                <a:gd name="T13" fmla="*/ 152 h 152"/>
                <a:gd name="T14" fmla="*/ 0 w 140"/>
                <a:gd name="T15" fmla="*/ 152 h 152"/>
                <a:gd name="T16" fmla="*/ 0 60000 65536"/>
                <a:gd name="T17" fmla="*/ 0 60000 65536"/>
                <a:gd name="T18" fmla="*/ 0 60000 65536"/>
                <a:gd name="T19" fmla="*/ 0 60000 65536"/>
                <a:gd name="T20" fmla="*/ 0 60000 65536"/>
                <a:gd name="T21" fmla="*/ 0 60000 65536"/>
                <a:gd name="T22" fmla="*/ 0 60000 65536"/>
                <a:gd name="T23" fmla="*/ 0 60000 65536"/>
                <a:gd name="T24" fmla="*/ 0 w 140"/>
                <a:gd name="T25" fmla="*/ 0 h 152"/>
                <a:gd name="T26" fmla="*/ 140 w 140"/>
                <a:gd name="T27" fmla="*/ 152 h 1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0" h="152">
                  <a:moveTo>
                    <a:pt x="0" y="152"/>
                  </a:moveTo>
                  <a:lnTo>
                    <a:pt x="32" y="84"/>
                  </a:lnTo>
                  <a:lnTo>
                    <a:pt x="40" y="12"/>
                  </a:lnTo>
                  <a:cubicBezTo>
                    <a:pt x="79" y="6"/>
                    <a:pt x="76" y="0"/>
                    <a:pt x="120" y="4"/>
                  </a:cubicBezTo>
                  <a:cubicBezTo>
                    <a:pt x="135" y="9"/>
                    <a:pt x="128" y="6"/>
                    <a:pt x="140" y="12"/>
                  </a:cubicBezTo>
                  <a:cubicBezTo>
                    <a:pt x="87" y="113"/>
                    <a:pt x="111" y="69"/>
                    <a:pt x="100" y="92"/>
                  </a:cubicBezTo>
                  <a:lnTo>
                    <a:pt x="76" y="152"/>
                  </a:lnTo>
                  <a:lnTo>
                    <a:pt x="0" y="152"/>
                  </a:lnTo>
                  <a:close/>
                </a:path>
              </a:pathLst>
            </a:custGeom>
            <a:gradFill rotWithShape="1">
              <a:gsLst>
                <a:gs pos="0">
                  <a:srgbClr val="0099FF"/>
                </a:gs>
                <a:gs pos="50000">
                  <a:srgbClr val="00FFFF"/>
                </a:gs>
                <a:gs pos="100000">
                  <a:srgbClr val="0099FF"/>
                </a:gs>
              </a:gsLst>
              <a:lin ang="0" scaled="1"/>
            </a:gradFill>
            <a:ln w="28575" cap="flat" cmpd="sng">
              <a:solidFill>
                <a:srgbClr val="FFE7FF"/>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1" name="Freeform 12"/>
            <p:cNvSpPr>
              <a:spLocks/>
            </p:cNvSpPr>
            <p:nvPr/>
          </p:nvSpPr>
          <p:spPr bwMode="auto">
            <a:xfrm>
              <a:off x="1448" y="3020"/>
              <a:ext cx="301" cy="145"/>
            </a:xfrm>
            <a:custGeom>
              <a:avLst/>
              <a:gdLst>
                <a:gd name="T0" fmla="*/ 0 w 301"/>
                <a:gd name="T1" fmla="*/ 60 h 145"/>
                <a:gd name="T2" fmla="*/ 36 w 301"/>
                <a:gd name="T3" fmla="*/ 0 h 145"/>
                <a:gd name="T4" fmla="*/ 120 w 301"/>
                <a:gd name="T5" fmla="*/ 32 h 145"/>
                <a:gd name="T6" fmla="*/ 280 w 301"/>
                <a:gd name="T7" fmla="*/ 52 h 145"/>
                <a:gd name="T8" fmla="*/ 280 w 301"/>
                <a:gd name="T9" fmla="*/ 76 h 145"/>
                <a:gd name="T10" fmla="*/ 264 w 301"/>
                <a:gd name="T11" fmla="*/ 104 h 145"/>
                <a:gd name="T12" fmla="*/ 236 w 301"/>
                <a:gd name="T13" fmla="*/ 128 h 145"/>
                <a:gd name="T14" fmla="*/ 212 w 301"/>
                <a:gd name="T15" fmla="*/ 140 h 145"/>
                <a:gd name="T16" fmla="*/ 80 w 301"/>
                <a:gd name="T17" fmla="*/ 80 h 145"/>
                <a:gd name="T18" fmla="*/ 20 w 301"/>
                <a:gd name="T19" fmla="*/ 52 h 145"/>
                <a:gd name="T20" fmla="*/ 24 w 301"/>
                <a:gd name="T21" fmla="*/ 24 h 1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01"/>
                <a:gd name="T34" fmla="*/ 0 h 145"/>
                <a:gd name="T35" fmla="*/ 301 w 301"/>
                <a:gd name="T36" fmla="*/ 145 h 1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01" h="145">
                  <a:moveTo>
                    <a:pt x="0" y="60"/>
                  </a:moveTo>
                  <a:cubicBezTo>
                    <a:pt x="23" y="45"/>
                    <a:pt x="17" y="4"/>
                    <a:pt x="36" y="0"/>
                  </a:cubicBezTo>
                  <a:lnTo>
                    <a:pt x="120" y="32"/>
                  </a:lnTo>
                  <a:lnTo>
                    <a:pt x="280" y="52"/>
                  </a:lnTo>
                  <a:cubicBezTo>
                    <a:pt x="269" y="84"/>
                    <a:pt x="301" y="55"/>
                    <a:pt x="280" y="76"/>
                  </a:cubicBezTo>
                  <a:cubicBezTo>
                    <a:pt x="264" y="92"/>
                    <a:pt x="296" y="93"/>
                    <a:pt x="264" y="104"/>
                  </a:cubicBezTo>
                  <a:cubicBezTo>
                    <a:pt x="260" y="115"/>
                    <a:pt x="248" y="116"/>
                    <a:pt x="236" y="128"/>
                  </a:cubicBezTo>
                  <a:cubicBezTo>
                    <a:pt x="210" y="137"/>
                    <a:pt x="235" y="145"/>
                    <a:pt x="212" y="140"/>
                  </a:cubicBezTo>
                  <a:lnTo>
                    <a:pt x="80" y="80"/>
                  </a:lnTo>
                  <a:lnTo>
                    <a:pt x="20" y="52"/>
                  </a:lnTo>
                  <a:lnTo>
                    <a:pt x="24" y="24"/>
                  </a:lnTo>
                </a:path>
              </a:pathLst>
            </a:custGeom>
            <a:gradFill rotWithShape="1">
              <a:gsLst>
                <a:gs pos="0">
                  <a:srgbClr val="0099FF"/>
                </a:gs>
                <a:gs pos="50000">
                  <a:srgbClr val="00FFFF"/>
                </a:gs>
                <a:gs pos="100000">
                  <a:srgbClr val="0099FF"/>
                </a:gs>
              </a:gsLst>
              <a:lin ang="0" scaled="1"/>
            </a:gradFill>
            <a:ln w="28575" cap="flat" cmpd="sng">
              <a:solidFill>
                <a:srgbClr val="FFE7FF"/>
              </a:solidFill>
              <a:prstDash val="solid"/>
              <a:round/>
              <a:headEnd type="none" w="med" len="med"/>
              <a:tailEnd type="non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2" name="Freeform 13"/>
            <p:cNvSpPr>
              <a:spLocks/>
            </p:cNvSpPr>
            <p:nvPr/>
          </p:nvSpPr>
          <p:spPr bwMode="auto">
            <a:xfrm>
              <a:off x="875" y="3051"/>
              <a:ext cx="269" cy="177"/>
            </a:xfrm>
            <a:custGeom>
              <a:avLst/>
              <a:gdLst>
                <a:gd name="T0" fmla="*/ 269 w 269"/>
                <a:gd name="T1" fmla="*/ 69 h 177"/>
                <a:gd name="T2" fmla="*/ 245 w 269"/>
                <a:gd name="T3" fmla="*/ 13 h 177"/>
                <a:gd name="T4" fmla="*/ 237 w 269"/>
                <a:gd name="T5" fmla="*/ 1 h 177"/>
                <a:gd name="T6" fmla="*/ 173 w 269"/>
                <a:gd name="T7" fmla="*/ 41 h 177"/>
                <a:gd name="T8" fmla="*/ 9 w 269"/>
                <a:gd name="T9" fmla="*/ 73 h 177"/>
                <a:gd name="T10" fmla="*/ 21 w 269"/>
                <a:gd name="T11" fmla="*/ 97 h 177"/>
                <a:gd name="T12" fmla="*/ 49 w 269"/>
                <a:gd name="T13" fmla="*/ 137 h 177"/>
                <a:gd name="T14" fmla="*/ 65 w 269"/>
                <a:gd name="T15" fmla="*/ 177 h 177"/>
                <a:gd name="T16" fmla="*/ 129 w 269"/>
                <a:gd name="T17" fmla="*/ 105 h 177"/>
                <a:gd name="T18" fmla="*/ 201 w 269"/>
                <a:gd name="T19" fmla="*/ 77 h 177"/>
                <a:gd name="T20" fmla="*/ 269 w 269"/>
                <a:gd name="T21" fmla="*/ 69 h 1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9"/>
                <a:gd name="T34" fmla="*/ 0 h 177"/>
                <a:gd name="T35" fmla="*/ 269 w 269"/>
                <a:gd name="T36" fmla="*/ 177 h 1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9" h="177">
                  <a:moveTo>
                    <a:pt x="269" y="69"/>
                  </a:moveTo>
                  <a:cubicBezTo>
                    <a:pt x="252" y="44"/>
                    <a:pt x="252" y="41"/>
                    <a:pt x="245" y="13"/>
                  </a:cubicBezTo>
                  <a:cubicBezTo>
                    <a:pt x="242" y="0"/>
                    <a:pt x="245" y="1"/>
                    <a:pt x="237" y="1"/>
                  </a:cubicBezTo>
                  <a:cubicBezTo>
                    <a:pt x="158" y="42"/>
                    <a:pt x="201" y="29"/>
                    <a:pt x="173" y="41"/>
                  </a:cubicBezTo>
                  <a:cubicBezTo>
                    <a:pt x="121" y="61"/>
                    <a:pt x="61" y="60"/>
                    <a:pt x="9" y="73"/>
                  </a:cubicBezTo>
                  <a:cubicBezTo>
                    <a:pt x="0" y="75"/>
                    <a:pt x="17" y="89"/>
                    <a:pt x="21" y="97"/>
                  </a:cubicBezTo>
                  <a:cubicBezTo>
                    <a:pt x="30" y="117"/>
                    <a:pt x="26" y="129"/>
                    <a:pt x="49" y="137"/>
                  </a:cubicBezTo>
                  <a:cubicBezTo>
                    <a:pt x="57" y="148"/>
                    <a:pt x="59" y="165"/>
                    <a:pt x="65" y="177"/>
                  </a:cubicBezTo>
                  <a:cubicBezTo>
                    <a:pt x="118" y="120"/>
                    <a:pt x="107" y="127"/>
                    <a:pt x="129" y="105"/>
                  </a:cubicBezTo>
                  <a:lnTo>
                    <a:pt x="201" y="77"/>
                  </a:lnTo>
                  <a:lnTo>
                    <a:pt x="269" y="69"/>
                  </a:lnTo>
                  <a:close/>
                </a:path>
              </a:pathLst>
            </a:custGeom>
            <a:gradFill rotWithShape="1">
              <a:gsLst>
                <a:gs pos="0">
                  <a:srgbClr val="0099FF"/>
                </a:gs>
                <a:gs pos="50000">
                  <a:srgbClr val="00FFFF"/>
                </a:gs>
                <a:gs pos="100000">
                  <a:srgbClr val="0099FF"/>
                </a:gs>
              </a:gsLst>
              <a:lin ang="0" scaled="1"/>
            </a:gradFill>
            <a:ln w="28575" cap="flat" cmpd="sng">
              <a:solidFill>
                <a:srgbClr val="FFE7FF"/>
              </a:solidFill>
              <a:prstDash val="solid"/>
              <a:round/>
              <a:headEnd type="none" w="med" len="med"/>
              <a:tailEnd type="non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63" name="Text Box 14"/>
          <p:cNvSpPr txBox="1">
            <a:spLocks noChangeArrowheads="1"/>
          </p:cNvSpPr>
          <p:nvPr/>
        </p:nvSpPr>
        <p:spPr bwMode="auto">
          <a:xfrm>
            <a:off x="4688912" y="4894242"/>
            <a:ext cx="4445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2800" dirty="0">
                <a:solidFill>
                  <a:srgbClr val="FFFF00"/>
                </a:solidFill>
                <a:ea typeface="宋体" panose="02010600030101010101" pitchFamily="2" charset="-122"/>
              </a:rPr>
              <a:t>F</a:t>
            </a:r>
          </a:p>
        </p:txBody>
      </p:sp>
      <p:sp>
        <p:nvSpPr>
          <p:cNvPr id="64" name="Text Box 15"/>
          <p:cNvSpPr txBox="1">
            <a:spLocks noChangeArrowheads="1"/>
          </p:cNvSpPr>
          <p:nvPr/>
        </p:nvSpPr>
        <p:spPr bwMode="auto">
          <a:xfrm>
            <a:off x="7051112" y="3994129"/>
            <a:ext cx="590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2800" dirty="0">
                <a:solidFill>
                  <a:srgbClr val="FFFF00"/>
                </a:solidFill>
                <a:ea typeface="宋体" panose="02010600030101010101" pitchFamily="2" charset="-122"/>
              </a:rPr>
              <a:t>F</a:t>
            </a:r>
            <a:r>
              <a:rPr lang="en-US" altLang="zh-CN" sz="2800" b="0" dirty="0">
                <a:solidFill>
                  <a:srgbClr val="FFFF00"/>
                </a:solidFill>
                <a:ea typeface="宋体" panose="02010600030101010101" pitchFamily="2" charset="-122"/>
              </a:rPr>
              <a:t>'</a:t>
            </a:r>
          </a:p>
        </p:txBody>
      </p:sp>
      <p:sp>
        <p:nvSpPr>
          <p:cNvPr id="65" name="Line 19"/>
          <p:cNvSpPr>
            <a:spLocks noChangeShapeType="1"/>
          </p:cNvSpPr>
          <p:nvPr/>
        </p:nvSpPr>
        <p:spPr bwMode="auto">
          <a:xfrm rot="20700000" flipV="1">
            <a:off x="3851970" y="3967142"/>
            <a:ext cx="693737" cy="782637"/>
          </a:xfrm>
          <a:prstGeom prst="line">
            <a:avLst/>
          </a:prstGeom>
          <a:noFill/>
          <a:ln w="38100">
            <a:solidFill>
              <a:srgbClr val="FFFF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grpSp>
        <p:nvGrpSpPr>
          <p:cNvPr id="66" name="Group 20"/>
          <p:cNvGrpSpPr>
            <a:grpSpLocks/>
          </p:cNvGrpSpPr>
          <p:nvPr/>
        </p:nvGrpSpPr>
        <p:grpSpPr bwMode="auto">
          <a:xfrm>
            <a:off x="2294632" y="5297467"/>
            <a:ext cx="1190625" cy="700087"/>
            <a:chOff x="2400" y="3583"/>
            <a:chExt cx="750" cy="441"/>
          </a:xfrm>
        </p:grpSpPr>
        <p:sp>
          <p:nvSpPr>
            <p:cNvPr id="114" name="AutoShape 21"/>
            <p:cNvSpPr>
              <a:spLocks noChangeArrowheads="1"/>
            </p:cNvSpPr>
            <p:nvPr/>
          </p:nvSpPr>
          <p:spPr bwMode="auto">
            <a:xfrm rot="5400000" flipH="1">
              <a:off x="2522" y="3665"/>
              <a:ext cx="270" cy="126"/>
            </a:xfrm>
            <a:prstGeom prst="parallelogram">
              <a:avLst>
                <a:gd name="adj" fmla="val 96379"/>
              </a:avLst>
            </a:prstGeom>
            <a:gradFill rotWithShape="1">
              <a:gsLst>
                <a:gs pos="0">
                  <a:srgbClr val="5E0076"/>
                </a:gs>
                <a:gs pos="100000">
                  <a:srgbClr val="CC00FF"/>
                </a:gs>
              </a:gsLst>
              <a:lin ang="5400000" scaled="1"/>
            </a:gradFill>
            <a:ln w="19050">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15" name="Freeform 22"/>
            <p:cNvSpPr>
              <a:spLocks/>
            </p:cNvSpPr>
            <p:nvPr/>
          </p:nvSpPr>
          <p:spPr bwMode="auto">
            <a:xfrm>
              <a:off x="2541" y="3811"/>
              <a:ext cx="135" cy="198"/>
            </a:xfrm>
            <a:custGeom>
              <a:avLst/>
              <a:gdLst>
                <a:gd name="T0" fmla="*/ 6 w 135"/>
                <a:gd name="T1" fmla="*/ 198 h 198"/>
                <a:gd name="T2" fmla="*/ 72 w 135"/>
                <a:gd name="T3" fmla="*/ 129 h 198"/>
                <a:gd name="T4" fmla="*/ 108 w 135"/>
                <a:gd name="T5" fmla="*/ 129 h 198"/>
                <a:gd name="T6" fmla="*/ 135 w 135"/>
                <a:gd name="T7" fmla="*/ 99 h 198"/>
                <a:gd name="T8" fmla="*/ 132 w 135"/>
                <a:gd name="T9" fmla="*/ 0 h 198"/>
                <a:gd name="T10" fmla="*/ 51 w 135"/>
                <a:gd name="T11" fmla="*/ 45 h 198"/>
                <a:gd name="T12" fmla="*/ 48 w 135"/>
                <a:gd name="T13" fmla="*/ 72 h 198"/>
                <a:gd name="T14" fmla="*/ 24 w 135"/>
                <a:gd name="T15" fmla="*/ 66 h 198"/>
                <a:gd name="T16" fmla="*/ 0 w 135"/>
                <a:gd name="T17" fmla="*/ 78 h 198"/>
                <a:gd name="T18" fmla="*/ 6 w 135"/>
                <a:gd name="T19" fmla="*/ 198 h 19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5"/>
                <a:gd name="T31" fmla="*/ 0 h 198"/>
                <a:gd name="T32" fmla="*/ 135 w 135"/>
                <a:gd name="T33" fmla="*/ 198 h 19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5" h="198">
                  <a:moveTo>
                    <a:pt x="6" y="198"/>
                  </a:moveTo>
                  <a:lnTo>
                    <a:pt x="72" y="129"/>
                  </a:lnTo>
                  <a:lnTo>
                    <a:pt x="108" y="129"/>
                  </a:lnTo>
                  <a:lnTo>
                    <a:pt x="135" y="99"/>
                  </a:lnTo>
                  <a:lnTo>
                    <a:pt x="132" y="0"/>
                  </a:lnTo>
                  <a:lnTo>
                    <a:pt x="51" y="45"/>
                  </a:lnTo>
                  <a:lnTo>
                    <a:pt x="48" y="72"/>
                  </a:lnTo>
                  <a:lnTo>
                    <a:pt x="24" y="66"/>
                  </a:lnTo>
                  <a:lnTo>
                    <a:pt x="0" y="78"/>
                  </a:lnTo>
                  <a:lnTo>
                    <a:pt x="6" y="198"/>
                  </a:lnTo>
                  <a:close/>
                </a:path>
              </a:pathLst>
            </a:custGeom>
            <a:gradFill rotWithShape="1">
              <a:gsLst>
                <a:gs pos="0">
                  <a:srgbClr val="9900CC"/>
                </a:gs>
                <a:gs pos="100000">
                  <a:srgbClr val="47005E"/>
                </a:gs>
              </a:gsLst>
              <a:lin ang="5400000" scaled="1"/>
            </a:gradFill>
            <a:ln w="19050" cap="flat" cmpd="sng">
              <a:solidFill>
                <a:srgbClr val="000000"/>
              </a:solidFill>
              <a:prstDash val="solid"/>
              <a:round/>
              <a:headEnd type="none" w="med" len="med"/>
              <a:tailEnd type="none" w="med" len="me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16" name="Freeform 23"/>
            <p:cNvSpPr>
              <a:spLocks/>
            </p:cNvSpPr>
            <p:nvPr/>
          </p:nvSpPr>
          <p:spPr bwMode="auto">
            <a:xfrm>
              <a:off x="2841" y="3670"/>
              <a:ext cx="51" cy="153"/>
            </a:xfrm>
            <a:custGeom>
              <a:avLst/>
              <a:gdLst>
                <a:gd name="T0" fmla="*/ 0 w 51"/>
                <a:gd name="T1" fmla="*/ 66 h 153"/>
                <a:gd name="T2" fmla="*/ 44 w 51"/>
                <a:gd name="T3" fmla="*/ 0 h 153"/>
                <a:gd name="T4" fmla="*/ 51 w 51"/>
                <a:gd name="T5" fmla="*/ 90 h 153"/>
                <a:gd name="T6" fmla="*/ 6 w 51"/>
                <a:gd name="T7" fmla="*/ 153 h 153"/>
                <a:gd name="T8" fmla="*/ 0 w 51"/>
                <a:gd name="T9" fmla="*/ 66 h 153"/>
                <a:gd name="T10" fmla="*/ 0 60000 65536"/>
                <a:gd name="T11" fmla="*/ 0 60000 65536"/>
                <a:gd name="T12" fmla="*/ 0 60000 65536"/>
                <a:gd name="T13" fmla="*/ 0 60000 65536"/>
                <a:gd name="T14" fmla="*/ 0 60000 65536"/>
                <a:gd name="T15" fmla="*/ 0 w 51"/>
                <a:gd name="T16" fmla="*/ 0 h 153"/>
                <a:gd name="T17" fmla="*/ 51 w 51"/>
                <a:gd name="T18" fmla="*/ 153 h 153"/>
              </a:gdLst>
              <a:ahLst/>
              <a:cxnLst>
                <a:cxn ang="T10">
                  <a:pos x="T0" y="T1"/>
                </a:cxn>
                <a:cxn ang="T11">
                  <a:pos x="T2" y="T3"/>
                </a:cxn>
                <a:cxn ang="T12">
                  <a:pos x="T4" y="T5"/>
                </a:cxn>
                <a:cxn ang="T13">
                  <a:pos x="T6" y="T7"/>
                </a:cxn>
                <a:cxn ang="T14">
                  <a:pos x="T8" y="T9"/>
                </a:cxn>
              </a:cxnLst>
              <a:rect l="T15" t="T16" r="T17" b="T18"/>
              <a:pathLst>
                <a:path w="51" h="153">
                  <a:moveTo>
                    <a:pt x="0" y="66"/>
                  </a:moveTo>
                  <a:lnTo>
                    <a:pt x="44" y="0"/>
                  </a:lnTo>
                  <a:lnTo>
                    <a:pt x="51" y="90"/>
                  </a:lnTo>
                  <a:lnTo>
                    <a:pt x="6" y="153"/>
                  </a:lnTo>
                  <a:lnTo>
                    <a:pt x="0" y="66"/>
                  </a:lnTo>
                  <a:close/>
                </a:path>
              </a:pathLst>
            </a:custGeom>
            <a:gradFill rotWithShape="1">
              <a:gsLst>
                <a:gs pos="0">
                  <a:srgbClr val="FF6600"/>
                </a:gs>
                <a:gs pos="100000">
                  <a:srgbClr val="FFFF00"/>
                </a:gs>
              </a:gsLst>
              <a:lin ang="5400000" scaled="1"/>
            </a:gradFill>
            <a:ln w="19050" cap="flat" cmpd="sng">
              <a:solidFill>
                <a:srgbClr val="000000"/>
              </a:solidFill>
              <a:prstDash val="solid"/>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17" name="AutoShape 24"/>
            <p:cNvSpPr>
              <a:spLocks noChangeArrowheads="1"/>
            </p:cNvSpPr>
            <p:nvPr/>
          </p:nvSpPr>
          <p:spPr bwMode="auto">
            <a:xfrm>
              <a:off x="2628" y="3652"/>
              <a:ext cx="342" cy="84"/>
            </a:xfrm>
            <a:prstGeom prst="parallelogram">
              <a:avLst>
                <a:gd name="adj" fmla="val 107139"/>
              </a:avLst>
            </a:prstGeom>
            <a:gradFill rotWithShape="1">
              <a:gsLst>
                <a:gs pos="0">
                  <a:srgbClr val="FF6600"/>
                </a:gs>
                <a:gs pos="100000">
                  <a:srgbClr val="FFFF00"/>
                </a:gs>
              </a:gsLst>
              <a:lin ang="5400000" scaled="1"/>
            </a:gradFill>
            <a:ln w="19050">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18" name="Rectangle 25"/>
            <p:cNvSpPr>
              <a:spLocks noChangeArrowheads="1"/>
            </p:cNvSpPr>
            <p:nvPr/>
          </p:nvSpPr>
          <p:spPr bwMode="auto">
            <a:xfrm>
              <a:off x="2622" y="3736"/>
              <a:ext cx="246" cy="96"/>
            </a:xfrm>
            <a:prstGeom prst="rect">
              <a:avLst/>
            </a:prstGeom>
            <a:gradFill rotWithShape="1">
              <a:gsLst>
                <a:gs pos="0">
                  <a:srgbClr val="FF6600"/>
                </a:gs>
                <a:gs pos="100000">
                  <a:srgbClr val="FFFF00"/>
                </a:gs>
              </a:gsLst>
              <a:lin ang="5400000" scaled="1"/>
            </a:gradFill>
            <a:ln w="19050" algn="ctr">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19" name="AutoShape 26"/>
            <p:cNvSpPr>
              <a:spLocks noChangeArrowheads="1"/>
            </p:cNvSpPr>
            <p:nvPr/>
          </p:nvSpPr>
          <p:spPr bwMode="auto">
            <a:xfrm>
              <a:off x="2430" y="3583"/>
              <a:ext cx="294" cy="138"/>
            </a:xfrm>
            <a:prstGeom prst="parallelogram">
              <a:avLst>
                <a:gd name="adj" fmla="val 104391"/>
              </a:avLst>
            </a:prstGeom>
            <a:gradFill rotWithShape="1">
              <a:gsLst>
                <a:gs pos="0">
                  <a:srgbClr val="5E0076"/>
                </a:gs>
                <a:gs pos="100000">
                  <a:srgbClr val="CC00FF"/>
                </a:gs>
              </a:gsLst>
              <a:lin ang="5400000" scaled="1"/>
            </a:gradFill>
            <a:ln w="19050" algn="ctr">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20" name="Freeform 27"/>
            <p:cNvSpPr>
              <a:spLocks/>
            </p:cNvSpPr>
            <p:nvPr/>
          </p:nvSpPr>
          <p:spPr bwMode="auto">
            <a:xfrm>
              <a:off x="2400" y="3721"/>
              <a:ext cx="192" cy="303"/>
            </a:xfrm>
            <a:custGeom>
              <a:avLst/>
              <a:gdLst>
                <a:gd name="T0" fmla="*/ 189 w 192"/>
                <a:gd name="T1" fmla="*/ 0 h 303"/>
                <a:gd name="T2" fmla="*/ 24 w 192"/>
                <a:gd name="T3" fmla="*/ 6 h 303"/>
                <a:gd name="T4" fmla="*/ 0 w 192"/>
                <a:gd name="T5" fmla="*/ 54 h 303"/>
                <a:gd name="T6" fmla="*/ 3 w 192"/>
                <a:gd name="T7" fmla="*/ 285 h 303"/>
                <a:gd name="T8" fmla="*/ 45 w 192"/>
                <a:gd name="T9" fmla="*/ 303 h 303"/>
                <a:gd name="T10" fmla="*/ 75 w 192"/>
                <a:gd name="T11" fmla="*/ 288 h 303"/>
                <a:gd name="T12" fmla="*/ 141 w 192"/>
                <a:gd name="T13" fmla="*/ 282 h 303"/>
                <a:gd name="T14" fmla="*/ 138 w 192"/>
                <a:gd name="T15" fmla="*/ 168 h 303"/>
                <a:gd name="T16" fmla="*/ 165 w 192"/>
                <a:gd name="T17" fmla="*/ 150 h 303"/>
                <a:gd name="T18" fmla="*/ 192 w 192"/>
                <a:gd name="T19" fmla="*/ 156 h 303"/>
                <a:gd name="T20" fmla="*/ 189 w 192"/>
                <a:gd name="T21" fmla="*/ 0 h 3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2"/>
                <a:gd name="T34" fmla="*/ 0 h 303"/>
                <a:gd name="T35" fmla="*/ 192 w 192"/>
                <a:gd name="T36" fmla="*/ 303 h 3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2" h="303">
                  <a:moveTo>
                    <a:pt x="189" y="0"/>
                  </a:moveTo>
                  <a:lnTo>
                    <a:pt x="24" y="6"/>
                  </a:lnTo>
                  <a:lnTo>
                    <a:pt x="0" y="54"/>
                  </a:lnTo>
                  <a:lnTo>
                    <a:pt x="3" y="285"/>
                  </a:lnTo>
                  <a:lnTo>
                    <a:pt x="45" y="303"/>
                  </a:lnTo>
                  <a:lnTo>
                    <a:pt x="75" y="288"/>
                  </a:lnTo>
                  <a:lnTo>
                    <a:pt x="141" y="282"/>
                  </a:lnTo>
                  <a:lnTo>
                    <a:pt x="138" y="168"/>
                  </a:lnTo>
                  <a:lnTo>
                    <a:pt x="165" y="150"/>
                  </a:lnTo>
                  <a:lnTo>
                    <a:pt x="192" y="156"/>
                  </a:lnTo>
                  <a:lnTo>
                    <a:pt x="189" y="0"/>
                  </a:lnTo>
                  <a:close/>
                </a:path>
              </a:pathLst>
            </a:custGeom>
            <a:gradFill rotWithShape="1">
              <a:gsLst>
                <a:gs pos="0">
                  <a:srgbClr val="CC00FF"/>
                </a:gs>
                <a:gs pos="100000">
                  <a:srgbClr val="5E0076"/>
                </a:gs>
              </a:gsLst>
              <a:lin ang="5400000" scaled="1"/>
            </a:gradFill>
            <a:ln w="19050" cap="flat" cmpd="sng">
              <a:solidFill>
                <a:srgbClr val="000000"/>
              </a:solidFill>
              <a:prstDash val="solid"/>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1" name="Freeform 28"/>
            <p:cNvSpPr>
              <a:spLocks/>
            </p:cNvSpPr>
            <p:nvPr/>
          </p:nvSpPr>
          <p:spPr bwMode="auto">
            <a:xfrm>
              <a:off x="2859" y="3583"/>
              <a:ext cx="291" cy="384"/>
            </a:xfrm>
            <a:custGeom>
              <a:avLst/>
              <a:gdLst>
                <a:gd name="T0" fmla="*/ 0 w 291"/>
                <a:gd name="T1" fmla="*/ 138 h 384"/>
                <a:gd name="T2" fmla="*/ 102 w 291"/>
                <a:gd name="T3" fmla="*/ 0 h 384"/>
                <a:gd name="T4" fmla="*/ 252 w 291"/>
                <a:gd name="T5" fmla="*/ 12 h 384"/>
                <a:gd name="T6" fmla="*/ 291 w 291"/>
                <a:gd name="T7" fmla="*/ 51 h 384"/>
                <a:gd name="T8" fmla="*/ 285 w 291"/>
                <a:gd name="T9" fmla="*/ 288 h 384"/>
                <a:gd name="T10" fmla="*/ 234 w 291"/>
                <a:gd name="T11" fmla="*/ 318 h 384"/>
                <a:gd name="T12" fmla="*/ 231 w 291"/>
                <a:gd name="T13" fmla="*/ 348 h 384"/>
                <a:gd name="T14" fmla="*/ 180 w 291"/>
                <a:gd name="T15" fmla="*/ 384 h 384"/>
                <a:gd name="T16" fmla="*/ 183 w 291"/>
                <a:gd name="T17" fmla="*/ 186 h 384"/>
                <a:gd name="T18" fmla="*/ 144 w 291"/>
                <a:gd name="T19" fmla="*/ 144 h 384"/>
                <a:gd name="T20" fmla="*/ 0 w 291"/>
                <a:gd name="T21" fmla="*/ 138 h 3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1"/>
                <a:gd name="T34" fmla="*/ 0 h 384"/>
                <a:gd name="T35" fmla="*/ 291 w 291"/>
                <a:gd name="T36" fmla="*/ 384 h 3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1" h="384">
                  <a:moveTo>
                    <a:pt x="0" y="138"/>
                  </a:moveTo>
                  <a:lnTo>
                    <a:pt x="102" y="0"/>
                  </a:lnTo>
                  <a:lnTo>
                    <a:pt x="252" y="12"/>
                  </a:lnTo>
                  <a:lnTo>
                    <a:pt x="291" y="51"/>
                  </a:lnTo>
                  <a:lnTo>
                    <a:pt x="285" y="288"/>
                  </a:lnTo>
                  <a:lnTo>
                    <a:pt x="234" y="318"/>
                  </a:lnTo>
                  <a:lnTo>
                    <a:pt x="231" y="348"/>
                  </a:lnTo>
                  <a:lnTo>
                    <a:pt x="180" y="384"/>
                  </a:lnTo>
                  <a:lnTo>
                    <a:pt x="183" y="186"/>
                  </a:lnTo>
                  <a:lnTo>
                    <a:pt x="144" y="144"/>
                  </a:lnTo>
                  <a:lnTo>
                    <a:pt x="0" y="138"/>
                  </a:lnTo>
                  <a:close/>
                </a:path>
              </a:pathLst>
            </a:custGeom>
            <a:gradFill rotWithShape="1">
              <a:gsLst>
                <a:gs pos="0">
                  <a:srgbClr val="5E0076"/>
                </a:gs>
                <a:gs pos="100000">
                  <a:srgbClr val="CC00FF"/>
                </a:gs>
              </a:gsLst>
              <a:lin ang="5400000" scaled="1"/>
            </a:gradFill>
            <a:ln w="19050" cap="flat" cmpd="sng">
              <a:solidFill>
                <a:srgbClr val="000000"/>
              </a:solidFill>
              <a:prstDash val="solid"/>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2" name="Freeform 29"/>
            <p:cNvSpPr>
              <a:spLocks/>
            </p:cNvSpPr>
            <p:nvPr/>
          </p:nvSpPr>
          <p:spPr bwMode="auto">
            <a:xfrm>
              <a:off x="2859" y="3724"/>
              <a:ext cx="183" cy="285"/>
            </a:xfrm>
            <a:custGeom>
              <a:avLst/>
              <a:gdLst>
                <a:gd name="T0" fmla="*/ 3 w 183"/>
                <a:gd name="T1" fmla="*/ 0 h 285"/>
                <a:gd name="T2" fmla="*/ 0 w 183"/>
                <a:gd name="T3" fmla="*/ 141 h 285"/>
                <a:gd name="T4" fmla="*/ 42 w 183"/>
                <a:gd name="T5" fmla="*/ 144 h 285"/>
                <a:gd name="T6" fmla="*/ 75 w 183"/>
                <a:gd name="T7" fmla="*/ 165 h 285"/>
                <a:gd name="T8" fmla="*/ 66 w 183"/>
                <a:gd name="T9" fmla="*/ 270 h 285"/>
                <a:gd name="T10" fmla="*/ 90 w 183"/>
                <a:gd name="T11" fmla="*/ 285 h 285"/>
                <a:gd name="T12" fmla="*/ 126 w 183"/>
                <a:gd name="T13" fmla="*/ 264 h 285"/>
                <a:gd name="T14" fmla="*/ 162 w 183"/>
                <a:gd name="T15" fmla="*/ 243 h 285"/>
                <a:gd name="T16" fmla="*/ 180 w 183"/>
                <a:gd name="T17" fmla="*/ 243 h 285"/>
                <a:gd name="T18" fmla="*/ 183 w 183"/>
                <a:gd name="T19" fmla="*/ 45 h 285"/>
                <a:gd name="T20" fmla="*/ 132 w 183"/>
                <a:gd name="T21" fmla="*/ 6 h 285"/>
                <a:gd name="T22" fmla="*/ 3 w 183"/>
                <a:gd name="T23" fmla="*/ 0 h 2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3"/>
                <a:gd name="T37" fmla="*/ 0 h 285"/>
                <a:gd name="T38" fmla="*/ 183 w 183"/>
                <a:gd name="T39" fmla="*/ 285 h 28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3" h="285">
                  <a:moveTo>
                    <a:pt x="3" y="0"/>
                  </a:moveTo>
                  <a:lnTo>
                    <a:pt x="0" y="141"/>
                  </a:lnTo>
                  <a:lnTo>
                    <a:pt x="42" y="144"/>
                  </a:lnTo>
                  <a:lnTo>
                    <a:pt x="75" y="165"/>
                  </a:lnTo>
                  <a:cubicBezTo>
                    <a:pt x="69" y="268"/>
                    <a:pt x="93" y="243"/>
                    <a:pt x="66" y="270"/>
                  </a:cubicBezTo>
                  <a:lnTo>
                    <a:pt x="90" y="285"/>
                  </a:lnTo>
                  <a:lnTo>
                    <a:pt x="126" y="264"/>
                  </a:lnTo>
                  <a:lnTo>
                    <a:pt x="162" y="243"/>
                  </a:lnTo>
                  <a:lnTo>
                    <a:pt x="180" y="243"/>
                  </a:lnTo>
                  <a:lnTo>
                    <a:pt x="183" y="45"/>
                  </a:lnTo>
                  <a:lnTo>
                    <a:pt x="132" y="6"/>
                  </a:lnTo>
                  <a:lnTo>
                    <a:pt x="3" y="0"/>
                  </a:lnTo>
                  <a:close/>
                </a:path>
              </a:pathLst>
            </a:custGeom>
            <a:gradFill rotWithShape="1">
              <a:gsLst>
                <a:gs pos="0">
                  <a:srgbClr val="CC00FF"/>
                </a:gs>
                <a:gs pos="100000">
                  <a:srgbClr val="5E0076"/>
                </a:gs>
              </a:gsLst>
              <a:lin ang="5400000" scaled="1"/>
            </a:gradFill>
            <a:ln w="19050" cap="flat" cmpd="sng">
              <a:solidFill>
                <a:srgbClr val="000000"/>
              </a:solidFill>
              <a:prstDash val="solid"/>
              <a:round/>
              <a:headEnd type="none" w="med" len="med"/>
              <a:tailEnd type="none" w="med" len="me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grpSp>
        <p:nvGrpSpPr>
          <p:cNvPr id="123" name="Group 30"/>
          <p:cNvGrpSpPr>
            <a:grpSpLocks/>
          </p:cNvGrpSpPr>
          <p:nvPr/>
        </p:nvGrpSpPr>
        <p:grpSpPr bwMode="auto">
          <a:xfrm>
            <a:off x="1775520" y="4683104"/>
            <a:ext cx="2243137" cy="825500"/>
            <a:chOff x="2037" y="3361"/>
            <a:chExt cx="1413" cy="520"/>
          </a:xfrm>
        </p:grpSpPr>
        <p:sp>
          <p:nvSpPr>
            <p:cNvPr id="124" name="Freeform 31"/>
            <p:cNvSpPr>
              <a:spLocks/>
            </p:cNvSpPr>
            <p:nvPr/>
          </p:nvSpPr>
          <p:spPr bwMode="auto">
            <a:xfrm>
              <a:off x="2973" y="3382"/>
              <a:ext cx="51" cy="102"/>
            </a:xfrm>
            <a:custGeom>
              <a:avLst/>
              <a:gdLst/>
              <a:ahLst/>
              <a:cxnLst>
                <a:cxn ang="0">
                  <a:pos x="51" y="0"/>
                </a:cxn>
                <a:cxn ang="0">
                  <a:pos x="0" y="51"/>
                </a:cxn>
                <a:cxn ang="0">
                  <a:pos x="3" y="102"/>
                </a:cxn>
                <a:cxn ang="0">
                  <a:pos x="51" y="54"/>
                </a:cxn>
                <a:cxn ang="0">
                  <a:pos x="51" y="0"/>
                </a:cxn>
              </a:cxnLst>
              <a:rect l="0" t="0" r="r" b="b"/>
              <a:pathLst>
                <a:path w="51" h="102">
                  <a:moveTo>
                    <a:pt x="51" y="0"/>
                  </a:moveTo>
                  <a:lnTo>
                    <a:pt x="0" y="51"/>
                  </a:lnTo>
                  <a:lnTo>
                    <a:pt x="3" y="102"/>
                  </a:lnTo>
                  <a:lnTo>
                    <a:pt x="51" y="54"/>
                  </a:lnTo>
                  <a:lnTo>
                    <a:pt x="51" y="0"/>
                  </a:lnTo>
                  <a:close/>
                </a:path>
              </a:pathLst>
            </a:custGeom>
            <a:gradFill rotWithShape="1">
              <a:gsLst>
                <a:gs pos="0">
                  <a:srgbClr val="00CC99"/>
                </a:gs>
                <a:gs pos="100000">
                  <a:srgbClr val="00CC99">
                    <a:gamma/>
                    <a:shade val="46275"/>
                    <a:invGamma/>
                  </a:srgbClr>
                </a:gs>
              </a:gsLst>
              <a:lin ang="5400000" scaled="1"/>
            </a:gradFill>
            <a:ln w="19050" cap="flat" cmpd="sng">
              <a:solidFill>
                <a:srgbClr val="000000"/>
              </a:solidFill>
              <a:prstDash val="solid"/>
              <a:round/>
              <a:headEnd type="none" w="med" len="med"/>
              <a:tailEnd type="non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itchFamily="2" charset="-122"/>
              </a:endParaRPr>
            </a:p>
          </p:txBody>
        </p:sp>
        <p:sp>
          <p:nvSpPr>
            <p:cNvPr id="125" name="AutoShape 32"/>
            <p:cNvSpPr>
              <a:spLocks noChangeArrowheads="1"/>
            </p:cNvSpPr>
            <p:nvPr/>
          </p:nvSpPr>
          <p:spPr bwMode="auto">
            <a:xfrm>
              <a:off x="2625" y="3364"/>
              <a:ext cx="240" cy="81"/>
            </a:xfrm>
            <a:prstGeom prst="parallelogram">
              <a:avLst>
                <a:gd name="adj" fmla="val 97503"/>
              </a:avLst>
            </a:prstGeom>
            <a:solidFill>
              <a:srgbClr val="00CC99"/>
            </a:solidFill>
            <a:ln w="19050">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26" name="Rectangle 33" descr="草皮"/>
            <p:cNvSpPr>
              <a:spLocks noChangeArrowheads="1"/>
            </p:cNvSpPr>
            <p:nvPr/>
          </p:nvSpPr>
          <p:spPr bwMode="auto">
            <a:xfrm>
              <a:off x="2037" y="3412"/>
              <a:ext cx="453" cy="50"/>
            </a:xfrm>
            <a:prstGeom prst="rect">
              <a:avLst/>
            </a:prstGeom>
            <a:pattFill prst="divot">
              <a:fgClr>
                <a:srgbClr val="000000"/>
              </a:fgClr>
              <a:bgClr>
                <a:srgbClr val="00FFCC"/>
              </a:bgClr>
            </a:pattFill>
            <a:ln w="19050">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27" name="Freeform 34"/>
            <p:cNvSpPr>
              <a:spLocks/>
            </p:cNvSpPr>
            <p:nvPr/>
          </p:nvSpPr>
          <p:spPr bwMode="auto">
            <a:xfrm>
              <a:off x="2481" y="3364"/>
              <a:ext cx="216" cy="75"/>
            </a:xfrm>
            <a:custGeom>
              <a:avLst/>
              <a:gdLst/>
              <a:ahLst/>
              <a:cxnLst>
                <a:cxn ang="0">
                  <a:pos x="0" y="68"/>
                </a:cxn>
                <a:cxn ang="0">
                  <a:pos x="36" y="18"/>
                </a:cxn>
                <a:cxn ang="0">
                  <a:pos x="216" y="0"/>
                </a:cxn>
                <a:cxn ang="0">
                  <a:pos x="144" y="75"/>
                </a:cxn>
                <a:cxn ang="0">
                  <a:pos x="0" y="68"/>
                </a:cxn>
              </a:cxnLst>
              <a:rect l="0" t="0" r="r" b="b"/>
              <a:pathLst>
                <a:path w="216" h="75">
                  <a:moveTo>
                    <a:pt x="0" y="68"/>
                  </a:moveTo>
                  <a:lnTo>
                    <a:pt x="36" y="18"/>
                  </a:lnTo>
                  <a:lnTo>
                    <a:pt x="216" y="0"/>
                  </a:lnTo>
                  <a:lnTo>
                    <a:pt x="144" y="75"/>
                  </a:lnTo>
                  <a:lnTo>
                    <a:pt x="0" y="68"/>
                  </a:lnTo>
                  <a:close/>
                </a:path>
              </a:pathLst>
            </a:custGeom>
            <a:gradFill rotWithShape="1">
              <a:gsLst>
                <a:gs pos="0">
                  <a:srgbClr val="00CC99">
                    <a:gamma/>
                    <a:shade val="46275"/>
                    <a:invGamma/>
                  </a:srgbClr>
                </a:gs>
                <a:gs pos="100000">
                  <a:srgbClr val="00CC99"/>
                </a:gs>
              </a:gsLst>
              <a:lin ang="5400000" scaled="1"/>
            </a:gradFill>
            <a:ln w="19050" cap="flat" cmpd="sng">
              <a:solidFill>
                <a:srgbClr val="000000"/>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itchFamily="2" charset="-122"/>
              </a:endParaRPr>
            </a:p>
          </p:txBody>
        </p:sp>
        <p:sp>
          <p:nvSpPr>
            <p:cNvPr id="128" name="Freeform 35"/>
            <p:cNvSpPr>
              <a:spLocks/>
            </p:cNvSpPr>
            <p:nvPr/>
          </p:nvSpPr>
          <p:spPr bwMode="auto">
            <a:xfrm>
              <a:off x="2478" y="3436"/>
              <a:ext cx="144" cy="81"/>
            </a:xfrm>
            <a:custGeom>
              <a:avLst/>
              <a:gdLst/>
              <a:ahLst/>
              <a:cxnLst>
                <a:cxn ang="0">
                  <a:pos x="0" y="0"/>
                </a:cxn>
                <a:cxn ang="0">
                  <a:pos x="141" y="9"/>
                </a:cxn>
                <a:cxn ang="0">
                  <a:pos x="144" y="81"/>
                </a:cxn>
                <a:cxn ang="0">
                  <a:pos x="3" y="41"/>
                </a:cxn>
                <a:cxn ang="0">
                  <a:pos x="0" y="0"/>
                </a:cxn>
              </a:cxnLst>
              <a:rect l="0" t="0" r="r" b="b"/>
              <a:pathLst>
                <a:path w="144" h="81">
                  <a:moveTo>
                    <a:pt x="0" y="0"/>
                  </a:moveTo>
                  <a:lnTo>
                    <a:pt x="141" y="9"/>
                  </a:lnTo>
                  <a:lnTo>
                    <a:pt x="144" y="81"/>
                  </a:lnTo>
                  <a:lnTo>
                    <a:pt x="3" y="41"/>
                  </a:lnTo>
                  <a:lnTo>
                    <a:pt x="0" y="0"/>
                  </a:lnTo>
                  <a:close/>
                </a:path>
              </a:pathLst>
            </a:custGeom>
            <a:gradFill rotWithShape="1">
              <a:gsLst>
                <a:gs pos="0">
                  <a:srgbClr val="00CC99"/>
                </a:gs>
                <a:gs pos="100000">
                  <a:srgbClr val="00CC99">
                    <a:gamma/>
                    <a:shade val="46275"/>
                    <a:invGamma/>
                  </a:srgbClr>
                </a:gs>
              </a:gsLst>
              <a:lin ang="5400000" scaled="1"/>
            </a:gradFill>
            <a:ln w="19050" cap="flat" cmpd="sng">
              <a:solidFill>
                <a:srgbClr val="000000"/>
              </a:solidFill>
              <a:prstDash val="solid"/>
              <a:round/>
              <a:headEnd type="none" w="med" len="med"/>
              <a:tailEnd type="non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itchFamily="2" charset="-122"/>
              </a:endParaRPr>
            </a:p>
          </p:txBody>
        </p:sp>
        <p:sp>
          <p:nvSpPr>
            <p:cNvPr id="129" name="Rectangle 36" descr="草皮"/>
            <p:cNvSpPr>
              <a:spLocks noChangeArrowheads="1"/>
            </p:cNvSpPr>
            <p:nvPr/>
          </p:nvSpPr>
          <p:spPr bwMode="auto">
            <a:xfrm>
              <a:off x="2973" y="3409"/>
              <a:ext cx="477" cy="56"/>
            </a:xfrm>
            <a:prstGeom prst="rect">
              <a:avLst/>
            </a:prstGeom>
            <a:pattFill prst="divot">
              <a:fgClr>
                <a:srgbClr val="000000"/>
              </a:fgClr>
              <a:bgClr>
                <a:srgbClr val="00FFCC"/>
              </a:bgClr>
            </a:pattFill>
            <a:ln w="19050" algn="ctr">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30" name="Freeform 37"/>
            <p:cNvSpPr>
              <a:spLocks/>
            </p:cNvSpPr>
            <p:nvPr/>
          </p:nvSpPr>
          <p:spPr bwMode="auto">
            <a:xfrm>
              <a:off x="2796" y="3361"/>
              <a:ext cx="228" cy="87"/>
            </a:xfrm>
            <a:custGeom>
              <a:avLst/>
              <a:gdLst/>
              <a:ahLst/>
              <a:cxnLst>
                <a:cxn ang="0">
                  <a:pos x="78" y="0"/>
                </a:cxn>
                <a:cxn ang="0">
                  <a:pos x="228" y="24"/>
                </a:cxn>
                <a:cxn ang="0">
                  <a:pos x="180" y="72"/>
                </a:cxn>
                <a:cxn ang="0">
                  <a:pos x="0" y="87"/>
                </a:cxn>
                <a:cxn ang="0">
                  <a:pos x="78" y="0"/>
                </a:cxn>
              </a:cxnLst>
              <a:rect l="0" t="0" r="r" b="b"/>
              <a:pathLst>
                <a:path w="228" h="87">
                  <a:moveTo>
                    <a:pt x="78" y="0"/>
                  </a:moveTo>
                  <a:lnTo>
                    <a:pt x="228" y="24"/>
                  </a:lnTo>
                  <a:lnTo>
                    <a:pt x="180" y="72"/>
                  </a:lnTo>
                  <a:lnTo>
                    <a:pt x="0" y="87"/>
                  </a:lnTo>
                  <a:lnTo>
                    <a:pt x="78" y="0"/>
                  </a:lnTo>
                  <a:close/>
                </a:path>
              </a:pathLst>
            </a:custGeom>
            <a:gradFill rotWithShape="1">
              <a:gsLst>
                <a:gs pos="0">
                  <a:srgbClr val="00CC99">
                    <a:gamma/>
                    <a:shade val="46275"/>
                    <a:invGamma/>
                  </a:srgbClr>
                </a:gs>
                <a:gs pos="100000">
                  <a:srgbClr val="00CC99"/>
                </a:gs>
              </a:gsLst>
              <a:lin ang="5400000" scaled="1"/>
            </a:gradFill>
            <a:ln w="19050" cap="flat" cmpd="sng">
              <a:solidFill>
                <a:srgbClr val="000000"/>
              </a:solidFill>
              <a:prstDash val="solid"/>
              <a:round/>
              <a:headEnd type="none" w="med" len="med"/>
              <a:tailEnd type="non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itchFamily="2" charset="-122"/>
              </a:endParaRPr>
            </a:p>
          </p:txBody>
        </p:sp>
        <p:sp>
          <p:nvSpPr>
            <p:cNvPr id="131" name="Freeform 38"/>
            <p:cNvSpPr>
              <a:spLocks/>
            </p:cNvSpPr>
            <p:nvPr/>
          </p:nvSpPr>
          <p:spPr bwMode="auto">
            <a:xfrm>
              <a:off x="2796" y="3436"/>
              <a:ext cx="180" cy="80"/>
            </a:xfrm>
            <a:custGeom>
              <a:avLst/>
              <a:gdLst/>
              <a:ahLst/>
              <a:cxnLst>
                <a:cxn ang="0">
                  <a:pos x="3" y="8"/>
                </a:cxn>
                <a:cxn ang="0">
                  <a:pos x="180" y="0"/>
                </a:cxn>
                <a:cxn ang="0">
                  <a:pos x="180" y="48"/>
                </a:cxn>
                <a:cxn ang="0">
                  <a:pos x="0" y="80"/>
                </a:cxn>
                <a:cxn ang="0">
                  <a:pos x="3" y="8"/>
                </a:cxn>
              </a:cxnLst>
              <a:rect l="0" t="0" r="r" b="b"/>
              <a:pathLst>
                <a:path w="180" h="80">
                  <a:moveTo>
                    <a:pt x="3" y="8"/>
                  </a:moveTo>
                  <a:lnTo>
                    <a:pt x="180" y="0"/>
                  </a:lnTo>
                  <a:lnTo>
                    <a:pt x="180" y="48"/>
                  </a:lnTo>
                  <a:lnTo>
                    <a:pt x="0" y="80"/>
                  </a:lnTo>
                  <a:lnTo>
                    <a:pt x="3" y="8"/>
                  </a:lnTo>
                  <a:close/>
                </a:path>
              </a:pathLst>
            </a:custGeom>
            <a:gradFill rotWithShape="1">
              <a:gsLst>
                <a:gs pos="0">
                  <a:srgbClr val="00CC99"/>
                </a:gs>
                <a:gs pos="100000">
                  <a:srgbClr val="00CC99">
                    <a:gamma/>
                    <a:shade val="46275"/>
                    <a:invGamma/>
                  </a:srgbClr>
                </a:gs>
              </a:gsLst>
              <a:lin ang="5400000" scaled="1"/>
            </a:gradFill>
            <a:ln w="19050" cap="flat" cmpd="sng">
              <a:solidFill>
                <a:srgbClr val="000000"/>
              </a:solidFill>
              <a:prstDash val="solid"/>
              <a:round/>
              <a:headEnd type="none" w="med" len="med"/>
              <a:tailEnd type="non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itchFamily="2" charset="-122"/>
              </a:endParaRPr>
            </a:p>
          </p:txBody>
        </p:sp>
        <p:sp>
          <p:nvSpPr>
            <p:cNvPr id="132" name="Rectangle 39"/>
            <p:cNvSpPr>
              <a:spLocks noChangeArrowheads="1"/>
            </p:cNvSpPr>
            <p:nvPr/>
          </p:nvSpPr>
          <p:spPr bwMode="auto">
            <a:xfrm>
              <a:off x="2706" y="3475"/>
              <a:ext cx="62" cy="312"/>
            </a:xfrm>
            <a:prstGeom prst="rect">
              <a:avLst/>
            </a:prstGeom>
            <a:gradFill rotWithShape="1">
              <a:gsLst>
                <a:gs pos="0">
                  <a:srgbClr val="333333"/>
                </a:gs>
                <a:gs pos="50000">
                  <a:srgbClr val="969696"/>
                </a:gs>
                <a:gs pos="100000">
                  <a:srgbClr val="333333"/>
                </a:gs>
              </a:gsLst>
              <a:lin ang="0" scaled="1"/>
            </a:gradFill>
            <a:ln w="19050">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33" name="Rectangle 40"/>
            <p:cNvSpPr>
              <a:spLocks noChangeArrowheads="1"/>
            </p:cNvSpPr>
            <p:nvPr/>
          </p:nvSpPr>
          <p:spPr bwMode="auto">
            <a:xfrm>
              <a:off x="2619" y="3445"/>
              <a:ext cx="177" cy="72"/>
            </a:xfrm>
            <a:prstGeom prst="rect">
              <a:avLst/>
            </a:prstGeom>
            <a:gradFill rotWithShape="1">
              <a:gsLst>
                <a:gs pos="0">
                  <a:srgbClr val="00CC99"/>
                </a:gs>
                <a:gs pos="100000">
                  <a:srgbClr val="00CC99">
                    <a:gamma/>
                    <a:shade val="46275"/>
                    <a:invGamma/>
                  </a:srgbClr>
                </a:gs>
              </a:gsLst>
              <a:lin ang="5400000" scaled="1"/>
            </a:gradFill>
            <a:ln w="19050" algn="ctr">
              <a:solidFill>
                <a:srgbClr val="000000"/>
              </a:solidFill>
              <a:miter lim="800000"/>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itchFamily="2" charset="-122"/>
              </a:endParaRPr>
            </a:p>
          </p:txBody>
        </p:sp>
        <p:sp>
          <p:nvSpPr>
            <p:cNvPr id="134" name="Freeform 41"/>
            <p:cNvSpPr>
              <a:spLocks/>
            </p:cNvSpPr>
            <p:nvPr/>
          </p:nvSpPr>
          <p:spPr bwMode="auto">
            <a:xfrm>
              <a:off x="2700" y="3739"/>
              <a:ext cx="84" cy="142"/>
            </a:xfrm>
            <a:custGeom>
              <a:avLst/>
              <a:gdLst/>
              <a:ahLst/>
              <a:cxnLst>
                <a:cxn ang="0">
                  <a:pos x="15" y="21"/>
                </a:cxn>
                <a:cxn ang="0">
                  <a:pos x="48" y="39"/>
                </a:cxn>
                <a:cxn ang="0">
                  <a:pos x="102" y="24"/>
                </a:cxn>
                <a:cxn ang="0">
                  <a:pos x="87" y="9"/>
                </a:cxn>
                <a:cxn ang="0">
                  <a:pos x="105" y="12"/>
                </a:cxn>
                <a:cxn ang="0">
                  <a:pos x="114" y="12"/>
                </a:cxn>
                <a:cxn ang="0">
                  <a:pos x="108" y="123"/>
                </a:cxn>
                <a:cxn ang="0">
                  <a:pos x="69" y="135"/>
                </a:cxn>
                <a:cxn ang="0">
                  <a:pos x="51" y="141"/>
                </a:cxn>
                <a:cxn ang="0">
                  <a:pos x="3" y="126"/>
                </a:cxn>
                <a:cxn ang="0">
                  <a:pos x="3" y="0"/>
                </a:cxn>
                <a:cxn ang="0">
                  <a:pos x="15" y="21"/>
                </a:cxn>
              </a:cxnLst>
              <a:rect l="0" t="0" r="r" b="b"/>
              <a:pathLst>
                <a:path w="120" h="142">
                  <a:moveTo>
                    <a:pt x="15" y="21"/>
                  </a:moveTo>
                  <a:cubicBezTo>
                    <a:pt x="20" y="36"/>
                    <a:pt x="34" y="36"/>
                    <a:pt x="48" y="39"/>
                  </a:cubicBezTo>
                  <a:cubicBezTo>
                    <a:pt x="73" y="37"/>
                    <a:pt x="89" y="43"/>
                    <a:pt x="102" y="24"/>
                  </a:cubicBezTo>
                  <a:cubicBezTo>
                    <a:pt x="99" y="12"/>
                    <a:pt x="100" y="9"/>
                    <a:pt x="87" y="9"/>
                  </a:cubicBezTo>
                  <a:lnTo>
                    <a:pt x="105" y="12"/>
                  </a:lnTo>
                  <a:cubicBezTo>
                    <a:pt x="99" y="30"/>
                    <a:pt x="114" y="5"/>
                    <a:pt x="114" y="12"/>
                  </a:cubicBezTo>
                  <a:lnTo>
                    <a:pt x="108" y="123"/>
                  </a:lnTo>
                  <a:cubicBezTo>
                    <a:pt x="120" y="126"/>
                    <a:pt x="76" y="133"/>
                    <a:pt x="69" y="135"/>
                  </a:cubicBezTo>
                  <a:cubicBezTo>
                    <a:pt x="63" y="137"/>
                    <a:pt x="51" y="141"/>
                    <a:pt x="51" y="141"/>
                  </a:cubicBezTo>
                  <a:cubicBezTo>
                    <a:pt x="29" y="138"/>
                    <a:pt x="19" y="142"/>
                    <a:pt x="3" y="126"/>
                  </a:cubicBezTo>
                  <a:cubicBezTo>
                    <a:pt x="9" y="6"/>
                    <a:pt x="0" y="36"/>
                    <a:pt x="3" y="0"/>
                  </a:cubicBezTo>
                  <a:cubicBezTo>
                    <a:pt x="21" y="12"/>
                    <a:pt x="15" y="21"/>
                    <a:pt x="15" y="21"/>
                  </a:cubicBezTo>
                  <a:close/>
                </a:path>
              </a:pathLst>
            </a:custGeom>
            <a:gradFill rotWithShape="1">
              <a:gsLst>
                <a:gs pos="0">
                  <a:srgbClr val="000000"/>
                </a:gs>
                <a:gs pos="50000">
                  <a:srgbClr val="333333"/>
                </a:gs>
                <a:gs pos="100000">
                  <a:srgbClr val="000000"/>
                </a:gs>
              </a:gsLst>
              <a:lin ang="0" scaled="1"/>
            </a:gradFill>
            <a:ln w="19050" cap="flat" cmpd="sng">
              <a:solidFill>
                <a:srgbClr val="000000"/>
              </a:solidFill>
              <a:prstDash val="solid"/>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itchFamily="2" charset="-122"/>
              </a:endParaRPr>
            </a:p>
          </p:txBody>
        </p:sp>
        <p:sp>
          <p:nvSpPr>
            <p:cNvPr id="135" name="Oval 42"/>
            <p:cNvSpPr>
              <a:spLocks noChangeArrowheads="1"/>
            </p:cNvSpPr>
            <p:nvPr/>
          </p:nvSpPr>
          <p:spPr bwMode="auto">
            <a:xfrm rot="-2995902">
              <a:off x="2714" y="3382"/>
              <a:ext cx="55" cy="40"/>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sp>
        <p:nvSpPr>
          <p:cNvPr id="136" name="Line 43"/>
          <p:cNvSpPr>
            <a:spLocks noChangeShapeType="1"/>
          </p:cNvSpPr>
          <p:nvPr/>
        </p:nvSpPr>
        <p:spPr bwMode="auto">
          <a:xfrm rot="9900000" flipV="1">
            <a:off x="1227832" y="4892654"/>
            <a:ext cx="693738" cy="782638"/>
          </a:xfrm>
          <a:prstGeom prst="line">
            <a:avLst/>
          </a:prstGeom>
          <a:noFill/>
          <a:ln w="38100">
            <a:solidFill>
              <a:srgbClr val="FFFF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137" name="Text Box 44"/>
          <p:cNvSpPr txBox="1">
            <a:spLocks noChangeArrowheads="1"/>
          </p:cNvSpPr>
          <p:nvPr/>
        </p:nvSpPr>
        <p:spPr bwMode="auto">
          <a:xfrm>
            <a:off x="1070670" y="5257779"/>
            <a:ext cx="444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2800" dirty="0">
                <a:solidFill>
                  <a:srgbClr val="FFFF00"/>
                </a:solidFill>
                <a:ea typeface="宋体" panose="02010600030101010101" pitchFamily="2" charset="-122"/>
              </a:rPr>
              <a:t>F</a:t>
            </a:r>
          </a:p>
        </p:txBody>
      </p:sp>
      <p:sp>
        <p:nvSpPr>
          <p:cNvPr id="138" name="Text Box 45"/>
          <p:cNvSpPr txBox="1">
            <a:spLocks noChangeArrowheads="1"/>
          </p:cNvSpPr>
          <p:nvPr/>
        </p:nvSpPr>
        <p:spPr bwMode="auto">
          <a:xfrm>
            <a:off x="4280595" y="3844904"/>
            <a:ext cx="590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2800" dirty="0">
                <a:solidFill>
                  <a:srgbClr val="FFFF00"/>
                </a:solidFill>
                <a:ea typeface="宋体" panose="02010600030101010101" pitchFamily="2" charset="-122"/>
              </a:rPr>
              <a:t>F</a:t>
            </a:r>
            <a:r>
              <a:rPr lang="en-US" altLang="zh-CN" sz="2800" b="0" dirty="0">
                <a:solidFill>
                  <a:srgbClr val="FFFF00"/>
                </a:solidFill>
                <a:ea typeface="宋体" panose="02010600030101010101" pitchFamily="2" charset="-122"/>
              </a:rPr>
              <a:t>'</a:t>
            </a:r>
          </a:p>
        </p:txBody>
      </p:sp>
      <p:graphicFrame>
        <p:nvGraphicFramePr>
          <p:cNvPr id="139" name="Object 29"/>
          <p:cNvGraphicFramePr>
            <a:graphicFrameLocks noChangeAspect="1"/>
          </p:cNvGraphicFramePr>
          <p:nvPr>
            <p:extLst>
              <p:ext uri="{D42A27DB-BD31-4B8C-83A1-F6EECF244321}">
                <p14:modId xmlns:p14="http://schemas.microsoft.com/office/powerpoint/2010/main" val="3093745528"/>
              </p:ext>
            </p:extLst>
          </p:nvPr>
        </p:nvGraphicFramePr>
        <p:xfrm>
          <a:off x="8649465" y="3697056"/>
          <a:ext cx="2127055" cy="2516481"/>
        </p:xfrm>
        <a:graphic>
          <a:graphicData uri="http://schemas.openxmlformats.org/presentationml/2006/ole">
            <mc:AlternateContent xmlns:mc="http://schemas.openxmlformats.org/markup-compatibility/2006">
              <mc:Choice xmlns:v="urn:schemas-microsoft-com:vml" Requires="v">
                <p:oleObj spid="_x0000_s1027" name="位图图像" r:id="rId9" imgW="4382112" imgH="5180952" progId="Paint.Picture">
                  <p:embed/>
                </p:oleObj>
              </mc:Choice>
              <mc:Fallback>
                <p:oleObj name="位图图像" r:id="rId9" imgW="4382112" imgH="5180952" progId="Paint.Picture">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649465" y="3697056"/>
                        <a:ext cx="2127055" cy="251648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97555593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53" presetClass="entr" presetSubtype="0" fill="hold" nodeType="withEffect">
                                  <p:stCondLst>
                                    <p:cond delay="0"/>
                                  </p:stCondLst>
                                  <p:childTnLst>
                                    <p:set>
                                      <p:cBhvr>
                                        <p:cTn id="10" dur="1" fill="hold">
                                          <p:stCondLst>
                                            <p:cond delay="0"/>
                                          </p:stCondLst>
                                        </p:cTn>
                                        <p:tgtEl>
                                          <p:spTgt spid="66"/>
                                        </p:tgtEl>
                                        <p:attrNameLst>
                                          <p:attrName>style.visibility</p:attrName>
                                        </p:attrNameLst>
                                      </p:cBhvr>
                                      <p:to>
                                        <p:strVal val="visible"/>
                                      </p:to>
                                    </p:set>
                                    <p:anim calcmode="lin" valueType="num">
                                      <p:cBhvr>
                                        <p:cTn id="11" dur="3000" fill="hold"/>
                                        <p:tgtEl>
                                          <p:spTgt spid="66"/>
                                        </p:tgtEl>
                                        <p:attrNameLst>
                                          <p:attrName>ppt_w</p:attrName>
                                        </p:attrNameLst>
                                      </p:cBhvr>
                                      <p:tavLst>
                                        <p:tav tm="0">
                                          <p:val>
                                            <p:fltVal val="0"/>
                                          </p:val>
                                        </p:tav>
                                        <p:tav tm="100000">
                                          <p:val>
                                            <p:strVal val="#ppt_w"/>
                                          </p:val>
                                        </p:tav>
                                      </p:tavLst>
                                    </p:anim>
                                    <p:anim calcmode="lin" valueType="num">
                                      <p:cBhvr>
                                        <p:cTn id="12" dur="3000" fill="hold"/>
                                        <p:tgtEl>
                                          <p:spTgt spid="66"/>
                                        </p:tgtEl>
                                        <p:attrNameLst>
                                          <p:attrName>ppt_h</p:attrName>
                                        </p:attrNameLst>
                                      </p:cBhvr>
                                      <p:tavLst>
                                        <p:tav tm="0">
                                          <p:val>
                                            <p:fltVal val="0"/>
                                          </p:val>
                                        </p:tav>
                                        <p:tav tm="100000">
                                          <p:val>
                                            <p:strVal val="#ppt_h"/>
                                          </p:val>
                                        </p:tav>
                                      </p:tavLst>
                                    </p:anim>
                                    <p:animEffect transition="in" filter="fade">
                                      <p:cBhvr>
                                        <p:cTn id="13" dur="3000"/>
                                        <p:tgtEl>
                                          <p:spTgt spid="66"/>
                                        </p:tgtEl>
                                      </p:cBhvr>
                                    </p:animEffect>
                                  </p:childTnLst>
                                  <p:subTnLst>
                                    <p:audio>
                                      <p:cMediaNode>
                                        <p:cTn display="0" masterRel="sameClick">
                                          <p:stCondLst>
                                            <p:cond evt="begin" delay="0">
                                              <p:tn val="9"/>
                                            </p:cond>
                                          </p:stCondLst>
                                          <p:endCondLst>
                                            <p:cond evt="onStopAudio" delay="0">
                                              <p:tgtEl>
                                                <p:sldTgt/>
                                              </p:tgtEl>
                                            </p:cond>
                                          </p:endCondLst>
                                        </p:cTn>
                                        <p:tgtEl>
                                          <p:sndTgt r:embed="rId4" name="suction.wav"/>
                                        </p:tgtEl>
                                      </p:cMediaNode>
                                    </p:audio>
                                  </p:subTnLst>
                                </p:cTn>
                              </p:par>
                            </p:childTnLst>
                          </p:cTn>
                        </p:par>
                        <p:par>
                          <p:cTn id="14" fill="hold">
                            <p:stCondLst>
                              <p:cond delay="3000"/>
                            </p:stCondLst>
                            <p:childTnLst>
                              <p:par>
                                <p:cTn id="15" presetID="17" presetClass="entr" presetSubtype="10" fill="hold" nodeType="afterEffect">
                                  <p:stCondLst>
                                    <p:cond delay="0"/>
                                  </p:stCondLst>
                                  <p:childTnLst>
                                    <p:set>
                                      <p:cBhvr>
                                        <p:cTn id="16" dur="1" fill="hold">
                                          <p:stCondLst>
                                            <p:cond delay="0"/>
                                          </p:stCondLst>
                                        </p:cTn>
                                        <p:tgtEl>
                                          <p:spTgt spid="123"/>
                                        </p:tgtEl>
                                        <p:attrNameLst>
                                          <p:attrName>style.visibility</p:attrName>
                                        </p:attrNameLst>
                                      </p:cBhvr>
                                      <p:to>
                                        <p:strVal val="visible"/>
                                      </p:to>
                                    </p:set>
                                    <p:anim calcmode="lin" valueType="num">
                                      <p:cBhvr>
                                        <p:cTn id="17" dur="5000" fill="hold"/>
                                        <p:tgtEl>
                                          <p:spTgt spid="123"/>
                                        </p:tgtEl>
                                        <p:attrNameLst>
                                          <p:attrName>ppt_w</p:attrName>
                                        </p:attrNameLst>
                                      </p:cBhvr>
                                      <p:tavLst>
                                        <p:tav tm="0">
                                          <p:val>
                                            <p:fltVal val="0"/>
                                          </p:val>
                                        </p:tav>
                                        <p:tav tm="100000">
                                          <p:val>
                                            <p:strVal val="#ppt_w"/>
                                          </p:val>
                                        </p:tav>
                                      </p:tavLst>
                                    </p:anim>
                                    <p:anim calcmode="lin" valueType="num">
                                      <p:cBhvr>
                                        <p:cTn id="18" dur="5000" fill="hold"/>
                                        <p:tgtEl>
                                          <p:spTgt spid="123"/>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36"/>
                                        </p:tgtEl>
                                        <p:attrNameLst>
                                          <p:attrName>style.visibility</p:attrName>
                                        </p:attrNameLst>
                                      </p:cBhvr>
                                      <p:to>
                                        <p:strVal val="visible"/>
                                      </p:to>
                                    </p:set>
                                    <p:animEffect transition="in" filter="wipe(up)">
                                      <p:cBhvr>
                                        <p:cTn id="23" dur="5000"/>
                                        <p:tgtEl>
                                          <p:spTgt spid="136"/>
                                        </p:tgtEl>
                                      </p:cBhvr>
                                    </p:animEffect>
                                  </p:childTnLst>
                                  <p:subTnLst>
                                    <p:audio>
                                      <p:cMediaNode>
                                        <p:cTn display="0" masterRel="sameClick">
                                          <p:stCondLst>
                                            <p:cond evt="begin" delay="0">
                                              <p:tn val="21"/>
                                            </p:cond>
                                          </p:stCondLst>
                                          <p:endCondLst>
                                            <p:cond evt="onStopAudio" delay="0">
                                              <p:tgtEl>
                                                <p:sldTgt/>
                                              </p:tgtEl>
                                            </p:cond>
                                          </p:endCondLst>
                                        </p:cTn>
                                        <p:tgtEl>
                                          <p:sndTgt r:embed="rId5" name="whoosh.wav"/>
                                        </p:tgtEl>
                                      </p:cMediaNode>
                                    </p:audio>
                                  </p:subTnLst>
                                </p:cTn>
                              </p:par>
                              <p:par>
                                <p:cTn id="24" presetID="22" presetClass="entr" presetSubtype="4" fill="hold" grpId="0" nodeType="withEffect">
                                  <p:stCondLst>
                                    <p:cond delay="0"/>
                                  </p:stCondLst>
                                  <p:childTnLst>
                                    <p:set>
                                      <p:cBhvr>
                                        <p:cTn id="25" dur="1" fill="hold">
                                          <p:stCondLst>
                                            <p:cond delay="0"/>
                                          </p:stCondLst>
                                        </p:cTn>
                                        <p:tgtEl>
                                          <p:spTgt spid="65"/>
                                        </p:tgtEl>
                                        <p:attrNameLst>
                                          <p:attrName>style.visibility</p:attrName>
                                        </p:attrNameLst>
                                      </p:cBhvr>
                                      <p:to>
                                        <p:strVal val="visible"/>
                                      </p:to>
                                    </p:set>
                                    <p:animEffect transition="in" filter="wipe(down)">
                                      <p:cBhvr>
                                        <p:cTn id="26" dur="5000"/>
                                        <p:tgtEl>
                                          <p:spTgt spid="65"/>
                                        </p:tgtEl>
                                      </p:cBhvr>
                                    </p:animEffect>
                                  </p:childTnLst>
                                  <p:subTnLst>
                                    <p:audio>
                                      <p:cMediaNode>
                                        <p:cTn display="0" masterRel="sameClick">
                                          <p:stCondLst>
                                            <p:cond evt="begin" delay="0">
                                              <p:tn val="24"/>
                                            </p:cond>
                                          </p:stCondLst>
                                          <p:endCondLst>
                                            <p:cond evt="onStopAudio" delay="0">
                                              <p:tgtEl>
                                                <p:sldTgt/>
                                              </p:tgtEl>
                                            </p:cond>
                                          </p:endCondLst>
                                        </p:cTn>
                                        <p:tgtEl>
                                          <p:sndTgt r:embed="rId5" name="whoosh.wav"/>
                                        </p:tgtEl>
                                      </p:cMediaNode>
                                    </p:audio>
                                  </p:subTnLst>
                                </p:cTn>
                              </p:par>
                              <p:par>
                                <p:cTn id="27" presetID="9" presetClass="entr" presetSubtype="0" fill="hold" nodeType="withEffect">
                                  <p:stCondLst>
                                    <p:cond delay="0"/>
                                  </p:stCondLst>
                                  <p:childTnLst>
                                    <p:set>
                                      <p:cBhvr>
                                        <p:cTn id="28" dur="1" fill="hold">
                                          <p:stCondLst>
                                            <p:cond delay="0"/>
                                          </p:stCondLst>
                                        </p:cTn>
                                        <p:tgtEl>
                                          <p:spTgt spid="137">
                                            <p:txEl>
                                              <p:pRg st="0" end="0"/>
                                            </p:txEl>
                                          </p:spTgt>
                                        </p:tgtEl>
                                        <p:attrNameLst>
                                          <p:attrName>style.visibility</p:attrName>
                                        </p:attrNameLst>
                                      </p:cBhvr>
                                      <p:to>
                                        <p:strVal val="visible"/>
                                      </p:to>
                                    </p:set>
                                    <p:animEffect transition="in" filter="dissolve">
                                      <p:cBhvr>
                                        <p:cTn id="29" dur="2000"/>
                                        <p:tgtEl>
                                          <p:spTgt spid="137">
                                            <p:txEl>
                                              <p:pRg st="0" end="0"/>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6" name="TYPE.WAV"/>
                                        </p:tgtEl>
                                      </p:cMediaNode>
                                    </p:audio>
                                  </p:subTnLst>
                                </p:cTn>
                              </p:par>
                              <p:par>
                                <p:cTn id="30" presetID="9" presetClass="entr" presetSubtype="0" fill="hold" nodeType="withEffect">
                                  <p:stCondLst>
                                    <p:cond delay="0"/>
                                  </p:stCondLst>
                                  <p:childTnLst>
                                    <p:set>
                                      <p:cBhvr>
                                        <p:cTn id="31" dur="1" fill="hold">
                                          <p:stCondLst>
                                            <p:cond delay="0"/>
                                          </p:stCondLst>
                                        </p:cTn>
                                        <p:tgtEl>
                                          <p:spTgt spid="138">
                                            <p:txEl>
                                              <p:pRg st="0" end="0"/>
                                            </p:txEl>
                                          </p:spTgt>
                                        </p:tgtEl>
                                        <p:attrNameLst>
                                          <p:attrName>style.visibility</p:attrName>
                                        </p:attrNameLst>
                                      </p:cBhvr>
                                      <p:to>
                                        <p:strVal val="visible"/>
                                      </p:to>
                                    </p:set>
                                    <p:animEffect transition="in" filter="dissolve">
                                      <p:cBhvr>
                                        <p:cTn id="32" dur="2000"/>
                                        <p:tgtEl>
                                          <p:spTgt spid="138">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6" name="TYPE.WAV"/>
                                        </p:tgtEl>
                                      </p:cMediaNode>
                                    </p:audio>
                                  </p:subTnLst>
                                </p:cTn>
                              </p:par>
                            </p:childTnLst>
                          </p:cTn>
                        </p:par>
                        <p:par>
                          <p:cTn id="33" fill="hold">
                            <p:stCondLst>
                              <p:cond delay="5000"/>
                            </p:stCondLst>
                            <p:childTnLst>
                              <p:par>
                                <p:cTn id="34" presetID="19" presetClass="entr" presetSubtype="10" fill="hold" nodeType="afterEffect">
                                  <p:stCondLst>
                                    <p:cond delay="0"/>
                                  </p:stCondLst>
                                  <p:childTnLst>
                                    <p:set>
                                      <p:cBhvr>
                                        <p:cTn id="35" dur="1" fill="hold">
                                          <p:stCondLst>
                                            <p:cond delay="0"/>
                                          </p:stCondLst>
                                        </p:cTn>
                                        <p:tgtEl>
                                          <p:spTgt spid="123"/>
                                        </p:tgtEl>
                                        <p:attrNameLst>
                                          <p:attrName>style.visibility</p:attrName>
                                        </p:attrNameLst>
                                      </p:cBhvr>
                                      <p:to>
                                        <p:strVal val="visible"/>
                                      </p:to>
                                    </p:set>
                                    <p:anim calcmode="lin" valueType="num">
                                      <p:cBhvr>
                                        <p:cTn id="36" dur="5000" fill="hold"/>
                                        <p:tgtEl>
                                          <p:spTgt spid="123"/>
                                        </p:tgtEl>
                                        <p:attrNameLst>
                                          <p:attrName>ppt_w</p:attrName>
                                        </p:attrNameLst>
                                      </p:cBhvr>
                                      <p:tavLst>
                                        <p:tav tm="0" fmla="#ppt_w*sin(2.5*pi*$)">
                                          <p:val>
                                            <p:fltVal val="0"/>
                                          </p:val>
                                        </p:tav>
                                        <p:tav tm="100000">
                                          <p:val>
                                            <p:fltVal val="1"/>
                                          </p:val>
                                        </p:tav>
                                      </p:tavLst>
                                    </p:anim>
                                    <p:anim calcmode="lin" valueType="num">
                                      <p:cBhvr>
                                        <p:cTn id="37" dur="5000" fill="hold"/>
                                        <p:tgtEl>
                                          <p:spTgt spid="12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4"/>
                                            </p:cond>
                                          </p:stCondLst>
                                          <p:endCondLst>
                                            <p:cond evt="onStopAudio" delay="0">
                                              <p:tgtEl>
                                                <p:sldTgt/>
                                              </p:tgtEl>
                                            </p:cond>
                                          </p:endCondLst>
                                        </p:cTn>
                                        <p:tgtEl>
                                          <p:sndTgt r:embed="rId7" name="push.wav"/>
                                        </p:tgtEl>
                                      </p:cMediaNode>
                                    </p:audio>
                                  </p:subTnLst>
                                </p:cTn>
                              </p:par>
                              <p:par>
                                <p:cTn id="38" presetID="9" presetClass="emph" presetSubtype="0" grpId="1" nodeType="withEffect">
                                  <p:stCondLst>
                                    <p:cond delay="0"/>
                                  </p:stCondLst>
                                  <p:endCondLst>
                                    <p:cond evt="onNext" delay="0">
                                      <p:tgtEl>
                                        <p:sldTgt/>
                                      </p:tgtEl>
                                    </p:cond>
                                  </p:endCondLst>
                                  <p:childTnLst>
                                    <p:set>
                                      <p:cBhvr rctx="PPT">
                                        <p:cTn id="39" dur="indefinite"/>
                                        <p:tgtEl>
                                          <p:spTgt spid="65"/>
                                        </p:tgtEl>
                                        <p:attrNameLst>
                                          <p:attrName>style.opacity</p:attrName>
                                        </p:attrNameLst>
                                      </p:cBhvr>
                                      <p:to>
                                        <p:strVal val="0.5"/>
                                      </p:to>
                                    </p:set>
                                    <p:animEffect filter="image" prLst="opacity: 0.5">
                                      <p:cBhvr rctx="IE">
                                        <p:cTn id="40" dur="indefinite"/>
                                        <p:tgtEl>
                                          <p:spTgt spid="65"/>
                                        </p:tgtEl>
                                      </p:cBhvr>
                                    </p:animEffect>
                                  </p:childTnLst>
                                </p:cTn>
                              </p:par>
                              <p:par>
                                <p:cTn id="41" presetID="9" presetClass="emph" presetSubtype="0" grpId="0" nodeType="withEffect">
                                  <p:stCondLst>
                                    <p:cond delay="0"/>
                                  </p:stCondLst>
                                  <p:endCondLst>
                                    <p:cond evt="onNext" delay="0">
                                      <p:tgtEl>
                                        <p:sldTgt/>
                                      </p:tgtEl>
                                    </p:cond>
                                  </p:endCondLst>
                                  <p:childTnLst>
                                    <p:set>
                                      <p:cBhvr rctx="PPT">
                                        <p:cTn id="42" dur="indefinite"/>
                                        <p:tgtEl>
                                          <p:spTgt spid="138">
                                            <p:txEl>
                                              <p:pRg st="0" end="0"/>
                                            </p:txEl>
                                          </p:spTgt>
                                        </p:tgtEl>
                                        <p:attrNameLst>
                                          <p:attrName>style.opacity</p:attrName>
                                        </p:attrNameLst>
                                      </p:cBhvr>
                                      <p:to>
                                        <p:strVal val="0.5"/>
                                      </p:to>
                                    </p:set>
                                    <p:animEffect filter="image" prLst="opacity: 0.5">
                                      <p:cBhvr rctx="IE">
                                        <p:cTn id="43" dur="indefinite"/>
                                        <p:tgtEl>
                                          <p:spTgt spid="138">
                                            <p:txEl>
                                              <p:pRg st="0" end="0"/>
                                            </p:txEl>
                                          </p:spTgt>
                                        </p:tgtEl>
                                      </p:cBhvr>
                                    </p:animEffect>
                                  </p:childTnLst>
                                </p:cTn>
                              </p:par>
                              <p:par>
                                <p:cTn id="44" presetID="9" presetClass="emph" presetSubtype="0" grpId="0" nodeType="withEffect">
                                  <p:stCondLst>
                                    <p:cond delay="0"/>
                                  </p:stCondLst>
                                  <p:endCondLst>
                                    <p:cond evt="onNext" delay="0">
                                      <p:tgtEl>
                                        <p:sldTgt/>
                                      </p:tgtEl>
                                    </p:cond>
                                  </p:endCondLst>
                                  <p:childTnLst>
                                    <p:set>
                                      <p:cBhvr rctx="PPT">
                                        <p:cTn id="45" dur="indefinite"/>
                                        <p:tgtEl>
                                          <p:spTgt spid="137">
                                            <p:txEl>
                                              <p:pRg st="0" end="0"/>
                                            </p:txEl>
                                          </p:spTgt>
                                        </p:tgtEl>
                                        <p:attrNameLst>
                                          <p:attrName>style.opacity</p:attrName>
                                        </p:attrNameLst>
                                      </p:cBhvr>
                                      <p:to>
                                        <p:strVal val="0.5"/>
                                      </p:to>
                                    </p:set>
                                    <p:animEffect filter="image" prLst="opacity: 0.5">
                                      <p:cBhvr rctx="IE">
                                        <p:cTn id="46" dur="indefinite"/>
                                        <p:tgtEl>
                                          <p:spTgt spid="137">
                                            <p:txEl>
                                              <p:pRg st="0" end="0"/>
                                            </p:txEl>
                                          </p:spTgt>
                                        </p:tgtEl>
                                      </p:cBhvr>
                                    </p:animEffect>
                                  </p:childTnLst>
                                </p:cTn>
                              </p:par>
                              <p:par>
                                <p:cTn id="47" presetID="9" presetClass="emph" presetSubtype="0" grpId="1" nodeType="withEffect">
                                  <p:stCondLst>
                                    <p:cond delay="0"/>
                                  </p:stCondLst>
                                  <p:endCondLst>
                                    <p:cond evt="onNext" delay="0">
                                      <p:tgtEl>
                                        <p:sldTgt/>
                                      </p:tgtEl>
                                    </p:cond>
                                  </p:endCondLst>
                                  <p:childTnLst>
                                    <p:set>
                                      <p:cBhvr rctx="PPT">
                                        <p:cTn id="48" dur="indefinite"/>
                                        <p:tgtEl>
                                          <p:spTgt spid="136"/>
                                        </p:tgtEl>
                                        <p:attrNameLst>
                                          <p:attrName>style.opacity</p:attrName>
                                        </p:attrNameLst>
                                      </p:cBhvr>
                                      <p:to>
                                        <p:strVal val="0.5"/>
                                      </p:to>
                                    </p:set>
                                    <p:animEffect filter="image" prLst="opacity: 0.5">
                                      <p:cBhvr rctx="IE">
                                        <p:cTn id="49" dur="indefinite"/>
                                        <p:tgtEl>
                                          <p:spTgt spid="13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54"/>
                                        </p:tgtEl>
                                        <p:attrNameLst>
                                          <p:attrName>style.visibility</p:attrName>
                                        </p:attrNameLst>
                                      </p:cBhvr>
                                      <p:to>
                                        <p:strVal val="visible"/>
                                      </p:to>
                                    </p:set>
                                    <p:animEffect transition="in" filter="wipe(up)">
                                      <p:cBhvr>
                                        <p:cTn id="54" dur="5000"/>
                                        <p:tgtEl>
                                          <p:spTgt spid="54"/>
                                        </p:tgtEl>
                                      </p:cBhvr>
                                    </p:animEffect>
                                  </p:childTnLst>
                                  <p:subTnLst>
                                    <p:audio>
                                      <p:cMediaNode>
                                        <p:cTn display="0" masterRel="sameClick">
                                          <p:stCondLst>
                                            <p:cond evt="begin" delay="0">
                                              <p:tn val="52"/>
                                            </p:cond>
                                          </p:stCondLst>
                                          <p:endCondLst>
                                            <p:cond evt="onStopAudio" delay="0">
                                              <p:tgtEl>
                                                <p:sldTgt/>
                                              </p:tgtEl>
                                            </p:cond>
                                          </p:endCondLst>
                                        </p:cTn>
                                        <p:tgtEl>
                                          <p:sndTgt r:embed="rId5" name="whoosh.wav"/>
                                        </p:tgtEl>
                                      </p:cMediaNode>
                                    </p:audio>
                                  </p:subTnLst>
                                </p:cTn>
                              </p:par>
                            </p:childTnLst>
                          </p:cTn>
                        </p:par>
                        <p:par>
                          <p:cTn id="55" fill="hold">
                            <p:stCondLst>
                              <p:cond delay="5000"/>
                            </p:stCondLst>
                            <p:childTnLst>
                              <p:par>
                                <p:cTn id="56" presetID="53" presetClass="entr" presetSubtype="0" fill="hold" nodeType="afterEffect">
                                  <p:stCondLst>
                                    <p:cond delay="0"/>
                                  </p:stCondLst>
                                  <p:childTnLst>
                                    <p:set>
                                      <p:cBhvr>
                                        <p:cTn id="57" dur="1" fill="hold">
                                          <p:stCondLst>
                                            <p:cond delay="0"/>
                                          </p:stCondLst>
                                        </p:cTn>
                                        <p:tgtEl>
                                          <p:spTgt spid="56"/>
                                        </p:tgtEl>
                                        <p:attrNameLst>
                                          <p:attrName>style.visibility</p:attrName>
                                        </p:attrNameLst>
                                      </p:cBhvr>
                                      <p:to>
                                        <p:strVal val="visible"/>
                                      </p:to>
                                    </p:set>
                                    <p:anim calcmode="lin" valueType="num">
                                      <p:cBhvr>
                                        <p:cTn id="58" dur="3000" fill="hold"/>
                                        <p:tgtEl>
                                          <p:spTgt spid="56"/>
                                        </p:tgtEl>
                                        <p:attrNameLst>
                                          <p:attrName>ppt_w</p:attrName>
                                        </p:attrNameLst>
                                      </p:cBhvr>
                                      <p:tavLst>
                                        <p:tav tm="0">
                                          <p:val>
                                            <p:fltVal val="0"/>
                                          </p:val>
                                        </p:tav>
                                        <p:tav tm="100000">
                                          <p:val>
                                            <p:strVal val="#ppt_w"/>
                                          </p:val>
                                        </p:tav>
                                      </p:tavLst>
                                    </p:anim>
                                    <p:anim calcmode="lin" valueType="num">
                                      <p:cBhvr>
                                        <p:cTn id="59" dur="3000" fill="hold"/>
                                        <p:tgtEl>
                                          <p:spTgt spid="56"/>
                                        </p:tgtEl>
                                        <p:attrNameLst>
                                          <p:attrName>ppt_h</p:attrName>
                                        </p:attrNameLst>
                                      </p:cBhvr>
                                      <p:tavLst>
                                        <p:tav tm="0">
                                          <p:val>
                                            <p:fltVal val="0"/>
                                          </p:val>
                                        </p:tav>
                                        <p:tav tm="100000">
                                          <p:val>
                                            <p:strVal val="#ppt_h"/>
                                          </p:val>
                                        </p:tav>
                                      </p:tavLst>
                                    </p:anim>
                                    <p:animEffect transition="in" filter="fade">
                                      <p:cBhvr>
                                        <p:cTn id="60" dur="3000"/>
                                        <p:tgtEl>
                                          <p:spTgt spid="56"/>
                                        </p:tgtEl>
                                      </p:cBhvr>
                                    </p:animEffect>
                                  </p:childTnLst>
                                  <p:subTnLst>
                                    <p:audio>
                                      <p:cMediaNode>
                                        <p:cTn display="0" masterRel="sameClick">
                                          <p:stCondLst>
                                            <p:cond evt="begin" delay="0">
                                              <p:tn val="56"/>
                                            </p:cond>
                                          </p:stCondLst>
                                          <p:endCondLst>
                                            <p:cond evt="onStopAudio" delay="0">
                                              <p:tgtEl>
                                                <p:sldTgt/>
                                              </p:tgtEl>
                                            </p:cond>
                                          </p:endCondLst>
                                        </p:cTn>
                                        <p:tgtEl>
                                          <p:sndTgt r:embed="rId7" name="push.wav"/>
                                        </p:tgtEl>
                                      </p:cMediaNode>
                                    </p:audio>
                                  </p:subTnLst>
                                </p:cTn>
                              </p:par>
                              <p:par>
                                <p:cTn id="61" presetID="22" presetClass="entr" presetSubtype="4" fill="hold" grpId="0" nodeType="withEffect">
                                  <p:stCondLst>
                                    <p:cond delay="0"/>
                                  </p:stCondLst>
                                  <p:childTnLst>
                                    <p:set>
                                      <p:cBhvr>
                                        <p:cTn id="62" dur="1" fill="hold">
                                          <p:stCondLst>
                                            <p:cond delay="0"/>
                                          </p:stCondLst>
                                        </p:cTn>
                                        <p:tgtEl>
                                          <p:spTgt spid="55"/>
                                        </p:tgtEl>
                                        <p:attrNameLst>
                                          <p:attrName>style.visibility</p:attrName>
                                        </p:attrNameLst>
                                      </p:cBhvr>
                                      <p:to>
                                        <p:strVal val="visible"/>
                                      </p:to>
                                    </p:set>
                                    <p:animEffect transition="in" filter="wipe(down)">
                                      <p:cBhvr>
                                        <p:cTn id="63" dur="5000"/>
                                        <p:tgtEl>
                                          <p:spTgt spid="55"/>
                                        </p:tgtEl>
                                      </p:cBhvr>
                                    </p:animEffect>
                                  </p:childTnLst>
                                  <p:subTnLst>
                                    <p:audio>
                                      <p:cMediaNode>
                                        <p:cTn display="0" masterRel="sameClick">
                                          <p:stCondLst>
                                            <p:cond evt="begin" delay="0">
                                              <p:tn val="61"/>
                                            </p:cond>
                                          </p:stCondLst>
                                          <p:endCondLst>
                                            <p:cond evt="onStopAudio" delay="0">
                                              <p:tgtEl>
                                                <p:sldTgt/>
                                              </p:tgtEl>
                                            </p:cond>
                                          </p:endCondLst>
                                        </p:cTn>
                                        <p:tgtEl>
                                          <p:sndTgt r:embed="rId5" name="whoosh.wav"/>
                                        </p:tgtEl>
                                      </p:cMediaNode>
                                    </p:audio>
                                  </p:subTnLst>
                                </p:cTn>
                              </p:par>
                            </p:childTnLst>
                          </p:cTn>
                        </p:par>
                        <p:par>
                          <p:cTn id="64" fill="hold">
                            <p:stCondLst>
                              <p:cond delay="10000"/>
                            </p:stCondLst>
                            <p:childTnLst>
                              <p:par>
                                <p:cTn id="65" presetID="9" presetClass="entr" presetSubtype="0" fill="hold" nodeType="afterEffect">
                                  <p:stCondLst>
                                    <p:cond delay="0"/>
                                  </p:stCondLst>
                                  <p:childTnLst>
                                    <p:set>
                                      <p:cBhvr>
                                        <p:cTn id="66" dur="1" fill="hold">
                                          <p:stCondLst>
                                            <p:cond delay="0"/>
                                          </p:stCondLst>
                                        </p:cTn>
                                        <p:tgtEl>
                                          <p:spTgt spid="63">
                                            <p:txEl>
                                              <p:pRg st="0" end="0"/>
                                            </p:txEl>
                                          </p:spTgt>
                                        </p:tgtEl>
                                        <p:attrNameLst>
                                          <p:attrName>style.visibility</p:attrName>
                                        </p:attrNameLst>
                                      </p:cBhvr>
                                      <p:to>
                                        <p:strVal val="visible"/>
                                      </p:to>
                                    </p:set>
                                    <p:animEffect transition="in" filter="dissolve">
                                      <p:cBhvr>
                                        <p:cTn id="67" dur="2000"/>
                                        <p:tgtEl>
                                          <p:spTgt spid="63">
                                            <p:txEl>
                                              <p:pRg st="0" end="0"/>
                                            </p:txEl>
                                          </p:spTgt>
                                        </p:tgtEl>
                                      </p:cBhvr>
                                    </p:animEffect>
                                  </p:childTnLst>
                                  <p:subTnLst>
                                    <p:audio>
                                      <p:cMediaNode>
                                        <p:cTn display="0" masterRel="sameClick">
                                          <p:stCondLst>
                                            <p:cond evt="begin" delay="0">
                                              <p:tn val="65"/>
                                            </p:cond>
                                          </p:stCondLst>
                                          <p:endCondLst>
                                            <p:cond evt="onStopAudio" delay="0">
                                              <p:tgtEl>
                                                <p:sldTgt/>
                                              </p:tgtEl>
                                            </p:cond>
                                          </p:endCondLst>
                                        </p:cTn>
                                        <p:tgtEl>
                                          <p:sndTgt r:embed="rId6" name="TYPE.WAV"/>
                                        </p:tgtEl>
                                      </p:cMediaNode>
                                    </p:audio>
                                  </p:subTnLst>
                                </p:cTn>
                              </p:par>
                              <p:par>
                                <p:cTn id="68" presetID="9" presetClass="entr" presetSubtype="0" fill="hold" nodeType="withEffect">
                                  <p:stCondLst>
                                    <p:cond delay="0"/>
                                  </p:stCondLst>
                                  <p:childTnLst>
                                    <p:set>
                                      <p:cBhvr>
                                        <p:cTn id="69" dur="1" fill="hold">
                                          <p:stCondLst>
                                            <p:cond delay="0"/>
                                          </p:stCondLst>
                                        </p:cTn>
                                        <p:tgtEl>
                                          <p:spTgt spid="64">
                                            <p:txEl>
                                              <p:pRg st="0" end="0"/>
                                            </p:txEl>
                                          </p:spTgt>
                                        </p:tgtEl>
                                        <p:attrNameLst>
                                          <p:attrName>style.visibility</p:attrName>
                                        </p:attrNameLst>
                                      </p:cBhvr>
                                      <p:to>
                                        <p:strVal val="visible"/>
                                      </p:to>
                                    </p:set>
                                    <p:animEffect transition="in" filter="dissolve">
                                      <p:cBhvr>
                                        <p:cTn id="70" dur="2000"/>
                                        <p:tgtEl>
                                          <p:spTgt spid="64">
                                            <p:txEl>
                                              <p:pRg st="0" end="0"/>
                                            </p:txEl>
                                          </p:spTgt>
                                        </p:tgtEl>
                                      </p:cBhvr>
                                    </p:animEffect>
                                  </p:childTnLst>
                                  <p:subTnLst>
                                    <p:audio>
                                      <p:cMediaNode>
                                        <p:cTn display="0" masterRel="sameClick">
                                          <p:stCondLst>
                                            <p:cond evt="begin" delay="0">
                                              <p:tn val="68"/>
                                            </p:cond>
                                          </p:stCondLst>
                                          <p:endCondLst>
                                            <p:cond evt="onStopAudio" delay="0">
                                              <p:tgtEl>
                                                <p:sldTgt/>
                                              </p:tgtEl>
                                            </p:cond>
                                          </p:endCondLst>
                                        </p:cTn>
                                        <p:tgtEl>
                                          <p:sndTgt r:embed="rId6" name="TYPE.WAV"/>
                                        </p:tgtEl>
                                      </p:cMediaNode>
                                    </p:audio>
                                  </p:subTnLst>
                                </p:cTn>
                              </p:par>
                            </p:childTnLst>
                          </p:cTn>
                        </p:par>
                        <p:par>
                          <p:cTn id="71" fill="hold">
                            <p:stCondLst>
                              <p:cond delay="12000"/>
                            </p:stCondLst>
                            <p:childTnLst>
                              <p:par>
                                <p:cTn id="72" presetID="32" presetClass="emph" presetSubtype="0" fill="hold" nodeType="afterEffect">
                                  <p:stCondLst>
                                    <p:cond delay="0"/>
                                  </p:stCondLst>
                                  <p:childTnLst>
                                    <p:animClr clrSpc="rgb" dir="cw">
                                      <p:cBhvr override="childStyle">
                                        <p:cTn id="73" dur="300" fill="hold"/>
                                        <p:tgtEl>
                                          <p:spTgt spid="56"/>
                                        </p:tgtEl>
                                        <p:attrNameLst>
                                          <p:attrName>style.color</p:attrName>
                                        </p:attrNameLst>
                                      </p:cBhvr>
                                      <p:to>
                                        <a:schemeClr val="accent2"/>
                                      </p:to>
                                    </p:animClr>
                                    <p:animClr clrSpc="rgb" dir="cw">
                                      <p:cBhvr>
                                        <p:cTn id="74" dur="300" fill="hold"/>
                                        <p:tgtEl>
                                          <p:spTgt spid="56"/>
                                        </p:tgtEl>
                                        <p:attrNameLst>
                                          <p:attrName>fillcolor</p:attrName>
                                        </p:attrNameLst>
                                      </p:cBhvr>
                                      <p:to>
                                        <a:schemeClr val="accent2"/>
                                      </p:to>
                                    </p:animClr>
                                    <p:set>
                                      <p:cBhvr>
                                        <p:cTn id="75" dur="300" fill="hold"/>
                                        <p:tgtEl>
                                          <p:spTgt spid="56"/>
                                        </p:tgtEl>
                                        <p:attrNameLst>
                                          <p:attrName>fill.type</p:attrName>
                                        </p:attrNameLst>
                                      </p:cBhvr>
                                      <p:to>
                                        <p:strVal val="solid"/>
                                      </p:to>
                                    </p:set>
                                    <p:set>
                                      <p:cBhvr>
                                        <p:cTn id="76" dur="300" fill="hold"/>
                                        <p:tgtEl>
                                          <p:spTgt spid="56"/>
                                        </p:tgtEl>
                                        <p:attrNameLst>
                                          <p:attrName>fill.on</p:attrName>
                                        </p:attrNameLst>
                                      </p:cBhvr>
                                      <p:to>
                                        <p:strVal val="true"/>
                                      </p:to>
                                    </p:set>
                                    <p:animRot by="120000">
                                      <p:cBhvr>
                                        <p:cTn id="77" dur="300" fill="hold">
                                          <p:stCondLst>
                                            <p:cond delay="0"/>
                                          </p:stCondLst>
                                        </p:cTn>
                                        <p:tgtEl>
                                          <p:spTgt spid="56"/>
                                        </p:tgtEl>
                                        <p:attrNameLst>
                                          <p:attrName>r</p:attrName>
                                        </p:attrNameLst>
                                      </p:cBhvr>
                                    </p:animRot>
                                    <p:animRot by="-240000">
                                      <p:cBhvr>
                                        <p:cTn id="78" dur="600" fill="hold">
                                          <p:stCondLst>
                                            <p:cond delay="600"/>
                                          </p:stCondLst>
                                        </p:cTn>
                                        <p:tgtEl>
                                          <p:spTgt spid="56"/>
                                        </p:tgtEl>
                                        <p:attrNameLst>
                                          <p:attrName>r</p:attrName>
                                        </p:attrNameLst>
                                      </p:cBhvr>
                                    </p:animRot>
                                    <p:animRot by="240000">
                                      <p:cBhvr>
                                        <p:cTn id="79" dur="600" fill="hold">
                                          <p:stCondLst>
                                            <p:cond delay="1200"/>
                                          </p:stCondLst>
                                        </p:cTn>
                                        <p:tgtEl>
                                          <p:spTgt spid="56"/>
                                        </p:tgtEl>
                                        <p:attrNameLst>
                                          <p:attrName>r</p:attrName>
                                        </p:attrNameLst>
                                      </p:cBhvr>
                                    </p:animRot>
                                    <p:animRot by="-240000">
                                      <p:cBhvr>
                                        <p:cTn id="80" dur="600" fill="hold">
                                          <p:stCondLst>
                                            <p:cond delay="1800"/>
                                          </p:stCondLst>
                                        </p:cTn>
                                        <p:tgtEl>
                                          <p:spTgt spid="56"/>
                                        </p:tgtEl>
                                        <p:attrNameLst>
                                          <p:attrName>r</p:attrName>
                                        </p:attrNameLst>
                                      </p:cBhvr>
                                    </p:animRot>
                                    <p:animRot by="120000">
                                      <p:cBhvr>
                                        <p:cTn id="81" dur="600" fill="hold">
                                          <p:stCondLst>
                                            <p:cond delay="2400"/>
                                          </p:stCondLst>
                                        </p:cTn>
                                        <p:tgtEl>
                                          <p:spTgt spid="56"/>
                                        </p:tgtEl>
                                        <p:attrNameLst>
                                          <p:attrName>r</p:attrName>
                                        </p:attrNameLst>
                                      </p:cBhvr>
                                    </p:animRot>
                                  </p:childTnLst>
                                  <p:subTnLst>
                                    <p:audio>
                                      <p:cMediaNode>
                                        <p:cTn display="0" masterRel="sameClick">
                                          <p:stCondLst>
                                            <p:cond evt="begin" delay="0">
                                              <p:tn val="72"/>
                                            </p:cond>
                                          </p:stCondLst>
                                          <p:endCondLst>
                                            <p:cond evt="onStopAudio" delay="0">
                                              <p:tgtEl>
                                                <p:sldTgt/>
                                              </p:tgtEl>
                                            </p:cond>
                                          </p:endCondLst>
                                        </p:cTn>
                                        <p:tgtEl>
                                          <p:sndTgt r:embed="rId8" name="wind.wav"/>
                                        </p:tgtEl>
                                      </p:cMediaNode>
                                    </p:audio>
                                  </p:sub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1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9" grpId="0" animBg="1"/>
      <p:bldP spid="54" grpId="0" animBg="1"/>
      <p:bldP spid="55" grpId="0" animBg="1"/>
      <p:bldP spid="65" grpId="0" animBg="1"/>
      <p:bldP spid="65" grpId="1" animBg="1"/>
      <p:bldP spid="136" grpId="0" animBg="1"/>
      <p:bldP spid="136" grpId="1" animBg="1"/>
      <p:bldP spid="137" grpId="0" build="allAtOnce"/>
      <p:bldP spid="138"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9" name="Rectangle 61"/>
          <p:cNvSpPr>
            <a:spLocks noChangeArrowheads="1"/>
          </p:cNvSpPr>
          <p:nvPr/>
        </p:nvSpPr>
        <p:spPr bwMode="auto">
          <a:xfrm>
            <a:off x="947428" y="3544597"/>
            <a:ext cx="10693188" cy="2713624"/>
          </a:xfrm>
          <a:prstGeom prst="rect">
            <a:avLst/>
          </a:prstGeom>
          <a:solidFill>
            <a:srgbClr val="B9CDE5"/>
          </a:solidFill>
          <a:ln>
            <a:noFill/>
          </a:ln>
          <a:effectLst/>
        </p:spPr>
        <p:txBody>
          <a:bodyPr wrap="none" anchor="ctr"/>
          <a:lstStyle/>
          <a:p>
            <a:endParaRPr lang="zh-CN" altLang="en-US"/>
          </a:p>
        </p:txBody>
      </p:sp>
      <p:sp>
        <p:nvSpPr>
          <p:cNvPr id="46" name="Text Box 1032"/>
          <p:cNvSpPr txBox="1">
            <a:spLocks noChangeArrowheads="1"/>
          </p:cNvSpPr>
          <p:nvPr/>
        </p:nvSpPr>
        <p:spPr bwMode="auto">
          <a:xfrm>
            <a:off x="983432" y="866940"/>
            <a:ext cx="10801199"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外力特点</a:t>
            </a:r>
            <a:r>
              <a:rPr lang="zh-CN" altLang="en-US" sz="2800" i="0" dirty="0">
                <a:latin typeface="+mj-lt"/>
                <a:ea typeface="微软雅黑" panose="020B0503020204020204" pitchFamily="34" charset="-122"/>
              </a:rPr>
              <a:t>：两端受到一对数值相等、转向相反、作用面垂直于杆轴线的力偶作用。</a:t>
            </a:r>
            <a:endParaRPr lang="en-US" altLang="zh-CN" sz="2800" i="0" dirty="0">
              <a:latin typeface="+mj-lt"/>
              <a:ea typeface="微软雅黑" panose="020B0503020204020204" pitchFamily="34" charset="-122"/>
            </a:endParaRPr>
          </a:p>
          <a:p>
            <a:pPr>
              <a:lnSpc>
                <a:spcPct val="120000"/>
              </a:lnSpc>
            </a:pPr>
            <a:r>
              <a:rPr lang="zh-CN" altLang="en-US" sz="2800" i="0" dirty="0">
                <a:solidFill>
                  <a:srgbClr val="FF0000"/>
                </a:solidFill>
                <a:latin typeface="微软雅黑" panose="020B0503020204020204" pitchFamily="34" charset="-122"/>
                <a:ea typeface="微软雅黑" panose="020B0503020204020204" pitchFamily="34" charset="-122"/>
              </a:rPr>
              <a:t>变形特点</a:t>
            </a:r>
            <a:r>
              <a:rPr lang="zh-CN" altLang="en-US" sz="2800" i="0" dirty="0">
                <a:latin typeface="+mj-lt"/>
                <a:ea typeface="微软雅黑" panose="020B0503020204020204" pitchFamily="34" charset="-122"/>
              </a:rPr>
              <a:t>：各截面绕轴线产生相对转动，杆表面纵向线变成螺旋线，但横截面形状与大小未变，这种变形称为</a:t>
            </a:r>
            <a:r>
              <a:rPr lang="zh-CN" altLang="en-US" sz="2800" i="0" dirty="0">
                <a:solidFill>
                  <a:srgbClr val="FF00FF"/>
                </a:solidFill>
                <a:latin typeface="+mj-lt"/>
                <a:ea typeface="微软雅黑" panose="020B0503020204020204" pitchFamily="34" charset="-122"/>
              </a:rPr>
              <a:t>扭转变形</a:t>
            </a:r>
            <a:r>
              <a:rPr lang="zh-CN" altLang="en-US" sz="2800" i="0" dirty="0">
                <a:latin typeface="+mj-lt"/>
                <a:ea typeface="微软雅黑" panose="020B0503020204020204" pitchFamily="34" charset="-122"/>
              </a:rPr>
              <a:t>，其上任意二截面间的相对转角称为</a:t>
            </a:r>
            <a:r>
              <a:rPr lang="zh-CN" altLang="en-US" sz="2800" i="0" dirty="0">
                <a:solidFill>
                  <a:srgbClr val="FF00FF"/>
                </a:solidFill>
                <a:latin typeface="+mj-lt"/>
                <a:ea typeface="微软雅黑" panose="020B0503020204020204" pitchFamily="34" charset="-122"/>
              </a:rPr>
              <a:t>扭转角</a:t>
            </a:r>
            <a:r>
              <a:rPr lang="zh-CN" altLang="en-US" sz="2800" i="0" dirty="0">
                <a:latin typeface="+mj-lt"/>
                <a:ea typeface="微软雅黑" panose="020B0503020204020204" pitchFamily="34" charset="-122"/>
              </a:rPr>
              <a:t>，以扭转变形为主的构件称为</a:t>
            </a:r>
            <a:r>
              <a:rPr lang="zh-CN" altLang="en-US" sz="2800" i="0" dirty="0">
                <a:solidFill>
                  <a:srgbClr val="FF00FF"/>
                </a:solidFill>
                <a:latin typeface="+mj-lt"/>
                <a:ea typeface="微软雅黑" panose="020B0503020204020204" pitchFamily="34" charset="-122"/>
              </a:rPr>
              <a:t>轴</a:t>
            </a:r>
            <a:r>
              <a:rPr lang="zh-CN" altLang="en-US" sz="2800" i="0" dirty="0">
                <a:latin typeface="+mj-lt"/>
                <a:ea typeface="微软雅黑" panose="020B0503020204020204" pitchFamily="34" charset="-122"/>
              </a:rPr>
              <a:t>。</a:t>
            </a:r>
          </a:p>
        </p:txBody>
      </p:sp>
      <p:pic>
        <p:nvPicPr>
          <p:cNvPr id="2" name="niu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684768" y="3645024"/>
            <a:ext cx="3873846" cy="2448271"/>
          </a:xfrm>
          <a:prstGeom prst="rect">
            <a:avLst/>
          </a:prstGeom>
        </p:spPr>
      </p:pic>
      <p:pic>
        <p:nvPicPr>
          <p:cNvPr id="48" name="扭转变形">
            <a:hlinkClick r:id="" action="ppaction://media"/>
            <a:extLst>
              <a:ext uri="{FF2B5EF4-FFF2-40B4-BE49-F238E27FC236}">
                <a16:creationId xmlns:a16="http://schemas.microsoft.com/office/drawing/2014/main" xmlns="" id="{606F05B8-0EC3-C304-6DF5-C037845379EC}"/>
              </a:ext>
            </a:extLst>
          </p:cNvPr>
          <p:cNvPicPr>
            <a:picLocks noChangeAspect="1"/>
          </p:cNvPicPr>
          <p:nvPr>
            <a:videoFile r:link="rId4"/>
            <p:extLst>
              <p:ext uri="{DAA4B4D4-6D71-4841-9C94-3DE7FCFB9230}">
                <p14:media xmlns:p14="http://schemas.microsoft.com/office/powerpoint/2010/main" r:embed="rId3"/>
              </p:ext>
            </p:extLst>
          </p:nvPr>
        </p:nvPicPr>
        <p:blipFill rotWithShape="1">
          <a:blip r:embed="rId8"/>
          <a:srcRect b="13623"/>
          <a:stretch/>
        </p:blipFill>
        <p:spPr>
          <a:xfrm>
            <a:off x="6673410" y="3653566"/>
            <a:ext cx="3852409" cy="2495685"/>
          </a:xfrm>
          <a:prstGeom prst="rect">
            <a:avLst/>
          </a:prstGeom>
        </p:spPr>
      </p:pic>
    </p:spTree>
    <p:extLst>
      <p:ext uri="{BB962C8B-B14F-4D97-AF65-F5344CB8AC3E}">
        <p14:creationId xmlns:p14="http://schemas.microsoft.com/office/powerpoint/2010/main" val="58654568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2"/>
                </p:tgtEl>
              </p:cMediaNode>
            </p:video>
            <p:video>
              <p:cMediaNode vol="80000">
                <p:cTn id="20" fill="hold" display="0">
                  <p:stCondLst>
                    <p:cond delay="indefinite"/>
                  </p:stCondLst>
                </p:cTn>
                <p:tgtEl>
                  <p:spTgt spid="48"/>
                </p:tgtEl>
              </p:cMediaNode>
            </p:video>
          </p:childTnLst>
        </p:cTn>
      </p:par>
    </p:tnLst>
    <p:bldLst>
      <p:bldP spid="9" grpId="0" animBg="1"/>
      <p:bldP spid="46"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9" name="Rectangle 61"/>
          <p:cNvSpPr>
            <a:spLocks noChangeArrowheads="1"/>
          </p:cNvSpPr>
          <p:nvPr/>
        </p:nvSpPr>
        <p:spPr bwMode="auto">
          <a:xfrm>
            <a:off x="7752184" y="1772816"/>
            <a:ext cx="4320480" cy="3168352"/>
          </a:xfrm>
          <a:prstGeom prst="rect">
            <a:avLst/>
          </a:prstGeom>
          <a:solidFill>
            <a:srgbClr val="B9CDE5"/>
          </a:solidFill>
          <a:ln>
            <a:noFill/>
          </a:ln>
          <a:effectLst/>
        </p:spPr>
        <p:txBody>
          <a:bodyPr wrap="none" anchor="ctr"/>
          <a:lstStyle/>
          <a:p>
            <a:endParaRPr lang="zh-CN" altLang="en-US"/>
          </a:p>
        </p:txBody>
      </p:sp>
      <p:sp>
        <p:nvSpPr>
          <p:cNvPr id="53" name="矩形 52"/>
          <p:cNvSpPr/>
          <p:nvPr/>
        </p:nvSpPr>
        <p:spPr>
          <a:xfrm>
            <a:off x="4454959" y="855758"/>
            <a:ext cx="2492990"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扭矩和扭矩图</a:t>
            </a:r>
          </a:p>
        </p:txBody>
      </p:sp>
      <p:sp>
        <p:nvSpPr>
          <p:cNvPr id="46" name="Text Box 1032"/>
          <p:cNvSpPr txBox="1">
            <a:spLocks noChangeArrowheads="1"/>
          </p:cNvSpPr>
          <p:nvPr/>
        </p:nvSpPr>
        <p:spPr bwMode="auto">
          <a:xfrm>
            <a:off x="269444" y="1423652"/>
            <a:ext cx="7549935" cy="4873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solidFill>
                  <a:srgbClr val="FF00FF"/>
                </a:solidFill>
                <a:latin typeface="+mn-lt"/>
                <a:ea typeface="微软雅黑" panose="020B0503020204020204" pitchFamily="34" charset="-122"/>
              </a:rPr>
              <a:t>外力偶矩的计算 </a:t>
            </a:r>
            <a:endParaRPr lang="en-US" altLang="zh-CN" sz="2800" i="0" dirty="0">
              <a:solidFill>
                <a:srgbClr val="FF00FF"/>
              </a:solidFill>
              <a:latin typeface="+mn-lt"/>
              <a:ea typeface="微软雅黑" panose="020B0503020204020204" pitchFamily="34" charset="-122"/>
            </a:endParaRPr>
          </a:p>
          <a:p>
            <a:pPr algn="just">
              <a:lnSpc>
                <a:spcPct val="120000"/>
              </a:lnSpc>
            </a:pPr>
            <a:r>
              <a:rPr lang="zh-CN" altLang="en-US" sz="2800" i="0" dirty="0">
                <a:latin typeface="+mn-lt"/>
                <a:ea typeface="微软雅黑" panose="020B0503020204020204" pitchFamily="34" charset="-122"/>
              </a:rPr>
              <a:t>工程中作用于轴上的外力偶矩通常并不直接给出，而给出轴的转速和轴所传递的功率。它们的换算关系为</a:t>
            </a:r>
          </a:p>
          <a:p>
            <a:pPr algn="ctr" eaLnBrk="1" hangingPunct="1">
              <a:lnSpc>
                <a:spcPct val="130000"/>
              </a:lnSpc>
            </a:pPr>
            <a:r>
              <a:rPr lang="en-US" altLang="zh-CN" sz="2800" b="0" dirty="0">
                <a:latin typeface="+mj-lt"/>
                <a:ea typeface="微软雅黑" panose="020B0503020204020204" pitchFamily="34" charset="-122"/>
              </a:rPr>
              <a:t>M</a:t>
            </a:r>
            <a:r>
              <a:rPr lang="zh-CN" altLang="en-US" sz="2800" b="0" i="0" dirty="0">
                <a:latin typeface="+mj-lt"/>
                <a:ea typeface="微软雅黑" panose="020B0503020204020204" pitchFamily="34" charset="-122"/>
              </a:rPr>
              <a:t>＝</a:t>
            </a:r>
            <a:r>
              <a:rPr lang="en-US" altLang="zh-CN" sz="2800" b="0" i="0" dirty="0">
                <a:latin typeface="+mj-lt"/>
                <a:ea typeface="微软雅黑" panose="020B0503020204020204" pitchFamily="34" charset="-122"/>
              </a:rPr>
              <a:t>9549</a:t>
            </a:r>
            <a:r>
              <a:rPr lang="en-US" altLang="zh-CN" sz="2800" b="0" dirty="0">
                <a:latin typeface="+mj-lt"/>
                <a:ea typeface="微软雅黑" panose="020B0503020204020204" pitchFamily="34" charset="-122"/>
              </a:rPr>
              <a:t>P</a:t>
            </a:r>
            <a:r>
              <a:rPr lang="en-US" altLang="zh-CN" sz="2800" b="0" i="0" dirty="0">
                <a:latin typeface="+mj-lt"/>
                <a:ea typeface="微软雅黑" panose="020B0503020204020204" pitchFamily="34" charset="-122"/>
              </a:rPr>
              <a:t>/</a:t>
            </a:r>
            <a:r>
              <a:rPr lang="en-US" altLang="zh-CN" sz="2800" b="0" dirty="0">
                <a:latin typeface="+mj-lt"/>
                <a:ea typeface="微软雅黑" panose="020B0503020204020204" pitchFamily="34" charset="-122"/>
              </a:rPr>
              <a:t>n</a:t>
            </a:r>
          </a:p>
          <a:p>
            <a:pPr algn="ctr" eaLnBrk="1" hangingPunct="1">
              <a:lnSpc>
                <a:spcPct val="130000"/>
              </a:lnSpc>
            </a:pPr>
            <a:r>
              <a:rPr lang="zh-CN" altLang="en-US" sz="2800" i="0" dirty="0">
                <a:latin typeface="+mj-lt"/>
                <a:ea typeface="微软雅黑" panose="020B0503020204020204" pitchFamily="34" charset="-122"/>
              </a:rPr>
              <a:t>式中，</a:t>
            </a:r>
            <a:r>
              <a:rPr lang="en-US" altLang="zh-CN" sz="2800" b="0" dirty="0">
                <a:latin typeface="+mj-lt"/>
                <a:ea typeface="微软雅黑" panose="020B0503020204020204" pitchFamily="34" charset="-122"/>
              </a:rPr>
              <a:t>M</a:t>
            </a:r>
            <a:r>
              <a:rPr lang="en-US" altLang="zh-CN" sz="2800" i="0" dirty="0">
                <a:latin typeface="+mj-lt"/>
                <a:ea typeface="微软雅黑" panose="020B0503020204020204" pitchFamily="34" charset="-122"/>
              </a:rPr>
              <a:t>—</a:t>
            </a:r>
            <a:r>
              <a:rPr lang="zh-CN" altLang="en-US" sz="2800" i="0" dirty="0">
                <a:latin typeface="+mj-lt"/>
                <a:ea typeface="微软雅黑" panose="020B0503020204020204" pitchFamily="34" charset="-122"/>
              </a:rPr>
              <a:t>轴扭转外力偶矩</a:t>
            </a:r>
            <a:r>
              <a:rPr lang="zh-CN" altLang="en-US" sz="2800" b="0" i="0" dirty="0">
                <a:latin typeface="+mj-lt"/>
                <a:ea typeface="微软雅黑" panose="020B0503020204020204" pitchFamily="34" charset="-122"/>
              </a:rPr>
              <a:t>（</a:t>
            </a:r>
            <a:r>
              <a:rPr lang="en-US" altLang="zh-CN" sz="2800" b="0" i="0" dirty="0" err="1">
                <a:latin typeface="+mj-lt"/>
                <a:ea typeface="微软雅黑" panose="020B0503020204020204" pitchFamily="34" charset="-122"/>
              </a:rPr>
              <a:t>N·m</a:t>
            </a:r>
            <a:r>
              <a:rPr lang="zh-CN" altLang="en-US" sz="2800" b="0" i="0" dirty="0">
                <a:latin typeface="+mj-lt"/>
                <a:ea typeface="微软雅黑" panose="020B0503020204020204" pitchFamily="34" charset="-122"/>
              </a:rPr>
              <a:t>）</a:t>
            </a:r>
            <a:r>
              <a:rPr lang="zh-CN" altLang="en-US" sz="2800" i="0" dirty="0">
                <a:latin typeface="+mj-lt"/>
                <a:ea typeface="微软雅黑" panose="020B0503020204020204" pitchFamily="34" charset="-122"/>
              </a:rPr>
              <a:t> ；</a:t>
            </a:r>
          </a:p>
          <a:p>
            <a:pPr eaLnBrk="1" hangingPunct="1">
              <a:lnSpc>
                <a:spcPct val="130000"/>
              </a:lnSpc>
            </a:pPr>
            <a:r>
              <a:rPr lang="zh-CN" altLang="en-US" sz="2800" i="0" dirty="0">
                <a:latin typeface="+mj-lt"/>
                <a:ea typeface="微软雅黑" panose="020B0503020204020204" pitchFamily="34" charset="-122"/>
              </a:rPr>
              <a:t>                   </a:t>
            </a:r>
            <a:r>
              <a:rPr lang="en-US" altLang="zh-CN" sz="2800" b="0" dirty="0">
                <a:latin typeface="+mj-lt"/>
                <a:ea typeface="微软雅黑" panose="020B0503020204020204" pitchFamily="34" charset="-122"/>
              </a:rPr>
              <a:t>P</a:t>
            </a:r>
            <a:r>
              <a:rPr lang="en-US" altLang="zh-CN" sz="2800" i="0" dirty="0">
                <a:latin typeface="+mj-lt"/>
                <a:ea typeface="微软雅黑" panose="020B0503020204020204" pitchFamily="34" charset="-122"/>
              </a:rPr>
              <a:t>—</a:t>
            </a:r>
            <a:r>
              <a:rPr lang="zh-CN" altLang="en-US" sz="2800" i="0" dirty="0">
                <a:latin typeface="+mj-lt"/>
                <a:ea typeface="微软雅黑" panose="020B0503020204020204" pitchFamily="34" charset="-122"/>
              </a:rPr>
              <a:t>轴的传递功率</a:t>
            </a:r>
            <a:r>
              <a:rPr lang="zh-CN" altLang="en-US" sz="2800" b="0" i="0" dirty="0">
                <a:latin typeface="+mj-lt"/>
                <a:ea typeface="微软雅黑" panose="020B0503020204020204" pitchFamily="34" charset="-122"/>
              </a:rPr>
              <a:t>（</a:t>
            </a:r>
            <a:r>
              <a:rPr lang="en-US" altLang="zh-CN" sz="2800" b="0" i="0" dirty="0">
                <a:latin typeface="+mj-lt"/>
                <a:ea typeface="微软雅黑" panose="020B0503020204020204" pitchFamily="34" charset="-122"/>
              </a:rPr>
              <a:t>kW</a:t>
            </a:r>
            <a:r>
              <a:rPr lang="zh-CN" altLang="en-US" sz="2800" b="0" i="0" dirty="0">
                <a:latin typeface="+mj-lt"/>
                <a:ea typeface="微软雅黑" panose="020B0503020204020204" pitchFamily="34" charset="-122"/>
              </a:rPr>
              <a:t>） </a:t>
            </a:r>
            <a:r>
              <a:rPr lang="zh-CN" altLang="en-US" sz="2800" i="0" dirty="0">
                <a:latin typeface="+mj-lt"/>
                <a:ea typeface="微软雅黑" panose="020B0503020204020204" pitchFamily="34" charset="-122"/>
              </a:rPr>
              <a:t>；</a:t>
            </a:r>
          </a:p>
          <a:p>
            <a:pPr eaLnBrk="1" hangingPunct="1">
              <a:lnSpc>
                <a:spcPct val="130000"/>
              </a:lnSpc>
            </a:pPr>
            <a:r>
              <a:rPr lang="en-US" altLang="zh-CN" sz="2800" b="0" dirty="0">
                <a:latin typeface="+mj-lt"/>
                <a:ea typeface="微软雅黑" panose="020B0503020204020204" pitchFamily="34" charset="-122"/>
              </a:rPr>
              <a:t>                   n</a:t>
            </a:r>
            <a:r>
              <a:rPr lang="en-US" altLang="zh-CN" sz="2800" i="0" dirty="0">
                <a:latin typeface="+mj-lt"/>
                <a:ea typeface="微软雅黑" panose="020B0503020204020204" pitchFamily="34" charset="-122"/>
              </a:rPr>
              <a:t>—</a:t>
            </a:r>
            <a:r>
              <a:rPr lang="zh-CN" altLang="en-US" sz="2800" i="0" dirty="0">
                <a:latin typeface="+mj-lt"/>
                <a:ea typeface="微软雅黑" panose="020B0503020204020204" pitchFamily="34" charset="-122"/>
              </a:rPr>
              <a:t>轴的转速，单位为转</a:t>
            </a:r>
            <a:r>
              <a:rPr lang="en-US" altLang="zh-CN" sz="2800" i="0" dirty="0">
                <a:latin typeface="+mj-lt"/>
                <a:ea typeface="微软雅黑" panose="020B0503020204020204" pitchFamily="34" charset="-122"/>
              </a:rPr>
              <a:t>/</a:t>
            </a:r>
            <a:r>
              <a:rPr lang="zh-CN" altLang="en-US" sz="2800" i="0" dirty="0">
                <a:latin typeface="+mj-lt"/>
                <a:ea typeface="微软雅黑" panose="020B0503020204020204" pitchFamily="34" charset="-122"/>
              </a:rPr>
              <a:t>分</a:t>
            </a:r>
            <a:r>
              <a:rPr lang="zh-CN" altLang="en-US" sz="2800" b="0" i="0" dirty="0">
                <a:latin typeface="+mj-lt"/>
                <a:ea typeface="微软雅黑" panose="020B0503020204020204" pitchFamily="34" charset="-122"/>
              </a:rPr>
              <a:t>（</a:t>
            </a:r>
            <a:r>
              <a:rPr lang="en-US" altLang="zh-CN" sz="2800" b="0" i="0" dirty="0">
                <a:latin typeface="+mj-lt"/>
                <a:ea typeface="微软雅黑" panose="020B0503020204020204" pitchFamily="34" charset="-122"/>
              </a:rPr>
              <a:t>r/min</a:t>
            </a:r>
            <a:r>
              <a:rPr lang="zh-CN" altLang="en-US" sz="2800" b="0" i="0" dirty="0">
                <a:latin typeface="+mj-lt"/>
                <a:ea typeface="微软雅黑" panose="020B0503020204020204" pitchFamily="34" charset="-122"/>
              </a:rPr>
              <a:t>）</a:t>
            </a:r>
            <a:r>
              <a:rPr lang="zh-CN" altLang="en-US" sz="2800" i="0" dirty="0">
                <a:latin typeface="+mj-lt"/>
                <a:ea typeface="微软雅黑" panose="020B0503020204020204" pitchFamily="34" charset="-122"/>
              </a:rPr>
              <a:t>。</a:t>
            </a:r>
          </a:p>
          <a:p>
            <a:pPr algn="just">
              <a:lnSpc>
                <a:spcPct val="120000"/>
              </a:lnSpc>
            </a:pPr>
            <a:endParaRPr lang="zh-CN" altLang="en-US" sz="2800" i="0" dirty="0">
              <a:latin typeface="+mj-lt"/>
              <a:ea typeface="微软雅黑" panose="020B0503020204020204" pitchFamily="34" charset="-122"/>
            </a:endParaRPr>
          </a:p>
        </p:txBody>
      </p:sp>
      <p:pic>
        <p:nvPicPr>
          <p:cNvPr id="47" name="Picture 6" descr="电机">
            <a:extLst>
              <a:ext uri="{FF2B5EF4-FFF2-40B4-BE49-F238E27FC236}">
                <a16:creationId xmlns:a16="http://schemas.microsoft.com/office/drawing/2014/main" xmlns="" id="{5A7DD833-CFBA-4031-8961-5288A6CAF6C8}"/>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040216" y="2420888"/>
            <a:ext cx="3877528" cy="18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575411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wipe(left)">
                                      <p:cBhvr>
                                        <p:cTn id="11" dur="500"/>
                                        <p:tgtEl>
                                          <p:spTgt spid="4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6"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9" name="Rectangle 61"/>
          <p:cNvSpPr>
            <a:spLocks noChangeArrowheads="1"/>
          </p:cNvSpPr>
          <p:nvPr/>
        </p:nvSpPr>
        <p:spPr bwMode="auto">
          <a:xfrm>
            <a:off x="6099999" y="943255"/>
            <a:ext cx="6015776" cy="5164582"/>
          </a:xfrm>
          <a:prstGeom prst="rect">
            <a:avLst/>
          </a:prstGeom>
          <a:solidFill>
            <a:srgbClr val="B9CDE5"/>
          </a:solidFill>
          <a:ln>
            <a:noFill/>
          </a:ln>
          <a:effectLst/>
        </p:spPr>
        <p:txBody>
          <a:bodyPr wrap="none" anchor="ctr"/>
          <a:lstStyle/>
          <a:p>
            <a:endParaRPr lang="zh-CN" altLang="en-US" b="0" dirty="0"/>
          </a:p>
        </p:txBody>
      </p:sp>
      <p:sp>
        <p:nvSpPr>
          <p:cNvPr id="46" name="Text Box 1032"/>
          <p:cNvSpPr txBox="1">
            <a:spLocks noChangeArrowheads="1"/>
          </p:cNvSpPr>
          <p:nvPr/>
        </p:nvSpPr>
        <p:spPr bwMode="auto">
          <a:xfrm>
            <a:off x="119337" y="908720"/>
            <a:ext cx="5918048" cy="586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zh-CN" altLang="en-US" sz="2800" i="0" dirty="0">
                <a:solidFill>
                  <a:srgbClr val="FF00FF"/>
                </a:solidFill>
                <a:latin typeface="+mn-lt"/>
                <a:ea typeface="微软雅黑" panose="020B0503020204020204" pitchFamily="34" charset="-122"/>
              </a:rPr>
              <a:t>扭矩与扭矩图</a:t>
            </a:r>
            <a:endParaRPr lang="en-US" altLang="zh-CN" sz="2800" i="0" dirty="0">
              <a:solidFill>
                <a:srgbClr val="FF00FF"/>
              </a:solidFill>
              <a:latin typeface="+mn-lt"/>
              <a:ea typeface="微软雅黑" panose="020B0503020204020204" pitchFamily="34" charset="-122"/>
            </a:endParaRPr>
          </a:p>
          <a:p>
            <a:pPr algn="just">
              <a:lnSpc>
                <a:spcPct val="120000"/>
              </a:lnSpc>
            </a:pPr>
            <a:r>
              <a:rPr kumimoji="1" lang="zh-CN" altLang="en-US" sz="2800" i="0" dirty="0">
                <a:latin typeface="+mj-lt"/>
                <a:ea typeface="微软雅黑" panose="020B0503020204020204" pitchFamily="34" charset="-122"/>
              </a:rPr>
              <a:t>若已知轴上作用的外力偶矩，可用截面法研究圆轴扭转时横截面上的内力。</a:t>
            </a:r>
            <a:endParaRPr kumimoji="1" lang="en-US" altLang="zh-CN" sz="2800" i="0" dirty="0">
              <a:latin typeface="+mj-lt"/>
              <a:ea typeface="微软雅黑" panose="020B0503020204020204" pitchFamily="34" charset="-122"/>
            </a:endParaRPr>
          </a:p>
          <a:p>
            <a:pPr algn="just">
              <a:lnSpc>
                <a:spcPct val="120000"/>
              </a:lnSpc>
            </a:pPr>
            <a:r>
              <a:rPr kumimoji="1" lang="zh-CN" altLang="en-US" sz="2800" i="0" dirty="0">
                <a:latin typeface="+mj-lt"/>
                <a:ea typeface="微软雅黑" panose="020B0503020204020204" pitchFamily="34" charset="-122"/>
              </a:rPr>
              <a:t>如图示的圆轴，在任意</a:t>
            </a:r>
            <a:r>
              <a:rPr kumimoji="1" lang="en-US" altLang="zh-CN" sz="2800" b="0" dirty="0">
                <a:latin typeface="+mj-lt"/>
                <a:ea typeface="微软雅黑" panose="020B0503020204020204" pitchFamily="34" charset="-122"/>
              </a:rPr>
              <a:t>m-m</a:t>
            </a:r>
            <a:r>
              <a:rPr kumimoji="1" lang="zh-CN" altLang="en-US" sz="2800" i="0" dirty="0">
                <a:latin typeface="+mj-lt"/>
                <a:ea typeface="微软雅黑" panose="020B0503020204020204" pitchFamily="34" charset="-122"/>
              </a:rPr>
              <a:t>截面处将轴分为两段。</a:t>
            </a:r>
            <a:r>
              <a:rPr kumimoji="1" lang="zh-CN" altLang="en-US" sz="2800" i="0" dirty="0">
                <a:latin typeface="+mn-lt"/>
                <a:ea typeface="微软雅黑" panose="020B0503020204020204" pitchFamily="34" charset="-122"/>
              </a:rPr>
              <a:t>为保持平衡，在截面上必然存在一个作用面和截面重合的</a:t>
            </a:r>
            <a:r>
              <a:rPr kumimoji="1" lang="zh-CN" altLang="en-US" sz="2800" i="0" dirty="0">
                <a:solidFill>
                  <a:srgbClr val="FF00FF"/>
                </a:solidFill>
                <a:latin typeface="+mn-lt"/>
                <a:ea typeface="微软雅黑" panose="020B0503020204020204" pitchFamily="34" charset="-122"/>
              </a:rPr>
              <a:t>内力偶矩</a:t>
            </a:r>
            <a:r>
              <a:rPr kumimoji="1" lang="en-US" altLang="zh-CN" sz="2800" b="0" dirty="0" err="1">
                <a:solidFill>
                  <a:srgbClr val="FF00FF"/>
                </a:solidFill>
                <a:latin typeface="+mn-lt"/>
                <a:ea typeface="微软雅黑" panose="020B0503020204020204" pitchFamily="34" charset="-122"/>
              </a:rPr>
              <a:t>M</a:t>
            </a:r>
            <a:r>
              <a:rPr kumimoji="1" lang="en-US" altLang="zh-CN" sz="2800" b="0" i="0" baseline="-25000" dirty="0" err="1">
                <a:solidFill>
                  <a:srgbClr val="FF00FF"/>
                </a:solidFill>
                <a:latin typeface="+mn-lt"/>
                <a:ea typeface="微软雅黑" panose="020B0503020204020204" pitchFamily="34" charset="-122"/>
              </a:rPr>
              <a:t>n</a:t>
            </a:r>
            <a:r>
              <a:rPr kumimoji="1" lang="zh-CN" altLang="en-US" sz="2800" i="0" dirty="0">
                <a:latin typeface="+mn-lt"/>
                <a:ea typeface="微软雅黑" panose="020B0503020204020204" pitchFamily="34" charset="-122"/>
              </a:rPr>
              <a:t>，与外力偶矩</a:t>
            </a:r>
            <a:r>
              <a:rPr kumimoji="1" lang="en-US" altLang="zh-CN" sz="2800" b="0" dirty="0">
                <a:latin typeface="+mn-lt"/>
                <a:ea typeface="微软雅黑" panose="020B0503020204020204" pitchFamily="34" charset="-122"/>
              </a:rPr>
              <a:t>M</a:t>
            </a:r>
            <a:r>
              <a:rPr kumimoji="1" lang="zh-CN" altLang="en-US" sz="2800" i="0" dirty="0">
                <a:latin typeface="+mn-lt"/>
                <a:ea typeface="微软雅黑" panose="020B0503020204020204" pitchFamily="34" charset="-122"/>
              </a:rPr>
              <a:t>平衡，这个横截面上的内力偶</a:t>
            </a:r>
            <a:r>
              <a:rPr kumimoji="1" lang="en-US" altLang="zh-CN" sz="2800" b="0" dirty="0" err="1">
                <a:latin typeface="+mn-lt"/>
                <a:ea typeface="微软雅黑" panose="020B0503020204020204" pitchFamily="34" charset="-122"/>
              </a:rPr>
              <a:t>M</a:t>
            </a:r>
            <a:r>
              <a:rPr kumimoji="1" lang="en-US" altLang="zh-CN" sz="2800" b="0" i="0" baseline="-25000" dirty="0" err="1">
                <a:latin typeface="+mn-lt"/>
                <a:ea typeface="微软雅黑" panose="020B0503020204020204" pitchFamily="34" charset="-122"/>
              </a:rPr>
              <a:t>n</a:t>
            </a:r>
            <a:r>
              <a:rPr kumimoji="1" lang="zh-CN" altLang="en-US" sz="2800" i="0" dirty="0">
                <a:latin typeface="+mn-lt"/>
                <a:ea typeface="微软雅黑" panose="020B0503020204020204" pitchFamily="34" charset="-122"/>
              </a:rPr>
              <a:t>称为</a:t>
            </a:r>
            <a:r>
              <a:rPr kumimoji="1" lang="zh-CN" altLang="en-US" sz="2800" i="0" dirty="0">
                <a:solidFill>
                  <a:srgbClr val="FF00FF"/>
                </a:solidFill>
                <a:latin typeface="+mn-lt"/>
                <a:ea typeface="微软雅黑" panose="020B0503020204020204" pitchFamily="34" charset="-122"/>
              </a:rPr>
              <a:t>扭矩。</a:t>
            </a:r>
            <a:endParaRPr kumimoji="1" lang="en-US" altLang="zh-CN" sz="2800" i="0" dirty="0">
              <a:latin typeface="+mn-lt"/>
              <a:ea typeface="微软雅黑" panose="020B0503020204020204" pitchFamily="34" charset="-122"/>
            </a:endParaRPr>
          </a:p>
          <a:p>
            <a:pPr lvl="0" algn="just">
              <a:lnSpc>
                <a:spcPct val="130000"/>
              </a:lnSpc>
            </a:pPr>
            <a:r>
              <a:rPr kumimoji="1" lang="zh-CN" altLang="en-US" sz="2800" i="0" dirty="0">
                <a:latin typeface="+mn-lt"/>
                <a:ea typeface="微软雅黑" panose="020B0503020204020204" pitchFamily="34" charset="-122"/>
              </a:rPr>
              <a:t>由平衡条件</a:t>
            </a:r>
            <a:r>
              <a:rPr kumimoji="1" lang="zh-CN" altLang="en-US" sz="2800" b="0" i="0" dirty="0">
                <a:latin typeface="+mn-lt"/>
                <a:ea typeface="微软雅黑" panose="020B0503020204020204" pitchFamily="34" charset="-122"/>
              </a:rPr>
              <a:t>∑</a:t>
            </a:r>
            <a:r>
              <a:rPr kumimoji="1" lang="en-US" altLang="zh-CN" sz="2800" b="0" dirty="0" err="1">
                <a:latin typeface="+mn-lt"/>
                <a:ea typeface="微软雅黑" panose="020B0503020204020204" pitchFamily="34" charset="-122"/>
              </a:rPr>
              <a:t>M</a:t>
            </a:r>
            <a:r>
              <a:rPr kumimoji="1" lang="en-US" altLang="zh-CN" sz="2800" b="0" baseline="-25000" dirty="0" err="1">
                <a:latin typeface="+mn-lt"/>
                <a:ea typeface="微软雅黑" panose="020B0503020204020204" pitchFamily="34" charset="-122"/>
              </a:rPr>
              <a:t>x</a:t>
            </a:r>
            <a:r>
              <a:rPr kumimoji="1" lang="en-US" altLang="zh-CN" sz="2800" b="0" i="0" dirty="0">
                <a:latin typeface="+mn-lt"/>
                <a:ea typeface="微软雅黑" panose="020B0503020204020204" pitchFamily="34" charset="-122"/>
              </a:rPr>
              <a:t>=0</a:t>
            </a:r>
            <a:r>
              <a:rPr kumimoji="1" lang="zh-CN" altLang="en-US" sz="2800" i="0" dirty="0">
                <a:latin typeface="+mn-lt"/>
                <a:ea typeface="微软雅黑" panose="020B0503020204020204" pitchFamily="34" charset="-122"/>
              </a:rPr>
              <a:t>，可求得这个内力偶的大小                 </a:t>
            </a:r>
            <a:r>
              <a:rPr kumimoji="1" lang="en-US" altLang="zh-CN" sz="2800" b="0" dirty="0" err="1">
                <a:latin typeface="+mn-lt"/>
                <a:ea typeface="微软雅黑" panose="020B0503020204020204" pitchFamily="34" charset="-122"/>
              </a:rPr>
              <a:t>M</a:t>
            </a:r>
            <a:r>
              <a:rPr kumimoji="1" lang="en-US" altLang="zh-CN" sz="2800" b="0" i="0" baseline="-25000" dirty="0" err="1">
                <a:latin typeface="+mn-lt"/>
                <a:ea typeface="微软雅黑" panose="020B0503020204020204" pitchFamily="34" charset="-122"/>
              </a:rPr>
              <a:t>n</a:t>
            </a:r>
            <a:r>
              <a:rPr kumimoji="1" lang="en-US" altLang="zh-CN" sz="2800" b="0" i="0" dirty="0">
                <a:latin typeface="+mn-lt"/>
                <a:ea typeface="微软雅黑" panose="020B0503020204020204" pitchFamily="34" charset="-122"/>
              </a:rPr>
              <a:t>= </a:t>
            </a:r>
            <a:r>
              <a:rPr kumimoji="1" lang="en-US" altLang="zh-CN" sz="2800" b="0" dirty="0">
                <a:latin typeface="+mn-lt"/>
                <a:ea typeface="微软雅黑" panose="020B0503020204020204" pitchFamily="34" charset="-122"/>
              </a:rPr>
              <a:t>M</a:t>
            </a:r>
          </a:p>
          <a:p>
            <a:pPr algn="just">
              <a:lnSpc>
                <a:spcPct val="120000"/>
              </a:lnSpc>
            </a:pPr>
            <a:endParaRPr lang="zh-CN" altLang="en-US" sz="2800" i="0" dirty="0">
              <a:solidFill>
                <a:srgbClr val="FF00FF"/>
              </a:solidFill>
              <a:latin typeface="+mj-lt"/>
              <a:ea typeface="微软雅黑" panose="020B0503020204020204" pitchFamily="34" charset="-122"/>
            </a:endParaRPr>
          </a:p>
        </p:txBody>
      </p:sp>
      <p:grpSp>
        <p:nvGrpSpPr>
          <p:cNvPr id="8" name="Group 3"/>
          <p:cNvGrpSpPr>
            <a:grpSpLocks/>
          </p:cNvGrpSpPr>
          <p:nvPr/>
        </p:nvGrpSpPr>
        <p:grpSpPr bwMode="auto">
          <a:xfrm>
            <a:off x="6157149" y="900783"/>
            <a:ext cx="5865812" cy="1284287"/>
            <a:chOff x="1953" y="163"/>
            <a:chExt cx="3695" cy="809"/>
          </a:xfrm>
        </p:grpSpPr>
        <p:grpSp>
          <p:nvGrpSpPr>
            <p:cNvPr id="10" name="Group 4"/>
            <p:cNvGrpSpPr>
              <a:grpSpLocks/>
            </p:cNvGrpSpPr>
            <p:nvPr/>
          </p:nvGrpSpPr>
          <p:grpSpPr bwMode="auto">
            <a:xfrm>
              <a:off x="2313" y="335"/>
              <a:ext cx="3335" cy="637"/>
              <a:chOff x="1152" y="2923"/>
              <a:chExt cx="3335" cy="637"/>
            </a:xfrm>
          </p:grpSpPr>
          <p:sp>
            <p:nvSpPr>
              <p:cNvPr id="15" name="AutoShape 5"/>
              <p:cNvSpPr>
                <a:spLocks noChangeArrowheads="1"/>
              </p:cNvSpPr>
              <p:nvPr/>
            </p:nvSpPr>
            <p:spPr bwMode="auto">
              <a:xfrm>
                <a:off x="1152" y="2923"/>
                <a:ext cx="3335" cy="637"/>
              </a:xfrm>
              <a:prstGeom prst="roundRect">
                <a:avLst>
                  <a:gd name="adj" fmla="val 45880"/>
                </a:avLst>
              </a:prstGeom>
              <a:gradFill rotWithShape="1">
                <a:gsLst>
                  <a:gs pos="0">
                    <a:srgbClr val="595959"/>
                  </a:gs>
                  <a:gs pos="50000">
                    <a:srgbClr val="C0C0C0"/>
                  </a:gs>
                  <a:gs pos="100000">
                    <a:srgbClr val="595959"/>
                  </a:gs>
                </a:gsLst>
                <a:lin ang="5400000" scaled="1"/>
              </a:gradFill>
              <a:ln w="28575" algn="ctr">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6" name="Oval 6"/>
              <p:cNvSpPr>
                <a:spLocks noChangeArrowheads="1"/>
              </p:cNvSpPr>
              <p:nvPr/>
            </p:nvSpPr>
            <p:spPr bwMode="auto">
              <a:xfrm>
                <a:off x="4040" y="2932"/>
                <a:ext cx="447" cy="627"/>
              </a:xfrm>
              <a:prstGeom prst="ellipse">
                <a:avLst/>
              </a:prstGeom>
              <a:gradFill rotWithShape="1">
                <a:gsLst>
                  <a:gs pos="0">
                    <a:srgbClr val="C0C0C0"/>
                  </a:gs>
                  <a:gs pos="100000">
                    <a:srgbClr val="595959"/>
                  </a:gs>
                </a:gsLst>
                <a:path path="shape">
                  <a:fillToRect l="50000" t="50000" r="50000" b="50000"/>
                </a:path>
              </a:gradFill>
              <a:ln w="2857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sp>
          <p:nvSpPr>
            <p:cNvPr id="11" name="Arc 7"/>
            <p:cNvSpPr>
              <a:spLocks noChangeAspect="1"/>
            </p:cNvSpPr>
            <p:nvPr/>
          </p:nvSpPr>
          <p:spPr bwMode="auto">
            <a:xfrm rot="20546262" flipH="1">
              <a:off x="5137" y="328"/>
              <a:ext cx="453" cy="339"/>
            </a:xfrm>
            <a:custGeom>
              <a:avLst/>
              <a:gdLst>
                <a:gd name="T0" fmla="*/ 0 w 35811"/>
                <a:gd name="T1" fmla="*/ 0 h 21600"/>
                <a:gd name="T2" fmla="*/ 0 w 35811"/>
                <a:gd name="T3" fmla="*/ 0 h 21600"/>
                <a:gd name="T4" fmla="*/ 0 w 35811"/>
                <a:gd name="T5" fmla="*/ 0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 name="Text Box 8"/>
            <p:cNvSpPr txBox="1">
              <a:spLocks noChangeAspect="1" noChangeArrowheads="1"/>
            </p:cNvSpPr>
            <p:nvPr/>
          </p:nvSpPr>
          <p:spPr bwMode="auto">
            <a:xfrm>
              <a:off x="4841" y="163"/>
              <a:ext cx="49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FF0000"/>
                  </a:solidFill>
                  <a:effectLst/>
                  <a:uLnTx/>
                  <a:uFillTx/>
                  <a:latin typeface="Times New Roman" panose="02020603050405020304" pitchFamily="18" charset="0"/>
                </a:rPr>
                <a:t>M</a:t>
              </a:r>
              <a:endParaRPr kumimoji="1" lang="en-US" altLang="zh-CN" sz="28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13" name="Arc 9"/>
            <p:cNvSpPr>
              <a:spLocks noChangeAspect="1"/>
            </p:cNvSpPr>
            <p:nvPr/>
          </p:nvSpPr>
          <p:spPr bwMode="auto">
            <a:xfrm rot="20324222" flipH="1">
              <a:off x="2215" y="321"/>
              <a:ext cx="553" cy="339"/>
            </a:xfrm>
            <a:custGeom>
              <a:avLst/>
              <a:gdLst>
                <a:gd name="T0" fmla="*/ 0 w 35811"/>
                <a:gd name="T1" fmla="*/ 0 h 21600"/>
                <a:gd name="T2" fmla="*/ 0 w 35811"/>
                <a:gd name="T3" fmla="*/ 0 h 21600"/>
                <a:gd name="T4" fmla="*/ 0 w 35811"/>
                <a:gd name="T5" fmla="*/ 0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38100">
              <a:solidFill>
                <a:srgbClr val="FF0000"/>
              </a:solidFill>
              <a:round/>
              <a:headEnd type="stealth" w="med" len="lg"/>
              <a:tailEnd type="none"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4" name="Text Box 10"/>
            <p:cNvSpPr txBox="1">
              <a:spLocks noChangeAspect="1" noChangeArrowheads="1"/>
            </p:cNvSpPr>
            <p:nvPr/>
          </p:nvSpPr>
          <p:spPr bwMode="auto">
            <a:xfrm>
              <a:off x="1953" y="163"/>
              <a:ext cx="49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FF0000"/>
                  </a:solidFill>
                  <a:effectLst/>
                  <a:uLnTx/>
                  <a:uFillTx/>
                  <a:latin typeface="Times New Roman" panose="02020603050405020304" pitchFamily="18" charset="0"/>
                </a:rPr>
                <a:t>M</a:t>
              </a:r>
              <a:endParaRPr kumimoji="1" lang="en-US" altLang="zh-CN" sz="28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grpSp>
      <p:sp>
        <p:nvSpPr>
          <p:cNvPr id="17" name="Text Box 13"/>
          <p:cNvSpPr txBox="1">
            <a:spLocks noChangeAspect="1" noChangeArrowheads="1"/>
          </p:cNvSpPr>
          <p:nvPr/>
        </p:nvSpPr>
        <p:spPr bwMode="auto">
          <a:xfrm>
            <a:off x="8325674" y="4607595"/>
            <a:ext cx="6588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dirty="0" err="1">
                <a:solidFill>
                  <a:schemeClr val="accent1">
                    <a:lumMod val="60000"/>
                    <a:lumOff val="40000"/>
                  </a:schemeClr>
                </a:solidFill>
                <a:ea typeface="宋体" panose="02010600030101010101" pitchFamily="2" charset="-122"/>
              </a:rPr>
              <a:t>M</a:t>
            </a:r>
            <a:r>
              <a:rPr lang="en-US" altLang="zh-CN" sz="3200" b="0" i="0" baseline="-25000" dirty="0" err="1">
                <a:solidFill>
                  <a:schemeClr val="accent1">
                    <a:lumMod val="60000"/>
                    <a:lumOff val="40000"/>
                  </a:schemeClr>
                </a:solidFill>
                <a:ea typeface="宋体" panose="02010600030101010101" pitchFamily="2" charset="-122"/>
              </a:rPr>
              <a:t>n</a:t>
            </a:r>
            <a:endParaRPr lang="en-US" altLang="zh-CN" sz="3200" b="0" i="0" baseline="-25000" dirty="0">
              <a:solidFill>
                <a:schemeClr val="accent1">
                  <a:lumMod val="60000"/>
                  <a:lumOff val="40000"/>
                </a:schemeClr>
              </a:solidFill>
              <a:ea typeface="宋体" panose="02010600030101010101" pitchFamily="2" charset="-122"/>
            </a:endParaRPr>
          </a:p>
        </p:txBody>
      </p:sp>
      <p:grpSp>
        <p:nvGrpSpPr>
          <p:cNvPr id="18" name="Group 16"/>
          <p:cNvGrpSpPr>
            <a:grpSpLocks/>
          </p:cNvGrpSpPr>
          <p:nvPr/>
        </p:nvGrpSpPr>
        <p:grpSpPr bwMode="auto">
          <a:xfrm>
            <a:off x="8576499" y="180057"/>
            <a:ext cx="1557337" cy="3028951"/>
            <a:chOff x="4340" y="121"/>
            <a:chExt cx="981" cy="1908"/>
          </a:xfrm>
        </p:grpSpPr>
        <p:sp>
          <p:nvSpPr>
            <p:cNvPr id="19" name="AutoShape 17" descr="5%"/>
            <p:cNvSpPr>
              <a:spLocks noChangeArrowheads="1"/>
            </p:cNvSpPr>
            <p:nvPr/>
          </p:nvSpPr>
          <p:spPr bwMode="auto">
            <a:xfrm rot="16200000" flipV="1">
              <a:off x="3877" y="584"/>
              <a:ext cx="1908" cy="981"/>
            </a:xfrm>
            <a:prstGeom prst="parallelogram">
              <a:avLst>
                <a:gd name="adj" fmla="val 65858"/>
              </a:avLst>
            </a:prstGeom>
            <a:pattFill prst="pct5">
              <a:fgClr>
                <a:srgbClr val="000000"/>
              </a:fgClr>
              <a:bgClr>
                <a:srgbClr val="FFFFFF"/>
              </a:bgClr>
            </a:pattFill>
            <a:ln w="9525">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0" name="Oval 18"/>
            <p:cNvSpPr>
              <a:spLocks noChangeArrowheads="1"/>
            </p:cNvSpPr>
            <p:nvPr/>
          </p:nvSpPr>
          <p:spPr bwMode="auto">
            <a:xfrm>
              <a:off x="4644" y="749"/>
              <a:ext cx="447" cy="627"/>
            </a:xfrm>
            <a:prstGeom prst="ellipse">
              <a:avLst/>
            </a:prstGeom>
            <a:gradFill rotWithShape="1">
              <a:gsLst>
                <a:gs pos="0">
                  <a:srgbClr val="C0C0C0"/>
                </a:gs>
                <a:gs pos="100000">
                  <a:srgbClr val="595959"/>
                </a:gs>
              </a:gsLst>
              <a:path path="shape">
                <a:fillToRect l="50000" t="50000" r="50000" b="50000"/>
              </a:path>
            </a:gradFill>
            <a:ln w="2857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grpSp>
        <p:nvGrpSpPr>
          <p:cNvPr id="21" name="Group 19"/>
          <p:cNvGrpSpPr>
            <a:grpSpLocks/>
          </p:cNvGrpSpPr>
          <p:nvPr/>
        </p:nvGrpSpPr>
        <p:grpSpPr bwMode="auto">
          <a:xfrm>
            <a:off x="6099999" y="2934370"/>
            <a:ext cx="3506787" cy="1287463"/>
            <a:chOff x="1825" y="937"/>
            <a:chExt cx="2209" cy="811"/>
          </a:xfrm>
        </p:grpSpPr>
        <p:sp>
          <p:nvSpPr>
            <p:cNvPr id="22" name="Arc 20"/>
            <p:cNvSpPr>
              <a:spLocks noChangeAspect="1"/>
            </p:cNvSpPr>
            <p:nvPr/>
          </p:nvSpPr>
          <p:spPr bwMode="auto">
            <a:xfrm rot="20021841" flipH="1">
              <a:off x="2069" y="1103"/>
              <a:ext cx="553" cy="339"/>
            </a:xfrm>
            <a:custGeom>
              <a:avLst/>
              <a:gdLst>
                <a:gd name="T0" fmla="*/ 0 w 35811"/>
                <a:gd name="T1" fmla="*/ 0 h 21600"/>
                <a:gd name="T2" fmla="*/ 0 w 35811"/>
                <a:gd name="T3" fmla="*/ 0 h 21600"/>
                <a:gd name="T4" fmla="*/ 0 w 35811"/>
                <a:gd name="T5" fmla="*/ 0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38100">
              <a:solidFill>
                <a:srgbClr val="FF0000"/>
              </a:solidFill>
              <a:round/>
              <a:headEnd type="stealth" w="med" len="lg"/>
              <a:tailEnd type="none"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3" name="Text Box 21"/>
            <p:cNvSpPr txBox="1">
              <a:spLocks noChangeAspect="1" noChangeArrowheads="1"/>
            </p:cNvSpPr>
            <p:nvPr/>
          </p:nvSpPr>
          <p:spPr bwMode="auto">
            <a:xfrm>
              <a:off x="1825" y="937"/>
              <a:ext cx="49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FF0000"/>
                  </a:solidFill>
                  <a:effectLst/>
                  <a:uLnTx/>
                  <a:uFillTx/>
                  <a:latin typeface="Times New Roman" panose="02020603050405020304" pitchFamily="18" charset="0"/>
                </a:rPr>
                <a:t>M</a:t>
              </a:r>
              <a:endParaRPr kumimoji="1" lang="en-US" altLang="zh-CN" sz="28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24" name="AutoShape 22"/>
            <p:cNvSpPr>
              <a:spLocks noChangeArrowheads="1"/>
            </p:cNvSpPr>
            <p:nvPr/>
          </p:nvSpPr>
          <p:spPr bwMode="auto">
            <a:xfrm>
              <a:off x="2186" y="1111"/>
              <a:ext cx="1848" cy="637"/>
            </a:xfrm>
            <a:prstGeom prst="roundRect">
              <a:avLst>
                <a:gd name="adj" fmla="val 45880"/>
              </a:avLst>
            </a:prstGeom>
            <a:gradFill rotWithShape="1">
              <a:gsLst>
                <a:gs pos="0">
                  <a:srgbClr val="595959"/>
                </a:gs>
                <a:gs pos="50000">
                  <a:srgbClr val="C0C0C0"/>
                </a:gs>
                <a:gs pos="100000">
                  <a:srgbClr val="595959"/>
                </a:gs>
              </a:gsLst>
              <a:lin ang="5400000" scaled="1"/>
            </a:gradFill>
            <a:ln w="28575" algn="ctr">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5" name="Oval 23"/>
            <p:cNvSpPr>
              <a:spLocks noChangeArrowheads="1"/>
            </p:cNvSpPr>
            <p:nvPr/>
          </p:nvSpPr>
          <p:spPr bwMode="auto">
            <a:xfrm>
              <a:off x="3578" y="1112"/>
              <a:ext cx="447" cy="627"/>
            </a:xfrm>
            <a:prstGeom prst="ellipse">
              <a:avLst/>
            </a:prstGeom>
            <a:gradFill rotWithShape="1">
              <a:gsLst>
                <a:gs pos="0">
                  <a:srgbClr val="C0C0C0"/>
                </a:gs>
                <a:gs pos="100000">
                  <a:srgbClr val="595959"/>
                </a:gs>
              </a:gsLst>
              <a:path path="shape">
                <a:fillToRect l="50000" t="50000" r="50000" b="50000"/>
              </a:path>
            </a:gradFill>
            <a:ln w="2857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sp>
        <p:nvSpPr>
          <p:cNvPr id="26" name="Arc 24"/>
          <p:cNvSpPr>
            <a:spLocks noChangeAspect="1"/>
          </p:cNvSpPr>
          <p:nvPr/>
        </p:nvSpPr>
        <p:spPr bwMode="auto">
          <a:xfrm rot="20546262" flipH="1">
            <a:off x="8914636" y="3310608"/>
            <a:ext cx="565150" cy="423862"/>
          </a:xfrm>
          <a:custGeom>
            <a:avLst/>
            <a:gdLst>
              <a:gd name="T0" fmla="*/ 0 w 35811"/>
              <a:gd name="T1" fmla="*/ 40350873 h 21600"/>
              <a:gd name="T2" fmla="*/ 140753110 w 35811"/>
              <a:gd name="T3" fmla="*/ 158637871 h 21600"/>
              <a:gd name="T4" fmla="*/ 55887079 w 35811"/>
              <a:gd name="T5" fmla="*/ 163217148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38100">
            <a:solidFill>
              <a:schemeClr val="accent1">
                <a:lumMod val="60000"/>
                <a:lumOff val="40000"/>
              </a:schemeClr>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7" name="Text Box 25"/>
          <p:cNvSpPr txBox="1">
            <a:spLocks noChangeAspect="1" noChangeArrowheads="1"/>
          </p:cNvSpPr>
          <p:nvPr/>
        </p:nvSpPr>
        <p:spPr bwMode="auto">
          <a:xfrm>
            <a:off x="9370249" y="2969295"/>
            <a:ext cx="741362"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dirty="0" err="1">
                <a:solidFill>
                  <a:schemeClr val="accent1">
                    <a:lumMod val="60000"/>
                    <a:lumOff val="40000"/>
                  </a:schemeClr>
                </a:solidFill>
                <a:ea typeface="宋体" panose="02010600030101010101" pitchFamily="2" charset="-122"/>
              </a:rPr>
              <a:t>M</a:t>
            </a:r>
            <a:r>
              <a:rPr lang="en-US" altLang="zh-CN" sz="3200" b="0" i="0" baseline="-25000" dirty="0" err="1">
                <a:solidFill>
                  <a:schemeClr val="accent1">
                    <a:lumMod val="60000"/>
                    <a:lumOff val="40000"/>
                  </a:schemeClr>
                </a:solidFill>
                <a:ea typeface="宋体" panose="02010600030101010101" pitchFamily="2" charset="-122"/>
              </a:rPr>
              <a:t>n</a:t>
            </a:r>
            <a:endParaRPr lang="en-US" altLang="zh-CN" sz="3200" b="0" i="0" baseline="-25000" dirty="0">
              <a:solidFill>
                <a:schemeClr val="accent1">
                  <a:lumMod val="60000"/>
                  <a:lumOff val="40000"/>
                </a:schemeClr>
              </a:solidFill>
              <a:ea typeface="宋体" panose="02010600030101010101" pitchFamily="2" charset="-122"/>
            </a:endParaRPr>
          </a:p>
        </p:txBody>
      </p:sp>
      <p:grpSp>
        <p:nvGrpSpPr>
          <p:cNvPr id="28" name="Group 26"/>
          <p:cNvGrpSpPr>
            <a:grpSpLocks/>
          </p:cNvGrpSpPr>
          <p:nvPr/>
        </p:nvGrpSpPr>
        <p:grpSpPr bwMode="auto">
          <a:xfrm>
            <a:off x="6168261" y="902370"/>
            <a:ext cx="3535363" cy="1260474"/>
            <a:chOff x="1807" y="954"/>
            <a:chExt cx="2227" cy="794"/>
          </a:xfrm>
        </p:grpSpPr>
        <p:sp>
          <p:nvSpPr>
            <p:cNvPr id="29" name="Arc 27"/>
            <p:cNvSpPr>
              <a:spLocks noChangeAspect="1"/>
            </p:cNvSpPr>
            <p:nvPr/>
          </p:nvSpPr>
          <p:spPr bwMode="auto">
            <a:xfrm rot="20021841" flipH="1">
              <a:off x="2069" y="1110"/>
              <a:ext cx="553" cy="339"/>
            </a:xfrm>
            <a:custGeom>
              <a:avLst/>
              <a:gdLst>
                <a:gd name="T0" fmla="*/ 0 w 35811"/>
                <a:gd name="T1" fmla="*/ 0 h 21600"/>
                <a:gd name="T2" fmla="*/ 0 w 35811"/>
                <a:gd name="T3" fmla="*/ 0 h 21600"/>
                <a:gd name="T4" fmla="*/ 0 w 35811"/>
                <a:gd name="T5" fmla="*/ 0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38100">
              <a:solidFill>
                <a:srgbClr val="FF0000"/>
              </a:solidFill>
              <a:round/>
              <a:headEnd type="stealth" w="med" len="lg"/>
              <a:tailEnd type="none"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30" name="Text Box 28"/>
            <p:cNvSpPr txBox="1">
              <a:spLocks noChangeAspect="1" noChangeArrowheads="1"/>
            </p:cNvSpPr>
            <p:nvPr/>
          </p:nvSpPr>
          <p:spPr bwMode="auto">
            <a:xfrm>
              <a:off x="1807" y="954"/>
              <a:ext cx="49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FF0000"/>
                  </a:solidFill>
                  <a:effectLst/>
                  <a:uLnTx/>
                  <a:uFillTx/>
                  <a:latin typeface="Times New Roman" panose="02020603050405020304" pitchFamily="18" charset="0"/>
                </a:rPr>
                <a:t>M</a:t>
              </a:r>
              <a:endParaRPr kumimoji="1" lang="en-US" altLang="zh-CN" sz="28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31" name="AutoShape 29"/>
            <p:cNvSpPr>
              <a:spLocks noChangeArrowheads="1"/>
            </p:cNvSpPr>
            <p:nvPr/>
          </p:nvSpPr>
          <p:spPr bwMode="auto">
            <a:xfrm>
              <a:off x="2186" y="1111"/>
              <a:ext cx="1848" cy="637"/>
            </a:xfrm>
            <a:prstGeom prst="roundRect">
              <a:avLst>
                <a:gd name="adj" fmla="val 45880"/>
              </a:avLst>
            </a:prstGeom>
            <a:gradFill rotWithShape="1">
              <a:gsLst>
                <a:gs pos="0">
                  <a:srgbClr val="595959"/>
                </a:gs>
                <a:gs pos="50000">
                  <a:srgbClr val="C0C0C0"/>
                </a:gs>
                <a:gs pos="100000">
                  <a:srgbClr val="595959"/>
                </a:gs>
              </a:gsLst>
              <a:lin ang="5400000" scaled="1"/>
            </a:gradFill>
            <a:ln w="28575" algn="ctr">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32" name="Oval 30"/>
            <p:cNvSpPr>
              <a:spLocks noChangeArrowheads="1"/>
            </p:cNvSpPr>
            <p:nvPr/>
          </p:nvSpPr>
          <p:spPr bwMode="auto">
            <a:xfrm>
              <a:off x="3578" y="1112"/>
              <a:ext cx="447" cy="627"/>
            </a:xfrm>
            <a:prstGeom prst="ellipse">
              <a:avLst/>
            </a:prstGeom>
            <a:gradFill rotWithShape="1">
              <a:gsLst>
                <a:gs pos="0">
                  <a:srgbClr val="C0C0C0"/>
                </a:gs>
                <a:gs pos="100000">
                  <a:srgbClr val="595959"/>
                </a:gs>
              </a:gsLst>
              <a:path path="shape">
                <a:fillToRect l="50000" t="50000" r="50000" b="50000"/>
              </a:path>
            </a:gradFill>
            <a:ln w="2857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grpSp>
        <p:nvGrpSpPr>
          <p:cNvPr id="33" name="Group 34"/>
          <p:cNvGrpSpPr>
            <a:grpSpLocks/>
          </p:cNvGrpSpPr>
          <p:nvPr/>
        </p:nvGrpSpPr>
        <p:grpSpPr bwMode="auto">
          <a:xfrm>
            <a:off x="9060686" y="894433"/>
            <a:ext cx="2974975" cy="1277937"/>
            <a:chOff x="3775" y="1458"/>
            <a:chExt cx="1874" cy="805"/>
          </a:xfrm>
        </p:grpSpPr>
        <p:sp>
          <p:nvSpPr>
            <p:cNvPr id="34" name="AutoShape 35"/>
            <p:cNvSpPr>
              <a:spLocks noChangeArrowheads="1"/>
            </p:cNvSpPr>
            <p:nvPr/>
          </p:nvSpPr>
          <p:spPr bwMode="auto">
            <a:xfrm>
              <a:off x="3775" y="1626"/>
              <a:ext cx="1874" cy="637"/>
            </a:xfrm>
            <a:prstGeom prst="roundRect">
              <a:avLst>
                <a:gd name="adj" fmla="val 45880"/>
              </a:avLst>
            </a:prstGeom>
            <a:gradFill rotWithShape="1">
              <a:gsLst>
                <a:gs pos="0">
                  <a:srgbClr val="595959"/>
                </a:gs>
                <a:gs pos="50000">
                  <a:srgbClr val="C0C0C0"/>
                </a:gs>
                <a:gs pos="100000">
                  <a:srgbClr val="595959"/>
                </a:gs>
              </a:gsLst>
              <a:lin ang="5400000" scaled="1"/>
            </a:gradFill>
            <a:ln w="28575" algn="ctr">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35" name="Oval 36"/>
            <p:cNvSpPr>
              <a:spLocks noChangeArrowheads="1"/>
            </p:cNvSpPr>
            <p:nvPr/>
          </p:nvSpPr>
          <p:spPr bwMode="auto">
            <a:xfrm>
              <a:off x="5202" y="1635"/>
              <a:ext cx="447" cy="627"/>
            </a:xfrm>
            <a:prstGeom prst="ellipse">
              <a:avLst/>
            </a:prstGeom>
            <a:gradFill rotWithShape="1">
              <a:gsLst>
                <a:gs pos="0">
                  <a:srgbClr val="C0C0C0"/>
                </a:gs>
                <a:gs pos="100000">
                  <a:srgbClr val="595959"/>
                </a:gs>
              </a:gsLst>
              <a:path path="shape">
                <a:fillToRect l="50000" t="50000" r="50000" b="50000"/>
              </a:path>
            </a:gradFill>
            <a:ln w="2857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36" name="Arc 37"/>
            <p:cNvSpPr>
              <a:spLocks noChangeAspect="1"/>
            </p:cNvSpPr>
            <p:nvPr/>
          </p:nvSpPr>
          <p:spPr bwMode="auto">
            <a:xfrm rot="20546262" flipH="1">
              <a:off x="5117" y="1619"/>
              <a:ext cx="453" cy="339"/>
            </a:xfrm>
            <a:custGeom>
              <a:avLst/>
              <a:gdLst>
                <a:gd name="T0" fmla="*/ 0 w 35811"/>
                <a:gd name="T1" fmla="*/ 0 h 21600"/>
                <a:gd name="T2" fmla="*/ 0 w 35811"/>
                <a:gd name="T3" fmla="*/ 0 h 21600"/>
                <a:gd name="T4" fmla="*/ 0 w 35811"/>
                <a:gd name="T5" fmla="*/ 0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37" name="Text Box 38"/>
            <p:cNvSpPr txBox="1">
              <a:spLocks noChangeAspect="1" noChangeArrowheads="1"/>
            </p:cNvSpPr>
            <p:nvPr/>
          </p:nvSpPr>
          <p:spPr bwMode="auto">
            <a:xfrm>
              <a:off x="4836" y="1458"/>
              <a:ext cx="49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FF0000"/>
                  </a:solidFill>
                  <a:effectLst/>
                  <a:uLnTx/>
                  <a:uFillTx/>
                  <a:latin typeface="Times New Roman" panose="02020603050405020304" pitchFamily="18" charset="0"/>
                </a:rPr>
                <a:t>M</a:t>
              </a:r>
              <a:endParaRPr kumimoji="1" lang="en-US" altLang="zh-CN" sz="28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grpSp>
      <p:grpSp>
        <p:nvGrpSpPr>
          <p:cNvPr id="38" name="Group 39"/>
          <p:cNvGrpSpPr>
            <a:grpSpLocks/>
          </p:cNvGrpSpPr>
          <p:nvPr/>
        </p:nvGrpSpPr>
        <p:grpSpPr bwMode="auto">
          <a:xfrm>
            <a:off x="9059099" y="900782"/>
            <a:ext cx="2974975" cy="1292225"/>
            <a:chOff x="3775" y="1449"/>
            <a:chExt cx="1874" cy="814"/>
          </a:xfrm>
        </p:grpSpPr>
        <p:sp>
          <p:nvSpPr>
            <p:cNvPr id="39" name="AutoShape 40"/>
            <p:cNvSpPr>
              <a:spLocks noChangeArrowheads="1"/>
            </p:cNvSpPr>
            <p:nvPr/>
          </p:nvSpPr>
          <p:spPr bwMode="auto">
            <a:xfrm>
              <a:off x="3775" y="1626"/>
              <a:ext cx="1874" cy="637"/>
            </a:xfrm>
            <a:prstGeom prst="roundRect">
              <a:avLst>
                <a:gd name="adj" fmla="val 45880"/>
              </a:avLst>
            </a:prstGeom>
            <a:gradFill rotWithShape="1">
              <a:gsLst>
                <a:gs pos="0">
                  <a:srgbClr val="595959"/>
                </a:gs>
                <a:gs pos="50000">
                  <a:srgbClr val="C0C0C0"/>
                </a:gs>
                <a:gs pos="100000">
                  <a:srgbClr val="595959"/>
                </a:gs>
              </a:gsLst>
              <a:lin ang="5400000" scaled="1"/>
            </a:gradFill>
            <a:ln w="28575" algn="ctr">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40" name="Oval 41"/>
            <p:cNvSpPr>
              <a:spLocks noChangeArrowheads="1"/>
            </p:cNvSpPr>
            <p:nvPr/>
          </p:nvSpPr>
          <p:spPr bwMode="auto">
            <a:xfrm>
              <a:off x="5202" y="1635"/>
              <a:ext cx="447" cy="627"/>
            </a:xfrm>
            <a:prstGeom prst="ellipse">
              <a:avLst/>
            </a:prstGeom>
            <a:gradFill rotWithShape="1">
              <a:gsLst>
                <a:gs pos="0">
                  <a:srgbClr val="C0C0C0"/>
                </a:gs>
                <a:gs pos="100000">
                  <a:srgbClr val="595959"/>
                </a:gs>
              </a:gsLst>
              <a:path path="shape">
                <a:fillToRect l="50000" t="50000" r="50000" b="50000"/>
              </a:path>
            </a:gradFill>
            <a:ln w="2857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41" name="Arc 42"/>
            <p:cNvSpPr>
              <a:spLocks noChangeAspect="1"/>
            </p:cNvSpPr>
            <p:nvPr/>
          </p:nvSpPr>
          <p:spPr bwMode="auto">
            <a:xfrm rot="20546262" flipH="1">
              <a:off x="5138" y="1605"/>
              <a:ext cx="453" cy="339"/>
            </a:xfrm>
            <a:custGeom>
              <a:avLst/>
              <a:gdLst>
                <a:gd name="T0" fmla="*/ 0 w 35811"/>
                <a:gd name="T1" fmla="*/ 0 h 21600"/>
                <a:gd name="T2" fmla="*/ 0 w 35811"/>
                <a:gd name="T3" fmla="*/ 0 h 21600"/>
                <a:gd name="T4" fmla="*/ 0 w 35811"/>
                <a:gd name="T5" fmla="*/ 0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42" name="Text Box 43"/>
            <p:cNvSpPr txBox="1">
              <a:spLocks noChangeAspect="1" noChangeArrowheads="1"/>
            </p:cNvSpPr>
            <p:nvPr/>
          </p:nvSpPr>
          <p:spPr bwMode="auto">
            <a:xfrm>
              <a:off x="4834" y="1449"/>
              <a:ext cx="49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FF0000"/>
                  </a:solidFill>
                  <a:effectLst/>
                  <a:uLnTx/>
                  <a:uFillTx/>
                  <a:latin typeface="Times New Roman" panose="02020603050405020304" pitchFamily="18" charset="0"/>
                </a:rPr>
                <a:t>M</a:t>
              </a:r>
              <a:endParaRPr kumimoji="1" lang="en-US" altLang="zh-CN" sz="28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grpSp>
      <p:sp>
        <p:nvSpPr>
          <p:cNvPr id="43" name="Arc 14"/>
          <p:cNvSpPr>
            <a:spLocks noChangeAspect="1"/>
          </p:cNvSpPr>
          <p:nvPr/>
        </p:nvSpPr>
        <p:spPr bwMode="auto">
          <a:xfrm rot="20546262" flipH="1">
            <a:off x="9017824" y="4648870"/>
            <a:ext cx="644525" cy="461963"/>
          </a:xfrm>
          <a:custGeom>
            <a:avLst/>
            <a:gdLst>
              <a:gd name="T0" fmla="*/ 0 w 35811"/>
              <a:gd name="T1" fmla="*/ 52240019 h 21600"/>
              <a:gd name="T2" fmla="*/ 208778782 w 35811"/>
              <a:gd name="T3" fmla="*/ 205378495 h 21600"/>
              <a:gd name="T4" fmla="*/ 82896955 w 35811"/>
              <a:gd name="T5" fmla="*/ 211307018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38100">
            <a:solidFill>
              <a:schemeClr val="accent1">
                <a:lumMod val="60000"/>
                <a:lumOff val="40000"/>
              </a:schemeClr>
            </a:solidFill>
            <a:prstDash val="dash"/>
            <a:round/>
            <a:headEnd type="stealth" w="med" len="lg"/>
            <a:tailEnd type="none"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Tree>
    <p:extLst>
      <p:ext uri="{BB962C8B-B14F-4D97-AF65-F5344CB8AC3E}">
        <p14:creationId xmlns:p14="http://schemas.microsoft.com/office/powerpoint/2010/main" val="417170643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6"/>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7" presetClass="entr" presetSubtype="10"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anim calcmode="lin" valueType="num">
                                      <p:cBhvr>
                                        <p:cTn id="18" dur="5000" fill="hold"/>
                                        <p:tgtEl>
                                          <p:spTgt spid="18"/>
                                        </p:tgtEl>
                                        <p:attrNameLst>
                                          <p:attrName>ppt_w</p:attrName>
                                        </p:attrNameLst>
                                      </p:cBhvr>
                                      <p:tavLst>
                                        <p:tav tm="0">
                                          <p:val>
                                            <p:fltVal val="0"/>
                                          </p:val>
                                        </p:tav>
                                        <p:tav tm="100000">
                                          <p:val>
                                            <p:strVal val="#ppt_w"/>
                                          </p:val>
                                        </p:tav>
                                      </p:tavLst>
                                    </p:anim>
                                    <p:anim calcmode="lin" valueType="num">
                                      <p:cBhvr>
                                        <p:cTn id="19" dur="5000" fill="hold"/>
                                        <p:tgtEl>
                                          <p:spTgt spid="18"/>
                                        </p:tgtEl>
                                        <p:attrNameLst>
                                          <p:attrName>ppt_h</p:attrName>
                                        </p:attrNameLst>
                                      </p:cBhvr>
                                      <p:tavLst>
                                        <p:tav tm="0">
                                          <p:val>
                                            <p:strVal val="#ppt_h"/>
                                          </p:val>
                                        </p:tav>
                                        <p:tav tm="100000">
                                          <p:val>
                                            <p:strVal val="#ppt_h"/>
                                          </p:val>
                                        </p:tav>
                                      </p:tavLst>
                                    </p:anim>
                                  </p:childTnLst>
                                </p:cTn>
                              </p:par>
                              <p:par>
                                <p:cTn id="20" presetID="1" presetClass="entr" presetSubtype="0" fill="hold" nodeType="withEffect">
                                  <p:stCondLst>
                                    <p:cond delay="0"/>
                                  </p:stCondLst>
                                  <p:childTnLst>
                                    <p:set>
                                      <p:cBhvr>
                                        <p:cTn id="21" dur="1" fill="hold">
                                          <p:stCondLst>
                                            <p:cond delay="0"/>
                                          </p:stCondLst>
                                        </p:cTn>
                                        <p:tgtEl>
                                          <p:spTgt spid="38"/>
                                        </p:tgtEl>
                                        <p:attrNameLst>
                                          <p:attrName>style.visibility</p:attrName>
                                        </p:attrNameLst>
                                      </p:cBhvr>
                                      <p:to>
                                        <p:strVal val="visible"/>
                                      </p:to>
                                    </p:set>
                                  </p:childTnLst>
                                </p:cTn>
                              </p:par>
                              <p:par>
                                <p:cTn id="22" presetID="9" presetClass="emph" presetSubtype="0" nodeType="withEffect">
                                  <p:stCondLst>
                                    <p:cond delay="0"/>
                                  </p:stCondLst>
                                  <p:childTnLst>
                                    <p:set>
                                      <p:cBhvr rctx="PPT">
                                        <p:cTn id="23" dur="indefinite"/>
                                        <p:tgtEl>
                                          <p:spTgt spid="18"/>
                                        </p:tgtEl>
                                        <p:attrNameLst>
                                          <p:attrName>style.opacity</p:attrName>
                                        </p:attrNameLst>
                                      </p:cBhvr>
                                      <p:to>
                                        <p:strVal val="0.5"/>
                                      </p:to>
                                    </p:set>
                                    <p:animEffect filter="image" prLst="opacity: 0.5">
                                      <p:cBhvr rctx="IE">
                                        <p:cTn id="24" dur="indefinite"/>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par>
                          <p:cTn id="29" fill="hold">
                            <p:stCondLst>
                              <p:cond delay="0"/>
                            </p:stCondLst>
                            <p:childTnLst>
                              <p:par>
                                <p:cTn id="30" presetID="35" presetClass="emph" presetSubtype="0" repeatCount="3000" fill="hold" nodeType="afterEffect">
                                  <p:stCondLst>
                                    <p:cond delay="0"/>
                                  </p:stCondLst>
                                  <p:childTnLst>
                                    <p:anim calcmode="discrete" valueType="str">
                                      <p:cBhvr>
                                        <p:cTn id="31" dur="2000" fill="hold"/>
                                        <p:tgtEl>
                                          <p:spTgt spid="28"/>
                                        </p:tgtEl>
                                        <p:attrNameLst>
                                          <p:attrName>style.visibility</p:attrName>
                                        </p:attrNameLst>
                                      </p:cBhvr>
                                      <p:tavLst>
                                        <p:tav tm="0">
                                          <p:val>
                                            <p:strVal val="hidden"/>
                                          </p:val>
                                        </p:tav>
                                        <p:tav tm="50000">
                                          <p:val>
                                            <p:strVal val="visible"/>
                                          </p:val>
                                        </p:tav>
                                      </p:tavLst>
                                    </p:anim>
                                  </p:childTnLst>
                                </p:cTn>
                              </p:par>
                            </p:childTnLst>
                          </p:cTn>
                        </p:par>
                        <p:par>
                          <p:cTn id="32" fill="hold">
                            <p:stCondLst>
                              <p:cond delay="6000"/>
                            </p:stCondLst>
                            <p:childTnLst>
                              <p:par>
                                <p:cTn id="33" presetID="42" presetClass="path" presetSubtype="0" accel="50000" decel="50000" fill="hold" nodeType="afterEffect">
                                  <p:stCondLst>
                                    <p:cond delay="0"/>
                                  </p:stCondLst>
                                  <p:childTnLst>
                                    <p:animMotion origin="layout" path="M -2.77778E-6 2.86772E-7 L -0.01059 0.29926 " pathEditMode="relative" rAng="0" ptsTypes="AA">
                                      <p:cBhvr>
                                        <p:cTn id="34" dur="5000" fill="hold"/>
                                        <p:tgtEl>
                                          <p:spTgt spid="28"/>
                                        </p:tgtEl>
                                        <p:attrNameLst>
                                          <p:attrName>ppt_x</p:attrName>
                                          <p:attrName>ppt_y</p:attrName>
                                        </p:attrNameLst>
                                      </p:cBhvr>
                                      <p:rCtr x="-538" y="14963"/>
                                    </p:animMotion>
                                  </p:childTnLst>
                                </p:cTn>
                              </p:par>
                            </p:childTnLst>
                          </p:cTn>
                        </p:par>
                        <p:par>
                          <p:cTn id="35" fill="hold">
                            <p:stCondLst>
                              <p:cond delay="11000"/>
                            </p:stCondLst>
                            <p:childTnLst>
                              <p:par>
                                <p:cTn id="36" presetID="1" presetClass="exit" presetSubtype="0" fill="hold" nodeType="afterEffect">
                                  <p:stCondLst>
                                    <p:cond delay="0"/>
                                  </p:stCondLst>
                                  <p:childTnLst>
                                    <p:set>
                                      <p:cBhvr>
                                        <p:cTn id="37" dur="1" fill="hold">
                                          <p:stCondLst>
                                            <p:cond delay="0"/>
                                          </p:stCondLst>
                                        </p:cTn>
                                        <p:tgtEl>
                                          <p:spTgt spid="28"/>
                                        </p:tgtEl>
                                        <p:attrNameLst>
                                          <p:attrName>style.visibility</p:attrName>
                                        </p:attrNameLst>
                                      </p:cBhvr>
                                      <p:to>
                                        <p:strVal val="hidden"/>
                                      </p:to>
                                    </p:set>
                                  </p:childTnLst>
                                </p:cTn>
                              </p:par>
                              <p:par>
                                <p:cTn id="38" presetID="1"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35" presetClass="emph" presetSubtype="0" repeatCount="3000" fill="hold" nodeType="clickEffect">
                                  <p:stCondLst>
                                    <p:cond delay="0"/>
                                  </p:stCondLst>
                                  <p:childTnLst>
                                    <p:anim calcmode="discrete" valueType="str">
                                      <p:cBhvr>
                                        <p:cTn id="43" dur="2000" fill="hold"/>
                                        <p:tgtEl>
                                          <p:spTgt spid="38"/>
                                        </p:tgtEl>
                                        <p:attrNameLst>
                                          <p:attrName>style.visibility</p:attrName>
                                        </p:attrNameLst>
                                      </p:cBhvr>
                                      <p:tavLst>
                                        <p:tav tm="0">
                                          <p:val>
                                            <p:strVal val="hidden"/>
                                          </p:val>
                                        </p:tav>
                                        <p:tav tm="50000">
                                          <p:val>
                                            <p:strVal val="visible"/>
                                          </p:val>
                                        </p:tav>
                                      </p:tavLst>
                                    </p:anim>
                                  </p:childTnLst>
                                </p:cTn>
                              </p:par>
                            </p:childTnLst>
                          </p:cTn>
                        </p:par>
                        <p:par>
                          <p:cTn id="44" fill="hold">
                            <p:stCondLst>
                              <p:cond delay="6000"/>
                            </p:stCondLst>
                            <p:childTnLst>
                              <p:par>
                                <p:cTn id="45" presetID="42" presetClass="path" presetSubtype="0" accel="50000" decel="50000" fill="hold" nodeType="afterEffect">
                                  <p:stCondLst>
                                    <p:cond delay="0"/>
                                  </p:stCondLst>
                                  <p:childTnLst>
                                    <p:animMotion origin="layout" path="M -3.05556E-6 -2.24792E-6 L -0.00885 0.48636 " pathEditMode="relative" rAng="0" ptsTypes="AA">
                                      <p:cBhvr>
                                        <p:cTn id="46" dur="5000" fill="hold"/>
                                        <p:tgtEl>
                                          <p:spTgt spid="38"/>
                                        </p:tgtEl>
                                        <p:attrNameLst>
                                          <p:attrName>ppt_x</p:attrName>
                                          <p:attrName>ppt_y</p:attrName>
                                        </p:attrNameLst>
                                      </p:cBhvr>
                                      <p:rCtr x="-451" y="24306"/>
                                    </p:animMotion>
                                  </p:childTnLst>
                                </p:cTn>
                              </p:par>
                              <p:par>
                                <p:cTn id="47" presetID="1" presetClass="entr" presetSubtype="0" fill="hold"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grpId="0" nodeType="click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wipe(right)">
                                      <p:cBhvr>
                                        <p:cTn id="53" dur="5000"/>
                                        <p:tgtEl>
                                          <p:spTgt spid="26"/>
                                        </p:tgtEl>
                                      </p:cBhvr>
                                    </p:animEffect>
                                  </p:childTnLst>
                                  <p:subTnLst>
                                    <p:audio>
                                      <p:cMediaNode>
                                        <p:cTn display="0" masterRel="sameClick">
                                          <p:stCondLst>
                                            <p:cond evt="begin" delay="0">
                                              <p:tn val="51"/>
                                            </p:cond>
                                          </p:stCondLst>
                                          <p:endCondLst>
                                            <p:cond evt="onStopAudio" delay="0">
                                              <p:tgtEl>
                                                <p:sldTgt/>
                                              </p:tgtEl>
                                            </p:cond>
                                          </p:endCondLst>
                                        </p:cTn>
                                        <p:tgtEl>
                                          <p:sndTgt r:embed="rId3" name="CHIMES.WAV"/>
                                        </p:tgtEl>
                                      </p:cMediaNode>
                                    </p:audio>
                                  </p:subTnLst>
                                </p:cTn>
                              </p:par>
                            </p:childTnLst>
                          </p:cTn>
                        </p:par>
                        <p:par>
                          <p:cTn id="54" fill="hold">
                            <p:stCondLst>
                              <p:cond delay="5000"/>
                            </p:stCondLst>
                            <p:childTnLst>
                              <p:par>
                                <p:cTn id="55" presetID="19" presetClass="entr" presetSubtype="10" fill="hold" grpId="0" nodeType="afterEffect">
                                  <p:stCondLst>
                                    <p:cond delay="1000"/>
                                  </p:stCondLst>
                                  <p:childTnLst>
                                    <p:set>
                                      <p:cBhvr>
                                        <p:cTn id="56" dur="1" fill="hold">
                                          <p:stCondLst>
                                            <p:cond delay="0"/>
                                          </p:stCondLst>
                                        </p:cTn>
                                        <p:tgtEl>
                                          <p:spTgt spid="27"/>
                                        </p:tgtEl>
                                        <p:attrNameLst>
                                          <p:attrName>style.visibility</p:attrName>
                                        </p:attrNameLst>
                                      </p:cBhvr>
                                      <p:to>
                                        <p:strVal val="visible"/>
                                      </p:to>
                                    </p:set>
                                    <p:anim calcmode="lin" valueType="num">
                                      <p:cBhvr>
                                        <p:cTn id="57" dur="5000" fill="hold"/>
                                        <p:tgtEl>
                                          <p:spTgt spid="27"/>
                                        </p:tgtEl>
                                        <p:attrNameLst>
                                          <p:attrName>ppt_w</p:attrName>
                                        </p:attrNameLst>
                                      </p:cBhvr>
                                      <p:tavLst>
                                        <p:tav tm="0" fmla="#ppt_w*sin(2.5*pi*$)">
                                          <p:val>
                                            <p:fltVal val="0"/>
                                          </p:val>
                                        </p:tav>
                                        <p:tav tm="100000">
                                          <p:val>
                                            <p:fltVal val="1"/>
                                          </p:val>
                                        </p:tav>
                                      </p:tavLst>
                                    </p:anim>
                                    <p:anim calcmode="lin" valueType="num">
                                      <p:cBhvr>
                                        <p:cTn id="58" dur="5000" fill="hold"/>
                                        <p:tgtEl>
                                          <p:spTgt spid="2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5"/>
                                            </p:cond>
                                          </p:stCondLst>
                                          <p:endCondLst>
                                            <p:cond evt="onStopAudio" delay="0">
                                              <p:tgtEl>
                                                <p:sldTgt/>
                                              </p:tgtEl>
                                            </p:cond>
                                          </p:endCondLst>
                                        </p:cTn>
                                        <p:tgtEl>
                                          <p:sndTgt r:embed="rId3" name="CHIMES.WAV"/>
                                        </p:tgtEl>
                                      </p:cMediaNode>
                                    </p:audio>
                                  </p:subTnLst>
                                </p:cTn>
                              </p:par>
                            </p:childTnLst>
                          </p:cTn>
                        </p:par>
                        <p:par>
                          <p:cTn id="59" fill="hold">
                            <p:stCondLst>
                              <p:cond delay="11000"/>
                            </p:stCondLst>
                            <p:childTnLst>
                              <p:par>
                                <p:cTn id="60" presetID="22" presetClass="entr" presetSubtype="4" fill="hold" grpId="0" nodeType="after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wipe(down)">
                                      <p:cBhvr>
                                        <p:cTn id="62" dur="5000"/>
                                        <p:tgtEl>
                                          <p:spTgt spid="43"/>
                                        </p:tgtEl>
                                      </p:cBhvr>
                                    </p:animEffect>
                                  </p:childTnLst>
                                  <p:subTnLst>
                                    <p:audio>
                                      <p:cMediaNode>
                                        <p:cTn display="0" masterRel="sameClick">
                                          <p:stCondLst>
                                            <p:cond evt="begin" delay="0">
                                              <p:tn val="60"/>
                                            </p:cond>
                                          </p:stCondLst>
                                          <p:endCondLst>
                                            <p:cond evt="onStopAudio" delay="0">
                                              <p:tgtEl>
                                                <p:sldTgt/>
                                              </p:tgtEl>
                                            </p:cond>
                                          </p:endCondLst>
                                        </p:cTn>
                                        <p:tgtEl>
                                          <p:sndTgt r:embed="rId3" name="CHIMES.WAV"/>
                                        </p:tgtEl>
                                      </p:cMediaNode>
                                    </p:audio>
                                  </p:subTnLst>
                                </p:cTn>
                              </p:par>
                            </p:childTnLst>
                          </p:cTn>
                        </p:par>
                        <p:par>
                          <p:cTn id="63" fill="hold">
                            <p:stCondLst>
                              <p:cond delay="16000"/>
                            </p:stCondLst>
                            <p:childTnLst>
                              <p:par>
                                <p:cTn id="64" presetID="19" presetClass="entr" presetSubtype="10" fill="hold" grpId="0" nodeType="afterEffect">
                                  <p:stCondLst>
                                    <p:cond delay="0"/>
                                  </p:stCondLst>
                                  <p:childTnLst>
                                    <p:set>
                                      <p:cBhvr>
                                        <p:cTn id="65" dur="1" fill="hold">
                                          <p:stCondLst>
                                            <p:cond delay="0"/>
                                          </p:stCondLst>
                                        </p:cTn>
                                        <p:tgtEl>
                                          <p:spTgt spid="17"/>
                                        </p:tgtEl>
                                        <p:attrNameLst>
                                          <p:attrName>style.visibility</p:attrName>
                                        </p:attrNameLst>
                                      </p:cBhvr>
                                      <p:to>
                                        <p:strVal val="visible"/>
                                      </p:to>
                                    </p:set>
                                    <p:anim calcmode="lin" valueType="num">
                                      <p:cBhvr>
                                        <p:cTn id="66" dur="5000" fill="hold"/>
                                        <p:tgtEl>
                                          <p:spTgt spid="17"/>
                                        </p:tgtEl>
                                        <p:attrNameLst>
                                          <p:attrName>ppt_w</p:attrName>
                                        </p:attrNameLst>
                                      </p:cBhvr>
                                      <p:tavLst>
                                        <p:tav tm="0" fmla="#ppt_w*sin(2.5*pi*$)">
                                          <p:val>
                                            <p:fltVal val="0"/>
                                          </p:val>
                                        </p:tav>
                                        <p:tav tm="100000">
                                          <p:val>
                                            <p:fltVal val="1"/>
                                          </p:val>
                                        </p:tav>
                                      </p:tavLst>
                                    </p:anim>
                                    <p:anim calcmode="lin" valueType="num">
                                      <p:cBhvr>
                                        <p:cTn id="67" dur="5000" fill="hold"/>
                                        <p:tgtEl>
                                          <p:spTgt spid="1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4"/>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6" grpId="0" autoUpdateAnimBg="0"/>
      <p:bldP spid="17" grpId="0" autoUpdateAnimBg="0"/>
      <p:bldP spid="26" grpId="0" animBg="1"/>
      <p:bldP spid="27" grpId="0" autoUpdateAnimBg="0"/>
      <p:bldP spid="4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9" name="Rectangle 61"/>
          <p:cNvSpPr>
            <a:spLocks noChangeArrowheads="1"/>
          </p:cNvSpPr>
          <p:nvPr/>
        </p:nvSpPr>
        <p:spPr bwMode="auto">
          <a:xfrm>
            <a:off x="1703512" y="2552247"/>
            <a:ext cx="8756079" cy="3685065"/>
          </a:xfrm>
          <a:prstGeom prst="rect">
            <a:avLst/>
          </a:prstGeom>
          <a:solidFill>
            <a:srgbClr val="B9CDE5"/>
          </a:solidFill>
          <a:ln>
            <a:noFill/>
          </a:ln>
          <a:effectLst/>
        </p:spPr>
        <p:txBody>
          <a:bodyPr wrap="none" anchor="ctr"/>
          <a:lstStyle/>
          <a:p>
            <a:endParaRPr lang="zh-CN" altLang="en-US" b="0" dirty="0"/>
          </a:p>
        </p:txBody>
      </p:sp>
      <p:sp>
        <p:nvSpPr>
          <p:cNvPr id="46" name="Text Box 1032"/>
          <p:cNvSpPr txBox="1">
            <a:spLocks noChangeArrowheads="1"/>
          </p:cNvSpPr>
          <p:nvPr/>
        </p:nvSpPr>
        <p:spPr bwMode="auto">
          <a:xfrm>
            <a:off x="119336" y="908720"/>
            <a:ext cx="11305255"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zh-CN" altLang="en-US" sz="2800" i="0" dirty="0">
                <a:latin typeface="+mj-lt"/>
                <a:ea typeface="微软雅黑" panose="020B0503020204020204" pitchFamily="34" charset="-122"/>
              </a:rPr>
              <a:t>为使上述两种算法所得同一横截面处扭矩的正负号相同，特作如下规定：采用</a:t>
            </a:r>
            <a:r>
              <a:rPr kumimoji="1" lang="zh-CN" altLang="en-US" sz="2800" i="0" dirty="0">
                <a:solidFill>
                  <a:srgbClr val="FF00FF"/>
                </a:solidFill>
                <a:latin typeface="+mj-lt"/>
                <a:ea typeface="微软雅黑" panose="020B0503020204020204" pitchFamily="34" charset="-122"/>
              </a:rPr>
              <a:t>右手螺旋法则</a:t>
            </a:r>
            <a:r>
              <a:rPr kumimoji="1" lang="zh-CN" altLang="en-US" sz="2800" i="0" dirty="0">
                <a:latin typeface="+mj-lt"/>
                <a:ea typeface="微软雅黑" panose="020B0503020204020204" pitchFamily="34" charset="-122"/>
              </a:rPr>
              <a:t>，拇指指向外法线方向。扭矩的转向与四指的握向一致时为正；反之为负。</a:t>
            </a:r>
            <a:endParaRPr lang="zh-CN" altLang="en-US" sz="2800" i="0" dirty="0">
              <a:solidFill>
                <a:srgbClr val="FF00FF"/>
              </a:solidFill>
              <a:latin typeface="+mj-lt"/>
              <a:ea typeface="微软雅黑" panose="020B0503020204020204" pitchFamily="34" charset="-122"/>
            </a:endParaRPr>
          </a:p>
        </p:txBody>
      </p:sp>
      <p:grpSp>
        <p:nvGrpSpPr>
          <p:cNvPr id="44" name="Group 21"/>
          <p:cNvGrpSpPr>
            <a:grpSpLocks/>
          </p:cNvGrpSpPr>
          <p:nvPr/>
        </p:nvGrpSpPr>
        <p:grpSpPr bwMode="auto">
          <a:xfrm>
            <a:off x="1989956" y="2749550"/>
            <a:ext cx="4659312" cy="1287463"/>
            <a:chOff x="428" y="1419"/>
            <a:chExt cx="2935" cy="811"/>
          </a:xfrm>
        </p:grpSpPr>
        <p:grpSp>
          <p:nvGrpSpPr>
            <p:cNvPr id="45" name="Group 8"/>
            <p:cNvGrpSpPr>
              <a:grpSpLocks/>
            </p:cNvGrpSpPr>
            <p:nvPr/>
          </p:nvGrpSpPr>
          <p:grpSpPr bwMode="auto">
            <a:xfrm>
              <a:off x="428" y="1419"/>
              <a:ext cx="2209" cy="811"/>
              <a:chOff x="1825" y="937"/>
              <a:chExt cx="2209" cy="811"/>
            </a:xfrm>
          </p:grpSpPr>
          <p:sp>
            <p:nvSpPr>
              <p:cNvPr id="49" name="Arc 9"/>
              <p:cNvSpPr>
                <a:spLocks noChangeAspect="1"/>
              </p:cNvSpPr>
              <p:nvPr/>
            </p:nvSpPr>
            <p:spPr bwMode="auto">
              <a:xfrm rot="20021841" flipH="1">
                <a:off x="2069" y="1103"/>
                <a:ext cx="553" cy="339"/>
              </a:xfrm>
              <a:custGeom>
                <a:avLst/>
                <a:gdLst>
                  <a:gd name="T0" fmla="*/ 0 w 35811"/>
                  <a:gd name="T1" fmla="*/ 0 h 21600"/>
                  <a:gd name="T2" fmla="*/ 0 w 35811"/>
                  <a:gd name="T3" fmla="*/ 0 h 21600"/>
                  <a:gd name="T4" fmla="*/ 0 w 35811"/>
                  <a:gd name="T5" fmla="*/ 0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38100">
                <a:solidFill>
                  <a:srgbClr val="FF0000"/>
                </a:solidFill>
                <a:round/>
                <a:headEnd type="stealth" w="med" len="lg"/>
                <a:tailEnd type="none"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50" name="Text Box 10"/>
              <p:cNvSpPr txBox="1">
                <a:spLocks noChangeAspect="1" noChangeArrowheads="1"/>
              </p:cNvSpPr>
              <p:nvPr/>
            </p:nvSpPr>
            <p:spPr bwMode="auto">
              <a:xfrm>
                <a:off x="1825" y="937"/>
                <a:ext cx="49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FF0000"/>
                    </a:solidFill>
                    <a:effectLst/>
                    <a:uLnTx/>
                    <a:uFillTx/>
                    <a:latin typeface="Times New Roman" panose="02020603050405020304" pitchFamily="18" charset="0"/>
                  </a:rPr>
                  <a:t>M</a:t>
                </a:r>
                <a:endParaRPr kumimoji="1" lang="en-US" altLang="zh-CN" sz="32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51" name="AutoShape 11"/>
              <p:cNvSpPr>
                <a:spLocks noChangeArrowheads="1"/>
              </p:cNvSpPr>
              <p:nvPr/>
            </p:nvSpPr>
            <p:spPr bwMode="auto">
              <a:xfrm>
                <a:off x="2186" y="1111"/>
                <a:ext cx="1848" cy="637"/>
              </a:xfrm>
              <a:prstGeom prst="roundRect">
                <a:avLst>
                  <a:gd name="adj" fmla="val 45880"/>
                </a:avLst>
              </a:prstGeom>
              <a:gradFill rotWithShape="1">
                <a:gsLst>
                  <a:gs pos="0">
                    <a:srgbClr val="595959"/>
                  </a:gs>
                  <a:gs pos="50000">
                    <a:srgbClr val="C0C0C0"/>
                  </a:gs>
                  <a:gs pos="100000">
                    <a:srgbClr val="595959"/>
                  </a:gs>
                </a:gsLst>
                <a:lin ang="5400000" scaled="1"/>
              </a:gradFill>
              <a:ln w="28575" algn="ctr">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52" name="Oval 12"/>
              <p:cNvSpPr>
                <a:spLocks noChangeArrowheads="1"/>
              </p:cNvSpPr>
              <p:nvPr/>
            </p:nvSpPr>
            <p:spPr bwMode="auto">
              <a:xfrm>
                <a:off x="3578" y="1112"/>
                <a:ext cx="447" cy="627"/>
              </a:xfrm>
              <a:prstGeom prst="ellipse">
                <a:avLst/>
              </a:prstGeom>
              <a:gradFill rotWithShape="1">
                <a:gsLst>
                  <a:gs pos="0">
                    <a:srgbClr val="C0C0C0"/>
                  </a:gs>
                  <a:gs pos="100000">
                    <a:srgbClr val="595959"/>
                  </a:gs>
                </a:gsLst>
                <a:path path="shape">
                  <a:fillToRect l="50000" t="50000" r="50000" b="50000"/>
                </a:path>
              </a:gradFill>
              <a:ln w="2857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sp>
          <p:nvSpPr>
            <p:cNvPr id="47" name="Line 17"/>
            <p:cNvSpPr>
              <a:spLocks noChangeShapeType="1"/>
            </p:cNvSpPr>
            <p:nvPr/>
          </p:nvSpPr>
          <p:spPr bwMode="auto">
            <a:xfrm>
              <a:off x="966" y="1913"/>
              <a:ext cx="2287" cy="0"/>
            </a:xfrm>
            <a:prstGeom prst="line">
              <a:avLst/>
            </a:prstGeom>
            <a:noFill/>
            <a:ln w="9525">
              <a:solidFill>
                <a:srgbClr val="FF33CC"/>
              </a:solidFill>
              <a:prstDash val="lgDashDot"/>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48" name="Text Box 18"/>
            <p:cNvSpPr txBox="1">
              <a:spLocks noChangeAspect="1" noChangeArrowheads="1"/>
            </p:cNvSpPr>
            <p:nvPr/>
          </p:nvSpPr>
          <p:spPr bwMode="auto">
            <a:xfrm>
              <a:off x="3048" y="1831"/>
              <a:ext cx="31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33CC"/>
                  </a:solidFill>
                  <a:effectLst/>
                  <a:uLnTx/>
                  <a:uFillTx/>
                  <a:latin typeface="Times New Roman" panose="02020603050405020304" pitchFamily="18" charset="0"/>
                  <a:ea typeface="宋体" panose="02010600030101010101" pitchFamily="2" charset="-122"/>
                </a:rPr>
                <a:t>x</a:t>
              </a:r>
              <a:endParaRPr kumimoji="1" lang="en-US" altLang="zh-CN" sz="2400" b="0" u="none" strike="noStrike" kern="0" cap="none" spc="0" normalizeH="0" baseline="-25000" noProof="0" dirty="0">
                <a:ln>
                  <a:noFill/>
                </a:ln>
                <a:solidFill>
                  <a:srgbClr val="FF33CC"/>
                </a:solidFill>
                <a:effectLst/>
                <a:uLnTx/>
                <a:uFillTx/>
                <a:latin typeface="Times New Roman" panose="02020603050405020304" pitchFamily="18" charset="0"/>
                <a:ea typeface="宋体" panose="02010600030101010101" pitchFamily="2" charset="-122"/>
              </a:endParaRPr>
            </a:p>
          </p:txBody>
        </p:sp>
      </p:grpSp>
      <p:sp>
        <p:nvSpPr>
          <p:cNvPr id="53" name="Arc 13"/>
          <p:cNvSpPr>
            <a:spLocks noChangeAspect="1"/>
          </p:cNvSpPr>
          <p:nvPr/>
        </p:nvSpPr>
        <p:spPr bwMode="auto">
          <a:xfrm rot="20546262" flipH="1">
            <a:off x="4807768" y="3109913"/>
            <a:ext cx="565150" cy="538162"/>
          </a:xfrm>
          <a:custGeom>
            <a:avLst/>
            <a:gdLst>
              <a:gd name="T0" fmla="*/ 0 w 35811"/>
              <a:gd name="T1" fmla="*/ 82588628 h 21600"/>
              <a:gd name="T2" fmla="*/ 140753110 w 35811"/>
              <a:gd name="T3" fmla="*/ 324693248 h 21600"/>
              <a:gd name="T4" fmla="*/ 55887079 w 35811"/>
              <a:gd name="T5" fmla="*/ 334065436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38100">
            <a:solidFill>
              <a:schemeClr val="accent1">
                <a:lumMod val="60000"/>
                <a:lumOff val="40000"/>
              </a:schemeClr>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54" name="Text Box 14"/>
          <p:cNvSpPr txBox="1">
            <a:spLocks noChangeAspect="1" noChangeArrowheads="1"/>
          </p:cNvSpPr>
          <p:nvPr/>
        </p:nvSpPr>
        <p:spPr bwMode="auto">
          <a:xfrm>
            <a:off x="4776018" y="2516188"/>
            <a:ext cx="822325"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dirty="0" err="1">
                <a:solidFill>
                  <a:schemeClr val="accent1">
                    <a:lumMod val="60000"/>
                    <a:lumOff val="40000"/>
                  </a:schemeClr>
                </a:solidFill>
                <a:ea typeface="宋体" panose="02010600030101010101" pitchFamily="2" charset="-122"/>
              </a:rPr>
              <a:t>M</a:t>
            </a:r>
            <a:r>
              <a:rPr lang="en-US" altLang="zh-CN" sz="3200" b="0" i="0" baseline="-25000" dirty="0" err="1">
                <a:solidFill>
                  <a:schemeClr val="accent1">
                    <a:lumMod val="60000"/>
                    <a:lumOff val="40000"/>
                  </a:schemeClr>
                </a:solidFill>
                <a:ea typeface="宋体" panose="02010600030101010101" pitchFamily="2" charset="-122"/>
              </a:rPr>
              <a:t>n</a:t>
            </a:r>
            <a:endParaRPr lang="en-US" altLang="zh-CN" sz="3200" b="0" i="0" baseline="-25000" dirty="0">
              <a:solidFill>
                <a:schemeClr val="accent1">
                  <a:lumMod val="60000"/>
                  <a:lumOff val="40000"/>
                </a:schemeClr>
              </a:solidFill>
              <a:ea typeface="宋体" panose="02010600030101010101" pitchFamily="2" charset="-122"/>
            </a:endParaRPr>
          </a:p>
        </p:txBody>
      </p:sp>
      <p:sp>
        <p:nvSpPr>
          <p:cNvPr id="55" name="Line 19"/>
          <p:cNvSpPr>
            <a:spLocks noChangeShapeType="1"/>
          </p:cNvSpPr>
          <p:nvPr/>
        </p:nvSpPr>
        <p:spPr bwMode="auto">
          <a:xfrm>
            <a:off x="5157018" y="3536950"/>
            <a:ext cx="727075" cy="0"/>
          </a:xfrm>
          <a:prstGeom prst="line">
            <a:avLst/>
          </a:prstGeom>
          <a:noFill/>
          <a:ln w="28575">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56" name="Text Box 20"/>
          <p:cNvSpPr txBox="1">
            <a:spLocks noChangeAspect="1" noChangeArrowheads="1"/>
          </p:cNvSpPr>
          <p:nvPr/>
        </p:nvSpPr>
        <p:spPr bwMode="auto">
          <a:xfrm>
            <a:off x="5544368" y="3043238"/>
            <a:ext cx="500063"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dirty="0">
                <a:ea typeface="宋体" panose="02010600030101010101" pitchFamily="2" charset="-122"/>
              </a:rPr>
              <a:t>n</a:t>
            </a:r>
            <a:endParaRPr lang="en-US" altLang="zh-CN" sz="3200" b="0" i="0" baseline="-25000" dirty="0">
              <a:ea typeface="宋体" panose="02010600030101010101" pitchFamily="2" charset="-122"/>
            </a:endParaRPr>
          </a:p>
        </p:txBody>
      </p:sp>
      <p:grpSp>
        <p:nvGrpSpPr>
          <p:cNvPr id="57" name="Group 35"/>
          <p:cNvGrpSpPr>
            <a:grpSpLocks/>
          </p:cNvGrpSpPr>
          <p:nvPr/>
        </p:nvGrpSpPr>
        <p:grpSpPr bwMode="auto">
          <a:xfrm>
            <a:off x="5276081" y="4824413"/>
            <a:ext cx="4140200" cy="1284287"/>
            <a:chOff x="2955" y="2489"/>
            <a:chExt cx="2608" cy="809"/>
          </a:xfrm>
        </p:grpSpPr>
        <p:grpSp>
          <p:nvGrpSpPr>
            <p:cNvPr id="58" name="Group 22"/>
            <p:cNvGrpSpPr>
              <a:grpSpLocks/>
            </p:cNvGrpSpPr>
            <p:nvPr/>
          </p:nvGrpSpPr>
          <p:grpSpPr bwMode="auto">
            <a:xfrm>
              <a:off x="3689" y="2489"/>
              <a:ext cx="1874" cy="809"/>
              <a:chOff x="3775" y="1454"/>
              <a:chExt cx="1874" cy="809"/>
            </a:xfrm>
          </p:grpSpPr>
          <p:sp>
            <p:nvSpPr>
              <p:cNvPr id="61" name="AutoShape 23"/>
              <p:cNvSpPr>
                <a:spLocks noChangeArrowheads="1"/>
              </p:cNvSpPr>
              <p:nvPr/>
            </p:nvSpPr>
            <p:spPr bwMode="auto">
              <a:xfrm>
                <a:off x="3775" y="1626"/>
                <a:ext cx="1874" cy="637"/>
              </a:xfrm>
              <a:prstGeom prst="roundRect">
                <a:avLst>
                  <a:gd name="adj" fmla="val 45880"/>
                </a:avLst>
              </a:prstGeom>
              <a:gradFill rotWithShape="1">
                <a:gsLst>
                  <a:gs pos="0">
                    <a:srgbClr val="595959"/>
                  </a:gs>
                  <a:gs pos="50000">
                    <a:srgbClr val="C0C0C0"/>
                  </a:gs>
                  <a:gs pos="100000">
                    <a:srgbClr val="595959"/>
                  </a:gs>
                </a:gsLst>
                <a:lin ang="5400000" scaled="1"/>
              </a:gradFill>
              <a:ln w="28575" algn="ctr">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62" name="Oval 24"/>
              <p:cNvSpPr>
                <a:spLocks noChangeArrowheads="1"/>
              </p:cNvSpPr>
              <p:nvPr/>
            </p:nvSpPr>
            <p:spPr bwMode="auto">
              <a:xfrm>
                <a:off x="5202" y="1635"/>
                <a:ext cx="447" cy="627"/>
              </a:xfrm>
              <a:prstGeom prst="ellipse">
                <a:avLst/>
              </a:prstGeom>
              <a:gradFill rotWithShape="1">
                <a:gsLst>
                  <a:gs pos="0">
                    <a:srgbClr val="C0C0C0"/>
                  </a:gs>
                  <a:gs pos="100000">
                    <a:srgbClr val="595959"/>
                  </a:gs>
                </a:gsLst>
                <a:path path="shape">
                  <a:fillToRect l="50000" t="50000" r="50000" b="50000"/>
                </a:path>
              </a:gradFill>
              <a:ln w="2857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63" name="Arc 25"/>
              <p:cNvSpPr>
                <a:spLocks noChangeAspect="1"/>
              </p:cNvSpPr>
              <p:nvPr/>
            </p:nvSpPr>
            <p:spPr bwMode="auto">
              <a:xfrm rot="20546262" flipH="1">
                <a:off x="5138" y="1619"/>
                <a:ext cx="453" cy="339"/>
              </a:xfrm>
              <a:custGeom>
                <a:avLst/>
                <a:gdLst>
                  <a:gd name="T0" fmla="*/ 0 w 35811"/>
                  <a:gd name="T1" fmla="*/ 0 h 21600"/>
                  <a:gd name="T2" fmla="*/ 0 w 35811"/>
                  <a:gd name="T3" fmla="*/ 0 h 21600"/>
                  <a:gd name="T4" fmla="*/ 0 w 35811"/>
                  <a:gd name="T5" fmla="*/ 0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4" name="Text Box 26"/>
              <p:cNvSpPr txBox="1">
                <a:spLocks noChangeAspect="1" noChangeArrowheads="1"/>
              </p:cNvSpPr>
              <p:nvPr/>
            </p:nvSpPr>
            <p:spPr bwMode="auto">
              <a:xfrm>
                <a:off x="4842" y="1454"/>
                <a:ext cx="49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FF0000"/>
                    </a:solidFill>
                    <a:effectLst/>
                    <a:uLnTx/>
                    <a:uFillTx/>
                    <a:latin typeface="Times New Roman" panose="02020603050405020304" pitchFamily="18" charset="0"/>
                  </a:rPr>
                  <a:t>M</a:t>
                </a:r>
                <a:endParaRPr kumimoji="1" lang="en-US" altLang="zh-CN" sz="28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grpSp>
        <p:sp>
          <p:nvSpPr>
            <p:cNvPr id="59" name="Line 33"/>
            <p:cNvSpPr>
              <a:spLocks noChangeShapeType="1"/>
            </p:cNvSpPr>
            <p:nvPr/>
          </p:nvSpPr>
          <p:spPr bwMode="auto">
            <a:xfrm flipH="1">
              <a:off x="3033" y="2997"/>
              <a:ext cx="2287" cy="0"/>
            </a:xfrm>
            <a:prstGeom prst="line">
              <a:avLst/>
            </a:prstGeom>
            <a:noFill/>
            <a:ln w="9525">
              <a:solidFill>
                <a:srgbClr val="FF33CC"/>
              </a:solidFill>
              <a:prstDash val="lgDashDot"/>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0" name="Text Box 34"/>
            <p:cNvSpPr txBox="1">
              <a:spLocks noChangeAspect="1" noChangeArrowheads="1"/>
            </p:cNvSpPr>
            <p:nvPr/>
          </p:nvSpPr>
          <p:spPr bwMode="auto">
            <a:xfrm>
              <a:off x="2955" y="2941"/>
              <a:ext cx="31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33CC"/>
                  </a:solidFill>
                  <a:effectLst/>
                  <a:uLnTx/>
                  <a:uFillTx/>
                  <a:latin typeface="Times New Roman" panose="02020603050405020304" pitchFamily="18" charset="0"/>
                  <a:ea typeface="宋体" panose="02010600030101010101" pitchFamily="2" charset="-122"/>
                </a:rPr>
                <a:t>x</a:t>
              </a:r>
              <a:endParaRPr kumimoji="1" lang="en-US" altLang="zh-CN" sz="2400" b="0" u="none" strike="noStrike" kern="0" cap="none" spc="0" normalizeH="0" baseline="-25000" noProof="0" dirty="0">
                <a:ln>
                  <a:noFill/>
                </a:ln>
                <a:solidFill>
                  <a:srgbClr val="FF33CC"/>
                </a:solidFill>
                <a:effectLst/>
                <a:uLnTx/>
                <a:uFillTx/>
                <a:latin typeface="Times New Roman" panose="02020603050405020304" pitchFamily="18" charset="0"/>
                <a:ea typeface="宋体" panose="02010600030101010101" pitchFamily="2" charset="-122"/>
              </a:endParaRPr>
            </a:p>
          </p:txBody>
        </p:sp>
      </p:grpSp>
      <p:sp>
        <p:nvSpPr>
          <p:cNvPr id="65" name="Text Box 36"/>
          <p:cNvSpPr txBox="1">
            <a:spLocks noChangeAspect="1" noChangeArrowheads="1"/>
          </p:cNvSpPr>
          <p:nvPr/>
        </p:nvSpPr>
        <p:spPr bwMode="auto">
          <a:xfrm>
            <a:off x="6125393" y="4579937"/>
            <a:ext cx="6588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dirty="0" err="1">
                <a:solidFill>
                  <a:schemeClr val="accent1">
                    <a:lumMod val="60000"/>
                    <a:lumOff val="40000"/>
                  </a:schemeClr>
                </a:solidFill>
                <a:ea typeface="宋体" panose="02010600030101010101" pitchFamily="2" charset="-122"/>
              </a:rPr>
              <a:t>M</a:t>
            </a:r>
            <a:r>
              <a:rPr lang="en-US" altLang="zh-CN" sz="3200" b="0" i="0" baseline="-25000" dirty="0" err="1">
                <a:solidFill>
                  <a:schemeClr val="accent1">
                    <a:lumMod val="60000"/>
                    <a:lumOff val="40000"/>
                  </a:schemeClr>
                </a:solidFill>
                <a:ea typeface="宋体" panose="02010600030101010101" pitchFamily="2" charset="-122"/>
              </a:rPr>
              <a:t>n</a:t>
            </a:r>
            <a:endParaRPr lang="en-US" altLang="zh-CN" sz="3200" b="0" i="0" baseline="-25000" dirty="0">
              <a:solidFill>
                <a:schemeClr val="accent1">
                  <a:lumMod val="60000"/>
                  <a:lumOff val="40000"/>
                </a:schemeClr>
              </a:solidFill>
              <a:ea typeface="宋体" panose="02010600030101010101" pitchFamily="2" charset="-122"/>
            </a:endParaRPr>
          </a:p>
        </p:txBody>
      </p:sp>
      <p:sp>
        <p:nvSpPr>
          <p:cNvPr id="66" name="Arc 37"/>
          <p:cNvSpPr>
            <a:spLocks noChangeAspect="1"/>
          </p:cNvSpPr>
          <p:nvPr/>
        </p:nvSpPr>
        <p:spPr bwMode="auto">
          <a:xfrm rot="20546262" flipH="1">
            <a:off x="6480993" y="5284788"/>
            <a:ext cx="644525" cy="461962"/>
          </a:xfrm>
          <a:custGeom>
            <a:avLst/>
            <a:gdLst>
              <a:gd name="T0" fmla="*/ 0 w 35811"/>
              <a:gd name="T1" fmla="*/ 52239350 h 21600"/>
              <a:gd name="T2" fmla="*/ 208778782 w 35811"/>
              <a:gd name="T3" fmla="*/ 205377195 h 21600"/>
              <a:gd name="T4" fmla="*/ 82896955 w 35811"/>
              <a:gd name="T5" fmla="*/ 211305705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38100">
            <a:solidFill>
              <a:schemeClr val="accent1">
                <a:lumMod val="60000"/>
                <a:lumOff val="40000"/>
              </a:schemeClr>
            </a:solidFill>
            <a:prstDash val="dash"/>
            <a:round/>
            <a:headEnd type="stealth" w="med" len="lg"/>
            <a:tailEnd type="none"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7" name="Line 38"/>
          <p:cNvSpPr>
            <a:spLocks noChangeShapeType="1"/>
          </p:cNvSpPr>
          <p:nvPr/>
        </p:nvSpPr>
        <p:spPr bwMode="auto">
          <a:xfrm flipH="1">
            <a:off x="5696768" y="5622925"/>
            <a:ext cx="727075" cy="0"/>
          </a:xfrm>
          <a:prstGeom prst="line">
            <a:avLst/>
          </a:prstGeom>
          <a:noFill/>
          <a:ln w="28575">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8" name="Text Box 39"/>
          <p:cNvSpPr txBox="1">
            <a:spLocks noChangeAspect="1" noChangeArrowheads="1"/>
          </p:cNvSpPr>
          <p:nvPr/>
        </p:nvSpPr>
        <p:spPr bwMode="auto">
          <a:xfrm>
            <a:off x="5544368" y="4994275"/>
            <a:ext cx="500063"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dirty="0">
                <a:ea typeface="宋体" panose="02010600030101010101" pitchFamily="2" charset="-122"/>
              </a:rPr>
              <a:t>n</a:t>
            </a:r>
            <a:endParaRPr lang="en-US" altLang="zh-CN" sz="3200" b="0" i="0" baseline="-25000" dirty="0">
              <a:ea typeface="宋体" panose="02010600030101010101" pitchFamily="2" charset="-122"/>
            </a:endParaRPr>
          </a:p>
        </p:txBody>
      </p:sp>
      <p:grpSp>
        <p:nvGrpSpPr>
          <p:cNvPr id="69" name="Group 43"/>
          <p:cNvGrpSpPr>
            <a:grpSpLocks/>
          </p:cNvGrpSpPr>
          <p:nvPr/>
        </p:nvGrpSpPr>
        <p:grpSpPr bwMode="auto">
          <a:xfrm rot="5400000">
            <a:off x="6876281" y="2663825"/>
            <a:ext cx="1133475" cy="1685925"/>
            <a:chOff x="4458" y="2997"/>
            <a:chExt cx="714" cy="1062"/>
          </a:xfrm>
        </p:grpSpPr>
        <p:sp>
          <p:nvSpPr>
            <p:cNvPr id="70" name="Freeform 44"/>
            <p:cNvSpPr>
              <a:spLocks/>
            </p:cNvSpPr>
            <p:nvPr/>
          </p:nvSpPr>
          <p:spPr bwMode="auto">
            <a:xfrm>
              <a:off x="4479" y="3026"/>
              <a:ext cx="688" cy="1018"/>
            </a:xfrm>
            <a:custGeom>
              <a:avLst/>
              <a:gdLst>
                <a:gd name="T0" fmla="*/ 284 w 688"/>
                <a:gd name="T1" fmla="*/ 406 h 1018"/>
                <a:gd name="T2" fmla="*/ 286 w 688"/>
                <a:gd name="T3" fmla="*/ 374 h 1018"/>
                <a:gd name="T4" fmla="*/ 292 w 688"/>
                <a:gd name="T5" fmla="*/ 304 h 1018"/>
                <a:gd name="T6" fmla="*/ 294 w 688"/>
                <a:gd name="T7" fmla="*/ 266 h 1018"/>
                <a:gd name="T8" fmla="*/ 268 w 688"/>
                <a:gd name="T9" fmla="*/ 176 h 1018"/>
                <a:gd name="T10" fmla="*/ 258 w 688"/>
                <a:gd name="T11" fmla="*/ 138 h 1018"/>
                <a:gd name="T12" fmla="*/ 272 w 688"/>
                <a:gd name="T13" fmla="*/ 28 h 1018"/>
                <a:gd name="T14" fmla="*/ 316 w 688"/>
                <a:gd name="T15" fmla="*/ 0 h 1018"/>
                <a:gd name="T16" fmla="*/ 334 w 688"/>
                <a:gd name="T17" fmla="*/ 26 h 1018"/>
                <a:gd name="T18" fmla="*/ 338 w 688"/>
                <a:gd name="T19" fmla="*/ 54 h 1018"/>
                <a:gd name="T20" fmla="*/ 390 w 688"/>
                <a:gd name="T21" fmla="*/ 164 h 1018"/>
                <a:gd name="T22" fmla="*/ 402 w 688"/>
                <a:gd name="T23" fmla="*/ 180 h 1018"/>
                <a:gd name="T24" fmla="*/ 432 w 688"/>
                <a:gd name="T25" fmla="*/ 350 h 1018"/>
                <a:gd name="T26" fmla="*/ 446 w 688"/>
                <a:gd name="T27" fmla="*/ 382 h 1018"/>
                <a:gd name="T28" fmla="*/ 462 w 688"/>
                <a:gd name="T29" fmla="*/ 412 h 1018"/>
                <a:gd name="T30" fmla="*/ 508 w 688"/>
                <a:gd name="T31" fmla="*/ 444 h 1018"/>
                <a:gd name="T32" fmla="*/ 522 w 688"/>
                <a:gd name="T33" fmla="*/ 488 h 1018"/>
                <a:gd name="T34" fmla="*/ 688 w 688"/>
                <a:gd name="T35" fmla="*/ 502 h 1018"/>
                <a:gd name="T36" fmla="*/ 686 w 688"/>
                <a:gd name="T37" fmla="*/ 936 h 1018"/>
                <a:gd name="T38" fmla="*/ 628 w 688"/>
                <a:gd name="T39" fmla="*/ 946 h 1018"/>
                <a:gd name="T40" fmla="*/ 550 w 688"/>
                <a:gd name="T41" fmla="*/ 938 h 1018"/>
                <a:gd name="T42" fmla="*/ 540 w 688"/>
                <a:gd name="T43" fmla="*/ 926 h 1018"/>
                <a:gd name="T44" fmla="*/ 494 w 688"/>
                <a:gd name="T45" fmla="*/ 974 h 1018"/>
                <a:gd name="T46" fmla="*/ 416 w 688"/>
                <a:gd name="T47" fmla="*/ 1004 h 1018"/>
                <a:gd name="T48" fmla="*/ 252 w 688"/>
                <a:gd name="T49" fmla="*/ 1010 h 1018"/>
                <a:gd name="T50" fmla="*/ 242 w 688"/>
                <a:gd name="T51" fmla="*/ 982 h 1018"/>
                <a:gd name="T52" fmla="*/ 132 w 688"/>
                <a:gd name="T53" fmla="*/ 1018 h 1018"/>
                <a:gd name="T54" fmla="*/ 78 w 688"/>
                <a:gd name="T55" fmla="*/ 940 h 1018"/>
                <a:gd name="T56" fmla="*/ 62 w 688"/>
                <a:gd name="T57" fmla="*/ 874 h 1018"/>
                <a:gd name="T58" fmla="*/ 22 w 688"/>
                <a:gd name="T59" fmla="*/ 834 h 1018"/>
                <a:gd name="T60" fmla="*/ 22 w 688"/>
                <a:gd name="T61" fmla="*/ 732 h 1018"/>
                <a:gd name="T62" fmla="*/ 6 w 688"/>
                <a:gd name="T63" fmla="*/ 696 h 1018"/>
                <a:gd name="T64" fmla="*/ 0 w 688"/>
                <a:gd name="T65" fmla="*/ 616 h 1018"/>
                <a:gd name="T66" fmla="*/ 22 w 688"/>
                <a:gd name="T67" fmla="*/ 592 h 1018"/>
                <a:gd name="T68" fmla="*/ 22 w 688"/>
                <a:gd name="T69" fmla="*/ 484 h 1018"/>
                <a:gd name="T70" fmla="*/ 64 w 688"/>
                <a:gd name="T71" fmla="*/ 440 h 1018"/>
                <a:gd name="T72" fmla="*/ 128 w 688"/>
                <a:gd name="T73" fmla="*/ 422 h 1018"/>
                <a:gd name="T74" fmla="*/ 208 w 688"/>
                <a:gd name="T75" fmla="*/ 426 h 1018"/>
                <a:gd name="T76" fmla="*/ 256 w 688"/>
                <a:gd name="T77" fmla="*/ 400 h 1018"/>
                <a:gd name="T78" fmla="*/ 284 w 688"/>
                <a:gd name="T79" fmla="*/ 406 h 101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88"/>
                <a:gd name="T121" fmla="*/ 0 h 1018"/>
                <a:gd name="T122" fmla="*/ 688 w 688"/>
                <a:gd name="T123" fmla="*/ 1018 h 101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88" h="1018">
                  <a:moveTo>
                    <a:pt x="284" y="406"/>
                  </a:moveTo>
                  <a:cubicBezTo>
                    <a:pt x="293" y="392"/>
                    <a:pt x="286" y="406"/>
                    <a:pt x="286" y="374"/>
                  </a:cubicBezTo>
                  <a:cubicBezTo>
                    <a:pt x="286" y="351"/>
                    <a:pt x="289" y="327"/>
                    <a:pt x="292" y="304"/>
                  </a:cubicBezTo>
                  <a:cubicBezTo>
                    <a:pt x="294" y="270"/>
                    <a:pt x="294" y="283"/>
                    <a:pt x="294" y="266"/>
                  </a:cubicBezTo>
                  <a:cubicBezTo>
                    <a:pt x="291" y="238"/>
                    <a:pt x="277" y="203"/>
                    <a:pt x="268" y="176"/>
                  </a:cubicBezTo>
                  <a:cubicBezTo>
                    <a:pt x="264" y="164"/>
                    <a:pt x="258" y="150"/>
                    <a:pt x="258" y="138"/>
                  </a:cubicBezTo>
                  <a:lnTo>
                    <a:pt x="272" y="28"/>
                  </a:lnTo>
                  <a:lnTo>
                    <a:pt x="316" y="0"/>
                  </a:lnTo>
                  <a:lnTo>
                    <a:pt x="334" y="26"/>
                  </a:lnTo>
                  <a:lnTo>
                    <a:pt x="338" y="54"/>
                  </a:lnTo>
                  <a:cubicBezTo>
                    <a:pt x="344" y="74"/>
                    <a:pt x="355" y="158"/>
                    <a:pt x="390" y="164"/>
                  </a:cubicBezTo>
                  <a:cubicBezTo>
                    <a:pt x="398" y="170"/>
                    <a:pt x="398" y="172"/>
                    <a:pt x="402" y="180"/>
                  </a:cubicBezTo>
                  <a:lnTo>
                    <a:pt x="432" y="350"/>
                  </a:lnTo>
                  <a:lnTo>
                    <a:pt x="446" y="382"/>
                  </a:lnTo>
                  <a:lnTo>
                    <a:pt x="462" y="412"/>
                  </a:lnTo>
                  <a:lnTo>
                    <a:pt x="508" y="444"/>
                  </a:lnTo>
                  <a:cubicBezTo>
                    <a:pt x="508" y="444"/>
                    <a:pt x="515" y="466"/>
                    <a:pt x="522" y="488"/>
                  </a:cubicBezTo>
                  <a:cubicBezTo>
                    <a:pt x="588" y="488"/>
                    <a:pt x="688" y="502"/>
                    <a:pt x="688" y="502"/>
                  </a:cubicBezTo>
                  <a:lnTo>
                    <a:pt x="686" y="936"/>
                  </a:lnTo>
                  <a:cubicBezTo>
                    <a:pt x="667" y="942"/>
                    <a:pt x="649" y="944"/>
                    <a:pt x="628" y="946"/>
                  </a:cubicBezTo>
                  <a:cubicBezTo>
                    <a:pt x="602" y="942"/>
                    <a:pt x="577" y="940"/>
                    <a:pt x="550" y="938"/>
                  </a:cubicBezTo>
                  <a:cubicBezTo>
                    <a:pt x="541" y="936"/>
                    <a:pt x="540" y="935"/>
                    <a:pt x="540" y="926"/>
                  </a:cubicBezTo>
                  <a:lnTo>
                    <a:pt x="494" y="974"/>
                  </a:lnTo>
                  <a:lnTo>
                    <a:pt x="416" y="1004"/>
                  </a:lnTo>
                  <a:lnTo>
                    <a:pt x="252" y="1010"/>
                  </a:lnTo>
                  <a:lnTo>
                    <a:pt x="242" y="982"/>
                  </a:lnTo>
                  <a:cubicBezTo>
                    <a:pt x="242" y="982"/>
                    <a:pt x="190" y="1014"/>
                    <a:pt x="132" y="1018"/>
                  </a:cubicBezTo>
                  <a:cubicBezTo>
                    <a:pt x="112" y="996"/>
                    <a:pt x="78" y="940"/>
                    <a:pt x="78" y="940"/>
                  </a:cubicBezTo>
                  <a:lnTo>
                    <a:pt x="62" y="874"/>
                  </a:lnTo>
                  <a:lnTo>
                    <a:pt x="22" y="834"/>
                  </a:lnTo>
                  <a:lnTo>
                    <a:pt x="22" y="732"/>
                  </a:lnTo>
                  <a:lnTo>
                    <a:pt x="6" y="696"/>
                  </a:lnTo>
                  <a:lnTo>
                    <a:pt x="0" y="616"/>
                  </a:lnTo>
                  <a:cubicBezTo>
                    <a:pt x="0" y="616"/>
                    <a:pt x="11" y="604"/>
                    <a:pt x="22" y="592"/>
                  </a:cubicBezTo>
                  <a:cubicBezTo>
                    <a:pt x="12" y="562"/>
                    <a:pt x="10" y="520"/>
                    <a:pt x="22" y="484"/>
                  </a:cubicBezTo>
                  <a:cubicBezTo>
                    <a:pt x="43" y="462"/>
                    <a:pt x="64" y="440"/>
                    <a:pt x="64" y="440"/>
                  </a:cubicBezTo>
                  <a:lnTo>
                    <a:pt x="128" y="422"/>
                  </a:lnTo>
                  <a:lnTo>
                    <a:pt x="208" y="426"/>
                  </a:lnTo>
                  <a:lnTo>
                    <a:pt x="256" y="400"/>
                  </a:lnTo>
                  <a:lnTo>
                    <a:pt x="284" y="406"/>
                  </a:lnTo>
                  <a:close/>
                </a:path>
              </a:pathLst>
            </a:custGeom>
            <a:gradFill rotWithShape="1">
              <a:gsLst>
                <a:gs pos="0">
                  <a:srgbClr val="FFE6CD"/>
                </a:gs>
                <a:gs pos="100000">
                  <a:srgbClr val="FFCC99"/>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1" name="Freeform 45"/>
            <p:cNvSpPr>
              <a:spLocks/>
            </p:cNvSpPr>
            <p:nvPr/>
          </p:nvSpPr>
          <p:spPr bwMode="auto">
            <a:xfrm>
              <a:off x="4784" y="3062"/>
              <a:ext cx="54" cy="86"/>
            </a:xfrm>
            <a:custGeom>
              <a:avLst/>
              <a:gdLst>
                <a:gd name="T0" fmla="*/ 54 w 54"/>
                <a:gd name="T1" fmla="*/ 86 h 86"/>
                <a:gd name="T2" fmla="*/ 26 w 54"/>
                <a:gd name="T3" fmla="*/ 82 h 86"/>
                <a:gd name="T4" fmla="*/ 0 w 54"/>
                <a:gd name="T5" fmla="*/ 36 h 86"/>
                <a:gd name="T6" fmla="*/ 4 w 54"/>
                <a:gd name="T7" fmla="*/ 10 h 86"/>
                <a:gd name="T8" fmla="*/ 20 w 54"/>
                <a:gd name="T9" fmla="*/ 0 h 86"/>
                <a:gd name="T10" fmla="*/ 30 w 54"/>
                <a:gd name="T11" fmla="*/ 8 h 86"/>
                <a:gd name="T12" fmla="*/ 54 w 54"/>
                <a:gd name="T13" fmla="*/ 86 h 86"/>
                <a:gd name="T14" fmla="*/ 0 60000 65536"/>
                <a:gd name="T15" fmla="*/ 0 60000 65536"/>
                <a:gd name="T16" fmla="*/ 0 60000 65536"/>
                <a:gd name="T17" fmla="*/ 0 60000 65536"/>
                <a:gd name="T18" fmla="*/ 0 60000 65536"/>
                <a:gd name="T19" fmla="*/ 0 60000 65536"/>
                <a:gd name="T20" fmla="*/ 0 60000 65536"/>
                <a:gd name="T21" fmla="*/ 0 w 54"/>
                <a:gd name="T22" fmla="*/ 0 h 86"/>
                <a:gd name="T23" fmla="*/ 54 w 54"/>
                <a:gd name="T24" fmla="*/ 86 h 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86">
                  <a:moveTo>
                    <a:pt x="54" y="86"/>
                  </a:moveTo>
                  <a:lnTo>
                    <a:pt x="26" y="82"/>
                  </a:lnTo>
                  <a:lnTo>
                    <a:pt x="0" y="36"/>
                  </a:lnTo>
                  <a:lnTo>
                    <a:pt x="4" y="10"/>
                  </a:lnTo>
                  <a:lnTo>
                    <a:pt x="20" y="0"/>
                  </a:lnTo>
                  <a:lnTo>
                    <a:pt x="30" y="8"/>
                  </a:lnTo>
                  <a:lnTo>
                    <a:pt x="54" y="86"/>
                  </a:lnTo>
                  <a:close/>
                </a:path>
              </a:pathLst>
            </a:custGeom>
            <a:gradFill rotWithShape="1">
              <a:gsLst>
                <a:gs pos="0">
                  <a:srgbClr val="FFCCFF"/>
                </a:gs>
                <a:gs pos="100000">
                  <a:srgbClr val="FFA7FF"/>
                </a:gs>
              </a:gsLst>
              <a:lin ang="5400000" scaled="1"/>
            </a:gradFill>
            <a:ln w="9525" cap="flat" cmpd="sng">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2" name="Freeform 46"/>
            <p:cNvSpPr>
              <a:spLocks/>
            </p:cNvSpPr>
            <p:nvPr/>
          </p:nvSpPr>
          <p:spPr bwMode="auto">
            <a:xfrm>
              <a:off x="4728" y="3572"/>
              <a:ext cx="44" cy="56"/>
            </a:xfrm>
            <a:custGeom>
              <a:avLst/>
              <a:gdLst>
                <a:gd name="T0" fmla="*/ 44 w 44"/>
                <a:gd name="T1" fmla="*/ 0 h 56"/>
                <a:gd name="T2" fmla="*/ 6 w 44"/>
                <a:gd name="T3" fmla="*/ 38 h 56"/>
                <a:gd name="T4" fmla="*/ 0 w 44"/>
                <a:gd name="T5" fmla="*/ 56 h 56"/>
                <a:gd name="T6" fmla="*/ 40 w 44"/>
                <a:gd name="T7" fmla="*/ 54 h 56"/>
                <a:gd name="T8" fmla="*/ 44 w 44"/>
                <a:gd name="T9" fmla="*/ 0 h 56"/>
                <a:gd name="T10" fmla="*/ 0 60000 65536"/>
                <a:gd name="T11" fmla="*/ 0 60000 65536"/>
                <a:gd name="T12" fmla="*/ 0 60000 65536"/>
                <a:gd name="T13" fmla="*/ 0 60000 65536"/>
                <a:gd name="T14" fmla="*/ 0 60000 65536"/>
                <a:gd name="T15" fmla="*/ 0 w 44"/>
                <a:gd name="T16" fmla="*/ 0 h 56"/>
                <a:gd name="T17" fmla="*/ 44 w 44"/>
                <a:gd name="T18" fmla="*/ 56 h 56"/>
              </a:gdLst>
              <a:ahLst/>
              <a:cxnLst>
                <a:cxn ang="T10">
                  <a:pos x="T0" y="T1"/>
                </a:cxn>
                <a:cxn ang="T11">
                  <a:pos x="T2" y="T3"/>
                </a:cxn>
                <a:cxn ang="T12">
                  <a:pos x="T4" y="T5"/>
                </a:cxn>
                <a:cxn ang="T13">
                  <a:pos x="T6" y="T7"/>
                </a:cxn>
                <a:cxn ang="T14">
                  <a:pos x="T8" y="T9"/>
                </a:cxn>
              </a:cxnLst>
              <a:rect l="T15" t="T16" r="T17" b="T18"/>
              <a:pathLst>
                <a:path w="44" h="56">
                  <a:moveTo>
                    <a:pt x="44" y="0"/>
                  </a:moveTo>
                  <a:cubicBezTo>
                    <a:pt x="27" y="3"/>
                    <a:pt x="12" y="21"/>
                    <a:pt x="6" y="38"/>
                  </a:cubicBezTo>
                  <a:cubicBezTo>
                    <a:pt x="4" y="44"/>
                    <a:pt x="0" y="56"/>
                    <a:pt x="0" y="56"/>
                  </a:cubicBezTo>
                  <a:lnTo>
                    <a:pt x="40" y="54"/>
                  </a:lnTo>
                  <a:lnTo>
                    <a:pt x="44" y="0"/>
                  </a:lnTo>
                  <a:close/>
                </a:path>
              </a:pathLst>
            </a:custGeom>
            <a:gradFill rotWithShape="1">
              <a:gsLst>
                <a:gs pos="0">
                  <a:srgbClr val="FFCCFF"/>
                </a:gs>
                <a:gs pos="100000">
                  <a:srgbClr val="FFA7FF"/>
                </a:gs>
              </a:gsLst>
              <a:lin ang="5400000" scaled="1"/>
            </a:gradFill>
            <a:ln w="9525" cap="flat" cmpd="sng">
              <a:solidFill>
                <a:srgbClr val="000000"/>
              </a:solidFill>
              <a:prstDash val="solid"/>
              <a:round/>
              <a:headEnd type="none" w="med" len="med"/>
              <a:tailEnd type="non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3" name="Freeform 47"/>
            <p:cNvSpPr>
              <a:spLocks/>
            </p:cNvSpPr>
            <p:nvPr/>
          </p:nvSpPr>
          <p:spPr bwMode="auto">
            <a:xfrm>
              <a:off x="4732" y="3680"/>
              <a:ext cx="68" cy="60"/>
            </a:xfrm>
            <a:custGeom>
              <a:avLst/>
              <a:gdLst>
                <a:gd name="T0" fmla="*/ 0 w 68"/>
                <a:gd name="T1" fmla="*/ 52 h 60"/>
                <a:gd name="T2" fmla="*/ 8 w 68"/>
                <a:gd name="T3" fmla="*/ 2 h 60"/>
                <a:gd name="T4" fmla="*/ 64 w 68"/>
                <a:gd name="T5" fmla="*/ 0 h 60"/>
                <a:gd name="T6" fmla="*/ 56 w 68"/>
                <a:gd name="T7" fmla="*/ 48 h 60"/>
                <a:gd name="T8" fmla="*/ 36 w 68"/>
                <a:gd name="T9" fmla="*/ 60 h 60"/>
                <a:gd name="T10" fmla="*/ 0 w 68"/>
                <a:gd name="T11" fmla="*/ 52 h 60"/>
                <a:gd name="T12" fmla="*/ 0 60000 65536"/>
                <a:gd name="T13" fmla="*/ 0 60000 65536"/>
                <a:gd name="T14" fmla="*/ 0 60000 65536"/>
                <a:gd name="T15" fmla="*/ 0 60000 65536"/>
                <a:gd name="T16" fmla="*/ 0 60000 65536"/>
                <a:gd name="T17" fmla="*/ 0 60000 65536"/>
                <a:gd name="T18" fmla="*/ 0 w 68"/>
                <a:gd name="T19" fmla="*/ 0 h 60"/>
                <a:gd name="T20" fmla="*/ 68 w 68"/>
                <a:gd name="T21" fmla="*/ 60 h 60"/>
              </a:gdLst>
              <a:ahLst/>
              <a:cxnLst>
                <a:cxn ang="T12">
                  <a:pos x="T0" y="T1"/>
                </a:cxn>
                <a:cxn ang="T13">
                  <a:pos x="T2" y="T3"/>
                </a:cxn>
                <a:cxn ang="T14">
                  <a:pos x="T4" y="T5"/>
                </a:cxn>
                <a:cxn ang="T15">
                  <a:pos x="T6" y="T7"/>
                </a:cxn>
                <a:cxn ang="T16">
                  <a:pos x="T8" y="T9"/>
                </a:cxn>
                <a:cxn ang="T17">
                  <a:pos x="T10" y="T11"/>
                </a:cxn>
              </a:cxnLst>
              <a:rect l="T18" t="T19" r="T20" b="T21"/>
              <a:pathLst>
                <a:path w="68" h="60">
                  <a:moveTo>
                    <a:pt x="0" y="52"/>
                  </a:moveTo>
                  <a:lnTo>
                    <a:pt x="8" y="2"/>
                  </a:lnTo>
                  <a:lnTo>
                    <a:pt x="64" y="0"/>
                  </a:lnTo>
                  <a:cubicBezTo>
                    <a:pt x="68" y="12"/>
                    <a:pt x="66" y="38"/>
                    <a:pt x="56" y="48"/>
                  </a:cubicBezTo>
                  <a:lnTo>
                    <a:pt x="36" y="60"/>
                  </a:lnTo>
                  <a:lnTo>
                    <a:pt x="0" y="52"/>
                  </a:lnTo>
                  <a:close/>
                </a:path>
              </a:pathLst>
            </a:custGeom>
            <a:gradFill rotWithShape="1">
              <a:gsLst>
                <a:gs pos="0">
                  <a:srgbClr val="FFCCFF"/>
                </a:gs>
                <a:gs pos="100000">
                  <a:srgbClr val="FFA7FF"/>
                </a:gs>
              </a:gsLst>
              <a:lin ang="5400000" scaled="1"/>
            </a:gradFill>
            <a:ln w="9525" cap="flat" cmpd="sng">
              <a:solidFill>
                <a:srgbClr val="000000"/>
              </a:solidFill>
              <a:prstDash val="solid"/>
              <a:round/>
              <a:headEnd type="none" w="med" len="med"/>
              <a:tailEnd type="non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4" name="Freeform 48"/>
            <p:cNvSpPr>
              <a:spLocks/>
            </p:cNvSpPr>
            <p:nvPr/>
          </p:nvSpPr>
          <p:spPr bwMode="auto">
            <a:xfrm>
              <a:off x="4734" y="3804"/>
              <a:ext cx="44" cy="54"/>
            </a:xfrm>
            <a:custGeom>
              <a:avLst/>
              <a:gdLst>
                <a:gd name="T0" fmla="*/ 0 w 44"/>
                <a:gd name="T1" fmla="*/ 54 h 54"/>
                <a:gd name="T2" fmla="*/ 0 w 44"/>
                <a:gd name="T3" fmla="*/ 28 h 54"/>
                <a:gd name="T4" fmla="*/ 18 w 44"/>
                <a:gd name="T5" fmla="*/ 0 h 54"/>
                <a:gd name="T6" fmla="*/ 36 w 44"/>
                <a:gd name="T7" fmla="*/ 0 h 54"/>
                <a:gd name="T8" fmla="*/ 44 w 44"/>
                <a:gd name="T9" fmla="*/ 14 h 54"/>
                <a:gd name="T10" fmla="*/ 26 w 44"/>
                <a:gd name="T11" fmla="*/ 48 h 54"/>
                <a:gd name="T12" fmla="*/ 0 w 44"/>
                <a:gd name="T13" fmla="*/ 54 h 54"/>
                <a:gd name="T14" fmla="*/ 0 60000 65536"/>
                <a:gd name="T15" fmla="*/ 0 60000 65536"/>
                <a:gd name="T16" fmla="*/ 0 60000 65536"/>
                <a:gd name="T17" fmla="*/ 0 60000 65536"/>
                <a:gd name="T18" fmla="*/ 0 60000 65536"/>
                <a:gd name="T19" fmla="*/ 0 60000 65536"/>
                <a:gd name="T20" fmla="*/ 0 60000 65536"/>
                <a:gd name="T21" fmla="*/ 0 w 44"/>
                <a:gd name="T22" fmla="*/ 0 h 54"/>
                <a:gd name="T23" fmla="*/ 44 w 44"/>
                <a:gd name="T24" fmla="*/ 54 h 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 h="54">
                  <a:moveTo>
                    <a:pt x="0" y="54"/>
                  </a:moveTo>
                  <a:lnTo>
                    <a:pt x="0" y="28"/>
                  </a:lnTo>
                  <a:lnTo>
                    <a:pt x="18" y="0"/>
                  </a:lnTo>
                  <a:lnTo>
                    <a:pt x="36" y="0"/>
                  </a:lnTo>
                  <a:lnTo>
                    <a:pt x="44" y="14"/>
                  </a:lnTo>
                  <a:lnTo>
                    <a:pt x="26" y="48"/>
                  </a:lnTo>
                  <a:lnTo>
                    <a:pt x="0" y="54"/>
                  </a:lnTo>
                  <a:close/>
                </a:path>
              </a:pathLst>
            </a:custGeom>
            <a:gradFill rotWithShape="1">
              <a:gsLst>
                <a:gs pos="0">
                  <a:srgbClr val="FFCCFF"/>
                </a:gs>
                <a:gs pos="100000">
                  <a:srgbClr val="FFA7FF"/>
                </a:gs>
              </a:gsLst>
              <a:lin ang="5400000" scaled="1"/>
            </a:gradFill>
            <a:ln w="9525" cap="flat" cmpd="sng">
              <a:solidFill>
                <a:srgbClr val="000000"/>
              </a:solidFill>
              <a:prstDash val="solid"/>
              <a:round/>
              <a:headEnd type="none" w="med" len="med"/>
              <a:tailEnd type="non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5" name="Freeform 49"/>
            <p:cNvSpPr>
              <a:spLocks/>
            </p:cNvSpPr>
            <p:nvPr/>
          </p:nvSpPr>
          <p:spPr bwMode="auto">
            <a:xfrm>
              <a:off x="4738" y="3906"/>
              <a:ext cx="48" cy="70"/>
            </a:xfrm>
            <a:custGeom>
              <a:avLst/>
              <a:gdLst>
                <a:gd name="T0" fmla="*/ 2 w 48"/>
                <a:gd name="T1" fmla="*/ 56 h 70"/>
                <a:gd name="T2" fmla="*/ 0 w 48"/>
                <a:gd name="T3" fmla="*/ 30 h 70"/>
                <a:gd name="T4" fmla="*/ 14 w 48"/>
                <a:gd name="T5" fmla="*/ 0 h 70"/>
                <a:gd name="T6" fmla="*/ 34 w 48"/>
                <a:gd name="T7" fmla="*/ 6 h 70"/>
                <a:gd name="T8" fmla="*/ 48 w 48"/>
                <a:gd name="T9" fmla="*/ 18 h 70"/>
                <a:gd name="T10" fmla="*/ 40 w 48"/>
                <a:gd name="T11" fmla="*/ 46 h 70"/>
                <a:gd name="T12" fmla="*/ 20 w 48"/>
                <a:gd name="T13" fmla="*/ 70 h 70"/>
                <a:gd name="T14" fmla="*/ 8 w 48"/>
                <a:gd name="T15" fmla="*/ 66 h 70"/>
                <a:gd name="T16" fmla="*/ 2 w 48"/>
                <a:gd name="T17" fmla="*/ 56 h 7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
                <a:gd name="T28" fmla="*/ 0 h 70"/>
                <a:gd name="T29" fmla="*/ 48 w 48"/>
                <a:gd name="T30" fmla="*/ 70 h 7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 h="70">
                  <a:moveTo>
                    <a:pt x="2" y="56"/>
                  </a:moveTo>
                  <a:lnTo>
                    <a:pt x="0" y="30"/>
                  </a:lnTo>
                  <a:lnTo>
                    <a:pt x="14" y="0"/>
                  </a:lnTo>
                  <a:lnTo>
                    <a:pt x="34" y="6"/>
                  </a:lnTo>
                  <a:lnTo>
                    <a:pt x="48" y="18"/>
                  </a:lnTo>
                  <a:lnTo>
                    <a:pt x="40" y="46"/>
                  </a:lnTo>
                  <a:lnTo>
                    <a:pt x="20" y="70"/>
                  </a:lnTo>
                  <a:lnTo>
                    <a:pt x="8" y="66"/>
                  </a:lnTo>
                  <a:lnTo>
                    <a:pt x="2" y="56"/>
                  </a:lnTo>
                  <a:close/>
                </a:path>
              </a:pathLst>
            </a:custGeom>
            <a:gradFill rotWithShape="1">
              <a:gsLst>
                <a:gs pos="0">
                  <a:srgbClr val="FFCCFF"/>
                </a:gs>
                <a:gs pos="100000">
                  <a:srgbClr val="FFA7FF"/>
                </a:gs>
              </a:gsLst>
              <a:lin ang="5400000" scaled="1"/>
            </a:gradFill>
            <a:ln w="9525" cap="flat" cmpd="sng">
              <a:solidFill>
                <a:srgbClr val="000000"/>
              </a:solidFill>
              <a:prstDash val="solid"/>
              <a:round/>
              <a:headEnd type="none" w="med" len="med"/>
              <a:tailEnd type="non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pic>
          <p:nvPicPr>
            <p:cNvPr id="76" name="Picture 50" descr="图6-6a"/>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58" y="2997"/>
              <a:ext cx="714" cy="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7" name="Group 51"/>
          <p:cNvGrpSpPr>
            <a:grpSpLocks/>
          </p:cNvGrpSpPr>
          <p:nvPr/>
        </p:nvGrpSpPr>
        <p:grpSpPr bwMode="auto">
          <a:xfrm rot="-5400000">
            <a:off x="3745731" y="4600575"/>
            <a:ext cx="1133475" cy="1685925"/>
            <a:chOff x="4458" y="2997"/>
            <a:chExt cx="714" cy="1062"/>
          </a:xfrm>
        </p:grpSpPr>
        <p:sp>
          <p:nvSpPr>
            <p:cNvPr id="78" name="Freeform 52"/>
            <p:cNvSpPr>
              <a:spLocks/>
            </p:cNvSpPr>
            <p:nvPr/>
          </p:nvSpPr>
          <p:spPr bwMode="auto">
            <a:xfrm>
              <a:off x="4479" y="3026"/>
              <a:ext cx="688" cy="1018"/>
            </a:xfrm>
            <a:custGeom>
              <a:avLst/>
              <a:gdLst>
                <a:gd name="T0" fmla="*/ 284 w 688"/>
                <a:gd name="T1" fmla="*/ 406 h 1018"/>
                <a:gd name="T2" fmla="*/ 286 w 688"/>
                <a:gd name="T3" fmla="*/ 374 h 1018"/>
                <a:gd name="T4" fmla="*/ 292 w 688"/>
                <a:gd name="T5" fmla="*/ 304 h 1018"/>
                <a:gd name="T6" fmla="*/ 294 w 688"/>
                <a:gd name="T7" fmla="*/ 266 h 1018"/>
                <a:gd name="T8" fmla="*/ 268 w 688"/>
                <a:gd name="T9" fmla="*/ 176 h 1018"/>
                <a:gd name="T10" fmla="*/ 258 w 688"/>
                <a:gd name="T11" fmla="*/ 138 h 1018"/>
                <a:gd name="T12" fmla="*/ 272 w 688"/>
                <a:gd name="T13" fmla="*/ 28 h 1018"/>
                <a:gd name="T14" fmla="*/ 316 w 688"/>
                <a:gd name="T15" fmla="*/ 0 h 1018"/>
                <a:gd name="T16" fmla="*/ 334 w 688"/>
                <a:gd name="T17" fmla="*/ 26 h 1018"/>
                <a:gd name="T18" fmla="*/ 338 w 688"/>
                <a:gd name="T19" fmla="*/ 54 h 1018"/>
                <a:gd name="T20" fmla="*/ 390 w 688"/>
                <a:gd name="T21" fmla="*/ 164 h 1018"/>
                <a:gd name="T22" fmla="*/ 402 w 688"/>
                <a:gd name="T23" fmla="*/ 180 h 1018"/>
                <a:gd name="T24" fmla="*/ 432 w 688"/>
                <a:gd name="T25" fmla="*/ 350 h 1018"/>
                <a:gd name="T26" fmla="*/ 446 w 688"/>
                <a:gd name="T27" fmla="*/ 382 h 1018"/>
                <a:gd name="T28" fmla="*/ 462 w 688"/>
                <a:gd name="T29" fmla="*/ 412 h 1018"/>
                <a:gd name="T30" fmla="*/ 508 w 688"/>
                <a:gd name="T31" fmla="*/ 444 h 1018"/>
                <a:gd name="T32" fmla="*/ 522 w 688"/>
                <a:gd name="T33" fmla="*/ 488 h 1018"/>
                <a:gd name="T34" fmla="*/ 688 w 688"/>
                <a:gd name="T35" fmla="*/ 502 h 1018"/>
                <a:gd name="T36" fmla="*/ 686 w 688"/>
                <a:gd name="T37" fmla="*/ 936 h 1018"/>
                <a:gd name="T38" fmla="*/ 628 w 688"/>
                <a:gd name="T39" fmla="*/ 946 h 1018"/>
                <a:gd name="T40" fmla="*/ 550 w 688"/>
                <a:gd name="T41" fmla="*/ 938 h 1018"/>
                <a:gd name="T42" fmla="*/ 540 w 688"/>
                <a:gd name="T43" fmla="*/ 926 h 1018"/>
                <a:gd name="T44" fmla="*/ 494 w 688"/>
                <a:gd name="T45" fmla="*/ 974 h 1018"/>
                <a:gd name="T46" fmla="*/ 416 w 688"/>
                <a:gd name="T47" fmla="*/ 1004 h 1018"/>
                <a:gd name="T48" fmla="*/ 252 w 688"/>
                <a:gd name="T49" fmla="*/ 1010 h 1018"/>
                <a:gd name="T50" fmla="*/ 242 w 688"/>
                <a:gd name="T51" fmla="*/ 982 h 1018"/>
                <a:gd name="T52" fmla="*/ 132 w 688"/>
                <a:gd name="T53" fmla="*/ 1018 h 1018"/>
                <a:gd name="T54" fmla="*/ 78 w 688"/>
                <a:gd name="T55" fmla="*/ 940 h 1018"/>
                <a:gd name="T56" fmla="*/ 62 w 688"/>
                <a:gd name="T57" fmla="*/ 874 h 1018"/>
                <a:gd name="T58" fmla="*/ 22 w 688"/>
                <a:gd name="T59" fmla="*/ 834 h 1018"/>
                <a:gd name="T60" fmla="*/ 22 w 688"/>
                <a:gd name="T61" fmla="*/ 732 h 1018"/>
                <a:gd name="T62" fmla="*/ 6 w 688"/>
                <a:gd name="T63" fmla="*/ 696 h 1018"/>
                <a:gd name="T64" fmla="*/ 0 w 688"/>
                <a:gd name="T65" fmla="*/ 616 h 1018"/>
                <a:gd name="T66" fmla="*/ 22 w 688"/>
                <a:gd name="T67" fmla="*/ 592 h 1018"/>
                <a:gd name="T68" fmla="*/ 22 w 688"/>
                <a:gd name="T69" fmla="*/ 484 h 1018"/>
                <a:gd name="T70" fmla="*/ 64 w 688"/>
                <a:gd name="T71" fmla="*/ 440 h 1018"/>
                <a:gd name="T72" fmla="*/ 128 w 688"/>
                <a:gd name="T73" fmla="*/ 422 h 1018"/>
                <a:gd name="T74" fmla="*/ 208 w 688"/>
                <a:gd name="T75" fmla="*/ 426 h 1018"/>
                <a:gd name="T76" fmla="*/ 256 w 688"/>
                <a:gd name="T77" fmla="*/ 400 h 1018"/>
                <a:gd name="T78" fmla="*/ 284 w 688"/>
                <a:gd name="T79" fmla="*/ 406 h 101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88"/>
                <a:gd name="T121" fmla="*/ 0 h 1018"/>
                <a:gd name="T122" fmla="*/ 688 w 688"/>
                <a:gd name="T123" fmla="*/ 1018 h 101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88" h="1018">
                  <a:moveTo>
                    <a:pt x="284" y="406"/>
                  </a:moveTo>
                  <a:cubicBezTo>
                    <a:pt x="293" y="392"/>
                    <a:pt x="286" y="406"/>
                    <a:pt x="286" y="374"/>
                  </a:cubicBezTo>
                  <a:cubicBezTo>
                    <a:pt x="286" y="351"/>
                    <a:pt x="289" y="327"/>
                    <a:pt x="292" y="304"/>
                  </a:cubicBezTo>
                  <a:cubicBezTo>
                    <a:pt x="294" y="270"/>
                    <a:pt x="294" y="283"/>
                    <a:pt x="294" y="266"/>
                  </a:cubicBezTo>
                  <a:cubicBezTo>
                    <a:pt x="291" y="238"/>
                    <a:pt x="277" y="203"/>
                    <a:pt x="268" y="176"/>
                  </a:cubicBezTo>
                  <a:cubicBezTo>
                    <a:pt x="264" y="164"/>
                    <a:pt x="258" y="150"/>
                    <a:pt x="258" y="138"/>
                  </a:cubicBezTo>
                  <a:lnTo>
                    <a:pt x="272" y="28"/>
                  </a:lnTo>
                  <a:lnTo>
                    <a:pt x="316" y="0"/>
                  </a:lnTo>
                  <a:lnTo>
                    <a:pt x="334" y="26"/>
                  </a:lnTo>
                  <a:lnTo>
                    <a:pt x="338" y="54"/>
                  </a:lnTo>
                  <a:cubicBezTo>
                    <a:pt x="344" y="74"/>
                    <a:pt x="355" y="158"/>
                    <a:pt x="390" y="164"/>
                  </a:cubicBezTo>
                  <a:cubicBezTo>
                    <a:pt x="398" y="170"/>
                    <a:pt x="398" y="172"/>
                    <a:pt x="402" y="180"/>
                  </a:cubicBezTo>
                  <a:lnTo>
                    <a:pt x="432" y="350"/>
                  </a:lnTo>
                  <a:lnTo>
                    <a:pt x="446" y="382"/>
                  </a:lnTo>
                  <a:lnTo>
                    <a:pt x="462" y="412"/>
                  </a:lnTo>
                  <a:lnTo>
                    <a:pt x="508" y="444"/>
                  </a:lnTo>
                  <a:cubicBezTo>
                    <a:pt x="508" y="444"/>
                    <a:pt x="515" y="466"/>
                    <a:pt x="522" y="488"/>
                  </a:cubicBezTo>
                  <a:cubicBezTo>
                    <a:pt x="588" y="488"/>
                    <a:pt x="688" y="502"/>
                    <a:pt x="688" y="502"/>
                  </a:cubicBezTo>
                  <a:lnTo>
                    <a:pt x="686" y="936"/>
                  </a:lnTo>
                  <a:cubicBezTo>
                    <a:pt x="667" y="942"/>
                    <a:pt x="649" y="944"/>
                    <a:pt x="628" y="946"/>
                  </a:cubicBezTo>
                  <a:cubicBezTo>
                    <a:pt x="602" y="942"/>
                    <a:pt x="577" y="940"/>
                    <a:pt x="550" y="938"/>
                  </a:cubicBezTo>
                  <a:cubicBezTo>
                    <a:pt x="541" y="936"/>
                    <a:pt x="540" y="935"/>
                    <a:pt x="540" y="926"/>
                  </a:cubicBezTo>
                  <a:lnTo>
                    <a:pt x="494" y="974"/>
                  </a:lnTo>
                  <a:lnTo>
                    <a:pt x="416" y="1004"/>
                  </a:lnTo>
                  <a:lnTo>
                    <a:pt x="252" y="1010"/>
                  </a:lnTo>
                  <a:lnTo>
                    <a:pt x="242" y="982"/>
                  </a:lnTo>
                  <a:cubicBezTo>
                    <a:pt x="242" y="982"/>
                    <a:pt x="190" y="1014"/>
                    <a:pt x="132" y="1018"/>
                  </a:cubicBezTo>
                  <a:cubicBezTo>
                    <a:pt x="112" y="996"/>
                    <a:pt x="78" y="940"/>
                    <a:pt x="78" y="940"/>
                  </a:cubicBezTo>
                  <a:lnTo>
                    <a:pt x="62" y="874"/>
                  </a:lnTo>
                  <a:lnTo>
                    <a:pt x="22" y="834"/>
                  </a:lnTo>
                  <a:lnTo>
                    <a:pt x="22" y="732"/>
                  </a:lnTo>
                  <a:lnTo>
                    <a:pt x="6" y="696"/>
                  </a:lnTo>
                  <a:lnTo>
                    <a:pt x="0" y="616"/>
                  </a:lnTo>
                  <a:cubicBezTo>
                    <a:pt x="0" y="616"/>
                    <a:pt x="11" y="604"/>
                    <a:pt x="22" y="592"/>
                  </a:cubicBezTo>
                  <a:cubicBezTo>
                    <a:pt x="12" y="562"/>
                    <a:pt x="10" y="520"/>
                    <a:pt x="22" y="484"/>
                  </a:cubicBezTo>
                  <a:cubicBezTo>
                    <a:pt x="43" y="462"/>
                    <a:pt x="64" y="440"/>
                    <a:pt x="64" y="440"/>
                  </a:cubicBezTo>
                  <a:lnTo>
                    <a:pt x="128" y="422"/>
                  </a:lnTo>
                  <a:lnTo>
                    <a:pt x="208" y="426"/>
                  </a:lnTo>
                  <a:lnTo>
                    <a:pt x="256" y="400"/>
                  </a:lnTo>
                  <a:lnTo>
                    <a:pt x="284" y="406"/>
                  </a:lnTo>
                  <a:close/>
                </a:path>
              </a:pathLst>
            </a:custGeom>
            <a:gradFill rotWithShape="1">
              <a:gsLst>
                <a:gs pos="0">
                  <a:srgbClr val="FFE6CD"/>
                </a:gs>
                <a:gs pos="100000">
                  <a:srgbClr val="FFCC99"/>
                </a:gs>
              </a:gsLst>
              <a:lin ang="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9" name="Freeform 53"/>
            <p:cNvSpPr>
              <a:spLocks/>
            </p:cNvSpPr>
            <p:nvPr/>
          </p:nvSpPr>
          <p:spPr bwMode="auto">
            <a:xfrm>
              <a:off x="4784" y="3062"/>
              <a:ext cx="54" cy="86"/>
            </a:xfrm>
            <a:custGeom>
              <a:avLst/>
              <a:gdLst>
                <a:gd name="T0" fmla="*/ 54 w 54"/>
                <a:gd name="T1" fmla="*/ 86 h 86"/>
                <a:gd name="T2" fmla="*/ 26 w 54"/>
                <a:gd name="T3" fmla="*/ 82 h 86"/>
                <a:gd name="T4" fmla="*/ 0 w 54"/>
                <a:gd name="T5" fmla="*/ 36 h 86"/>
                <a:gd name="T6" fmla="*/ 4 w 54"/>
                <a:gd name="T7" fmla="*/ 10 h 86"/>
                <a:gd name="T8" fmla="*/ 20 w 54"/>
                <a:gd name="T9" fmla="*/ 0 h 86"/>
                <a:gd name="T10" fmla="*/ 30 w 54"/>
                <a:gd name="T11" fmla="*/ 8 h 86"/>
                <a:gd name="T12" fmla="*/ 54 w 54"/>
                <a:gd name="T13" fmla="*/ 86 h 86"/>
                <a:gd name="T14" fmla="*/ 0 60000 65536"/>
                <a:gd name="T15" fmla="*/ 0 60000 65536"/>
                <a:gd name="T16" fmla="*/ 0 60000 65536"/>
                <a:gd name="T17" fmla="*/ 0 60000 65536"/>
                <a:gd name="T18" fmla="*/ 0 60000 65536"/>
                <a:gd name="T19" fmla="*/ 0 60000 65536"/>
                <a:gd name="T20" fmla="*/ 0 60000 65536"/>
                <a:gd name="T21" fmla="*/ 0 w 54"/>
                <a:gd name="T22" fmla="*/ 0 h 86"/>
                <a:gd name="T23" fmla="*/ 54 w 54"/>
                <a:gd name="T24" fmla="*/ 86 h 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86">
                  <a:moveTo>
                    <a:pt x="54" y="86"/>
                  </a:moveTo>
                  <a:lnTo>
                    <a:pt x="26" y="82"/>
                  </a:lnTo>
                  <a:lnTo>
                    <a:pt x="0" y="36"/>
                  </a:lnTo>
                  <a:lnTo>
                    <a:pt x="4" y="10"/>
                  </a:lnTo>
                  <a:lnTo>
                    <a:pt x="20" y="0"/>
                  </a:lnTo>
                  <a:lnTo>
                    <a:pt x="30" y="8"/>
                  </a:lnTo>
                  <a:lnTo>
                    <a:pt x="54" y="86"/>
                  </a:lnTo>
                  <a:close/>
                </a:path>
              </a:pathLst>
            </a:custGeom>
            <a:gradFill rotWithShape="1">
              <a:gsLst>
                <a:gs pos="0">
                  <a:srgbClr val="FFCCFF"/>
                </a:gs>
                <a:gs pos="100000">
                  <a:srgbClr val="FFA7FF"/>
                </a:gs>
              </a:gsLst>
              <a:lin ang="5400000" scaled="1"/>
            </a:gradFill>
            <a:ln w="9525" cap="flat" cmpd="sng">
              <a:solidFill>
                <a:srgbClr val="000000"/>
              </a:solidFill>
              <a:prstDash val="solid"/>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0" name="Freeform 54"/>
            <p:cNvSpPr>
              <a:spLocks/>
            </p:cNvSpPr>
            <p:nvPr/>
          </p:nvSpPr>
          <p:spPr bwMode="auto">
            <a:xfrm>
              <a:off x="4728" y="3572"/>
              <a:ext cx="44" cy="56"/>
            </a:xfrm>
            <a:custGeom>
              <a:avLst/>
              <a:gdLst>
                <a:gd name="T0" fmla="*/ 44 w 44"/>
                <a:gd name="T1" fmla="*/ 0 h 56"/>
                <a:gd name="T2" fmla="*/ 6 w 44"/>
                <a:gd name="T3" fmla="*/ 38 h 56"/>
                <a:gd name="T4" fmla="*/ 0 w 44"/>
                <a:gd name="T5" fmla="*/ 56 h 56"/>
                <a:gd name="T6" fmla="*/ 40 w 44"/>
                <a:gd name="T7" fmla="*/ 54 h 56"/>
                <a:gd name="T8" fmla="*/ 44 w 44"/>
                <a:gd name="T9" fmla="*/ 0 h 56"/>
                <a:gd name="T10" fmla="*/ 0 60000 65536"/>
                <a:gd name="T11" fmla="*/ 0 60000 65536"/>
                <a:gd name="T12" fmla="*/ 0 60000 65536"/>
                <a:gd name="T13" fmla="*/ 0 60000 65536"/>
                <a:gd name="T14" fmla="*/ 0 60000 65536"/>
                <a:gd name="T15" fmla="*/ 0 w 44"/>
                <a:gd name="T16" fmla="*/ 0 h 56"/>
                <a:gd name="T17" fmla="*/ 44 w 44"/>
                <a:gd name="T18" fmla="*/ 56 h 56"/>
              </a:gdLst>
              <a:ahLst/>
              <a:cxnLst>
                <a:cxn ang="T10">
                  <a:pos x="T0" y="T1"/>
                </a:cxn>
                <a:cxn ang="T11">
                  <a:pos x="T2" y="T3"/>
                </a:cxn>
                <a:cxn ang="T12">
                  <a:pos x="T4" y="T5"/>
                </a:cxn>
                <a:cxn ang="T13">
                  <a:pos x="T6" y="T7"/>
                </a:cxn>
                <a:cxn ang="T14">
                  <a:pos x="T8" y="T9"/>
                </a:cxn>
              </a:cxnLst>
              <a:rect l="T15" t="T16" r="T17" b="T18"/>
              <a:pathLst>
                <a:path w="44" h="56">
                  <a:moveTo>
                    <a:pt x="44" y="0"/>
                  </a:moveTo>
                  <a:cubicBezTo>
                    <a:pt x="27" y="3"/>
                    <a:pt x="12" y="21"/>
                    <a:pt x="6" y="38"/>
                  </a:cubicBezTo>
                  <a:cubicBezTo>
                    <a:pt x="4" y="44"/>
                    <a:pt x="0" y="56"/>
                    <a:pt x="0" y="56"/>
                  </a:cubicBezTo>
                  <a:lnTo>
                    <a:pt x="40" y="54"/>
                  </a:lnTo>
                  <a:lnTo>
                    <a:pt x="44" y="0"/>
                  </a:lnTo>
                  <a:close/>
                </a:path>
              </a:pathLst>
            </a:custGeom>
            <a:gradFill rotWithShape="1">
              <a:gsLst>
                <a:gs pos="0">
                  <a:srgbClr val="FFCCFF"/>
                </a:gs>
                <a:gs pos="100000">
                  <a:srgbClr val="FFA7FF"/>
                </a:gs>
              </a:gsLst>
              <a:lin ang="5400000" scaled="1"/>
            </a:gradFill>
            <a:ln w="9525" cap="flat" cmpd="sng">
              <a:solidFill>
                <a:srgbClr val="000000"/>
              </a:solidFill>
              <a:prstDash val="solid"/>
              <a:round/>
              <a:headEnd type="none" w="med" len="med"/>
              <a:tailEnd type="non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1" name="Freeform 55"/>
            <p:cNvSpPr>
              <a:spLocks/>
            </p:cNvSpPr>
            <p:nvPr/>
          </p:nvSpPr>
          <p:spPr bwMode="auto">
            <a:xfrm>
              <a:off x="4732" y="3680"/>
              <a:ext cx="68" cy="60"/>
            </a:xfrm>
            <a:custGeom>
              <a:avLst/>
              <a:gdLst>
                <a:gd name="T0" fmla="*/ 0 w 68"/>
                <a:gd name="T1" fmla="*/ 52 h 60"/>
                <a:gd name="T2" fmla="*/ 8 w 68"/>
                <a:gd name="T3" fmla="*/ 2 h 60"/>
                <a:gd name="T4" fmla="*/ 64 w 68"/>
                <a:gd name="T5" fmla="*/ 0 h 60"/>
                <a:gd name="T6" fmla="*/ 56 w 68"/>
                <a:gd name="T7" fmla="*/ 48 h 60"/>
                <a:gd name="T8" fmla="*/ 36 w 68"/>
                <a:gd name="T9" fmla="*/ 60 h 60"/>
                <a:gd name="T10" fmla="*/ 0 w 68"/>
                <a:gd name="T11" fmla="*/ 52 h 60"/>
                <a:gd name="T12" fmla="*/ 0 60000 65536"/>
                <a:gd name="T13" fmla="*/ 0 60000 65536"/>
                <a:gd name="T14" fmla="*/ 0 60000 65536"/>
                <a:gd name="T15" fmla="*/ 0 60000 65536"/>
                <a:gd name="T16" fmla="*/ 0 60000 65536"/>
                <a:gd name="T17" fmla="*/ 0 60000 65536"/>
                <a:gd name="T18" fmla="*/ 0 w 68"/>
                <a:gd name="T19" fmla="*/ 0 h 60"/>
                <a:gd name="T20" fmla="*/ 68 w 68"/>
                <a:gd name="T21" fmla="*/ 60 h 60"/>
              </a:gdLst>
              <a:ahLst/>
              <a:cxnLst>
                <a:cxn ang="T12">
                  <a:pos x="T0" y="T1"/>
                </a:cxn>
                <a:cxn ang="T13">
                  <a:pos x="T2" y="T3"/>
                </a:cxn>
                <a:cxn ang="T14">
                  <a:pos x="T4" y="T5"/>
                </a:cxn>
                <a:cxn ang="T15">
                  <a:pos x="T6" y="T7"/>
                </a:cxn>
                <a:cxn ang="T16">
                  <a:pos x="T8" y="T9"/>
                </a:cxn>
                <a:cxn ang="T17">
                  <a:pos x="T10" y="T11"/>
                </a:cxn>
              </a:cxnLst>
              <a:rect l="T18" t="T19" r="T20" b="T21"/>
              <a:pathLst>
                <a:path w="68" h="60">
                  <a:moveTo>
                    <a:pt x="0" y="52"/>
                  </a:moveTo>
                  <a:lnTo>
                    <a:pt x="8" y="2"/>
                  </a:lnTo>
                  <a:lnTo>
                    <a:pt x="64" y="0"/>
                  </a:lnTo>
                  <a:cubicBezTo>
                    <a:pt x="68" y="12"/>
                    <a:pt x="66" y="38"/>
                    <a:pt x="56" y="48"/>
                  </a:cubicBezTo>
                  <a:lnTo>
                    <a:pt x="36" y="60"/>
                  </a:lnTo>
                  <a:lnTo>
                    <a:pt x="0" y="52"/>
                  </a:lnTo>
                  <a:close/>
                </a:path>
              </a:pathLst>
            </a:custGeom>
            <a:gradFill rotWithShape="1">
              <a:gsLst>
                <a:gs pos="0">
                  <a:srgbClr val="FFCCFF"/>
                </a:gs>
                <a:gs pos="100000">
                  <a:srgbClr val="FFA7FF"/>
                </a:gs>
              </a:gsLst>
              <a:lin ang="5400000" scaled="1"/>
            </a:gradFill>
            <a:ln w="9525" cap="flat" cmpd="sng">
              <a:solidFill>
                <a:srgbClr val="000000"/>
              </a:solidFill>
              <a:prstDash val="solid"/>
              <a:round/>
              <a:headEnd type="none" w="med" len="med"/>
              <a:tailEnd type="non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2" name="Freeform 56"/>
            <p:cNvSpPr>
              <a:spLocks/>
            </p:cNvSpPr>
            <p:nvPr/>
          </p:nvSpPr>
          <p:spPr bwMode="auto">
            <a:xfrm>
              <a:off x="4734" y="3804"/>
              <a:ext cx="44" cy="54"/>
            </a:xfrm>
            <a:custGeom>
              <a:avLst/>
              <a:gdLst>
                <a:gd name="T0" fmla="*/ 0 w 44"/>
                <a:gd name="T1" fmla="*/ 54 h 54"/>
                <a:gd name="T2" fmla="*/ 0 w 44"/>
                <a:gd name="T3" fmla="*/ 28 h 54"/>
                <a:gd name="T4" fmla="*/ 18 w 44"/>
                <a:gd name="T5" fmla="*/ 0 h 54"/>
                <a:gd name="T6" fmla="*/ 36 w 44"/>
                <a:gd name="T7" fmla="*/ 0 h 54"/>
                <a:gd name="T8" fmla="*/ 44 w 44"/>
                <a:gd name="T9" fmla="*/ 14 h 54"/>
                <a:gd name="T10" fmla="*/ 26 w 44"/>
                <a:gd name="T11" fmla="*/ 48 h 54"/>
                <a:gd name="T12" fmla="*/ 0 w 44"/>
                <a:gd name="T13" fmla="*/ 54 h 54"/>
                <a:gd name="T14" fmla="*/ 0 60000 65536"/>
                <a:gd name="T15" fmla="*/ 0 60000 65536"/>
                <a:gd name="T16" fmla="*/ 0 60000 65536"/>
                <a:gd name="T17" fmla="*/ 0 60000 65536"/>
                <a:gd name="T18" fmla="*/ 0 60000 65536"/>
                <a:gd name="T19" fmla="*/ 0 60000 65536"/>
                <a:gd name="T20" fmla="*/ 0 60000 65536"/>
                <a:gd name="T21" fmla="*/ 0 w 44"/>
                <a:gd name="T22" fmla="*/ 0 h 54"/>
                <a:gd name="T23" fmla="*/ 44 w 44"/>
                <a:gd name="T24" fmla="*/ 54 h 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 h="54">
                  <a:moveTo>
                    <a:pt x="0" y="54"/>
                  </a:moveTo>
                  <a:lnTo>
                    <a:pt x="0" y="28"/>
                  </a:lnTo>
                  <a:lnTo>
                    <a:pt x="18" y="0"/>
                  </a:lnTo>
                  <a:lnTo>
                    <a:pt x="36" y="0"/>
                  </a:lnTo>
                  <a:lnTo>
                    <a:pt x="44" y="14"/>
                  </a:lnTo>
                  <a:lnTo>
                    <a:pt x="26" y="48"/>
                  </a:lnTo>
                  <a:lnTo>
                    <a:pt x="0" y="54"/>
                  </a:lnTo>
                  <a:close/>
                </a:path>
              </a:pathLst>
            </a:custGeom>
            <a:gradFill rotWithShape="1">
              <a:gsLst>
                <a:gs pos="0">
                  <a:srgbClr val="FFCCFF"/>
                </a:gs>
                <a:gs pos="100000">
                  <a:srgbClr val="FFA7FF"/>
                </a:gs>
              </a:gsLst>
              <a:lin ang="5400000" scaled="1"/>
            </a:gradFill>
            <a:ln w="9525" cap="flat" cmpd="sng">
              <a:solidFill>
                <a:srgbClr val="000000"/>
              </a:solidFill>
              <a:prstDash val="solid"/>
              <a:round/>
              <a:headEnd type="none" w="med" len="med"/>
              <a:tailEnd type="non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3" name="Freeform 57"/>
            <p:cNvSpPr>
              <a:spLocks/>
            </p:cNvSpPr>
            <p:nvPr/>
          </p:nvSpPr>
          <p:spPr bwMode="auto">
            <a:xfrm>
              <a:off x="4738" y="3906"/>
              <a:ext cx="48" cy="70"/>
            </a:xfrm>
            <a:custGeom>
              <a:avLst/>
              <a:gdLst>
                <a:gd name="T0" fmla="*/ 2 w 48"/>
                <a:gd name="T1" fmla="*/ 56 h 70"/>
                <a:gd name="T2" fmla="*/ 0 w 48"/>
                <a:gd name="T3" fmla="*/ 30 h 70"/>
                <a:gd name="T4" fmla="*/ 14 w 48"/>
                <a:gd name="T5" fmla="*/ 0 h 70"/>
                <a:gd name="T6" fmla="*/ 34 w 48"/>
                <a:gd name="T7" fmla="*/ 6 h 70"/>
                <a:gd name="T8" fmla="*/ 48 w 48"/>
                <a:gd name="T9" fmla="*/ 18 h 70"/>
                <a:gd name="T10" fmla="*/ 40 w 48"/>
                <a:gd name="T11" fmla="*/ 46 h 70"/>
                <a:gd name="T12" fmla="*/ 20 w 48"/>
                <a:gd name="T13" fmla="*/ 70 h 70"/>
                <a:gd name="T14" fmla="*/ 8 w 48"/>
                <a:gd name="T15" fmla="*/ 66 h 70"/>
                <a:gd name="T16" fmla="*/ 2 w 48"/>
                <a:gd name="T17" fmla="*/ 56 h 7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
                <a:gd name="T28" fmla="*/ 0 h 70"/>
                <a:gd name="T29" fmla="*/ 48 w 48"/>
                <a:gd name="T30" fmla="*/ 70 h 7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 h="70">
                  <a:moveTo>
                    <a:pt x="2" y="56"/>
                  </a:moveTo>
                  <a:lnTo>
                    <a:pt x="0" y="30"/>
                  </a:lnTo>
                  <a:lnTo>
                    <a:pt x="14" y="0"/>
                  </a:lnTo>
                  <a:lnTo>
                    <a:pt x="34" y="6"/>
                  </a:lnTo>
                  <a:lnTo>
                    <a:pt x="48" y="18"/>
                  </a:lnTo>
                  <a:lnTo>
                    <a:pt x="40" y="46"/>
                  </a:lnTo>
                  <a:lnTo>
                    <a:pt x="20" y="70"/>
                  </a:lnTo>
                  <a:lnTo>
                    <a:pt x="8" y="66"/>
                  </a:lnTo>
                  <a:lnTo>
                    <a:pt x="2" y="56"/>
                  </a:lnTo>
                  <a:close/>
                </a:path>
              </a:pathLst>
            </a:custGeom>
            <a:gradFill rotWithShape="1">
              <a:gsLst>
                <a:gs pos="0">
                  <a:srgbClr val="FFCCFF"/>
                </a:gs>
                <a:gs pos="100000">
                  <a:srgbClr val="FFA7FF"/>
                </a:gs>
              </a:gsLst>
              <a:lin ang="5400000" scaled="1"/>
            </a:gradFill>
            <a:ln w="9525" cap="flat" cmpd="sng">
              <a:solidFill>
                <a:srgbClr val="000000"/>
              </a:solidFill>
              <a:prstDash val="solid"/>
              <a:round/>
              <a:headEnd type="none" w="med" len="med"/>
              <a:tailEnd type="non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pic>
          <p:nvPicPr>
            <p:cNvPr id="84" name="Picture 58" descr="图6-6a"/>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58" y="2997"/>
              <a:ext cx="714" cy="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87158986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6"/>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2000"/>
                                        <p:tgtEl>
                                          <p:spTgt spid="44"/>
                                        </p:tgtEl>
                                      </p:cBhvr>
                                    </p:animEffect>
                                  </p:childTnLst>
                                </p:cTn>
                              </p:par>
                              <p:par>
                                <p:cTn id="14" presetID="10" presetClass="entr" presetSubtype="0" fill="hold" nodeType="withEffect">
                                  <p:stCondLst>
                                    <p:cond delay="0"/>
                                  </p:stCondLst>
                                  <p:childTnLst>
                                    <p:set>
                                      <p:cBhvr>
                                        <p:cTn id="15" dur="1" fill="hold">
                                          <p:stCondLst>
                                            <p:cond delay="0"/>
                                          </p:stCondLst>
                                        </p:cTn>
                                        <p:tgtEl>
                                          <p:spTgt spid="57"/>
                                        </p:tgtEl>
                                        <p:attrNameLst>
                                          <p:attrName>style.visibility</p:attrName>
                                        </p:attrNameLst>
                                      </p:cBhvr>
                                      <p:to>
                                        <p:strVal val="visible"/>
                                      </p:to>
                                    </p:set>
                                    <p:animEffect transition="in" filter="fade">
                                      <p:cBhvr>
                                        <p:cTn id="16" dur="2000"/>
                                        <p:tgtEl>
                                          <p:spTgt spid="5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grpId="0" nodeType="clickEffect">
                                  <p:stCondLst>
                                    <p:cond delay="0"/>
                                  </p:stCondLst>
                                  <p:childTnLst>
                                    <p:set>
                                      <p:cBhvr>
                                        <p:cTn id="20" dur="1" fill="hold">
                                          <p:stCondLst>
                                            <p:cond delay="0"/>
                                          </p:stCondLst>
                                        </p:cTn>
                                        <p:tgtEl>
                                          <p:spTgt spid="53"/>
                                        </p:tgtEl>
                                        <p:attrNameLst>
                                          <p:attrName>style.visibility</p:attrName>
                                        </p:attrNameLst>
                                      </p:cBhvr>
                                      <p:to>
                                        <p:strVal val="visible"/>
                                      </p:to>
                                    </p:set>
                                    <p:animEffect transition="in" filter="wipe(right)">
                                      <p:cBhvr>
                                        <p:cTn id="21" dur="5000"/>
                                        <p:tgtEl>
                                          <p:spTgt spid="53"/>
                                        </p:tgtEl>
                                      </p:cBhvr>
                                    </p:animEffect>
                                  </p:childTnLst>
                                  <p:subTnLst>
                                    <p:audio>
                                      <p:cMediaNode>
                                        <p:cTn display="0" masterRel="sameClick">
                                          <p:stCondLst>
                                            <p:cond evt="begin" delay="0">
                                              <p:tn val="19"/>
                                            </p:cond>
                                          </p:stCondLst>
                                          <p:endCondLst>
                                            <p:cond evt="onStopAudio" delay="0">
                                              <p:tgtEl>
                                                <p:sldTgt/>
                                              </p:tgtEl>
                                            </p:cond>
                                          </p:endCondLst>
                                        </p:cTn>
                                        <p:tgtEl>
                                          <p:sndTgt r:embed="rId3" name="CHIMES.WAV"/>
                                        </p:tgtEl>
                                      </p:cMediaNode>
                                    </p:audio>
                                  </p:subTnLst>
                                </p:cTn>
                              </p:par>
                              <p:par>
                                <p:cTn id="22" presetID="19" presetClass="entr" presetSubtype="10" fill="hold" grpId="0" nodeType="withEffect">
                                  <p:stCondLst>
                                    <p:cond delay="0"/>
                                  </p:stCondLst>
                                  <p:childTnLst>
                                    <p:set>
                                      <p:cBhvr>
                                        <p:cTn id="23" dur="1" fill="hold">
                                          <p:stCondLst>
                                            <p:cond delay="0"/>
                                          </p:stCondLst>
                                        </p:cTn>
                                        <p:tgtEl>
                                          <p:spTgt spid="54"/>
                                        </p:tgtEl>
                                        <p:attrNameLst>
                                          <p:attrName>style.visibility</p:attrName>
                                        </p:attrNameLst>
                                      </p:cBhvr>
                                      <p:to>
                                        <p:strVal val="visible"/>
                                      </p:to>
                                    </p:set>
                                    <p:anim calcmode="lin" valueType="num">
                                      <p:cBhvr>
                                        <p:cTn id="24" dur="5000" fill="hold"/>
                                        <p:tgtEl>
                                          <p:spTgt spid="54"/>
                                        </p:tgtEl>
                                        <p:attrNameLst>
                                          <p:attrName>ppt_w</p:attrName>
                                        </p:attrNameLst>
                                      </p:cBhvr>
                                      <p:tavLst>
                                        <p:tav tm="0" fmla="#ppt_w*sin(2.5*pi*$)">
                                          <p:val>
                                            <p:fltVal val="0"/>
                                          </p:val>
                                        </p:tav>
                                        <p:tav tm="100000">
                                          <p:val>
                                            <p:fltVal val="1"/>
                                          </p:val>
                                        </p:tav>
                                      </p:tavLst>
                                    </p:anim>
                                    <p:anim calcmode="lin" valueType="num">
                                      <p:cBhvr>
                                        <p:cTn id="25" dur="5000" fill="hold"/>
                                        <p:tgtEl>
                                          <p:spTgt spid="5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2"/>
                                            </p:cond>
                                          </p:stCondLst>
                                          <p:endCondLst>
                                            <p:cond evt="onStopAudio" delay="0">
                                              <p:tgtEl>
                                                <p:sldTgt/>
                                              </p:tgtEl>
                                            </p:cond>
                                          </p:endCondLst>
                                        </p:cTn>
                                        <p:tgtEl>
                                          <p:sndTgt r:embed="rId3" name="CHIMES.WAV"/>
                                        </p:tgtEl>
                                      </p:cMediaNode>
                                    </p:audio>
                                  </p:subTnLst>
                                </p:cTn>
                              </p:par>
                            </p:childTnLst>
                          </p:cTn>
                        </p:par>
                        <p:par>
                          <p:cTn id="26" fill="hold">
                            <p:stCondLst>
                              <p:cond delay="5000"/>
                            </p:stCondLst>
                            <p:childTnLst>
                              <p:par>
                                <p:cTn id="27" presetID="12" presetClass="entr" presetSubtype="8" fill="hold" grpId="0" nodeType="afterEffect">
                                  <p:stCondLst>
                                    <p:cond delay="0"/>
                                  </p:stCondLst>
                                  <p:childTnLst>
                                    <p:set>
                                      <p:cBhvr>
                                        <p:cTn id="28" dur="1" fill="hold">
                                          <p:stCondLst>
                                            <p:cond delay="0"/>
                                          </p:stCondLst>
                                        </p:cTn>
                                        <p:tgtEl>
                                          <p:spTgt spid="55"/>
                                        </p:tgtEl>
                                        <p:attrNameLst>
                                          <p:attrName>style.visibility</p:attrName>
                                        </p:attrNameLst>
                                      </p:cBhvr>
                                      <p:to>
                                        <p:strVal val="visible"/>
                                      </p:to>
                                    </p:set>
                                    <p:animEffect transition="in" filter="slide(fromLeft)">
                                      <p:cBhvr>
                                        <p:cTn id="29" dur="5000"/>
                                        <p:tgtEl>
                                          <p:spTgt spid="55"/>
                                        </p:tgtEl>
                                      </p:cBhvr>
                                    </p:animEffect>
                                  </p:childTnLst>
                                </p:cTn>
                              </p:par>
                              <p:par>
                                <p:cTn id="30" presetID="19" presetClass="entr" presetSubtype="10" fill="hold" grpId="0" nodeType="withEffect">
                                  <p:stCondLst>
                                    <p:cond delay="0"/>
                                  </p:stCondLst>
                                  <p:childTnLst>
                                    <p:set>
                                      <p:cBhvr>
                                        <p:cTn id="31" dur="1" fill="hold">
                                          <p:stCondLst>
                                            <p:cond delay="0"/>
                                          </p:stCondLst>
                                        </p:cTn>
                                        <p:tgtEl>
                                          <p:spTgt spid="56"/>
                                        </p:tgtEl>
                                        <p:attrNameLst>
                                          <p:attrName>style.visibility</p:attrName>
                                        </p:attrNameLst>
                                      </p:cBhvr>
                                      <p:to>
                                        <p:strVal val="visible"/>
                                      </p:to>
                                    </p:set>
                                    <p:anim calcmode="lin" valueType="num">
                                      <p:cBhvr>
                                        <p:cTn id="32" dur="5000" fill="hold"/>
                                        <p:tgtEl>
                                          <p:spTgt spid="56"/>
                                        </p:tgtEl>
                                        <p:attrNameLst>
                                          <p:attrName>ppt_w</p:attrName>
                                        </p:attrNameLst>
                                      </p:cBhvr>
                                      <p:tavLst>
                                        <p:tav tm="0" fmla="#ppt_w*sin(2.5*pi*$)">
                                          <p:val>
                                            <p:fltVal val="0"/>
                                          </p:val>
                                        </p:tav>
                                        <p:tav tm="100000">
                                          <p:val>
                                            <p:fltVal val="1"/>
                                          </p:val>
                                        </p:tav>
                                      </p:tavLst>
                                    </p:anim>
                                    <p:anim calcmode="lin" valueType="num">
                                      <p:cBhvr>
                                        <p:cTn id="33" dur="5000" fill="hold"/>
                                        <p:tgtEl>
                                          <p:spTgt spid="5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0"/>
                                            </p:cond>
                                          </p:stCondLst>
                                          <p:endCondLst>
                                            <p:cond evt="onStopAudio" delay="0">
                                              <p:tgtEl>
                                                <p:sldTgt/>
                                              </p:tgtEl>
                                            </p:cond>
                                          </p:endCondLst>
                                        </p:cTn>
                                        <p:tgtEl>
                                          <p:sndTgt r:embed="rId3" name="CHIMES.WAV"/>
                                        </p:tgtEl>
                                      </p:cMediaNode>
                                    </p:audio>
                                  </p:subTnLst>
                                </p:cTn>
                              </p:par>
                              <p:par>
                                <p:cTn id="34" presetID="17" presetClass="entr" presetSubtype="10" fill="hold" nodeType="withEffect">
                                  <p:stCondLst>
                                    <p:cond delay="0"/>
                                  </p:stCondLst>
                                  <p:childTnLst>
                                    <p:set>
                                      <p:cBhvr>
                                        <p:cTn id="35" dur="1" fill="hold">
                                          <p:stCondLst>
                                            <p:cond delay="0"/>
                                          </p:stCondLst>
                                        </p:cTn>
                                        <p:tgtEl>
                                          <p:spTgt spid="69"/>
                                        </p:tgtEl>
                                        <p:attrNameLst>
                                          <p:attrName>style.visibility</p:attrName>
                                        </p:attrNameLst>
                                      </p:cBhvr>
                                      <p:to>
                                        <p:strVal val="visible"/>
                                      </p:to>
                                    </p:set>
                                    <p:anim calcmode="lin" valueType="num">
                                      <p:cBhvr>
                                        <p:cTn id="36" dur="3000" fill="hold"/>
                                        <p:tgtEl>
                                          <p:spTgt spid="69"/>
                                        </p:tgtEl>
                                        <p:attrNameLst>
                                          <p:attrName>ppt_w</p:attrName>
                                        </p:attrNameLst>
                                      </p:cBhvr>
                                      <p:tavLst>
                                        <p:tav tm="0">
                                          <p:val>
                                            <p:fltVal val="0"/>
                                          </p:val>
                                        </p:tav>
                                        <p:tav tm="100000">
                                          <p:val>
                                            <p:strVal val="#ppt_w"/>
                                          </p:val>
                                        </p:tav>
                                      </p:tavLst>
                                    </p:anim>
                                    <p:anim calcmode="lin" valueType="num">
                                      <p:cBhvr>
                                        <p:cTn id="37" dur="3000" fill="hold"/>
                                        <p:tgtEl>
                                          <p:spTgt spid="69"/>
                                        </p:tgtEl>
                                        <p:attrNameLst>
                                          <p:attrName>ppt_h</p:attrName>
                                        </p:attrNameLst>
                                      </p:cBhvr>
                                      <p:tavLst>
                                        <p:tav tm="0">
                                          <p:val>
                                            <p:strVal val="#ppt_h"/>
                                          </p:val>
                                        </p:tav>
                                        <p:tav tm="100000">
                                          <p:val>
                                            <p:strVal val="#ppt_h"/>
                                          </p:val>
                                        </p:tav>
                                      </p:tavLst>
                                    </p:anim>
                                  </p:childTnLst>
                                </p:cTn>
                              </p:par>
                            </p:childTnLst>
                          </p:cTn>
                        </p:par>
                        <p:par>
                          <p:cTn id="38" fill="hold">
                            <p:stCondLst>
                              <p:cond delay="10000"/>
                            </p:stCondLst>
                            <p:childTnLst>
                              <p:par>
                                <p:cTn id="39" presetID="22" presetClass="entr" presetSubtype="4" fill="hold" grpId="0" nodeType="afterEffect">
                                  <p:stCondLst>
                                    <p:cond delay="0"/>
                                  </p:stCondLst>
                                  <p:childTnLst>
                                    <p:set>
                                      <p:cBhvr>
                                        <p:cTn id="40" dur="1" fill="hold">
                                          <p:stCondLst>
                                            <p:cond delay="0"/>
                                          </p:stCondLst>
                                        </p:cTn>
                                        <p:tgtEl>
                                          <p:spTgt spid="66"/>
                                        </p:tgtEl>
                                        <p:attrNameLst>
                                          <p:attrName>style.visibility</p:attrName>
                                        </p:attrNameLst>
                                      </p:cBhvr>
                                      <p:to>
                                        <p:strVal val="visible"/>
                                      </p:to>
                                    </p:set>
                                    <p:animEffect transition="in" filter="wipe(down)">
                                      <p:cBhvr>
                                        <p:cTn id="41" dur="5000"/>
                                        <p:tgtEl>
                                          <p:spTgt spid="66"/>
                                        </p:tgtEl>
                                      </p:cBhvr>
                                    </p:animEffect>
                                  </p:childTnLst>
                                  <p:subTnLst>
                                    <p:audio>
                                      <p:cMediaNode>
                                        <p:cTn display="0" masterRel="sameClick">
                                          <p:stCondLst>
                                            <p:cond evt="begin" delay="0">
                                              <p:tn val="39"/>
                                            </p:cond>
                                          </p:stCondLst>
                                          <p:endCondLst>
                                            <p:cond evt="onStopAudio" delay="0">
                                              <p:tgtEl>
                                                <p:sldTgt/>
                                              </p:tgtEl>
                                            </p:cond>
                                          </p:endCondLst>
                                        </p:cTn>
                                        <p:tgtEl>
                                          <p:sndTgt r:embed="rId3" name="CHIMES.WAV"/>
                                        </p:tgtEl>
                                      </p:cMediaNode>
                                    </p:audio>
                                  </p:subTnLst>
                                </p:cTn>
                              </p:par>
                              <p:par>
                                <p:cTn id="42" presetID="19" presetClass="entr" presetSubtype="10" fill="hold" grpId="0" nodeType="withEffect">
                                  <p:stCondLst>
                                    <p:cond delay="0"/>
                                  </p:stCondLst>
                                  <p:childTnLst>
                                    <p:set>
                                      <p:cBhvr>
                                        <p:cTn id="43" dur="1" fill="hold">
                                          <p:stCondLst>
                                            <p:cond delay="0"/>
                                          </p:stCondLst>
                                        </p:cTn>
                                        <p:tgtEl>
                                          <p:spTgt spid="65"/>
                                        </p:tgtEl>
                                        <p:attrNameLst>
                                          <p:attrName>style.visibility</p:attrName>
                                        </p:attrNameLst>
                                      </p:cBhvr>
                                      <p:to>
                                        <p:strVal val="visible"/>
                                      </p:to>
                                    </p:set>
                                    <p:anim calcmode="lin" valueType="num">
                                      <p:cBhvr>
                                        <p:cTn id="44" dur="5000" fill="hold"/>
                                        <p:tgtEl>
                                          <p:spTgt spid="65"/>
                                        </p:tgtEl>
                                        <p:attrNameLst>
                                          <p:attrName>ppt_w</p:attrName>
                                        </p:attrNameLst>
                                      </p:cBhvr>
                                      <p:tavLst>
                                        <p:tav tm="0" fmla="#ppt_w*sin(2.5*pi*$)">
                                          <p:val>
                                            <p:fltVal val="0"/>
                                          </p:val>
                                        </p:tav>
                                        <p:tav tm="100000">
                                          <p:val>
                                            <p:fltVal val="1"/>
                                          </p:val>
                                        </p:tav>
                                      </p:tavLst>
                                    </p:anim>
                                    <p:anim calcmode="lin" valueType="num">
                                      <p:cBhvr>
                                        <p:cTn id="45" dur="5000" fill="hold"/>
                                        <p:tgtEl>
                                          <p:spTgt spid="6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2"/>
                                            </p:cond>
                                          </p:stCondLst>
                                          <p:endCondLst>
                                            <p:cond evt="onStopAudio" delay="0">
                                              <p:tgtEl>
                                                <p:sldTgt/>
                                              </p:tgtEl>
                                            </p:cond>
                                          </p:endCondLst>
                                        </p:cTn>
                                        <p:tgtEl>
                                          <p:sndTgt r:embed="rId3" name="CHIMES.WAV"/>
                                        </p:tgtEl>
                                      </p:cMediaNode>
                                    </p:audio>
                                  </p:subTnLst>
                                </p:cTn>
                              </p:par>
                            </p:childTnLst>
                          </p:cTn>
                        </p:par>
                        <p:par>
                          <p:cTn id="46" fill="hold">
                            <p:stCondLst>
                              <p:cond delay="15000"/>
                            </p:stCondLst>
                            <p:childTnLst>
                              <p:par>
                                <p:cTn id="47" presetID="12" presetClass="entr" presetSubtype="2" fill="hold" grpId="0" nodeType="afterEffect">
                                  <p:stCondLst>
                                    <p:cond delay="0"/>
                                  </p:stCondLst>
                                  <p:childTnLst>
                                    <p:set>
                                      <p:cBhvr>
                                        <p:cTn id="48" dur="1" fill="hold">
                                          <p:stCondLst>
                                            <p:cond delay="0"/>
                                          </p:stCondLst>
                                        </p:cTn>
                                        <p:tgtEl>
                                          <p:spTgt spid="67"/>
                                        </p:tgtEl>
                                        <p:attrNameLst>
                                          <p:attrName>style.visibility</p:attrName>
                                        </p:attrNameLst>
                                      </p:cBhvr>
                                      <p:to>
                                        <p:strVal val="visible"/>
                                      </p:to>
                                    </p:set>
                                    <p:animEffect transition="in" filter="slide(fromRight)">
                                      <p:cBhvr>
                                        <p:cTn id="49" dur="5000"/>
                                        <p:tgtEl>
                                          <p:spTgt spid="67"/>
                                        </p:tgtEl>
                                      </p:cBhvr>
                                    </p:animEffect>
                                  </p:childTnLst>
                                </p:cTn>
                              </p:par>
                              <p:par>
                                <p:cTn id="50" presetID="19" presetClass="entr" presetSubtype="10" fill="hold" grpId="0" nodeType="withEffect">
                                  <p:stCondLst>
                                    <p:cond delay="0"/>
                                  </p:stCondLst>
                                  <p:childTnLst>
                                    <p:set>
                                      <p:cBhvr>
                                        <p:cTn id="51" dur="1" fill="hold">
                                          <p:stCondLst>
                                            <p:cond delay="0"/>
                                          </p:stCondLst>
                                        </p:cTn>
                                        <p:tgtEl>
                                          <p:spTgt spid="68"/>
                                        </p:tgtEl>
                                        <p:attrNameLst>
                                          <p:attrName>style.visibility</p:attrName>
                                        </p:attrNameLst>
                                      </p:cBhvr>
                                      <p:to>
                                        <p:strVal val="visible"/>
                                      </p:to>
                                    </p:set>
                                    <p:anim calcmode="lin" valueType="num">
                                      <p:cBhvr>
                                        <p:cTn id="52" dur="5000" fill="hold"/>
                                        <p:tgtEl>
                                          <p:spTgt spid="68"/>
                                        </p:tgtEl>
                                        <p:attrNameLst>
                                          <p:attrName>ppt_w</p:attrName>
                                        </p:attrNameLst>
                                      </p:cBhvr>
                                      <p:tavLst>
                                        <p:tav tm="0" fmla="#ppt_w*sin(2.5*pi*$)">
                                          <p:val>
                                            <p:fltVal val="0"/>
                                          </p:val>
                                        </p:tav>
                                        <p:tav tm="100000">
                                          <p:val>
                                            <p:fltVal val="1"/>
                                          </p:val>
                                        </p:tav>
                                      </p:tavLst>
                                    </p:anim>
                                    <p:anim calcmode="lin" valueType="num">
                                      <p:cBhvr>
                                        <p:cTn id="53" dur="5000" fill="hold"/>
                                        <p:tgtEl>
                                          <p:spTgt spid="6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3" name="CHIMES.WAV"/>
                                        </p:tgtEl>
                                      </p:cMediaNode>
                                    </p:audio>
                                  </p:subTnLst>
                                </p:cTn>
                              </p:par>
                              <p:par>
                                <p:cTn id="54" presetID="17" presetClass="entr" presetSubtype="10" fill="hold" nodeType="withEffect">
                                  <p:stCondLst>
                                    <p:cond delay="0"/>
                                  </p:stCondLst>
                                  <p:childTnLst>
                                    <p:set>
                                      <p:cBhvr>
                                        <p:cTn id="55" dur="1" fill="hold">
                                          <p:stCondLst>
                                            <p:cond delay="0"/>
                                          </p:stCondLst>
                                        </p:cTn>
                                        <p:tgtEl>
                                          <p:spTgt spid="77"/>
                                        </p:tgtEl>
                                        <p:attrNameLst>
                                          <p:attrName>style.visibility</p:attrName>
                                        </p:attrNameLst>
                                      </p:cBhvr>
                                      <p:to>
                                        <p:strVal val="visible"/>
                                      </p:to>
                                    </p:set>
                                    <p:anim calcmode="lin" valueType="num">
                                      <p:cBhvr>
                                        <p:cTn id="56" dur="3000" fill="hold"/>
                                        <p:tgtEl>
                                          <p:spTgt spid="77"/>
                                        </p:tgtEl>
                                        <p:attrNameLst>
                                          <p:attrName>ppt_w</p:attrName>
                                        </p:attrNameLst>
                                      </p:cBhvr>
                                      <p:tavLst>
                                        <p:tav tm="0">
                                          <p:val>
                                            <p:fltVal val="0"/>
                                          </p:val>
                                        </p:tav>
                                        <p:tav tm="100000">
                                          <p:val>
                                            <p:strVal val="#ppt_w"/>
                                          </p:val>
                                        </p:tav>
                                      </p:tavLst>
                                    </p:anim>
                                    <p:anim calcmode="lin" valueType="num">
                                      <p:cBhvr>
                                        <p:cTn id="57" dur="3000" fill="hold"/>
                                        <p:tgtEl>
                                          <p:spTgt spid="7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6" grpId="0" autoUpdateAnimBg="0"/>
      <p:bldP spid="53" grpId="0" animBg="1"/>
      <p:bldP spid="54" grpId="0" autoUpdateAnimBg="0"/>
      <p:bldP spid="55" grpId="0" animBg="1"/>
      <p:bldP spid="56" grpId="0" autoUpdateAnimBg="0"/>
      <p:bldP spid="65" grpId="0" autoUpdateAnimBg="0"/>
      <p:bldP spid="66" grpId="0" animBg="1"/>
      <p:bldP spid="67" grpId="0" animBg="1"/>
      <p:bldP spid="68"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46" name="Text Box 1032"/>
          <p:cNvSpPr txBox="1">
            <a:spLocks noChangeArrowheads="1"/>
          </p:cNvSpPr>
          <p:nvPr/>
        </p:nvSpPr>
        <p:spPr bwMode="auto">
          <a:xfrm>
            <a:off x="911424" y="1268760"/>
            <a:ext cx="10225136"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zh-CN" altLang="en-US" sz="2800" i="0" dirty="0">
                <a:latin typeface="+mj-lt"/>
                <a:ea typeface="微软雅黑" panose="020B0503020204020204" pitchFamily="34" charset="-122"/>
              </a:rPr>
              <a:t>在求扭矩时，一般按正向假设，所得为负则说明扭矩转向与所设相反。当轴上作用有多个外力偶时，须以外力偶所在的截面将轴分成数段。逐段求出其扭矩。为形象地表示扭矩沿轴线的变化情况，可仿照轴力图的方法绘制扭矩图。作图时，沿轴线方向取坐标表示横截面的位置，以垂直于轴线的方向取坐标表示扭矩。</a:t>
            </a:r>
          </a:p>
        </p:txBody>
      </p:sp>
    </p:spTree>
    <p:extLst>
      <p:ext uri="{BB962C8B-B14F-4D97-AF65-F5344CB8AC3E}">
        <p14:creationId xmlns:p14="http://schemas.microsoft.com/office/powerpoint/2010/main" val="45158477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61"/>
          <p:cNvSpPr>
            <a:spLocks noChangeArrowheads="1"/>
          </p:cNvSpPr>
          <p:nvPr/>
        </p:nvSpPr>
        <p:spPr bwMode="auto">
          <a:xfrm>
            <a:off x="7176120" y="820393"/>
            <a:ext cx="5015880" cy="5416920"/>
          </a:xfrm>
          <a:prstGeom prst="rect">
            <a:avLst/>
          </a:prstGeom>
          <a:solidFill>
            <a:srgbClr val="B9CDE5"/>
          </a:solidFill>
          <a:ln>
            <a:noFill/>
          </a:ln>
          <a:effectLst/>
        </p:spPr>
        <p:txBody>
          <a:bodyPr wrap="none" anchor="ctr"/>
          <a:lstStyle/>
          <a:p>
            <a:endParaRPr lang="zh-CN" altLang="en-US" dirty="0"/>
          </a:p>
        </p:txBody>
      </p:sp>
      <p:sp>
        <p:nvSpPr>
          <p:cNvPr id="7" name="矩形 6"/>
          <p:cNvSpPr/>
          <p:nvPr/>
        </p:nvSpPr>
        <p:spPr>
          <a:xfrm>
            <a:off x="20960" y="91693"/>
            <a:ext cx="711605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第八章   拉压、剪切与挤压的强度计算</a:t>
            </a:r>
          </a:p>
        </p:txBody>
      </p:sp>
      <p:sp>
        <p:nvSpPr>
          <p:cNvPr id="19" name="矩形 18">
            <a:extLst>
              <a:ext uri="{FF2B5EF4-FFF2-40B4-BE49-F238E27FC236}">
                <a16:creationId xmlns:a16="http://schemas.microsoft.com/office/drawing/2014/main" xmlns="" id="{396E3A4E-3DCE-51D1-DE56-78AC0CFE008B}"/>
              </a:ext>
            </a:extLst>
          </p:cNvPr>
          <p:cNvSpPr/>
          <p:nvPr/>
        </p:nvSpPr>
        <p:spPr>
          <a:xfrm>
            <a:off x="191344" y="820392"/>
            <a:ext cx="6900249" cy="1717393"/>
          </a:xfrm>
          <a:prstGeom prst="rect">
            <a:avLst/>
          </a:prstGeom>
        </p:spPr>
        <p:txBody>
          <a:bodyPr wrap="square">
            <a:spAutoFit/>
          </a:bodyPr>
          <a:lstStyle/>
          <a:p>
            <a:pPr algn="just">
              <a:lnSpc>
                <a:spcPct val="110000"/>
              </a:lnSpc>
            </a:pPr>
            <a:r>
              <a:rPr lang="zh-CN" altLang="en-US" i="0" dirty="0">
                <a:solidFill>
                  <a:srgbClr val="0033CC"/>
                </a:solidFill>
                <a:ea typeface="黑体" panose="02010609060101010101" pitchFamily="49" charset="-122"/>
              </a:rPr>
              <a:t>例</a:t>
            </a:r>
            <a:r>
              <a:rPr lang="zh-CN" altLang="en-US" i="0" dirty="0">
                <a:solidFill>
                  <a:schemeClr val="tx1"/>
                </a:solidFill>
                <a:ea typeface="黑体" panose="02010609060101010101" pitchFamily="49" charset="-122"/>
              </a:rPr>
              <a:t>  </a:t>
            </a:r>
            <a:r>
              <a:rPr lang="zh-CN" altLang="en-US" i="0" dirty="0">
                <a:solidFill>
                  <a:schemeClr val="tx1"/>
                </a:solidFill>
                <a:latin typeface="+mn-lt"/>
                <a:ea typeface="黑体" panose="02010609060101010101" pitchFamily="49" charset="-122"/>
              </a:rPr>
              <a:t>一传动系统的主轴</a:t>
            </a:r>
            <a:r>
              <a:rPr lang="en-US" altLang="zh-CN" b="0" dirty="0">
                <a:solidFill>
                  <a:schemeClr val="tx1"/>
                </a:solidFill>
                <a:latin typeface="+mn-lt"/>
                <a:ea typeface="黑体" panose="02010609060101010101" pitchFamily="49" charset="-122"/>
              </a:rPr>
              <a:t>ABC</a:t>
            </a:r>
            <a:r>
              <a:rPr lang="zh-CN" altLang="en-US" i="0" dirty="0">
                <a:solidFill>
                  <a:schemeClr val="tx1"/>
                </a:solidFill>
                <a:latin typeface="+mn-lt"/>
                <a:ea typeface="黑体" panose="02010609060101010101" pitchFamily="49" charset="-122"/>
              </a:rPr>
              <a:t>，其转速</a:t>
            </a:r>
            <a:r>
              <a:rPr lang="en-US" altLang="zh-CN" b="0" dirty="0">
                <a:solidFill>
                  <a:schemeClr val="tx1"/>
                </a:solidFill>
                <a:latin typeface="+mn-lt"/>
                <a:ea typeface="黑体" panose="02010609060101010101" pitchFamily="49" charset="-122"/>
              </a:rPr>
              <a:t>n</a:t>
            </a:r>
            <a:r>
              <a:rPr lang="en-US" altLang="zh-CN" b="0" i="0" dirty="0">
                <a:solidFill>
                  <a:schemeClr val="tx1"/>
                </a:solidFill>
                <a:latin typeface="+mn-lt"/>
                <a:ea typeface="黑体" panose="02010609060101010101" pitchFamily="49" charset="-122"/>
              </a:rPr>
              <a:t>=960r/min</a:t>
            </a:r>
            <a:r>
              <a:rPr lang="zh-CN" altLang="en-US" i="0" dirty="0">
                <a:solidFill>
                  <a:schemeClr val="tx1"/>
                </a:solidFill>
                <a:latin typeface="+mn-lt"/>
                <a:ea typeface="黑体" panose="02010609060101010101" pitchFamily="49" charset="-122"/>
              </a:rPr>
              <a:t>，输入功率</a:t>
            </a:r>
            <a:r>
              <a:rPr lang="en-US" altLang="zh-CN" b="0" dirty="0">
                <a:solidFill>
                  <a:schemeClr val="tx1"/>
                </a:solidFill>
                <a:latin typeface="+mn-lt"/>
                <a:ea typeface="黑体" panose="02010609060101010101" pitchFamily="49" charset="-122"/>
              </a:rPr>
              <a:t>P</a:t>
            </a:r>
            <a:r>
              <a:rPr lang="en-US" altLang="zh-CN" b="0" baseline="-25000" dirty="0">
                <a:solidFill>
                  <a:schemeClr val="tx1"/>
                </a:solidFill>
                <a:latin typeface="+mn-lt"/>
                <a:ea typeface="黑体" panose="02010609060101010101" pitchFamily="49" charset="-122"/>
              </a:rPr>
              <a:t>A</a:t>
            </a:r>
            <a:r>
              <a:rPr lang="en-US" altLang="zh-CN" b="0" i="0" dirty="0">
                <a:solidFill>
                  <a:schemeClr val="tx1"/>
                </a:solidFill>
                <a:latin typeface="+mn-lt"/>
                <a:ea typeface="黑体" panose="02010609060101010101" pitchFamily="49" charset="-122"/>
              </a:rPr>
              <a:t>=27.5kW</a:t>
            </a:r>
            <a:r>
              <a:rPr lang="zh-CN" altLang="en-US" i="0" dirty="0">
                <a:solidFill>
                  <a:schemeClr val="tx1"/>
                </a:solidFill>
                <a:latin typeface="+mn-lt"/>
                <a:ea typeface="黑体" panose="02010609060101010101" pitchFamily="49" charset="-122"/>
              </a:rPr>
              <a:t>，输出功率</a:t>
            </a:r>
            <a:r>
              <a:rPr lang="en-US" altLang="zh-CN" b="0" dirty="0" smtClean="0">
                <a:solidFill>
                  <a:schemeClr val="tx1"/>
                </a:solidFill>
                <a:latin typeface="+mn-lt"/>
                <a:ea typeface="黑体" panose="02010609060101010101" pitchFamily="49" charset="-122"/>
              </a:rPr>
              <a:t>P</a:t>
            </a:r>
            <a:r>
              <a:rPr lang="en-US" altLang="zh-CN" b="0" baseline="-25000" dirty="0" smtClean="0">
                <a:solidFill>
                  <a:schemeClr val="tx1"/>
                </a:solidFill>
                <a:latin typeface="+mn-lt"/>
                <a:ea typeface="黑体" panose="02010609060101010101" pitchFamily="49" charset="-122"/>
              </a:rPr>
              <a:t>B</a:t>
            </a:r>
            <a:r>
              <a:rPr lang="en-US" altLang="zh-CN" b="0" i="0" dirty="0" smtClean="0">
                <a:solidFill>
                  <a:schemeClr val="tx1"/>
                </a:solidFill>
                <a:latin typeface="+mn-lt"/>
                <a:ea typeface="黑体" panose="02010609060101010101" pitchFamily="49" charset="-122"/>
              </a:rPr>
              <a:t>=20kW</a:t>
            </a:r>
            <a:r>
              <a:rPr lang="zh-CN" altLang="en-US" i="0" dirty="0" smtClean="0">
                <a:solidFill>
                  <a:srgbClr val="000000"/>
                </a:solidFill>
                <a:latin typeface="Times New Roman"/>
                <a:ea typeface="黑体" panose="02010609060101010101" pitchFamily="49" charset="-122"/>
              </a:rPr>
              <a:t>， </a:t>
            </a:r>
            <a:r>
              <a:rPr lang="en-US" altLang="zh-CN" b="0" dirty="0" smtClean="0">
                <a:solidFill>
                  <a:schemeClr val="tx1"/>
                </a:solidFill>
                <a:latin typeface="+mn-lt"/>
                <a:ea typeface="黑体" panose="02010609060101010101" pitchFamily="49" charset="-122"/>
              </a:rPr>
              <a:t>P</a:t>
            </a:r>
            <a:r>
              <a:rPr lang="en-US" altLang="zh-CN" b="0" baseline="-25000" dirty="0" smtClean="0">
                <a:solidFill>
                  <a:schemeClr val="tx1"/>
                </a:solidFill>
                <a:latin typeface="+mn-lt"/>
                <a:ea typeface="黑体" panose="02010609060101010101" pitchFamily="49" charset="-122"/>
              </a:rPr>
              <a:t>C</a:t>
            </a:r>
            <a:r>
              <a:rPr lang="en-US" altLang="zh-CN" b="0" i="0" dirty="0" smtClean="0">
                <a:solidFill>
                  <a:schemeClr val="tx1"/>
                </a:solidFill>
                <a:latin typeface="+mn-lt"/>
                <a:ea typeface="黑体" panose="02010609060101010101" pitchFamily="49" charset="-122"/>
              </a:rPr>
              <a:t>=7.5kW</a:t>
            </a:r>
            <a:r>
              <a:rPr lang="zh-CN" altLang="en-US" i="0" dirty="0">
                <a:solidFill>
                  <a:schemeClr val="tx1"/>
                </a:solidFill>
                <a:latin typeface="+mn-lt"/>
                <a:ea typeface="黑体" panose="02010609060101010101" pitchFamily="49" charset="-122"/>
              </a:rPr>
              <a:t>，不计轴承摩擦等功率消耗。试作</a:t>
            </a:r>
            <a:r>
              <a:rPr lang="en-US" altLang="zh-CN" b="0" dirty="0">
                <a:solidFill>
                  <a:schemeClr val="tx1"/>
                </a:solidFill>
                <a:latin typeface="+mn-lt"/>
                <a:ea typeface="黑体" panose="02010609060101010101" pitchFamily="49" charset="-122"/>
              </a:rPr>
              <a:t>ABC</a:t>
            </a:r>
            <a:r>
              <a:rPr lang="zh-CN" altLang="en-US" i="0" dirty="0">
                <a:solidFill>
                  <a:schemeClr val="tx1"/>
                </a:solidFill>
                <a:latin typeface="+mn-lt"/>
                <a:ea typeface="黑体" panose="02010609060101010101" pitchFamily="49" charset="-122"/>
              </a:rPr>
              <a:t>轴的扭矩图。</a:t>
            </a:r>
          </a:p>
        </p:txBody>
      </p:sp>
      <p:sp>
        <p:nvSpPr>
          <p:cNvPr id="136" name="矩形 135">
            <a:extLst>
              <a:ext uri="{FF2B5EF4-FFF2-40B4-BE49-F238E27FC236}">
                <a16:creationId xmlns:a16="http://schemas.microsoft.com/office/drawing/2014/main" xmlns="" id="{396E3A4E-3DCE-51D1-DE56-78AC0CFE008B}"/>
              </a:ext>
            </a:extLst>
          </p:cNvPr>
          <p:cNvSpPr/>
          <p:nvPr/>
        </p:nvSpPr>
        <p:spPr>
          <a:xfrm>
            <a:off x="211185" y="2417187"/>
            <a:ext cx="5127330" cy="535531"/>
          </a:xfrm>
          <a:prstGeom prst="rect">
            <a:avLst/>
          </a:prstGeom>
        </p:spPr>
        <p:txBody>
          <a:bodyPr wrap="square">
            <a:spAutoFit/>
          </a:bodyPr>
          <a:lstStyle/>
          <a:p>
            <a:pPr lvl="0">
              <a:lnSpc>
                <a:spcPct val="120000"/>
              </a:lnSpc>
            </a:pPr>
            <a:r>
              <a:rPr lang="zh-CN" altLang="en-US" i="0" dirty="0">
                <a:solidFill>
                  <a:srgbClr val="0033CC"/>
                </a:solidFill>
                <a:ea typeface="黑体" panose="02010609060101010101" pitchFamily="49" charset="-122"/>
              </a:rPr>
              <a:t>解  </a:t>
            </a:r>
            <a:r>
              <a:rPr kumimoji="1" lang="en-US" altLang="zh-CN" i="0" dirty="0" smtClean="0">
                <a:solidFill>
                  <a:schemeClr val="tx1"/>
                </a:solidFill>
                <a:latin typeface="+mn-lt"/>
                <a:ea typeface="黑体" panose="02010609060101010101" pitchFamily="49" charset="-122"/>
              </a:rPr>
              <a:t>1) </a:t>
            </a:r>
            <a:r>
              <a:rPr kumimoji="1" lang="zh-CN" altLang="en-US" i="0" dirty="0" smtClean="0">
                <a:solidFill>
                  <a:schemeClr val="tx1"/>
                </a:solidFill>
                <a:latin typeface="+mn-lt"/>
                <a:ea typeface="黑体" panose="02010609060101010101" pitchFamily="49" charset="-122"/>
              </a:rPr>
              <a:t>计算</a:t>
            </a:r>
            <a:r>
              <a:rPr kumimoji="1" lang="zh-CN" altLang="en-US" i="0" dirty="0">
                <a:solidFill>
                  <a:schemeClr val="tx1"/>
                </a:solidFill>
                <a:latin typeface="+mn-lt"/>
                <a:ea typeface="黑体" panose="02010609060101010101" pitchFamily="49" charset="-122"/>
              </a:rPr>
              <a:t>外力偶矩。</a:t>
            </a:r>
            <a:endParaRPr kumimoji="1" lang="en-US" altLang="zh-CN" b="0" i="0" dirty="0">
              <a:solidFill>
                <a:schemeClr val="tx1"/>
              </a:solidFill>
              <a:latin typeface="+mn-lt"/>
              <a:ea typeface="黑体" panose="02010609060101010101" pitchFamily="49" charset="-122"/>
            </a:endParaRPr>
          </a:p>
        </p:txBody>
      </p:sp>
      <p:graphicFrame>
        <p:nvGraphicFramePr>
          <p:cNvPr id="187" name="Object 195"/>
          <p:cNvGraphicFramePr>
            <a:graphicFrameLocks noChangeAspect="1"/>
          </p:cNvGraphicFramePr>
          <p:nvPr>
            <p:extLst>
              <p:ext uri="{D42A27DB-BD31-4B8C-83A1-F6EECF244321}">
                <p14:modId xmlns:p14="http://schemas.microsoft.com/office/powerpoint/2010/main" val="1597911972"/>
              </p:ext>
            </p:extLst>
          </p:nvPr>
        </p:nvGraphicFramePr>
        <p:xfrm>
          <a:off x="623392" y="2965897"/>
          <a:ext cx="3357501" cy="440813"/>
        </p:xfrm>
        <a:graphic>
          <a:graphicData uri="http://schemas.openxmlformats.org/presentationml/2006/ole">
            <mc:AlternateContent xmlns:mc="http://schemas.openxmlformats.org/markup-compatibility/2006">
              <mc:Choice xmlns:v="urn:schemas-microsoft-com:vml" Requires="v">
                <p:oleObj spid="_x0000_s2056" name="Equation" r:id="rId6" imgW="1752480" imgH="228600" progId="Equation.DSMT4">
                  <p:embed/>
                </p:oleObj>
              </mc:Choice>
              <mc:Fallback>
                <p:oleObj name="Equation" r:id="rId6" imgW="1752480" imgH="228600" progId="Equation.DSMT4">
                  <p:embed/>
                  <p:pic>
                    <p:nvPicPr>
                      <p:cNvPr id="0" name=""/>
                      <p:cNvPicPr>
                        <a:picLocks noChangeAspect="1" noChangeArrowheads="1"/>
                      </p:cNvPicPr>
                      <p:nvPr/>
                    </p:nvPicPr>
                    <p:blipFill>
                      <a:blip r:embed="rId7"/>
                      <a:srcRect/>
                      <a:stretch>
                        <a:fillRect/>
                      </a:stretch>
                    </p:blipFill>
                    <p:spPr bwMode="auto">
                      <a:xfrm>
                        <a:off x="623392" y="2965897"/>
                        <a:ext cx="3357501" cy="440813"/>
                      </a:xfrm>
                      <a:prstGeom prst="rect">
                        <a:avLst/>
                      </a:prstGeom>
                      <a:noFill/>
                    </p:spPr>
                  </p:pic>
                </p:oleObj>
              </mc:Fallback>
            </mc:AlternateContent>
          </a:graphicData>
        </a:graphic>
      </p:graphicFrame>
      <p:graphicFrame>
        <p:nvGraphicFramePr>
          <p:cNvPr id="188" name="Object 194"/>
          <p:cNvGraphicFramePr>
            <a:graphicFrameLocks noChangeAspect="1"/>
          </p:cNvGraphicFramePr>
          <p:nvPr>
            <p:extLst>
              <p:ext uri="{D42A27DB-BD31-4B8C-83A1-F6EECF244321}">
                <p14:modId xmlns:p14="http://schemas.microsoft.com/office/powerpoint/2010/main" val="484751998"/>
              </p:ext>
            </p:extLst>
          </p:nvPr>
        </p:nvGraphicFramePr>
        <p:xfrm>
          <a:off x="3997217" y="2965897"/>
          <a:ext cx="3066006" cy="408801"/>
        </p:xfrm>
        <a:graphic>
          <a:graphicData uri="http://schemas.openxmlformats.org/presentationml/2006/ole">
            <mc:AlternateContent xmlns:mc="http://schemas.openxmlformats.org/markup-compatibility/2006">
              <mc:Choice xmlns:v="urn:schemas-microsoft-com:vml" Requires="v">
                <p:oleObj spid="_x0000_s2057" name="Equation" r:id="rId8" imgW="1726920" imgH="228600" progId="Equation.DSMT4">
                  <p:embed/>
                </p:oleObj>
              </mc:Choice>
              <mc:Fallback>
                <p:oleObj name="Equation" r:id="rId8" imgW="1726920" imgH="228600" progId="Equation.DSMT4">
                  <p:embed/>
                  <p:pic>
                    <p:nvPicPr>
                      <p:cNvPr id="0" name=""/>
                      <p:cNvPicPr>
                        <a:picLocks noChangeAspect="1" noChangeArrowheads="1"/>
                      </p:cNvPicPr>
                      <p:nvPr/>
                    </p:nvPicPr>
                    <p:blipFill>
                      <a:blip r:embed="rId9"/>
                      <a:srcRect/>
                      <a:stretch>
                        <a:fillRect/>
                      </a:stretch>
                    </p:blipFill>
                    <p:spPr bwMode="auto">
                      <a:xfrm>
                        <a:off x="3997217" y="2965897"/>
                        <a:ext cx="3066006" cy="408801"/>
                      </a:xfrm>
                      <a:prstGeom prst="rect">
                        <a:avLst/>
                      </a:prstGeom>
                      <a:noFill/>
                    </p:spPr>
                  </p:pic>
                </p:oleObj>
              </mc:Fallback>
            </mc:AlternateContent>
          </a:graphicData>
        </a:graphic>
      </p:graphicFrame>
      <p:graphicFrame>
        <p:nvGraphicFramePr>
          <p:cNvPr id="189" name="Object 193"/>
          <p:cNvGraphicFramePr>
            <a:graphicFrameLocks noChangeAspect="1"/>
          </p:cNvGraphicFramePr>
          <p:nvPr>
            <p:extLst>
              <p:ext uri="{D42A27DB-BD31-4B8C-83A1-F6EECF244321}">
                <p14:modId xmlns:p14="http://schemas.microsoft.com/office/powerpoint/2010/main" val="427815934"/>
              </p:ext>
            </p:extLst>
          </p:nvPr>
        </p:nvGraphicFramePr>
        <p:xfrm>
          <a:off x="623392" y="3429464"/>
          <a:ext cx="3122517" cy="429590"/>
        </p:xfrm>
        <a:graphic>
          <a:graphicData uri="http://schemas.openxmlformats.org/presentationml/2006/ole">
            <mc:AlternateContent xmlns:mc="http://schemas.openxmlformats.org/markup-compatibility/2006">
              <mc:Choice xmlns:v="urn:schemas-microsoft-com:vml" Requires="v">
                <p:oleObj spid="_x0000_s2058" name="Equation" r:id="rId10" imgW="1676160" imgH="228600" progId="Equation.DSMT4">
                  <p:embed/>
                </p:oleObj>
              </mc:Choice>
              <mc:Fallback>
                <p:oleObj name="Equation" r:id="rId10" imgW="1676160" imgH="228600" progId="Equation.DSMT4">
                  <p:embed/>
                  <p:pic>
                    <p:nvPicPr>
                      <p:cNvPr id="0" name=""/>
                      <p:cNvPicPr>
                        <a:picLocks noChangeAspect="1" noChangeArrowheads="1"/>
                      </p:cNvPicPr>
                      <p:nvPr/>
                    </p:nvPicPr>
                    <p:blipFill>
                      <a:blip r:embed="rId11"/>
                      <a:srcRect/>
                      <a:stretch>
                        <a:fillRect/>
                      </a:stretch>
                    </p:blipFill>
                    <p:spPr bwMode="auto">
                      <a:xfrm>
                        <a:off x="623392" y="3429464"/>
                        <a:ext cx="3122517" cy="429590"/>
                      </a:xfrm>
                      <a:prstGeom prst="rect">
                        <a:avLst/>
                      </a:prstGeom>
                      <a:noFill/>
                    </p:spPr>
                  </p:pic>
                </p:oleObj>
              </mc:Fallback>
            </mc:AlternateContent>
          </a:graphicData>
        </a:graphic>
      </p:graphicFrame>
      <p:sp>
        <p:nvSpPr>
          <p:cNvPr id="291" name="Freeform 127" descr="浅色竖线"/>
          <p:cNvSpPr>
            <a:spLocks/>
          </p:cNvSpPr>
          <p:nvPr/>
        </p:nvSpPr>
        <p:spPr bwMode="auto">
          <a:xfrm>
            <a:off x="8644168" y="4845362"/>
            <a:ext cx="2244725" cy="765175"/>
          </a:xfrm>
          <a:custGeom>
            <a:avLst/>
            <a:gdLst>
              <a:gd name="T0" fmla="*/ 0 w 1414"/>
              <a:gd name="T1" fmla="*/ 20161251 h 482"/>
              <a:gd name="T2" fmla="*/ 0 w 1414"/>
              <a:gd name="T3" fmla="*/ 1214715402 h 482"/>
              <a:gd name="T4" fmla="*/ 2091729759 w 1414"/>
              <a:gd name="T5" fmla="*/ 1214715402 h 482"/>
              <a:gd name="T6" fmla="*/ 2091729759 w 1414"/>
              <a:gd name="T7" fmla="*/ 425907291 h 482"/>
              <a:gd name="T8" fmla="*/ 2147483647 w 1414"/>
              <a:gd name="T9" fmla="*/ 425907291 h 482"/>
              <a:gd name="T10" fmla="*/ 2147483647 w 1414"/>
              <a:gd name="T11" fmla="*/ 0 h 482"/>
              <a:gd name="T12" fmla="*/ 0 w 1414"/>
              <a:gd name="T13" fmla="*/ 20161251 h 482"/>
              <a:gd name="T14" fmla="*/ 0 60000 65536"/>
              <a:gd name="T15" fmla="*/ 0 60000 65536"/>
              <a:gd name="T16" fmla="*/ 0 60000 65536"/>
              <a:gd name="T17" fmla="*/ 0 60000 65536"/>
              <a:gd name="T18" fmla="*/ 0 60000 65536"/>
              <a:gd name="T19" fmla="*/ 0 60000 65536"/>
              <a:gd name="T20" fmla="*/ 0 60000 65536"/>
              <a:gd name="T21" fmla="*/ 0 w 1414"/>
              <a:gd name="T22" fmla="*/ 0 h 482"/>
              <a:gd name="T23" fmla="*/ 1414 w 1414"/>
              <a:gd name="T24" fmla="*/ 482 h 4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14" h="482">
                <a:moveTo>
                  <a:pt x="0" y="8"/>
                </a:moveTo>
                <a:lnTo>
                  <a:pt x="0" y="482"/>
                </a:lnTo>
                <a:lnTo>
                  <a:pt x="830" y="482"/>
                </a:lnTo>
                <a:lnTo>
                  <a:pt x="830" y="169"/>
                </a:lnTo>
                <a:lnTo>
                  <a:pt x="1414" y="169"/>
                </a:lnTo>
                <a:lnTo>
                  <a:pt x="1414" y="0"/>
                </a:lnTo>
                <a:lnTo>
                  <a:pt x="0" y="8"/>
                </a:lnTo>
                <a:close/>
              </a:path>
            </a:pathLst>
          </a:custGeom>
          <a:pattFill prst="ltVert">
            <a:fgClr>
              <a:srgbClr val="000000"/>
            </a:fgClr>
            <a:bgClr>
              <a:srgbClr val="66FF99"/>
            </a:bgClr>
          </a:patt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292" name="Group 7"/>
          <p:cNvGrpSpPr>
            <a:grpSpLocks/>
          </p:cNvGrpSpPr>
          <p:nvPr/>
        </p:nvGrpSpPr>
        <p:grpSpPr bwMode="auto">
          <a:xfrm>
            <a:off x="9522055" y="4959662"/>
            <a:ext cx="388938" cy="300038"/>
            <a:chOff x="4383" y="1620"/>
            <a:chExt cx="233" cy="183"/>
          </a:xfrm>
        </p:grpSpPr>
        <p:sp>
          <p:nvSpPr>
            <p:cNvPr id="293" name="Oval 8"/>
            <p:cNvSpPr>
              <a:spLocks noChangeAspect="1" noChangeArrowheads="1"/>
            </p:cNvSpPr>
            <p:nvPr/>
          </p:nvSpPr>
          <p:spPr bwMode="auto">
            <a:xfrm>
              <a:off x="4429" y="1695"/>
              <a:ext cx="100" cy="92"/>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94" name="Text Box 9"/>
            <p:cNvSpPr txBox="1">
              <a:spLocks noChangeAspect="1" noChangeArrowheads="1"/>
            </p:cNvSpPr>
            <p:nvPr/>
          </p:nvSpPr>
          <p:spPr bwMode="auto">
            <a:xfrm>
              <a:off x="4383" y="1620"/>
              <a:ext cx="23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1800" b="0"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a:t>
              </a:r>
            </a:p>
          </p:txBody>
        </p:sp>
      </p:grpSp>
      <p:sp>
        <p:nvSpPr>
          <p:cNvPr id="295" name="Text Box 13"/>
          <p:cNvSpPr txBox="1">
            <a:spLocks noChangeAspect="1" noChangeArrowheads="1"/>
          </p:cNvSpPr>
          <p:nvPr/>
        </p:nvSpPr>
        <p:spPr bwMode="auto">
          <a:xfrm>
            <a:off x="8550895" y="2436466"/>
            <a:ext cx="655638"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FF0000"/>
                </a:solidFill>
                <a:ea typeface="宋体" panose="02010600030101010101" pitchFamily="2" charset="-122"/>
              </a:rPr>
              <a:t>M</a:t>
            </a:r>
            <a:r>
              <a:rPr lang="en-US" altLang="zh-CN" b="0" i="0" baseline="-25000">
                <a:solidFill>
                  <a:srgbClr val="FF0000"/>
                </a:solidFill>
                <a:ea typeface="宋体" panose="02010600030101010101" pitchFamily="2" charset="-122"/>
              </a:rPr>
              <a:t>n1</a:t>
            </a:r>
          </a:p>
        </p:txBody>
      </p:sp>
      <p:grpSp>
        <p:nvGrpSpPr>
          <p:cNvPr id="296" name="Group 15"/>
          <p:cNvGrpSpPr>
            <a:grpSpLocks/>
          </p:cNvGrpSpPr>
          <p:nvPr/>
        </p:nvGrpSpPr>
        <p:grpSpPr bwMode="auto">
          <a:xfrm>
            <a:off x="7796443" y="820391"/>
            <a:ext cx="4129087" cy="1809750"/>
            <a:chOff x="2447" y="1044"/>
            <a:chExt cx="2601" cy="1140"/>
          </a:xfrm>
        </p:grpSpPr>
        <p:grpSp>
          <p:nvGrpSpPr>
            <p:cNvPr id="297" name="Group 16"/>
            <p:cNvGrpSpPr>
              <a:grpSpLocks/>
            </p:cNvGrpSpPr>
            <p:nvPr/>
          </p:nvGrpSpPr>
          <p:grpSpPr bwMode="auto">
            <a:xfrm>
              <a:off x="2754" y="1285"/>
              <a:ext cx="1822" cy="648"/>
              <a:chOff x="2762" y="2234"/>
              <a:chExt cx="1822" cy="648"/>
            </a:xfrm>
          </p:grpSpPr>
          <p:grpSp>
            <p:nvGrpSpPr>
              <p:cNvPr id="308" name="Group 17"/>
              <p:cNvGrpSpPr>
                <a:grpSpLocks/>
              </p:cNvGrpSpPr>
              <p:nvPr/>
            </p:nvGrpSpPr>
            <p:grpSpPr bwMode="auto">
              <a:xfrm>
                <a:off x="2762" y="2234"/>
                <a:ext cx="397" cy="648"/>
                <a:chOff x="2762" y="2234"/>
                <a:chExt cx="397" cy="648"/>
              </a:xfrm>
            </p:grpSpPr>
            <p:sp>
              <p:nvSpPr>
                <p:cNvPr id="323" name="Freeform 18"/>
                <p:cNvSpPr>
                  <a:spLocks/>
                </p:cNvSpPr>
                <p:nvPr/>
              </p:nvSpPr>
              <p:spPr bwMode="auto">
                <a:xfrm>
                  <a:off x="2766" y="2234"/>
                  <a:ext cx="234" cy="648"/>
                </a:xfrm>
                <a:custGeom>
                  <a:avLst/>
                  <a:gdLst/>
                  <a:ahLst/>
                  <a:cxnLst>
                    <a:cxn ang="0">
                      <a:pos x="142" y="4"/>
                    </a:cxn>
                    <a:cxn ang="0">
                      <a:pos x="124" y="6"/>
                    </a:cxn>
                    <a:cxn ang="0">
                      <a:pos x="88" y="32"/>
                    </a:cxn>
                    <a:cxn ang="0">
                      <a:pos x="62" y="64"/>
                    </a:cxn>
                    <a:cxn ang="0">
                      <a:pos x="32" y="128"/>
                    </a:cxn>
                    <a:cxn ang="0">
                      <a:pos x="10" y="206"/>
                    </a:cxn>
                    <a:cxn ang="0">
                      <a:pos x="0" y="332"/>
                    </a:cxn>
                    <a:cxn ang="0">
                      <a:pos x="4" y="402"/>
                    </a:cxn>
                    <a:cxn ang="0">
                      <a:pos x="30" y="510"/>
                    </a:cxn>
                    <a:cxn ang="0">
                      <a:pos x="54" y="572"/>
                    </a:cxn>
                    <a:cxn ang="0">
                      <a:pos x="86" y="616"/>
                    </a:cxn>
                    <a:cxn ang="0">
                      <a:pos x="128" y="644"/>
                    </a:cxn>
                    <a:cxn ang="0">
                      <a:pos x="234" y="640"/>
                    </a:cxn>
                    <a:cxn ang="0">
                      <a:pos x="226" y="4"/>
                    </a:cxn>
                    <a:cxn ang="0">
                      <a:pos x="142" y="4"/>
                    </a:cxn>
                  </a:cxnLst>
                  <a:rect l="0" t="0" r="r" b="b"/>
                  <a:pathLst>
                    <a:path w="234" h="648">
                      <a:moveTo>
                        <a:pt x="142" y="4"/>
                      </a:moveTo>
                      <a:cubicBezTo>
                        <a:pt x="144" y="6"/>
                        <a:pt x="133" y="1"/>
                        <a:pt x="124" y="6"/>
                      </a:cubicBezTo>
                      <a:cubicBezTo>
                        <a:pt x="115" y="11"/>
                        <a:pt x="98" y="22"/>
                        <a:pt x="88" y="32"/>
                      </a:cubicBezTo>
                      <a:cubicBezTo>
                        <a:pt x="78" y="42"/>
                        <a:pt x="71" y="48"/>
                        <a:pt x="62" y="64"/>
                      </a:cubicBezTo>
                      <a:cubicBezTo>
                        <a:pt x="53" y="80"/>
                        <a:pt x="36" y="102"/>
                        <a:pt x="32" y="128"/>
                      </a:cubicBezTo>
                      <a:cubicBezTo>
                        <a:pt x="23" y="152"/>
                        <a:pt x="16" y="172"/>
                        <a:pt x="10" y="206"/>
                      </a:cubicBezTo>
                      <a:cubicBezTo>
                        <a:pt x="5" y="240"/>
                        <a:pt x="1" y="299"/>
                        <a:pt x="0" y="332"/>
                      </a:cubicBezTo>
                      <a:cubicBezTo>
                        <a:pt x="4" y="368"/>
                        <a:pt x="0" y="368"/>
                        <a:pt x="4" y="402"/>
                      </a:cubicBezTo>
                      <a:cubicBezTo>
                        <a:pt x="12" y="442"/>
                        <a:pt x="18" y="478"/>
                        <a:pt x="30" y="510"/>
                      </a:cubicBezTo>
                      <a:cubicBezTo>
                        <a:pt x="39" y="538"/>
                        <a:pt x="45" y="554"/>
                        <a:pt x="54" y="572"/>
                      </a:cubicBezTo>
                      <a:cubicBezTo>
                        <a:pt x="63" y="590"/>
                        <a:pt x="74" y="604"/>
                        <a:pt x="86" y="616"/>
                      </a:cubicBezTo>
                      <a:cubicBezTo>
                        <a:pt x="106" y="632"/>
                        <a:pt x="103" y="640"/>
                        <a:pt x="128" y="644"/>
                      </a:cubicBezTo>
                      <a:cubicBezTo>
                        <a:pt x="153" y="648"/>
                        <a:pt x="134" y="648"/>
                        <a:pt x="234" y="640"/>
                      </a:cubicBezTo>
                      <a:cubicBezTo>
                        <a:pt x="152" y="532"/>
                        <a:pt x="98" y="232"/>
                        <a:pt x="226" y="4"/>
                      </a:cubicBezTo>
                      <a:cubicBezTo>
                        <a:pt x="158" y="0"/>
                        <a:pt x="158" y="10"/>
                        <a:pt x="142" y="4"/>
                      </a:cubicBezTo>
                      <a:close/>
                    </a:path>
                  </a:pathLst>
                </a:custGeom>
                <a:gradFill rotWithShape="1">
                  <a:gsLst>
                    <a:gs pos="0">
                      <a:srgbClr val="FFFFFF">
                        <a:gamma/>
                        <a:shade val="41176"/>
                        <a:invGamma/>
                      </a:srgbClr>
                    </a:gs>
                    <a:gs pos="50000">
                      <a:srgbClr val="FFFFFF"/>
                    </a:gs>
                    <a:gs pos="100000">
                      <a:srgbClr val="FFFFFF">
                        <a:gamma/>
                        <a:shade val="41176"/>
                        <a:invGamma/>
                      </a:srgbClr>
                    </a:gs>
                  </a:gsLst>
                  <a:lin ang="5400000" scaled="1"/>
                </a:gradFill>
                <a:ln w="9525">
                  <a:no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24" name="Oval 19"/>
                <p:cNvSpPr>
                  <a:spLocks noChangeArrowheads="1"/>
                </p:cNvSpPr>
                <p:nvPr/>
              </p:nvSpPr>
              <p:spPr bwMode="auto">
                <a:xfrm>
                  <a:off x="2854" y="2243"/>
                  <a:ext cx="305" cy="637"/>
                </a:xfrm>
                <a:prstGeom prst="ellipse">
                  <a:avLst/>
                </a:prstGeom>
                <a:gradFill rotWithShape="1">
                  <a:gsLst>
                    <a:gs pos="0">
                      <a:srgbClr val="FFFFFF"/>
                    </a:gs>
                    <a:gs pos="100000">
                      <a:srgbClr val="FFFFFF">
                        <a:gamma/>
                        <a:shade val="60392"/>
                        <a:invGamma/>
                      </a:srgbClr>
                    </a:gs>
                  </a:gsLst>
                  <a:path path="shape">
                    <a:fillToRect l="50000" t="50000" r="50000" b="50000"/>
                  </a:path>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25" name="Line 20"/>
                <p:cNvSpPr>
                  <a:spLocks noChangeShapeType="1"/>
                </p:cNvSpPr>
                <p:nvPr/>
              </p:nvSpPr>
              <p:spPr bwMode="auto">
                <a:xfrm flipH="1">
                  <a:off x="2904" y="2242"/>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26" name="Line 21"/>
                <p:cNvSpPr>
                  <a:spLocks noChangeShapeType="1"/>
                </p:cNvSpPr>
                <p:nvPr/>
              </p:nvSpPr>
              <p:spPr bwMode="auto">
                <a:xfrm flipH="1">
                  <a:off x="2896" y="2880"/>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27" name="Freeform 22"/>
                <p:cNvSpPr>
                  <a:spLocks/>
                </p:cNvSpPr>
                <p:nvPr/>
              </p:nvSpPr>
              <p:spPr bwMode="auto">
                <a:xfrm>
                  <a:off x="2762" y="2241"/>
                  <a:ext cx="148" cy="637"/>
                </a:xfrm>
                <a:custGeom>
                  <a:avLst/>
                  <a:gdLst>
                    <a:gd name="T0" fmla="*/ 148 w 148"/>
                    <a:gd name="T1" fmla="*/ 1 h 637"/>
                    <a:gd name="T2" fmla="*/ 126 w 148"/>
                    <a:gd name="T3" fmla="*/ 5 h 637"/>
                    <a:gd name="T4" fmla="*/ 90 w 148"/>
                    <a:gd name="T5" fmla="*/ 31 h 637"/>
                    <a:gd name="T6" fmla="*/ 64 w 148"/>
                    <a:gd name="T7" fmla="*/ 63 h 637"/>
                    <a:gd name="T8" fmla="*/ 30 w 148"/>
                    <a:gd name="T9" fmla="*/ 129 h 637"/>
                    <a:gd name="T10" fmla="*/ 12 w 148"/>
                    <a:gd name="T11" fmla="*/ 205 h 637"/>
                    <a:gd name="T12" fmla="*/ 2 w 148"/>
                    <a:gd name="T13" fmla="*/ 331 h 637"/>
                    <a:gd name="T14" fmla="*/ 6 w 148"/>
                    <a:gd name="T15" fmla="*/ 401 h 637"/>
                    <a:gd name="T16" fmla="*/ 32 w 148"/>
                    <a:gd name="T17" fmla="*/ 509 h 637"/>
                    <a:gd name="T18" fmla="*/ 60 w 148"/>
                    <a:gd name="T19" fmla="*/ 571 h 637"/>
                    <a:gd name="T20" fmla="*/ 92 w 148"/>
                    <a:gd name="T21" fmla="*/ 611 h 637"/>
                    <a:gd name="T22" fmla="*/ 136 w 148"/>
                    <a:gd name="T23" fmla="*/ 637 h 6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637"/>
                    <a:gd name="T38" fmla="*/ 148 w 148"/>
                    <a:gd name="T39" fmla="*/ 637 h 6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637">
                      <a:moveTo>
                        <a:pt x="148" y="1"/>
                      </a:moveTo>
                      <a:cubicBezTo>
                        <a:pt x="144" y="2"/>
                        <a:pt x="136" y="0"/>
                        <a:pt x="126" y="5"/>
                      </a:cubicBezTo>
                      <a:cubicBezTo>
                        <a:pt x="116" y="10"/>
                        <a:pt x="100" y="21"/>
                        <a:pt x="90" y="31"/>
                      </a:cubicBezTo>
                      <a:cubicBezTo>
                        <a:pt x="80" y="41"/>
                        <a:pt x="74" y="47"/>
                        <a:pt x="64" y="63"/>
                      </a:cubicBezTo>
                      <a:cubicBezTo>
                        <a:pt x="54" y="79"/>
                        <a:pt x="40" y="97"/>
                        <a:pt x="30" y="129"/>
                      </a:cubicBezTo>
                      <a:cubicBezTo>
                        <a:pt x="18" y="161"/>
                        <a:pt x="18" y="171"/>
                        <a:pt x="12" y="205"/>
                      </a:cubicBezTo>
                      <a:cubicBezTo>
                        <a:pt x="4" y="243"/>
                        <a:pt x="3" y="298"/>
                        <a:pt x="2" y="331"/>
                      </a:cubicBezTo>
                      <a:cubicBezTo>
                        <a:pt x="0" y="369"/>
                        <a:pt x="6" y="373"/>
                        <a:pt x="6" y="401"/>
                      </a:cubicBezTo>
                      <a:cubicBezTo>
                        <a:pt x="14" y="441"/>
                        <a:pt x="18" y="471"/>
                        <a:pt x="32" y="509"/>
                      </a:cubicBezTo>
                      <a:cubicBezTo>
                        <a:pt x="41" y="537"/>
                        <a:pt x="51" y="555"/>
                        <a:pt x="60" y="571"/>
                      </a:cubicBezTo>
                      <a:cubicBezTo>
                        <a:pt x="70" y="588"/>
                        <a:pt x="78" y="593"/>
                        <a:pt x="92" y="611"/>
                      </a:cubicBezTo>
                      <a:cubicBezTo>
                        <a:pt x="112" y="627"/>
                        <a:pt x="127" y="632"/>
                        <a:pt x="136" y="637"/>
                      </a:cubicBez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309" name="AutoShape 23"/>
              <p:cNvSpPr>
                <a:spLocks noChangeArrowheads="1"/>
              </p:cNvSpPr>
              <p:nvPr/>
            </p:nvSpPr>
            <p:spPr bwMode="auto">
              <a:xfrm>
                <a:off x="2982" y="2499"/>
                <a:ext cx="694" cy="119"/>
              </a:xfrm>
              <a:prstGeom prst="roundRect">
                <a:avLst>
                  <a:gd name="adj" fmla="val 44537"/>
                </a:avLst>
              </a:prstGeom>
              <a:gradFill rotWithShape="1">
                <a:gsLst>
                  <a:gs pos="0">
                    <a:srgbClr val="FFFFFF">
                      <a:gamma/>
                      <a:shade val="9412"/>
                      <a:invGamma/>
                    </a:srgbClr>
                  </a:gs>
                  <a:gs pos="50000">
                    <a:srgbClr val="FFFFFF"/>
                  </a:gs>
                  <a:gs pos="100000">
                    <a:srgbClr val="FFFFFF">
                      <a:gamma/>
                      <a:shade val="9412"/>
                      <a:invGamma/>
                    </a:srgbClr>
                  </a:gs>
                </a:gsLst>
                <a:lin ang="5400000" scaled="1"/>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grpSp>
            <p:nvGrpSpPr>
              <p:cNvPr id="310" name="Group 24"/>
              <p:cNvGrpSpPr>
                <a:grpSpLocks/>
              </p:cNvGrpSpPr>
              <p:nvPr/>
            </p:nvGrpSpPr>
            <p:grpSpPr bwMode="auto">
              <a:xfrm>
                <a:off x="3639" y="2349"/>
                <a:ext cx="257" cy="419"/>
                <a:chOff x="2762" y="2234"/>
                <a:chExt cx="397" cy="648"/>
              </a:xfrm>
            </p:grpSpPr>
            <p:sp>
              <p:nvSpPr>
                <p:cNvPr id="318" name="Freeform 25"/>
                <p:cNvSpPr>
                  <a:spLocks/>
                </p:cNvSpPr>
                <p:nvPr/>
              </p:nvSpPr>
              <p:spPr bwMode="auto">
                <a:xfrm>
                  <a:off x="2767" y="2234"/>
                  <a:ext cx="233" cy="648"/>
                </a:xfrm>
                <a:custGeom>
                  <a:avLst/>
                  <a:gdLst/>
                  <a:ahLst/>
                  <a:cxnLst>
                    <a:cxn ang="0">
                      <a:pos x="142" y="4"/>
                    </a:cxn>
                    <a:cxn ang="0">
                      <a:pos x="124" y="6"/>
                    </a:cxn>
                    <a:cxn ang="0">
                      <a:pos x="88" y="32"/>
                    </a:cxn>
                    <a:cxn ang="0">
                      <a:pos x="62" y="64"/>
                    </a:cxn>
                    <a:cxn ang="0">
                      <a:pos x="32" y="128"/>
                    </a:cxn>
                    <a:cxn ang="0">
                      <a:pos x="10" y="206"/>
                    </a:cxn>
                    <a:cxn ang="0">
                      <a:pos x="0" y="332"/>
                    </a:cxn>
                    <a:cxn ang="0">
                      <a:pos x="4" y="402"/>
                    </a:cxn>
                    <a:cxn ang="0">
                      <a:pos x="30" y="510"/>
                    </a:cxn>
                    <a:cxn ang="0">
                      <a:pos x="54" y="572"/>
                    </a:cxn>
                    <a:cxn ang="0">
                      <a:pos x="86" y="616"/>
                    </a:cxn>
                    <a:cxn ang="0">
                      <a:pos x="128" y="644"/>
                    </a:cxn>
                    <a:cxn ang="0">
                      <a:pos x="234" y="640"/>
                    </a:cxn>
                    <a:cxn ang="0">
                      <a:pos x="226" y="4"/>
                    </a:cxn>
                    <a:cxn ang="0">
                      <a:pos x="142" y="4"/>
                    </a:cxn>
                  </a:cxnLst>
                  <a:rect l="0" t="0" r="r" b="b"/>
                  <a:pathLst>
                    <a:path w="234" h="648">
                      <a:moveTo>
                        <a:pt x="142" y="4"/>
                      </a:moveTo>
                      <a:cubicBezTo>
                        <a:pt x="144" y="6"/>
                        <a:pt x="133" y="1"/>
                        <a:pt x="124" y="6"/>
                      </a:cubicBezTo>
                      <a:cubicBezTo>
                        <a:pt x="115" y="11"/>
                        <a:pt x="98" y="22"/>
                        <a:pt x="88" y="32"/>
                      </a:cubicBezTo>
                      <a:cubicBezTo>
                        <a:pt x="78" y="42"/>
                        <a:pt x="71" y="48"/>
                        <a:pt x="62" y="64"/>
                      </a:cubicBezTo>
                      <a:cubicBezTo>
                        <a:pt x="53" y="80"/>
                        <a:pt x="36" y="102"/>
                        <a:pt x="32" y="128"/>
                      </a:cubicBezTo>
                      <a:cubicBezTo>
                        <a:pt x="23" y="152"/>
                        <a:pt x="16" y="172"/>
                        <a:pt x="10" y="206"/>
                      </a:cubicBezTo>
                      <a:cubicBezTo>
                        <a:pt x="5" y="240"/>
                        <a:pt x="1" y="299"/>
                        <a:pt x="0" y="332"/>
                      </a:cubicBezTo>
                      <a:cubicBezTo>
                        <a:pt x="4" y="368"/>
                        <a:pt x="0" y="368"/>
                        <a:pt x="4" y="402"/>
                      </a:cubicBezTo>
                      <a:cubicBezTo>
                        <a:pt x="12" y="442"/>
                        <a:pt x="18" y="478"/>
                        <a:pt x="30" y="510"/>
                      </a:cubicBezTo>
                      <a:cubicBezTo>
                        <a:pt x="39" y="538"/>
                        <a:pt x="45" y="554"/>
                        <a:pt x="54" y="572"/>
                      </a:cubicBezTo>
                      <a:cubicBezTo>
                        <a:pt x="63" y="590"/>
                        <a:pt x="74" y="604"/>
                        <a:pt x="86" y="616"/>
                      </a:cubicBezTo>
                      <a:cubicBezTo>
                        <a:pt x="106" y="632"/>
                        <a:pt x="103" y="640"/>
                        <a:pt x="128" y="644"/>
                      </a:cubicBezTo>
                      <a:cubicBezTo>
                        <a:pt x="153" y="648"/>
                        <a:pt x="134" y="648"/>
                        <a:pt x="234" y="640"/>
                      </a:cubicBezTo>
                      <a:cubicBezTo>
                        <a:pt x="152" y="532"/>
                        <a:pt x="98" y="232"/>
                        <a:pt x="226" y="4"/>
                      </a:cubicBezTo>
                      <a:cubicBezTo>
                        <a:pt x="158" y="0"/>
                        <a:pt x="158" y="10"/>
                        <a:pt x="142" y="4"/>
                      </a:cubicBezTo>
                      <a:close/>
                    </a:path>
                  </a:pathLst>
                </a:custGeom>
                <a:gradFill rotWithShape="1">
                  <a:gsLst>
                    <a:gs pos="0">
                      <a:srgbClr val="FFFFFF">
                        <a:gamma/>
                        <a:shade val="41176"/>
                        <a:invGamma/>
                      </a:srgbClr>
                    </a:gs>
                    <a:gs pos="50000">
                      <a:srgbClr val="FFFFFF"/>
                    </a:gs>
                    <a:gs pos="100000">
                      <a:srgbClr val="FFFFFF">
                        <a:gamma/>
                        <a:shade val="41176"/>
                        <a:invGamma/>
                      </a:srgbClr>
                    </a:gs>
                  </a:gsLst>
                  <a:lin ang="5400000" scaled="1"/>
                </a:gradFill>
                <a:ln w="9525">
                  <a:no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19" name="Oval 26"/>
                <p:cNvSpPr>
                  <a:spLocks noChangeArrowheads="1"/>
                </p:cNvSpPr>
                <p:nvPr/>
              </p:nvSpPr>
              <p:spPr bwMode="auto">
                <a:xfrm>
                  <a:off x="2855" y="2243"/>
                  <a:ext cx="304" cy="637"/>
                </a:xfrm>
                <a:prstGeom prst="ellipse">
                  <a:avLst/>
                </a:prstGeom>
                <a:gradFill rotWithShape="1">
                  <a:gsLst>
                    <a:gs pos="0">
                      <a:srgbClr val="FFFFFF"/>
                    </a:gs>
                    <a:gs pos="100000">
                      <a:srgbClr val="FFFFFF">
                        <a:gamma/>
                        <a:shade val="60392"/>
                        <a:invGamma/>
                      </a:srgbClr>
                    </a:gs>
                  </a:gsLst>
                  <a:path path="shape">
                    <a:fillToRect l="50000" t="50000" r="50000" b="50000"/>
                  </a:path>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20" name="Line 27"/>
                <p:cNvSpPr>
                  <a:spLocks noChangeShapeType="1"/>
                </p:cNvSpPr>
                <p:nvPr/>
              </p:nvSpPr>
              <p:spPr bwMode="auto">
                <a:xfrm flipH="1">
                  <a:off x="2904" y="2242"/>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21" name="Line 28"/>
                <p:cNvSpPr>
                  <a:spLocks noChangeShapeType="1"/>
                </p:cNvSpPr>
                <p:nvPr/>
              </p:nvSpPr>
              <p:spPr bwMode="auto">
                <a:xfrm flipH="1">
                  <a:off x="2896" y="2880"/>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22" name="Freeform 29"/>
                <p:cNvSpPr>
                  <a:spLocks/>
                </p:cNvSpPr>
                <p:nvPr/>
              </p:nvSpPr>
              <p:spPr bwMode="auto">
                <a:xfrm>
                  <a:off x="2762" y="2241"/>
                  <a:ext cx="148" cy="637"/>
                </a:xfrm>
                <a:custGeom>
                  <a:avLst/>
                  <a:gdLst>
                    <a:gd name="T0" fmla="*/ 148 w 148"/>
                    <a:gd name="T1" fmla="*/ 1 h 637"/>
                    <a:gd name="T2" fmla="*/ 126 w 148"/>
                    <a:gd name="T3" fmla="*/ 5 h 637"/>
                    <a:gd name="T4" fmla="*/ 90 w 148"/>
                    <a:gd name="T5" fmla="*/ 31 h 637"/>
                    <a:gd name="T6" fmla="*/ 64 w 148"/>
                    <a:gd name="T7" fmla="*/ 63 h 637"/>
                    <a:gd name="T8" fmla="*/ 30 w 148"/>
                    <a:gd name="T9" fmla="*/ 129 h 637"/>
                    <a:gd name="T10" fmla="*/ 12 w 148"/>
                    <a:gd name="T11" fmla="*/ 205 h 637"/>
                    <a:gd name="T12" fmla="*/ 2 w 148"/>
                    <a:gd name="T13" fmla="*/ 331 h 637"/>
                    <a:gd name="T14" fmla="*/ 6 w 148"/>
                    <a:gd name="T15" fmla="*/ 401 h 637"/>
                    <a:gd name="T16" fmla="*/ 32 w 148"/>
                    <a:gd name="T17" fmla="*/ 509 h 637"/>
                    <a:gd name="T18" fmla="*/ 60 w 148"/>
                    <a:gd name="T19" fmla="*/ 571 h 637"/>
                    <a:gd name="T20" fmla="*/ 92 w 148"/>
                    <a:gd name="T21" fmla="*/ 611 h 637"/>
                    <a:gd name="T22" fmla="*/ 136 w 148"/>
                    <a:gd name="T23" fmla="*/ 637 h 6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637"/>
                    <a:gd name="T38" fmla="*/ 148 w 148"/>
                    <a:gd name="T39" fmla="*/ 637 h 6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637">
                      <a:moveTo>
                        <a:pt x="148" y="1"/>
                      </a:moveTo>
                      <a:cubicBezTo>
                        <a:pt x="144" y="2"/>
                        <a:pt x="136" y="0"/>
                        <a:pt x="126" y="5"/>
                      </a:cubicBezTo>
                      <a:cubicBezTo>
                        <a:pt x="116" y="10"/>
                        <a:pt x="100" y="21"/>
                        <a:pt x="90" y="31"/>
                      </a:cubicBezTo>
                      <a:cubicBezTo>
                        <a:pt x="80" y="41"/>
                        <a:pt x="74" y="47"/>
                        <a:pt x="64" y="63"/>
                      </a:cubicBezTo>
                      <a:cubicBezTo>
                        <a:pt x="54" y="79"/>
                        <a:pt x="40" y="97"/>
                        <a:pt x="30" y="129"/>
                      </a:cubicBezTo>
                      <a:cubicBezTo>
                        <a:pt x="18" y="161"/>
                        <a:pt x="18" y="171"/>
                        <a:pt x="12" y="205"/>
                      </a:cubicBezTo>
                      <a:cubicBezTo>
                        <a:pt x="4" y="243"/>
                        <a:pt x="3" y="298"/>
                        <a:pt x="2" y="331"/>
                      </a:cubicBezTo>
                      <a:cubicBezTo>
                        <a:pt x="0" y="369"/>
                        <a:pt x="6" y="373"/>
                        <a:pt x="6" y="401"/>
                      </a:cubicBezTo>
                      <a:cubicBezTo>
                        <a:pt x="14" y="441"/>
                        <a:pt x="18" y="471"/>
                        <a:pt x="32" y="509"/>
                      </a:cubicBezTo>
                      <a:cubicBezTo>
                        <a:pt x="41" y="537"/>
                        <a:pt x="51" y="555"/>
                        <a:pt x="60" y="571"/>
                      </a:cubicBezTo>
                      <a:cubicBezTo>
                        <a:pt x="70" y="588"/>
                        <a:pt x="78" y="593"/>
                        <a:pt x="92" y="611"/>
                      </a:cubicBezTo>
                      <a:cubicBezTo>
                        <a:pt x="112" y="627"/>
                        <a:pt x="127" y="632"/>
                        <a:pt x="136" y="637"/>
                      </a:cubicBez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311" name="AutoShape 30"/>
              <p:cNvSpPr>
                <a:spLocks noChangeArrowheads="1"/>
              </p:cNvSpPr>
              <p:nvPr/>
            </p:nvSpPr>
            <p:spPr bwMode="auto">
              <a:xfrm>
                <a:off x="3754" y="2499"/>
                <a:ext cx="694" cy="119"/>
              </a:xfrm>
              <a:prstGeom prst="roundRect">
                <a:avLst>
                  <a:gd name="adj" fmla="val 41176"/>
                </a:avLst>
              </a:prstGeom>
              <a:gradFill rotWithShape="1">
                <a:gsLst>
                  <a:gs pos="0">
                    <a:srgbClr val="FFFFFF">
                      <a:gamma/>
                      <a:shade val="9412"/>
                      <a:invGamma/>
                    </a:srgbClr>
                  </a:gs>
                  <a:gs pos="50000">
                    <a:srgbClr val="FFFFFF"/>
                  </a:gs>
                  <a:gs pos="100000">
                    <a:srgbClr val="FFFFFF">
                      <a:gamma/>
                      <a:shade val="9412"/>
                      <a:invGamma/>
                    </a:srgbClr>
                  </a:gs>
                </a:gsLst>
                <a:lin ang="5400000" scaled="1"/>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grpSp>
            <p:nvGrpSpPr>
              <p:cNvPr id="312" name="Group 31"/>
              <p:cNvGrpSpPr>
                <a:grpSpLocks/>
              </p:cNvGrpSpPr>
              <p:nvPr/>
            </p:nvGrpSpPr>
            <p:grpSpPr bwMode="auto">
              <a:xfrm>
                <a:off x="4327" y="2349"/>
                <a:ext cx="257" cy="419"/>
                <a:chOff x="2762" y="2234"/>
                <a:chExt cx="397" cy="648"/>
              </a:xfrm>
            </p:grpSpPr>
            <p:sp>
              <p:nvSpPr>
                <p:cNvPr id="313" name="Freeform 32"/>
                <p:cNvSpPr>
                  <a:spLocks/>
                </p:cNvSpPr>
                <p:nvPr/>
              </p:nvSpPr>
              <p:spPr bwMode="auto">
                <a:xfrm>
                  <a:off x="2767" y="2234"/>
                  <a:ext cx="233" cy="648"/>
                </a:xfrm>
                <a:custGeom>
                  <a:avLst/>
                  <a:gdLst/>
                  <a:ahLst/>
                  <a:cxnLst>
                    <a:cxn ang="0">
                      <a:pos x="142" y="4"/>
                    </a:cxn>
                    <a:cxn ang="0">
                      <a:pos x="124" y="6"/>
                    </a:cxn>
                    <a:cxn ang="0">
                      <a:pos x="88" y="32"/>
                    </a:cxn>
                    <a:cxn ang="0">
                      <a:pos x="62" y="64"/>
                    </a:cxn>
                    <a:cxn ang="0">
                      <a:pos x="32" y="128"/>
                    </a:cxn>
                    <a:cxn ang="0">
                      <a:pos x="10" y="206"/>
                    </a:cxn>
                    <a:cxn ang="0">
                      <a:pos x="0" y="332"/>
                    </a:cxn>
                    <a:cxn ang="0">
                      <a:pos x="4" y="402"/>
                    </a:cxn>
                    <a:cxn ang="0">
                      <a:pos x="30" y="510"/>
                    </a:cxn>
                    <a:cxn ang="0">
                      <a:pos x="54" y="572"/>
                    </a:cxn>
                    <a:cxn ang="0">
                      <a:pos x="86" y="616"/>
                    </a:cxn>
                    <a:cxn ang="0">
                      <a:pos x="128" y="644"/>
                    </a:cxn>
                    <a:cxn ang="0">
                      <a:pos x="234" y="640"/>
                    </a:cxn>
                    <a:cxn ang="0">
                      <a:pos x="226" y="4"/>
                    </a:cxn>
                    <a:cxn ang="0">
                      <a:pos x="142" y="4"/>
                    </a:cxn>
                  </a:cxnLst>
                  <a:rect l="0" t="0" r="r" b="b"/>
                  <a:pathLst>
                    <a:path w="234" h="648">
                      <a:moveTo>
                        <a:pt x="142" y="4"/>
                      </a:moveTo>
                      <a:cubicBezTo>
                        <a:pt x="144" y="6"/>
                        <a:pt x="133" y="1"/>
                        <a:pt x="124" y="6"/>
                      </a:cubicBezTo>
                      <a:cubicBezTo>
                        <a:pt x="115" y="11"/>
                        <a:pt x="98" y="22"/>
                        <a:pt x="88" y="32"/>
                      </a:cubicBezTo>
                      <a:cubicBezTo>
                        <a:pt x="78" y="42"/>
                        <a:pt x="71" y="48"/>
                        <a:pt x="62" y="64"/>
                      </a:cubicBezTo>
                      <a:cubicBezTo>
                        <a:pt x="53" y="80"/>
                        <a:pt x="36" y="102"/>
                        <a:pt x="32" y="128"/>
                      </a:cubicBezTo>
                      <a:cubicBezTo>
                        <a:pt x="23" y="152"/>
                        <a:pt x="16" y="172"/>
                        <a:pt x="10" y="206"/>
                      </a:cubicBezTo>
                      <a:cubicBezTo>
                        <a:pt x="5" y="240"/>
                        <a:pt x="1" y="299"/>
                        <a:pt x="0" y="332"/>
                      </a:cubicBezTo>
                      <a:cubicBezTo>
                        <a:pt x="4" y="368"/>
                        <a:pt x="0" y="368"/>
                        <a:pt x="4" y="402"/>
                      </a:cubicBezTo>
                      <a:cubicBezTo>
                        <a:pt x="12" y="442"/>
                        <a:pt x="18" y="478"/>
                        <a:pt x="30" y="510"/>
                      </a:cubicBezTo>
                      <a:cubicBezTo>
                        <a:pt x="39" y="538"/>
                        <a:pt x="45" y="554"/>
                        <a:pt x="54" y="572"/>
                      </a:cubicBezTo>
                      <a:cubicBezTo>
                        <a:pt x="63" y="590"/>
                        <a:pt x="74" y="604"/>
                        <a:pt x="86" y="616"/>
                      </a:cubicBezTo>
                      <a:cubicBezTo>
                        <a:pt x="106" y="632"/>
                        <a:pt x="103" y="640"/>
                        <a:pt x="128" y="644"/>
                      </a:cubicBezTo>
                      <a:cubicBezTo>
                        <a:pt x="153" y="648"/>
                        <a:pt x="134" y="648"/>
                        <a:pt x="234" y="640"/>
                      </a:cubicBezTo>
                      <a:cubicBezTo>
                        <a:pt x="152" y="532"/>
                        <a:pt x="98" y="232"/>
                        <a:pt x="226" y="4"/>
                      </a:cubicBezTo>
                      <a:cubicBezTo>
                        <a:pt x="158" y="0"/>
                        <a:pt x="158" y="10"/>
                        <a:pt x="142" y="4"/>
                      </a:cubicBezTo>
                      <a:close/>
                    </a:path>
                  </a:pathLst>
                </a:custGeom>
                <a:gradFill rotWithShape="1">
                  <a:gsLst>
                    <a:gs pos="0">
                      <a:srgbClr val="FFFFFF">
                        <a:gamma/>
                        <a:shade val="41176"/>
                        <a:invGamma/>
                      </a:srgbClr>
                    </a:gs>
                    <a:gs pos="50000">
                      <a:srgbClr val="FFFFFF"/>
                    </a:gs>
                    <a:gs pos="100000">
                      <a:srgbClr val="FFFFFF">
                        <a:gamma/>
                        <a:shade val="41176"/>
                        <a:invGamma/>
                      </a:srgbClr>
                    </a:gs>
                  </a:gsLst>
                  <a:lin ang="5400000" scaled="1"/>
                </a:gradFill>
                <a:ln w="9525">
                  <a:no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14" name="Oval 33"/>
                <p:cNvSpPr>
                  <a:spLocks noChangeArrowheads="1"/>
                </p:cNvSpPr>
                <p:nvPr/>
              </p:nvSpPr>
              <p:spPr bwMode="auto">
                <a:xfrm>
                  <a:off x="2855" y="2243"/>
                  <a:ext cx="304" cy="637"/>
                </a:xfrm>
                <a:prstGeom prst="ellipse">
                  <a:avLst/>
                </a:prstGeom>
                <a:gradFill rotWithShape="1">
                  <a:gsLst>
                    <a:gs pos="0">
                      <a:srgbClr val="FFFFFF"/>
                    </a:gs>
                    <a:gs pos="100000">
                      <a:srgbClr val="FFFFFF">
                        <a:gamma/>
                        <a:shade val="60392"/>
                        <a:invGamma/>
                      </a:srgbClr>
                    </a:gs>
                  </a:gsLst>
                  <a:path path="shape">
                    <a:fillToRect l="50000" t="50000" r="50000" b="50000"/>
                  </a:path>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15" name="Line 34"/>
                <p:cNvSpPr>
                  <a:spLocks noChangeShapeType="1"/>
                </p:cNvSpPr>
                <p:nvPr/>
              </p:nvSpPr>
              <p:spPr bwMode="auto">
                <a:xfrm flipH="1">
                  <a:off x="2904" y="2242"/>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16" name="Line 35"/>
                <p:cNvSpPr>
                  <a:spLocks noChangeShapeType="1"/>
                </p:cNvSpPr>
                <p:nvPr/>
              </p:nvSpPr>
              <p:spPr bwMode="auto">
                <a:xfrm flipH="1">
                  <a:off x="2896" y="2880"/>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17" name="Freeform 36"/>
                <p:cNvSpPr>
                  <a:spLocks/>
                </p:cNvSpPr>
                <p:nvPr/>
              </p:nvSpPr>
              <p:spPr bwMode="auto">
                <a:xfrm>
                  <a:off x="2762" y="2241"/>
                  <a:ext cx="148" cy="637"/>
                </a:xfrm>
                <a:custGeom>
                  <a:avLst/>
                  <a:gdLst>
                    <a:gd name="T0" fmla="*/ 148 w 148"/>
                    <a:gd name="T1" fmla="*/ 1 h 637"/>
                    <a:gd name="T2" fmla="*/ 126 w 148"/>
                    <a:gd name="T3" fmla="*/ 5 h 637"/>
                    <a:gd name="T4" fmla="*/ 90 w 148"/>
                    <a:gd name="T5" fmla="*/ 31 h 637"/>
                    <a:gd name="T6" fmla="*/ 64 w 148"/>
                    <a:gd name="T7" fmla="*/ 63 h 637"/>
                    <a:gd name="T8" fmla="*/ 30 w 148"/>
                    <a:gd name="T9" fmla="*/ 129 h 637"/>
                    <a:gd name="T10" fmla="*/ 12 w 148"/>
                    <a:gd name="T11" fmla="*/ 205 h 637"/>
                    <a:gd name="T12" fmla="*/ 2 w 148"/>
                    <a:gd name="T13" fmla="*/ 331 h 637"/>
                    <a:gd name="T14" fmla="*/ 6 w 148"/>
                    <a:gd name="T15" fmla="*/ 401 h 637"/>
                    <a:gd name="T16" fmla="*/ 32 w 148"/>
                    <a:gd name="T17" fmla="*/ 509 h 637"/>
                    <a:gd name="T18" fmla="*/ 60 w 148"/>
                    <a:gd name="T19" fmla="*/ 571 h 637"/>
                    <a:gd name="T20" fmla="*/ 92 w 148"/>
                    <a:gd name="T21" fmla="*/ 611 h 637"/>
                    <a:gd name="T22" fmla="*/ 136 w 148"/>
                    <a:gd name="T23" fmla="*/ 637 h 6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637"/>
                    <a:gd name="T38" fmla="*/ 148 w 148"/>
                    <a:gd name="T39" fmla="*/ 637 h 6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637">
                      <a:moveTo>
                        <a:pt x="148" y="1"/>
                      </a:moveTo>
                      <a:cubicBezTo>
                        <a:pt x="144" y="2"/>
                        <a:pt x="136" y="0"/>
                        <a:pt x="126" y="5"/>
                      </a:cubicBezTo>
                      <a:cubicBezTo>
                        <a:pt x="116" y="10"/>
                        <a:pt x="100" y="21"/>
                        <a:pt x="90" y="31"/>
                      </a:cubicBezTo>
                      <a:cubicBezTo>
                        <a:pt x="80" y="41"/>
                        <a:pt x="74" y="47"/>
                        <a:pt x="64" y="63"/>
                      </a:cubicBezTo>
                      <a:cubicBezTo>
                        <a:pt x="54" y="79"/>
                        <a:pt x="40" y="97"/>
                        <a:pt x="30" y="129"/>
                      </a:cubicBezTo>
                      <a:cubicBezTo>
                        <a:pt x="18" y="161"/>
                        <a:pt x="18" y="171"/>
                        <a:pt x="12" y="205"/>
                      </a:cubicBezTo>
                      <a:cubicBezTo>
                        <a:pt x="4" y="243"/>
                        <a:pt x="3" y="298"/>
                        <a:pt x="2" y="331"/>
                      </a:cubicBezTo>
                      <a:cubicBezTo>
                        <a:pt x="0" y="369"/>
                        <a:pt x="6" y="373"/>
                        <a:pt x="6" y="401"/>
                      </a:cubicBezTo>
                      <a:cubicBezTo>
                        <a:pt x="14" y="441"/>
                        <a:pt x="18" y="471"/>
                        <a:pt x="32" y="509"/>
                      </a:cubicBezTo>
                      <a:cubicBezTo>
                        <a:pt x="41" y="537"/>
                        <a:pt x="51" y="555"/>
                        <a:pt x="60" y="571"/>
                      </a:cubicBezTo>
                      <a:cubicBezTo>
                        <a:pt x="70" y="588"/>
                        <a:pt x="78" y="593"/>
                        <a:pt x="92" y="611"/>
                      </a:cubicBezTo>
                      <a:cubicBezTo>
                        <a:pt x="112" y="627"/>
                        <a:pt x="127" y="632"/>
                        <a:pt x="136" y="637"/>
                      </a:cubicBez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sp>
          <p:nvSpPr>
            <p:cNvPr id="298" name="Arc 37"/>
            <p:cNvSpPr>
              <a:spLocks noChangeAspect="1"/>
            </p:cNvSpPr>
            <p:nvPr/>
          </p:nvSpPr>
          <p:spPr bwMode="auto">
            <a:xfrm rot="21317369" flipH="1">
              <a:off x="2729" y="1236"/>
              <a:ext cx="302" cy="237"/>
            </a:xfrm>
            <a:custGeom>
              <a:avLst/>
              <a:gdLst>
                <a:gd name="T0" fmla="*/ 0 w 35811"/>
                <a:gd name="T1" fmla="*/ 0 h 21600"/>
                <a:gd name="T2" fmla="*/ 0 w 35811"/>
                <a:gd name="T3" fmla="*/ 0 h 21600"/>
                <a:gd name="T4" fmla="*/ 0 w 35811"/>
                <a:gd name="T5" fmla="*/ 0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28575">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99" name="Text Box 38"/>
            <p:cNvSpPr txBox="1">
              <a:spLocks noChangeAspect="1" noChangeArrowheads="1"/>
            </p:cNvSpPr>
            <p:nvPr/>
          </p:nvSpPr>
          <p:spPr bwMode="auto">
            <a:xfrm>
              <a:off x="2447" y="1044"/>
              <a:ext cx="40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r>
                <a:rPr kumimoji="1" lang="en-US" altLang="zh-CN" sz="24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A</a:t>
              </a:r>
            </a:p>
          </p:txBody>
        </p:sp>
        <p:sp>
          <p:nvSpPr>
            <p:cNvPr id="300" name="Arc 39"/>
            <p:cNvSpPr>
              <a:spLocks noChangeAspect="1"/>
            </p:cNvSpPr>
            <p:nvPr/>
          </p:nvSpPr>
          <p:spPr bwMode="auto">
            <a:xfrm rot="34243" flipH="1">
              <a:off x="3586" y="1304"/>
              <a:ext cx="253" cy="237"/>
            </a:xfrm>
            <a:custGeom>
              <a:avLst/>
              <a:gdLst>
                <a:gd name="T0" fmla="*/ 0 w 35811"/>
                <a:gd name="T1" fmla="*/ 0 h 21600"/>
                <a:gd name="T2" fmla="*/ 0 w 35811"/>
                <a:gd name="T3" fmla="*/ 0 h 21600"/>
                <a:gd name="T4" fmla="*/ 0 w 35811"/>
                <a:gd name="T5" fmla="*/ 0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28575">
              <a:solidFill>
                <a:srgbClr val="FF0000"/>
              </a:solidFill>
              <a:round/>
              <a:headEnd type="stealth" w="med" len="lg"/>
              <a:tailEnd type="none"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1" name="Text Box 40"/>
            <p:cNvSpPr txBox="1">
              <a:spLocks noChangeAspect="1" noChangeArrowheads="1"/>
            </p:cNvSpPr>
            <p:nvPr/>
          </p:nvSpPr>
          <p:spPr bwMode="auto">
            <a:xfrm>
              <a:off x="3379" y="1045"/>
              <a:ext cx="36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r>
                <a:rPr kumimoji="1" lang="en-US" altLang="zh-CN" sz="24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B</a:t>
              </a:r>
            </a:p>
          </p:txBody>
        </p:sp>
        <p:sp>
          <p:nvSpPr>
            <p:cNvPr id="302" name="Arc 41"/>
            <p:cNvSpPr>
              <a:spLocks noChangeAspect="1"/>
            </p:cNvSpPr>
            <p:nvPr/>
          </p:nvSpPr>
          <p:spPr bwMode="auto">
            <a:xfrm rot="34243" flipH="1">
              <a:off x="4289" y="1339"/>
              <a:ext cx="253" cy="237"/>
            </a:xfrm>
            <a:custGeom>
              <a:avLst/>
              <a:gdLst>
                <a:gd name="T0" fmla="*/ 0 w 35811"/>
                <a:gd name="T1" fmla="*/ 0 h 21600"/>
                <a:gd name="T2" fmla="*/ 0 w 35811"/>
                <a:gd name="T3" fmla="*/ 0 h 21600"/>
                <a:gd name="T4" fmla="*/ 0 w 35811"/>
                <a:gd name="T5" fmla="*/ 0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28575">
              <a:solidFill>
                <a:srgbClr val="FF0000"/>
              </a:solidFill>
              <a:round/>
              <a:headEnd type="stealth" w="med" len="lg"/>
              <a:tailEnd type="none"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3" name="Text Box 42"/>
            <p:cNvSpPr txBox="1">
              <a:spLocks noChangeAspect="1" noChangeArrowheads="1"/>
            </p:cNvSpPr>
            <p:nvPr/>
          </p:nvSpPr>
          <p:spPr bwMode="auto">
            <a:xfrm>
              <a:off x="4252" y="1063"/>
              <a:ext cx="51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r>
                <a:rPr kumimoji="1" lang="en-US" altLang="zh-CN" sz="24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C</a:t>
              </a:r>
            </a:p>
          </p:txBody>
        </p:sp>
        <p:sp>
          <p:nvSpPr>
            <p:cNvPr id="304" name="Text Box 43"/>
            <p:cNvSpPr txBox="1">
              <a:spLocks noChangeAspect="1" noChangeArrowheads="1"/>
            </p:cNvSpPr>
            <p:nvPr/>
          </p:nvSpPr>
          <p:spPr bwMode="auto">
            <a:xfrm>
              <a:off x="2750" y="1863"/>
              <a:ext cx="37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305" name="Text Box 44"/>
            <p:cNvSpPr txBox="1">
              <a:spLocks noChangeAspect="1" noChangeArrowheads="1"/>
            </p:cNvSpPr>
            <p:nvPr/>
          </p:nvSpPr>
          <p:spPr bwMode="auto">
            <a:xfrm>
              <a:off x="3588" y="1796"/>
              <a:ext cx="37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306" name="Text Box 45"/>
            <p:cNvSpPr txBox="1">
              <a:spLocks noChangeAspect="1" noChangeArrowheads="1"/>
            </p:cNvSpPr>
            <p:nvPr/>
          </p:nvSpPr>
          <p:spPr bwMode="auto">
            <a:xfrm>
              <a:off x="4292" y="1771"/>
              <a:ext cx="287"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p>
          </p:txBody>
        </p:sp>
        <p:sp>
          <p:nvSpPr>
            <p:cNvPr id="307" name="Line 46"/>
            <p:cNvSpPr>
              <a:spLocks noChangeShapeType="1"/>
            </p:cNvSpPr>
            <p:nvPr/>
          </p:nvSpPr>
          <p:spPr bwMode="auto">
            <a:xfrm>
              <a:off x="2465" y="1616"/>
              <a:ext cx="2583"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328" name="Group 47"/>
          <p:cNvGrpSpPr>
            <a:grpSpLocks noChangeAspect="1"/>
          </p:cNvGrpSpPr>
          <p:nvPr/>
        </p:nvGrpSpPr>
        <p:grpSpPr bwMode="auto">
          <a:xfrm>
            <a:off x="9336318" y="1002954"/>
            <a:ext cx="641350" cy="1389062"/>
            <a:chOff x="1690" y="1572"/>
            <a:chExt cx="336" cy="541"/>
          </a:xfrm>
        </p:grpSpPr>
        <p:sp>
          <p:nvSpPr>
            <p:cNvPr id="329" name="Line 48"/>
            <p:cNvSpPr>
              <a:spLocks noChangeAspect="1" noChangeShapeType="1"/>
            </p:cNvSpPr>
            <p:nvPr/>
          </p:nvSpPr>
          <p:spPr bwMode="auto">
            <a:xfrm>
              <a:off x="1750" y="1740"/>
              <a:ext cx="0" cy="241"/>
            </a:xfrm>
            <a:prstGeom prst="line">
              <a:avLst/>
            </a:prstGeom>
            <a:noFill/>
            <a:ln w="12700">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330" name="Text Box 49"/>
            <p:cNvSpPr txBox="1">
              <a:spLocks noChangeAspect="1" noChangeArrowheads="1"/>
            </p:cNvSpPr>
            <p:nvPr/>
          </p:nvSpPr>
          <p:spPr bwMode="auto">
            <a:xfrm>
              <a:off x="1690" y="1572"/>
              <a:ext cx="31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lnSpc>
                  <a:spcPct val="20000"/>
                </a:lnSpc>
              </a:pPr>
              <a:endParaRPr lang="en-US" altLang="zh-CN" sz="2800" b="0" dirty="0">
                <a:solidFill>
                  <a:srgbClr val="FFFFFF"/>
                </a:solidFill>
                <a:ea typeface="宋体" panose="02010600030101010101" pitchFamily="2" charset="-122"/>
              </a:endParaRPr>
            </a:p>
            <a:p>
              <a:pPr algn="just" eaLnBrk="1" hangingPunct="1"/>
              <a:r>
                <a:rPr lang="en-US" altLang="zh-CN" sz="1200" b="0" i="0" dirty="0">
                  <a:solidFill>
                    <a:srgbClr val="FFFFFF"/>
                  </a:solidFill>
                  <a:ea typeface="宋体" panose="02010600030101010101" pitchFamily="2" charset="-122"/>
                </a:rPr>
                <a:t> </a:t>
              </a:r>
              <a:r>
                <a:rPr lang="en-US" altLang="zh-CN" b="0" i="0" dirty="0">
                  <a:solidFill>
                    <a:srgbClr val="000000"/>
                  </a:solidFill>
                  <a:ea typeface="宋体" panose="02010600030101010101" pitchFamily="2" charset="-122"/>
                </a:rPr>
                <a:t>1</a:t>
              </a:r>
            </a:p>
          </p:txBody>
        </p:sp>
        <p:sp>
          <p:nvSpPr>
            <p:cNvPr id="331" name="Text Box 50"/>
            <p:cNvSpPr txBox="1">
              <a:spLocks noChangeAspect="1" noChangeArrowheads="1"/>
            </p:cNvSpPr>
            <p:nvPr/>
          </p:nvSpPr>
          <p:spPr bwMode="auto">
            <a:xfrm>
              <a:off x="1714" y="1849"/>
              <a:ext cx="31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lnSpc>
                  <a:spcPct val="150000"/>
                </a:lnSpc>
              </a:pPr>
              <a:r>
                <a:rPr lang="en-US" altLang="zh-CN" b="0" i="0">
                  <a:solidFill>
                    <a:srgbClr val="000000"/>
                  </a:solidFill>
                  <a:ea typeface="宋体" panose="02010600030101010101" pitchFamily="2" charset="-122"/>
                </a:rPr>
                <a:t>1</a:t>
              </a:r>
            </a:p>
          </p:txBody>
        </p:sp>
      </p:grpSp>
      <p:grpSp>
        <p:nvGrpSpPr>
          <p:cNvPr id="332" name="Group 55"/>
          <p:cNvGrpSpPr>
            <a:grpSpLocks/>
          </p:cNvGrpSpPr>
          <p:nvPr/>
        </p:nvGrpSpPr>
        <p:grpSpPr bwMode="auto">
          <a:xfrm>
            <a:off x="9098813" y="2268985"/>
            <a:ext cx="3013075" cy="1809750"/>
            <a:chOff x="2387" y="2847"/>
            <a:chExt cx="1898" cy="1140"/>
          </a:xfrm>
        </p:grpSpPr>
        <p:grpSp>
          <p:nvGrpSpPr>
            <p:cNvPr id="333" name="Group 56"/>
            <p:cNvGrpSpPr>
              <a:grpSpLocks/>
            </p:cNvGrpSpPr>
            <p:nvPr/>
          </p:nvGrpSpPr>
          <p:grpSpPr bwMode="auto">
            <a:xfrm>
              <a:off x="2703" y="3090"/>
              <a:ext cx="1494" cy="648"/>
              <a:chOff x="2703" y="3090"/>
              <a:chExt cx="1494" cy="648"/>
            </a:xfrm>
          </p:grpSpPr>
          <p:grpSp>
            <p:nvGrpSpPr>
              <p:cNvPr id="341" name="Group 57"/>
              <p:cNvGrpSpPr>
                <a:grpSpLocks/>
              </p:cNvGrpSpPr>
              <p:nvPr/>
            </p:nvGrpSpPr>
            <p:grpSpPr bwMode="auto">
              <a:xfrm>
                <a:off x="2703" y="3090"/>
                <a:ext cx="397" cy="648"/>
                <a:chOff x="2762" y="2234"/>
                <a:chExt cx="397" cy="648"/>
              </a:xfrm>
            </p:grpSpPr>
            <p:sp>
              <p:nvSpPr>
                <p:cNvPr id="351" name="Freeform 58"/>
                <p:cNvSpPr>
                  <a:spLocks/>
                </p:cNvSpPr>
                <p:nvPr/>
              </p:nvSpPr>
              <p:spPr bwMode="auto">
                <a:xfrm>
                  <a:off x="2766" y="2234"/>
                  <a:ext cx="234" cy="648"/>
                </a:xfrm>
                <a:custGeom>
                  <a:avLst/>
                  <a:gdLst/>
                  <a:ahLst/>
                  <a:cxnLst>
                    <a:cxn ang="0">
                      <a:pos x="142" y="4"/>
                    </a:cxn>
                    <a:cxn ang="0">
                      <a:pos x="124" y="6"/>
                    </a:cxn>
                    <a:cxn ang="0">
                      <a:pos x="88" y="32"/>
                    </a:cxn>
                    <a:cxn ang="0">
                      <a:pos x="62" y="64"/>
                    </a:cxn>
                    <a:cxn ang="0">
                      <a:pos x="32" y="128"/>
                    </a:cxn>
                    <a:cxn ang="0">
                      <a:pos x="10" y="206"/>
                    </a:cxn>
                    <a:cxn ang="0">
                      <a:pos x="0" y="332"/>
                    </a:cxn>
                    <a:cxn ang="0">
                      <a:pos x="4" y="402"/>
                    </a:cxn>
                    <a:cxn ang="0">
                      <a:pos x="30" y="510"/>
                    </a:cxn>
                    <a:cxn ang="0">
                      <a:pos x="54" y="572"/>
                    </a:cxn>
                    <a:cxn ang="0">
                      <a:pos x="86" y="616"/>
                    </a:cxn>
                    <a:cxn ang="0">
                      <a:pos x="128" y="644"/>
                    </a:cxn>
                    <a:cxn ang="0">
                      <a:pos x="234" y="640"/>
                    </a:cxn>
                    <a:cxn ang="0">
                      <a:pos x="226" y="4"/>
                    </a:cxn>
                    <a:cxn ang="0">
                      <a:pos x="142" y="4"/>
                    </a:cxn>
                  </a:cxnLst>
                  <a:rect l="0" t="0" r="r" b="b"/>
                  <a:pathLst>
                    <a:path w="234" h="648">
                      <a:moveTo>
                        <a:pt x="142" y="4"/>
                      </a:moveTo>
                      <a:cubicBezTo>
                        <a:pt x="144" y="6"/>
                        <a:pt x="133" y="1"/>
                        <a:pt x="124" y="6"/>
                      </a:cubicBezTo>
                      <a:cubicBezTo>
                        <a:pt x="115" y="11"/>
                        <a:pt x="98" y="22"/>
                        <a:pt x="88" y="32"/>
                      </a:cubicBezTo>
                      <a:cubicBezTo>
                        <a:pt x="78" y="42"/>
                        <a:pt x="71" y="48"/>
                        <a:pt x="62" y="64"/>
                      </a:cubicBezTo>
                      <a:cubicBezTo>
                        <a:pt x="53" y="80"/>
                        <a:pt x="36" y="102"/>
                        <a:pt x="32" y="128"/>
                      </a:cubicBezTo>
                      <a:cubicBezTo>
                        <a:pt x="23" y="152"/>
                        <a:pt x="16" y="172"/>
                        <a:pt x="10" y="206"/>
                      </a:cubicBezTo>
                      <a:cubicBezTo>
                        <a:pt x="5" y="240"/>
                        <a:pt x="1" y="299"/>
                        <a:pt x="0" y="332"/>
                      </a:cubicBezTo>
                      <a:cubicBezTo>
                        <a:pt x="4" y="368"/>
                        <a:pt x="0" y="368"/>
                        <a:pt x="4" y="402"/>
                      </a:cubicBezTo>
                      <a:cubicBezTo>
                        <a:pt x="12" y="442"/>
                        <a:pt x="18" y="478"/>
                        <a:pt x="30" y="510"/>
                      </a:cubicBezTo>
                      <a:cubicBezTo>
                        <a:pt x="39" y="538"/>
                        <a:pt x="45" y="554"/>
                        <a:pt x="54" y="572"/>
                      </a:cubicBezTo>
                      <a:cubicBezTo>
                        <a:pt x="63" y="590"/>
                        <a:pt x="74" y="604"/>
                        <a:pt x="86" y="616"/>
                      </a:cubicBezTo>
                      <a:cubicBezTo>
                        <a:pt x="106" y="632"/>
                        <a:pt x="103" y="640"/>
                        <a:pt x="128" y="644"/>
                      </a:cubicBezTo>
                      <a:cubicBezTo>
                        <a:pt x="153" y="648"/>
                        <a:pt x="134" y="648"/>
                        <a:pt x="234" y="640"/>
                      </a:cubicBezTo>
                      <a:cubicBezTo>
                        <a:pt x="152" y="532"/>
                        <a:pt x="98" y="232"/>
                        <a:pt x="226" y="4"/>
                      </a:cubicBezTo>
                      <a:cubicBezTo>
                        <a:pt x="158" y="0"/>
                        <a:pt x="158" y="10"/>
                        <a:pt x="142" y="4"/>
                      </a:cubicBezTo>
                      <a:close/>
                    </a:path>
                  </a:pathLst>
                </a:custGeom>
                <a:gradFill rotWithShape="1">
                  <a:gsLst>
                    <a:gs pos="0">
                      <a:srgbClr val="FFFFFF">
                        <a:gamma/>
                        <a:shade val="41176"/>
                        <a:invGamma/>
                      </a:srgbClr>
                    </a:gs>
                    <a:gs pos="50000">
                      <a:srgbClr val="FFFFFF"/>
                    </a:gs>
                    <a:gs pos="100000">
                      <a:srgbClr val="FFFFFF">
                        <a:gamma/>
                        <a:shade val="41176"/>
                        <a:invGamma/>
                      </a:srgbClr>
                    </a:gs>
                  </a:gsLst>
                  <a:lin ang="5400000" scaled="1"/>
                </a:gradFill>
                <a:ln w="9525">
                  <a:no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52" name="Oval 59"/>
                <p:cNvSpPr>
                  <a:spLocks noChangeArrowheads="1"/>
                </p:cNvSpPr>
                <p:nvPr/>
              </p:nvSpPr>
              <p:spPr bwMode="auto">
                <a:xfrm>
                  <a:off x="2854" y="2243"/>
                  <a:ext cx="305" cy="637"/>
                </a:xfrm>
                <a:prstGeom prst="ellipse">
                  <a:avLst/>
                </a:prstGeom>
                <a:gradFill rotWithShape="1">
                  <a:gsLst>
                    <a:gs pos="0">
                      <a:srgbClr val="FFFFFF"/>
                    </a:gs>
                    <a:gs pos="100000">
                      <a:srgbClr val="FFFFFF">
                        <a:gamma/>
                        <a:shade val="60392"/>
                        <a:invGamma/>
                      </a:srgbClr>
                    </a:gs>
                  </a:gsLst>
                  <a:path path="shape">
                    <a:fillToRect l="50000" t="50000" r="50000" b="50000"/>
                  </a:path>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53" name="Line 60"/>
                <p:cNvSpPr>
                  <a:spLocks noChangeShapeType="1"/>
                </p:cNvSpPr>
                <p:nvPr/>
              </p:nvSpPr>
              <p:spPr bwMode="auto">
                <a:xfrm flipH="1">
                  <a:off x="2904" y="2242"/>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54" name="Line 61"/>
                <p:cNvSpPr>
                  <a:spLocks noChangeShapeType="1"/>
                </p:cNvSpPr>
                <p:nvPr/>
              </p:nvSpPr>
              <p:spPr bwMode="auto">
                <a:xfrm flipH="1">
                  <a:off x="2896" y="2880"/>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55" name="Freeform 62"/>
                <p:cNvSpPr>
                  <a:spLocks/>
                </p:cNvSpPr>
                <p:nvPr/>
              </p:nvSpPr>
              <p:spPr bwMode="auto">
                <a:xfrm>
                  <a:off x="2762" y="2241"/>
                  <a:ext cx="148" cy="637"/>
                </a:xfrm>
                <a:custGeom>
                  <a:avLst/>
                  <a:gdLst>
                    <a:gd name="T0" fmla="*/ 148 w 148"/>
                    <a:gd name="T1" fmla="*/ 1 h 637"/>
                    <a:gd name="T2" fmla="*/ 126 w 148"/>
                    <a:gd name="T3" fmla="*/ 5 h 637"/>
                    <a:gd name="T4" fmla="*/ 90 w 148"/>
                    <a:gd name="T5" fmla="*/ 31 h 637"/>
                    <a:gd name="T6" fmla="*/ 64 w 148"/>
                    <a:gd name="T7" fmla="*/ 63 h 637"/>
                    <a:gd name="T8" fmla="*/ 30 w 148"/>
                    <a:gd name="T9" fmla="*/ 129 h 637"/>
                    <a:gd name="T10" fmla="*/ 12 w 148"/>
                    <a:gd name="T11" fmla="*/ 205 h 637"/>
                    <a:gd name="T12" fmla="*/ 2 w 148"/>
                    <a:gd name="T13" fmla="*/ 331 h 637"/>
                    <a:gd name="T14" fmla="*/ 6 w 148"/>
                    <a:gd name="T15" fmla="*/ 401 h 637"/>
                    <a:gd name="T16" fmla="*/ 32 w 148"/>
                    <a:gd name="T17" fmla="*/ 509 h 637"/>
                    <a:gd name="T18" fmla="*/ 60 w 148"/>
                    <a:gd name="T19" fmla="*/ 571 h 637"/>
                    <a:gd name="T20" fmla="*/ 92 w 148"/>
                    <a:gd name="T21" fmla="*/ 611 h 637"/>
                    <a:gd name="T22" fmla="*/ 136 w 148"/>
                    <a:gd name="T23" fmla="*/ 637 h 6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637"/>
                    <a:gd name="T38" fmla="*/ 148 w 148"/>
                    <a:gd name="T39" fmla="*/ 637 h 6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637">
                      <a:moveTo>
                        <a:pt x="148" y="1"/>
                      </a:moveTo>
                      <a:cubicBezTo>
                        <a:pt x="144" y="2"/>
                        <a:pt x="136" y="0"/>
                        <a:pt x="126" y="5"/>
                      </a:cubicBezTo>
                      <a:cubicBezTo>
                        <a:pt x="116" y="10"/>
                        <a:pt x="100" y="21"/>
                        <a:pt x="90" y="31"/>
                      </a:cubicBezTo>
                      <a:cubicBezTo>
                        <a:pt x="80" y="41"/>
                        <a:pt x="74" y="47"/>
                        <a:pt x="64" y="63"/>
                      </a:cubicBezTo>
                      <a:cubicBezTo>
                        <a:pt x="54" y="79"/>
                        <a:pt x="40" y="97"/>
                        <a:pt x="30" y="129"/>
                      </a:cubicBezTo>
                      <a:cubicBezTo>
                        <a:pt x="18" y="161"/>
                        <a:pt x="18" y="171"/>
                        <a:pt x="12" y="205"/>
                      </a:cubicBezTo>
                      <a:cubicBezTo>
                        <a:pt x="4" y="243"/>
                        <a:pt x="3" y="298"/>
                        <a:pt x="2" y="331"/>
                      </a:cubicBezTo>
                      <a:cubicBezTo>
                        <a:pt x="0" y="369"/>
                        <a:pt x="6" y="373"/>
                        <a:pt x="6" y="401"/>
                      </a:cubicBezTo>
                      <a:cubicBezTo>
                        <a:pt x="14" y="441"/>
                        <a:pt x="18" y="471"/>
                        <a:pt x="32" y="509"/>
                      </a:cubicBezTo>
                      <a:cubicBezTo>
                        <a:pt x="41" y="537"/>
                        <a:pt x="51" y="555"/>
                        <a:pt x="60" y="571"/>
                      </a:cubicBezTo>
                      <a:cubicBezTo>
                        <a:pt x="70" y="588"/>
                        <a:pt x="78" y="593"/>
                        <a:pt x="92" y="611"/>
                      </a:cubicBezTo>
                      <a:cubicBezTo>
                        <a:pt x="112" y="627"/>
                        <a:pt x="127" y="632"/>
                        <a:pt x="136" y="637"/>
                      </a:cubicBez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342" name="AutoShape 63"/>
              <p:cNvSpPr>
                <a:spLocks noChangeArrowheads="1"/>
              </p:cNvSpPr>
              <p:nvPr/>
            </p:nvSpPr>
            <p:spPr bwMode="auto">
              <a:xfrm>
                <a:off x="2923" y="3355"/>
                <a:ext cx="694" cy="119"/>
              </a:xfrm>
              <a:prstGeom prst="roundRect">
                <a:avLst>
                  <a:gd name="adj" fmla="val 41176"/>
                </a:avLst>
              </a:prstGeom>
              <a:gradFill rotWithShape="1">
                <a:gsLst>
                  <a:gs pos="0">
                    <a:srgbClr val="FFFFFF">
                      <a:gamma/>
                      <a:shade val="9412"/>
                      <a:invGamma/>
                    </a:srgbClr>
                  </a:gs>
                  <a:gs pos="50000">
                    <a:srgbClr val="FFFFFF"/>
                  </a:gs>
                  <a:gs pos="100000">
                    <a:srgbClr val="FFFFFF">
                      <a:gamma/>
                      <a:shade val="9412"/>
                      <a:invGamma/>
                    </a:srgbClr>
                  </a:gs>
                </a:gsLst>
                <a:lin ang="5400000" scaled="1"/>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grpSp>
            <p:nvGrpSpPr>
              <p:cNvPr id="343" name="Group 64"/>
              <p:cNvGrpSpPr>
                <a:grpSpLocks/>
              </p:cNvGrpSpPr>
              <p:nvPr/>
            </p:nvGrpSpPr>
            <p:grpSpPr bwMode="auto">
              <a:xfrm>
                <a:off x="3580" y="3205"/>
                <a:ext cx="257" cy="419"/>
                <a:chOff x="2762" y="2234"/>
                <a:chExt cx="397" cy="648"/>
              </a:xfrm>
            </p:grpSpPr>
            <p:sp>
              <p:nvSpPr>
                <p:cNvPr id="346" name="Freeform 65"/>
                <p:cNvSpPr>
                  <a:spLocks/>
                </p:cNvSpPr>
                <p:nvPr/>
              </p:nvSpPr>
              <p:spPr bwMode="auto">
                <a:xfrm>
                  <a:off x="2767" y="2234"/>
                  <a:ext cx="233" cy="648"/>
                </a:xfrm>
                <a:custGeom>
                  <a:avLst/>
                  <a:gdLst/>
                  <a:ahLst/>
                  <a:cxnLst>
                    <a:cxn ang="0">
                      <a:pos x="142" y="4"/>
                    </a:cxn>
                    <a:cxn ang="0">
                      <a:pos x="124" y="6"/>
                    </a:cxn>
                    <a:cxn ang="0">
                      <a:pos x="88" y="32"/>
                    </a:cxn>
                    <a:cxn ang="0">
                      <a:pos x="62" y="64"/>
                    </a:cxn>
                    <a:cxn ang="0">
                      <a:pos x="32" y="128"/>
                    </a:cxn>
                    <a:cxn ang="0">
                      <a:pos x="10" y="206"/>
                    </a:cxn>
                    <a:cxn ang="0">
                      <a:pos x="0" y="332"/>
                    </a:cxn>
                    <a:cxn ang="0">
                      <a:pos x="4" y="402"/>
                    </a:cxn>
                    <a:cxn ang="0">
                      <a:pos x="30" y="510"/>
                    </a:cxn>
                    <a:cxn ang="0">
                      <a:pos x="54" y="572"/>
                    </a:cxn>
                    <a:cxn ang="0">
                      <a:pos x="86" y="616"/>
                    </a:cxn>
                    <a:cxn ang="0">
                      <a:pos x="128" y="644"/>
                    </a:cxn>
                    <a:cxn ang="0">
                      <a:pos x="234" y="640"/>
                    </a:cxn>
                    <a:cxn ang="0">
                      <a:pos x="226" y="4"/>
                    </a:cxn>
                    <a:cxn ang="0">
                      <a:pos x="142" y="4"/>
                    </a:cxn>
                  </a:cxnLst>
                  <a:rect l="0" t="0" r="r" b="b"/>
                  <a:pathLst>
                    <a:path w="234" h="648">
                      <a:moveTo>
                        <a:pt x="142" y="4"/>
                      </a:moveTo>
                      <a:cubicBezTo>
                        <a:pt x="144" y="6"/>
                        <a:pt x="133" y="1"/>
                        <a:pt x="124" y="6"/>
                      </a:cubicBezTo>
                      <a:cubicBezTo>
                        <a:pt x="115" y="11"/>
                        <a:pt x="98" y="22"/>
                        <a:pt x="88" y="32"/>
                      </a:cubicBezTo>
                      <a:cubicBezTo>
                        <a:pt x="78" y="42"/>
                        <a:pt x="71" y="48"/>
                        <a:pt x="62" y="64"/>
                      </a:cubicBezTo>
                      <a:cubicBezTo>
                        <a:pt x="53" y="80"/>
                        <a:pt x="36" y="102"/>
                        <a:pt x="32" y="128"/>
                      </a:cubicBezTo>
                      <a:cubicBezTo>
                        <a:pt x="23" y="152"/>
                        <a:pt x="16" y="172"/>
                        <a:pt x="10" y="206"/>
                      </a:cubicBezTo>
                      <a:cubicBezTo>
                        <a:pt x="5" y="240"/>
                        <a:pt x="1" y="299"/>
                        <a:pt x="0" y="332"/>
                      </a:cubicBezTo>
                      <a:cubicBezTo>
                        <a:pt x="4" y="368"/>
                        <a:pt x="0" y="368"/>
                        <a:pt x="4" y="402"/>
                      </a:cubicBezTo>
                      <a:cubicBezTo>
                        <a:pt x="12" y="442"/>
                        <a:pt x="18" y="478"/>
                        <a:pt x="30" y="510"/>
                      </a:cubicBezTo>
                      <a:cubicBezTo>
                        <a:pt x="39" y="538"/>
                        <a:pt x="45" y="554"/>
                        <a:pt x="54" y="572"/>
                      </a:cubicBezTo>
                      <a:cubicBezTo>
                        <a:pt x="63" y="590"/>
                        <a:pt x="74" y="604"/>
                        <a:pt x="86" y="616"/>
                      </a:cubicBezTo>
                      <a:cubicBezTo>
                        <a:pt x="106" y="632"/>
                        <a:pt x="103" y="640"/>
                        <a:pt x="128" y="644"/>
                      </a:cubicBezTo>
                      <a:cubicBezTo>
                        <a:pt x="153" y="648"/>
                        <a:pt x="134" y="648"/>
                        <a:pt x="234" y="640"/>
                      </a:cubicBezTo>
                      <a:cubicBezTo>
                        <a:pt x="152" y="532"/>
                        <a:pt x="98" y="232"/>
                        <a:pt x="226" y="4"/>
                      </a:cubicBezTo>
                      <a:cubicBezTo>
                        <a:pt x="158" y="0"/>
                        <a:pt x="158" y="10"/>
                        <a:pt x="142" y="4"/>
                      </a:cubicBezTo>
                      <a:close/>
                    </a:path>
                  </a:pathLst>
                </a:custGeom>
                <a:gradFill rotWithShape="1">
                  <a:gsLst>
                    <a:gs pos="0">
                      <a:srgbClr val="FFFFFF">
                        <a:gamma/>
                        <a:shade val="41176"/>
                        <a:invGamma/>
                      </a:srgbClr>
                    </a:gs>
                    <a:gs pos="50000">
                      <a:srgbClr val="FFFFFF"/>
                    </a:gs>
                    <a:gs pos="100000">
                      <a:srgbClr val="FFFFFF">
                        <a:gamma/>
                        <a:shade val="41176"/>
                        <a:invGamma/>
                      </a:srgbClr>
                    </a:gs>
                  </a:gsLst>
                  <a:lin ang="5400000" scaled="1"/>
                </a:gradFill>
                <a:ln w="9525">
                  <a:no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47" name="Oval 66"/>
                <p:cNvSpPr>
                  <a:spLocks noChangeArrowheads="1"/>
                </p:cNvSpPr>
                <p:nvPr/>
              </p:nvSpPr>
              <p:spPr bwMode="auto">
                <a:xfrm>
                  <a:off x="2855" y="2243"/>
                  <a:ext cx="304" cy="637"/>
                </a:xfrm>
                <a:prstGeom prst="ellipse">
                  <a:avLst/>
                </a:prstGeom>
                <a:gradFill rotWithShape="1">
                  <a:gsLst>
                    <a:gs pos="0">
                      <a:srgbClr val="FFFFFF"/>
                    </a:gs>
                    <a:gs pos="100000">
                      <a:srgbClr val="FFFFFF">
                        <a:gamma/>
                        <a:shade val="60392"/>
                        <a:invGamma/>
                      </a:srgbClr>
                    </a:gs>
                  </a:gsLst>
                  <a:path path="shape">
                    <a:fillToRect l="50000" t="50000" r="50000" b="50000"/>
                  </a:path>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48" name="Line 67"/>
                <p:cNvSpPr>
                  <a:spLocks noChangeShapeType="1"/>
                </p:cNvSpPr>
                <p:nvPr/>
              </p:nvSpPr>
              <p:spPr bwMode="auto">
                <a:xfrm flipH="1">
                  <a:off x="2904" y="2242"/>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49" name="Line 68"/>
                <p:cNvSpPr>
                  <a:spLocks noChangeShapeType="1"/>
                </p:cNvSpPr>
                <p:nvPr/>
              </p:nvSpPr>
              <p:spPr bwMode="auto">
                <a:xfrm flipH="1">
                  <a:off x="2896" y="2880"/>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50" name="Freeform 69"/>
                <p:cNvSpPr>
                  <a:spLocks/>
                </p:cNvSpPr>
                <p:nvPr/>
              </p:nvSpPr>
              <p:spPr bwMode="auto">
                <a:xfrm>
                  <a:off x="2762" y="2241"/>
                  <a:ext cx="148" cy="637"/>
                </a:xfrm>
                <a:custGeom>
                  <a:avLst/>
                  <a:gdLst>
                    <a:gd name="T0" fmla="*/ 148 w 148"/>
                    <a:gd name="T1" fmla="*/ 1 h 637"/>
                    <a:gd name="T2" fmla="*/ 126 w 148"/>
                    <a:gd name="T3" fmla="*/ 5 h 637"/>
                    <a:gd name="T4" fmla="*/ 90 w 148"/>
                    <a:gd name="T5" fmla="*/ 31 h 637"/>
                    <a:gd name="T6" fmla="*/ 64 w 148"/>
                    <a:gd name="T7" fmla="*/ 63 h 637"/>
                    <a:gd name="T8" fmla="*/ 30 w 148"/>
                    <a:gd name="T9" fmla="*/ 129 h 637"/>
                    <a:gd name="T10" fmla="*/ 12 w 148"/>
                    <a:gd name="T11" fmla="*/ 205 h 637"/>
                    <a:gd name="T12" fmla="*/ 2 w 148"/>
                    <a:gd name="T13" fmla="*/ 331 h 637"/>
                    <a:gd name="T14" fmla="*/ 6 w 148"/>
                    <a:gd name="T15" fmla="*/ 401 h 637"/>
                    <a:gd name="T16" fmla="*/ 32 w 148"/>
                    <a:gd name="T17" fmla="*/ 509 h 637"/>
                    <a:gd name="T18" fmla="*/ 60 w 148"/>
                    <a:gd name="T19" fmla="*/ 571 h 637"/>
                    <a:gd name="T20" fmla="*/ 92 w 148"/>
                    <a:gd name="T21" fmla="*/ 611 h 637"/>
                    <a:gd name="T22" fmla="*/ 136 w 148"/>
                    <a:gd name="T23" fmla="*/ 637 h 6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637"/>
                    <a:gd name="T38" fmla="*/ 148 w 148"/>
                    <a:gd name="T39" fmla="*/ 637 h 6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637">
                      <a:moveTo>
                        <a:pt x="148" y="1"/>
                      </a:moveTo>
                      <a:cubicBezTo>
                        <a:pt x="144" y="2"/>
                        <a:pt x="136" y="0"/>
                        <a:pt x="126" y="5"/>
                      </a:cubicBezTo>
                      <a:cubicBezTo>
                        <a:pt x="116" y="10"/>
                        <a:pt x="100" y="21"/>
                        <a:pt x="90" y="31"/>
                      </a:cubicBezTo>
                      <a:cubicBezTo>
                        <a:pt x="80" y="41"/>
                        <a:pt x="74" y="47"/>
                        <a:pt x="64" y="63"/>
                      </a:cubicBezTo>
                      <a:cubicBezTo>
                        <a:pt x="54" y="79"/>
                        <a:pt x="40" y="97"/>
                        <a:pt x="30" y="129"/>
                      </a:cubicBezTo>
                      <a:cubicBezTo>
                        <a:pt x="18" y="161"/>
                        <a:pt x="18" y="171"/>
                        <a:pt x="12" y="205"/>
                      </a:cubicBezTo>
                      <a:cubicBezTo>
                        <a:pt x="4" y="243"/>
                        <a:pt x="3" y="298"/>
                        <a:pt x="2" y="331"/>
                      </a:cubicBezTo>
                      <a:cubicBezTo>
                        <a:pt x="0" y="369"/>
                        <a:pt x="6" y="373"/>
                        <a:pt x="6" y="401"/>
                      </a:cubicBezTo>
                      <a:cubicBezTo>
                        <a:pt x="14" y="441"/>
                        <a:pt x="18" y="471"/>
                        <a:pt x="32" y="509"/>
                      </a:cubicBezTo>
                      <a:cubicBezTo>
                        <a:pt x="41" y="537"/>
                        <a:pt x="51" y="555"/>
                        <a:pt x="60" y="571"/>
                      </a:cubicBezTo>
                      <a:cubicBezTo>
                        <a:pt x="70" y="588"/>
                        <a:pt x="78" y="593"/>
                        <a:pt x="92" y="611"/>
                      </a:cubicBezTo>
                      <a:cubicBezTo>
                        <a:pt x="112" y="627"/>
                        <a:pt x="127" y="632"/>
                        <a:pt x="136" y="637"/>
                      </a:cubicBez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344" name="AutoShape 70"/>
              <p:cNvSpPr>
                <a:spLocks noChangeArrowheads="1"/>
              </p:cNvSpPr>
              <p:nvPr/>
            </p:nvSpPr>
            <p:spPr bwMode="auto">
              <a:xfrm>
                <a:off x="3695" y="3355"/>
                <a:ext cx="502" cy="119"/>
              </a:xfrm>
              <a:prstGeom prst="roundRect">
                <a:avLst>
                  <a:gd name="adj" fmla="val 42856"/>
                </a:avLst>
              </a:prstGeom>
              <a:gradFill rotWithShape="1">
                <a:gsLst>
                  <a:gs pos="0">
                    <a:srgbClr val="FFFFFF">
                      <a:gamma/>
                      <a:shade val="9412"/>
                      <a:invGamma/>
                    </a:srgbClr>
                  </a:gs>
                  <a:gs pos="50000">
                    <a:srgbClr val="FFFFFF"/>
                  </a:gs>
                  <a:gs pos="100000">
                    <a:srgbClr val="FFFFFF">
                      <a:gamma/>
                      <a:shade val="9412"/>
                      <a:invGamma/>
                    </a:srgbClr>
                  </a:gs>
                </a:gsLst>
                <a:lin ang="5400000" scaled="1"/>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45" name="Oval 71"/>
              <p:cNvSpPr>
                <a:spLocks noChangeArrowheads="1"/>
              </p:cNvSpPr>
              <p:nvPr/>
            </p:nvSpPr>
            <p:spPr bwMode="auto">
              <a:xfrm>
                <a:off x="4140" y="3352"/>
                <a:ext cx="56" cy="122"/>
              </a:xfrm>
              <a:prstGeom prst="ellipse">
                <a:avLst/>
              </a:prstGeom>
              <a:gradFill rotWithShape="1">
                <a:gsLst>
                  <a:gs pos="0">
                    <a:srgbClr val="FFFFFF">
                      <a:gamma/>
                      <a:shade val="9412"/>
                      <a:invGamma/>
                    </a:srgbClr>
                  </a:gs>
                  <a:gs pos="50000">
                    <a:srgbClr val="FFFFFF"/>
                  </a:gs>
                  <a:gs pos="100000">
                    <a:srgbClr val="FFFFFF">
                      <a:gamma/>
                      <a:shade val="9412"/>
                      <a:invGamma/>
                    </a:srgbClr>
                  </a:gs>
                </a:gsLst>
                <a:lin ang="5400000" scaled="1"/>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grpSp>
        <p:sp>
          <p:nvSpPr>
            <p:cNvPr id="334" name="Arc 72"/>
            <p:cNvSpPr>
              <a:spLocks noChangeAspect="1"/>
            </p:cNvSpPr>
            <p:nvPr/>
          </p:nvSpPr>
          <p:spPr bwMode="auto">
            <a:xfrm rot="21317369" flipH="1">
              <a:off x="2669" y="3039"/>
              <a:ext cx="302" cy="237"/>
            </a:xfrm>
            <a:custGeom>
              <a:avLst/>
              <a:gdLst>
                <a:gd name="T0" fmla="*/ 0 w 35811"/>
                <a:gd name="T1" fmla="*/ 0 h 21600"/>
                <a:gd name="T2" fmla="*/ 0 w 35811"/>
                <a:gd name="T3" fmla="*/ 0 h 21600"/>
                <a:gd name="T4" fmla="*/ 0 w 35811"/>
                <a:gd name="T5" fmla="*/ 0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28575">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35" name="Text Box 73"/>
            <p:cNvSpPr txBox="1">
              <a:spLocks noChangeAspect="1" noChangeArrowheads="1"/>
            </p:cNvSpPr>
            <p:nvPr/>
          </p:nvSpPr>
          <p:spPr bwMode="auto">
            <a:xfrm>
              <a:off x="2387" y="2847"/>
              <a:ext cx="40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r>
                <a:rPr kumimoji="1" lang="en-US" altLang="zh-CN" sz="24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A</a:t>
              </a:r>
            </a:p>
          </p:txBody>
        </p:sp>
        <p:sp>
          <p:nvSpPr>
            <p:cNvPr id="336" name="Arc 74"/>
            <p:cNvSpPr>
              <a:spLocks noChangeAspect="1"/>
            </p:cNvSpPr>
            <p:nvPr/>
          </p:nvSpPr>
          <p:spPr bwMode="auto">
            <a:xfrm rot="34243" flipH="1">
              <a:off x="3526" y="3107"/>
              <a:ext cx="253" cy="237"/>
            </a:xfrm>
            <a:custGeom>
              <a:avLst/>
              <a:gdLst>
                <a:gd name="T0" fmla="*/ 0 w 35811"/>
                <a:gd name="T1" fmla="*/ 0 h 21600"/>
                <a:gd name="T2" fmla="*/ 0 w 35811"/>
                <a:gd name="T3" fmla="*/ 0 h 21600"/>
                <a:gd name="T4" fmla="*/ 0 w 35811"/>
                <a:gd name="T5" fmla="*/ 0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28575">
              <a:solidFill>
                <a:srgbClr val="FF0000"/>
              </a:solidFill>
              <a:round/>
              <a:headEnd type="stealth" w="med" len="lg"/>
              <a:tailEnd type="none"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37" name="Text Box 75"/>
            <p:cNvSpPr txBox="1">
              <a:spLocks noChangeAspect="1" noChangeArrowheads="1"/>
            </p:cNvSpPr>
            <p:nvPr/>
          </p:nvSpPr>
          <p:spPr bwMode="auto">
            <a:xfrm>
              <a:off x="3319" y="2848"/>
              <a:ext cx="36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r>
                <a:rPr kumimoji="1" lang="en-US" altLang="zh-CN" sz="24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B</a:t>
              </a:r>
            </a:p>
          </p:txBody>
        </p:sp>
        <p:sp>
          <p:nvSpPr>
            <p:cNvPr id="338" name="Text Box 76"/>
            <p:cNvSpPr txBox="1">
              <a:spLocks noChangeAspect="1" noChangeArrowheads="1"/>
            </p:cNvSpPr>
            <p:nvPr/>
          </p:nvSpPr>
          <p:spPr bwMode="auto">
            <a:xfrm>
              <a:off x="2690" y="3666"/>
              <a:ext cx="37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339" name="Text Box 77"/>
            <p:cNvSpPr txBox="1">
              <a:spLocks noChangeAspect="1" noChangeArrowheads="1"/>
            </p:cNvSpPr>
            <p:nvPr/>
          </p:nvSpPr>
          <p:spPr bwMode="auto">
            <a:xfrm>
              <a:off x="3528" y="3599"/>
              <a:ext cx="37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340" name="Line 78"/>
            <p:cNvSpPr>
              <a:spLocks noChangeShapeType="1"/>
            </p:cNvSpPr>
            <p:nvPr/>
          </p:nvSpPr>
          <p:spPr bwMode="auto">
            <a:xfrm>
              <a:off x="2566" y="3419"/>
              <a:ext cx="1719"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356" name="Group 79"/>
          <p:cNvGrpSpPr>
            <a:grpSpLocks/>
          </p:cNvGrpSpPr>
          <p:nvPr/>
        </p:nvGrpSpPr>
        <p:grpSpPr bwMode="auto">
          <a:xfrm>
            <a:off x="7176120" y="2271366"/>
            <a:ext cx="1909763" cy="1809750"/>
            <a:chOff x="2456" y="1958"/>
            <a:chExt cx="1203" cy="1140"/>
          </a:xfrm>
        </p:grpSpPr>
        <p:grpSp>
          <p:nvGrpSpPr>
            <p:cNvPr id="357" name="Group 80"/>
            <p:cNvGrpSpPr>
              <a:grpSpLocks/>
            </p:cNvGrpSpPr>
            <p:nvPr/>
          </p:nvGrpSpPr>
          <p:grpSpPr bwMode="auto">
            <a:xfrm>
              <a:off x="2767" y="2201"/>
              <a:ext cx="759" cy="648"/>
              <a:chOff x="4266" y="3429"/>
              <a:chExt cx="759" cy="648"/>
            </a:xfrm>
          </p:grpSpPr>
          <p:grpSp>
            <p:nvGrpSpPr>
              <p:cNvPr id="362" name="Group 81"/>
              <p:cNvGrpSpPr>
                <a:grpSpLocks/>
              </p:cNvGrpSpPr>
              <p:nvPr/>
            </p:nvGrpSpPr>
            <p:grpSpPr bwMode="auto">
              <a:xfrm>
                <a:off x="4266" y="3429"/>
                <a:ext cx="397" cy="648"/>
                <a:chOff x="2762" y="2234"/>
                <a:chExt cx="397" cy="648"/>
              </a:xfrm>
            </p:grpSpPr>
            <p:sp>
              <p:nvSpPr>
                <p:cNvPr id="365" name="Freeform 82"/>
                <p:cNvSpPr>
                  <a:spLocks/>
                </p:cNvSpPr>
                <p:nvPr/>
              </p:nvSpPr>
              <p:spPr bwMode="auto">
                <a:xfrm>
                  <a:off x="2766" y="2234"/>
                  <a:ext cx="234" cy="648"/>
                </a:xfrm>
                <a:custGeom>
                  <a:avLst/>
                  <a:gdLst/>
                  <a:ahLst/>
                  <a:cxnLst>
                    <a:cxn ang="0">
                      <a:pos x="142" y="4"/>
                    </a:cxn>
                    <a:cxn ang="0">
                      <a:pos x="124" y="6"/>
                    </a:cxn>
                    <a:cxn ang="0">
                      <a:pos x="88" y="32"/>
                    </a:cxn>
                    <a:cxn ang="0">
                      <a:pos x="62" y="64"/>
                    </a:cxn>
                    <a:cxn ang="0">
                      <a:pos x="32" y="128"/>
                    </a:cxn>
                    <a:cxn ang="0">
                      <a:pos x="10" y="206"/>
                    </a:cxn>
                    <a:cxn ang="0">
                      <a:pos x="0" y="332"/>
                    </a:cxn>
                    <a:cxn ang="0">
                      <a:pos x="4" y="402"/>
                    </a:cxn>
                    <a:cxn ang="0">
                      <a:pos x="30" y="510"/>
                    </a:cxn>
                    <a:cxn ang="0">
                      <a:pos x="54" y="572"/>
                    </a:cxn>
                    <a:cxn ang="0">
                      <a:pos x="86" y="616"/>
                    </a:cxn>
                    <a:cxn ang="0">
                      <a:pos x="128" y="644"/>
                    </a:cxn>
                    <a:cxn ang="0">
                      <a:pos x="234" y="640"/>
                    </a:cxn>
                    <a:cxn ang="0">
                      <a:pos x="226" y="4"/>
                    </a:cxn>
                    <a:cxn ang="0">
                      <a:pos x="142" y="4"/>
                    </a:cxn>
                  </a:cxnLst>
                  <a:rect l="0" t="0" r="r" b="b"/>
                  <a:pathLst>
                    <a:path w="234" h="648">
                      <a:moveTo>
                        <a:pt x="142" y="4"/>
                      </a:moveTo>
                      <a:cubicBezTo>
                        <a:pt x="144" y="6"/>
                        <a:pt x="133" y="1"/>
                        <a:pt x="124" y="6"/>
                      </a:cubicBezTo>
                      <a:cubicBezTo>
                        <a:pt x="115" y="11"/>
                        <a:pt x="98" y="22"/>
                        <a:pt x="88" y="32"/>
                      </a:cubicBezTo>
                      <a:cubicBezTo>
                        <a:pt x="78" y="42"/>
                        <a:pt x="71" y="48"/>
                        <a:pt x="62" y="64"/>
                      </a:cubicBezTo>
                      <a:cubicBezTo>
                        <a:pt x="53" y="80"/>
                        <a:pt x="36" y="102"/>
                        <a:pt x="32" y="128"/>
                      </a:cubicBezTo>
                      <a:cubicBezTo>
                        <a:pt x="23" y="152"/>
                        <a:pt x="16" y="172"/>
                        <a:pt x="10" y="206"/>
                      </a:cubicBezTo>
                      <a:cubicBezTo>
                        <a:pt x="5" y="240"/>
                        <a:pt x="1" y="299"/>
                        <a:pt x="0" y="332"/>
                      </a:cubicBezTo>
                      <a:cubicBezTo>
                        <a:pt x="4" y="368"/>
                        <a:pt x="0" y="368"/>
                        <a:pt x="4" y="402"/>
                      </a:cubicBezTo>
                      <a:cubicBezTo>
                        <a:pt x="12" y="442"/>
                        <a:pt x="18" y="478"/>
                        <a:pt x="30" y="510"/>
                      </a:cubicBezTo>
                      <a:cubicBezTo>
                        <a:pt x="39" y="538"/>
                        <a:pt x="45" y="554"/>
                        <a:pt x="54" y="572"/>
                      </a:cubicBezTo>
                      <a:cubicBezTo>
                        <a:pt x="63" y="590"/>
                        <a:pt x="74" y="604"/>
                        <a:pt x="86" y="616"/>
                      </a:cubicBezTo>
                      <a:cubicBezTo>
                        <a:pt x="106" y="632"/>
                        <a:pt x="103" y="640"/>
                        <a:pt x="128" y="644"/>
                      </a:cubicBezTo>
                      <a:cubicBezTo>
                        <a:pt x="153" y="648"/>
                        <a:pt x="134" y="648"/>
                        <a:pt x="234" y="640"/>
                      </a:cubicBezTo>
                      <a:cubicBezTo>
                        <a:pt x="152" y="532"/>
                        <a:pt x="98" y="232"/>
                        <a:pt x="226" y="4"/>
                      </a:cubicBezTo>
                      <a:cubicBezTo>
                        <a:pt x="158" y="0"/>
                        <a:pt x="158" y="10"/>
                        <a:pt x="142" y="4"/>
                      </a:cubicBezTo>
                      <a:close/>
                    </a:path>
                  </a:pathLst>
                </a:custGeom>
                <a:gradFill rotWithShape="1">
                  <a:gsLst>
                    <a:gs pos="0">
                      <a:srgbClr val="FFFFFF">
                        <a:gamma/>
                        <a:shade val="41176"/>
                        <a:invGamma/>
                      </a:srgbClr>
                    </a:gs>
                    <a:gs pos="50000">
                      <a:srgbClr val="FFFFFF"/>
                    </a:gs>
                    <a:gs pos="100000">
                      <a:srgbClr val="FFFFFF">
                        <a:gamma/>
                        <a:shade val="41176"/>
                        <a:invGamma/>
                      </a:srgbClr>
                    </a:gs>
                  </a:gsLst>
                  <a:lin ang="5400000" scaled="1"/>
                </a:gradFill>
                <a:ln w="9525">
                  <a:no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66" name="Oval 83"/>
                <p:cNvSpPr>
                  <a:spLocks noChangeArrowheads="1"/>
                </p:cNvSpPr>
                <p:nvPr/>
              </p:nvSpPr>
              <p:spPr bwMode="auto">
                <a:xfrm>
                  <a:off x="2854" y="2243"/>
                  <a:ext cx="305" cy="637"/>
                </a:xfrm>
                <a:prstGeom prst="ellipse">
                  <a:avLst/>
                </a:prstGeom>
                <a:gradFill rotWithShape="1">
                  <a:gsLst>
                    <a:gs pos="0">
                      <a:srgbClr val="FFFFFF"/>
                    </a:gs>
                    <a:gs pos="100000">
                      <a:srgbClr val="FFFFFF">
                        <a:gamma/>
                        <a:shade val="60392"/>
                        <a:invGamma/>
                      </a:srgbClr>
                    </a:gs>
                  </a:gsLst>
                  <a:path path="shape">
                    <a:fillToRect l="50000" t="50000" r="50000" b="50000"/>
                  </a:path>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67" name="Line 84"/>
                <p:cNvSpPr>
                  <a:spLocks noChangeShapeType="1"/>
                </p:cNvSpPr>
                <p:nvPr/>
              </p:nvSpPr>
              <p:spPr bwMode="auto">
                <a:xfrm flipH="1">
                  <a:off x="2904" y="2242"/>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68" name="Line 85"/>
                <p:cNvSpPr>
                  <a:spLocks noChangeShapeType="1"/>
                </p:cNvSpPr>
                <p:nvPr/>
              </p:nvSpPr>
              <p:spPr bwMode="auto">
                <a:xfrm flipH="1">
                  <a:off x="2896" y="2880"/>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69" name="Freeform 86"/>
                <p:cNvSpPr>
                  <a:spLocks/>
                </p:cNvSpPr>
                <p:nvPr/>
              </p:nvSpPr>
              <p:spPr bwMode="auto">
                <a:xfrm>
                  <a:off x="2762" y="2241"/>
                  <a:ext cx="148" cy="637"/>
                </a:xfrm>
                <a:custGeom>
                  <a:avLst/>
                  <a:gdLst>
                    <a:gd name="T0" fmla="*/ 148 w 148"/>
                    <a:gd name="T1" fmla="*/ 1 h 637"/>
                    <a:gd name="T2" fmla="*/ 126 w 148"/>
                    <a:gd name="T3" fmla="*/ 5 h 637"/>
                    <a:gd name="T4" fmla="*/ 90 w 148"/>
                    <a:gd name="T5" fmla="*/ 31 h 637"/>
                    <a:gd name="T6" fmla="*/ 64 w 148"/>
                    <a:gd name="T7" fmla="*/ 63 h 637"/>
                    <a:gd name="T8" fmla="*/ 30 w 148"/>
                    <a:gd name="T9" fmla="*/ 129 h 637"/>
                    <a:gd name="T10" fmla="*/ 12 w 148"/>
                    <a:gd name="T11" fmla="*/ 205 h 637"/>
                    <a:gd name="T12" fmla="*/ 2 w 148"/>
                    <a:gd name="T13" fmla="*/ 331 h 637"/>
                    <a:gd name="T14" fmla="*/ 6 w 148"/>
                    <a:gd name="T15" fmla="*/ 401 h 637"/>
                    <a:gd name="T16" fmla="*/ 32 w 148"/>
                    <a:gd name="T17" fmla="*/ 509 h 637"/>
                    <a:gd name="T18" fmla="*/ 60 w 148"/>
                    <a:gd name="T19" fmla="*/ 571 h 637"/>
                    <a:gd name="T20" fmla="*/ 92 w 148"/>
                    <a:gd name="T21" fmla="*/ 611 h 637"/>
                    <a:gd name="T22" fmla="*/ 136 w 148"/>
                    <a:gd name="T23" fmla="*/ 637 h 6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637"/>
                    <a:gd name="T38" fmla="*/ 148 w 148"/>
                    <a:gd name="T39" fmla="*/ 637 h 6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637">
                      <a:moveTo>
                        <a:pt x="148" y="1"/>
                      </a:moveTo>
                      <a:cubicBezTo>
                        <a:pt x="144" y="2"/>
                        <a:pt x="136" y="0"/>
                        <a:pt x="126" y="5"/>
                      </a:cubicBezTo>
                      <a:cubicBezTo>
                        <a:pt x="116" y="10"/>
                        <a:pt x="100" y="21"/>
                        <a:pt x="90" y="31"/>
                      </a:cubicBezTo>
                      <a:cubicBezTo>
                        <a:pt x="80" y="41"/>
                        <a:pt x="74" y="47"/>
                        <a:pt x="64" y="63"/>
                      </a:cubicBezTo>
                      <a:cubicBezTo>
                        <a:pt x="54" y="79"/>
                        <a:pt x="40" y="97"/>
                        <a:pt x="30" y="129"/>
                      </a:cubicBezTo>
                      <a:cubicBezTo>
                        <a:pt x="18" y="161"/>
                        <a:pt x="18" y="171"/>
                        <a:pt x="12" y="205"/>
                      </a:cubicBezTo>
                      <a:cubicBezTo>
                        <a:pt x="4" y="243"/>
                        <a:pt x="3" y="298"/>
                        <a:pt x="2" y="331"/>
                      </a:cubicBezTo>
                      <a:cubicBezTo>
                        <a:pt x="0" y="369"/>
                        <a:pt x="6" y="373"/>
                        <a:pt x="6" y="401"/>
                      </a:cubicBezTo>
                      <a:cubicBezTo>
                        <a:pt x="14" y="441"/>
                        <a:pt x="18" y="471"/>
                        <a:pt x="32" y="509"/>
                      </a:cubicBezTo>
                      <a:cubicBezTo>
                        <a:pt x="41" y="537"/>
                        <a:pt x="51" y="555"/>
                        <a:pt x="60" y="571"/>
                      </a:cubicBezTo>
                      <a:cubicBezTo>
                        <a:pt x="70" y="588"/>
                        <a:pt x="78" y="593"/>
                        <a:pt x="92" y="611"/>
                      </a:cubicBezTo>
                      <a:cubicBezTo>
                        <a:pt x="112" y="627"/>
                        <a:pt x="127" y="632"/>
                        <a:pt x="136" y="637"/>
                      </a:cubicBez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363" name="AutoShape 87"/>
              <p:cNvSpPr>
                <a:spLocks noChangeArrowheads="1"/>
              </p:cNvSpPr>
              <p:nvPr/>
            </p:nvSpPr>
            <p:spPr bwMode="auto">
              <a:xfrm>
                <a:off x="4486" y="3694"/>
                <a:ext cx="538" cy="119"/>
              </a:xfrm>
              <a:prstGeom prst="roundRect">
                <a:avLst>
                  <a:gd name="adj" fmla="val 41176"/>
                </a:avLst>
              </a:prstGeom>
              <a:gradFill rotWithShape="1">
                <a:gsLst>
                  <a:gs pos="0">
                    <a:srgbClr val="FFFFFF">
                      <a:gamma/>
                      <a:shade val="9412"/>
                      <a:invGamma/>
                    </a:srgbClr>
                  </a:gs>
                  <a:gs pos="50000">
                    <a:srgbClr val="FFFFFF"/>
                  </a:gs>
                  <a:gs pos="100000">
                    <a:srgbClr val="FFFFFF">
                      <a:gamma/>
                      <a:shade val="9412"/>
                      <a:invGamma/>
                    </a:srgbClr>
                  </a:gs>
                </a:gsLst>
                <a:lin ang="5400000" scaled="1"/>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64" name="Oval 88"/>
              <p:cNvSpPr>
                <a:spLocks noChangeArrowheads="1"/>
              </p:cNvSpPr>
              <p:nvPr/>
            </p:nvSpPr>
            <p:spPr bwMode="auto">
              <a:xfrm>
                <a:off x="4969" y="3689"/>
                <a:ext cx="56" cy="122"/>
              </a:xfrm>
              <a:prstGeom prst="ellipse">
                <a:avLst/>
              </a:prstGeom>
              <a:gradFill rotWithShape="1">
                <a:gsLst>
                  <a:gs pos="0">
                    <a:srgbClr val="FFFFFF">
                      <a:gamma/>
                      <a:shade val="9412"/>
                      <a:invGamma/>
                    </a:srgbClr>
                  </a:gs>
                  <a:gs pos="50000">
                    <a:srgbClr val="FFFFFF"/>
                  </a:gs>
                  <a:gs pos="100000">
                    <a:srgbClr val="FFFFFF">
                      <a:gamma/>
                      <a:shade val="9412"/>
                      <a:invGamma/>
                    </a:srgbClr>
                  </a:gs>
                </a:gsLst>
                <a:lin ang="5400000" scaled="1"/>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grpSp>
        <p:sp>
          <p:nvSpPr>
            <p:cNvPr id="358" name="Arc 89"/>
            <p:cNvSpPr>
              <a:spLocks noChangeAspect="1"/>
            </p:cNvSpPr>
            <p:nvPr/>
          </p:nvSpPr>
          <p:spPr bwMode="auto">
            <a:xfrm rot="21317369" flipH="1">
              <a:off x="2738" y="2150"/>
              <a:ext cx="302" cy="237"/>
            </a:xfrm>
            <a:custGeom>
              <a:avLst/>
              <a:gdLst>
                <a:gd name="T0" fmla="*/ 0 w 35811"/>
                <a:gd name="T1" fmla="*/ 0 h 21600"/>
                <a:gd name="T2" fmla="*/ 0 w 35811"/>
                <a:gd name="T3" fmla="*/ 0 h 21600"/>
                <a:gd name="T4" fmla="*/ 0 w 35811"/>
                <a:gd name="T5" fmla="*/ 0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28575">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59" name="Text Box 90"/>
            <p:cNvSpPr txBox="1">
              <a:spLocks noChangeAspect="1" noChangeArrowheads="1"/>
            </p:cNvSpPr>
            <p:nvPr/>
          </p:nvSpPr>
          <p:spPr bwMode="auto">
            <a:xfrm>
              <a:off x="2456" y="1958"/>
              <a:ext cx="40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r>
                <a:rPr kumimoji="1" lang="en-US" altLang="zh-CN" sz="24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A</a:t>
              </a:r>
            </a:p>
          </p:txBody>
        </p:sp>
        <p:sp>
          <p:nvSpPr>
            <p:cNvPr id="360" name="Text Box 91"/>
            <p:cNvSpPr txBox="1">
              <a:spLocks noChangeAspect="1" noChangeArrowheads="1"/>
            </p:cNvSpPr>
            <p:nvPr/>
          </p:nvSpPr>
          <p:spPr bwMode="auto">
            <a:xfrm>
              <a:off x="2759" y="2777"/>
              <a:ext cx="37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361" name="Line 92"/>
            <p:cNvSpPr>
              <a:spLocks noChangeShapeType="1"/>
            </p:cNvSpPr>
            <p:nvPr/>
          </p:nvSpPr>
          <p:spPr bwMode="auto">
            <a:xfrm>
              <a:off x="2609" y="2529"/>
              <a:ext cx="1050"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370" name="Arc 14"/>
          <p:cNvSpPr>
            <a:spLocks noChangeAspect="1"/>
          </p:cNvSpPr>
          <p:nvPr/>
        </p:nvSpPr>
        <p:spPr bwMode="auto">
          <a:xfrm rot="20546262" flipH="1">
            <a:off x="8677895" y="2890491"/>
            <a:ext cx="354013" cy="474663"/>
          </a:xfrm>
          <a:custGeom>
            <a:avLst/>
            <a:gdLst>
              <a:gd name="T0" fmla="*/ 0 w 35811"/>
              <a:gd name="T1" fmla="*/ 56667644 h 21600"/>
              <a:gd name="T2" fmla="*/ 34595896 w 35811"/>
              <a:gd name="T3" fmla="*/ 222786954 h 21600"/>
              <a:gd name="T4" fmla="*/ 13736516 w 35811"/>
              <a:gd name="T5" fmla="*/ 229217932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28575">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371" name="Group 99"/>
          <p:cNvGrpSpPr>
            <a:grpSpLocks noChangeAspect="1"/>
          </p:cNvGrpSpPr>
          <p:nvPr/>
        </p:nvGrpSpPr>
        <p:grpSpPr bwMode="auto">
          <a:xfrm>
            <a:off x="10480907" y="983904"/>
            <a:ext cx="643259" cy="1383927"/>
            <a:chOff x="1690" y="1572"/>
            <a:chExt cx="337" cy="539"/>
          </a:xfrm>
        </p:grpSpPr>
        <p:sp>
          <p:nvSpPr>
            <p:cNvPr id="372" name="Line 100"/>
            <p:cNvSpPr>
              <a:spLocks noChangeAspect="1" noChangeShapeType="1"/>
            </p:cNvSpPr>
            <p:nvPr/>
          </p:nvSpPr>
          <p:spPr bwMode="auto">
            <a:xfrm>
              <a:off x="1750" y="1740"/>
              <a:ext cx="0" cy="241"/>
            </a:xfrm>
            <a:prstGeom prst="line">
              <a:avLst/>
            </a:prstGeom>
            <a:noFill/>
            <a:ln w="12700">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373" name="Text Box 101"/>
            <p:cNvSpPr txBox="1">
              <a:spLocks noChangeAspect="1" noChangeArrowheads="1"/>
            </p:cNvSpPr>
            <p:nvPr/>
          </p:nvSpPr>
          <p:spPr bwMode="auto">
            <a:xfrm>
              <a:off x="1690" y="1572"/>
              <a:ext cx="31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lnSpc>
                  <a:spcPct val="20000"/>
                </a:lnSpc>
              </a:pPr>
              <a:endParaRPr lang="en-US" altLang="zh-CN" sz="2800" b="0" dirty="0">
                <a:solidFill>
                  <a:srgbClr val="FFFFFF"/>
                </a:solidFill>
                <a:ea typeface="宋体" panose="02010600030101010101" pitchFamily="2" charset="-122"/>
              </a:endParaRPr>
            </a:p>
            <a:p>
              <a:pPr algn="just" eaLnBrk="1" hangingPunct="1"/>
              <a:r>
                <a:rPr lang="en-US" altLang="zh-CN" sz="1200" b="0" i="0" dirty="0">
                  <a:solidFill>
                    <a:srgbClr val="FFFFFF"/>
                  </a:solidFill>
                  <a:ea typeface="宋体" panose="02010600030101010101" pitchFamily="2" charset="-122"/>
                </a:rPr>
                <a:t> </a:t>
              </a:r>
              <a:r>
                <a:rPr lang="en-US" altLang="zh-CN" b="0" i="0" dirty="0">
                  <a:solidFill>
                    <a:srgbClr val="000000"/>
                  </a:solidFill>
                  <a:ea typeface="宋体" panose="02010600030101010101" pitchFamily="2" charset="-122"/>
                </a:rPr>
                <a:t>2</a:t>
              </a:r>
            </a:p>
          </p:txBody>
        </p:sp>
        <p:sp>
          <p:nvSpPr>
            <p:cNvPr id="374" name="Text Box 102"/>
            <p:cNvSpPr txBox="1">
              <a:spLocks noChangeAspect="1" noChangeArrowheads="1"/>
            </p:cNvSpPr>
            <p:nvPr/>
          </p:nvSpPr>
          <p:spPr bwMode="auto">
            <a:xfrm>
              <a:off x="1715" y="1847"/>
              <a:ext cx="31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lnSpc>
                  <a:spcPct val="150000"/>
                </a:lnSpc>
              </a:pPr>
              <a:r>
                <a:rPr lang="en-US" altLang="zh-CN" b="0" i="0" dirty="0">
                  <a:solidFill>
                    <a:srgbClr val="000000"/>
                  </a:solidFill>
                  <a:ea typeface="宋体" panose="02010600030101010101" pitchFamily="2" charset="-122"/>
                </a:rPr>
                <a:t>2</a:t>
              </a:r>
            </a:p>
          </p:txBody>
        </p:sp>
      </p:grpSp>
      <p:sp>
        <p:nvSpPr>
          <p:cNvPr id="375" name="Text Box 103"/>
          <p:cNvSpPr txBox="1">
            <a:spLocks noChangeAspect="1" noChangeArrowheads="1"/>
          </p:cNvSpPr>
          <p:nvPr/>
        </p:nvSpPr>
        <p:spPr bwMode="auto">
          <a:xfrm>
            <a:off x="11603888" y="2435673"/>
            <a:ext cx="655638"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FF0000"/>
                </a:solidFill>
                <a:ea typeface="宋体" panose="02010600030101010101" pitchFamily="2" charset="-122"/>
              </a:rPr>
              <a:t>M</a:t>
            </a:r>
            <a:r>
              <a:rPr lang="en-US" altLang="zh-CN" b="0" i="0" baseline="-25000" dirty="0">
                <a:solidFill>
                  <a:srgbClr val="FF0000"/>
                </a:solidFill>
                <a:ea typeface="宋体" panose="02010600030101010101" pitchFamily="2" charset="-122"/>
              </a:rPr>
              <a:t>n2</a:t>
            </a:r>
          </a:p>
        </p:txBody>
      </p:sp>
      <p:grpSp>
        <p:nvGrpSpPr>
          <p:cNvPr id="376" name="Group 109"/>
          <p:cNvGrpSpPr>
            <a:grpSpLocks/>
          </p:cNvGrpSpPr>
          <p:nvPr/>
        </p:nvGrpSpPr>
        <p:grpSpPr bwMode="auto">
          <a:xfrm>
            <a:off x="11730888" y="2889698"/>
            <a:ext cx="457200" cy="584200"/>
            <a:chOff x="5040" y="2307"/>
            <a:chExt cx="288" cy="368"/>
          </a:xfrm>
        </p:grpSpPr>
        <p:sp>
          <p:nvSpPr>
            <p:cNvPr id="377" name="Arc 104"/>
            <p:cNvSpPr>
              <a:spLocks noChangeAspect="1"/>
            </p:cNvSpPr>
            <p:nvPr/>
          </p:nvSpPr>
          <p:spPr bwMode="auto">
            <a:xfrm rot="20546262" flipH="1">
              <a:off x="5040" y="2307"/>
              <a:ext cx="223" cy="299"/>
            </a:xfrm>
            <a:custGeom>
              <a:avLst/>
              <a:gdLst>
                <a:gd name="T0" fmla="*/ 0 w 35811"/>
                <a:gd name="T1" fmla="*/ 0 h 21600"/>
                <a:gd name="T2" fmla="*/ 0 w 35811"/>
                <a:gd name="T3" fmla="*/ 0 h 21600"/>
                <a:gd name="T4" fmla="*/ 0 w 35811"/>
                <a:gd name="T5" fmla="*/ 0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28575">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378" name="Arc 105"/>
            <p:cNvSpPr>
              <a:spLocks noChangeAspect="1"/>
            </p:cNvSpPr>
            <p:nvPr/>
          </p:nvSpPr>
          <p:spPr bwMode="auto">
            <a:xfrm rot="20546262" flipH="1">
              <a:off x="5105" y="2376"/>
              <a:ext cx="223" cy="299"/>
            </a:xfrm>
            <a:custGeom>
              <a:avLst/>
              <a:gdLst>
                <a:gd name="T0" fmla="*/ 0 w 35811"/>
                <a:gd name="T1" fmla="*/ 0 h 21600"/>
                <a:gd name="T2" fmla="*/ 0 w 35811"/>
                <a:gd name="T3" fmla="*/ 0 h 21600"/>
                <a:gd name="T4" fmla="*/ 0 w 35811"/>
                <a:gd name="T5" fmla="*/ 0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round/>
                  <a:headEnd/>
                  <a:tailEnd type="stealth" w="med" len="lg"/>
                </a14:hiddenLine>
              </a:ext>
            </a:extLst>
          </p:spPr>
          <p:txBody>
            <a:bodyPr/>
            <a:lstStyle/>
            <a:p>
              <a:endParaRPr kumimoji="1" lang="zh-CN" altLang="en-US" b="0" i="0">
                <a:solidFill>
                  <a:srgbClr val="FFFFFF"/>
                </a:solidFill>
                <a:ea typeface="黑体" panose="02010609060101010101" pitchFamily="49" charset="-122"/>
              </a:endParaRPr>
            </a:p>
          </p:txBody>
        </p:sp>
      </p:grpSp>
      <p:sp>
        <p:nvSpPr>
          <p:cNvPr id="379" name="Line 111"/>
          <p:cNvSpPr>
            <a:spLocks noChangeShapeType="1"/>
          </p:cNvSpPr>
          <p:nvPr/>
        </p:nvSpPr>
        <p:spPr bwMode="auto">
          <a:xfrm>
            <a:off x="8664805" y="4856475"/>
            <a:ext cx="2814638" cy="0"/>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80" name="Line 112"/>
          <p:cNvSpPr>
            <a:spLocks noChangeShapeType="1"/>
          </p:cNvSpPr>
          <p:nvPr/>
        </p:nvSpPr>
        <p:spPr bwMode="auto">
          <a:xfrm flipV="1">
            <a:off x="8666393" y="4310375"/>
            <a:ext cx="0" cy="1406525"/>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81" name="Line 113"/>
          <p:cNvSpPr>
            <a:spLocks noChangeAspect="1" noChangeShapeType="1"/>
          </p:cNvSpPr>
          <p:nvPr/>
        </p:nvSpPr>
        <p:spPr bwMode="auto">
          <a:xfrm flipV="1">
            <a:off x="8648930" y="5599425"/>
            <a:ext cx="1323975" cy="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82" name="Line 114"/>
          <p:cNvSpPr>
            <a:spLocks noChangeAspect="1" noChangeShapeType="1"/>
          </p:cNvSpPr>
          <p:nvPr/>
        </p:nvSpPr>
        <p:spPr bwMode="auto">
          <a:xfrm flipH="1">
            <a:off x="9971318" y="5096187"/>
            <a:ext cx="0" cy="490538"/>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83" name="Text Box 116"/>
          <p:cNvSpPr txBox="1">
            <a:spLocks noChangeAspect="1" noChangeArrowheads="1"/>
          </p:cNvSpPr>
          <p:nvPr/>
        </p:nvSpPr>
        <p:spPr bwMode="auto">
          <a:xfrm>
            <a:off x="8183793" y="4102412"/>
            <a:ext cx="6000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a:t>
            </a:r>
            <a:r>
              <a:rPr kumimoji="1" lang="en-US" altLang="zh-CN" sz="2400" b="0"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n</a:t>
            </a:r>
            <a:endPar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384" name="Text Box 117"/>
          <p:cNvSpPr txBox="1">
            <a:spLocks noChangeAspect="1" noChangeArrowheads="1"/>
          </p:cNvSpPr>
          <p:nvPr/>
        </p:nvSpPr>
        <p:spPr bwMode="auto">
          <a:xfrm>
            <a:off x="9950680" y="5064437"/>
            <a:ext cx="10763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75N</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m</a:t>
            </a:r>
          </a:p>
        </p:txBody>
      </p:sp>
      <p:sp>
        <p:nvSpPr>
          <p:cNvPr id="385" name="Text Box 118"/>
          <p:cNvSpPr txBox="1">
            <a:spLocks noChangeAspect="1" noChangeArrowheads="1"/>
          </p:cNvSpPr>
          <p:nvPr/>
        </p:nvSpPr>
        <p:spPr bwMode="auto">
          <a:xfrm>
            <a:off x="8669568" y="5532750"/>
            <a:ext cx="1373187"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274N</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m</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86" name="Oval 119"/>
          <p:cNvSpPr>
            <a:spLocks noChangeArrowheads="1"/>
          </p:cNvSpPr>
          <p:nvPr/>
        </p:nvSpPr>
        <p:spPr bwMode="auto">
          <a:xfrm>
            <a:off x="8625118" y="5566087"/>
            <a:ext cx="74612" cy="74613"/>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87" name="Oval 120"/>
          <p:cNvSpPr>
            <a:spLocks noChangeArrowheads="1"/>
          </p:cNvSpPr>
          <p:nvPr/>
        </p:nvSpPr>
        <p:spPr bwMode="auto">
          <a:xfrm>
            <a:off x="9931630" y="5080312"/>
            <a:ext cx="74613" cy="74613"/>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88" name="Line 122"/>
          <p:cNvSpPr>
            <a:spLocks noChangeAspect="1" noChangeShapeType="1"/>
          </p:cNvSpPr>
          <p:nvPr/>
        </p:nvSpPr>
        <p:spPr bwMode="auto">
          <a:xfrm flipV="1">
            <a:off x="9963380" y="5124762"/>
            <a:ext cx="938213" cy="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89" name="Line 123"/>
          <p:cNvSpPr>
            <a:spLocks noChangeAspect="1" noChangeShapeType="1"/>
          </p:cNvSpPr>
          <p:nvPr/>
        </p:nvSpPr>
        <p:spPr bwMode="auto">
          <a:xfrm flipH="1">
            <a:off x="10904768" y="4851712"/>
            <a:ext cx="0" cy="276225"/>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90" name="Text Box 126"/>
          <p:cNvSpPr txBox="1">
            <a:spLocks noChangeAspect="1" noChangeArrowheads="1"/>
          </p:cNvSpPr>
          <p:nvPr/>
        </p:nvSpPr>
        <p:spPr bwMode="auto">
          <a:xfrm>
            <a:off x="11257193" y="4813612"/>
            <a:ext cx="398462"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x</a:t>
            </a:r>
            <a:endPar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391" name="Text Box 128"/>
          <p:cNvSpPr txBox="1">
            <a:spLocks noChangeAspect="1" noChangeArrowheads="1"/>
          </p:cNvSpPr>
          <p:nvPr/>
        </p:nvSpPr>
        <p:spPr bwMode="auto">
          <a:xfrm>
            <a:off x="8342543" y="4599300"/>
            <a:ext cx="398462"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392" name="矩形 391">
            <a:extLst>
              <a:ext uri="{FF2B5EF4-FFF2-40B4-BE49-F238E27FC236}">
                <a16:creationId xmlns:a16="http://schemas.microsoft.com/office/drawing/2014/main" xmlns="" id="{396E3A4E-3DCE-51D1-DE56-78AC0CFE008B}"/>
              </a:ext>
            </a:extLst>
          </p:cNvPr>
          <p:cNvSpPr/>
          <p:nvPr/>
        </p:nvSpPr>
        <p:spPr>
          <a:xfrm>
            <a:off x="211184" y="3872149"/>
            <a:ext cx="6819709" cy="1421928"/>
          </a:xfrm>
          <a:prstGeom prst="rect">
            <a:avLst/>
          </a:prstGeom>
        </p:spPr>
        <p:txBody>
          <a:bodyPr wrap="square">
            <a:spAutoFit/>
          </a:bodyPr>
          <a:lstStyle/>
          <a:p>
            <a:pPr lvl="0">
              <a:lnSpc>
                <a:spcPct val="120000"/>
              </a:lnSpc>
            </a:pPr>
            <a:r>
              <a:rPr kumimoji="1" lang="en-US" altLang="zh-CN" i="0" dirty="0">
                <a:solidFill>
                  <a:schemeClr val="tx1"/>
                </a:solidFill>
                <a:latin typeface="+mn-lt"/>
                <a:ea typeface="黑体" panose="02010609060101010101" pitchFamily="49" charset="-122"/>
              </a:rPr>
              <a:t>     2)  </a:t>
            </a:r>
            <a:r>
              <a:rPr kumimoji="1" lang="zh-CN" altLang="en-US" i="0" dirty="0">
                <a:solidFill>
                  <a:schemeClr val="tx1"/>
                </a:solidFill>
                <a:latin typeface="+mn-lt"/>
                <a:ea typeface="黑体" panose="02010609060101010101" pitchFamily="49" charset="-122"/>
              </a:rPr>
              <a:t>计算扭矩。将轴分为两段，逐段计算扭矩。由截面法可知</a:t>
            </a:r>
            <a:endParaRPr kumimoji="1" lang="en-US" altLang="zh-CN" i="0" dirty="0">
              <a:solidFill>
                <a:schemeClr val="tx1"/>
              </a:solidFill>
              <a:latin typeface="+mn-lt"/>
              <a:ea typeface="黑体" panose="02010609060101010101" pitchFamily="49" charset="-122"/>
            </a:endParaRPr>
          </a:p>
          <a:p>
            <a:pPr lvl="0">
              <a:lnSpc>
                <a:spcPct val="120000"/>
              </a:lnSpc>
            </a:pPr>
            <a:r>
              <a:rPr kumimoji="1" lang="en-US" altLang="zh-CN" b="0" dirty="0">
                <a:solidFill>
                  <a:schemeClr val="tx1"/>
                </a:solidFill>
                <a:ea typeface="黑体" panose="02010609060101010101" pitchFamily="49" charset="-122"/>
              </a:rPr>
              <a:t>      M</a:t>
            </a:r>
            <a:r>
              <a:rPr kumimoji="1" lang="en-US" altLang="zh-CN" b="0" i="0" baseline="-25000" dirty="0">
                <a:solidFill>
                  <a:schemeClr val="tx1"/>
                </a:solidFill>
                <a:ea typeface="黑体" panose="02010609060101010101" pitchFamily="49" charset="-122"/>
              </a:rPr>
              <a:t>n1</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274N</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m     </a:t>
            </a:r>
            <a:r>
              <a:rPr kumimoji="1" lang="en-US" altLang="zh-CN" b="0" dirty="0">
                <a:solidFill>
                  <a:schemeClr val="tx1"/>
                </a:solidFill>
                <a:ea typeface="黑体" panose="02010609060101010101" pitchFamily="49" charset="-122"/>
              </a:rPr>
              <a:t>M</a:t>
            </a:r>
            <a:r>
              <a:rPr kumimoji="1" lang="en-US" altLang="zh-CN" b="0" i="0" baseline="-25000" dirty="0">
                <a:solidFill>
                  <a:schemeClr val="tx1"/>
                </a:solidFill>
                <a:ea typeface="黑体" panose="02010609060101010101" pitchFamily="49" charset="-122"/>
              </a:rPr>
              <a:t>n2</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75N</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smtClean="0">
                <a:solidFill>
                  <a:schemeClr val="tx1"/>
                </a:solidFill>
                <a:ea typeface="黑体" panose="02010609060101010101" pitchFamily="49" charset="-122"/>
              </a:rPr>
              <a:t>m</a:t>
            </a:r>
            <a:endParaRPr kumimoji="1" lang="en-US" altLang="zh-CN" i="0" dirty="0">
              <a:solidFill>
                <a:schemeClr val="tx1"/>
              </a:solidFill>
              <a:latin typeface="+mn-lt"/>
              <a:ea typeface="黑体" panose="02010609060101010101" pitchFamily="49" charset="-122"/>
            </a:endParaRPr>
          </a:p>
        </p:txBody>
      </p:sp>
      <p:sp>
        <p:nvSpPr>
          <p:cNvPr id="393" name="矩形 392">
            <a:extLst>
              <a:ext uri="{FF2B5EF4-FFF2-40B4-BE49-F238E27FC236}">
                <a16:creationId xmlns:a16="http://schemas.microsoft.com/office/drawing/2014/main" xmlns="" id="{396E3A4E-3DCE-51D1-DE56-78AC0CFE008B}"/>
              </a:ext>
            </a:extLst>
          </p:cNvPr>
          <p:cNvSpPr/>
          <p:nvPr/>
        </p:nvSpPr>
        <p:spPr>
          <a:xfrm>
            <a:off x="211184" y="5289068"/>
            <a:ext cx="6819709" cy="1052596"/>
          </a:xfrm>
          <a:prstGeom prst="rect">
            <a:avLst/>
          </a:prstGeom>
        </p:spPr>
        <p:txBody>
          <a:bodyPr wrap="square">
            <a:spAutoFit/>
          </a:bodyPr>
          <a:lstStyle/>
          <a:p>
            <a:pPr lvl="0">
              <a:lnSpc>
                <a:spcPct val="130000"/>
              </a:lnSpc>
            </a:pPr>
            <a:r>
              <a:rPr kumimoji="1" lang="en-US" altLang="zh-CN" i="0" dirty="0">
                <a:solidFill>
                  <a:schemeClr val="tx1"/>
                </a:solidFill>
                <a:latin typeface="+mn-lt"/>
                <a:ea typeface="黑体" panose="02010609060101010101" pitchFamily="49" charset="-122"/>
              </a:rPr>
              <a:t>     3)  </a:t>
            </a:r>
            <a:r>
              <a:rPr kumimoji="1" lang="zh-CN" altLang="en-US" i="0" dirty="0">
                <a:solidFill>
                  <a:schemeClr val="tx1"/>
                </a:solidFill>
                <a:latin typeface="+mn-lt"/>
                <a:ea typeface="黑体" panose="02010609060101010101" pitchFamily="49" charset="-122"/>
              </a:rPr>
              <a:t>画扭矩图。根据以上计算结果，按比例画扭矩图。</a:t>
            </a:r>
            <a:endParaRPr kumimoji="1" lang="en-US" altLang="zh-CN" i="0" dirty="0">
              <a:solidFill>
                <a:schemeClr val="tx1"/>
              </a:solidFill>
              <a:latin typeface="+mn-lt"/>
              <a:ea typeface="黑体" panose="02010609060101010101" pitchFamily="49" charset="-122"/>
            </a:endParaRPr>
          </a:p>
        </p:txBody>
      </p:sp>
    </p:spTree>
    <p:extLst>
      <p:ext uri="{BB962C8B-B14F-4D97-AF65-F5344CB8AC3E}">
        <p14:creationId xmlns:p14="http://schemas.microsoft.com/office/powerpoint/2010/main" val="395159834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8"/>
                                        </p:tgtEl>
                                        <p:attrNameLst>
                                          <p:attrName>style.visibility</p:attrName>
                                        </p:attrNameLst>
                                      </p:cBhvr>
                                      <p:to>
                                        <p:strVal val="visible"/>
                                      </p:to>
                                    </p:set>
                                  </p:childTnLst>
                                </p:cTn>
                              </p:par>
                            </p:childTnLst>
                          </p:cTn>
                        </p:par>
                        <p:par>
                          <p:cTn id="13" fill="hold">
                            <p:stCondLst>
                              <p:cond delay="0"/>
                            </p:stCondLst>
                            <p:childTnLst>
                              <p:par>
                                <p:cTn id="14" presetID="16" presetClass="entr" presetSubtype="42" fill="hold" nodeType="afterEffect">
                                  <p:stCondLst>
                                    <p:cond delay="0"/>
                                  </p:stCondLst>
                                  <p:childTnLst>
                                    <p:set>
                                      <p:cBhvr>
                                        <p:cTn id="15" dur="1" fill="hold">
                                          <p:stCondLst>
                                            <p:cond delay="0"/>
                                          </p:stCondLst>
                                        </p:cTn>
                                        <p:tgtEl>
                                          <p:spTgt spid="328"/>
                                        </p:tgtEl>
                                        <p:attrNameLst>
                                          <p:attrName>style.visibility</p:attrName>
                                        </p:attrNameLst>
                                      </p:cBhvr>
                                      <p:to>
                                        <p:strVal val="visible"/>
                                      </p:to>
                                    </p:set>
                                    <p:animEffect transition="in" filter="barn(outHorizontal)">
                                      <p:cBhvr>
                                        <p:cTn id="16" dur="3000"/>
                                        <p:tgtEl>
                                          <p:spTgt spid="328"/>
                                        </p:tgtEl>
                                      </p:cBhvr>
                                    </p:animEffect>
                                  </p:childTnLst>
                                  <p:subTnLst>
                                    <p:audio>
                                      <p:cMediaNode>
                                        <p:cTn display="0" masterRel="sameClick">
                                          <p:stCondLst>
                                            <p:cond evt="begin" delay="0">
                                              <p:tn val="14"/>
                                            </p:cond>
                                          </p:stCondLst>
                                          <p:endCondLst>
                                            <p:cond evt="onStopAudio" delay="0">
                                              <p:tgtEl>
                                                <p:sldTgt/>
                                              </p:tgtEl>
                                            </p:cond>
                                          </p:endCondLst>
                                        </p:cTn>
                                        <p:tgtEl>
                                          <p:sndTgt r:embed="rId4" name="CAMERA.WAV"/>
                                        </p:tgtEl>
                                      </p:cMediaNode>
                                    </p:audio>
                                  </p:subTnLst>
                                </p:cTn>
                              </p:par>
                            </p:childTnLst>
                          </p:cTn>
                        </p:par>
                        <p:par>
                          <p:cTn id="17" fill="hold">
                            <p:stCondLst>
                              <p:cond delay="3000"/>
                            </p:stCondLst>
                            <p:childTnLst>
                              <p:par>
                                <p:cTn id="18" presetID="6" presetClass="emph" presetSubtype="0" repeatCount="2000" accel="50000" decel="50000" autoRev="1" fill="hold" nodeType="afterEffect">
                                  <p:stCondLst>
                                    <p:cond delay="0"/>
                                  </p:stCondLst>
                                  <p:childTnLst>
                                    <p:animScale>
                                      <p:cBhvr>
                                        <p:cTn id="19" dur="3000" fill="hold"/>
                                        <p:tgtEl>
                                          <p:spTgt spid="328"/>
                                        </p:tgtEl>
                                      </p:cBhvr>
                                      <p:by x="150000" y="150000"/>
                                    </p:animScale>
                                  </p:childTnLst>
                                </p:cTn>
                              </p:par>
                            </p:childTnLst>
                          </p:cTn>
                        </p:par>
                        <p:par>
                          <p:cTn id="20" fill="hold">
                            <p:stCondLst>
                              <p:cond delay="15000"/>
                            </p:stCondLst>
                            <p:childTnLst>
                              <p:par>
                                <p:cTn id="21" presetID="1" presetClass="entr" presetSubtype="0" fill="hold" nodeType="afterEffect">
                                  <p:stCondLst>
                                    <p:cond delay="0"/>
                                  </p:stCondLst>
                                  <p:childTnLst>
                                    <p:set>
                                      <p:cBhvr>
                                        <p:cTn id="22" dur="1" fill="hold">
                                          <p:stCondLst>
                                            <p:cond delay="0"/>
                                          </p:stCondLst>
                                        </p:cTn>
                                        <p:tgtEl>
                                          <p:spTgt spid="356"/>
                                        </p:tgtEl>
                                        <p:attrNameLst>
                                          <p:attrName>style.visibility</p:attrName>
                                        </p:attrNameLst>
                                      </p:cBhvr>
                                      <p:to>
                                        <p:strVal val="visible"/>
                                      </p:to>
                                    </p:set>
                                  </p:childTnLst>
                                </p:cTn>
                              </p:par>
                              <p:par>
                                <p:cTn id="23" presetID="0" presetClass="path" presetSubtype="0" accel="50000" decel="50000" fill="hold" nodeType="withEffect">
                                  <p:stCondLst>
                                    <p:cond delay="0"/>
                                  </p:stCondLst>
                                  <p:childTnLst>
                                    <p:animMotion origin="layout" path="M 3.125E-6 -4.44444E-6 L 0.05013 -0.21319 " pathEditMode="relative" rAng="0" ptsTypes="AA">
                                      <p:cBhvr>
                                        <p:cTn id="24" dur="5000" spd="-100000" fill="hold"/>
                                        <p:tgtEl>
                                          <p:spTgt spid="356"/>
                                        </p:tgtEl>
                                        <p:attrNameLst>
                                          <p:attrName>ppt_x</p:attrName>
                                          <p:attrName>ppt_y</p:attrName>
                                        </p:attrNameLst>
                                      </p:cBhvr>
                                      <p:rCtr x="2500" y="-10671"/>
                                    </p:animMotion>
                                  </p:childTnLst>
                                </p:cTn>
                              </p:par>
                            </p:childTnLst>
                          </p:cTn>
                        </p:par>
                        <p:par>
                          <p:cTn id="25" fill="hold">
                            <p:stCondLst>
                              <p:cond delay="20000"/>
                            </p:stCondLst>
                            <p:childTnLst>
                              <p:par>
                                <p:cTn id="26" presetID="22" presetClass="entr" presetSubtype="1" fill="hold" grpId="0" nodeType="afterEffect">
                                  <p:stCondLst>
                                    <p:cond delay="0"/>
                                  </p:stCondLst>
                                  <p:childTnLst>
                                    <p:set>
                                      <p:cBhvr>
                                        <p:cTn id="27" dur="1" fill="hold">
                                          <p:stCondLst>
                                            <p:cond delay="0"/>
                                          </p:stCondLst>
                                        </p:cTn>
                                        <p:tgtEl>
                                          <p:spTgt spid="370"/>
                                        </p:tgtEl>
                                        <p:attrNameLst>
                                          <p:attrName>style.visibility</p:attrName>
                                        </p:attrNameLst>
                                      </p:cBhvr>
                                      <p:to>
                                        <p:strVal val="visible"/>
                                      </p:to>
                                    </p:set>
                                    <p:animEffect transition="in" filter="wipe(up)">
                                      <p:cBhvr>
                                        <p:cTn id="28" dur="5000"/>
                                        <p:tgtEl>
                                          <p:spTgt spid="370"/>
                                        </p:tgtEl>
                                      </p:cBhvr>
                                    </p:animEffect>
                                  </p:childTnLst>
                                  <p:subTnLst>
                                    <p:audio>
                                      <p:cMediaNode>
                                        <p:cTn display="0" masterRel="sameClick">
                                          <p:stCondLst>
                                            <p:cond evt="begin" delay="0">
                                              <p:tn val="26"/>
                                            </p:cond>
                                          </p:stCondLst>
                                          <p:endCondLst>
                                            <p:cond evt="onStopAudio" delay="0">
                                              <p:tgtEl>
                                                <p:sldTgt/>
                                              </p:tgtEl>
                                            </p:cond>
                                          </p:endCondLst>
                                        </p:cTn>
                                        <p:tgtEl>
                                          <p:sndTgt r:embed="rId5" name="CHIMES.WAV"/>
                                        </p:tgtEl>
                                      </p:cMediaNode>
                                    </p:audio>
                                  </p:subTnLst>
                                </p:cTn>
                              </p:par>
                              <p:par>
                                <p:cTn id="29" presetID="19" presetClass="entr" presetSubtype="10" fill="hold" grpId="0" nodeType="withEffect">
                                  <p:stCondLst>
                                    <p:cond delay="0"/>
                                  </p:stCondLst>
                                  <p:childTnLst>
                                    <p:set>
                                      <p:cBhvr>
                                        <p:cTn id="30" dur="1" fill="hold">
                                          <p:stCondLst>
                                            <p:cond delay="0"/>
                                          </p:stCondLst>
                                        </p:cTn>
                                        <p:tgtEl>
                                          <p:spTgt spid="295"/>
                                        </p:tgtEl>
                                        <p:attrNameLst>
                                          <p:attrName>style.visibility</p:attrName>
                                        </p:attrNameLst>
                                      </p:cBhvr>
                                      <p:to>
                                        <p:strVal val="visible"/>
                                      </p:to>
                                    </p:set>
                                    <p:anim calcmode="lin" valueType="num">
                                      <p:cBhvr>
                                        <p:cTn id="31" dur="5000" fill="hold"/>
                                        <p:tgtEl>
                                          <p:spTgt spid="295"/>
                                        </p:tgtEl>
                                        <p:attrNameLst>
                                          <p:attrName>ppt_w</p:attrName>
                                        </p:attrNameLst>
                                      </p:cBhvr>
                                      <p:tavLst>
                                        <p:tav tm="0" fmla="#ppt_w*sin(2.5*pi*$)">
                                          <p:val>
                                            <p:fltVal val="0"/>
                                          </p:val>
                                        </p:tav>
                                        <p:tav tm="100000">
                                          <p:val>
                                            <p:fltVal val="1"/>
                                          </p:val>
                                        </p:tav>
                                      </p:tavLst>
                                    </p:anim>
                                    <p:anim calcmode="lin" valueType="num">
                                      <p:cBhvr>
                                        <p:cTn id="32" dur="5000" fill="hold"/>
                                        <p:tgtEl>
                                          <p:spTgt spid="29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
                                            </p:cond>
                                          </p:stCondLst>
                                          <p:endCondLst>
                                            <p:cond evt="onStopAudio" delay="0">
                                              <p:tgtEl>
                                                <p:sldTgt/>
                                              </p:tgtEl>
                                            </p:cond>
                                          </p:endCondLst>
                                        </p:cTn>
                                        <p:tgtEl>
                                          <p:sndTgt r:embed="rId5" name="CHIMES.WAV"/>
                                        </p:tgtEl>
                                      </p:cMediaNode>
                                    </p:audio>
                                  </p:subTnLst>
                                </p:cTn>
                              </p:par>
                            </p:childTnLst>
                          </p:cTn>
                        </p:par>
                        <p:par>
                          <p:cTn id="33" fill="hold">
                            <p:stCondLst>
                              <p:cond delay="25000"/>
                            </p:stCondLst>
                            <p:childTnLst>
                              <p:par>
                                <p:cTn id="34" presetID="8" presetClass="emph" presetSubtype="0" fill="hold" grpId="1" nodeType="afterEffect">
                                  <p:stCondLst>
                                    <p:cond delay="0"/>
                                  </p:stCondLst>
                                  <p:childTnLst>
                                    <p:animRot by="-21600000">
                                      <p:cBhvr>
                                        <p:cTn id="35" dur="3000" fill="hold"/>
                                        <p:tgtEl>
                                          <p:spTgt spid="370"/>
                                        </p:tgtEl>
                                        <p:attrNameLst>
                                          <p:attrName>r</p:attrName>
                                        </p:attrNameLst>
                                      </p:cBhvr>
                                    </p:animRot>
                                  </p:childTnLst>
                                </p:cTn>
                              </p:par>
                            </p:childTnLst>
                          </p:cTn>
                        </p:par>
                        <p:par>
                          <p:cTn id="36" fill="hold">
                            <p:stCondLst>
                              <p:cond delay="28000"/>
                            </p:stCondLst>
                            <p:childTnLst>
                              <p:par>
                                <p:cTn id="37" presetID="16" presetClass="entr" presetSubtype="42" fill="hold" nodeType="afterEffect">
                                  <p:stCondLst>
                                    <p:cond delay="0"/>
                                  </p:stCondLst>
                                  <p:childTnLst>
                                    <p:set>
                                      <p:cBhvr>
                                        <p:cTn id="38" dur="1" fill="hold">
                                          <p:stCondLst>
                                            <p:cond delay="0"/>
                                          </p:stCondLst>
                                        </p:cTn>
                                        <p:tgtEl>
                                          <p:spTgt spid="371"/>
                                        </p:tgtEl>
                                        <p:attrNameLst>
                                          <p:attrName>style.visibility</p:attrName>
                                        </p:attrNameLst>
                                      </p:cBhvr>
                                      <p:to>
                                        <p:strVal val="visible"/>
                                      </p:to>
                                    </p:set>
                                    <p:animEffect transition="in" filter="barn(outHorizontal)">
                                      <p:cBhvr>
                                        <p:cTn id="39" dur="3000"/>
                                        <p:tgtEl>
                                          <p:spTgt spid="371"/>
                                        </p:tgtEl>
                                      </p:cBhvr>
                                    </p:animEffect>
                                  </p:childTnLst>
                                  <p:subTnLst>
                                    <p:audio>
                                      <p:cMediaNode>
                                        <p:cTn display="0" masterRel="sameClick">
                                          <p:stCondLst>
                                            <p:cond evt="begin" delay="0">
                                              <p:tn val="37"/>
                                            </p:cond>
                                          </p:stCondLst>
                                          <p:endCondLst>
                                            <p:cond evt="onStopAudio" delay="0">
                                              <p:tgtEl>
                                                <p:sldTgt/>
                                              </p:tgtEl>
                                            </p:cond>
                                          </p:endCondLst>
                                        </p:cTn>
                                        <p:tgtEl>
                                          <p:sndTgt r:embed="rId4" name="CAMERA.WAV"/>
                                        </p:tgtEl>
                                      </p:cMediaNode>
                                    </p:audio>
                                  </p:subTnLst>
                                </p:cTn>
                              </p:par>
                            </p:childTnLst>
                          </p:cTn>
                        </p:par>
                        <p:par>
                          <p:cTn id="40" fill="hold">
                            <p:stCondLst>
                              <p:cond delay="31000"/>
                            </p:stCondLst>
                            <p:childTnLst>
                              <p:par>
                                <p:cTn id="41" presetID="6" presetClass="emph" presetSubtype="0" repeatCount="2000" accel="50000" decel="50000" autoRev="1" fill="hold" nodeType="afterEffect">
                                  <p:stCondLst>
                                    <p:cond delay="0"/>
                                  </p:stCondLst>
                                  <p:childTnLst>
                                    <p:animScale>
                                      <p:cBhvr>
                                        <p:cTn id="42" dur="3000" fill="hold"/>
                                        <p:tgtEl>
                                          <p:spTgt spid="371"/>
                                        </p:tgtEl>
                                      </p:cBhvr>
                                      <p:by x="150000" y="150000"/>
                                    </p:animScale>
                                  </p:childTnLst>
                                </p:cTn>
                              </p:par>
                            </p:childTnLst>
                          </p:cTn>
                        </p:par>
                        <p:par>
                          <p:cTn id="43" fill="hold">
                            <p:stCondLst>
                              <p:cond delay="43000"/>
                            </p:stCondLst>
                            <p:childTnLst>
                              <p:par>
                                <p:cTn id="44" presetID="1" presetClass="entr" presetSubtype="0" fill="hold" nodeType="afterEffect">
                                  <p:stCondLst>
                                    <p:cond delay="0"/>
                                  </p:stCondLst>
                                  <p:childTnLst>
                                    <p:set>
                                      <p:cBhvr>
                                        <p:cTn id="45" dur="1" fill="hold">
                                          <p:stCondLst>
                                            <p:cond delay="0"/>
                                          </p:stCondLst>
                                        </p:cTn>
                                        <p:tgtEl>
                                          <p:spTgt spid="332"/>
                                        </p:tgtEl>
                                        <p:attrNameLst>
                                          <p:attrName>style.visibility</p:attrName>
                                        </p:attrNameLst>
                                      </p:cBhvr>
                                      <p:to>
                                        <p:strVal val="visible"/>
                                      </p:to>
                                    </p:set>
                                  </p:childTnLst>
                                </p:cTn>
                              </p:par>
                              <p:par>
                                <p:cTn id="46" presetID="0" presetClass="path" presetSubtype="0" accel="50000" decel="50000" fill="hold" nodeType="withEffect">
                                  <p:stCondLst>
                                    <p:cond delay="0"/>
                                  </p:stCondLst>
                                  <p:childTnLst>
                                    <p:animMotion origin="layout" path="M -1.875E-6 -1.48148E-6 L -0.10742 -0.21111 " pathEditMode="relative" rAng="0" ptsTypes="AA">
                                      <p:cBhvr>
                                        <p:cTn id="47" dur="5000" spd="-100000" fill="hold"/>
                                        <p:tgtEl>
                                          <p:spTgt spid="332"/>
                                        </p:tgtEl>
                                        <p:attrNameLst>
                                          <p:attrName>ppt_x</p:attrName>
                                          <p:attrName>ppt_y</p:attrName>
                                        </p:attrNameLst>
                                      </p:cBhvr>
                                      <p:rCtr x="-5378" y="-10556"/>
                                    </p:animMotion>
                                  </p:childTnLst>
                                </p:cTn>
                              </p:par>
                            </p:childTnLst>
                          </p:cTn>
                        </p:par>
                        <p:par>
                          <p:cTn id="48" fill="hold">
                            <p:stCondLst>
                              <p:cond delay="48000"/>
                            </p:stCondLst>
                            <p:childTnLst>
                              <p:par>
                                <p:cTn id="49" presetID="22" presetClass="entr" presetSubtype="1" fill="hold" nodeType="afterEffect">
                                  <p:stCondLst>
                                    <p:cond delay="0"/>
                                  </p:stCondLst>
                                  <p:childTnLst>
                                    <p:set>
                                      <p:cBhvr>
                                        <p:cTn id="50" dur="1" fill="hold">
                                          <p:stCondLst>
                                            <p:cond delay="0"/>
                                          </p:stCondLst>
                                        </p:cTn>
                                        <p:tgtEl>
                                          <p:spTgt spid="376"/>
                                        </p:tgtEl>
                                        <p:attrNameLst>
                                          <p:attrName>style.visibility</p:attrName>
                                        </p:attrNameLst>
                                      </p:cBhvr>
                                      <p:to>
                                        <p:strVal val="visible"/>
                                      </p:to>
                                    </p:set>
                                    <p:animEffect transition="in" filter="wipe(up)">
                                      <p:cBhvr>
                                        <p:cTn id="51" dur="5000"/>
                                        <p:tgtEl>
                                          <p:spTgt spid="376"/>
                                        </p:tgtEl>
                                      </p:cBhvr>
                                    </p:animEffect>
                                  </p:childTnLst>
                                </p:cTn>
                              </p:par>
                              <p:par>
                                <p:cTn id="52" presetID="19" presetClass="entr" presetSubtype="10" fill="hold" grpId="0" nodeType="withEffect">
                                  <p:stCondLst>
                                    <p:cond delay="0"/>
                                  </p:stCondLst>
                                  <p:childTnLst>
                                    <p:set>
                                      <p:cBhvr>
                                        <p:cTn id="53" dur="1" fill="hold">
                                          <p:stCondLst>
                                            <p:cond delay="0"/>
                                          </p:stCondLst>
                                        </p:cTn>
                                        <p:tgtEl>
                                          <p:spTgt spid="375"/>
                                        </p:tgtEl>
                                        <p:attrNameLst>
                                          <p:attrName>style.visibility</p:attrName>
                                        </p:attrNameLst>
                                      </p:cBhvr>
                                      <p:to>
                                        <p:strVal val="visible"/>
                                      </p:to>
                                    </p:set>
                                    <p:anim calcmode="lin" valueType="num">
                                      <p:cBhvr>
                                        <p:cTn id="54" dur="5000" fill="hold"/>
                                        <p:tgtEl>
                                          <p:spTgt spid="375"/>
                                        </p:tgtEl>
                                        <p:attrNameLst>
                                          <p:attrName>ppt_w</p:attrName>
                                        </p:attrNameLst>
                                      </p:cBhvr>
                                      <p:tavLst>
                                        <p:tav tm="0" fmla="#ppt_w*sin(2.5*pi*$)">
                                          <p:val>
                                            <p:fltVal val="0"/>
                                          </p:val>
                                        </p:tav>
                                        <p:tav tm="100000">
                                          <p:val>
                                            <p:fltVal val="1"/>
                                          </p:val>
                                        </p:tav>
                                      </p:tavLst>
                                    </p:anim>
                                    <p:anim calcmode="lin" valueType="num">
                                      <p:cBhvr>
                                        <p:cTn id="55" dur="5000" fill="hold"/>
                                        <p:tgtEl>
                                          <p:spTgt spid="37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2"/>
                                            </p:cond>
                                          </p:stCondLst>
                                          <p:endCondLst>
                                            <p:cond evt="onStopAudio" delay="0">
                                              <p:tgtEl>
                                                <p:sldTgt/>
                                              </p:tgtEl>
                                            </p:cond>
                                          </p:endCondLst>
                                        </p:cTn>
                                        <p:tgtEl>
                                          <p:sndTgt r:embed="rId5" name="CHIMES.WAV"/>
                                        </p:tgtEl>
                                      </p:cMediaNode>
                                    </p:audio>
                                  </p:subTnLst>
                                </p:cTn>
                              </p:par>
                            </p:childTnLst>
                          </p:cTn>
                        </p:par>
                        <p:par>
                          <p:cTn id="56" fill="hold">
                            <p:stCondLst>
                              <p:cond delay="53000"/>
                            </p:stCondLst>
                            <p:childTnLst>
                              <p:par>
                                <p:cTn id="57" presetID="8" presetClass="emph" presetSubtype="0" fill="hold" nodeType="afterEffect">
                                  <p:stCondLst>
                                    <p:cond delay="0"/>
                                  </p:stCondLst>
                                  <p:childTnLst>
                                    <p:animRot by="-21600000">
                                      <p:cBhvr>
                                        <p:cTn id="58" dur="5000" fill="hold"/>
                                        <p:tgtEl>
                                          <p:spTgt spid="376"/>
                                        </p:tgtEl>
                                        <p:attrNameLst>
                                          <p:attrName>r</p:attrName>
                                        </p:attrNameLst>
                                      </p:cBhvr>
                                    </p:animRo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9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9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9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9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7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8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8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8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8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8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8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86"/>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87"/>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88"/>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8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9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p:bldP spid="291" grpId="0" animBg="1"/>
      <p:bldP spid="295" grpId="0" autoUpdateAnimBg="0"/>
      <p:bldP spid="370" grpId="0" animBg="1"/>
      <p:bldP spid="370" grpId="1" animBg="1"/>
      <p:bldP spid="375" grpId="0" autoUpdateAnimBg="0"/>
      <p:bldP spid="379" grpId="0" animBg="1"/>
      <p:bldP spid="380" grpId="0" animBg="1"/>
      <p:bldP spid="381" grpId="0" animBg="1"/>
      <p:bldP spid="382" grpId="0" animBg="1"/>
      <p:bldP spid="383" grpId="0"/>
      <p:bldP spid="384" grpId="0"/>
      <p:bldP spid="385" grpId="0"/>
      <p:bldP spid="386" grpId="0" animBg="1"/>
      <p:bldP spid="387" grpId="0" animBg="1"/>
      <p:bldP spid="388" grpId="0" animBg="1"/>
      <p:bldP spid="389" grpId="0" animBg="1"/>
      <p:bldP spid="390" grpId="0"/>
      <p:bldP spid="391" grpId="0"/>
      <p:bldP spid="392" grpId="0"/>
      <p:bldP spid="39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§9-2  </a:t>
            </a:r>
            <a:r>
              <a:rPr lang="zh-CN" altLang="en-US" sz="3000" i="0" dirty="0">
                <a:solidFill>
                  <a:schemeClr val="accent6">
                    <a:lumMod val="75000"/>
                  </a:schemeClr>
                </a:solidFill>
                <a:latin typeface="+mn-lt"/>
                <a:ea typeface="微软雅黑" panose="020B0503020204020204" pitchFamily="34" charset="-122"/>
              </a:rPr>
              <a:t>圆轴扭转时的应力与强度计算</a:t>
            </a:r>
          </a:p>
        </p:txBody>
      </p:sp>
      <p:sp>
        <p:nvSpPr>
          <p:cNvPr id="14" name="Text Box 1032"/>
          <p:cNvSpPr txBox="1">
            <a:spLocks noChangeArrowheads="1"/>
          </p:cNvSpPr>
          <p:nvPr/>
        </p:nvSpPr>
        <p:spPr bwMode="auto">
          <a:xfrm>
            <a:off x="335361" y="1913190"/>
            <a:ext cx="6912767" cy="219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25000"/>
              </a:lnSpc>
            </a:pPr>
            <a:r>
              <a:rPr lang="zh-CN" altLang="en-US" sz="2800" i="0" dirty="0">
                <a:latin typeface="+mj-lt"/>
                <a:ea typeface="微软雅黑" panose="020B0503020204020204" pitchFamily="34" charset="-122"/>
              </a:rPr>
              <a:t>扭转实验中，在圆轴表面画若干垂直于轴线的圆周线和平行于轴线的纵向线，两端施加个方向相反、力偶矩大小相等的外力。当扭转变形很小时，可观察到</a:t>
            </a:r>
            <a:r>
              <a:rPr lang="zh-CN" altLang="en-US" sz="2800" i="0" dirty="0" smtClean="0">
                <a:latin typeface="+mj-lt"/>
                <a:ea typeface="微软雅黑" panose="020B0503020204020204" pitchFamily="34" charset="-122"/>
              </a:rPr>
              <a:t>：</a:t>
            </a:r>
            <a:endParaRPr lang="zh-CN" altLang="en-US" sz="2800" i="0" dirty="0">
              <a:solidFill>
                <a:srgbClr val="FF00FF"/>
              </a:solidFill>
              <a:latin typeface="+mj-lt"/>
              <a:ea typeface="微软雅黑" panose="020B0503020204020204" pitchFamily="34" charset="-122"/>
            </a:endParaRPr>
          </a:p>
        </p:txBody>
      </p:sp>
      <p:sp>
        <p:nvSpPr>
          <p:cNvPr id="9" name="Rectangle 61"/>
          <p:cNvSpPr>
            <a:spLocks noChangeArrowheads="1"/>
          </p:cNvSpPr>
          <p:nvPr/>
        </p:nvSpPr>
        <p:spPr bwMode="auto">
          <a:xfrm>
            <a:off x="7587683" y="836712"/>
            <a:ext cx="4551955" cy="5432837"/>
          </a:xfrm>
          <a:prstGeom prst="rect">
            <a:avLst/>
          </a:prstGeom>
          <a:solidFill>
            <a:srgbClr val="B9CDE5"/>
          </a:solidFill>
          <a:ln>
            <a:noFill/>
          </a:ln>
          <a:effectLst/>
        </p:spPr>
        <p:txBody>
          <a:bodyPr wrap="none" anchor="ctr"/>
          <a:lstStyle/>
          <a:p>
            <a:endParaRPr lang="zh-CN" altLang="en-US"/>
          </a:p>
        </p:txBody>
      </p:sp>
      <p:sp>
        <p:nvSpPr>
          <p:cNvPr id="53" name="矩形 52"/>
          <p:cNvSpPr/>
          <p:nvPr/>
        </p:nvSpPr>
        <p:spPr>
          <a:xfrm>
            <a:off x="3161676" y="1300804"/>
            <a:ext cx="3262432" cy="1338828"/>
          </a:xfrm>
          <a:prstGeom prst="rect">
            <a:avLst/>
          </a:prstGeom>
        </p:spPr>
        <p:txBody>
          <a:bodyPr wrap="none">
            <a:spAutoFit/>
          </a:bodyPr>
          <a:lstStyle/>
          <a:p>
            <a:pPr lvl="0">
              <a:lnSpc>
                <a:spcPct val="150000"/>
              </a:lnSpc>
            </a:pPr>
            <a:r>
              <a:rPr lang="zh-CN" altLang="en-US" sz="3000" i="0" dirty="0">
                <a:solidFill>
                  <a:srgbClr val="4F81BD"/>
                </a:solidFill>
                <a:latin typeface="微软雅黑" panose="020B0503020204020204" pitchFamily="34" charset="-122"/>
                <a:ea typeface="微软雅黑" panose="020B0503020204020204" pitchFamily="34" charset="-122"/>
              </a:rPr>
              <a:t>圆轴扭转时的应力</a:t>
            </a:r>
          </a:p>
          <a:p>
            <a:pPr>
              <a:lnSpc>
                <a:spcPct val="120000"/>
              </a:lnSpc>
            </a:pPr>
            <a:endParaRPr lang="zh-CN" altLang="en-US" sz="3000" i="0" dirty="0">
              <a:solidFill>
                <a:srgbClr val="4F81BD"/>
              </a:solidFill>
              <a:latin typeface="微软雅黑" panose="020B0503020204020204" pitchFamily="34" charset="-122"/>
              <a:ea typeface="微软雅黑" panose="020B0503020204020204" pitchFamily="34" charset="-122"/>
            </a:endParaRPr>
          </a:p>
        </p:txBody>
      </p:sp>
      <p:pic>
        <p:nvPicPr>
          <p:cNvPr id="2" name="dh1_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8535886" y="949629"/>
            <a:ext cx="3002759" cy="2252069"/>
          </a:xfrm>
          <a:prstGeom prst="rect">
            <a:avLst/>
          </a:prstGeom>
        </p:spPr>
      </p:pic>
      <p:grpSp>
        <p:nvGrpSpPr>
          <p:cNvPr id="47" name="Group 83"/>
          <p:cNvGrpSpPr>
            <a:grpSpLocks/>
          </p:cNvGrpSpPr>
          <p:nvPr/>
        </p:nvGrpSpPr>
        <p:grpSpPr bwMode="auto">
          <a:xfrm>
            <a:off x="10584883" y="4209496"/>
            <a:ext cx="1289050" cy="1285875"/>
            <a:chOff x="4776" y="2464"/>
            <a:chExt cx="812" cy="810"/>
          </a:xfrm>
        </p:grpSpPr>
        <p:sp>
          <p:nvSpPr>
            <p:cNvPr id="48" name="Oval 84"/>
            <p:cNvSpPr>
              <a:spLocks noChangeAspect="1" noChangeArrowheads="1"/>
            </p:cNvSpPr>
            <p:nvPr/>
          </p:nvSpPr>
          <p:spPr bwMode="auto">
            <a:xfrm>
              <a:off x="4785" y="2464"/>
              <a:ext cx="793" cy="810"/>
            </a:xfrm>
            <a:prstGeom prst="ellipse">
              <a:avLst/>
            </a:prstGeom>
            <a:gradFill rotWithShape="0">
              <a:gsLst>
                <a:gs pos="0">
                  <a:srgbClr val="EAEAEA"/>
                </a:gs>
                <a:gs pos="100000">
                  <a:srgbClr val="A3A3A3"/>
                </a:gs>
              </a:gsLst>
              <a:path path="rect">
                <a:fillToRect r="100000" b="100000"/>
              </a:path>
            </a:gra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49" name="Line 85"/>
            <p:cNvSpPr>
              <a:spLocks noChangeAspect="1" noChangeShapeType="1"/>
            </p:cNvSpPr>
            <p:nvPr/>
          </p:nvSpPr>
          <p:spPr bwMode="auto">
            <a:xfrm flipV="1">
              <a:off x="4776" y="2890"/>
              <a:ext cx="81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50" name="Group 86"/>
          <p:cNvGrpSpPr>
            <a:grpSpLocks/>
          </p:cNvGrpSpPr>
          <p:nvPr/>
        </p:nvGrpSpPr>
        <p:grpSpPr bwMode="auto">
          <a:xfrm>
            <a:off x="7940108" y="3936446"/>
            <a:ext cx="2495550" cy="819150"/>
            <a:chOff x="2976" y="2151"/>
            <a:chExt cx="1572" cy="516"/>
          </a:xfrm>
        </p:grpSpPr>
        <p:sp>
          <p:nvSpPr>
            <p:cNvPr id="51" name="Freeform 87"/>
            <p:cNvSpPr>
              <a:spLocks/>
            </p:cNvSpPr>
            <p:nvPr/>
          </p:nvSpPr>
          <p:spPr bwMode="auto">
            <a:xfrm>
              <a:off x="3111" y="2154"/>
              <a:ext cx="1206" cy="511"/>
            </a:xfrm>
            <a:custGeom>
              <a:avLst/>
              <a:gdLst>
                <a:gd name="T0" fmla="*/ 84 w 1206"/>
                <a:gd name="T1" fmla="*/ 0 h 511"/>
                <a:gd name="T2" fmla="*/ 63 w 1206"/>
                <a:gd name="T3" fmla="*/ 21 h 511"/>
                <a:gd name="T4" fmla="*/ 42 w 1206"/>
                <a:gd name="T5" fmla="*/ 66 h 511"/>
                <a:gd name="T6" fmla="*/ 3 w 1206"/>
                <a:gd name="T7" fmla="*/ 162 h 511"/>
                <a:gd name="T8" fmla="*/ 12 w 1206"/>
                <a:gd name="T9" fmla="*/ 330 h 511"/>
                <a:gd name="T10" fmla="*/ 36 w 1206"/>
                <a:gd name="T11" fmla="*/ 435 h 511"/>
                <a:gd name="T12" fmla="*/ 66 w 1206"/>
                <a:gd name="T13" fmla="*/ 498 h 511"/>
                <a:gd name="T14" fmla="*/ 87 w 1206"/>
                <a:gd name="T15" fmla="*/ 510 h 511"/>
                <a:gd name="T16" fmla="*/ 1194 w 1206"/>
                <a:gd name="T17" fmla="*/ 507 h 511"/>
                <a:gd name="T18" fmla="*/ 1206 w 1206"/>
                <a:gd name="T19" fmla="*/ 0 h 511"/>
                <a:gd name="T20" fmla="*/ 84 w 1206"/>
                <a:gd name="T21" fmla="*/ 0 h 5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06"/>
                <a:gd name="T34" fmla="*/ 0 h 511"/>
                <a:gd name="T35" fmla="*/ 1206 w 1206"/>
                <a:gd name="T36" fmla="*/ 511 h 5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06" h="511">
                  <a:moveTo>
                    <a:pt x="84" y="0"/>
                  </a:moveTo>
                  <a:cubicBezTo>
                    <a:pt x="68" y="5"/>
                    <a:pt x="79" y="16"/>
                    <a:pt x="63" y="21"/>
                  </a:cubicBezTo>
                  <a:cubicBezTo>
                    <a:pt x="53" y="35"/>
                    <a:pt x="51" y="53"/>
                    <a:pt x="42" y="66"/>
                  </a:cubicBezTo>
                  <a:cubicBezTo>
                    <a:pt x="24" y="93"/>
                    <a:pt x="10" y="129"/>
                    <a:pt x="3" y="162"/>
                  </a:cubicBezTo>
                  <a:cubicBezTo>
                    <a:pt x="0" y="221"/>
                    <a:pt x="4" y="273"/>
                    <a:pt x="12" y="330"/>
                  </a:cubicBezTo>
                  <a:cubicBezTo>
                    <a:pt x="13" y="354"/>
                    <a:pt x="7" y="416"/>
                    <a:pt x="36" y="435"/>
                  </a:cubicBezTo>
                  <a:cubicBezTo>
                    <a:pt x="39" y="444"/>
                    <a:pt x="61" y="493"/>
                    <a:pt x="66" y="498"/>
                  </a:cubicBezTo>
                  <a:cubicBezTo>
                    <a:pt x="79" y="511"/>
                    <a:pt x="78" y="510"/>
                    <a:pt x="87" y="510"/>
                  </a:cubicBezTo>
                  <a:lnTo>
                    <a:pt x="1194" y="507"/>
                  </a:lnTo>
                  <a:lnTo>
                    <a:pt x="1206" y="0"/>
                  </a:lnTo>
                  <a:lnTo>
                    <a:pt x="84" y="0"/>
                  </a:lnTo>
                  <a:close/>
                </a:path>
              </a:pathLst>
            </a:custGeom>
            <a:gradFill rotWithShape="1">
              <a:gsLst>
                <a:gs pos="0">
                  <a:srgbClr val="969696"/>
                </a:gs>
                <a:gs pos="50000">
                  <a:srgbClr val="EAEAEA"/>
                </a:gs>
                <a:gs pos="100000">
                  <a:srgbClr val="969696"/>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2" name="Oval 88"/>
            <p:cNvSpPr>
              <a:spLocks noChangeAspect="1" noChangeArrowheads="1"/>
            </p:cNvSpPr>
            <p:nvPr/>
          </p:nvSpPr>
          <p:spPr bwMode="auto">
            <a:xfrm>
              <a:off x="4216" y="2157"/>
              <a:ext cx="203" cy="504"/>
            </a:xfrm>
            <a:prstGeom prst="ellipse">
              <a:avLst/>
            </a:prstGeom>
            <a:gradFill rotWithShape="0">
              <a:gsLst>
                <a:gs pos="0">
                  <a:srgbClr val="EAEAEA"/>
                </a:gs>
                <a:gs pos="100000">
                  <a:srgbClr val="808080"/>
                </a:gs>
              </a:gsLst>
              <a:path path="shape">
                <a:fillToRect l="50000" t="50000" r="50000" b="50000"/>
              </a:path>
            </a:gradFill>
            <a:ln w="2857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67" name="Line 89"/>
            <p:cNvSpPr>
              <a:spLocks noChangeAspect="1" noChangeShapeType="1"/>
            </p:cNvSpPr>
            <p:nvPr/>
          </p:nvSpPr>
          <p:spPr bwMode="auto">
            <a:xfrm>
              <a:off x="4315" y="2399"/>
              <a:ext cx="233"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8" name="Line 90"/>
            <p:cNvSpPr>
              <a:spLocks noChangeAspect="1" noChangeShapeType="1"/>
            </p:cNvSpPr>
            <p:nvPr/>
          </p:nvSpPr>
          <p:spPr bwMode="auto">
            <a:xfrm>
              <a:off x="3192" y="2664"/>
              <a:ext cx="113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9" name="Text Box 91"/>
            <p:cNvSpPr txBox="1">
              <a:spLocks noChangeAspect="1" noChangeArrowheads="1"/>
            </p:cNvSpPr>
            <p:nvPr/>
          </p:nvSpPr>
          <p:spPr bwMode="auto">
            <a:xfrm>
              <a:off x="4178" y="2151"/>
              <a:ext cx="22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rPr>
                <a:t>O</a:t>
              </a:r>
            </a:p>
          </p:txBody>
        </p:sp>
        <p:sp>
          <p:nvSpPr>
            <p:cNvPr id="70" name="Line 92"/>
            <p:cNvSpPr>
              <a:spLocks noChangeAspect="1" noChangeShapeType="1"/>
            </p:cNvSpPr>
            <p:nvPr/>
          </p:nvSpPr>
          <p:spPr bwMode="auto">
            <a:xfrm>
              <a:off x="2976" y="2399"/>
              <a:ext cx="138"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71" name="Line 93"/>
            <p:cNvSpPr>
              <a:spLocks noChangeShapeType="1"/>
            </p:cNvSpPr>
            <p:nvPr/>
          </p:nvSpPr>
          <p:spPr bwMode="auto">
            <a:xfrm flipH="1">
              <a:off x="3189" y="2157"/>
              <a:ext cx="11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72" name="Arc 94"/>
            <p:cNvSpPr>
              <a:spLocks/>
            </p:cNvSpPr>
            <p:nvPr/>
          </p:nvSpPr>
          <p:spPr bwMode="auto">
            <a:xfrm flipH="1">
              <a:off x="3112" y="2155"/>
              <a:ext cx="111" cy="512"/>
            </a:xfrm>
            <a:custGeom>
              <a:avLst/>
              <a:gdLst>
                <a:gd name="T0" fmla="*/ 0 w 21600"/>
                <a:gd name="T1" fmla="*/ 0 h 42294"/>
                <a:gd name="T2" fmla="*/ 0 w 21600"/>
                <a:gd name="T3" fmla="*/ 0 h 42294"/>
                <a:gd name="T4" fmla="*/ 0 w 21600"/>
                <a:gd name="T5" fmla="*/ 0 h 42294"/>
                <a:gd name="T6" fmla="*/ 0 60000 65536"/>
                <a:gd name="T7" fmla="*/ 0 60000 65536"/>
                <a:gd name="T8" fmla="*/ 0 60000 65536"/>
                <a:gd name="T9" fmla="*/ 0 w 21600"/>
                <a:gd name="T10" fmla="*/ 0 h 42294"/>
                <a:gd name="T11" fmla="*/ 21600 w 21600"/>
                <a:gd name="T12" fmla="*/ 42294 h 42294"/>
              </a:gdLst>
              <a:ahLst/>
              <a:cxnLst>
                <a:cxn ang="T6">
                  <a:pos x="T0" y="T1"/>
                </a:cxn>
                <a:cxn ang="T7">
                  <a:pos x="T2" y="T3"/>
                </a:cxn>
                <a:cxn ang="T8">
                  <a:pos x="T4" y="T5"/>
                </a:cxn>
              </a:cxnLst>
              <a:rect l="T9" t="T10" r="T11" b="T12"/>
              <a:pathLst>
                <a:path w="21600" h="42294" fill="none" extrusionOk="0">
                  <a:moveTo>
                    <a:pt x="4764" y="0"/>
                  </a:moveTo>
                  <a:cubicBezTo>
                    <a:pt x="14609" y="2226"/>
                    <a:pt x="21600" y="10974"/>
                    <a:pt x="21600" y="21068"/>
                  </a:cubicBezTo>
                  <a:cubicBezTo>
                    <a:pt x="21600" y="31453"/>
                    <a:pt x="14209" y="40368"/>
                    <a:pt x="4003" y="42293"/>
                  </a:cubicBezTo>
                </a:path>
                <a:path w="21600" h="42294" stroke="0" extrusionOk="0">
                  <a:moveTo>
                    <a:pt x="4764" y="0"/>
                  </a:moveTo>
                  <a:cubicBezTo>
                    <a:pt x="14609" y="2226"/>
                    <a:pt x="21600" y="10974"/>
                    <a:pt x="21600" y="21068"/>
                  </a:cubicBezTo>
                  <a:cubicBezTo>
                    <a:pt x="21600" y="31453"/>
                    <a:pt x="14209" y="40368"/>
                    <a:pt x="4003" y="42293"/>
                  </a:cubicBezTo>
                  <a:lnTo>
                    <a:pt x="0" y="21068"/>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73" name="Group 95"/>
          <p:cNvGrpSpPr>
            <a:grpSpLocks/>
          </p:cNvGrpSpPr>
          <p:nvPr/>
        </p:nvGrpSpPr>
        <p:grpSpPr bwMode="auto">
          <a:xfrm>
            <a:off x="8159183" y="4042808"/>
            <a:ext cx="1797050" cy="588963"/>
            <a:chOff x="3114" y="2218"/>
            <a:chExt cx="1132" cy="371"/>
          </a:xfrm>
        </p:grpSpPr>
        <p:sp>
          <p:nvSpPr>
            <p:cNvPr id="74" name="Line 96"/>
            <p:cNvSpPr>
              <a:spLocks noChangeAspect="1" noChangeShapeType="1"/>
            </p:cNvSpPr>
            <p:nvPr/>
          </p:nvSpPr>
          <p:spPr bwMode="auto">
            <a:xfrm>
              <a:off x="3149" y="2218"/>
              <a:ext cx="1097"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75" name="Line 97"/>
            <p:cNvSpPr>
              <a:spLocks noChangeAspect="1" noChangeShapeType="1"/>
            </p:cNvSpPr>
            <p:nvPr/>
          </p:nvSpPr>
          <p:spPr bwMode="auto">
            <a:xfrm>
              <a:off x="3123" y="2330"/>
              <a:ext cx="1097"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76" name="Line 98"/>
            <p:cNvSpPr>
              <a:spLocks noChangeAspect="1" noChangeShapeType="1"/>
            </p:cNvSpPr>
            <p:nvPr/>
          </p:nvSpPr>
          <p:spPr bwMode="auto">
            <a:xfrm>
              <a:off x="3114" y="2477"/>
              <a:ext cx="1097"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77" name="Line 99"/>
            <p:cNvSpPr>
              <a:spLocks noChangeAspect="1" noChangeShapeType="1"/>
            </p:cNvSpPr>
            <p:nvPr/>
          </p:nvSpPr>
          <p:spPr bwMode="auto">
            <a:xfrm>
              <a:off x="3149" y="2589"/>
              <a:ext cx="1097"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sp>
        <p:nvSpPr>
          <p:cNvPr id="78" name="Line 100"/>
          <p:cNvSpPr>
            <a:spLocks noChangeAspect="1" noChangeShapeType="1"/>
          </p:cNvSpPr>
          <p:nvPr/>
        </p:nvSpPr>
        <p:spPr bwMode="auto">
          <a:xfrm flipH="1">
            <a:off x="9914958" y="4330146"/>
            <a:ext cx="165100" cy="123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79" name="Text Box 101"/>
          <p:cNvSpPr txBox="1">
            <a:spLocks noChangeAspect="1" noChangeArrowheads="1"/>
          </p:cNvSpPr>
          <p:nvPr/>
        </p:nvSpPr>
        <p:spPr bwMode="auto">
          <a:xfrm>
            <a:off x="8800533" y="3293508"/>
            <a:ext cx="1141413"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圆周线</a:t>
            </a:r>
          </a:p>
        </p:txBody>
      </p:sp>
      <p:sp>
        <p:nvSpPr>
          <p:cNvPr id="80" name="Text Box 102"/>
          <p:cNvSpPr txBox="1">
            <a:spLocks noChangeAspect="1" noChangeArrowheads="1"/>
          </p:cNvSpPr>
          <p:nvPr/>
        </p:nvSpPr>
        <p:spPr bwMode="auto">
          <a:xfrm>
            <a:off x="7884546" y="3299718"/>
            <a:ext cx="81597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4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纵线</a:t>
            </a:r>
          </a:p>
        </p:txBody>
      </p:sp>
      <p:grpSp>
        <p:nvGrpSpPr>
          <p:cNvPr id="81" name="Group 103"/>
          <p:cNvGrpSpPr>
            <a:grpSpLocks/>
          </p:cNvGrpSpPr>
          <p:nvPr/>
        </p:nvGrpSpPr>
        <p:grpSpPr bwMode="auto">
          <a:xfrm>
            <a:off x="10581708" y="4217433"/>
            <a:ext cx="1603375" cy="1285875"/>
            <a:chOff x="4640" y="2328"/>
            <a:chExt cx="1010" cy="810"/>
          </a:xfrm>
        </p:grpSpPr>
        <p:sp>
          <p:nvSpPr>
            <p:cNvPr id="82" name="Oval 104"/>
            <p:cNvSpPr>
              <a:spLocks noChangeAspect="1" noChangeArrowheads="1"/>
            </p:cNvSpPr>
            <p:nvPr/>
          </p:nvSpPr>
          <p:spPr bwMode="auto">
            <a:xfrm>
              <a:off x="4649" y="2328"/>
              <a:ext cx="793" cy="810"/>
            </a:xfrm>
            <a:prstGeom prst="ellipse">
              <a:avLst/>
            </a:prstGeom>
            <a:gradFill rotWithShape="0">
              <a:gsLst>
                <a:gs pos="0">
                  <a:srgbClr val="EAEAEA"/>
                </a:gs>
                <a:gs pos="100000">
                  <a:srgbClr val="B2B2B2"/>
                </a:gs>
              </a:gsLst>
              <a:path path="rect">
                <a:fillToRect r="100000" b="100000"/>
              </a:path>
            </a:gra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83" name="Line 105"/>
            <p:cNvSpPr>
              <a:spLocks noChangeAspect="1" noChangeShapeType="1"/>
            </p:cNvSpPr>
            <p:nvPr/>
          </p:nvSpPr>
          <p:spPr bwMode="auto">
            <a:xfrm flipV="1">
              <a:off x="4640" y="2754"/>
              <a:ext cx="81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4" name="Text Box 106"/>
            <p:cNvSpPr txBox="1">
              <a:spLocks noChangeAspect="1" noChangeArrowheads="1"/>
            </p:cNvSpPr>
            <p:nvPr/>
          </p:nvSpPr>
          <p:spPr bwMode="auto">
            <a:xfrm>
              <a:off x="4847" y="2531"/>
              <a:ext cx="274"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 pitchFamily="18" charset="-52"/>
                  <a:ea typeface="宋体" panose="02010600030101010101" pitchFamily="2" charset="-122"/>
                </a:rPr>
                <a:t>O</a:t>
              </a:r>
            </a:p>
          </p:txBody>
        </p:sp>
        <p:sp>
          <p:nvSpPr>
            <p:cNvPr id="85" name="Text Box 107"/>
            <p:cNvSpPr txBox="1">
              <a:spLocks noChangeAspect="1" noChangeArrowheads="1"/>
            </p:cNvSpPr>
            <p:nvPr/>
          </p:nvSpPr>
          <p:spPr bwMode="auto">
            <a:xfrm>
              <a:off x="5402" y="2582"/>
              <a:ext cx="24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rPr>
                <a:t>A</a:t>
              </a:r>
            </a:p>
          </p:txBody>
        </p:sp>
      </p:grpSp>
      <p:sp>
        <p:nvSpPr>
          <p:cNvPr id="86" name="Arc 108"/>
          <p:cNvSpPr>
            <a:spLocks noChangeAspect="1"/>
          </p:cNvSpPr>
          <p:nvPr/>
        </p:nvSpPr>
        <p:spPr bwMode="auto">
          <a:xfrm rot="596597" flipH="1" flipV="1">
            <a:off x="8021071" y="5462033"/>
            <a:ext cx="196850" cy="573088"/>
          </a:xfrm>
          <a:custGeom>
            <a:avLst/>
            <a:gdLst>
              <a:gd name="T0" fmla="*/ 0 w 21602"/>
              <a:gd name="T1" fmla="*/ 0 h 40419"/>
              <a:gd name="T2" fmla="*/ 8024074 w 21602"/>
              <a:gd name="T3" fmla="*/ 115210650 h 40419"/>
              <a:gd name="T4" fmla="*/ 1494 w 21602"/>
              <a:gd name="T5" fmla="*/ 61568760 h 40419"/>
              <a:gd name="T6" fmla="*/ 0 60000 65536"/>
              <a:gd name="T7" fmla="*/ 0 60000 65536"/>
              <a:gd name="T8" fmla="*/ 0 60000 65536"/>
              <a:gd name="T9" fmla="*/ 0 w 21602"/>
              <a:gd name="T10" fmla="*/ 0 h 40419"/>
              <a:gd name="T11" fmla="*/ 21602 w 21602"/>
              <a:gd name="T12" fmla="*/ 40419 h 40419"/>
            </a:gdLst>
            <a:ahLst/>
            <a:cxnLst>
              <a:cxn ang="T6">
                <a:pos x="T0" y="T1"/>
              </a:cxn>
              <a:cxn ang="T7">
                <a:pos x="T2" y="T3"/>
              </a:cxn>
              <a:cxn ang="T8">
                <a:pos x="T4" y="T5"/>
              </a:cxn>
            </a:cxnLst>
            <a:rect l="T9" t="T10" r="T11" b="T12"/>
            <a:pathLst>
              <a:path w="21602" h="40419" fill="none" extrusionOk="0">
                <a:moveTo>
                  <a:pt x="0" y="0"/>
                </a:moveTo>
                <a:cubicBezTo>
                  <a:pt x="0" y="0"/>
                  <a:pt x="1" y="-1"/>
                  <a:pt x="2" y="0"/>
                </a:cubicBezTo>
                <a:cubicBezTo>
                  <a:pt x="11931" y="0"/>
                  <a:pt x="21602" y="9670"/>
                  <a:pt x="21602" y="21600"/>
                </a:cubicBezTo>
                <a:cubicBezTo>
                  <a:pt x="21602" y="29398"/>
                  <a:pt x="17398" y="36591"/>
                  <a:pt x="10604" y="40419"/>
                </a:cubicBezTo>
              </a:path>
              <a:path w="21602" h="40419" stroke="0" extrusionOk="0">
                <a:moveTo>
                  <a:pt x="0" y="0"/>
                </a:moveTo>
                <a:cubicBezTo>
                  <a:pt x="0" y="0"/>
                  <a:pt x="1" y="-1"/>
                  <a:pt x="2" y="0"/>
                </a:cubicBezTo>
                <a:cubicBezTo>
                  <a:pt x="11931" y="0"/>
                  <a:pt x="21602" y="9670"/>
                  <a:pt x="21602" y="21600"/>
                </a:cubicBezTo>
                <a:cubicBezTo>
                  <a:pt x="21602" y="29398"/>
                  <a:pt x="17398" y="36591"/>
                  <a:pt x="10604" y="40419"/>
                </a:cubicBezTo>
                <a:lnTo>
                  <a:pt x="2" y="21600"/>
                </a:lnTo>
                <a:close/>
              </a:path>
            </a:pathLst>
          </a:custGeom>
          <a:noFill/>
          <a:ln w="38100">
            <a:solidFill>
              <a:srgbClr val="FF0000"/>
            </a:solidFill>
            <a:round/>
            <a:headEnd type="none" w="sm" len="me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87" name="Text Box 109"/>
          <p:cNvSpPr txBox="1">
            <a:spLocks noChangeArrowheads="1"/>
          </p:cNvSpPr>
          <p:nvPr/>
        </p:nvSpPr>
        <p:spPr bwMode="auto">
          <a:xfrm>
            <a:off x="7587683" y="5531883"/>
            <a:ext cx="547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b="0" dirty="0">
                <a:solidFill>
                  <a:srgbClr val="FF0000"/>
                </a:solidFill>
                <a:latin typeface="+mn-lt"/>
                <a:ea typeface="宋体" panose="02010600030101010101" pitchFamily="2" charset="-122"/>
              </a:rPr>
              <a:t>M</a:t>
            </a:r>
            <a:endParaRPr lang="en-US" altLang="zh-CN" b="0" i="0" dirty="0">
              <a:solidFill>
                <a:srgbClr val="FF0000"/>
              </a:solidFill>
              <a:latin typeface="+mn-lt"/>
              <a:ea typeface="宋体" panose="02010600030101010101" pitchFamily="2" charset="-122"/>
            </a:endParaRPr>
          </a:p>
        </p:txBody>
      </p:sp>
      <p:sp>
        <p:nvSpPr>
          <p:cNvPr id="88" name="Text Box 110"/>
          <p:cNvSpPr txBox="1">
            <a:spLocks noChangeArrowheads="1"/>
          </p:cNvSpPr>
          <p:nvPr/>
        </p:nvSpPr>
        <p:spPr bwMode="auto">
          <a:xfrm>
            <a:off x="10443596" y="5415996"/>
            <a:ext cx="6016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b="0" dirty="0">
                <a:solidFill>
                  <a:srgbClr val="FF0000"/>
                </a:solidFill>
                <a:latin typeface="+mn-lt"/>
                <a:ea typeface="宋体" panose="02010600030101010101" pitchFamily="2" charset="-122"/>
              </a:rPr>
              <a:t>M</a:t>
            </a:r>
          </a:p>
        </p:txBody>
      </p:sp>
      <p:sp>
        <p:nvSpPr>
          <p:cNvPr id="89" name="Text Box 111"/>
          <p:cNvSpPr txBox="1">
            <a:spLocks noChangeAspect="1" noChangeArrowheads="1"/>
          </p:cNvSpPr>
          <p:nvPr/>
        </p:nvSpPr>
        <p:spPr bwMode="auto">
          <a:xfrm>
            <a:off x="11708833" y="4117421"/>
            <a:ext cx="430213"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A</a:t>
            </a:r>
            <a:r>
              <a:rPr lang="en-US" altLang="zh-CN" b="0" i="0" dirty="0">
                <a:solidFill>
                  <a:srgbClr val="000000"/>
                </a:solidFill>
                <a:latin typeface="" pitchFamily="18" charset="-52"/>
                <a:ea typeface="宋体" panose="02010600030101010101" pitchFamily="2" charset="-122"/>
              </a:rPr>
              <a:t>'</a:t>
            </a:r>
          </a:p>
        </p:txBody>
      </p:sp>
      <p:sp>
        <p:nvSpPr>
          <p:cNvPr id="90" name="Arc 112"/>
          <p:cNvSpPr>
            <a:spLocks noChangeAspect="1"/>
          </p:cNvSpPr>
          <p:nvPr/>
        </p:nvSpPr>
        <p:spPr bwMode="auto">
          <a:xfrm rot="1925148" flipH="1">
            <a:off x="10913496" y="4063446"/>
            <a:ext cx="649287" cy="468312"/>
          </a:xfrm>
          <a:custGeom>
            <a:avLst/>
            <a:gdLst>
              <a:gd name="T0" fmla="*/ 0 w 25799"/>
              <a:gd name="T1" fmla="*/ 5269030 h 21600"/>
              <a:gd name="T2" fmla="*/ 411248532 w 25799"/>
              <a:gd name="T3" fmla="*/ 173145768 h 21600"/>
              <a:gd name="T4" fmla="*/ 74872390 w 25799"/>
              <a:gd name="T5" fmla="*/ 220139602 h 21600"/>
              <a:gd name="T6" fmla="*/ 0 60000 65536"/>
              <a:gd name="T7" fmla="*/ 0 60000 65536"/>
              <a:gd name="T8" fmla="*/ 0 60000 65536"/>
              <a:gd name="T9" fmla="*/ 0 w 25799"/>
              <a:gd name="T10" fmla="*/ 0 h 21600"/>
              <a:gd name="T11" fmla="*/ 25799 w 25799"/>
              <a:gd name="T12" fmla="*/ 21600 h 21600"/>
            </a:gdLst>
            <a:ahLst/>
            <a:cxnLst>
              <a:cxn ang="T6">
                <a:pos x="T0" y="T1"/>
              </a:cxn>
              <a:cxn ang="T7">
                <a:pos x="T2" y="T3"/>
              </a:cxn>
              <a:cxn ang="T8">
                <a:pos x="T4" y="T5"/>
              </a:cxn>
            </a:cxnLst>
            <a:rect l="T9" t="T10" r="T11" b="T12"/>
            <a:pathLst>
              <a:path w="25799" h="21600" fill="none" extrusionOk="0">
                <a:moveTo>
                  <a:pt x="-1" y="516"/>
                </a:moveTo>
                <a:cubicBezTo>
                  <a:pt x="1542" y="173"/>
                  <a:pt x="3117" y="-1"/>
                  <a:pt x="4697" y="0"/>
                </a:cubicBezTo>
                <a:cubicBezTo>
                  <a:pt x="14849" y="0"/>
                  <a:pt x="23631" y="7070"/>
                  <a:pt x="25799" y="16988"/>
                </a:cubicBezTo>
              </a:path>
              <a:path w="25799" h="21600" stroke="0" extrusionOk="0">
                <a:moveTo>
                  <a:pt x="-1" y="516"/>
                </a:moveTo>
                <a:cubicBezTo>
                  <a:pt x="1542" y="173"/>
                  <a:pt x="3117" y="-1"/>
                  <a:pt x="4697" y="0"/>
                </a:cubicBezTo>
                <a:cubicBezTo>
                  <a:pt x="14849" y="0"/>
                  <a:pt x="23631" y="7070"/>
                  <a:pt x="25799" y="16988"/>
                </a:cubicBezTo>
                <a:lnTo>
                  <a:pt x="4697" y="21600"/>
                </a:lnTo>
                <a:close/>
              </a:path>
            </a:pathLst>
          </a:custGeom>
          <a:noFill/>
          <a:ln w="38100">
            <a:solidFill>
              <a:srgbClr val="FF0000"/>
            </a:solidFill>
            <a:round/>
            <a:headEnd type="none" w="sm" len="me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91" name="Text Box 113"/>
          <p:cNvSpPr txBox="1">
            <a:spLocks noChangeArrowheads="1"/>
          </p:cNvSpPr>
          <p:nvPr/>
        </p:nvSpPr>
        <p:spPr bwMode="auto">
          <a:xfrm>
            <a:off x="11035733" y="3661808"/>
            <a:ext cx="58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b="0" dirty="0">
                <a:solidFill>
                  <a:srgbClr val="FF0000"/>
                </a:solidFill>
                <a:latin typeface="+mn-lt"/>
                <a:ea typeface="宋体" panose="02010600030101010101" pitchFamily="2" charset="-122"/>
              </a:rPr>
              <a:t>M</a:t>
            </a:r>
            <a:endParaRPr lang="en-US" altLang="zh-CN" b="0" i="0" dirty="0">
              <a:solidFill>
                <a:srgbClr val="FF0000"/>
              </a:solidFill>
              <a:latin typeface="+mn-lt"/>
              <a:ea typeface="宋体" panose="02010600030101010101" pitchFamily="2" charset="-122"/>
            </a:endParaRPr>
          </a:p>
        </p:txBody>
      </p:sp>
      <p:grpSp>
        <p:nvGrpSpPr>
          <p:cNvPr id="92" name="Group 114"/>
          <p:cNvGrpSpPr>
            <a:grpSpLocks/>
          </p:cNvGrpSpPr>
          <p:nvPr/>
        </p:nvGrpSpPr>
        <p:grpSpPr bwMode="auto">
          <a:xfrm>
            <a:off x="8494146" y="3936446"/>
            <a:ext cx="1246187" cy="823912"/>
            <a:chOff x="3325" y="2151"/>
            <a:chExt cx="785" cy="519"/>
          </a:xfrm>
        </p:grpSpPr>
        <p:sp>
          <p:nvSpPr>
            <p:cNvPr id="93" name="Arc 115"/>
            <p:cNvSpPr>
              <a:spLocks/>
            </p:cNvSpPr>
            <p:nvPr/>
          </p:nvSpPr>
          <p:spPr bwMode="auto">
            <a:xfrm flipH="1">
              <a:off x="3999" y="2151"/>
              <a:ext cx="111" cy="512"/>
            </a:xfrm>
            <a:custGeom>
              <a:avLst/>
              <a:gdLst>
                <a:gd name="T0" fmla="*/ 0 w 21600"/>
                <a:gd name="T1" fmla="*/ 0 h 42294"/>
                <a:gd name="T2" fmla="*/ 0 w 21600"/>
                <a:gd name="T3" fmla="*/ 0 h 42294"/>
                <a:gd name="T4" fmla="*/ 0 w 21600"/>
                <a:gd name="T5" fmla="*/ 0 h 42294"/>
                <a:gd name="T6" fmla="*/ 0 60000 65536"/>
                <a:gd name="T7" fmla="*/ 0 60000 65536"/>
                <a:gd name="T8" fmla="*/ 0 60000 65536"/>
                <a:gd name="T9" fmla="*/ 0 w 21600"/>
                <a:gd name="T10" fmla="*/ 0 h 42294"/>
                <a:gd name="T11" fmla="*/ 21600 w 21600"/>
                <a:gd name="T12" fmla="*/ 42294 h 42294"/>
              </a:gdLst>
              <a:ahLst/>
              <a:cxnLst>
                <a:cxn ang="T6">
                  <a:pos x="T0" y="T1"/>
                </a:cxn>
                <a:cxn ang="T7">
                  <a:pos x="T2" y="T3"/>
                </a:cxn>
                <a:cxn ang="T8">
                  <a:pos x="T4" y="T5"/>
                </a:cxn>
              </a:cxnLst>
              <a:rect l="T9" t="T10" r="T11" b="T12"/>
              <a:pathLst>
                <a:path w="21600" h="42294" fill="none" extrusionOk="0">
                  <a:moveTo>
                    <a:pt x="4764" y="0"/>
                  </a:moveTo>
                  <a:cubicBezTo>
                    <a:pt x="14609" y="2226"/>
                    <a:pt x="21600" y="10974"/>
                    <a:pt x="21600" y="21068"/>
                  </a:cubicBezTo>
                  <a:cubicBezTo>
                    <a:pt x="21600" y="31453"/>
                    <a:pt x="14209" y="40368"/>
                    <a:pt x="4003" y="42293"/>
                  </a:cubicBezTo>
                </a:path>
                <a:path w="21600" h="42294" stroke="0" extrusionOk="0">
                  <a:moveTo>
                    <a:pt x="4764" y="0"/>
                  </a:moveTo>
                  <a:cubicBezTo>
                    <a:pt x="14609" y="2226"/>
                    <a:pt x="21600" y="10974"/>
                    <a:pt x="21600" y="21068"/>
                  </a:cubicBezTo>
                  <a:cubicBezTo>
                    <a:pt x="21600" y="31453"/>
                    <a:pt x="14209" y="40368"/>
                    <a:pt x="4003" y="42293"/>
                  </a:cubicBezTo>
                  <a:lnTo>
                    <a:pt x="0" y="21068"/>
                  </a:lnTo>
                  <a:close/>
                </a:path>
              </a:pathLst>
            </a:custGeom>
            <a:noFill/>
            <a:ln w="19050">
              <a:solidFill>
                <a:srgbClr val="CC00FF"/>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94" name="Arc 116"/>
            <p:cNvSpPr>
              <a:spLocks/>
            </p:cNvSpPr>
            <p:nvPr/>
          </p:nvSpPr>
          <p:spPr bwMode="auto">
            <a:xfrm flipH="1">
              <a:off x="3778" y="2158"/>
              <a:ext cx="111" cy="512"/>
            </a:xfrm>
            <a:custGeom>
              <a:avLst/>
              <a:gdLst>
                <a:gd name="T0" fmla="*/ 0 w 21600"/>
                <a:gd name="T1" fmla="*/ 0 h 42294"/>
                <a:gd name="T2" fmla="*/ 0 w 21600"/>
                <a:gd name="T3" fmla="*/ 0 h 42294"/>
                <a:gd name="T4" fmla="*/ 0 w 21600"/>
                <a:gd name="T5" fmla="*/ 0 h 42294"/>
                <a:gd name="T6" fmla="*/ 0 60000 65536"/>
                <a:gd name="T7" fmla="*/ 0 60000 65536"/>
                <a:gd name="T8" fmla="*/ 0 60000 65536"/>
                <a:gd name="T9" fmla="*/ 0 w 21600"/>
                <a:gd name="T10" fmla="*/ 0 h 42294"/>
                <a:gd name="T11" fmla="*/ 21600 w 21600"/>
                <a:gd name="T12" fmla="*/ 42294 h 42294"/>
              </a:gdLst>
              <a:ahLst/>
              <a:cxnLst>
                <a:cxn ang="T6">
                  <a:pos x="T0" y="T1"/>
                </a:cxn>
                <a:cxn ang="T7">
                  <a:pos x="T2" y="T3"/>
                </a:cxn>
                <a:cxn ang="T8">
                  <a:pos x="T4" y="T5"/>
                </a:cxn>
              </a:cxnLst>
              <a:rect l="T9" t="T10" r="T11" b="T12"/>
              <a:pathLst>
                <a:path w="21600" h="42294" fill="none" extrusionOk="0">
                  <a:moveTo>
                    <a:pt x="4764" y="0"/>
                  </a:moveTo>
                  <a:cubicBezTo>
                    <a:pt x="14609" y="2226"/>
                    <a:pt x="21600" y="10974"/>
                    <a:pt x="21600" y="21068"/>
                  </a:cubicBezTo>
                  <a:cubicBezTo>
                    <a:pt x="21600" y="31453"/>
                    <a:pt x="14209" y="40368"/>
                    <a:pt x="4003" y="42293"/>
                  </a:cubicBezTo>
                </a:path>
                <a:path w="21600" h="42294" stroke="0" extrusionOk="0">
                  <a:moveTo>
                    <a:pt x="4764" y="0"/>
                  </a:moveTo>
                  <a:cubicBezTo>
                    <a:pt x="14609" y="2226"/>
                    <a:pt x="21600" y="10974"/>
                    <a:pt x="21600" y="21068"/>
                  </a:cubicBezTo>
                  <a:cubicBezTo>
                    <a:pt x="21600" y="31453"/>
                    <a:pt x="14209" y="40368"/>
                    <a:pt x="4003" y="42293"/>
                  </a:cubicBezTo>
                  <a:lnTo>
                    <a:pt x="0" y="21068"/>
                  </a:lnTo>
                  <a:close/>
                </a:path>
              </a:pathLst>
            </a:custGeom>
            <a:noFill/>
            <a:ln w="19050">
              <a:solidFill>
                <a:srgbClr val="CC00FF"/>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95" name="Arc 117"/>
            <p:cNvSpPr>
              <a:spLocks/>
            </p:cNvSpPr>
            <p:nvPr/>
          </p:nvSpPr>
          <p:spPr bwMode="auto">
            <a:xfrm flipH="1">
              <a:off x="3547" y="2158"/>
              <a:ext cx="111" cy="512"/>
            </a:xfrm>
            <a:custGeom>
              <a:avLst/>
              <a:gdLst>
                <a:gd name="T0" fmla="*/ 0 w 21600"/>
                <a:gd name="T1" fmla="*/ 0 h 42294"/>
                <a:gd name="T2" fmla="*/ 0 w 21600"/>
                <a:gd name="T3" fmla="*/ 0 h 42294"/>
                <a:gd name="T4" fmla="*/ 0 w 21600"/>
                <a:gd name="T5" fmla="*/ 0 h 42294"/>
                <a:gd name="T6" fmla="*/ 0 60000 65536"/>
                <a:gd name="T7" fmla="*/ 0 60000 65536"/>
                <a:gd name="T8" fmla="*/ 0 60000 65536"/>
                <a:gd name="T9" fmla="*/ 0 w 21600"/>
                <a:gd name="T10" fmla="*/ 0 h 42294"/>
                <a:gd name="T11" fmla="*/ 21600 w 21600"/>
                <a:gd name="T12" fmla="*/ 42294 h 42294"/>
              </a:gdLst>
              <a:ahLst/>
              <a:cxnLst>
                <a:cxn ang="T6">
                  <a:pos x="T0" y="T1"/>
                </a:cxn>
                <a:cxn ang="T7">
                  <a:pos x="T2" y="T3"/>
                </a:cxn>
                <a:cxn ang="T8">
                  <a:pos x="T4" y="T5"/>
                </a:cxn>
              </a:cxnLst>
              <a:rect l="T9" t="T10" r="T11" b="T12"/>
              <a:pathLst>
                <a:path w="21600" h="42294" fill="none" extrusionOk="0">
                  <a:moveTo>
                    <a:pt x="4764" y="0"/>
                  </a:moveTo>
                  <a:cubicBezTo>
                    <a:pt x="14609" y="2226"/>
                    <a:pt x="21600" y="10974"/>
                    <a:pt x="21600" y="21068"/>
                  </a:cubicBezTo>
                  <a:cubicBezTo>
                    <a:pt x="21600" y="31453"/>
                    <a:pt x="14209" y="40368"/>
                    <a:pt x="4003" y="42293"/>
                  </a:cubicBezTo>
                </a:path>
                <a:path w="21600" h="42294" stroke="0" extrusionOk="0">
                  <a:moveTo>
                    <a:pt x="4764" y="0"/>
                  </a:moveTo>
                  <a:cubicBezTo>
                    <a:pt x="14609" y="2226"/>
                    <a:pt x="21600" y="10974"/>
                    <a:pt x="21600" y="21068"/>
                  </a:cubicBezTo>
                  <a:cubicBezTo>
                    <a:pt x="21600" y="31453"/>
                    <a:pt x="14209" y="40368"/>
                    <a:pt x="4003" y="42293"/>
                  </a:cubicBezTo>
                  <a:lnTo>
                    <a:pt x="0" y="21068"/>
                  </a:lnTo>
                  <a:close/>
                </a:path>
              </a:pathLst>
            </a:custGeom>
            <a:noFill/>
            <a:ln w="19050">
              <a:solidFill>
                <a:srgbClr val="CC00FF"/>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96" name="Arc 118"/>
            <p:cNvSpPr>
              <a:spLocks/>
            </p:cNvSpPr>
            <p:nvPr/>
          </p:nvSpPr>
          <p:spPr bwMode="auto">
            <a:xfrm flipH="1">
              <a:off x="3325" y="2155"/>
              <a:ext cx="111" cy="512"/>
            </a:xfrm>
            <a:custGeom>
              <a:avLst/>
              <a:gdLst>
                <a:gd name="T0" fmla="*/ 0 w 21600"/>
                <a:gd name="T1" fmla="*/ 0 h 42294"/>
                <a:gd name="T2" fmla="*/ 0 w 21600"/>
                <a:gd name="T3" fmla="*/ 0 h 42294"/>
                <a:gd name="T4" fmla="*/ 0 w 21600"/>
                <a:gd name="T5" fmla="*/ 0 h 42294"/>
                <a:gd name="T6" fmla="*/ 0 60000 65536"/>
                <a:gd name="T7" fmla="*/ 0 60000 65536"/>
                <a:gd name="T8" fmla="*/ 0 60000 65536"/>
                <a:gd name="T9" fmla="*/ 0 w 21600"/>
                <a:gd name="T10" fmla="*/ 0 h 42294"/>
                <a:gd name="T11" fmla="*/ 21600 w 21600"/>
                <a:gd name="T12" fmla="*/ 42294 h 42294"/>
              </a:gdLst>
              <a:ahLst/>
              <a:cxnLst>
                <a:cxn ang="T6">
                  <a:pos x="T0" y="T1"/>
                </a:cxn>
                <a:cxn ang="T7">
                  <a:pos x="T2" y="T3"/>
                </a:cxn>
                <a:cxn ang="T8">
                  <a:pos x="T4" y="T5"/>
                </a:cxn>
              </a:cxnLst>
              <a:rect l="T9" t="T10" r="T11" b="T12"/>
              <a:pathLst>
                <a:path w="21600" h="42294" fill="none" extrusionOk="0">
                  <a:moveTo>
                    <a:pt x="4764" y="0"/>
                  </a:moveTo>
                  <a:cubicBezTo>
                    <a:pt x="14609" y="2226"/>
                    <a:pt x="21600" y="10974"/>
                    <a:pt x="21600" y="21068"/>
                  </a:cubicBezTo>
                  <a:cubicBezTo>
                    <a:pt x="21600" y="31453"/>
                    <a:pt x="14209" y="40368"/>
                    <a:pt x="4003" y="42293"/>
                  </a:cubicBezTo>
                </a:path>
                <a:path w="21600" h="42294" stroke="0" extrusionOk="0">
                  <a:moveTo>
                    <a:pt x="4764" y="0"/>
                  </a:moveTo>
                  <a:cubicBezTo>
                    <a:pt x="14609" y="2226"/>
                    <a:pt x="21600" y="10974"/>
                    <a:pt x="21600" y="21068"/>
                  </a:cubicBezTo>
                  <a:cubicBezTo>
                    <a:pt x="21600" y="31453"/>
                    <a:pt x="14209" y="40368"/>
                    <a:pt x="4003" y="42293"/>
                  </a:cubicBezTo>
                  <a:lnTo>
                    <a:pt x="0" y="21068"/>
                  </a:lnTo>
                  <a:close/>
                </a:path>
              </a:pathLst>
            </a:custGeom>
            <a:noFill/>
            <a:ln w="19050">
              <a:solidFill>
                <a:srgbClr val="CC00FF"/>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grpSp>
      <p:sp>
        <p:nvSpPr>
          <p:cNvPr id="97" name="Freeform 119"/>
          <p:cNvSpPr>
            <a:spLocks noChangeAspect="1"/>
          </p:cNvSpPr>
          <p:nvPr/>
        </p:nvSpPr>
        <p:spPr bwMode="auto">
          <a:xfrm>
            <a:off x="8271896" y="3763408"/>
            <a:ext cx="430212" cy="455613"/>
          </a:xfrm>
          <a:custGeom>
            <a:avLst/>
            <a:gdLst>
              <a:gd name="T0" fmla="*/ 0 w 271"/>
              <a:gd name="T1" fmla="*/ 0 h 287"/>
              <a:gd name="T2" fmla="*/ 682960647 w 271"/>
              <a:gd name="T3" fmla="*/ 723286322 h 287"/>
              <a:gd name="T4" fmla="*/ 0 60000 65536"/>
              <a:gd name="T5" fmla="*/ 0 60000 65536"/>
              <a:gd name="T6" fmla="*/ 0 w 271"/>
              <a:gd name="T7" fmla="*/ 0 h 287"/>
              <a:gd name="T8" fmla="*/ 271 w 271"/>
              <a:gd name="T9" fmla="*/ 287 h 287"/>
            </a:gdLst>
            <a:ahLst/>
            <a:cxnLst>
              <a:cxn ang="T4">
                <a:pos x="T0" y="T1"/>
              </a:cxn>
              <a:cxn ang="T5">
                <a:pos x="T2" y="T3"/>
              </a:cxn>
            </a:cxnLst>
            <a:rect l="T6" t="T7" r="T8" b="T9"/>
            <a:pathLst>
              <a:path w="271" h="287">
                <a:moveTo>
                  <a:pt x="0" y="0"/>
                </a:moveTo>
                <a:lnTo>
                  <a:pt x="271" y="287"/>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98" name="Freeform 120"/>
          <p:cNvSpPr>
            <a:spLocks noChangeAspect="1"/>
          </p:cNvSpPr>
          <p:nvPr/>
        </p:nvSpPr>
        <p:spPr bwMode="auto">
          <a:xfrm>
            <a:off x="9213283" y="3709433"/>
            <a:ext cx="93663" cy="469900"/>
          </a:xfrm>
          <a:custGeom>
            <a:avLst/>
            <a:gdLst>
              <a:gd name="T0" fmla="*/ 148690817 w 59"/>
              <a:gd name="T1" fmla="*/ 0 h 296"/>
              <a:gd name="T2" fmla="*/ 0 w 59"/>
              <a:gd name="T3" fmla="*/ 745966141 h 296"/>
              <a:gd name="T4" fmla="*/ 0 60000 65536"/>
              <a:gd name="T5" fmla="*/ 0 60000 65536"/>
              <a:gd name="T6" fmla="*/ 0 w 59"/>
              <a:gd name="T7" fmla="*/ 0 h 296"/>
              <a:gd name="T8" fmla="*/ 59 w 59"/>
              <a:gd name="T9" fmla="*/ 296 h 296"/>
            </a:gdLst>
            <a:ahLst/>
            <a:cxnLst>
              <a:cxn ang="T4">
                <a:pos x="T0" y="T1"/>
              </a:cxn>
              <a:cxn ang="T5">
                <a:pos x="T2" y="T3"/>
              </a:cxn>
            </a:cxnLst>
            <a:rect l="T6" t="T7" r="T8" b="T9"/>
            <a:pathLst>
              <a:path w="59" h="296">
                <a:moveTo>
                  <a:pt x="59" y="0"/>
                </a:moveTo>
                <a:lnTo>
                  <a:pt x="0" y="296"/>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99" name="Group 121"/>
          <p:cNvGrpSpPr>
            <a:grpSpLocks/>
          </p:cNvGrpSpPr>
          <p:nvPr/>
        </p:nvGrpSpPr>
        <p:grpSpPr bwMode="auto">
          <a:xfrm>
            <a:off x="7951221" y="5374721"/>
            <a:ext cx="2495550" cy="819150"/>
            <a:chOff x="2976" y="2151"/>
            <a:chExt cx="1572" cy="516"/>
          </a:xfrm>
        </p:grpSpPr>
        <p:sp>
          <p:nvSpPr>
            <p:cNvPr id="100" name="Freeform 122"/>
            <p:cNvSpPr>
              <a:spLocks/>
            </p:cNvSpPr>
            <p:nvPr/>
          </p:nvSpPr>
          <p:spPr bwMode="auto">
            <a:xfrm>
              <a:off x="3111" y="2154"/>
              <a:ext cx="1206" cy="511"/>
            </a:xfrm>
            <a:custGeom>
              <a:avLst/>
              <a:gdLst>
                <a:gd name="T0" fmla="*/ 84 w 1206"/>
                <a:gd name="T1" fmla="*/ 0 h 511"/>
                <a:gd name="T2" fmla="*/ 63 w 1206"/>
                <a:gd name="T3" fmla="*/ 21 h 511"/>
                <a:gd name="T4" fmla="*/ 42 w 1206"/>
                <a:gd name="T5" fmla="*/ 66 h 511"/>
                <a:gd name="T6" fmla="*/ 3 w 1206"/>
                <a:gd name="T7" fmla="*/ 162 h 511"/>
                <a:gd name="T8" fmla="*/ 12 w 1206"/>
                <a:gd name="T9" fmla="*/ 330 h 511"/>
                <a:gd name="T10" fmla="*/ 36 w 1206"/>
                <a:gd name="T11" fmla="*/ 435 h 511"/>
                <a:gd name="T12" fmla="*/ 66 w 1206"/>
                <a:gd name="T13" fmla="*/ 498 h 511"/>
                <a:gd name="T14" fmla="*/ 87 w 1206"/>
                <a:gd name="T15" fmla="*/ 510 h 511"/>
                <a:gd name="T16" fmla="*/ 1194 w 1206"/>
                <a:gd name="T17" fmla="*/ 507 h 511"/>
                <a:gd name="T18" fmla="*/ 1206 w 1206"/>
                <a:gd name="T19" fmla="*/ 0 h 511"/>
                <a:gd name="T20" fmla="*/ 84 w 1206"/>
                <a:gd name="T21" fmla="*/ 0 h 5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06"/>
                <a:gd name="T34" fmla="*/ 0 h 511"/>
                <a:gd name="T35" fmla="*/ 1206 w 1206"/>
                <a:gd name="T36" fmla="*/ 511 h 5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06" h="511">
                  <a:moveTo>
                    <a:pt x="84" y="0"/>
                  </a:moveTo>
                  <a:cubicBezTo>
                    <a:pt x="68" y="5"/>
                    <a:pt x="79" y="16"/>
                    <a:pt x="63" y="21"/>
                  </a:cubicBezTo>
                  <a:cubicBezTo>
                    <a:pt x="53" y="35"/>
                    <a:pt x="51" y="53"/>
                    <a:pt x="42" y="66"/>
                  </a:cubicBezTo>
                  <a:cubicBezTo>
                    <a:pt x="24" y="93"/>
                    <a:pt x="10" y="129"/>
                    <a:pt x="3" y="162"/>
                  </a:cubicBezTo>
                  <a:cubicBezTo>
                    <a:pt x="0" y="221"/>
                    <a:pt x="4" y="273"/>
                    <a:pt x="12" y="330"/>
                  </a:cubicBezTo>
                  <a:cubicBezTo>
                    <a:pt x="13" y="354"/>
                    <a:pt x="7" y="416"/>
                    <a:pt x="36" y="435"/>
                  </a:cubicBezTo>
                  <a:cubicBezTo>
                    <a:pt x="39" y="444"/>
                    <a:pt x="61" y="493"/>
                    <a:pt x="66" y="498"/>
                  </a:cubicBezTo>
                  <a:cubicBezTo>
                    <a:pt x="79" y="511"/>
                    <a:pt x="78" y="510"/>
                    <a:pt x="87" y="510"/>
                  </a:cubicBezTo>
                  <a:lnTo>
                    <a:pt x="1194" y="507"/>
                  </a:lnTo>
                  <a:lnTo>
                    <a:pt x="1206" y="0"/>
                  </a:lnTo>
                  <a:lnTo>
                    <a:pt x="84" y="0"/>
                  </a:lnTo>
                  <a:close/>
                </a:path>
              </a:pathLst>
            </a:custGeom>
            <a:gradFill rotWithShape="1">
              <a:gsLst>
                <a:gs pos="0">
                  <a:srgbClr val="969696"/>
                </a:gs>
                <a:gs pos="50000">
                  <a:srgbClr val="EAEAEA"/>
                </a:gs>
                <a:gs pos="100000">
                  <a:srgbClr val="969696"/>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1" name="Oval 123"/>
            <p:cNvSpPr>
              <a:spLocks noChangeAspect="1" noChangeArrowheads="1"/>
            </p:cNvSpPr>
            <p:nvPr/>
          </p:nvSpPr>
          <p:spPr bwMode="auto">
            <a:xfrm>
              <a:off x="4216" y="2157"/>
              <a:ext cx="203" cy="504"/>
            </a:xfrm>
            <a:prstGeom prst="ellipse">
              <a:avLst/>
            </a:prstGeom>
            <a:gradFill rotWithShape="0">
              <a:gsLst>
                <a:gs pos="0">
                  <a:srgbClr val="EAEAEA"/>
                </a:gs>
                <a:gs pos="100000">
                  <a:srgbClr val="808080"/>
                </a:gs>
              </a:gsLst>
              <a:path path="shape">
                <a:fillToRect l="50000" t="50000" r="50000" b="50000"/>
              </a:path>
            </a:gradFill>
            <a:ln w="2857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02" name="Line 124"/>
            <p:cNvSpPr>
              <a:spLocks noChangeAspect="1" noChangeShapeType="1"/>
            </p:cNvSpPr>
            <p:nvPr/>
          </p:nvSpPr>
          <p:spPr bwMode="auto">
            <a:xfrm>
              <a:off x="4315" y="2399"/>
              <a:ext cx="233"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3" name="Line 125"/>
            <p:cNvSpPr>
              <a:spLocks noChangeAspect="1" noChangeShapeType="1"/>
            </p:cNvSpPr>
            <p:nvPr/>
          </p:nvSpPr>
          <p:spPr bwMode="auto">
            <a:xfrm>
              <a:off x="3192" y="2664"/>
              <a:ext cx="113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4" name="Text Box 126"/>
            <p:cNvSpPr txBox="1">
              <a:spLocks noChangeAspect="1" noChangeArrowheads="1"/>
            </p:cNvSpPr>
            <p:nvPr/>
          </p:nvSpPr>
          <p:spPr bwMode="auto">
            <a:xfrm>
              <a:off x="4178" y="2151"/>
              <a:ext cx="22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rPr>
                <a:t>O</a:t>
              </a:r>
            </a:p>
          </p:txBody>
        </p:sp>
        <p:sp>
          <p:nvSpPr>
            <p:cNvPr id="105" name="Line 127"/>
            <p:cNvSpPr>
              <a:spLocks noChangeAspect="1" noChangeShapeType="1"/>
            </p:cNvSpPr>
            <p:nvPr/>
          </p:nvSpPr>
          <p:spPr bwMode="auto">
            <a:xfrm>
              <a:off x="2976" y="2399"/>
              <a:ext cx="138"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6" name="Line 128"/>
            <p:cNvSpPr>
              <a:spLocks noChangeShapeType="1"/>
            </p:cNvSpPr>
            <p:nvPr/>
          </p:nvSpPr>
          <p:spPr bwMode="auto">
            <a:xfrm flipH="1">
              <a:off x="3189" y="2157"/>
              <a:ext cx="11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7" name="Arc 129"/>
            <p:cNvSpPr>
              <a:spLocks/>
            </p:cNvSpPr>
            <p:nvPr/>
          </p:nvSpPr>
          <p:spPr bwMode="auto">
            <a:xfrm flipH="1">
              <a:off x="3112" y="2155"/>
              <a:ext cx="111" cy="512"/>
            </a:xfrm>
            <a:custGeom>
              <a:avLst/>
              <a:gdLst>
                <a:gd name="T0" fmla="*/ 0 w 21600"/>
                <a:gd name="T1" fmla="*/ 0 h 42294"/>
                <a:gd name="T2" fmla="*/ 0 w 21600"/>
                <a:gd name="T3" fmla="*/ 0 h 42294"/>
                <a:gd name="T4" fmla="*/ 0 w 21600"/>
                <a:gd name="T5" fmla="*/ 0 h 42294"/>
                <a:gd name="T6" fmla="*/ 0 60000 65536"/>
                <a:gd name="T7" fmla="*/ 0 60000 65536"/>
                <a:gd name="T8" fmla="*/ 0 60000 65536"/>
                <a:gd name="T9" fmla="*/ 0 w 21600"/>
                <a:gd name="T10" fmla="*/ 0 h 42294"/>
                <a:gd name="T11" fmla="*/ 21600 w 21600"/>
                <a:gd name="T12" fmla="*/ 42294 h 42294"/>
              </a:gdLst>
              <a:ahLst/>
              <a:cxnLst>
                <a:cxn ang="T6">
                  <a:pos x="T0" y="T1"/>
                </a:cxn>
                <a:cxn ang="T7">
                  <a:pos x="T2" y="T3"/>
                </a:cxn>
                <a:cxn ang="T8">
                  <a:pos x="T4" y="T5"/>
                </a:cxn>
              </a:cxnLst>
              <a:rect l="T9" t="T10" r="T11" b="T12"/>
              <a:pathLst>
                <a:path w="21600" h="42294" fill="none" extrusionOk="0">
                  <a:moveTo>
                    <a:pt x="4764" y="0"/>
                  </a:moveTo>
                  <a:cubicBezTo>
                    <a:pt x="14609" y="2226"/>
                    <a:pt x="21600" y="10974"/>
                    <a:pt x="21600" y="21068"/>
                  </a:cubicBezTo>
                  <a:cubicBezTo>
                    <a:pt x="21600" y="31453"/>
                    <a:pt x="14209" y="40368"/>
                    <a:pt x="4003" y="42293"/>
                  </a:cubicBezTo>
                </a:path>
                <a:path w="21600" h="42294" stroke="0" extrusionOk="0">
                  <a:moveTo>
                    <a:pt x="4764" y="0"/>
                  </a:moveTo>
                  <a:cubicBezTo>
                    <a:pt x="14609" y="2226"/>
                    <a:pt x="21600" y="10974"/>
                    <a:pt x="21600" y="21068"/>
                  </a:cubicBezTo>
                  <a:cubicBezTo>
                    <a:pt x="21600" y="31453"/>
                    <a:pt x="14209" y="40368"/>
                    <a:pt x="4003" y="42293"/>
                  </a:cubicBezTo>
                  <a:lnTo>
                    <a:pt x="0" y="21068"/>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08" name="Line 130"/>
          <p:cNvSpPr>
            <a:spLocks noChangeAspect="1" noChangeShapeType="1"/>
          </p:cNvSpPr>
          <p:nvPr/>
        </p:nvSpPr>
        <p:spPr bwMode="auto">
          <a:xfrm>
            <a:off x="8225858" y="5481083"/>
            <a:ext cx="1741488" cy="0"/>
          </a:xfrm>
          <a:prstGeom prst="line">
            <a:avLst/>
          </a:prstGeom>
          <a:noFill/>
          <a:ln w="19050">
            <a:solidFill>
              <a:srgbClr val="FF33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9" name="Line 131"/>
          <p:cNvSpPr>
            <a:spLocks noChangeAspect="1" noChangeShapeType="1"/>
          </p:cNvSpPr>
          <p:nvPr/>
        </p:nvSpPr>
        <p:spPr bwMode="auto">
          <a:xfrm>
            <a:off x="8184583" y="5658883"/>
            <a:ext cx="174148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10" name="Line 132"/>
          <p:cNvSpPr>
            <a:spLocks noChangeAspect="1" noChangeShapeType="1"/>
          </p:cNvSpPr>
          <p:nvPr/>
        </p:nvSpPr>
        <p:spPr bwMode="auto">
          <a:xfrm>
            <a:off x="8170296" y="5892246"/>
            <a:ext cx="1741487"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11" name="Line 133"/>
          <p:cNvSpPr>
            <a:spLocks noChangeAspect="1" noChangeShapeType="1"/>
          </p:cNvSpPr>
          <p:nvPr/>
        </p:nvSpPr>
        <p:spPr bwMode="auto">
          <a:xfrm>
            <a:off x="8225858" y="6070046"/>
            <a:ext cx="174148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12" name="Line 134"/>
          <p:cNvSpPr>
            <a:spLocks noChangeAspect="1" noChangeShapeType="1"/>
          </p:cNvSpPr>
          <p:nvPr/>
        </p:nvSpPr>
        <p:spPr bwMode="auto">
          <a:xfrm flipH="1">
            <a:off x="9926071" y="5768421"/>
            <a:ext cx="165100" cy="123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13" name="Arc 135"/>
          <p:cNvSpPr>
            <a:spLocks noChangeAspect="1"/>
          </p:cNvSpPr>
          <p:nvPr/>
        </p:nvSpPr>
        <p:spPr bwMode="auto">
          <a:xfrm rot="20622695" flipV="1">
            <a:off x="10151496" y="5427108"/>
            <a:ext cx="261937" cy="625475"/>
          </a:xfrm>
          <a:custGeom>
            <a:avLst/>
            <a:gdLst>
              <a:gd name="T0" fmla="*/ 12793538 w 21600"/>
              <a:gd name="T1" fmla="*/ 0 h 39193"/>
              <a:gd name="T2" fmla="*/ 18906697 w 21600"/>
              <a:gd name="T3" fmla="*/ 159298890 h 39193"/>
              <a:gd name="T4" fmla="*/ 0 w 21600"/>
              <a:gd name="T5" fmla="*/ 82809423 h 39193"/>
              <a:gd name="T6" fmla="*/ 0 60000 65536"/>
              <a:gd name="T7" fmla="*/ 0 60000 65536"/>
              <a:gd name="T8" fmla="*/ 0 60000 65536"/>
              <a:gd name="T9" fmla="*/ 0 w 21600"/>
              <a:gd name="T10" fmla="*/ 0 h 39193"/>
              <a:gd name="T11" fmla="*/ 21600 w 21600"/>
              <a:gd name="T12" fmla="*/ 39193 h 39193"/>
            </a:gdLst>
            <a:ahLst/>
            <a:cxnLst>
              <a:cxn ang="T6">
                <a:pos x="T0" y="T1"/>
              </a:cxn>
              <a:cxn ang="T7">
                <a:pos x="T2" y="T3"/>
              </a:cxn>
              <a:cxn ang="T8">
                <a:pos x="T4" y="T5"/>
              </a:cxn>
            </a:cxnLst>
            <a:rect l="T9" t="T10" r="T11" b="T12"/>
            <a:pathLst>
              <a:path w="21600" h="39193" fill="none" extrusionOk="0">
                <a:moveTo>
                  <a:pt x="7173" y="0"/>
                </a:moveTo>
                <a:cubicBezTo>
                  <a:pt x="15817" y="3043"/>
                  <a:pt x="21600" y="11210"/>
                  <a:pt x="21600" y="20374"/>
                </a:cubicBezTo>
                <a:cubicBezTo>
                  <a:pt x="21600" y="28172"/>
                  <a:pt x="17396" y="35365"/>
                  <a:pt x="10602" y="39193"/>
                </a:cubicBezTo>
              </a:path>
              <a:path w="21600" h="39193" stroke="0" extrusionOk="0">
                <a:moveTo>
                  <a:pt x="7173" y="0"/>
                </a:moveTo>
                <a:cubicBezTo>
                  <a:pt x="15817" y="3043"/>
                  <a:pt x="21600" y="11210"/>
                  <a:pt x="21600" y="20374"/>
                </a:cubicBezTo>
                <a:cubicBezTo>
                  <a:pt x="21600" y="28172"/>
                  <a:pt x="17396" y="35365"/>
                  <a:pt x="10602" y="39193"/>
                </a:cubicBezTo>
                <a:lnTo>
                  <a:pt x="0" y="20374"/>
                </a:lnTo>
                <a:close/>
              </a:path>
            </a:pathLst>
          </a:custGeom>
          <a:noFill/>
          <a:ln w="38100">
            <a:solidFill>
              <a:srgbClr val="FF0000"/>
            </a:solidFill>
            <a:round/>
            <a:headEnd type="none" w="sm" len="me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40" name="Group 136"/>
          <p:cNvGrpSpPr>
            <a:grpSpLocks/>
          </p:cNvGrpSpPr>
          <p:nvPr/>
        </p:nvGrpSpPr>
        <p:grpSpPr bwMode="auto">
          <a:xfrm>
            <a:off x="8505258" y="5374721"/>
            <a:ext cx="1246188" cy="823912"/>
            <a:chOff x="3325" y="2151"/>
            <a:chExt cx="785" cy="519"/>
          </a:xfrm>
        </p:grpSpPr>
        <p:sp>
          <p:nvSpPr>
            <p:cNvPr id="141" name="Arc 137"/>
            <p:cNvSpPr>
              <a:spLocks/>
            </p:cNvSpPr>
            <p:nvPr/>
          </p:nvSpPr>
          <p:spPr bwMode="auto">
            <a:xfrm flipH="1">
              <a:off x="3999" y="2151"/>
              <a:ext cx="111" cy="512"/>
            </a:xfrm>
            <a:custGeom>
              <a:avLst/>
              <a:gdLst>
                <a:gd name="T0" fmla="*/ 0 w 21600"/>
                <a:gd name="T1" fmla="*/ 0 h 42294"/>
                <a:gd name="T2" fmla="*/ 0 w 21600"/>
                <a:gd name="T3" fmla="*/ 0 h 42294"/>
                <a:gd name="T4" fmla="*/ 0 w 21600"/>
                <a:gd name="T5" fmla="*/ 0 h 42294"/>
                <a:gd name="T6" fmla="*/ 0 60000 65536"/>
                <a:gd name="T7" fmla="*/ 0 60000 65536"/>
                <a:gd name="T8" fmla="*/ 0 60000 65536"/>
                <a:gd name="T9" fmla="*/ 0 w 21600"/>
                <a:gd name="T10" fmla="*/ 0 h 42294"/>
                <a:gd name="T11" fmla="*/ 21600 w 21600"/>
                <a:gd name="T12" fmla="*/ 42294 h 42294"/>
              </a:gdLst>
              <a:ahLst/>
              <a:cxnLst>
                <a:cxn ang="T6">
                  <a:pos x="T0" y="T1"/>
                </a:cxn>
                <a:cxn ang="T7">
                  <a:pos x="T2" y="T3"/>
                </a:cxn>
                <a:cxn ang="T8">
                  <a:pos x="T4" y="T5"/>
                </a:cxn>
              </a:cxnLst>
              <a:rect l="T9" t="T10" r="T11" b="T12"/>
              <a:pathLst>
                <a:path w="21600" h="42294" fill="none" extrusionOk="0">
                  <a:moveTo>
                    <a:pt x="4764" y="0"/>
                  </a:moveTo>
                  <a:cubicBezTo>
                    <a:pt x="14609" y="2226"/>
                    <a:pt x="21600" y="10974"/>
                    <a:pt x="21600" y="21068"/>
                  </a:cubicBezTo>
                  <a:cubicBezTo>
                    <a:pt x="21600" y="31453"/>
                    <a:pt x="14209" y="40368"/>
                    <a:pt x="4003" y="42293"/>
                  </a:cubicBezTo>
                </a:path>
                <a:path w="21600" h="42294" stroke="0" extrusionOk="0">
                  <a:moveTo>
                    <a:pt x="4764" y="0"/>
                  </a:moveTo>
                  <a:cubicBezTo>
                    <a:pt x="14609" y="2226"/>
                    <a:pt x="21600" y="10974"/>
                    <a:pt x="21600" y="21068"/>
                  </a:cubicBezTo>
                  <a:cubicBezTo>
                    <a:pt x="21600" y="31453"/>
                    <a:pt x="14209" y="40368"/>
                    <a:pt x="4003" y="42293"/>
                  </a:cubicBezTo>
                  <a:lnTo>
                    <a:pt x="0" y="21068"/>
                  </a:lnTo>
                  <a:close/>
                </a:path>
              </a:pathLst>
            </a:custGeom>
            <a:noFill/>
            <a:ln w="19050">
              <a:solidFill>
                <a:srgbClr val="CC00FF"/>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2" name="Arc 138"/>
            <p:cNvSpPr>
              <a:spLocks/>
            </p:cNvSpPr>
            <p:nvPr/>
          </p:nvSpPr>
          <p:spPr bwMode="auto">
            <a:xfrm flipH="1">
              <a:off x="3778" y="2158"/>
              <a:ext cx="111" cy="512"/>
            </a:xfrm>
            <a:custGeom>
              <a:avLst/>
              <a:gdLst>
                <a:gd name="T0" fmla="*/ 0 w 21600"/>
                <a:gd name="T1" fmla="*/ 0 h 42294"/>
                <a:gd name="T2" fmla="*/ 0 w 21600"/>
                <a:gd name="T3" fmla="*/ 0 h 42294"/>
                <a:gd name="T4" fmla="*/ 0 w 21600"/>
                <a:gd name="T5" fmla="*/ 0 h 42294"/>
                <a:gd name="T6" fmla="*/ 0 60000 65536"/>
                <a:gd name="T7" fmla="*/ 0 60000 65536"/>
                <a:gd name="T8" fmla="*/ 0 60000 65536"/>
                <a:gd name="T9" fmla="*/ 0 w 21600"/>
                <a:gd name="T10" fmla="*/ 0 h 42294"/>
                <a:gd name="T11" fmla="*/ 21600 w 21600"/>
                <a:gd name="T12" fmla="*/ 42294 h 42294"/>
              </a:gdLst>
              <a:ahLst/>
              <a:cxnLst>
                <a:cxn ang="T6">
                  <a:pos x="T0" y="T1"/>
                </a:cxn>
                <a:cxn ang="T7">
                  <a:pos x="T2" y="T3"/>
                </a:cxn>
                <a:cxn ang="T8">
                  <a:pos x="T4" y="T5"/>
                </a:cxn>
              </a:cxnLst>
              <a:rect l="T9" t="T10" r="T11" b="T12"/>
              <a:pathLst>
                <a:path w="21600" h="42294" fill="none" extrusionOk="0">
                  <a:moveTo>
                    <a:pt x="4764" y="0"/>
                  </a:moveTo>
                  <a:cubicBezTo>
                    <a:pt x="14609" y="2226"/>
                    <a:pt x="21600" y="10974"/>
                    <a:pt x="21600" y="21068"/>
                  </a:cubicBezTo>
                  <a:cubicBezTo>
                    <a:pt x="21600" y="31453"/>
                    <a:pt x="14209" y="40368"/>
                    <a:pt x="4003" y="42293"/>
                  </a:cubicBezTo>
                </a:path>
                <a:path w="21600" h="42294" stroke="0" extrusionOk="0">
                  <a:moveTo>
                    <a:pt x="4764" y="0"/>
                  </a:moveTo>
                  <a:cubicBezTo>
                    <a:pt x="14609" y="2226"/>
                    <a:pt x="21600" y="10974"/>
                    <a:pt x="21600" y="21068"/>
                  </a:cubicBezTo>
                  <a:cubicBezTo>
                    <a:pt x="21600" y="31453"/>
                    <a:pt x="14209" y="40368"/>
                    <a:pt x="4003" y="42293"/>
                  </a:cubicBezTo>
                  <a:lnTo>
                    <a:pt x="0" y="21068"/>
                  </a:lnTo>
                  <a:close/>
                </a:path>
              </a:pathLst>
            </a:custGeom>
            <a:noFill/>
            <a:ln w="19050">
              <a:solidFill>
                <a:srgbClr val="CC00FF"/>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3" name="Arc 139"/>
            <p:cNvSpPr>
              <a:spLocks/>
            </p:cNvSpPr>
            <p:nvPr/>
          </p:nvSpPr>
          <p:spPr bwMode="auto">
            <a:xfrm flipH="1">
              <a:off x="3547" y="2158"/>
              <a:ext cx="111" cy="512"/>
            </a:xfrm>
            <a:custGeom>
              <a:avLst/>
              <a:gdLst>
                <a:gd name="T0" fmla="*/ 0 w 21600"/>
                <a:gd name="T1" fmla="*/ 0 h 42294"/>
                <a:gd name="T2" fmla="*/ 0 w 21600"/>
                <a:gd name="T3" fmla="*/ 0 h 42294"/>
                <a:gd name="T4" fmla="*/ 0 w 21600"/>
                <a:gd name="T5" fmla="*/ 0 h 42294"/>
                <a:gd name="T6" fmla="*/ 0 60000 65536"/>
                <a:gd name="T7" fmla="*/ 0 60000 65536"/>
                <a:gd name="T8" fmla="*/ 0 60000 65536"/>
                <a:gd name="T9" fmla="*/ 0 w 21600"/>
                <a:gd name="T10" fmla="*/ 0 h 42294"/>
                <a:gd name="T11" fmla="*/ 21600 w 21600"/>
                <a:gd name="T12" fmla="*/ 42294 h 42294"/>
              </a:gdLst>
              <a:ahLst/>
              <a:cxnLst>
                <a:cxn ang="T6">
                  <a:pos x="T0" y="T1"/>
                </a:cxn>
                <a:cxn ang="T7">
                  <a:pos x="T2" y="T3"/>
                </a:cxn>
                <a:cxn ang="T8">
                  <a:pos x="T4" y="T5"/>
                </a:cxn>
              </a:cxnLst>
              <a:rect l="T9" t="T10" r="T11" b="T12"/>
              <a:pathLst>
                <a:path w="21600" h="42294" fill="none" extrusionOk="0">
                  <a:moveTo>
                    <a:pt x="4764" y="0"/>
                  </a:moveTo>
                  <a:cubicBezTo>
                    <a:pt x="14609" y="2226"/>
                    <a:pt x="21600" y="10974"/>
                    <a:pt x="21600" y="21068"/>
                  </a:cubicBezTo>
                  <a:cubicBezTo>
                    <a:pt x="21600" y="31453"/>
                    <a:pt x="14209" y="40368"/>
                    <a:pt x="4003" y="42293"/>
                  </a:cubicBezTo>
                </a:path>
                <a:path w="21600" h="42294" stroke="0" extrusionOk="0">
                  <a:moveTo>
                    <a:pt x="4764" y="0"/>
                  </a:moveTo>
                  <a:cubicBezTo>
                    <a:pt x="14609" y="2226"/>
                    <a:pt x="21600" y="10974"/>
                    <a:pt x="21600" y="21068"/>
                  </a:cubicBezTo>
                  <a:cubicBezTo>
                    <a:pt x="21600" y="31453"/>
                    <a:pt x="14209" y="40368"/>
                    <a:pt x="4003" y="42293"/>
                  </a:cubicBezTo>
                  <a:lnTo>
                    <a:pt x="0" y="21068"/>
                  </a:lnTo>
                  <a:close/>
                </a:path>
              </a:pathLst>
            </a:custGeom>
            <a:noFill/>
            <a:ln w="19050">
              <a:solidFill>
                <a:srgbClr val="CC00FF"/>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4" name="Arc 140"/>
            <p:cNvSpPr>
              <a:spLocks/>
            </p:cNvSpPr>
            <p:nvPr/>
          </p:nvSpPr>
          <p:spPr bwMode="auto">
            <a:xfrm flipH="1">
              <a:off x="3325" y="2155"/>
              <a:ext cx="111" cy="512"/>
            </a:xfrm>
            <a:custGeom>
              <a:avLst/>
              <a:gdLst>
                <a:gd name="T0" fmla="*/ 0 w 21600"/>
                <a:gd name="T1" fmla="*/ 0 h 42294"/>
                <a:gd name="T2" fmla="*/ 0 w 21600"/>
                <a:gd name="T3" fmla="*/ 0 h 42294"/>
                <a:gd name="T4" fmla="*/ 0 w 21600"/>
                <a:gd name="T5" fmla="*/ 0 h 42294"/>
                <a:gd name="T6" fmla="*/ 0 60000 65536"/>
                <a:gd name="T7" fmla="*/ 0 60000 65536"/>
                <a:gd name="T8" fmla="*/ 0 60000 65536"/>
                <a:gd name="T9" fmla="*/ 0 w 21600"/>
                <a:gd name="T10" fmla="*/ 0 h 42294"/>
                <a:gd name="T11" fmla="*/ 21600 w 21600"/>
                <a:gd name="T12" fmla="*/ 42294 h 42294"/>
              </a:gdLst>
              <a:ahLst/>
              <a:cxnLst>
                <a:cxn ang="T6">
                  <a:pos x="T0" y="T1"/>
                </a:cxn>
                <a:cxn ang="T7">
                  <a:pos x="T2" y="T3"/>
                </a:cxn>
                <a:cxn ang="T8">
                  <a:pos x="T4" y="T5"/>
                </a:cxn>
              </a:cxnLst>
              <a:rect l="T9" t="T10" r="T11" b="T12"/>
              <a:pathLst>
                <a:path w="21600" h="42294" fill="none" extrusionOk="0">
                  <a:moveTo>
                    <a:pt x="4764" y="0"/>
                  </a:moveTo>
                  <a:cubicBezTo>
                    <a:pt x="14609" y="2226"/>
                    <a:pt x="21600" y="10974"/>
                    <a:pt x="21600" y="21068"/>
                  </a:cubicBezTo>
                  <a:cubicBezTo>
                    <a:pt x="21600" y="31453"/>
                    <a:pt x="14209" y="40368"/>
                    <a:pt x="4003" y="42293"/>
                  </a:cubicBezTo>
                </a:path>
                <a:path w="21600" h="42294" stroke="0" extrusionOk="0">
                  <a:moveTo>
                    <a:pt x="4764" y="0"/>
                  </a:moveTo>
                  <a:cubicBezTo>
                    <a:pt x="14609" y="2226"/>
                    <a:pt x="21600" y="10974"/>
                    <a:pt x="21600" y="21068"/>
                  </a:cubicBezTo>
                  <a:cubicBezTo>
                    <a:pt x="21600" y="31453"/>
                    <a:pt x="14209" y="40368"/>
                    <a:pt x="4003" y="42293"/>
                  </a:cubicBezTo>
                  <a:lnTo>
                    <a:pt x="0" y="21068"/>
                  </a:lnTo>
                  <a:close/>
                </a:path>
              </a:pathLst>
            </a:custGeom>
            <a:noFill/>
            <a:ln w="19050">
              <a:solidFill>
                <a:srgbClr val="CC00FF"/>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grpSp>
      <p:grpSp>
        <p:nvGrpSpPr>
          <p:cNvPr id="145" name="Group 141"/>
          <p:cNvGrpSpPr>
            <a:grpSpLocks/>
          </p:cNvGrpSpPr>
          <p:nvPr/>
        </p:nvGrpSpPr>
        <p:grpSpPr bwMode="auto">
          <a:xfrm>
            <a:off x="9891146" y="5628721"/>
            <a:ext cx="381000" cy="284162"/>
            <a:chOff x="4474" y="2697"/>
            <a:chExt cx="206" cy="153"/>
          </a:xfrm>
        </p:grpSpPr>
        <p:sp>
          <p:nvSpPr>
            <p:cNvPr id="146" name="Line 142"/>
            <p:cNvSpPr>
              <a:spLocks noChangeAspect="1" noChangeShapeType="1"/>
            </p:cNvSpPr>
            <p:nvPr/>
          </p:nvSpPr>
          <p:spPr bwMode="auto">
            <a:xfrm flipH="1">
              <a:off x="4474" y="2772"/>
              <a:ext cx="104" cy="7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47" name="Line 143"/>
            <p:cNvSpPr>
              <a:spLocks noChangeAspect="1" noChangeShapeType="1"/>
            </p:cNvSpPr>
            <p:nvPr/>
          </p:nvSpPr>
          <p:spPr bwMode="auto">
            <a:xfrm flipH="1">
              <a:off x="4576" y="2697"/>
              <a:ext cx="104" cy="7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sp>
        <p:nvSpPr>
          <p:cNvPr id="148" name="Text Box 144"/>
          <p:cNvSpPr txBox="1">
            <a:spLocks noChangeAspect="1" noChangeArrowheads="1"/>
          </p:cNvSpPr>
          <p:nvPr/>
        </p:nvSpPr>
        <p:spPr bwMode="auto">
          <a:xfrm>
            <a:off x="11791383" y="4620658"/>
            <a:ext cx="430213"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A</a:t>
            </a:r>
          </a:p>
        </p:txBody>
      </p:sp>
      <p:sp>
        <p:nvSpPr>
          <p:cNvPr id="114" name="Text Box 1032"/>
          <p:cNvSpPr txBox="1">
            <a:spLocks noChangeArrowheads="1"/>
          </p:cNvSpPr>
          <p:nvPr/>
        </p:nvSpPr>
        <p:spPr bwMode="auto">
          <a:xfrm>
            <a:off x="335361" y="4022750"/>
            <a:ext cx="6912767"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5000"/>
              </a:lnSpc>
            </a:pPr>
            <a:r>
              <a:rPr lang="en-US" altLang="zh-CN" sz="2800" i="0" dirty="0" smtClean="0">
                <a:solidFill>
                  <a:srgbClr val="FF00FF"/>
                </a:solidFill>
                <a:latin typeface="+mj-lt"/>
                <a:ea typeface="微软雅黑" panose="020B0503020204020204" pitchFamily="34" charset="-122"/>
              </a:rPr>
              <a:t>1</a:t>
            </a:r>
            <a:r>
              <a:rPr lang="zh-CN" altLang="en-US" sz="2800" i="0" dirty="0">
                <a:solidFill>
                  <a:srgbClr val="FF00FF"/>
                </a:solidFill>
                <a:latin typeface="+mj-lt"/>
                <a:ea typeface="微软雅黑" panose="020B0503020204020204" pitchFamily="34" charset="-122"/>
              </a:rPr>
              <a:t>）横截面变形后仍为平面，</a:t>
            </a:r>
            <a:r>
              <a:rPr lang="zh-CN" altLang="en-US" sz="2800" i="0" dirty="0">
                <a:solidFill>
                  <a:srgbClr val="FF00FF"/>
                </a:solidFill>
                <a:ea typeface="微软雅黑" panose="020B0503020204020204" pitchFamily="34" charset="-122"/>
              </a:rPr>
              <a:t>仅绕轴线作相对转动</a:t>
            </a:r>
            <a:r>
              <a:rPr lang="zh-CN" altLang="en-US" sz="2800" i="0" dirty="0">
                <a:solidFill>
                  <a:srgbClr val="FF00FF"/>
                </a:solidFill>
                <a:latin typeface="+mj-lt"/>
                <a:ea typeface="微软雅黑" panose="020B0503020204020204" pitchFamily="34" charset="-122"/>
              </a:rPr>
              <a:t>；</a:t>
            </a:r>
            <a:endParaRPr lang="en-US" altLang="zh-CN" sz="2800" i="0" dirty="0">
              <a:solidFill>
                <a:srgbClr val="FF00FF"/>
              </a:solidFill>
              <a:latin typeface="+mj-lt"/>
              <a:ea typeface="微软雅黑" panose="020B0503020204020204" pitchFamily="34" charset="-122"/>
            </a:endParaRPr>
          </a:p>
          <a:p>
            <a:pPr algn="just">
              <a:lnSpc>
                <a:spcPct val="125000"/>
              </a:lnSpc>
            </a:pPr>
            <a:r>
              <a:rPr lang="en-US" altLang="zh-CN" sz="2800" i="0" dirty="0">
                <a:solidFill>
                  <a:srgbClr val="FF00FF"/>
                </a:solidFill>
                <a:latin typeface="+mj-lt"/>
                <a:ea typeface="微软雅黑" panose="020B0503020204020204" pitchFamily="34" charset="-122"/>
              </a:rPr>
              <a:t>2</a:t>
            </a:r>
            <a:r>
              <a:rPr lang="zh-CN" altLang="en-US" sz="2800" i="0" dirty="0">
                <a:solidFill>
                  <a:srgbClr val="FF00FF"/>
                </a:solidFill>
                <a:latin typeface="+mj-lt"/>
                <a:ea typeface="微软雅黑" panose="020B0503020204020204" pitchFamily="34" charset="-122"/>
              </a:rPr>
              <a:t>）轴向无伸缩，各纵向线变形仍为直线且平行。</a:t>
            </a:r>
          </a:p>
        </p:txBody>
      </p:sp>
    </p:spTree>
    <p:extLst>
      <p:ext uri="{BB962C8B-B14F-4D97-AF65-F5344CB8AC3E}">
        <p14:creationId xmlns:p14="http://schemas.microsoft.com/office/powerpoint/2010/main" val="251291910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7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9" presetClass="entr" presetSubtype="10" fill="hold" grpId="0" nodeType="clickEffect">
                                  <p:stCondLst>
                                    <p:cond delay="0"/>
                                  </p:stCondLst>
                                  <p:childTnLst>
                                    <p:set>
                                      <p:cBhvr>
                                        <p:cTn id="19" dur="1" fill="hold">
                                          <p:stCondLst>
                                            <p:cond delay="0"/>
                                          </p:stCondLst>
                                        </p:cTn>
                                        <p:tgtEl>
                                          <p:spTgt spid="80"/>
                                        </p:tgtEl>
                                        <p:attrNameLst>
                                          <p:attrName>style.visibility</p:attrName>
                                        </p:attrNameLst>
                                      </p:cBhvr>
                                      <p:to>
                                        <p:strVal val="visible"/>
                                      </p:to>
                                    </p:set>
                                    <p:anim calcmode="lin" valueType="num">
                                      <p:cBhvr>
                                        <p:cTn id="20" dur="5000" fill="hold"/>
                                        <p:tgtEl>
                                          <p:spTgt spid="80"/>
                                        </p:tgtEl>
                                        <p:attrNameLst>
                                          <p:attrName>ppt_w</p:attrName>
                                        </p:attrNameLst>
                                      </p:cBhvr>
                                      <p:tavLst>
                                        <p:tav tm="0" fmla="#ppt_w*sin(2.5*pi*$)">
                                          <p:val>
                                            <p:fltVal val="0"/>
                                          </p:val>
                                        </p:tav>
                                        <p:tav tm="100000">
                                          <p:val>
                                            <p:fltVal val="1"/>
                                          </p:val>
                                        </p:tav>
                                      </p:tavLst>
                                    </p:anim>
                                    <p:anim calcmode="lin" valueType="num">
                                      <p:cBhvr>
                                        <p:cTn id="21" dur="5000" fill="hold"/>
                                        <p:tgtEl>
                                          <p:spTgt spid="80"/>
                                        </p:tgtEl>
                                        <p:attrNameLst>
                                          <p:attrName>ppt_h</p:attrName>
                                        </p:attrNameLst>
                                      </p:cBhvr>
                                      <p:tavLst>
                                        <p:tav tm="0">
                                          <p:val>
                                            <p:strVal val="#ppt_h"/>
                                          </p:val>
                                        </p:tav>
                                        <p:tav tm="100000">
                                          <p:val>
                                            <p:strVal val="#ppt_h"/>
                                          </p:val>
                                        </p:tav>
                                      </p:tavLst>
                                    </p:anim>
                                  </p:childTnLst>
                                </p:cTn>
                              </p:par>
                            </p:childTnLst>
                          </p:cTn>
                        </p:par>
                        <p:par>
                          <p:cTn id="22" fill="hold">
                            <p:stCondLst>
                              <p:cond delay="5000"/>
                            </p:stCondLst>
                            <p:childTnLst>
                              <p:par>
                                <p:cTn id="23" presetID="53" presetClass="entr" presetSubtype="0" fill="hold" nodeType="afterEffect">
                                  <p:stCondLst>
                                    <p:cond delay="0"/>
                                  </p:stCondLst>
                                  <p:childTnLst>
                                    <p:set>
                                      <p:cBhvr>
                                        <p:cTn id="24" dur="1" fill="hold">
                                          <p:stCondLst>
                                            <p:cond delay="0"/>
                                          </p:stCondLst>
                                        </p:cTn>
                                        <p:tgtEl>
                                          <p:spTgt spid="50"/>
                                        </p:tgtEl>
                                        <p:attrNameLst>
                                          <p:attrName>style.visibility</p:attrName>
                                        </p:attrNameLst>
                                      </p:cBhvr>
                                      <p:to>
                                        <p:strVal val="visible"/>
                                      </p:to>
                                    </p:set>
                                    <p:anim calcmode="lin" valueType="num">
                                      <p:cBhvr>
                                        <p:cTn id="25" dur="3000" fill="hold"/>
                                        <p:tgtEl>
                                          <p:spTgt spid="50"/>
                                        </p:tgtEl>
                                        <p:attrNameLst>
                                          <p:attrName>ppt_w</p:attrName>
                                        </p:attrNameLst>
                                      </p:cBhvr>
                                      <p:tavLst>
                                        <p:tav tm="0">
                                          <p:val>
                                            <p:fltVal val="0"/>
                                          </p:val>
                                        </p:tav>
                                        <p:tav tm="100000">
                                          <p:val>
                                            <p:strVal val="#ppt_w"/>
                                          </p:val>
                                        </p:tav>
                                      </p:tavLst>
                                    </p:anim>
                                    <p:anim calcmode="lin" valueType="num">
                                      <p:cBhvr>
                                        <p:cTn id="26" dur="3000" fill="hold"/>
                                        <p:tgtEl>
                                          <p:spTgt spid="50"/>
                                        </p:tgtEl>
                                        <p:attrNameLst>
                                          <p:attrName>ppt_h</p:attrName>
                                        </p:attrNameLst>
                                      </p:cBhvr>
                                      <p:tavLst>
                                        <p:tav tm="0">
                                          <p:val>
                                            <p:fltVal val="0"/>
                                          </p:val>
                                        </p:tav>
                                        <p:tav tm="100000">
                                          <p:val>
                                            <p:strVal val="#ppt_h"/>
                                          </p:val>
                                        </p:tav>
                                      </p:tavLst>
                                    </p:anim>
                                    <p:animEffect transition="in" filter="fade">
                                      <p:cBhvr>
                                        <p:cTn id="27" dur="3000"/>
                                        <p:tgtEl>
                                          <p:spTgt spid="50"/>
                                        </p:tgtEl>
                                      </p:cBhvr>
                                    </p:animEffect>
                                  </p:childTnLst>
                                </p:cTn>
                              </p:par>
                              <p:par>
                                <p:cTn id="28" presetID="18" presetClass="entr" presetSubtype="6" fill="hold" grpId="0" nodeType="withEffect">
                                  <p:stCondLst>
                                    <p:cond delay="0"/>
                                  </p:stCondLst>
                                  <p:childTnLst>
                                    <p:set>
                                      <p:cBhvr>
                                        <p:cTn id="29" dur="1" fill="hold">
                                          <p:stCondLst>
                                            <p:cond delay="0"/>
                                          </p:stCondLst>
                                        </p:cTn>
                                        <p:tgtEl>
                                          <p:spTgt spid="97"/>
                                        </p:tgtEl>
                                        <p:attrNameLst>
                                          <p:attrName>style.visibility</p:attrName>
                                        </p:attrNameLst>
                                      </p:cBhvr>
                                      <p:to>
                                        <p:strVal val="visible"/>
                                      </p:to>
                                    </p:set>
                                    <p:animEffect transition="in" filter="strips(downRight)">
                                      <p:cBhvr>
                                        <p:cTn id="30" dur="5000"/>
                                        <p:tgtEl>
                                          <p:spTgt spid="97"/>
                                        </p:tgtEl>
                                      </p:cBhvr>
                                    </p:animEffect>
                                  </p:childTnLst>
                                </p:cTn>
                              </p:par>
                              <p:par>
                                <p:cTn id="31" presetID="16" presetClass="entr" presetSubtype="21" fill="hold" nodeType="withEffect">
                                  <p:stCondLst>
                                    <p:cond delay="0"/>
                                  </p:stCondLst>
                                  <p:childTnLst>
                                    <p:set>
                                      <p:cBhvr>
                                        <p:cTn id="32" dur="1" fill="hold">
                                          <p:stCondLst>
                                            <p:cond delay="0"/>
                                          </p:stCondLst>
                                        </p:cTn>
                                        <p:tgtEl>
                                          <p:spTgt spid="73"/>
                                        </p:tgtEl>
                                        <p:attrNameLst>
                                          <p:attrName>style.visibility</p:attrName>
                                        </p:attrNameLst>
                                      </p:cBhvr>
                                      <p:to>
                                        <p:strVal val="visible"/>
                                      </p:to>
                                    </p:set>
                                    <p:animEffect transition="in" filter="barn(inVertical)">
                                      <p:cBhvr>
                                        <p:cTn id="33" dur="5000"/>
                                        <p:tgtEl>
                                          <p:spTgt spid="73"/>
                                        </p:tgtEl>
                                      </p:cBhvr>
                                    </p:animEffect>
                                  </p:childTnLst>
                                </p:cTn>
                              </p:par>
                            </p:childTnLst>
                          </p:cTn>
                        </p:par>
                      </p:childTnLst>
                    </p:cTn>
                  </p:par>
                  <p:par>
                    <p:cTn id="34" fill="hold">
                      <p:stCondLst>
                        <p:cond delay="indefinite"/>
                      </p:stCondLst>
                      <p:childTnLst>
                        <p:par>
                          <p:cTn id="35" fill="hold">
                            <p:stCondLst>
                              <p:cond delay="0"/>
                            </p:stCondLst>
                            <p:childTnLst>
                              <p:par>
                                <p:cTn id="36" presetID="19" presetClass="entr" presetSubtype="10" fill="hold" grpId="0" nodeType="clickEffect">
                                  <p:stCondLst>
                                    <p:cond delay="0"/>
                                  </p:stCondLst>
                                  <p:childTnLst>
                                    <p:set>
                                      <p:cBhvr>
                                        <p:cTn id="37" dur="1" fill="hold">
                                          <p:stCondLst>
                                            <p:cond delay="0"/>
                                          </p:stCondLst>
                                        </p:cTn>
                                        <p:tgtEl>
                                          <p:spTgt spid="79"/>
                                        </p:tgtEl>
                                        <p:attrNameLst>
                                          <p:attrName>style.visibility</p:attrName>
                                        </p:attrNameLst>
                                      </p:cBhvr>
                                      <p:to>
                                        <p:strVal val="visible"/>
                                      </p:to>
                                    </p:set>
                                    <p:anim calcmode="lin" valueType="num">
                                      <p:cBhvr>
                                        <p:cTn id="38" dur="5000" fill="hold"/>
                                        <p:tgtEl>
                                          <p:spTgt spid="79"/>
                                        </p:tgtEl>
                                        <p:attrNameLst>
                                          <p:attrName>ppt_w</p:attrName>
                                        </p:attrNameLst>
                                      </p:cBhvr>
                                      <p:tavLst>
                                        <p:tav tm="0" fmla="#ppt_w*sin(2.5*pi*$)">
                                          <p:val>
                                            <p:fltVal val="0"/>
                                          </p:val>
                                        </p:tav>
                                        <p:tav tm="100000">
                                          <p:val>
                                            <p:fltVal val="1"/>
                                          </p:val>
                                        </p:tav>
                                      </p:tavLst>
                                    </p:anim>
                                    <p:anim calcmode="lin" valueType="num">
                                      <p:cBhvr>
                                        <p:cTn id="39" dur="5000" fill="hold"/>
                                        <p:tgtEl>
                                          <p:spTgt spid="79"/>
                                        </p:tgtEl>
                                        <p:attrNameLst>
                                          <p:attrName>ppt_h</p:attrName>
                                        </p:attrNameLst>
                                      </p:cBhvr>
                                      <p:tavLst>
                                        <p:tav tm="0">
                                          <p:val>
                                            <p:strVal val="#ppt_h"/>
                                          </p:val>
                                        </p:tav>
                                        <p:tav tm="100000">
                                          <p:val>
                                            <p:strVal val="#ppt_h"/>
                                          </p:val>
                                        </p:tav>
                                      </p:tavLst>
                                    </p:anim>
                                  </p:childTnLst>
                                </p:cTn>
                              </p:par>
                              <p:par>
                                <p:cTn id="40" presetID="18" presetClass="entr" presetSubtype="12" fill="hold" grpId="0" nodeType="withEffect">
                                  <p:stCondLst>
                                    <p:cond delay="0"/>
                                  </p:stCondLst>
                                  <p:childTnLst>
                                    <p:set>
                                      <p:cBhvr>
                                        <p:cTn id="41" dur="1" fill="hold">
                                          <p:stCondLst>
                                            <p:cond delay="0"/>
                                          </p:stCondLst>
                                        </p:cTn>
                                        <p:tgtEl>
                                          <p:spTgt spid="98"/>
                                        </p:tgtEl>
                                        <p:attrNameLst>
                                          <p:attrName>style.visibility</p:attrName>
                                        </p:attrNameLst>
                                      </p:cBhvr>
                                      <p:to>
                                        <p:strVal val="visible"/>
                                      </p:to>
                                    </p:set>
                                    <p:animEffect transition="in" filter="strips(downLeft)">
                                      <p:cBhvr>
                                        <p:cTn id="42" dur="5000"/>
                                        <p:tgtEl>
                                          <p:spTgt spid="98"/>
                                        </p:tgtEl>
                                      </p:cBhvr>
                                    </p:animEffect>
                                  </p:childTnLst>
                                </p:cTn>
                              </p:par>
                              <p:par>
                                <p:cTn id="43" presetID="16" presetClass="entr" presetSubtype="42" fill="hold" nodeType="withEffect">
                                  <p:stCondLst>
                                    <p:cond delay="0"/>
                                  </p:stCondLst>
                                  <p:childTnLst>
                                    <p:set>
                                      <p:cBhvr>
                                        <p:cTn id="44" dur="1" fill="hold">
                                          <p:stCondLst>
                                            <p:cond delay="0"/>
                                          </p:stCondLst>
                                        </p:cTn>
                                        <p:tgtEl>
                                          <p:spTgt spid="92"/>
                                        </p:tgtEl>
                                        <p:attrNameLst>
                                          <p:attrName>style.visibility</p:attrName>
                                        </p:attrNameLst>
                                      </p:cBhvr>
                                      <p:to>
                                        <p:strVal val="visible"/>
                                      </p:to>
                                    </p:set>
                                    <p:animEffect transition="in" filter="barn(outHorizontal)">
                                      <p:cBhvr>
                                        <p:cTn id="45" dur="5000"/>
                                        <p:tgtEl>
                                          <p:spTgt spid="92"/>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99"/>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08"/>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109"/>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110"/>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111"/>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112"/>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140"/>
                                        </p:tgtEl>
                                        <p:attrNameLst>
                                          <p:attrName>style.visibility</p:attrName>
                                        </p:attrNameLst>
                                      </p:cBhvr>
                                      <p:to>
                                        <p:strVal val="visible"/>
                                      </p:to>
                                    </p:set>
                                  </p:childTnLst>
                                </p:cTn>
                              </p:par>
                              <p:par>
                                <p:cTn id="62" presetID="0" presetClass="path" presetSubtype="0" accel="50000" decel="50000" fill="hold" nodeType="withEffect">
                                  <p:stCondLst>
                                    <p:cond delay="0"/>
                                  </p:stCondLst>
                                  <p:childTnLst>
                                    <p:animMotion origin="layout" path="M 0 0 L -0.00313 -0.21412 " pathEditMode="relative" ptsTypes="AA">
                                      <p:cBhvr>
                                        <p:cTn id="63" dur="5000" spd="-100000" fill="hold"/>
                                        <p:tgtEl>
                                          <p:spTgt spid="99"/>
                                        </p:tgtEl>
                                        <p:attrNameLst>
                                          <p:attrName>ppt_x</p:attrName>
                                          <p:attrName>ppt_y</p:attrName>
                                        </p:attrNameLst>
                                      </p:cBhvr>
                                    </p:animMotion>
                                  </p:childTnLst>
                                </p:cTn>
                              </p:par>
                              <p:par>
                                <p:cTn id="64" presetID="0" presetClass="path" presetSubtype="0" accel="50000" decel="50000" fill="hold" grpId="1" nodeType="withEffect">
                                  <p:stCondLst>
                                    <p:cond delay="0"/>
                                  </p:stCondLst>
                                  <p:childTnLst>
                                    <p:animMotion origin="layout" path="M 0 0 L -0.00313 -0.21412 " pathEditMode="relative" ptsTypes="AA">
                                      <p:cBhvr>
                                        <p:cTn id="65" dur="5000" spd="-100000" fill="hold"/>
                                        <p:tgtEl>
                                          <p:spTgt spid="108"/>
                                        </p:tgtEl>
                                        <p:attrNameLst>
                                          <p:attrName>ppt_x</p:attrName>
                                          <p:attrName>ppt_y</p:attrName>
                                        </p:attrNameLst>
                                      </p:cBhvr>
                                    </p:animMotion>
                                  </p:childTnLst>
                                </p:cTn>
                              </p:par>
                              <p:par>
                                <p:cTn id="66" presetID="0" presetClass="path" presetSubtype="0" accel="50000" decel="50000" fill="hold" grpId="1" nodeType="withEffect">
                                  <p:stCondLst>
                                    <p:cond delay="0"/>
                                  </p:stCondLst>
                                  <p:childTnLst>
                                    <p:animMotion origin="layout" path="M 0 0 L -0.00313 -0.21412 " pathEditMode="relative" ptsTypes="AA">
                                      <p:cBhvr>
                                        <p:cTn id="67" dur="5000" spd="-100000" fill="hold"/>
                                        <p:tgtEl>
                                          <p:spTgt spid="109"/>
                                        </p:tgtEl>
                                        <p:attrNameLst>
                                          <p:attrName>ppt_x</p:attrName>
                                          <p:attrName>ppt_y</p:attrName>
                                        </p:attrNameLst>
                                      </p:cBhvr>
                                    </p:animMotion>
                                  </p:childTnLst>
                                </p:cTn>
                              </p:par>
                              <p:par>
                                <p:cTn id="68" presetID="0" presetClass="path" presetSubtype="0" accel="50000" decel="50000" fill="hold" grpId="1" nodeType="withEffect">
                                  <p:stCondLst>
                                    <p:cond delay="0"/>
                                  </p:stCondLst>
                                  <p:childTnLst>
                                    <p:animMotion origin="layout" path="M 0 0 L -0.00313 -0.21412 " pathEditMode="relative" ptsTypes="AA">
                                      <p:cBhvr>
                                        <p:cTn id="69" dur="5000" spd="-100000" fill="hold"/>
                                        <p:tgtEl>
                                          <p:spTgt spid="110"/>
                                        </p:tgtEl>
                                        <p:attrNameLst>
                                          <p:attrName>ppt_x</p:attrName>
                                          <p:attrName>ppt_y</p:attrName>
                                        </p:attrNameLst>
                                      </p:cBhvr>
                                    </p:animMotion>
                                  </p:childTnLst>
                                </p:cTn>
                              </p:par>
                              <p:par>
                                <p:cTn id="70" presetID="0" presetClass="path" presetSubtype="0" accel="50000" decel="50000" fill="hold" grpId="1" nodeType="withEffect">
                                  <p:stCondLst>
                                    <p:cond delay="0"/>
                                  </p:stCondLst>
                                  <p:childTnLst>
                                    <p:animMotion origin="layout" path="M 0 0 L -0.00313 -0.21412 " pathEditMode="relative" ptsTypes="AA">
                                      <p:cBhvr>
                                        <p:cTn id="71" dur="5000" spd="-100000" fill="hold"/>
                                        <p:tgtEl>
                                          <p:spTgt spid="111"/>
                                        </p:tgtEl>
                                        <p:attrNameLst>
                                          <p:attrName>ppt_x</p:attrName>
                                          <p:attrName>ppt_y</p:attrName>
                                        </p:attrNameLst>
                                      </p:cBhvr>
                                    </p:animMotion>
                                  </p:childTnLst>
                                </p:cTn>
                              </p:par>
                              <p:par>
                                <p:cTn id="72" presetID="0" presetClass="path" presetSubtype="0" accel="50000" decel="50000" fill="hold" grpId="1" nodeType="withEffect">
                                  <p:stCondLst>
                                    <p:cond delay="0"/>
                                  </p:stCondLst>
                                  <p:childTnLst>
                                    <p:animMotion origin="layout" path="M 0 0 L -0.00313 -0.21412 " pathEditMode="relative" ptsTypes="AA">
                                      <p:cBhvr>
                                        <p:cTn id="73" dur="5000" spd="-100000" fill="hold"/>
                                        <p:tgtEl>
                                          <p:spTgt spid="112"/>
                                        </p:tgtEl>
                                        <p:attrNameLst>
                                          <p:attrName>ppt_x</p:attrName>
                                          <p:attrName>ppt_y</p:attrName>
                                        </p:attrNameLst>
                                      </p:cBhvr>
                                    </p:animMotion>
                                  </p:childTnLst>
                                </p:cTn>
                              </p:par>
                              <p:par>
                                <p:cTn id="74" presetID="0" presetClass="path" presetSubtype="0" accel="50000" decel="50000" fill="hold" nodeType="withEffect">
                                  <p:stCondLst>
                                    <p:cond delay="0"/>
                                  </p:stCondLst>
                                  <p:childTnLst>
                                    <p:animMotion origin="layout" path="M 0 0 L -0.00313 -0.21412 " pathEditMode="relative" ptsTypes="AA">
                                      <p:cBhvr>
                                        <p:cTn id="75" dur="5000" spd="-100000" fill="hold"/>
                                        <p:tgtEl>
                                          <p:spTgt spid="140"/>
                                        </p:tgtEl>
                                        <p:attrNameLst>
                                          <p:attrName>ppt_x</p:attrName>
                                          <p:attrName>ppt_y</p:attrName>
                                        </p:attrNameLst>
                                      </p:cBhvr>
                                    </p:animMotion>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113"/>
                                        </p:tgtEl>
                                        <p:attrNameLst>
                                          <p:attrName>style.visibility</p:attrName>
                                        </p:attrNameLst>
                                      </p:cBhvr>
                                      <p:to>
                                        <p:strVal val="visible"/>
                                      </p:to>
                                    </p:set>
                                    <p:animEffect transition="in" filter="wipe(down)">
                                      <p:cBhvr>
                                        <p:cTn id="80" dur="5000"/>
                                        <p:tgtEl>
                                          <p:spTgt spid="113"/>
                                        </p:tgtEl>
                                      </p:cBhvr>
                                    </p:animEffect>
                                  </p:childTnLst>
                                  <p:subTnLst>
                                    <p:audio>
                                      <p:cMediaNode>
                                        <p:cTn display="0" masterRel="sameClick">
                                          <p:stCondLst>
                                            <p:cond evt="begin" delay="0">
                                              <p:tn val="78"/>
                                            </p:cond>
                                          </p:stCondLst>
                                          <p:endCondLst>
                                            <p:cond evt="onStopAudio" delay="0">
                                              <p:tgtEl>
                                                <p:sldTgt/>
                                              </p:tgtEl>
                                            </p:cond>
                                          </p:endCondLst>
                                        </p:cTn>
                                        <p:tgtEl>
                                          <p:sndTgt r:embed="rId5" name="LASER.WAV"/>
                                        </p:tgtEl>
                                      </p:cMediaNode>
                                    </p:audio>
                                  </p:subTnLst>
                                </p:cTn>
                              </p:par>
                              <p:par>
                                <p:cTn id="81" presetID="19" presetClass="entr" presetSubtype="10" fill="hold" grpId="0" nodeType="withEffect">
                                  <p:stCondLst>
                                    <p:cond delay="0"/>
                                  </p:stCondLst>
                                  <p:childTnLst>
                                    <p:set>
                                      <p:cBhvr>
                                        <p:cTn id="82" dur="1" fill="hold">
                                          <p:stCondLst>
                                            <p:cond delay="0"/>
                                          </p:stCondLst>
                                        </p:cTn>
                                        <p:tgtEl>
                                          <p:spTgt spid="88"/>
                                        </p:tgtEl>
                                        <p:attrNameLst>
                                          <p:attrName>style.visibility</p:attrName>
                                        </p:attrNameLst>
                                      </p:cBhvr>
                                      <p:to>
                                        <p:strVal val="visible"/>
                                      </p:to>
                                    </p:set>
                                    <p:anim calcmode="lin" valueType="num">
                                      <p:cBhvr>
                                        <p:cTn id="83" dur="5000" fill="hold"/>
                                        <p:tgtEl>
                                          <p:spTgt spid="88"/>
                                        </p:tgtEl>
                                        <p:attrNameLst>
                                          <p:attrName>ppt_w</p:attrName>
                                        </p:attrNameLst>
                                      </p:cBhvr>
                                      <p:tavLst>
                                        <p:tav tm="0" fmla="#ppt_w*sin(2.5*pi*$)">
                                          <p:val>
                                            <p:fltVal val="0"/>
                                          </p:val>
                                        </p:tav>
                                        <p:tav tm="100000">
                                          <p:val>
                                            <p:fltVal val="1"/>
                                          </p:val>
                                        </p:tav>
                                      </p:tavLst>
                                    </p:anim>
                                    <p:anim calcmode="lin" valueType="num">
                                      <p:cBhvr>
                                        <p:cTn id="84" dur="5000" fill="hold"/>
                                        <p:tgtEl>
                                          <p:spTgt spid="8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1"/>
                                            </p:cond>
                                          </p:stCondLst>
                                          <p:endCondLst>
                                            <p:cond evt="onStopAudio" delay="0">
                                              <p:tgtEl>
                                                <p:sldTgt/>
                                              </p:tgtEl>
                                            </p:cond>
                                          </p:endCondLst>
                                        </p:cTn>
                                        <p:tgtEl>
                                          <p:sndTgt r:embed="rId6" name="CHIMES.WAV"/>
                                        </p:tgtEl>
                                      </p:cMediaNode>
                                    </p:audio>
                                  </p:subTnLst>
                                </p:cTn>
                              </p:par>
                              <p:par>
                                <p:cTn id="85" presetID="22" presetClass="entr" presetSubtype="4" fill="hold" grpId="0" nodeType="withEffect">
                                  <p:stCondLst>
                                    <p:cond delay="0"/>
                                  </p:stCondLst>
                                  <p:childTnLst>
                                    <p:set>
                                      <p:cBhvr>
                                        <p:cTn id="86" dur="1" fill="hold">
                                          <p:stCondLst>
                                            <p:cond delay="0"/>
                                          </p:stCondLst>
                                        </p:cTn>
                                        <p:tgtEl>
                                          <p:spTgt spid="86"/>
                                        </p:tgtEl>
                                        <p:attrNameLst>
                                          <p:attrName>style.visibility</p:attrName>
                                        </p:attrNameLst>
                                      </p:cBhvr>
                                      <p:to>
                                        <p:strVal val="visible"/>
                                      </p:to>
                                    </p:set>
                                    <p:animEffect transition="in" filter="wipe(down)">
                                      <p:cBhvr>
                                        <p:cTn id="87" dur="5000"/>
                                        <p:tgtEl>
                                          <p:spTgt spid="86"/>
                                        </p:tgtEl>
                                      </p:cBhvr>
                                    </p:animEffect>
                                  </p:childTnLst>
                                  <p:subTnLst>
                                    <p:audio>
                                      <p:cMediaNode>
                                        <p:cTn display="0" masterRel="sameClick">
                                          <p:stCondLst>
                                            <p:cond evt="begin" delay="0">
                                              <p:tn val="85"/>
                                            </p:cond>
                                          </p:stCondLst>
                                          <p:endCondLst>
                                            <p:cond evt="onStopAudio" delay="0">
                                              <p:tgtEl>
                                                <p:sldTgt/>
                                              </p:tgtEl>
                                            </p:cond>
                                          </p:endCondLst>
                                        </p:cTn>
                                        <p:tgtEl>
                                          <p:sndTgt r:embed="rId5" name="LASER.WAV"/>
                                        </p:tgtEl>
                                      </p:cMediaNode>
                                    </p:audio>
                                  </p:subTnLst>
                                </p:cTn>
                              </p:par>
                              <p:par>
                                <p:cTn id="88" presetID="19" presetClass="entr" presetSubtype="10" fill="hold" grpId="0" nodeType="withEffect">
                                  <p:stCondLst>
                                    <p:cond delay="0"/>
                                  </p:stCondLst>
                                  <p:childTnLst>
                                    <p:set>
                                      <p:cBhvr>
                                        <p:cTn id="89" dur="1" fill="hold">
                                          <p:stCondLst>
                                            <p:cond delay="0"/>
                                          </p:stCondLst>
                                        </p:cTn>
                                        <p:tgtEl>
                                          <p:spTgt spid="87"/>
                                        </p:tgtEl>
                                        <p:attrNameLst>
                                          <p:attrName>style.visibility</p:attrName>
                                        </p:attrNameLst>
                                      </p:cBhvr>
                                      <p:to>
                                        <p:strVal val="visible"/>
                                      </p:to>
                                    </p:set>
                                    <p:anim calcmode="lin" valueType="num">
                                      <p:cBhvr>
                                        <p:cTn id="90" dur="5000" fill="hold"/>
                                        <p:tgtEl>
                                          <p:spTgt spid="87"/>
                                        </p:tgtEl>
                                        <p:attrNameLst>
                                          <p:attrName>ppt_w</p:attrName>
                                        </p:attrNameLst>
                                      </p:cBhvr>
                                      <p:tavLst>
                                        <p:tav tm="0" fmla="#ppt_w*sin(2.5*pi*$)">
                                          <p:val>
                                            <p:fltVal val="0"/>
                                          </p:val>
                                        </p:tav>
                                        <p:tav tm="100000">
                                          <p:val>
                                            <p:fltVal val="1"/>
                                          </p:val>
                                        </p:tav>
                                      </p:tavLst>
                                    </p:anim>
                                    <p:anim calcmode="lin" valueType="num">
                                      <p:cBhvr>
                                        <p:cTn id="91" dur="5000" fill="hold"/>
                                        <p:tgtEl>
                                          <p:spTgt spid="8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8"/>
                                            </p:cond>
                                          </p:stCondLst>
                                          <p:endCondLst>
                                            <p:cond evt="onStopAudio" delay="0">
                                              <p:tgtEl>
                                                <p:sldTgt/>
                                              </p:tgtEl>
                                            </p:cond>
                                          </p:endCondLst>
                                        </p:cTn>
                                        <p:tgtEl>
                                          <p:sndTgt r:embed="rId6" name="CHIMES.WAV"/>
                                        </p:tgtEl>
                                      </p:cMediaNode>
                                    </p:audio>
                                  </p:subTnLst>
                                </p:cTn>
                              </p:par>
                              <p:par>
                                <p:cTn id="92" presetID="1" presetClass="entr" presetSubtype="0" fill="hold" nodeType="withEffect">
                                  <p:stCondLst>
                                    <p:cond delay="0"/>
                                  </p:stCondLst>
                                  <p:childTnLst>
                                    <p:set>
                                      <p:cBhvr>
                                        <p:cTn id="93" dur="1" fill="hold">
                                          <p:stCondLst>
                                            <p:cond delay="0"/>
                                          </p:stCondLst>
                                        </p:cTn>
                                        <p:tgtEl>
                                          <p:spTgt spid="145"/>
                                        </p:tgtEl>
                                        <p:attrNameLst>
                                          <p:attrName>style.visibility</p:attrName>
                                        </p:attrNameLst>
                                      </p:cBhvr>
                                      <p:to>
                                        <p:strVal val="visible"/>
                                      </p:to>
                                    </p:set>
                                  </p:childTnLst>
                                </p:cTn>
                              </p:par>
                              <p:par>
                                <p:cTn id="94" presetID="8" presetClass="emph" presetSubtype="0" fill="hold" grpId="2" nodeType="withEffect">
                                  <p:stCondLst>
                                    <p:cond delay="0"/>
                                  </p:stCondLst>
                                  <p:childTnLst>
                                    <p:animRot by="300000">
                                      <p:cBhvr>
                                        <p:cTn id="95" dur="5000" fill="hold"/>
                                        <p:tgtEl>
                                          <p:spTgt spid="108"/>
                                        </p:tgtEl>
                                        <p:attrNameLst>
                                          <p:attrName>r</p:attrName>
                                        </p:attrNameLst>
                                      </p:cBhvr>
                                    </p:animRot>
                                  </p:childTnLst>
                                </p:cTn>
                              </p:par>
                              <p:par>
                                <p:cTn id="96" presetID="8" presetClass="emph" presetSubtype="0" fill="hold" nodeType="withEffect">
                                  <p:stCondLst>
                                    <p:cond delay="0"/>
                                  </p:stCondLst>
                                  <p:childTnLst>
                                    <p:animRot by="-1080000">
                                      <p:cBhvr>
                                        <p:cTn id="97" dur="5000" fill="hold"/>
                                        <p:tgtEl>
                                          <p:spTgt spid="145"/>
                                        </p:tgtEl>
                                        <p:attrNameLst>
                                          <p:attrName>r</p:attrName>
                                        </p:attrNameLst>
                                      </p:cBhvr>
                                    </p:animRot>
                                  </p:childTnLst>
                                </p:cTn>
                              </p:par>
                              <p:par>
                                <p:cTn id="98" presetID="8" presetClass="emph" presetSubtype="0" fill="hold" grpId="2" nodeType="withEffect">
                                  <p:stCondLst>
                                    <p:cond delay="0"/>
                                  </p:stCondLst>
                                  <p:childTnLst>
                                    <p:animRot by="300000">
                                      <p:cBhvr>
                                        <p:cTn id="99" dur="5000" fill="hold"/>
                                        <p:tgtEl>
                                          <p:spTgt spid="109"/>
                                        </p:tgtEl>
                                        <p:attrNameLst>
                                          <p:attrName>r</p:attrName>
                                        </p:attrNameLst>
                                      </p:cBhvr>
                                    </p:animRot>
                                  </p:childTnLst>
                                </p:cTn>
                              </p:par>
                              <p:par>
                                <p:cTn id="100" presetID="8" presetClass="emph" presetSubtype="0" fill="hold" grpId="2" nodeType="withEffect">
                                  <p:stCondLst>
                                    <p:cond delay="0"/>
                                  </p:stCondLst>
                                  <p:childTnLst>
                                    <p:animRot by="300000">
                                      <p:cBhvr>
                                        <p:cTn id="101" dur="5000" fill="hold"/>
                                        <p:tgtEl>
                                          <p:spTgt spid="110"/>
                                        </p:tgtEl>
                                        <p:attrNameLst>
                                          <p:attrName>r</p:attrName>
                                        </p:attrNameLst>
                                      </p:cBhvr>
                                    </p:animRot>
                                  </p:childTnLst>
                                </p:cTn>
                              </p:par>
                              <p:par>
                                <p:cTn id="102" presetID="8" presetClass="emph" presetSubtype="0" fill="hold" grpId="2" nodeType="withEffect">
                                  <p:stCondLst>
                                    <p:cond delay="0"/>
                                  </p:stCondLst>
                                  <p:childTnLst>
                                    <p:animRot by="300000">
                                      <p:cBhvr>
                                        <p:cTn id="103" dur="5000" fill="hold"/>
                                        <p:tgtEl>
                                          <p:spTgt spid="111"/>
                                        </p:tgtEl>
                                        <p:attrNameLst>
                                          <p:attrName>r</p:attrName>
                                        </p:attrNameLst>
                                      </p:cBhvr>
                                    </p:animRot>
                                  </p:childTnLst>
                                </p:cTn>
                              </p:par>
                              <p:par>
                                <p:cTn id="104" presetID="6" presetClass="emph" presetSubtype="0" fill="hold" grpId="3" nodeType="withEffect">
                                  <p:stCondLst>
                                    <p:cond delay="0"/>
                                  </p:stCondLst>
                                  <p:childTnLst>
                                    <p:animScale>
                                      <p:cBhvr>
                                        <p:cTn id="105" dur="5000" fill="hold"/>
                                        <p:tgtEl>
                                          <p:spTgt spid="110"/>
                                        </p:tgtEl>
                                      </p:cBhvr>
                                      <p:by x="105000" y="105000"/>
                                    </p:animScale>
                                  </p:childTnLst>
                                </p:cTn>
                              </p:par>
                              <p:par>
                                <p:cTn id="106" presetID="6" presetClass="emph" presetSubtype="0" fill="hold" grpId="3" nodeType="withEffect">
                                  <p:stCondLst>
                                    <p:cond delay="0"/>
                                  </p:stCondLst>
                                  <p:childTnLst>
                                    <p:animScale>
                                      <p:cBhvr>
                                        <p:cTn id="107" dur="5000" fill="hold"/>
                                        <p:tgtEl>
                                          <p:spTgt spid="111"/>
                                        </p:tgtEl>
                                      </p:cBhvr>
                                      <p:by x="105000" y="105000"/>
                                    </p:animScale>
                                  </p:childTnLst>
                                </p:cTn>
                              </p:par>
                            </p:childTnLst>
                          </p:cTn>
                        </p:par>
                      </p:childTnLst>
                    </p:cTn>
                  </p:par>
                  <p:par>
                    <p:cTn id="108" fill="hold">
                      <p:stCondLst>
                        <p:cond delay="indefinite"/>
                      </p:stCondLst>
                      <p:childTnLst>
                        <p:par>
                          <p:cTn id="109" fill="hold">
                            <p:stCondLst>
                              <p:cond delay="0"/>
                            </p:stCondLst>
                            <p:childTnLst>
                              <p:par>
                                <p:cTn id="110" presetID="20" presetClass="entr" presetSubtype="0" fill="hold" nodeType="clickEffect">
                                  <p:stCondLst>
                                    <p:cond delay="0"/>
                                  </p:stCondLst>
                                  <p:childTnLst>
                                    <p:set>
                                      <p:cBhvr>
                                        <p:cTn id="111" dur="1" fill="hold">
                                          <p:stCondLst>
                                            <p:cond delay="0"/>
                                          </p:stCondLst>
                                        </p:cTn>
                                        <p:tgtEl>
                                          <p:spTgt spid="81"/>
                                        </p:tgtEl>
                                        <p:attrNameLst>
                                          <p:attrName>style.visibility</p:attrName>
                                        </p:attrNameLst>
                                      </p:cBhvr>
                                      <p:to>
                                        <p:strVal val="visible"/>
                                      </p:to>
                                    </p:set>
                                    <p:animEffect transition="in" filter="wedge">
                                      <p:cBhvr>
                                        <p:cTn id="112" dur="3000"/>
                                        <p:tgtEl>
                                          <p:spTgt spid="81"/>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2" fill="hold" grpId="0" nodeType="clickEffect">
                                  <p:stCondLst>
                                    <p:cond delay="0"/>
                                  </p:stCondLst>
                                  <p:childTnLst>
                                    <p:set>
                                      <p:cBhvr>
                                        <p:cTn id="116" dur="1" fill="hold">
                                          <p:stCondLst>
                                            <p:cond delay="0"/>
                                          </p:stCondLst>
                                        </p:cTn>
                                        <p:tgtEl>
                                          <p:spTgt spid="90"/>
                                        </p:tgtEl>
                                        <p:attrNameLst>
                                          <p:attrName>style.visibility</p:attrName>
                                        </p:attrNameLst>
                                      </p:cBhvr>
                                      <p:to>
                                        <p:strVal val="visible"/>
                                      </p:to>
                                    </p:set>
                                    <p:animEffect transition="in" filter="wipe(right)">
                                      <p:cBhvr>
                                        <p:cTn id="117" dur="5000"/>
                                        <p:tgtEl>
                                          <p:spTgt spid="90"/>
                                        </p:tgtEl>
                                      </p:cBhvr>
                                    </p:animEffect>
                                  </p:childTnLst>
                                  <p:subTnLst>
                                    <p:audio>
                                      <p:cMediaNode>
                                        <p:cTn display="0" masterRel="sameClick">
                                          <p:stCondLst>
                                            <p:cond evt="begin" delay="0">
                                              <p:tn val="115"/>
                                            </p:cond>
                                          </p:stCondLst>
                                          <p:endCondLst>
                                            <p:cond evt="onStopAudio" delay="0">
                                              <p:tgtEl>
                                                <p:sldTgt/>
                                              </p:tgtEl>
                                            </p:cond>
                                          </p:endCondLst>
                                        </p:cTn>
                                        <p:tgtEl>
                                          <p:sndTgt r:embed="rId5" name="LASER.WAV"/>
                                        </p:tgtEl>
                                      </p:cMediaNode>
                                    </p:audio>
                                  </p:subTnLst>
                                </p:cTn>
                              </p:par>
                              <p:par>
                                <p:cTn id="118" presetID="19" presetClass="entr" presetSubtype="10" fill="hold" grpId="0" nodeType="withEffect">
                                  <p:stCondLst>
                                    <p:cond delay="0"/>
                                  </p:stCondLst>
                                  <p:childTnLst>
                                    <p:set>
                                      <p:cBhvr>
                                        <p:cTn id="119" dur="1" fill="hold">
                                          <p:stCondLst>
                                            <p:cond delay="0"/>
                                          </p:stCondLst>
                                        </p:cTn>
                                        <p:tgtEl>
                                          <p:spTgt spid="91"/>
                                        </p:tgtEl>
                                        <p:attrNameLst>
                                          <p:attrName>style.visibility</p:attrName>
                                        </p:attrNameLst>
                                      </p:cBhvr>
                                      <p:to>
                                        <p:strVal val="visible"/>
                                      </p:to>
                                    </p:set>
                                    <p:anim calcmode="lin" valueType="num">
                                      <p:cBhvr>
                                        <p:cTn id="120" dur="5000" fill="hold"/>
                                        <p:tgtEl>
                                          <p:spTgt spid="91"/>
                                        </p:tgtEl>
                                        <p:attrNameLst>
                                          <p:attrName>ppt_w</p:attrName>
                                        </p:attrNameLst>
                                      </p:cBhvr>
                                      <p:tavLst>
                                        <p:tav tm="0" fmla="#ppt_w*sin(2.5*pi*$)">
                                          <p:val>
                                            <p:fltVal val="0"/>
                                          </p:val>
                                        </p:tav>
                                        <p:tav tm="100000">
                                          <p:val>
                                            <p:fltVal val="1"/>
                                          </p:val>
                                        </p:tav>
                                      </p:tavLst>
                                    </p:anim>
                                    <p:anim calcmode="lin" valueType="num">
                                      <p:cBhvr>
                                        <p:cTn id="121" dur="5000" fill="hold"/>
                                        <p:tgtEl>
                                          <p:spTgt spid="9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8"/>
                                            </p:cond>
                                          </p:stCondLst>
                                          <p:endCondLst>
                                            <p:cond evt="onStopAudio" delay="0">
                                              <p:tgtEl>
                                                <p:sldTgt/>
                                              </p:tgtEl>
                                            </p:cond>
                                          </p:endCondLst>
                                        </p:cTn>
                                        <p:tgtEl>
                                          <p:sndTgt r:embed="rId5" name="LASER.WAV"/>
                                        </p:tgtEl>
                                      </p:cMediaNode>
                                    </p:audio>
                                  </p:subTnLst>
                                </p:cTn>
                              </p:par>
                              <p:par>
                                <p:cTn id="122" presetID="1" presetClass="entr" presetSubtype="0" fill="hold" nodeType="withEffect">
                                  <p:stCondLst>
                                    <p:cond delay="1000"/>
                                  </p:stCondLst>
                                  <p:childTnLst>
                                    <p:set>
                                      <p:cBhvr>
                                        <p:cTn id="123" dur="1" fill="hold">
                                          <p:stCondLst>
                                            <p:cond delay="0"/>
                                          </p:stCondLst>
                                        </p:cTn>
                                        <p:tgtEl>
                                          <p:spTgt spid="47"/>
                                        </p:tgtEl>
                                        <p:attrNameLst>
                                          <p:attrName>style.visibility</p:attrName>
                                        </p:attrNameLst>
                                      </p:cBhvr>
                                      <p:to>
                                        <p:strVal val="visible"/>
                                      </p:to>
                                    </p:set>
                                  </p:childTnLst>
                                </p:cTn>
                              </p:par>
                              <p:par>
                                <p:cTn id="124" presetID="8" presetClass="emph" presetSubtype="0" fill="hold" nodeType="withEffect">
                                  <p:stCondLst>
                                    <p:cond delay="0"/>
                                  </p:stCondLst>
                                  <p:childTnLst>
                                    <p:animRot by="-1800000">
                                      <p:cBhvr>
                                        <p:cTn id="125" dur="5000" fill="hold"/>
                                        <p:tgtEl>
                                          <p:spTgt spid="47"/>
                                        </p:tgtEl>
                                        <p:attrNameLst>
                                          <p:attrName>r</p:attrName>
                                        </p:attrNameLst>
                                      </p:cBhvr>
                                    </p:animRot>
                                  </p:childTnLst>
                                </p:cTn>
                              </p:par>
                              <p:par>
                                <p:cTn id="126" presetID="9" presetClass="emph" presetSubtype="0" nodeType="withEffect">
                                  <p:stCondLst>
                                    <p:cond delay="1000"/>
                                  </p:stCondLst>
                                  <p:childTnLst>
                                    <p:set>
                                      <p:cBhvr rctx="PPT">
                                        <p:cTn id="127" dur="indefinite"/>
                                        <p:tgtEl>
                                          <p:spTgt spid="81"/>
                                        </p:tgtEl>
                                        <p:attrNameLst>
                                          <p:attrName>style.opacity</p:attrName>
                                        </p:attrNameLst>
                                      </p:cBhvr>
                                      <p:to>
                                        <p:strVal val="0.25"/>
                                      </p:to>
                                    </p:set>
                                    <p:animEffect filter="image" prLst="opacity: 0.25">
                                      <p:cBhvr rctx="IE">
                                        <p:cTn id="128" dur="indefinite"/>
                                        <p:tgtEl>
                                          <p:spTgt spid="81"/>
                                        </p:tgtEl>
                                      </p:cBhvr>
                                    </p:animEffect>
                                  </p:childTnLst>
                                </p:cTn>
                              </p:par>
                              <p:par>
                                <p:cTn id="129" presetID="1" presetClass="entr" presetSubtype="0" fill="hold" grpId="1" nodeType="withEffect">
                                  <p:stCondLst>
                                    <p:cond delay="0"/>
                                  </p:stCondLst>
                                  <p:childTnLst>
                                    <p:set>
                                      <p:cBhvr>
                                        <p:cTn id="130" dur="1" fill="hold">
                                          <p:stCondLst>
                                            <p:cond delay="0"/>
                                          </p:stCondLst>
                                        </p:cTn>
                                        <p:tgtEl>
                                          <p:spTgt spid="89"/>
                                        </p:tgtEl>
                                        <p:attrNameLst>
                                          <p:attrName>style.visibility</p:attrName>
                                        </p:attrNameLst>
                                      </p:cBhvr>
                                      <p:to>
                                        <p:strVal val="visible"/>
                                      </p:to>
                                    </p:set>
                                  </p:childTnLst>
                                </p:cTn>
                              </p:par>
                              <p:par>
                                <p:cTn id="131" presetID="0" presetClass="path" presetSubtype="0" accel="50000" decel="50000" fill="hold" grpId="2" nodeType="withEffect">
                                  <p:stCondLst>
                                    <p:cond delay="0"/>
                                  </p:stCondLst>
                                  <p:childTnLst>
                                    <p:animMotion origin="layout" path="M 3.05556E-6 1.85185E-6 C 0.00468 0.01088 0.00972 0.02222 0.01163 0.03449 C 0.01371 0.04676 0.0118 0.06435 0.01163 0.07268 " pathEditMode="relative" rAng="0" ptsTypes="aaA">
                                      <p:cBhvr>
                                        <p:cTn id="132" dur="5000" spd="-100000" fill="hold"/>
                                        <p:tgtEl>
                                          <p:spTgt spid="89"/>
                                        </p:tgtEl>
                                        <p:attrNameLst>
                                          <p:attrName>ppt_x</p:attrName>
                                          <p:attrName>ppt_y</p:attrName>
                                        </p:attrNameLst>
                                      </p:cBhvr>
                                      <p:rCtr x="677" y="3634"/>
                                    </p:animMotion>
                                  </p:childTnLst>
                                </p:cTn>
                              </p:par>
                              <p:par>
                                <p:cTn id="133" presetID="1" presetClass="entr" presetSubtype="0" fill="hold" grpId="0" nodeType="withEffect">
                                  <p:stCondLst>
                                    <p:cond delay="1500"/>
                                  </p:stCondLst>
                                  <p:childTnLst>
                                    <p:set>
                                      <p:cBhvr>
                                        <p:cTn id="134" dur="1" fill="hold">
                                          <p:stCondLst>
                                            <p:cond delay="0"/>
                                          </p:stCondLst>
                                        </p:cTn>
                                        <p:tgtEl>
                                          <p:spTgt spid="148"/>
                                        </p:tgtEl>
                                        <p:attrNameLst>
                                          <p:attrName>style.visibility</p:attrName>
                                        </p:attrNameLst>
                                      </p:cBhvr>
                                      <p:to>
                                        <p:strVal val="visible"/>
                                      </p:to>
                                    </p:set>
                                  </p:childTnLst>
                                </p:cTn>
                              </p:par>
                            </p:childTnLst>
                          </p:cTn>
                        </p:par>
                        <p:par>
                          <p:cTn id="135" fill="hold">
                            <p:stCondLst>
                              <p:cond delay="5000"/>
                            </p:stCondLst>
                            <p:childTnLst>
                              <p:par>
                                <p:cTn id="136" presetID="17" presetClass="entr" presetSubtype="10" fill="hold" grpId="0" nodeType="afterEffect">
                                  <p:stCondLst>
                                    <p:cond delay="1000"/>
                                  </p:stCondLst>
                                  <p:childTnLst>
                                    <p:set>
                                      <p:cBhvr>
                                        <p:cTn id="137" dur="1" fill="hold">
                                          <p:stCondLst>
                                            <p:cond delay="0"/>
                                          </p:stCondLst>
                                        </p:cTn>
                                        <p:tgtEl>
                                          <p:spTgt spid="89"/>
                                        </p:tgtEl>
                                        <p:attrNameLst>
                                          <p:attrName>style.visibility</p:attrName>
                                        </p:attrNameLst>
                                      </p:cBhvr>
                                      <p:to>
                                        <p:strVal val="visible"/>
                                      </p:to>
                                    </p:set>
                                    <p:anim calcmode="lin" valueType="num">
                                      <p:cBhvr>
                                        <p:cTn id="138" dur="2000" fill="hold"/>
                                        <p:tgtEl>
                                          <p:spTgt spid="89"/>
                                        </p:tgtEl>
                                        <p:attrNameLst>
                                          <p:attrName>ppt_w</p:attrName>
                                        </p:attrNameLst>
                                      </p:cBhvr>
                                      <p:tavLst>
                                        <p:tav tm="0">
                                          <p:val>
                                            <p:fltVal val="0"/>
                                          </p:val>
                                        </p:tav>
                                        <p:tav tm="100000">
                                          <p:val>
                                            <p:strVal val="#ppt_w"/>
                                          </p:val>
                                        </p:tav>
                                      </p:tavLst>
                                    </p:anim>
                                    <p:anim calcmode="lin" valueType="num">
                                      <p:cBhvr>
                                        <p:cTn id="139" dur="2000" fill="hold"/>
                                        <p:tgtEl>
                                          <p:spTgt spid="8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36"/>
                                            </p:cond>
                                          </p:stCondLst>
                                          <p:endCondLst>
                                            <p:cond evt="onStopAudio" delay="0">
                                              <p:tgtEl>
                                                <p:sldTgt/>
                                              </p:tgtEl>
                                            </p:cond>
                                          </p:endCondLst>
                                        </p:cTn>
                                        <p:tgtEl>
                                          <p:sndTgt r:embed="rId5" name="LASER.WAV"/>
                                        </p:tgtEl>
                                      </p:cMediaNode>
                                    </p:audio>
                                  </p:subTnLst>
                                </p:cTn>
                              </p:par>
                            </p:childTnLst>
                          </p:cTn>
                        </p:par>
                      </p:childTnLst>
                    </p:cTn>
                  </p:par>
                  <p:par>
                    <p:cTn id="140" fill="hold">
                      <p:stCondLst>
                        <p:cond delay="indefinite"/>
                      </p:stCondLst>
                      <p:childTnLst>
                        <p:par>
                          <p:cTn id="141" fill="hold">
                            <p:stCondLst>
                              <p:cond delay="0"/>
                            </p:stCondLst>
                            <p:childTnLst>
                              <p:par>
                                <p:cTn id="142" presetID="1" presetClass="entr" presetSubtype="0" fill="hold" grpId="0" nodeType="clickEffect">
                                  <p:stCondLst>
                                    <p:cond delay="0"/>
                                  </p:stCondLst>
                                  <p:childTnLst>
                                    <p:set>
                                      <p:cBhvr>
                                        <p:cTn id="143" dur="1" fill="hold">
                                          <p:stCondLst>
                                            <p:cond delay="499"/>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44" fill="hold" display="0">
                  <p:stCondLst>
                    <p:cond delay="indefinite"/>
                  </p:stCondLst>
                </p:cTn>
                <p:tgtEl>
                  <p:spTgt spid="2"/>
                </p:tgtEl>
              </p:cMediaNode>
            </p:video>
          </p:childTnLst>
        </p:cTn>
      </p:par>
    </p:tnLst>
    <p:bldLst>
      <p:bldP spid="14" grpId="0" autoUpdateAnimBg="0"/>
      <p:bldP spid="9" grpId="0" animBg="1"/>
      <p:bldP spid="78" grpId="0" animBg="1"/>
      <p:bldP spid="79" grpId="0"/>
      <p:bldP spid="80" grpId="0"/>
      <p:bldP spid="86" grpId="0" animBg="1"/>
      <p:bldP spid="87" grpId="0" autoUpdateAnimBg="0"/>
      <p:bldP spid="88" grpId="0" autoUpdateAnimBg="0"/>
      <p:bldP spid="89" grpId="0" autoUpdateAnimBg="0"/>
      <p:bldP spid="89" grpId="1"/>
      <p:bldP spid="89" grpId="2"/>
      <p:bldP spid="90" grpId="0" animBg="1"/>
      <p:bldP spid="91" grpId="0" autoUpdateAnimBg="0"/>
      <p:bldP spid="97" grpId="0" animBg="1"/>
      <p:bldP spid="98" grpId="0" animBg="1"/>
      <p:bldP spid="108" grpId="0" animBg="1"/>
      <p:bldP spid="108" grpId="1" animBg="1"/>
      <p:bldP spid="108" grpId="2" animBg="1"/>
      <p:bldP spid="109" grpId="0" animBg="1"/>
      <p:bldP spid="109" grpId="1" animBg="1"/>
      <p:bldP spid="109" grpId="2" animBg="1"/>
      <p:bldP spid="110" grpId="0" animBg="1"/>
      <p:bldP spid="110" grpId="1" animBg="1"/>
      <p:bldP spid="110" grpId="2" animBg="1"/>
      <p:bldP spid="110" grpId="3" animBg="1"/>
      <p:bldP spid="111" grpId="0" animBg="1"/>
      <p:bldP spid="111" grpId="1" animBg="1"/>
      <p:bldP spid="111" grpId="2" animBg="1"/>
      <p:bldP spid="111" grpId="3" animBg="1"/>
      <p:bldP spid="112" grpId="0" animBg="1"/>
      <p:bldP spid="112" grpId="1" animBg="1"/>
      <p:bldP spid="113" grpId="0" animBg="1"/>
      <p:bldP spid="148" grpId="0"/>
      <p:bldP spid="114"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14" name="Text Box 1032"/>
          <p:cNvSpPr txBox="1">
            <a:spLocks noChangeArrowheads="1"/>
          </p:cNvSpPr>
          <p:nvPr/>
        </p:nvSpPr>
        <p:spPr bwMode="auto">
          <a:xfrm>
            <a:off x="335361" y="1028223"/>
            <a:ext cx="6912767" cy="581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5000"/>
              </a:lnSpc>
            </a:pPr>
            <a:r>
              <a:rPr lang="zh-CN" altLang="en-US" sz="2800" i="0" dirty="0">
                <a:solidFill>
                  <a:srgbClr val="FF00FF"/>
                </a:solidFill>
                <a:latin typeface="+mj-lt"/>
                <a:ea typeface="微软雅黑" panose="020B0503020204020204" pitchFamily="34" charset="-122"/>
              </a:rPr>
              <a:t>变形几何关系</a:t>
            </a:r>
          </a:p>
        </p:txBody>
      </p:sp>
      <p:sp>
        <p:nvSpPr>
          <p:cNvPr id="9" name="Rectangle 61"/>
          <p:cNvSpPr>
            <a:spLocks noChangeArrowheads="1"/>
          </p:cNvSpPr>
          <p:nvPr/>
        </p:nvSpPr>
        <p:spPr bwMode="auto">
          <a:xfrm>
            <a:off x="7587683" y="836712"/>
            <a:ext cx="4551955" cy="5432837"/>
          </a:xfrm>
          <a:prstGeom prst="rect">
            <a:avLst/>
          </a:prstGeom>
          <a:solidFill>
            <a:srgbClr val="B9CDE5"/>
          </a:solidFill>
          <a:ln>
            <a:noFill/>
          </a:ln>
          <a:effectLst/>
        </p:spPr>
        <p:txBody>
          <a:bodyPr wrap="none" anchor="ctr"/>
          <a:lstStyle/>
          <a:p>
            <a:endParaRPr lang="zh-CN" altLang="en-US"/>
          </a:p>
        </p:txBody>
      </p:sp>
      <p:graphicFrame>
        <p:nvGraphicFramePr>
          <p:cNvPr id="114" name="对象 113"/>
          <p:cNvGraphicFramePr>
            <a:graphicFrameLocks noChangeAspect="1"/>
          </p:cNvGraphicFramePr>
          <p:nvPr>
            <p:extLst>
              <p:ext uri="{D42A27DB-BD31-4B8C-83A1-F6EECF244321}">
                <p14:modId xmlns:p14="http://schemas.microsoft.com/office/powerpoint/2010/main" val="2254156961"/>
              </p:ext>
            </p:extLst>
          </p:nvPr>
        </p:nvGraphicFramePr>
        <p:xfrm>
          <a:off x="7798788" y="956764"/>
          <a:ext cx="4274643" cy="1538986"/>
        </p:xfrm>
        <a:graphic>
          <a:graphicData uri="http://schemas.openxmlformats.org/presentationml/2006/ole">
            <mc:AlternateContent xmlns:mc="http://schemas.openxmlformats.org/markup-compatibility/2006">
              <mc:Choice xmlns:v="urn:schemas-microsoft-com:vml" Requires="v">
                <p:oleObj spid="_x0000_s3077" name="位图图像" r:id="rId4" imgW="5076190" imgH="1828571" progId="PBrush">
                  <p:embed/>
                </p:oleObj>
              </mc:Choice>
              <mc:Fallback>
                <p:oleObj name="位图图像" r:id="rId4" imgW="5076190" imgH="1828571" progId="PBrush">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98788" y="956764"/>
                        <a:ext cx="4274643" cy="1538986"/>
                      </a:xfrm>
                      <a:prstGeom prst="rect">
                        <a:avLst/>
                      </a:prstGeom>
                      <a:noFill/>
                      <a:ln>
                        <a:noFill/>
                      </a:ln>
                      <a:effectLst/>
                    </p:spPr>
                  </p:pic>
                </p:oleObj>
              </mc:Fallback>
            </mc:AlternateContent>
          </a:graphicData>
        </a:graphic>
      </p:graphicFrame>
      <p:grpSp>
        <p:nvGrpSpPr>
          <p:cNvPr id="115" name="组合 114">
            <a:extLst>
              <a:ext uri="{FF2B5EF4-FFF2-40B4-BE49-F238E27FC236}">
                <a16:creationId xmlns:a16="http://schemas.microsoft.com/office/drawing/2014/main" xmlns="" id="{3BA05029-9CA6-460B-A1AB-40029CCE82EB}"/>
              </a:ext>
            </a:extLst>
          </p:cNvPr>
          <p:cNvGrpSpPr/>
          <p:nvPr/>
        </p:nvGrpSpPr>
        <p:grpSpPr>
          <a:xfrm>
            <a:off x="8112224" y="2492896"/>
            <a:ext cx="3694004" cy="1883009"/>
            <a:chOff x="374650" y="1385425"/>
            <a:chExt cx="3694004" cy="1883009"/>
          </a:xfrm>
        </p:grpSpPr>
        <p:grpSp>
          <p:nvGrpSpPr>
            <p:cNvPr id="116" name="组合 115">
              <a:extLst>
                <a:ext uri="{FF2B5EF4-FFF2-40B4-BE49-F238E27FC236}">
                  <a16:creationId xmlns:a16="http://schemas.microsoft.com/office/drawing/2014/main" xmlns="" id="{43B3A78C-DCE6-40FA-8730-6B1F7319C110}"/>
                </a:ext>
              </a:extLst>
            </p:cNvPr>
            <p:cNvGrpSpPr/>
            <p:nvPr/>
          </p:nvGrpSpPr>
          <p:grpSpPr>
            <a:xfrm>
              <a:off x="374650" y="1441215"/>
              <a:ext cx="3694004" cy="1468298"/>
              <a:chOff x="374650" y="1441215"/>
              <a:chExt cx="3694004" cy="1468298"/>
            </a:xfrm>
          </p:grpSpPr>
          <p:grpSp>
            <p:nvGrpSpPr>
              <p:cNvPr id="127" name="组合 126">
                <a:extLst>
                  <a:ext uri="{FF2B5EF4-FFF2-40B4-BE49-F238E27FC236}">
                    <a16:creationId xmlns:a16="http://schemas.microsoft.com/office/drawing/2014/main" xmlns="" id="{8DC6A671-80B3-4AB5-B673-270EA85E4057}"/>
                  </a:ext>
                </a:extLst>
              </p:cNvPr>
              <p:cNvGrpSpPr/>
              <p:nvPr/>
            </p:nvGrpSpPr>
            <p:grpSpPr>
              <a:xfrm>
                <a:off x="374650" y="1441215"/>
                <a:ext cx="3694004" cy="1219200"/>
                <a:chOff x="374650" y="1441215"/>
                <a:chExt cx="3694004" cy="1219200"/>
              </a:xfrm>
            </p:grpSpPr>
            <p:pic>
              <p:nvPicPr>
                <p:cNvPr id="150" name="图片 149">
                  <a:extLst>
                    <a:ext uri="{FF2B5EF4-FFF2-40B4-BE49-F238E27FC236}">
                      <a16:creationId xmlns:a16="http://schemas.microsoft.com/office/drawing/2014/main" xmlns="" id="{34941F38-82C0-4BB5-A4FA-C117DF73CC82}"/>
                    </a:ext>
                  </a:extLst>
                </p:cNvPr>
                <p:cNvPicPr>
                  <a:picLocks noChangeAspect="1"/>
                </p:cNvPicPr>
                <p:nvPr/>
              </p:nvPicPr>
              <p:blipFill>
                <a:blip r:embed="rId6"/>
                <a:stretch>
                  <a:fillRect/>
                </a:stretch>
              </p:blipFill>
              <p:spPr>
                <a:xfrm>
                  <a:off x="374650" y="1441215"/>
                  <a:ext cx="3343275" cy="1219200"/>
                </a:xfrm>
                <a:prstGeom prst="rect">
                  <a:avLst/>
                </a:prstGeom>
              </p:spPr>
            </p:pic>
            <p:sp>
              <p:nvSpPr>
                <p:cNvPr id="151" name="弧形 150">
                  <a:extLst>
                    <a:ext uri="{FF2B5EF4-FFF2-40B4-BE49-F238E27FC236}">
                      <a16:creationId xmlns:a16="http://schemas.microsoft.com/office/drawing/2014/main" xmlns="" id="{34F419DE-988C-49B6-A368-8229B19CD7DD}"/>
                    </a:ext>
                  </a:extLst>
                </p:cNvPr>
                <p:cNvSpPr/>
                <p:nvPr/>
              </p:nvSpPr>
              <p:spPr>
                <a:xfrm rot="13594886">
                  <a:off x="544009" y="1461045"/>
                  <a:ext cx="1173867" cy="1185834"/>
                </a:xfrm>
                <a:prstGeom prst="arc">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2" name="弧形 151">
                  <a:extLst>
                    <a:ext uri="{FF2B5EF4-FFF2-40B4-BE49-F238E27FC236}">
                      <a16:creationId xmlns:a16="http://schemas.microsoft.com/office/drawing/2014/main" xmlns="" id="{4867F09F-3DFD-413B-9DA0-C2E29780D06E}"/>
                    </a:ext>
                  </a:extLst>
                </p:cNvPr>
                <p:cNvSpPr/>
                <p:nvPr/>
              </p:nvSpPr>
              <p:spPr>
                <a:xfrm rot="13594886">
                  <a:off x="2888803" y="1470425"/>
                  <a:ext cx="1173867" cy="1185834"/>
                </a:xfrm>
                <a:prstGeom prst="arc">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53" name="直接箭头连接符 152">
                  <a:extLst>
                    <a:ext uri="{FF2B5EF4-FFF2-40B4-BE49-F238E27FC236}">
                      <a16:creationId xmlns:a16="http://schemas.microsoft.com/office/drawing/2014/main" xmlns="" id="{18A58B2A-B959-4F60-92BE-B265FC6DCAEB}"/>
                    </a:ext>
                  </a:extLst>
                </p:cNvPr>
                <p:cNvCxnSpPr/>
                <p:nvPr/>
              </p:nvCxnSpPr>
              <p:spPr>
                <a:xfrm>
                  <a:off x="3340359" y="2051050"/>
                  <a:ext cx="643812" cy="0"/>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54" name="文本框 40">
                  <a:extLst>
                    <a:ext uri="{FF2B5EF4-FFF2-40B4-BE49-F238E27FC236}">
                      <a16:creationId xmlns:a16="http://schemas.microsoft.com/office/drawing/2014/main" xmlns="" id="{B6DE139E-0286-4260-8255-B2720ED9517C}"/>
                    </a:ext>
                  </a:extLst>
                </p:cNvPr>
                <p:cNvSpPr txBox="1"/>
                <p:nvPr/>
              </p:nvSpPr>
              <p:spPr>
                <a:xfrm>
                  <a:off x="599675" y="2122769"/>
                  <a:ext cx="417102" cy="338554"/>
                </a:xfrm>
                <a:prstGeom prst="rect">
                  <a:avLst/>
                </a:prstGeom>
                <a:noFill/>
              </p:spPr>
              <p:txBody>
                <a:bodyPr wrap="none" rtlCol="0">
                  <a:spAutoFit/>
                </a:bodyPr>
                <a:lstStyle/>
                <a:p>
                  <a:r>
                    <a:rPr lang="en-US" altLang="zh-CN" sz="1600" b="0" i="1" dirty="0">
                      <a:solidFill>
                        <a:srgbClr val="FF0000"/>
                      </a:solidFill>
                      <a:latin typeface="+mn-lt"/>
                    </a:rPr>
                    <a:t>M</a:t>
                  </a:r>
                  <a:r>
                    <a:rPr lang="en-US" altLang="zh-CN" sz="1600" b="0" i="1" baseline="-25000" dirty="0">
                      <a:solidFill>
                        <a:srgbClr val="FF0000"/>
                      </a:solidFill>
                      <a:latin typeface="+mn-lt"/>
                    </a:rPr>
                    <a:t>e</a:t>
                  </a:r>
                  <a:endParaRPr lang="zh-CN" altLang="en-US" sz="1600" b="0" i="1" baseline="-25000" dirty="0">
                    <a:solidFill>
                      <a:srgbClr val="FF0000"/>
                    </a:solidFill>
                    <a:latin typeface="+mn-lt"/>
                  </a:endParaRPr>
                </a:p>
              </p:txBody>
            </p:sp>
            <p:sp>
              <p:nvSpPr>
                <p:cNvPr id="155" name="文本框 40">
                  <a:extLst>
                    <a:ext uri="{FF2B5EF4-FFF2-40B4-BE49-F238E27FC236}">
                      <a16:creationId xmlns:a16="http://schemas.microsoft.com/office/drawing/2014/main" xmlns="" id="{B6DE139E-0286-4260-8255-B2720ED9517C}"/>
                    </a:ext>
                  </a:extLst>
                </p:cNvPr>
                <p:cNvSpPr txBox="1"/>
                <p:nvPr/>
              </p:nvSpPr>
              <p:spPr>
                <a:xfrm>
                  <a:off x="2579895" y="2195515"/>
                  <a:ext cx="417102" cy="338554"/>
                </a:xfrm>
                <a:prstGeom prst="rect">
                  <a:avLst/>
                </a:prstGeom>
                <a:noFill/>
              </p:spPr>
              <p:txBody>
                <a:bodyPr wrap="none" rtlCol="0">
                  <a:spAutoFit/>
                </a:bodyPr>
                <a:lstStyle/>
                <a:p>
                  <a:r>
                    <a:rPr lang="en-US" altLang="zh-CN" sz="1600" b="0" i="1" dirty="0">
                      <a:solidFill>
                        <a:srgbClr val="FF0000"/>
                      </a:solidFill>
                      <a:latin typeface="+mn-lt"/>
                    </a:rPr>
                    <a:t>M</a:t>
                  </a:r>
                  <a:r>
                    <a:rPr lang="en-US" altLang="zh-CN" sz="1600" b="0" i="1" baseline="-25000" dirty="0">
                      <a:solidFill>
                        <a:srgbClr val="FF0000"/>
                      </a:solidFill>
                      <a:latin typeface="+mn-lt"/>
                    </a:rPr>
                    <a:t>e</a:t>
                  </a:r>
                  <a:endParaRPr lang="zh-CN" altLang="en-US" sz="1600" b="0" i="1" baseline="-25000" dirty="0">
                    <a:solidFill>
                      <a:srgbClr val="FF0000"/>
                    </a:solidFill>
                    <a:latin typeface="+mn-lt"/>
                  </a:endParaRPr>
                </a:p>
              </p:txBody>
            </p:sp>
          </p:grpSp>
          <p:cxnSp>
            <p:nvCxnSpPr>
              <p:cNvPr id="128" name="直接连接符 127">
                <a:extLst>
                  <a:ext uri="{FF2B5EF4-FFF2-40B4-BE49-F238E27FC236}">
                    <a16:creationId xmlns:a16="http://schemas.microsoft.com/office/drawing/2014/main" xmlns="" id="{808BBA46-A02D-46D2-83EB-00D1AB6846E3}"/>
                  </a:ext>
                </a:extLst>
              </p:cNvPr>
              <p:cNvCxnSpPr/>
              <p:nvPr/>
            </p:nvCxnSpPr>
            <p:spPr>
              <a:xfrm>
                <a:off x="479872" y="1795722"/>
                <a:ext cx="259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xmlns="" id="{893CEF68-3EB6-4F01-BBD8-708A748734E5}"/>
                  </a:ext>
                </a:extLst>
              </p:cNvPr>
              <p:cNvCxnSpPr/>
              <p:nvPr/>
            </p:nvCxnSpPr>
            <p:spPr>
              <a:xfrm>
                <a:off x="479872" y="1795722"/>
                <a:ext cx="2550073" cy="4616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xmlns="" id="{0F02DA19-25CC-4812-A106-D9E9E82A2FBB}"/>
                  </a:ext>
                </a:extLst>
              </p:cNvPr>
              <p:cNvCxnSpPr>
                <a:cxnSpLocks noChangeAspect="1"/>
              </p:cNvCxnSpPr>
              <p:nvPr/>
            </p:nvCxnSpPr>
            <p:spPr>
              <a:xfrm>
                <a:off x="3051110" y="1795722"/>
                <a:ext cx="289249" cy="2553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xmlns="" id="{CA271767-52E6-4D77-8C03-D4723A2765E0}"/>
                  </a:ext>
                </a:extLst>
              </p:cNvPr>
              <p:cNvCxnSpPr>
                <a:cxnSpLocks/>
              </p:cNvCxnSpPr>
              <p:nvPr/>
            </p:nvCxnSpPr>
            <p:spPr>
              <a:xfrm flipV="1">
                <a:off x="3029945" y="2050817"/>
                <a:ext cx="315615" cy="20657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接箭头连接符 131">
                <a:extLst>
                  <a:ext uri="{FF2B5EF4-FFF2-40B4-BE49-F238E27FC236}">
                    <a16:creationId xmlns:a16="http://schemas.microsoft.com/office/drawing/2014/main" xmlns="" id="{1282A793-ACAF-43CC-963D-842F14F9C2D7}"/>
                  </a:ext>
                </a:extLst>
              </p:cNvPr>
              <p:cNvCxnSpPr>
                <a:cxnSpLocks/>
              </p:cNvCxnSpPr>
              <p:nvPr/>
            </p:nvCxnSpPr>
            <p:spPr>
              <a:xfrm flipV="1">
                <a:off x="3340359" y="1589385"/>
                <a:ext cx="135377" cy="461430"/>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33" name="文本框 30">
                <a:extLst>
                  <a:ext uri="{FF2B5EF4-FFF2-40B4-BE49-F238E27FC236}">
                    <a16:creationId xmlns:a16="http://schemas.microsoft.com/office/drawing/2014/main" xmlns="" id="{14ACC69B-11E0-4A0F-9209-CB6DFBF51E64}"/>
                  </a:ext>
                </a:extLst>
              </p:cNvPr>
              <p:cNvSpPr txBox="1"/>
              <p:nvPr/>
            </p:nvSpPr>
            <p:spPr>
              <a:xfrm>
                <a:off x="2946872" y="1811956"/>
                <a:ext cx="308098" cy="338554"/>
              </a:xfrm>
              <a:prstGeom prst="rect">
                <a:avLst/>
              </a:prstGeom>
              <a:noFill/>
            </p:spPr>
            <p:txBody>
              <a:bodyPr wrap="none" rtlCol="0">
                <a:spAutoFit/>
              </a:bodyPr>
              <a:lstStyle/>
              <a:p>
                <a:r>
                  <a:rPr lang="zh-CN" altLang="en-US" sz="1600" b="0" i="1" dirty="0">
                    <a:solidFill>
                      <a:schemeClr val="tx1"/>
                    </a:solidFill>
                    <a:latin typeface="+mn-lt"/>
                    <a:sym typeface="Symbol"/>
                  </a:rPr>
                  <a:t></a:t>
                </a:r>
                <a:endParaRPr lang="zh-CN" altLang="en-US" b="0" i="1" dirty="0">
                  <a:solidFill>
                    <a:schemeClr val="tx1"/>
                  </a:solidFill>
                  <a:latin typeface="+mn-lt"/>
                </a:endParaRPr>
              </a:p>
            </p:txBody>
          </p:sp>
          <p:sp>
            <p:nvSpPr>
              <p:cNvPr id="134" name="文本框 31">
                <a:extLst>
                  <a:ext uri="{FF2B5EF4-FFF2-40B4-BE49-F238E27FC236}">
                    <a16:creationId xmlns:a16="http://schemas.microsoft.com/office/drawing/2014/main" xmlns="" id="{D6A046CB-40DC-493C-B7D1-12F4C8EB1A74}"/>
                  </a:ext>
                </a:extLst>
              </p:cNvPr>
              <p:cNvSpPr txBox="1"/>
              <p:nvPr/>
            </p:nvSpPr>
            <p:spPr>
              <a:xfrm>
                <a:off x="1409765" y="1664668"/>
                <a:ext cx="269626" cy="338554"/>
              </a:xfrm>
              <a:prstGeom prst="rect">
                <a:avLst/>
              </a:prstGeom>
              <a:noFill/>
            </p:spPr>
            <p:txBody>
              <a:bodyPr wrap="none" rtlCol="0">
                <a:spAutoFit/>
              </a:bodyPr>
              <a:lstStyle/>
              <a:p>
                <a:r>
                  <a:rPr lang="zh-CN" altLang="en-US" sz="1600" b="1" i="1" dirty="0">
                    <a:solidFill>
                      <a:schemeClr val="tx1"/>
                    </a:solidFill>
                    <a:sym typeface="Symbol"/>
                  </a:rPr>
                  <a:t></a:t>
                </a:r>
                <a:endParaRPr lang="zh-CN" altLang="en-US" b="1" i="1" dirty="0">
                  <a:solidFill>
                    <a:schemeClr val="tx1"/>
                  </a:solidFill>
                </a:endParaRPr>
              </a:p>
            </p:txBody>
          </p:sp>
          <p:sp>
            <p:nvSpPr>
              <p:cNvPr id="135" name="文本框 32">
                <a:extLst>
                  <a:ext uri="{FF2B5EF4-FFF2-40B4-BE49-F238E27FC236}">
                    <a16:creationId xmlns:a16="http://schemas.microsoft.com/office/drawing/2014/main" xmlns="" id="{0E492231-5BA3-4B51-A0F5-FE683052F390}"/>
                  </a:ext>
                </a:extLst>
              </p:cNvPr>
              <p:cNvSpPr txBox="1"/>
              <p:nvPr/>
            </p:nvSpPr>
            <p:spPr>
              <a:xfrm>
                <a:off x="3164960" y="1596569"/>
                <a:ext cx="320922" cy="338554"/>
              </a:xfrm>
              <a:prstGeom prst="rect">
                <a:avLst/>
              </a:prstGeom>
              <a:noFill/>
            </p:spPr>
            <p:txBody>
              <a:bodyPr wrap="none" rtlCol="0">
                <a:spAutoFit/>
              </a:bodyPr>
              <a:lstStyle/>
              <a:p>
                <a:r>
                  <a:rPr lang="en-US" altLang="zh-CN" sz="1600" b="0" i="1" dirty="0">
                    <a:solidFill>
                      <a:schemeClr val="tx1"/>
                    </a:solidFill>
                    <a:latin typeface="+mn-lt"/>
                  </a:rPr>
                  <a:t>R</a:t>
                </a:r>
                <a:endParaRPr lang="zh-CN" altLang="en-US" b="0" i="1" dirty="0">
                  <a:solidFill>
                    <a:schemeClr val="tx1"/>
                  </a:solidFill>
                  <a:latin typeface="+mn-lt"/>
                </a:endParaRPr>
              </a:p>
            </p:txBody>
          </p:sp>
          <p:sp>
            <p:nvSpPr>
              <p:cNvPr id="136" name="弧形 135">
                <a:extLst>
                  <a:ext uri="{FF2B5EF4-FFF2-40B4-BE49-F238E27FC236}">
                    <a16:creationId xmlns:a16="http://schemas.microsoft.com/office/drawing/2014/main" xmlns="" id="{67085594-168C-4FAD-9383-6C29126CB152}"/>
                  </a:ext>
                </a:extLst>
              </p:cNvPr>
              <p:cNvSpPr>
                <a:spLocks noChangeAspect="1"/>
              </p:cNvSpPr>
              <p:nvPr/>
            </p:nvSpPr>
            <p:spPr>
              <a:xfrm rot="13478190">
                <a:off x="3204000" y="1944000"/>
                <a:ext cx="180000" cy="180000"/>
              </a:xfrm>
              <a:prstGeom prst="arc">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7" name="弧形 136">
                <a:extLst>
                  <a:ext uri="{FF2B5EF4-FFF2-40B4-BE49-F238E27FC236}">
                    <a16:creationId xmlns:a16="http://schemas.microsoft.com/office/drawing/2014/main" xmlns="" id="{C3B09ECA-478D-4ADF-89C0-16DE7B5C4615}"/>
                  </a:ext>
                </a:extLst>
              </p:cNvPr>
              <p:cNvSpPr>
                <a:spLocks noChangeAspect="1"/>
              </p:cNvSpPr>
              <p:nvPr/>
            </p:nvSpPr>
            <p:spPr>
              <a:xfrm rot="3646572">
                <a:off x="1181024" y="1728000"/>
                <a:ext cx="252000" cy="252000"/>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8" name="文本框 32">
                <a:extLst>
                  <a:ext uri="{FF2B5EF4-FFF2-40B4-BE49-F238E27FC236}">
                    <a16:creationId xmlns:a16="http://schemas.microsoft.com/office/drawing/2014/main" xmlns="" id="{0E492231-5BA3-4B51-A0F5-FE683052F390}"/>
                  </a:ext>
                </a:extLst>
              </p:cNvPr>
              <p:cNvSpPr txBox="1"/>
              <p:nvPr/>
            </p:nvSpPr>
            <p:spPr>
              <a:xfrm>
                <a:off x="3705020" y="1700460"/>
                <a:ext cx="298480" cy="400110"/>
              </a:xfrm>
              <a:prstGeom prst="rect">
                <a:avLst/>
              </a:prstGeom>
              <a:noFill/>
            </p:spPr>
            <p:txBody>
              <a:bodyPr wrap="none" rtlCol="0">
                <a:spAutoFit/>
              </a:bodyPr>
              <a:lstStyle/>
              <a:p>
                <a:r>
                  <a:rPr lang="en-US" altLang="zh-CN" sz="2000" b="0" i="1" dirty="0">
                    <a:solidFill>
                      <a:schemeClr val="tx1"/>
                    </a:solidFill>
                    <a:latin typeface="+mn-lt"/>
                  </a:rPr>
                  <a:t>x</a:t>
                </a:r>
                <a:endParaRPr lang="zh-CN" altLang="en-US" sz="2000" b="0" i="1" dirty="0">
                  <a:solidFill>
                    <a:schemeClr val="tx1"/>
                  </a:solidFill>
                  <a:latin typeface="+mn-lt"/>
                </a:endParaRPr>
              </a:p>
            </p:txBody>
          </p:sp>
          <p:sp>
            <p:nvSpPr>
              <p:cNvPr id="139" name="文本框 32">
                <a:extLst>
                  <a:ext uri="{FF2B5EF4-FFF2-40B4-BE49-F238E27FC236}">
                    <a16:creationId xmlns:a16="http://schemas.microsoft.com/office/drawing/2014/main" xmlns="" id="{0E492231-5BA3-4B51-A0F5-FE683052F390}"/>
                  </a:ext>
                </a:extLst>
              </p:cNvPr>
              <p:cNvSpPr txBox="1"/>
              <p:nvPr/>
            </p:nvSpPr>
            <p:spPr>
              <a:xfrm>
                <a:off x="1274750" y="2472648"/>
                <a:ext cx="309700" cy="430887"/>
              </a:xfrm>
              <a:prstGeom prst="rect">
                <a:avLst/>
              </a:prstGeom>
              <a:noFill/>
            </p:spPr>
            <p:txBody>
              <a:bodyPr wrap="none" rtlCol="0">
                <a:spAutoFit/>
              </a:bodyPr>
              <a:lstStyle/>
              <a:p>
                <a:r>
                  <a:rPr lang="en-US" altLang="zh-CN" sz="2200" b="0" i="1" dirty="0">
                    <a:solidFill>
                      <a:schemeClr val="tx1"/>
                    </a:solidFill>
                    <a:latin typeface="+mn-lt"/>
                  </a:rPr>
                  <a:t>x</a:t>
                </a:r>
                <a:endParaRPr lang="zh-CN" altLang="en-US" sz="2200" b="0" i="1" dirty="0">
                  <a:solidFill>
                    <a:schemeClr val="tx1"/>
                  </a:solidFill>
                  <a:latin typeface="+mn-lt"/>
                </a:endParaRPr>
              </a:p>
            </p:txBody>
          </p:sp>
          <p:sp>
            <p:nvSpPr>
              <p:cNvPr id="149" name="文本框 32">
                <a:extLst>
                  <a:ext uri="{FF2B5EF4-FFF2-40B4-BE49-F238E27FC236}">
                    <a16:creationId xmlns:a16="http://schemas.microsoft.com/office/drawing/2014/main" xmlns="" id="{0E492231-5BA3-4B51-A0F5-FE683052F390}"/>
                  </a:ext>
                </a:extLst>
              </p:cNvPr>
              <p:cNvSpPr txBox="1"/>
              <p:nvPr/>
            </p:nvSpPr>
            <p:spPr>
              <a:xfrm>
                <a:off x="1923870" y="2509403"/>
                <a:ext cx="426720" cy="400110"/>
              </a:xfrm>
              <a:prstGeom prst="rect">
                <a:avLst/>
              </a:prstGeom>
              <a:noFill/>
            </p:spPr>
            <p:txBody>
              <a:bodyPr wrap="none" rtlCol="0">
                <a:spAutoFit/>
              </a:bodyPr>
              <a:lstStyle/>
              <a:p>
                <a:r>
                  <a:rPr lang="en-US" altLang="zh-CN" sz="2000" b="0" i="0" dirty="0">
                    <a:solidFill>
                      <a:schemeClr val="tx1"/>
                    </a:solidFill>
                    <a:latin typeface="+mn-lt"/>
                    <a:sym typeface="Symbol"/>
                  </a:rPr>
                  <a:t>d</a:t>
                </a:r>
                <a:r>
                  <a:rPr lang="en-US" altLang="zh-CN" sz="2000" b="0" i="1" dirty="0">
                    <a:solidFill>
                      <a:schemeClr val="tx1"/>
                    </a:solidFill>
                    <a:latin typeface="+mn-lt"/>
                  </a:rPr>
                  <a:t>x</a:t>
                </a:r>
                <a:endParaRPr lang="zh-CN" altLang="en-US" sz="2000" b="0" i="1" dirty="0">
                  <a:solidFill>
                    <a:schemeClr val="tx1"/>
                  </a:solidFill>
                  <a:latin typeface="+mn-lt"/>
                </a:endParaRPr>
              </a:p>
            </p:txBody>
          </p:sp>
        </p:grpSp>
        <p:sp>
          <p:nvSpPr>
            <p:cNvPr id="117" name="弧形 116">
              <a:extLst>
                <a:ext uri="{FF2B5EF4-FFF2-40B4-BE49-F238E27FC236}">
                  <a16:creationId xmlns:a16="http://schemas.microsoft.com/office/drawing/2014/main" xmlns="" id="{7FB1D2FE-6CC7-463C-8D65-B059A668674B}"/>
                </a:ext>
              </a:extLst>
            </p:cNvPr>
            <p:cNvSpPr>
              <a:spLocks noChangeAspect="1"/>
            </p:cNvSpPr>
            <p:nvPr/>
          </p:nvSpPr>
          <p:spPr>
            <a:xfrm rot="13894247">
              <a:off x="1820360" y="1402769"/>
              <a:ext cx="1440000" cy="1440000"/>
            </a:xfrm>
            <a:prstGeom prst="arc">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8" name="弧形 117">
              <a:extLst>
                <a:ext uri="{FF2B5EF4-FFF2-40B4-BE49-F238E27FC236}">
                  <a16:creationId xmlns:a16="http://schemas.microsoft.com/office/drawing/2014/main" xmlns="" id="{222A5C53-EA06-4270-8964-C9D0C2154D32}"/>
                </a:ext>
              </a:extLst>
            </p:cNvPr>
            <p:cNvSpPr>
              <a:spLocks noChangeAspect="1"/>
            </p:cNvSpPr>
            <p:nvPr/>
          </p:nvSpPr>
          <p:spPr>
            <a:xfrm rot="13894247">
              <a:off x="2184316" y="1385425"/>
              <a:ext cx="1440000" cy="1440000"/>
            </a:xfrm>
            <a:prstGeom prst="arc">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19" name="直接连接符 118">
              <a:extLst>
                <a:ext uri="{FF2B5EF4-FFF2-40B4-BE49-F238E27FC236}">
                  <a16:creationId xmlns:a16="http://schemas.microsoft.com/office/drawing/2014/main" xmlns="" id="{927ECEA4-EE13-4FDA-B29B-4D0C460EF1B4}"/>
                </a:ext>
              </a:extLst>
            </p:cNvPr>
            <p:cNvCxnSpPr/>
            <p:nvPr/>
          </p:nvCxnSpPr>
          <p:spPr>
            <a:xfrm>
              <a:off x="718457" y="2584434"/>
              <a:ext cx="0" cy="68400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xmlns="" id="{35ECBE85-32F2-488C-9401-0D7CE86375B6}"/>
                </a:ext>
              </a:extLst>
            </p:cNvPr>
            <p:cNvCxnSpPr/>
            <p:nvPr/>
          </p:nvCxnSpPr>
          <p:spPr>
            <a:xfrm>
              <a:off x="3392496" y="2567090"/>
              <a:ext cx="0" cy="68400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xmlns="" id="{E949C94C-E16A-45D1-87E7-768CDF2B16FD}"/>
                </a:ext>
              </a:extLst>
            </p:cNvPr>
            <p:cNvCxnSpPr/>
            <p:nvPr/>
          </p:nvCxnSpPr>
          <p:spPr>
            <a:xfrm flipV="1">
              <a:off x="718457" y="3172811"/>
              <a:ext cx="2664000" cy="0"/>
            </a:xfrm>
            <a:prstGeom prst="line">
              <a:avLst/>
            </a:prstGeom>
            <a:ln w="9525">
              <a:solidFill>
                <a:schemeClr val="tx1"/>
              </a:solidFill>
              <a:headEnd type="stealth" w="sm" len="med"/>
              <a:tailEnd type="stealth" w="sm" len="med"/>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xmlns="" id="{6EE92CB7-421B-4AA6-BBAE-E41B40C761FF}"/>
                </a:ext>
              </a:extLst>
            </p:cNvPr>
            <p:cNvCxnSpPr>
              <a:stCxn id="117" idx="0"/>
            </p:cNvCxnSpPr>
            <p:nvPr/>
          </p:nvCxnSpPr>
          <p:spPr>
            <a:xfrm flipH="1">
              <a:off x="1965023" y="2570283"/>
              <a:ext cx="11306" cy="36000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xmlns="" id="{8DDA5598-4246-46E4-9879-9E5F3E7E689C}"/>
                </a:ext>
              </a:extLst>
            </p:cNvPr>
            <p:cNvCxnSpPr/>
            <p:nvPr/>
          </p:nvCxnSpPr>
          <p:spPr>
            <a:xfrm flipH="1">
              <a:off x="2329636" y="2567090"/>
              <a:ext cx="0" cy="36000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xmlns="" id="{B4770E1B-E98D-4213-9F5D-F95C64E62F7D}"/>
                </a:ext>
              </a:extLst>
            </p:cNvPr>
            <p:cNvCxnSpPr/>
            <p:nvPr/>
          </p:nvCxnSpPr>
          <p:spPr>
            <a:xfrm>
              <a:off x="737857" y="2844000"/>
              <a:ext cx="1246565" cy="0"/>
            </a:xfrm>
            <a:prstGeom prst="line">
              <a:avLst/>
            </a:prstGeom>
            <a:ln w="9525">
              <a:solidFill>
                <a:schemeClr val="tx1"/>
              </a:solidFill>
              <a:headEnd type="stealth" w="sm" len="med"/>
              <a:tailEnd type="stealth" w="sm" len="med"/>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xmlns="" id="{87ED680D-F36E-44D0-825E-FA8DBEB9AA16}"/>
                </a:ext>
              </a:extLst>
            </p:cNvPr>
            <p:cNvCxnSpPr/>
            <p:nvPr/>
          </p:nvCxnSpPr>
          <p:spPr>
            <a:xfrm flipH="1">
              <a:off x="1965021" y="2844000"/>
              <a:ext cx="360000" cy="0"/>
            </a:xfrm>
            <a:prstGeom prst="line">
              <a:avLst/>
            </a:prstGeom>
            <a:ln w="9525">
              <a:solidFill>
                <a:schemeClr val="tx1"/>
              </a:solidFill>
              <a:headEnd type="stealth" w="sm" len="med"/>
              <a:tailEnd type="stealth" w="sm"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6" name="文本框 23">
                  <a:extLst>
                    <a:ext uri="{FF2B5EF4-FFF2-40B4-BE49-F238E27FC236}">
                      <a16:creationId xmlns:a16="http://schemas.microsoft.com/office/drawing/2014/main" xmlns="" id="{7B24F2C5-040B-4B6B-AC22-A024B778FEB0}"/>
                    </a:ext>
                  </a:extLst>
                </p:cNvPr>
                <p:cNvSpPr txBox="1"/>
                <p:nvPr/>
              </p:nvSpPr>
              <p:spPr>
                <a:xfrm>
                  <a:off x="1951066" y="2809120"/>
                  <a:ext cx="33868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rPr>
                          <m:t>𝑙</m:t>
                        </m:r>
                      </m:oMath>
                    </m:oMathPara>
                  </a14:m>
                  <a:endParaRPr lang="zh-CN" altLang="en-US" sz="2000" b="0" dirty="0">
                    <a:solidFill>
                      <a:schemeClr val="tx1"/>
                    </a:solidFill>
                  </a:endParaRPr>
                </a:p>
              </p:txBody>
            </p:sp>
          </mc:Choice>
          <mc:Fallback xmlns="">
            <p:sp>
              <p:nvSpPr>
                <p:cNvPr id="126" name="文本框 23">
                  <a:extLst>
                    <a:ext uri="{FF2B5EF4-FFF2-40B4-BE49-F238E27FC236}">
                      <a16:creationId xmlns:a16="http://schemas.microsoft.com/office/drawing/2014/main" xmlns="" xmlns:a14="http://schemas.microsoft.com/office/drawing/2010/main" id="{7B24F2C5-040B-4B6B-AC22-A024B778FEB0}"/>
                    </a:ext>
                  </a:extLst>
                </p:cNvPr>
                <p:cNvSpPr txBox="1">
                  <a:spLocks noRot="1" noChangeAspect="1" noMove="1" noResize="1" noEditPoints="1" noAdjustHandles="1" noChangeArrowheads="1" noChangeShapeType="1" noTextEdit="1"/>
                </p:cNvSpPr>
                <p:nvPr/>
              </p:nvSpPr>
              <p:spPr>
                <a:xfrm>
                  <a:off x="1951066" y="2809120"/>
                  <a:ext cx="338682" cy="400110"/>
                </a:xfrm>
                <a:prstGeom prst="rect">
                  <a:avLst/>
                </a:prstGeom>
                <a:blipFill rotWithShape="0">
                  <a:blip r:embed="rId7"/>
                  <a:stretch>
                    <a:fillRect/>
                  </a:stretch>
                </a:blipFill>
              </p:spPr>
              <p:txBody>
                <a:bodyPr/>
                <a:lstStyle/>
                <a:p>
                  <a:r>
                    <a:rPr lang="zh-CN" altLang="en-US">
                      <a:noFill/>
                    </a:rPr>
                    <a:t> </a:t>
                  </a:r>
                </a:p>
              </p:txBody>
            </p:sp>
          </mc:Fallback>
        </mc:AlternateContent>
      </p:grpSp>
      <p:grpSp>
        <p:nvGrpSpPr>
          <p:cNvPr id="156" name="组合 155"/>
          <p:cNvGrpSpPr/>
          <p:nvPr/>
        </p:nvGrpSpPr>
        <p:grpSpPr>
          <a:xfrm>
            <a:off x="7932204" y="4365104"/>
            <a:ext cx="1721412" cy="1901693"/>
            <a:chOff x="4797025" y="4047587"/>
            <a:chExt cx="1721412" cy="1901693"/>
          </a:xfrm>
        </p:grpSpPr>
        <p:sp>
          <p:nvSpPr>
            <p:cNvPr id="157" name="流程图: 直接访问存储器 156">
              <a:extLst>
                <a:ext uri="{FF2B5EF4-FFF2-40B4-BE49-F238E27FC236}">
                  <a16:creationId xmlns:a16="http://schemas.microsoft.com/office/drawing/2014/main" xmlns="" id="{F3739342-4B0E-4259-B34A-9030AD5657C0}"/>
                </a:ext>
              </a:extLst>
            </p:cNvPr>
            <p:cNvSpPr/>
            <p:nvPr/>
          </p:nvSpPr>
          <p:spPr>
            <a:xfrm>
              <a:off x="4797025" y="4047587"/>
              <a:ext cx="1457496" cy="1548875"/>
            </a:xfrm>
            <a:prstGeom prst="flowChartMagneticDrum">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8" name="直接连接符 157">
              <a:extLst>
                <a:ext uri="{FF2B5EF4-FFF2-40B4-BE49-F238E27FC236}">
                  <a16:creationId xmlns:a16="http://schemas.microsoft.com/office/drawing/2014/main" xmlns="" id="{3F73D31E-0E4F-4FE2-ABE2-64D22F4C9C69}"/>
                </a:ext>
              </a:extLst>
            </p:cNvPr>
            <p:cNvCxnSpPr/>
            <p:nvPr/>
          </p:nvCxnSpPr>
          <p:spPr>
            <a:xfrm>
              <a:off x="5022408" y="5596462"/>
              <a:ext cx="0" cy="352818"/>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9" name="直接连接符 158">
              <a:extLst>
                <a:ext uri="{FF2B5EF4-FFF2-40B4-BE49-F238E27FC236}">
                  <a16:creationId xmlns:a16="http://schemas.microsoft.com/office/drawing/2014/main" xmlns="" id="{06186B39-EFF7-4D7A-9022-C2061C94B605}"/>
                </a:ext>
              </a:extLst>
            </p:cNvPr>
            <p:cNvCxnSpPr/>
            <p:nvPr/>
          </p:nvCxnSpPr>
          <p:spPr>
            <a:xfrm>
              <a:off x="6014873" y="5596462"/>
              <a:ext cx="0" cy="352818"/>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0" name="文本框 46">
              <a:extLst>
                <a:ext uri="{FF2B5EF4-FFF2-40B4-BE49-F238E27FC236}">
                  <a16:creationId xmlns:a16="http://schemas.microsoft.com/office/drawing/2014/main" xmlns="" id="{9D593D89-C26B-434E-B392-65EBD7FE261C}"/>
                </a:ext>
              </a:extLst>
            </p:cNvPr>
            <p:cNvSpPr txBox="1"/>
            <p:nvPr/>
          </p:nvSpPr>
          <p:spPr>
            <a:xfrm>
              <a:off x="5261029" y="5567340"/>
              <a:ext cx="378630" cy="338554"/>
            </a:xfrm>
            <a:prstGeom prst="rect">
              <a:avLst/>
            </a:prstGeom>
            <a:noFill/>
          </p:spPr>
          <p:txBody>
            <a:bodyPr wrap="none" rtlCol="0">
              <a:spAutoFit/>
            </a:bodyPr>
            <a:lstStyle/>
            <a:p>
              <a:r>
                <a:rPr lang="en-US" altLang="zh-CN" sz="1600" b="0" i="0" dirty="0">
                  <a:solidFill>
                    <a:schemeClr val="tx1"/>
                  </a:solidFill>
                  <a:sym typeface="Symbol"/>
                </a:rPr>
                <a:t>d</a:t>
              </a:r>
              <a:r>
                <a:rPr lang="en-US" altLang="zh-CN" sz="1600" b="0" i="1" dirty="0">
                  <a:solidFill>
                    <a:schemeClr val="tx1"/>
                  </a:solidFill>
                  <a:latin typeface="+mn-lt"/>
                  <a:sym typeface="Symbol"/>
                </a:rPr>
                <a:t>x</a:t>
              </a:r>
              <a:endParaRPr lang="zh-CN" altLang="en-US" sz="1600" b="0" i="1" dirty="0">
                <a:solidFill>
                  <a:schemeClr val="tx1"/>
                </a:solidFill>
                <a:latin typeface="+mn-lt"/>
              </a:endParaRPr>
            </a:p>
          </p:txBody>
        </p:sp>
        <p:cxnSp>
          <p:nvCxnSpPr>
            <p:cNvPr id="161" name="直接连接符 160">
              <a:extLst>
                <a:ext uri="{FF2B5EF4-FFF2-40B4-BE49-F238E27FC236}">
                  <a16:creationId xmlns:a16="http://schemas.microsoft.com/office/drawing/2014/main" xmlns="" id="{C74A3805-848C-49D5-A32D-31D524BA9575}"/>
                </a:ext>
              </a:extLst>
            </p:cNvPr>
            <p:cNvCxnSpPr/>
            <p:nvPr/>
          </p:nvCxnSpPr>
          <p:spPr>
            <a:xfrm>
              <a:off x="5024066" y="5881099"/>
              <a:ext cx="1008000" cy="0"/>
            </a:xfrm>
            <a:prstGeom prst="line">
              <a:avLst/>
            </a:prstGeom>
            <a:ln w="9525">
              <a:solidFill>
                <a:schemeClr val="tx1"/>
              </a:solidFill>
              <a:headEnd type="stealth" w="sm" len="med"/>
              <a:tailEnd type="stealth" w="sm" len="med"/>
            </a:ln>
          </p:spPr>
          <p:style>
            <a:lnRef idx="1">
              <a:schemeClr val="accent1"/>
            </a:lnRef>
            <a:fillRef idx="0">
              <a:schemeClr val="accent1"/>
            </a:fillRef>
            <a:effectRef idx="0">
              <a:schemeClr val="accent1"/>
            </a:effectRef>
            <a:fontRef idx="minor">
              <a:schemeClr val="tx1"/>
            </a:fontRef>
          </p:style>
        </p:cxnSp>
        <p:sp>
          <p:nvSpPr>
            <p:cNvPr id="162" name="椭圆 161">
              <a:extLst>
                <a:ext uri="{FF2B5EF4-FFF2-40B4-BE49-F238E27FC236}">
                  <a16:creationId xmlns:a16="http://schemas.microsoft.com/office/drawing/2014/main" xmlns="" id="{5DC8C96D-7EEE-4960-8DA4-AB595C1A973B}"/>
                </a:ext>
              </a:extLst>
            </p:cNvPr>
            <p:cNvSpPr/>
            <p:nvPr/>
          </p:nvSpPr>
          <p:spPr>
            <a:xfrm>
              <a:off x="5861920" y="4209536"/>
              <a:ext cx="289492" cy="121297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3" name="直接箭头连接符 162">
              <a:extLst>
                <a:ext uri="{FF2B5EF4-FFF2-40B4-BE49-F238E27FC236}">
                  <a16:creationId xmlns:a16="http://schemas.microsoft.com/office/drawing/2014/main" xmlns="" id="{1D0B72AB-31C0-4CCC-A37F-C16BA0B0944C}"/>
                </a:ext>
              </a:extLst>
            </p:cNvPr>
            <p:cNvCxnSpPr/>
            <p:nvPr/>
          </p:nvCxnSpPr>
          <p:spPr>
            <a:xfrm>
              <a:off x="6014873" y="4806695"/>
              <a:ext cx="432000" cy="0"/>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64" name="直接箭头连接符 163">
              <a:extLst>
                <a:ext uri="{FF2B5EF4-FFF2-40B4-BE49-F238E27FC236}">
                  <a16:creationId xmlns:a16="http://schemas.microsoft.com/office/drawing/2014/main" xmlns="" id="{589B430A-147C-4072-AC31-B1E18BCFCB3E}"/>
                </a:ext>
              </a:extLst>
            </p:cNvPr>
            <p:cNvCxnSpPr>
              <a:cxnSpLocks/>
              <a:endCxn id="162" idx="7"/>
            </p:cNvCxnSpPr>
            <p:nvPr/>
          </p:nvCxnSpPr>
          <p:spPr>
            <a:xfrm flipV="1">
              <a:off x="6011730" y="4387173"/>
              <a:ext cx="97287" cy="419524"/>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65" name="文本框 52">
              <a:extLst>
                <a:ext uri="{FF2B5EF4-FFF2-40B4-BE49-F238E27FC236}">
                  <a16:creationId xmlns:a16="http://schemas.microsoft.com/office/drawing/2014/main" xmlns="" id="{EB49FC64-FBFF-4748-A73D-0062A4E46BBA}"/>
                </a:ext>
              </a:extLst>
            </p:cNvPr>
            <p:cNvSpPr txBox="1"/>
            <p:nvPr/>
          </p:nvSpPr>
          <p:spPr>
            <a:xfrm>
              <a:off x="5832140" y="4395591"/>
              <a:ext cx="296876" cy="338554"/>
            </a:xfrm>
            <a:prstGeom prst="rect">
              <a:avLst/>
            </a:prstGeom>
            <a:noFill/>
          </p:spPr>
          <p:txBody>
            <a:bodyPr wrap="none" rtlCol="0">
              <a:spAutoFit/>
            </a:bodyPr>
            <a:lstStyle/>
            <a:p>
              <a:r>
                <a:rPr lang="zh-CN" altLang="en-US" sz="1600" b="0" i="1" dirty="0">
                  <a:solidFill>
                    <a:schemeClr val="tx1"/>
                  </a:solidFill>
                  <a:latin typeface="+mn-lt"/>
                  <a:ea typeface="+mj-ea"/>
                  <a:sym typeface="Symbol"/>
                </a:rPr>
                <a:t></a:t>
              </a:r>
              <a:endParaRPr lang="zh-CN" altLang="en-US" sz="1600" b="0" i="1" dirty="0">
                <a:solidFill>
                  <a:schemeClr val="tx1"/>
                </a:solidFill>
                <a:latin typeface="+mn-lt"/>
                <a:ea typeface="+mj-ea"/>
              </a:endParaRPr>
            </a:p>
          </p:txBody>
        </p:sp>
        <p:sp>
          <p:nvSpPr>
            <p:cNvPr id="166" name="文本框 32">
              <a:extLst>
                <a:ext uri="{FF2B5EF4-FFF2-40B4-BE49-F238E27FC236}">
                  <a16:creationId xmlns:a16="http://schemas.microsoft.com/office/drawing/2014/main" xmlns="" id="{0E492231-5BA3-4B51-A0F5-FE683052F390}"/>
                </a:ext>
              </a:extLst>
            </p:cNvPr>
            <p:cNvSpPr txBox="1"/>
            <p:nvPr/>
          </p:nvSpPr>
          <p:spPr>
            <a:xfrm>
              <a:off x="6219957" y="4464115"/>
              <a:ext cx="298480" cy="400110"/>
            </a:xfrm>
            <a:prstGeom prst="rect">
              <a:avLst/>
            </a:prstGeom>
            <a:noFill/>
          </p:spPr>
          <p:txBody>
            <a:bodyPr wrap="none" rtlCol="0">
              <a:spAutoFit/>
            </a:bodyPr>
            <a:lstStyle/>
            <a:p>
              <a:r>
                <a:rPr lang="en-US" altLang="zh-CN" sz="2000" b="0" i="1" dirty="0">
                  <a:solidFill>
                    <a:schemeClr val="tx1"/>
                  </a:solidFill>
                  <a:latin typeface="+mn-lt"/>
                </a:rPr>
                <a:t>x</a:t>
              </a:r>
              <a:endParaRPr lang="zh-CN" altLang="en-US" sz="2000" b="0" i="1" dirty="0">
                <a:solidFill>
                  <a:schemeClr val="tx1"/>
                </a:solidFill>
                <a:latin typeface="+mn-lt"/>
              </a:endParaRPr>
            </a:p>
          </p:txBody>
        </p:sp>
      </p:grpSp>
      <p:grpSp>
        <p:nvGrpSpPr>
          <p:cNvPr id="167" name="组合 166"/>
          <p:cNvGrpSpPr/>
          <p:nvPr/>
        </p:nvGrpSpPr>
        <p:grpSpPr>
          <a:xfrm>
            <a:off x="10017200" y="4525151"/>
            <a:ext cx="1726257" cy="1516382"/>
            <a:chOff x="6789628" y="4148261"/>
            <a:chExt cx="1726257" cy="1516382"/>
          </a:xfrm>
        </p:grpSpPr>
        <p:sp>
          <p:nvSpPr>
            <p:cNvPr id="168" name="流程图: 直接访问存储器 167">
              <a:extLst>
                <a:ext uri="{FF2B5EF4-FFF2-40B4-BE49-F238E27FC236}">
                  <a16:creationId xmlns:a16="http://schemas.microsoft.com/office/drawing/2014/main" xmlns="" id="{2B928A70-A314-4C69-A512-9A30EB65CAE8}"/>
                </a:ext>
              </a:extLst>
            </p:cNvPr>
            <p:cNvSpPr/>
            <p:nvPr/>
          </p:nvSpPr>
          <p:spPr>
            <a:xfrm>
              <a:off x="6789628" y="4148261"/>
              <a:ext cx="1457496" cy="1175260"/>
            </a:xfrm>
            <a:prstGeom prst="flowChartMagneticDrum">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9" name="直接连接符 168">
              <a:extLst>
                <a:ext uri="{FF2B5EF4-FFF2-40B4-BE49-F238E27FC236}">
                  <a16:creationId xmlns:a16="http://schemas.microsoft.com/office/drawing/2014/main" xmlns="" id="{B9FE29B1-CF28-4496-B88C-50EB67F0F6D9}"/>
                </a:ext>
              </a:extLst>
            </p:cNvPr>
            <p:cNvCxnSpPr/>
            <p:nvPr/>
          </p:nvCxnSpPr>
          <p:spPr>
            <a:xfrm>
              <a:off x="6789628" y="4526131"/>
              <a:ext cx="99837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xmlns="" id="{B05D7F9B-2E60-43D1-A848-2D8F1B6B3F94}"/>
                </a:ext>
              </a:extLst>
            </p:cNvPr>
            <p:cNvCxnSpPr>
              <a:cxnSpLocks/>
            </p:cNvCxnSpPr>
            <p:nvPr/>
          </p:nvCxnSpPr>
          <p:spPr>
            <a:xfrm>
              <a:off x="6800118" y="4547201"/>
              <a:ext cx="979913" cy="3568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1" name="弧形 170">
              <a:extLst>
                <a:ext uri="{FF2B5EF4-FFF2-40B4-BE49-F238E27FC236}">
                  <a16:creationId xmlns:a16="http://schemas.microsoft.com/office/drawing/2014/main" xmlns="" id="{08BBA612-DE36-49B7-8DD9-E758E191E251}"/>
                </a:ext>
              </a:extLst>
            </p:cNvPr>
            <p:cNvSpPr>
              <a:spLocks noChangeAspect="1"/>
            </p:cNvSpPr>
            <p:nvPr/>
          </p:nvSpPr>
          <p:spPr>
            <a:xfrm rot="3646572">
              <a:off x="7047749" y="4464589"/>
              <a:ext cx="252000" cy="252000"/>
            </a:xfrm>
            <a:prstGeom prst="arc">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72" name="直接连接符 171">
              <a:extLst>
                <a:ext uri="{FF2B5EF4-FFF2-40B4-BE49-F238E27FC236}">
                  <a16:creationId xmlns:a16="http://schemas.microsoft.com/office/drawing/2014/main" xmlns="" id="{38C7C4CC-B63F-4AA4-8741-09CBDB61523A}"/>
                </a:ext>
              </a:extLst>
            </p:cNvPr>
            <p:cNvCxnSpPr/>
            <p:nvPr/>
          </p:nvCxnSpPr>
          <p:spPr>
            <a:xfrm>
              <a:off x="7780031" y="4526131"/>
              <a:ext cx="256602" cy="21909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xmlns="" id="{915FB728-FE35-4F23-A334-DD5CBE5935E8}"/>
                </a:ext>
              </a:extLst>
            </p:cNvPr>
            <p:cNvCxnSpPr/>
            <p:nvPr/>
          </p:nvCxnSpPr>
          <p:spPr>
            <a:xfrm flipV="1">
              <a:off x="7761498" y="4745221"/>
              <a:ext cx="275135" cy="15878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4" name="弧形 173">
              <a:extLst>
                <a:ext uri="{FF2B5EF4-FFF2-40B4-BE49-F238E27FC236}">
                  <a16:creationId xmlns:a16="http://schemas.microsoft.com/office/drawing/2014/main" xmlns="" id="{319CD487-3A60-4882-A1E2-824D006DCE9A}"/>
                </a:ext>
              </a:extLst>
            </p:cNvPr>
            <p:cNvSpPr>
              <a:spLocks noChangeAspect="1"/>
            </p:cNvSpPr>
            <p:nvPr/>
          </p:nvSpPr>
          <p:spPr>
            <a:xfrm rot="13478190">
              <a:off x="7858647" y="4592558"/>
              <a:ext cx="252000" cy="252000"/>
            </a:xfrm>
            <a:prstGeom prst="arc">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5" name="文本框 32">
              <a:extLst>
                <a:ext uri="{FF2B5EF4-FFF2-40B4-BE49-F238E27FC236}">
                  <a16:creationId xmlns:a16="http://schemas.microsoft.com/office/drawing/2014/main" xmlns="" id="{0E492231-5BA3-4B51-A0F5-FE683052F390}"/>
                </a:ext>
              </a:extLst>
            </p:cNvPr>
            <p:cNvSpPr txBox="1"/>
            <p:nvPr/>
          </p:nvSpPr>
          <p:spPr>
            <a:xfrm>
              <a:off x="8217405" y="4342509"/>
              <a:ext cx="298480" cy="400110"/>
            </a:xfrm>
            <a:prstGeom prst="rect">
              <a:avLst/>
            </a:prstGeom>
            <a:noFill/>
          </p:spPr>
          <p:txBody>
            <a:bodyPr wrap="none" rtlCol="0">
              <a:spAutoFit/>
            </a:bodyPr>
            <a:lstStyle/>
            <a:p>
              <a:r>
                <a:rPr lang="en-US" altLang="zh-CN" sz="2000" b="0" i="1" dirty="0">
                  <a:solidFill>
                    <a:schemeClr val="tx1"/>
                  </a:solidFill>
                  <a:latin typeface="+mn-lt"/>
                </a:rPr>
                <a:t>x</a:t>
              </a:r>
              <a:endParaRPr lang="zh-CN" altLang="en-US" sz="2000" b="0" i="1" dirty="0">
                <a:solidFill>
                  <a:schemeClr val="tx1"/>
                </a:solidFill>
                <a:latin typeface="+mn-lt"/>
              </a:endParaRPr>
            </a:p>
          </p:txBody>
        </p:sp>
        <p:cxnSp>
          <p:nvCxnSpPr>
            <p:cNvPr id="176" name="直接箭头连接符 175">
              <a:extLst>
                <a:ext uri="{FF2B5EF4-FFF2-40B4-BE49-F238E27FC236}">
                  <a16:creationId xmlns:a16="http://schemas.microsoft.com/office/drawing/2014/main" xmlns="" id="{1D0B72AB-31C0-4CCC-A37F-C16BA0B0944C}"/>
                </a:ext>
              </a:extLst>
            </p:cNvPr>
            <p:cNvCxnSpPr/>
            <p:nvPr/>
          </p:nvCxnSpPr>
          <p:spPr>
            <a:xfrm>
              <a:off x="8036633" y="4746616"/>
              <a:ext cx="432000" cy="0"/>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77" name="直接箭头连接符 176">
              <a:extLst>
                <a:ext uri="{FF2B5EF4-FFF2-40B4-BE49-F238E27FC236}">
                  <a16:creationId xmlns:a16="http://schemas.microsoft.com/office/drawing/2014/main" xmlns="" id="{589B430A-147C-4072-AC31-B1E18BCFCB3E}"/>
                </a:ext>
              </a:extLst>
            </p:cNvPr>
            <p:cNvCxnSpPr>
              <a:cxnSpLocks/>
            </p:cNvCxnSpPr>
            <p:nvPr/>
          </p:nvCxnSpPr>
          <p:spPr>
            <a:xfrm flipV="1">
              <a:off x="8033490" y="4270840"/>
              <a:ext cx="129345" cy="475778"/>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78" name="文本框 52">
              <a:extLst>
                <a:ext uri="{FF2B5EF4-FFF2-40B4-BE49-F238E27FC236}">
                  <a16:creationId xmlns:a16="http://schemas.microsoft.com/office/drawing/2014/main" xmlns="" id="{EB49FC64-FBFF-4748-A73D-0062A4E46BBA}"/>
                </a:ext>
              </a:extLst>
            </p:cNvPr>
            <p:cNvSpPr txBox="1"/>
            <p:nvPr/>
          </p:nvSpPr>
          <p:spPr>
            <a:xfrm>
              <a:off x="7857365" y="4284095"/>
              <a:ext cx="296876" cy="338554"/>
            </a:xfrm>
            <a:prstGeom prst="rect">
              <a:avLst/>
            </a:prstGeom>
            <a:noFill/>
          </p:spPr>
          <p:txBody>
            <a:bodyPr wrap="none" rtlCol="0">
              <a:spAutoFit/>
            </a:bodyPr>
            <a:lstStyle/>
            <a:p>
              <a:r>
                <a:rPr lang="zh-CN" altLang="en-US" sz="1600" b="0" i="1" dirty="0">
                  <a:solidFill>
                    <a:schemeClr val="tx1"/>
                  </a:solidFill>
                  <a:latin typeface="+mn-lt"/>
                  <a:ea typeface="+mj-ea"/>
                  <a:sym typeface="Symbol"/>
                </a:rPr>
                <a:t></a:t>
              </a:r>
              <a:endParaRPr lang="zh-CN" altLang="en-US" sz="1600" b="0" i="1" dirty="0">
                <a:solidFill>
                  <a:schemeClr val="tx1"/>
                </a:solidFill>
                <a:latin typeface="+mn-lt"/>
                <a:ea typeface="+mj-ea"/>
              </a:endParaRPr>
            </a:p>
          </p:txBody>
        </p:sp>
        <p:cxnSp>
          <p:nvCxnSpPr>
            <p:cNvPr id="179" name="直接连接符 178">
              <a:extLst>
                <a:ext uri="{FF2B5EF4-FFF2-40B4-BE49-F238E27FC236}">
                  <a16:creationId xmlns:a16="http://schemas.microsoft.com/office/drawing/2014/main" xmlns="" id="{3F73D31E-0E4F-4FE2-ABE2-64D22F4C9C69}"/>
                </a:ext>
              </a:extLst>
            </p:cNvPr>
            <p:cNvCxnSpPr/>
            <p:nvPr/>
          </p:nvCxnSpPr>
          <p:spPr>
            <a:xfrm>
              <a:off x="7009350" y="5311825"/>
              <a:ext cx="0" cy="352818"/>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0" name="直接连接符 179">
              <a:extLst>
                <a:ext uri="{FF2B5EF4-FFF2-40B4-BE49-F238E27FC236}">
                  <a16:creationId xmlns:a16="http://schemas.microsoft.com/office/drawing/2014/main" xmlns="" id="{06186B39-EFF7-4D7A-9022-C2061C94B605}"/>
                </a:ext>
              </a:extLst>
            </p:cNvPr>
            <p:cNvCxnSpPr/>
            <p:nvPr/>
          </p:nvCxnSpPr>
          <p:spPr>
            <a:xfrm>
              <a:off x="8001815" y="5311825"/>
              <a:ext cx="0" cy="352818"/>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1" name="文本框 46">
              <a:extLst>
                <a:ext uri="{FF2B5EF4-FFF2-40B4-BE49-F238E27FC236}">
                  <a16:creationId xmlns:a16="http://schemas.microsoft.com/office/drawing/2014/main" xmlns="" id="{9D593D89-C26B-434E-B392-65EBD7FE261C}"/>
                </a:ext>
              </a:extLst>
            </p:cNvPr>
            <p:cNvSpPr txBox="1"/>
            <p:nvPr/>
          </p:nvSpPr>
          <p:spPr>
            <a:xfrm>
              <a:off x="7247971" y="5282703"/>
              <a:ext cx="378630" cy="338554"/>
            </a:xfrm>
            <a:prstGeom prst="rect">
              <a:avLst/>
            </a:prstGeom>
            <a:noFill/>
          </p:spPr>
          <p:txBody>
            <a:bodyPr wrap="none" rtlCol="0">
              <a:spAutoFit/>
            </a:bodyPr>
            <a:lstStyle/>
            <a:p>
              <a:r>
                <a:rPr lang="en-US" altLang="zh-CN" sz="1600" b="0" i="0" dirty="0">
                  <a:solidFill>
                    <a:schemeClr val="tx1"/>
                  </a:solidFill>
                  <a:sym typeface="Symbol"/>
                </a:rPr>
                <a:t>d</a:t>
              </a:r>
              <a:r>
                <a:rPr lang="en-US" altLang="zh-CN" sz="1600" b="0" i="1" dirty="0">
                  <a:solidFill>
                    <a:schemeClr val="tx1"/>
                  </a:solidFill>
                  <a:latin typeface="+mn-lt"/>
                  <a:sym typeface="Symbol"/>
                </a:rPr>
                <a:t>x</a:t>
              </a:r>
              <a:endParaRPr lang="zh-CN" altLang="en-US" sz="1600" b="0" i="1" dirty="0">
                <a:solidFill>
                  <a:schemeClr val="tx1"/>
                </a:solidFill>
                <a:latin typeface="+mn-lt"/>
              </a:endParaRPr>
            </a:p>
          </p:txBody>
        </p:sp>
        <p:cxnSp>
          <p:nvCxnSpPr>
            <p:cNvPr id="182" name="直接连接符 181">
              <a:extLst>
                <a:ext uri="{FF2B5EF4-FFF2-40B4-BE49-F238E27FC236}">
                  <a16:creationId xmlns:a16="http://schemas.microsoft.com/office/drawing/2014/main" xmlns="" id="{C74A3805-848C-49D5-A32D-31D524BA9575}"/>
                </a:ext>
              </a:extLst>
            </p:cNvPr>
            <p:cNvCxnSpPr/>
            <p:nvPr/>
          </p:nvCxnSpPr>
          <p:spPr>
            <a:xfrm>
              <a:off x="7011008" y="5596462"/>
              <a:ext cx="1008000" cy="0"/>
            </a:xfrm>
            <a:prstGeom prst="line">
              <a:avLst/>
            </a:prstGeom>
            <a:ln w="9525">
              <a:solidFill>
                <a:schemeClr val="tx1"/>
              </a:solidFill>
              <a:headEnd type="stealth" w="sm" len="med"/>
              <a:tailEnd type="stealth" w="sm" len="med"/>
            </a:ln>
          </p:spPr>
          <p:style>
            <a:lnRef idx="1">
              <a:schemeClr val="accent1"/>
            </a:lnRef>
            <a:fillRef idx="0">
              <a:schemeClr val="accent1"/>
            </a:fillRef>
            <a:effectRef idx="0">
              <a:schemeClr val="accent1"/>
            </a:effectRef>
            <a:fontRef idx="minor">
              <a:schemeClr val="tx1"/>
            </a:fontRef>
          </p:style>
        </p:cxnSp>
        <p:sp>
          <p:nvSpPr>
            <p:cNvPr id="183" name="文本框 46">
              <a:extLst>
                <a:ext uri="{FF2B5EF4-FFF2-40B4-BE49-F238E27FC236}">
                  <a16:creationId xmlns:a16="http://schemas.microsoft.com/office/drawing/2014/main" xmlns="" id="{9D593D89-C26B-434E-B392-65EBD7FE261C}"/>
                </a:ext>
              </a:extLst>
            </p:cNvPr>
            <p:cNvSpPr txBox="1"/>
            <p:nvPr/>
          </p:nvSpPr>
          <p:spPr>
            <a:xfrm>
              <a:off x="7829717" y="4708955"/>
              <a:ext cx="410690" cy="338554"/>
            </a:xfrm>
            <a:prstGeom prst="rect">
              <a:avLst/>
            </a:prstGeom>
            <a:noFill/>
          </p:spPr>
          <p:txBody>
            <a:bodyPr wrap="none" rtlCol="0">
              <a:spAutoFit/>
            </a:bodyPr>
            <a:lstStyle/>
            <a:p>
              <a:r>
                <a:rPr lang="en-US" altLang="zh-CN" sz="1600" b="0" i="0" dirty="0">
                  <a:solidFill>
                    <a:schemeClr val="tx1"/>
                  </a:solidFill>
                  <a:sym typeface="Symbol"/>
                </a:rPr>
                <a:t>d</a:t>
              </a:r>
              <a:r>
                <a:rPr lang="en-US" altLang="zh-CN" sz="1600" b="0" i="1" dirty="0">
                  <a:solidFill>
                    <a:schemeClr val="tx1"/>
                  </a:solidFill>
                  <a:latin typeface="+mn-lt"/>
                  <a:sym typeface="Symbol"/>
                </a:rPr>
                <a:t></a:t>
              </a:r>
              <a:endParaRPr lang="zh-CN" altLang="en-US" sz="1600" b="0" i="1" dirty="0">
                <a:solidFill>
                  <a:schemeClr val="tx1"/>
                </a:solidFill>
                <a:latin typeface="+mn-lt"/>
              </a:endParaRPr>
            </a:p>
          </p:txBody>
        </p:sp>
        <p:sp>
          <p:nvSpPr>
            <p:cNvPr id="184" name="文本框 46">
              <a:extLst>
                <a:ext uri="{FF2B5EF4-FFF2-40B4-BE49-F238E27FC236}">
                  <a16:creationId xmlns:a16="http://schemas.microsoft.com/office/drawing/2014/main" xmlns="" id="{9D593D89-C26B-434E-B392-65EBD7FE261C}"/>
                </a:ext>
              </a:extLst>
            </p:cNvPr>
            <p:cNvSpPr txBox="1"/>
            <p:nvPr/>
          </p:nvSpPr>
          <p:spPr>
            <a:xfrm>
              <a:off x="7208476" y="4419110"/>
              <a:ext cx="378859" cy="338554"/>
            </a:xfrm>
            <a:prstGeom prst="rect">
              <a:avLst/>
            </a:prstGeom>
            <a:noFill/>
          </p:spPr>
          <p:txBody>
            <a:bodyPr wrap="square" rtlCol="0">
              <a:spAutoFit/>
            </a:bodyPr>
            <a:lstStyle/>
            <a:p>
              <a:r>
                <a:rPr lang="zh-CN" altLang="en-US" sz="1600" b="0" i="1" dirty="0">
                  <a:solidFill>
                    <a:schemeClr val="tx1"/>
                  </a:solidFill>
                  <a:sym typeface="Symbol"/>
                </a:rPr>
                <a:t></a:t>
              </a:r>
              <a:r>
                <a:rPr lang="zh-CN" altLang="en-US" sz="1600" b="0" i="1" baseline="-25000" dirty="0">
                  <a:solidFill>
                    <a:schemeClr val="tx1"/>
                  </a:solidFill>
                  <a:sym typeface="Symbol"/>
                </a:rPr>
                <a:t></a:t>
              </a:r>
              <a:endParaRPr lang="zh-CN" altLang="en-US" sz="1600" b="0" i="1" baseline="-25000" dirty="0">
                <a:solidFill>
                  <a:schemeClr val="tx1"/>
                </a:solidFill>
                <a:latin typeface="+mn-lt"/>
              </a:endParaRPr>
            </a:p>
          </p:txBody>
        </p:sp>
      </p:grpSp>
      <p:graphicFrame>
        <p:nvGraphicFramePr>
          <p:cNvPr id="185" name="对象 184"/>
          <p:cNvGraphicFramePr>
            <a:graphicFrameLocks noChangeAspect="1"/>
          </p:cNvGraphicFramePr>
          <p:nvPr>
            <p:extLst>
              <p:ext uri="{D42A27DB-BD31-4B8C-83A1-F6EECF244321}">
                <p14:modId xmlns:p14="http://schemas.microsoft.com/office/powerpoint/2010/main" val="1066070580"/>
              </p:ext>
            </p:extLst>
          </p:nvPr>
        </p:nvGraphicFramePr>
        <p:xfrm>
          <a:off x="1559496" y="1616946"/>
          <a:ext cx="2607027" cy="878803"/>
        </p:xfrm>
        <a:graphic>
          <a:graphicData uri="http://schemas.openxmlformats.org/presentationml/2006/ole">
            <mc:AlternateContent xmlns:mc="http://schemas.openxmlformats.org/markup-compatibility/2006">
              <mc:Choice xmlns:v="urn:schemas-microsoft-com:vml" Requires="v">
                <p:oleObj spid="_x0000_s3078" name="公式" r:id="rId8" imgW="1054080" imgH="355320" progId="Equation.3">
                  <p:embed/>
                </p:oleObj>
              </mc:Choice>
              <mc:Fallback>
                <p:oleObj name="公式" r:id="rId8" imgW="1054080" imgH="355320" progId="Equation.3">
                  <p:embed/>
                  <p:pic>
                    <p:nvPicPr>
                      <p:cNvPr id="0" name=""/>
                      <p:cNvPicPr>
                        <a:picLocks noChangeAspect="1" noChangeArrowheads="1"/>
                      </p:cNvPicPr>
                      <p:nvPr/>
                    </p:nvPicPr>
                    <p:blipFill>
                      <a:blip r:embed="rId9"/>
                      <a:srcRect/>
                      <a:stretch>
                        <a:fillRect/>
                      </a:stretch>
                    </p:blipFill>
                    <p:spPr bwMode="auto">
                      <a:xfrm>
                        <a:off x="1559496" y="1616946"/>
                        <a:ext cx="2607027" cy="878803"/>
                      </a:xfrm>
                      <a:prstGeom prst="rect">
                        <a:avLst/>
                      </a:prstGeom>
                      <a:noFill/>
                      <a:ln>
                        <a:noFill/>
                      </a:ln>
                      <a:effectLst/>
                    </p:spPr>
                  </p:pic>
                </p:oleObj>
              </mc:Fallback>
            </mc:AlternateContent>
          </a:graphicData>
        </a:graphic>
      </p:graphicFrame>
      <p:sp>
        <p:nvSpPr>
          <p:cNvPr id="186" name="Text Box 1032"/>
          <p:cNvSpPr txBox="1">
            <a:spLocks noChangeArrowheads="1"/>
          </p:cNvSpPr>
          <p:nvPr/>
        </p:nvSpPr>
        <p:spPr bwMode="auto">
          <a:xfrm>
            <a:off x="335361" y="2565697"/>
            <a:ext cx="6912767" cy="170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5000"/>
              </a:lnSpc>
            </a:pPr>
            <a:r>
              <a:rPr kumimoji="1" lang="zh-CN" altLang="en-US" sz="2800" i="0" dirty="0">
                <a:solidFill>
                  <a:srgbClr val="000000"/>
                </a:solidFill>
                <a:latin typeface="+mn-lt"/>
                <a:ea typeface="微软雅黑" panose="020B0503020204020204" pitchFamily="34" charset="-122"/>
              </a:rPr>
              <a:t>距圆心为 </a:t>
            </a:r>
            <a:r>
              <a:rPr kumimoji="1" lang="zh-CN" altLang="en-US" sz="2800" b="0" dirty="0">
                <a:solidFill>
                  <a:srgbClr val="000000"/>
                </a:solidFill>
                <a:latin typeface="+mn-lt"/>
                <a:ea typeface="微软雅黑" panose="020B0503020204020204" pitchFamily="34" charset="-122"/>
                <a:sym typeface="Symbol" pitchFamily="18" charset="2"/>
              </a:rPr>
              <a:t></a:t>
            </a:r>
            <a:r>
              <a:rPr kumimoji="1" lang="zh-CN" altLang="en-US" sz="2800" dirty="0">
                <a:solidFill>
                  <a:srgbClr val="000000"/>
                </a:solidFill>
                <a:latin typeface="+mn-lt"/>
                <a:ea typeface="微软雅黑" panose="020B0503020204020204" pitchFamily="34" charset="-122"/>
                <a:sym typeface="Symbol" pitchFamily="18" charset="2"/>
              </a:rPr>
              <a:t> </a:t>
            </a:r>
            <a:r>
              <a:rPr kumimoji="1" lang="zh-CN" altLang="en-US" sz="2800" i="0" dirty="0">
                <a:solidFill>
                  <a:srgbClr val="000000"/>
                </a:solidFill>
                <a:latin typeface="+mn-lt"/>
                <a:ea typeface="微软雅黑" panose="020B0503020204020204" pitchFamily="34" charset="-122"/>
              </a:rPr>
              <a:t>任一点处的</a:t>
            </a:r>
            <a:r>
              <a:rPr kumimoji="1" lang="zh-CN" altLang="en-US" sz="2800" b="0" dirty="0">
                <a:solidFill>
                  <a:srgbClr val="000000"/>
                </a:solidFill>
                <a:latin typeface="+mn-lt"/>
                <a:ea typeface="微软雅黑" panose="020B0503020204020204" pitchFamily="34" charset="-122"/>
                <a:sym typeface="Symbol" pitchFamily="18" charset="2"/>
              </a:rPr>
              <a:t></a:t>
            </a:r>
            <a:r>
              <a:rPr kumimoji="1" lang="zh-CN" altLang="en-US" sz="2800" b="0" baseline="-25000" dirty="0">
                <a:solidFill>
                  <a:srgbClr val="000000"/>
                </a:solidFill>
                <a:latin typeface="+mn-lt"/>
                <a:ea typeface="微软雅黑" panose="020B0503020204020204" pitchFamily="34" charset="-122"/>
                <a:sym typeface="Symbol" pitchFamily="18" charset="2"/>
              </a:rPr>
              <a:t></a:t>
            </a:r>
            <a:r>
              <a:rPr kumimoji="1" lang="zh-CN" altLang="en-US" sz="2800" i="0" dirty="0">
                <a:solidFill>
                  <a:srgbClr val="000000"/>
                </a:solidFill>
                <a:latin typeface="+mn-lt"/>
                <a:ea typeface="微软雅黑" panose="020B0503020204020204" pitchFamily="34" charset="-122"/>
              </a:rPr>
              <a:t>与到圆心的距离</a:t>
            </a:r>
            <a:r>
              <a:rPr kumimoji="1" lang="zh-CN" altLang="en-US" sz="2800" b="0" dirty="0">
                <a:solidFill>
                  <a:srgbClr val="000000"/>
                </a:solidFill>
                <a:latin typeface="+mn-lt"/>
                <a:ea typeface="微软雅黑" panose="020B0503020204020204" pitchFamily="34" charset="-122"/>
                <a:sym typeface="Symbol" pitchFamily="18" charset="2"/>
              </a:rPr>
              <a:t></a:t>
            </a:r>
            <a:r>
              <a:rPr kumimoji="1" lang="zh-CN" altLang="en-US" sz="2800" i="0" dirty="0">
                <a:solidFill>
                  <a:srgbClr val="000000"/>
                </a:solidFill>
                <a:latin typeface="+mn-lt"/>
                <a:ea typeface="微软雅黑" panose="020B0503020204020204" pitchFamily="34" charset="-122"/>
              </a:rPr>
              <a:t>成正比。</a:t>
            </a:r>
          </a:p>
          <a:p>
            <a:pPr lvl="0" algn="just">
              <a:lnSpc>
                <a:spcPct val="125000"/>
              </a:lnSpc>
            </a:pPr>
            <a:endParaRPr lang="en-US" altLang="zh-CN" sz="2800" i="0" dirty="0">
              <a:latin typeface="+mj-lt"/>
              <a:ea typeface="微软雅黑" panose="020B0503020204020204" pitchFamily="34" charset="-122"/>
            </a:endParaRPr>
          </a:p>
        </p:txBody>
      </p:sp>
      <p:graphicFrame>
        <p:nvGraphicFramePr>
          <p:cNvPr id="188" name="对象 187"/>
          <p:cNvGraphicFramePr>
            <a:graphicFrameLocks noChangeAspect="1"/>
          </p:cNvGraphicFramePr>
          <p:nvPr>
            <p:extLst>
              <p:ext uri="{D42A27DB-BD31-4B8C-83A1-F6EECF244321}">
                <p14:modId xmlns:p14="http://schemas.microsoft.com/office/powerpoint/2010/main" val="2859877047"/>
              </p:ext>
            </p:extLst>
          </p:nvPr>
        </p:nvGraphicFramePr>
        <p:xfrm>
          <a:off x="1487488" y="3806825"/>
          <a:ext cx="579079" cy="897865"/>
        </p:xfrm>
        <a:graphic>
          <a:graphicData uri="http://schemas.openxmlformats.org/presentationml/2006/ole">
            <mc:AlternateContent xmlns:mc="http://schemas.openxmlformats.org/markup-compatibility/2006">
              <mc:Choice xmlns:v="urn:schemas-microsoft-com:vml" Requires="v">
                <p:oleObj spid="_x0000_s3079" name="Equation" r:id="rId10" imgW="253800" imgH="393480" progId="Equation.DSMT4">
                  <p:embed/>
                </p:oleObj>
              </mc:Choice>
              <mc:Fallback>
                <p:oleObj name="Equation" r:id="rId10" imgW="253800" imgH="393480" progId="Equation.DSMT4">
                  <p:embed/>
                  <p:pic>
                    <p:nvPicPr>
                      <p:cNvPr id="0" name=""/>
                      <p:cNvPicPr>
                        <a:picLocks noChangeAspect="1" noChangeArrowheads="1"/>
                      </p:cNvPicPr>
                      <p:nvPr/>
                    </p:nvPicPr>
                    <p:blipFill>
                      <a:blip r:embed="rId11"/>
                      <a:srcRect/>
                      <a:stretch>
                        <a:fillRect/>
                      </a:stretch>
                    </p:blipFill>
                    <p:spPr bwMode="auto">
                      <a:xfrm>
                        <a:off x="1487488" y="3806825"/>
                        <a:ext cx="579079" cy="897865"/>
                      </a:xfrm>
                      <a:prstGeom prst="rect">
                        <a:avLst/>
                      </a:prstGeom>
                      <a:noFill/>
                      <a:ln>
                        <a:noFill/>
                      </a:ln>
                      <a:effectLst/>
                    </p:spPr>
                  </p:pic>
                </p:oleObj>
              </mc:Fallback>
            </mc:AlternateContent>
          </a:graphicData>
        </a:graphic>
      </p:graphicFrame>
      <p:sp>
        <p:nvSpPr>
          <p:cNvPr id="189" name="Text Box 1032"/>
          <p:cNvSpPr txBox="1">
            <a:spLocks noChangeArrowheads="1"/>
          </p:cNvSpPr>
          <p:nvPr/>
        </p:nvSpPr>
        <p:spPr bwMode="auto">
          <a:xfrm>
            <a:off x="2216377" y="3844830"/>
            <a:ext cx="5045708"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50000"/>
              </a:lnSpc>
              <a:spcBef>
                <a:spcPct val="50000"/>
              </a:spcBef>
            </a:pPr>
            <a:r>
              <a:rPr kumimoji="1" lang="en-US" altLang="zh-CN" sz="2800" i="0" dirty="0">
                <a:solidFill>
                  <a:srgbClr val="000000"/>
                </a:solidFill>
                <a:latin typeface="+mn-lt"/>
                <a:ea typeface="微软雅黑" panose="020B0503020204020204" pitchFamily="34" charset="-122"/>
              </a:rPr>
              <a:t>——  </a:t>
            </a:r>
            <a:r>
              <a:rPr kumimoji="1" lang="zh-CN" altLang="en-US" sz="2800" i="0" dirty="0">
                <a:solidFill>
                  <a:srgbClr val="000000"/>
                </a:solidFill>
                <a:latin typeface="+mn-lt"/>
                <a:ea typeface="微软雅黑" panose="020B0503020204020204" pitchFamily="34" charset="-122"/>
              </a:rPr>
              <a:t>扭转角沿长度方向变化率，为常数。</a:t>
            </a:r>
            <a:endParaRPr lang="en-US" altLang="zh-CN" sz="2800" i="0" dirty="0">
              <a:latin typeface="+mj-lt"/>
              <a:ea typeface="微软雅黑" panose="020B0503020204020204" pitchFamily="34" charset="-122"/>
            </a:endParaRPr>
          </a:p>
        </p:txBody>
      </p:sp>
    </p:spTree>
    <p:extLst>
      <p:ext uri="{BB962C8B-B14F-4D97-AF65-F5344CB8AC3E}">
        <p14:creationId xmlns:p14="http://schemas.microsoft.com/office/powerpoint/2010/main" val="124940975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14"/>
                                        </p:tgtEl>
                                        <p:attrNameLst>
                                          <p:attrName>style.visibility</p:attrName>
                                        </p:attrNameLst>
                                      </p:cBhvr>
                                      <p:to>
                                        <p:strVal val="visible"/>
                                      </p:to>
                                    </p:set>
                                    <p:animEffect transition="in" filter="blinds(horizontal)">
                                      <p:cBhvr>
                                        <p:cTn id="13" dur="500"/>
                                        <p:tgtEl>
                                          <p:spTgt spid="11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1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5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6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85"/>
                                        </p:tgtEl>
                                        <p:attrNameLst>
                                          <p:attrName>style.visibility</p:attrName>
                                        </p:attrNameLst>
                                      </p:cBhvr>
                                      <p:to>
                                        <p:strVal val="visible"/>
                                      </p:to>
                                    </p:set>
                                    <p:animEffect transition="in" filter="wipe(left)">
                                      <p:cBhvr>
                                        <p:cTn id="30" dur="500"/>
                                        <p:tgtEl>
                                          <p:spTgt spid="185"/>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8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88"/>
                                        </p:tgtEl>
                                        <p:attrNameLst>
                                          <p:attrName>style.visibility</p:attrName>
                                        </p:attrNameLst>
                                      </p:cBhvr>
                                      <p:to>
                                        <p:strVal val="visible"/>
                                      </p:to>
                                    </p:set>
                                    <p:animEffect transition="in" filter="wipe(left)">
                                      <p:cBhvr>
                                        <p:cTn id="39" dur="500"/>
                                        <p:tgtEl>
                                          <p:spTgt spid="188"/>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1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9" grpId="0" animBg="1"/>
      <p:bldP spid="186" grpId="0" autoUpdateAnimBg="0"/>
      <p:bldP spid="189"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14" name="Text Box 1032"/>
          <p:cNvSpPr txBox="1">
            <a:spLocks noChangeArrowheads="1"/>
          </p:cNvSpPr>
          <p:nvPr/>
        </p:nvSpPr>
        <p:spPr bwMode="auto">
          <a:xfrm>
            <a:off x="335361" y="850761"/>
            <a:ext cx="6912767" cy="581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5000"/>
              </a:lnSpc>
            </a:pPr>
            <a:r>
              <a:rPr lang="zh-CN" altLang="en-US" sz="2800" i="0" dirty="0">
                <a:solidFill>
                  <a:srgbClr val="FF00FF"/>
                </a:solidFill>
                <a:latin typeface="+mj-lt"/>
                <a:ea typeface="微软雅黑" panose="020B0503020204020204" pitchFamily="34" charset="-122"/>
              </a:rPr>
              <a:t>物理关系</a:t>
            </a:r>
          </a:p>
        </p:txBody>
      </p:sp>
      <p:sp>
        <p:nvSpPr>
          <p:cNvPr id="9" name="Rectangle 61"/>
          <p:cNvSpPr>
            <a:spLocks noChangeArrowheads="1"/>
          </p:cNvSpPr>
          <p:nvPr/>
        </p:nvSpPr>
        <p:spPr bwMode="auto">
          <a:xfrm>
            <a:off x="7610077" y="872492"/>
            <a:ext cx="4551955" cy="5432837"/>
          </a:xfrm>
          <a:prstGeom prst="rect">
            <a:avLst/>
          </a:prstGeom>
          <a:solidFill>
            <a:srgbClr val="B9CDE5"/>
          </a:solidFill>
          <a:ln>
            <a:noFill/>
          </a:ln>
          <a:effectLst/>
        </p:spPr>
        <p:txBody>
          <a:bodyPr wrap="none" anchor="ctr"/>
          <a:lstStyle/>
          <a:p>
            <a:endParaRPr lang="zh-CN" altLang="en-US"/>
          </a:p>
        </p:txBody>
      </p:sp>
      <p:sp>
        <p:nvSpPr>
          <p:cNvPr id="186" name="Text Box 1032"/>
          <p:cNvSpPr txBox="1">
            <a:spLocks noChangeArrowheads="1"/>
          </p:cNvSpPr>
          <p:nvPr/>
        </p:nvSpPr>
        <p:spPr bwMode="auto">
          <a:xfrm>
            <a:off x="335361" y="1423149"/>
            <a:ext cx="2232247" cy="63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5000"/>
              </a:lnSpc>
            </a:pPr>
            <a:r>
              <a:rPr kumimoji="1" lang="zh-CN" altLang="en-US" sz="2800" i="0" dirty="0">
                <a:solidFill>
                  <a:srgbClr val="000000"/>
                </a:solidFill>
                <a:latin typeface="+mn-lt"/>
                <a:ea typeface="微软雅黑" panose="020B0503020204020204" pitchFamily="34" charset="-122"/>
              </a:rPr>
              <a:t>胡克定律：</a:t>
            </a:r>
            <a:endParaRPr lang="en-US" altLang="zh-CN" sz="2800" i="0" dirty="0">
              <a:latin typeface="+mj-lt"/>
              <a:ea typeface="微软雅黑" panose="020B0503020204020204" pitchFamily="34" charset="-122"/>
            </a:endParaRPr>
          </a:p>
        </p:txBody>
      </p:sp>
      <p:graphicFrame>
        <p:nvGraphicFramePr>
          <p:cNvPr id="71" name="Object 38"/>
          <p:cNvGraphicFramePr>
            <a:graphicFrameLocks noChangeAspect="1"/>
          </p:cNvGraphicFramePr>
          <p:nvPr>
            <p:extLst>
              <p:ext uri="{D42A27DB-BD31-4B8C-83A1-F6EECF244321}">
                <p14:modId xmlns:p14="http://schemas.microsoft.com/office/powerpoint/2010/main" val="2005045347"/>
              </p:ext>
            </p:extLst>
          </p:nvPr>
        </p:nvGraphicFramePr>
        <p:xfrm>
          <a:off x="2287782" y="1526777"/>
          <a:ext cx="1328768" cy="511065"/>
        </p:xfrm>
        <a:graphic>
          <a:graphicData uri="http://schemas.openxmlformats.org/presentationml/2006/ole">
            <mc:AlternateContent xmlns:mc="http://schemas.openxmlformats.org/markup-compatibility/2006">
              <mc:Choice xmlns:v="urn:schemas-microsoft-com:vml" Requires="v">
                <p:oleObj spid="_x0000_s4112" name="公式" r:id="rId4" imgW="495000" imgH="190440" progId="Equation.3">
                  <p:embed/>
                </p:oleObj>
              </mc:Choice>
              <mc:Fallback>
                <p:oleObj name="公式" r:id="rId4" imgW="495000" imgH="190440" progId="Equation.3">
                  <p:embed/>
                  <p:pic>
                    <p:nvPicPr>
                      <p:cNvPr id="0" name=""/>
                      <p:cNvPicPr>
                        <a:picLocks noChangeAspect="1" noChangeArrowheads="1"/>
                      </p:cNvPicPr>
                      <p:nvPr/>
                    </p:nvPicPr>
                    <p:blipFill>
                      <a:blip r:embed="rId5"/>
                      <a:srcRect/>
                      <a:stretch>
                        <a:fillRect/>
                      </a:stretch>
                    </p:blipFill>
                    <p:spPr bwMode="auto">
                      <a:xfrm>
                        <a:off x="2287782" y="1526777"/>
                        <a:ext cx="1328768" cy="511065"/>
                      </a:xfrm>
                      <a:prstGeom prst="rect">
                        <a:avLst/>
                      </a:prstGeom>
                      <a:noFill/>
                      <a:ln>
                        <a:noFill/>
                      </a:ln>
                      <a:effectLst/>
                    </p:spPr>
                  </p:pic>
                </p:oleObj>
              </mc:Fallback>
            </mc:AlternateContent>
          </a:graphicData>
        </a:graphic>
      </p:graphicFrame>
      <p:graphicFrame>
        <p:nvGraphicFramePr>
          <p:cNvPr id="72" name="Object 39"/>
          <p:cNvGraphicFramePr>
            <a:graphicFrameLocks noChangeAspect="1"/>
          </p:cNvGraphicFramePr>
          <p:nvPr>
            <p:extLst>
              <p:ext uri="{D42A27DB-BD31-4B8C-83A1-F6EECF244321}">
                <p14:modId xmlns:p14="http://schemas.microsoft.com/office/powerpoint/2010/main" val="660663156"/>
              </p:ext>
            </p:extLst>
          </p:nvPr>
        </p:nvGraphicFramePr>
        <p:xfrm>
          <a:off x="2312438" y="1813667"/>
          <a:ext cx="4647658" cy="916440"/>
        </p:xfrm>
        <a:graphic>
          <a:graphicData uri="http://schemas.openxmlformats.org/presentationml/2006/ole">
            <mc:AlternateContent xmlns:mc="http://schemas.openxmlformats.org/markup-compatibility/2006">
              <mc:Choice xmlns:v="urn:schemas-microsoft-com:vml" Requires="v">
                <p:oleObj spid="_x0000_s4113" name="公式" r:id="rId6" imgW="1803240" imgH="355320" progId="Equation.3">
                  <p:embed/>
                </p:oleObj>
              </mc:Choice>
              <mc:Fallback>
                <p:oleObj name="公式" r:id="rId6" imgW="1803240" imgH="355320" progId="Equation.3">
                  <p:embed/>
                  <p:pic>
                    <p:nvPicPr>
                      <p:cNvPr id="0" name=""/>
                      <p:cNvPicPr>
                        <a:picLocks noChangeAspect="1" noChangeArrowheads="1"/>
                      </p:cNvPicPr>
                      <p:nvPr/>
                    </p:nvPicPr>
                    <p:blipFill>
                      <a:blip r:embed="rId7"/>
                      <a:srcRect/>
                      <a:stretch>
                        <a:fillRect/>
                      </a:stretch>
                    </p:blipFill>
                    <p:spPr bwMode="auto">
                      <a:xfrm>
                        <a:off x="2312438" y="1813667"/>
                        <a:ext cx="4647658" cy="916440"/>
                      </a:xfrm>
                      <a:prstGeom prst="rect">
                        <a:avLst/>
                      </a:prstGeom>
                      <a:noFill/>
                      <a:ln>
                        <a:noFill/>
                      </a:ln>
                      <a:effectLst/>
                    </p:spPr>
                  </p:pic>
                </p:oleObj>
              </mc:Fallback>
            </mc:AlternateContent>
          </a:graphicData>
        </a:graphic>
      </p:graphicFrame>
      <p:sp>
        <p:nvSpPr>
          <p:cNvPr id="73" name="Oval 6"/>
          <p:cNvSpPr>
            <a:spLocks noChangeArrowheads="1"/>
          </p:cNvSpPr>
          <p:nvPr/>
        </p:nvSpPr>
        <p:spPr bwMode="auto">
          <a:xfrm>
            <a:off x="8616280" y="980728"/>
            <a:ext cx="2286000" cy="2286000"/>
          </a:xfrm>
          <a:prstGeom prst="ellipse">
            <a:avLst/>
          </a:prstGeom>
          <a:gradFill rotWithShape="0">
            <a:gsLst>
              <a:gs pos="0">
                <a:srgbClr val="008000"/>
              </a:gs>
              <a:gs pos="100000">
                <a:srgbClr val="99CC00"/>
              </a:gs>
            </a:gsLst>
            <a:path path="shape">
              <a:fillToRect l="50000" t="50000" r="50000" b="50000"/>
            </a:path>
          </a:gradFill>
          <a:ln w="28575">
            <a:solidFill>
              <a:srgbClr val="99CC00"/>
            </a:solidFill>
            <a:round/>
            <a:headEnd/>
            <a:tailEnd/>
          </a:ln>
          <a:effectLst>
            <a:outerShdw dist="35921" dir="2700000" algn="ctr" rotWithShape="0">
              <a:schemeClr val="hlink"/>
            </a:outerShdw>
          </a:effectLst>
        </p:spPr>
        <p:txBody>
          <a:bodyPr wrap="none" anchor="ctr"/>
          <a:lstStyle/>
          <a:p>
            <a:endParaRPr lang="zh-CN" altLang="en-US" sz="2000" b="1"/>
          </a:p>
        </p:txBody>
      </p:sp>
      <p:sp>
        <p:nvSpPr>
          <p:cNvPr id="74" name="AutoShape 7"/>
          <p:cNvSpPr>
            <a:spLocks noChangeArrowheads="1"/>
          </p:cNvSpPr>
          <p:nvPr/>
        </p:nvSpPr>
        <p:spPr bwMode="auto">
          <a:xfrm rot="16200000">
            <a:off x="9300493" y="598140"/>
            <a:ext cx="152400" cy="762000"/>
          </a:xfrm>
          <a:prstGeom prst="upArrow">
            <a:avLst>
              <a:gd name="adj1" fmla="val 50000"/>
              <a:gd name="adj2" fmla="val 125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75" name="AutoShape 8"/>
          <p:cNvSpPr>
            <a:spLocks noChangeArrowheads="1"/>
          </p:cNvSpPr>
          <p:nvPr/>
        </p:nvSpPr>
        <p:spPr bwMode="auto">
          <a:xfrm rot="16200000" flipV="1">
            <a:off x="10062493" y="2884140"/>
            <a:ext cx="152400" cy="762000"/>
          </a:xfrm>
          <a:prstGeom prst="upArrow">
            <a:avLst>
              <a:gd name="adj1" fmla="val 50000"/>
              <a:gd name="adj2" fmla="val 125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76" name="Line 9"/>
          <p:cNvSpPr>
            <a:spLocks noChangeShapeType="1"/>
          </p:cNvSpPr>
          <p:nvPr/>
        </p:nvSpPr>
        <p:spPr bwMode="auto">
          <a:xfrm rot="16200000" flipV="1">
            <a:off x="8616280" y="1361728"/>
            <a:ext cx="2286000" cy="1524000"/>
          </a:xfrm>
          <a:prstGeom prst="line">
            <a:avLst/>
          </a:prstGeom>
          <a:noFill/>
          <a:ln w="9525">
            <a:solidFill>
              <a:schemeClr val="tx1"/>
            </a:solidFill>
            <a:round/>
            <a:headEnd/>
            <a:tailEnd/>
          </a:ln>
          <a:effectLst>
            <a:outerShdw dist="35921" dir="2700000" algn="ctr" rotWithShape="0">
              <a:schemeClr val="hlink"/>
            </a:outerShdw>
          </a:effectLst>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77" name="AutoShape 10"/>
          <p:cNvSpPr>
            <a:spLocks noChangeArrowheads="1"/>
          </p:cNvSpPr>
          <p:nvPr/>
        </p:nvSpPr>
        <p:spPr bwMode="auto">
          <a:xfrm rot="16200000">
            <a:off x="9490993" y="1245840"/>
            <a:ext cx="76200" cy="457200"/>
          </a:xfrm>
          <a:prstGeom prst="upArrow">
            <a:avLst>
              <a:gd name="adj1" fmla="val 50000"/>
              <a:gd name="adj2" fmla="val 15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78" name="AutoShape 11"/>
          <p:cNvSpPr>
            <a:spLocks noChangeArrowheads="1"/>
          </p:cNvSpPr>
          <p:nvPr/>
        </p:nvSpPr>
        <p:spPr bwMode="auto">
          <a:xfrm rot="16200000" flipV="1">
            <a:off x="9948193" y="2541240"/>
            <a:ext cx="76200" cy="457200"/>
          </a:xfrm>
          <a:prstGeom prst="upArrow">
            <a:avLst>
              <a:gd name="adj1" fmla="val 50000"/>
              <a:gd name="adj2" fmla="val 15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79" name="AutoShape 12"/>
          <p:cNvSpPr>
            <a:spLocks noChangeArrowheads="1"/>
          </p:cNvSpPr>
          <p:nvPr/>
        </p:nvSpPr>
        <p:spPr bwMode="auto">
          <a:xfrm rot="16200000">
            <a:off x="9414793" y="941040"/>
            <a:ext cx="76200" cy="609600"/>
          </a:xfrm>
          <a:prstGeom prst="upArrow">
            <a:avLst>
              <a:gd name="adj1" fmla="val 50000"/>
              <a:gd name="adj2" fmla="val 20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80" name="AutoShape 13"/>
          <p:cNvSpPr>
            <a:spLocks noChangeArrowheads="1"/>
          </p:cNvSpPr>
          <p:nvPr/>
        </p:nvSpPr>
        <p:spPr bwMode="auto">
          <a:xfrm rot="16200000" flipV="1">
            <a:off x="10024393" y="2693640"/>
            <a:ext cx="76200" cy="609600"/>
          </a:xfrm>
          <a:prstGeom prst="upArrow">
            <a:avLst>
              <a:gd name="adj1" fmla="val 50000"/>
              <a:gd name="adj2" fmla="val 20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81" name="AutoShape 14"/>
          <p:cNvSpPr>
            <a:spLocks noChangeArrowheads="1"/>
          </p:cNvSpPr>
          <p:nvPr/>
        </p:nvSpPr>
        <p:spPr bwMode="auto">
          <a:xfrm rot="16200000">
            <a:off x="9567193" y="1550640"/>
            <a:ext cx="76200" cy="304800"/>
          </a:xfrm>
          <a:prstGeom prst="upArrow">
            <a:avLst>
              <a:gd name="adj1" fmla="val 50000"/>
              <a:gd name="adj2" fmla="val 10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82" name="AutoShape 15"/>
          <p:cNvSpPr>
            <a:spLocks noChangeArrowheads="1"/>
          </p:cNvSpPr>
          <p:nvPr/>
        </p:nvSpPr>
        <p:spPr bwMode="auto">
          <a:xfrm rot="16200000" flipV="1">
            <a:off x="9871993" y="2388840"/>
            <a:ext cx="76200" cy="304800"/>
          </a:xfrm>
          <a:prstGeom prst="upArrow">
            <a:avLst>
              <a:gd name="adj1" fmla="val 50000"/>
              <a:gd name="adj2" fmla="val 10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83" name="AutoShape 16"/>
          <p:cNvSpPr>
            <a:spLocks noChangeArrowheads="1"/>
          </p:cNvSpPr>
          <p:nvPr/>
        </p:nvSpPr>
        <p:spPr bwMode="auto">
          <a:xfrm>
            <a:off x="10826080" y="1361728"/>
            <a:ext cx="152400" cy="762000"/>
          </a:xfrm>
          <a:prstGeom prst="upArrow">
            <a:avLst>
              <a:gd name="adj1" fmla="val 50000"/>
              <a:gd name="adj2" fmla="val 125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84" name="AutoShape 17"/>
          <p:cNvSpPr>
            <a:spLocks noChangeArrowheads="1"/>
          </p:cNvSpPr>
          <p:nvPr/>
        </p:nvSpPr>
        <p:spPr bwMode="auto">
          <a:xfrm flipV="1">
            <a:off x="8540080" y="2123728"/>
            <a:ext cx="152400" cy="762000"/>
          </a:xfrm>
          <a:prstGeom prst="upArrow">
            <a:avLst>
              <a:gd name="adj1" fmla="val 50000"/>
              <a:gd name="adj2" fmla="val 125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85" name="Line 18"/>
          <p:cNvSpPr>
            <a:spLocks noChangeShapeType="1"/>
          </p:cNvSpPr>
          <p:nvPr/>
        </p:nvSpPr>
        <p:spPr bwMode="auto">
          <a:xfrm flipV="1">
            <a:off x="8616280" y="1361728"/>
            <a:ext cx="2286000" cy="1524000"/>
          </a:xfrm>
          <a:prstGeom prst="line">
            <a:avLst/>
          </a:prstGeom>
          <a:noFill/>
          <a:ln w="9525">
            <a:solidFill>
              <a:schemeClr val="tx1"/>
            </a:solidFill>
            <a:round/>
            <a:headEnd/>
            <a:tailEnd/>
          </a:ln>
          <a:effectLst>
            <a:outerShdw dist="35921" dir="2700000" algn="ctr" rotWithShape="0">
              <a:schemeClr val="hlink"/>
            </a:outerShdw>
          </a:effectLst>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86" name="AutoShape 19"/>
          <p:cNvSpPr>
            <a:spLocks noChangeArrowheads="1"/>
          </p:cNvSpPr>
          <p:nvPr/>
        </p:nvSpPr>
        <p:spPr bwMode="auto">
          <a:xfrm>
            <a:off x="10368880" y="1666528"/>
            <a:ext cx="76200" cy="457200"/>
          </a:xfrm>
          <a:prstGeom prst="upArrow">
            <a:avLst>
              <a:gd name="adj1" fmla="val 50000"/>
              <a:gd name="adj2" fmla="val 15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87" name="AutoShape 20"/>
          <p:cNvSpPr>
            <a:spLocks noChangeArrowheads="1"/>
          </p:cNvSpPr>
          <p:nvPr/>
        </p:nvSpPr>
        <p:spPr bwMode="auto">
          <a:xfrm flipV="1">
            <a:off x="9073480" y="2123728"/>
            <a:ext cx="76200" cy="457200"/>
          </a:xfrm>
          <a:prstGeom prst="upArrow">
            <a:avLst>
              <a:gd name="adj1" fmla="val 50000"/>
              <a:gd name="adj2" fmla="val 15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88" name="AutoShape 21"/>
          <p:cNvSpPr>
            <a:spLocks noChangeArrowheads="1"/>
          </p:cNvSpPr>
          <p:nvPr/>
        </p:nvSpPr>
        <p:spPr bwMode="auto">
          <a:xfrm>
            <a:off x="10597480" y="1514128"/>
            <a:ext cx="76200" cy="609600"/>
          </a:xfrm>
          <a:prstGeom prst="upArrow">
            <a:avLst>
              <a:gd name="adj1" fmla="val 50000"/>
              <a:gd name="adj2" fmla="val 20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89" name="AutoShape 22"/>
          <p:cNvSpPr>
            <a:spLocks noChangeArrowheads="1"/>
          </p:cNvSpPr>
          <p:nvPr/>
        </p:nvSpPr>
        <p:spPr bwMode="auto">
          <a:xfrm flipV="1">
            <a:off x="8844880" y="2123728"/>
            <a:ext cx="76200" cy="609600"/>
          </a:xfrm>
          <a:prstGeom prst="upArrow">
            <a:avLst>
              <a:gd name="adj1" fmla="val 50000"/>
              <a:gd name="adj2" fmla="val 20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90" name="AutoShape 23"/>
          <p:cNvSpPr>
            <a:spLocks noChangeArrowheads="1"/>
          </p:cNvSpPr>
          <p:nvPr/>
        </p:nvSpPr>
        <p:spPr bwMode="auto">
          <a:xfrm>
            <a:off x="10140280" y="1818928"/>
            <a:ext cx="76200" cy="304800"/>
          </a:xfrm>
          <a:prstGeom prst="upArrow">
            <a:avLst>
              <a:gd name="adj1" fmla="val 50000"/>
              <a:gd name="adj2" fmla="val 10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91" name="AutoShape 24"/>
          <p:cNvSpPr>
            <a:spLocks noChangeArrowheads="1"/>
          </p:cNvSpPr>
          <p:nvPr/>
        </p:nvSpPr>
        <p:spPr bwMode="auto">
          <a:xfrm flipV="1">
            <a:off x="9302080" y="2123728"/>
            <a:ext cx="76200" cy="304800"/>
          </a:xfrm>
          <a:prstGeom prst="upArrow">
            <a:avLst>
              <a:gd name="adj1" fmla="val 50000"/>
              <a:gd name="adj2" fmla="val 10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92" name="Oval 25"/>
          <p:cNvSpPr>
            <a:spLocks noChangeArrowheads="1"/>
          </p:cNvSpPr>
          <p:nvPr/>
        </p:nvSpPr>
        <p:spPr bwMode="auto">
          <a:xfrm>
            <a:off x="9683080" y="2047528"/>
            <a:ext cx="152400" cy="152400"/>
          </a:xfrm>
          <a:prstGeom prst="ellipse">
            <a:avLst/>
          </a:prstGeom>
          <a:solidFill>
            <a:srgbClr val="CC3300"/>
          </a:solidFill>
          <a:ln w="9525">
            <a:solidFill>
              <a:schemeClr val="tx1"/>
            </a:solidFill>
            <a:round/>
            <a:headEnd/>
            <a:tailEnd/>
          </a:ln>
          <a:effectLst>
            <a:outerShdw dist="35921" dir="2700000" algn="ctr" rotWithShape="0">
              <a:schemeClr val="hlink"/>
            </a:outerShdw>
          </a:effectLst>
        </p:spPr>
        <p:txBody>
          <a:bodyPr wrap="none" anchor="ctr"/>
          <a:lstStyle/>
          <a:p>
            <a:endParaRPr lang="zh-CN" altLang="en-US" sz="2000" b="1"/>
          </a:p>
        </p:txBody>
      </p:sp>
      <p:sp>
        <p:nvSpPr>
          <p:cNvPr id="93" name="Line 26"/>
          <p:cNvSpPr>
            <a:spLocks noChangeShapeType="1"/>
          </p:cNvSpPr>
          <p:nvPr/>
        </p:nvSpPr>
        <p:spPr bwMode="auto">
          <a:xfrm>
            <a:off x="8616280" y="2123728"/>
            <a:ext cx="2286000" cy="0"/>
          </a:xfrm>
          <a:prstGeom prst="line">
            <a:avLst/>
          </a:prstGeom>
          <a:noFill/>
          <a:ln w="19050">
            <a:solidFill>
              <a:schemeClr val="accent2"/>
            </a:solidFill>
            <a:round/>
            <a:headEnd/>
            <a:tailEnd/>
          </a:ln>
          <a:effectLst>
            <a:outerShdw dist="35921" dir="2700000" algn="ctr" rotWithShape="0">
              <a:schemeClr val="hlink"/>
            </a:outerShdw>
          </a:effectLst>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94" name="Line 27"/>
          <p:cNvSpPr>
            <a:spLocks noChangeShapeType="1"/>
          </p:cNvSpPr>
          <p:nvPr/>
        </p:nvSpPr>
        <p:spPr bwMode="auto">
          <a:xfrm rot="16200000">
            <a:off x="8616280" y="2123728"/>
            <a:ext cx="2286000" cy="0"/>
          </a:xfrm>
          <a:prstGeom prst="line">
            <a:avLst/>
          </a:prstGeom>
          <a:noFill/>
          <a:ln w="19050">
            <a:solidFill>
              <a:schemeClr val="accent2"/>
            </a:solidFill>
            <a:round/>
            <a:headEnd/>
            <a:tailEnd/>
          </a:ln>
          <a:effectLst>
            <a:outerShdw dist="35921" dir="2700000" algn="ctr" rotWithShape="0">
              <a:schemeClr val="hlink"/>
            </a:outerShdw>
          </a:effectLst>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95" name="Arc 28"/>
          <p:cNvSpPr>
            <a:spLocks/>
          </p:cNvSpPr>
          <p:nvPr/>
        </p:nvSpPr>
        <p:spPr bwMode="auto">
          <a:xfrm rot="16200000" flipV="1">
            <a:off x="7951911" y="1645097"/>
            <a:ext cx="1023937" cy="304800"/>
          </a:xfrm>
          <a:custGeom>
            <a:avLst/>
            <a:gdLst>
              <a:gd name="T0" fmla="*/ 1023937 w 29317"/>
              <a:gd name="T1" fmla="*/ 35038 h 21600"/>
              <a:gd name="T2" fmla="*/ 0 w 29317"/>
              <a:gd name="T3" fmla="*/ 283901 h 21600"/>
              <a:gd name="T4" fmla="*/ 274521 w 29317"/>
              <a:gd name="T5" fmla="*/ 0 h 21600"/>
              <a:gd name="T6" fmla="*/ 0 60000 65536"/>
              <a:gd name="T7" fmla="*/ 0 60000 65536"/>
              <a:gd name="T8" fmla="*/ 0 60000 65536"/>
            </a:gdLst>
            <a:ahLst/>
            <a:cxnLst>
              <a:cxn ang="T6">
                <a:pos x="T0" y="T1"/>
              </a:cxn>
              <a:cxn ang="T7">
                <a:pos x="T2" y="T3"/>
              </a:cxn>
              <a:cxn ang="T8">
                <a:pos x="T4" y="T5"/>
              </a:cxn>
            </a:cxnLst>
            <a:rect l="0" t="0" r="r" b="b"/>
            <a:pathLst>
              <a:path w="29317" h="21600" fill="none" extrusionOk="0">
                <a:moveTo>
                  <a:pt x="29316" y="2482"/>
                </a:moveTo>
                <a:cubicBezTo>
                  <a:pt x="28055" y="13378"/>
                  <a:pt x="18828" y="21599"/>
                  <a:pt x="7860" y="21600"/>
                </a:cubicBezTo>
                <a:cubicBezTo>
                  <a:pt x="5170" y="21600"/>
                  <a:pt x="2504" y="21097"/>
                  <a:pt x="-1" y="20119"/>
                </a:cubicBezTo>
              </a:path>
              <a:path w="29317" h="21600" stroke="0" extrusionOk="0">
                <a:moveTo>
                  <a:pt x="29316" y="2482"/>
                </a:moveTo>
                <a:cubicBezTo>
                  <a:pt x="28055" y="13378"/>
                  <a:pt x="18828" y="21599"/>
                  <a:pt x="7860" y="21600"/>
                </a:cubicBezTo>
                <a:cubicBezTo>
                  <a:pt x="5170" y="21600"/>
                  <a:pt x="2504" y="21097"/>
                  <a:pt x="-1" y="20119"/>
                </a:cubicBezTo>
                <a:lnTo>
                  <a:pt x="7860" y="0"/>
                </a:lnTo>
                <a:lnTo>
                  <a:pt x="29316" y="2482"/>
                </a:lnTo>
                <a:close/>
              </a:path>
            </a:pathLst>
          </a:custGeom>
          <a:noFill/>
          <a:ln w="57150">
            <a:solidFill>
              <a:schemeClr val="tx1"/>
            </a:solidFill>
            <a:round/>
            <a:headEnd/>
            <a:tailEnd type="stealth"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sz="2000" b="1"/>
          </a:p>
        </p:txBody>
      </p:sp>
      <p:grpSp>
        <p:nvGrpSpPr>
          <p:cNvPr id="97" name="Group 30"/>
          <p:cNvGrpSpPr>
            <a:grpSpLocks/>
          </p:cNvGrpSpPr>
          <p:nvPr/>
        </p:nvGrpSpPr>
        <p:grpSpPr bwMode="auto">
          <a:xfrm>
            <a:off x="10680030" y="3114328"/>
            <a:ext cx="755650" cy="381000"/>
            <a:chOff x="2452" y="2976"/>
            <a:chExt cx="476" cy="240"/>
          </a:xfrm>
        </p:grpSpPr>
        <p:sp>
          <p:nvSpPr>
            <p:cNvPr id="98" name="WordArt 31"/>
            <p:cNvSpPr>
              <a:spLocks noChangeArrowheads="1" noChangeShapeType="1" noTextEdit="1"/>
            </p:cNvSpPr>
            <p:nvPr/>
          </p:nvSpPr>
          <p:spPr bwMode="auto">
            <a:xfrm>
              <a:off x="2452" y="2976"/>
              <a:ext cx="236" cy="224"/>
            </a:xfrm>
            <a:prstGeom prst="rect">
              <a:avLst/>
            </a:prstGeom>
          </p:spPr>
          <p:txBody>
            <a:bodyPr wrap="none" fromWordArt="1">
              <a:prstTxWarp prst="textPlain">
                <a:avLst>
                  <a:gd name="adj" fmla="val 50000"/>
                </a:avLst>
              </a:prstTxWarp>
            </a:bodyPr>
            <a:lstStyle/>
            <a:p>
              <a:pPr algn="ctr">
                <a:buFontTx/>
                <a:buNone/>
              </a:pPr>
              <a:r>
                <a:rPr lang="en-US" altLang="zh-CN" sz="2000" b="0" i="1" kern="10" dirty="0">
                  <a:ln w="9525">
                    <a:solidFill>
                      <a:srgbClr val="CC3300"/>
                    </a:solidFill>
                    <a:round/>
                    <a:headEnd/>
                    <a:tailEnd/>
                  </a:ln>
                  <a:solidFill>
                    <a:srgbClr val="CC3300"/>
                  </a:solidFill>
                  <a:effectLst>
                    <a:outerShdw dist="35921" dir="2700000" algn="ctr" rotWithShape="0">
                      <a:srgbClr val="C0C0C0"/>
                    </a:outerShdw>
                  </a:effectLst>
                  <a:latin typeface="Symbol"/>
                </a:rPr>
                <a:t>t</a:t>
              </a:r>
              <a:endParaRPr lang="zh-CN" altLang="en-US" sz="2000" b="0" i="1" kern="10" dirty="0">
                <a:ln w="9525">
                  <a:solidFill>
                    <a:srgbClr val="CC3300"/>
                  </a:solidFill>
                  <a:round/>
                  <a:headEnd/>
                  <a:tailEnd/>
                </a:ln>
                <a:solidFill>
                  <a:srgbClr val="CC3300"/>
                </a:solidFill>
                <a:effectLst>
                  <a:outerShdw dist="35921" dir="2700000" algn="ctr" rotWithShape="0">
                    <a:srgbClr val="C0C0C0"/>
                  </a:outerShdw>
                </a:effectLst>
                <a:latin typeface="Symbol"/>
              </a:endParaRPr>
            </a:p>
          </p:txBody>
        </p:sp>
        <p:sp>
          <p:nvSpPr>
            <p:cNvPr id="99" name="WordArt 32"/>
            <p:cNvSpPr>
              <a:spLocks noChangeArrowheads="1" noChangeShapeType="1" noTextEdit="1"/>
            </p:cNvSpPr>
            <p:nvPr/>
          </p:nvSpPr>
          <p:spPr bwMode="auto">
            <a:xfrm>
              <a:off x="2640" y="3120"/>
              <a:ext cx="288" cy="96"/>
            </a:xfrm>
            <a:prstGeom prst="rect">
              <a:avLst/>
            </a:prstGeom>
          </p:spPr>
          <p:txBody>
            <a:bodyPr wrap="none" fromWordArt="1">
              <a:prstTxWarp prst="textPlain">
                <a:avLst>
                  <a:gd name="adj" fmla="val 50000"/>
                </a:avLst>
              </a:prstTxWarp>
            </a:bodyPr>
            <a:lstStyle/>
            <a:p>
              <a:pPr algn="ctr">
                <a:buFontTx/>
                <a:buNone/>
              </a:pPr>
              <a:r>
                <a:rPr lang="en-US" altLang="zh-CN" sz="2000" b="0" kern="10" dirty="0">
                  <a:ln w="9525">
                    <a:solidFill>
                      <a:srgbClr val="CC3300"/>
                    </a:solidFill>
                    <a:round/>
                    <a:headEnd/>
                    <a:tailEnd/>
                  </a:ln>
                  <a:solidFill>
                    <a:srgbClr val="CC3300"/>
                  </a:solidFill>
                  <a:effectLst>
                    <a:outerShdw dist="35921" dir="2700000" algn="ctr" rotWithShape="0">
                      <a:srgbClr val="C0C0C0"/>
                    </a:outerShdw>
                  </a:effectLst>
                  <a:latin typeface="Times New Roman"/>
                  <a:cs typeface="Times New Roman"/>
                </a:rPr>
                <a:t>max</a:t>
              </a:r>
              <a:endParaRPr lang="zh-CN" altLang="en-US" sz="2000" b="0" kern="10" dirty="0">
                <a:ln w="9525">
                  <a:solidFill>
                    <a:srgbClr val="CC3300"/>
                  </a:solidFill>
                  <a:round/>
                  <a:headEnd/>
                  <a:tailEnd/>
                </a:ln>
                <a:solidFill>
                  <a:srgbClr val="CC3300"/>
                </a:solidFill>
                <a:effectLst>
                  <a:outerShdw dist="35921" dir="2700000" algn="ctr" rotWithShape="0">
                    <a:srgbClr val="C0C0C0"/>
                  </a:outerShdw>
                </a:effectLst>
                <a:latin typeface="Times New Roman"/>
                <a:cs typeface="Times New Roman"/>
              </a:endParaRPr>
            </a:p>
          </p:txBody>
        </p:sp>
      </p:grpSp>
      <p:grpSp>
        <p:nvGrpSpPr>
          <p:cNvPr id="100" name="Group 33"/>
          <p:cNvGrpSpPr>
            <a:grpSpLocks/>
          </p:cNvGrpSpPr>
          <p:nvPr/>
        </p:nvGrpSpPr>
        <p:grpSpPr bwMode="auto">
          <a:xfrm>
            <a:off x="11283280" y="1666528"/>
            <a:ext cx="762000" cy="381000"/>
            <a:chOff x="2448" y="2976"/>
            <a:chExt cx="480" cy="240"/>
          </a:xfrm>
        </p:grpSpPr>
        <p:sp>
          <p:nvSpPr>
            <p:cNvPr id="101" name="WordArt 34"/>
            <p:cNvSpPr>
              <a:spLocks noChangeArrowheads="1" noChangeShapeType="1" noTextEdit="1"/>
            </p:cNvSpPr>
            <p:nvPr/>
          </p:nvSpPr>
          <p:spPr bwMode="auto">
            <a:xfrm>
              <a:off x="2448" y="2976"/>
              <a:ext cx="240" cy="224"/>
            </a:xfrm>
            <a:prstGeom prst="rect">
              <a:avLst/>
            </a:prstGeom>
          </p:spPr>
          <p:txBody>
            <a:bodyPr wrap="none" fromWordArt="1">
              <a:prstTxWarp prst="textPlain">
                <a:avLst>
                  <a:gd name="adj" fmla="val 50000"/>
                </a:avLst>
              </a:prstTxWarp>
            </a:bodyPr>
            <a:lstStyle/>
            <a:p>
              <a:pPr algn="ctr">
                <a:buFontTx/>
                <a:buNone/>
              </a:pPr>
              <a:r>
                <a:rPr lang="en-US" altLang="zh-CN" sz="2000" b="0" i="1" kern="10" dirty="0">
                  <a:ln w="9525">
                    <a:solidFill>
                      <a:srgbClr val="CC3300"/>
                    </a:solidFill>
                    <a:round/>
                    <a:headEnd/>
                    <a:tailEnd/>
                  </a:ln>
                  <a:solidFill>
                    <a:srgbClr val="CC3300"/>
                  </a:solidFill>
                  <a:effectLst>
                    <a:outerShdw dist="35921" dir="2700000" algn="ctr" rotWithShape="0">
                      <a:srgbClr val="C0C0C0"/>
                    </a:outerShdw>
                  </a:effectLst>
                  <a:latin typeface="Symbol"/>
                </a:rPr>
                <a:t>t</a:t>
              </a:r>
              <a:endParaRPr lang="zh-CN" altLang="en-US" sz="2000" b="0" i="1" kern="10" dirty="0">
                <a:ln w="9525">
                  <a:solidFill>
                    <a:srgbClr val="CC3300"/>
                  </a:solidFill>
                  <a:round/>
                  <a:headEnd/>
                  <a:tailEnd/>
                </a:ln>
                <a:solidFill>
                  <a:srgbClr val="CC3300"/>
                </a:solidFill>
                <a:effectLst>
                  <a:outerShdw dist="35921" dir="2700000" algn="ctr" rotWithShape="0">
                    <a:srgbClr val="C0C0C0"/>
                  </a:outerShdw>
                </a:effectLst>
                <a:latin typeface="Symbol"/>
              </a:endParaRPr>
            </a:p>
          </p:txBody>
        </p:sp>
        <p:sp>
          <p:nvSpPr>
            <p:cNvPr id="102" name="WordArt 35"/>
            <p:cNvSpPr>
              <a:spLocks noChangeArrowheads="1" noChangeShapeType="1" noTextEdit="1"/>
            </p:cNvSpPr>
            <p:nvPr/>
          </p:nvSpPr>
          <p:spPr bwMode="auto">
            <a:xfrm>
              <a:off x="2640" y="3120"/>
              <a:ext cx="288" cy="96"/>
            </a:xfrm>
            <a:prstGeom prst="rect">
              <a:avLst/>
            </a:prstGeom>
          </p:spPr>
          <p:txBody>
            <a:bodyPr wrap="none" fromWordArt="1">
              <a:prstTxWarp prst="textPlain">
                <a:avLst>
                  <a:gd name="adj" fmla="val 50000"/>
                </a:avLst>
              </a:prstTxWarp>
            </a:bodyPr>
            <a:lstStyle/>
            <a:p>
              <a:pPr algn="ctr">
                <a:buFontTx/>
                <a:buNone/>
              </a:pPr>
              <a:r>
                <a:rPr lang="en-US" altLang="zh-CN" sz="2000" b="0" kern="10" dirty="0">
                  <a:ln w="9525">
                    <a:solidFill>
                      <a:srgbClr val="CC3300"/>
                    </a:solidFill>
                    <a:round/>
                    <a:headEnd/>
                    <a:tailEnd/>
                  </a:ln>
                  <a:solidFill>
                    <a:srgbClr val="CC3300"/>
                  </a:solidFill>
                  <a:effectLst>
                    <a:outerShdw dist="35921" dir="2700000" algn="ctr" rotWithShape="0">
                      <a:srgbClr val="C0C0C0"/>
                    </a:outerShdw>
                  </a:effectLst>
                  <a:latin typeface="Times New Roman"/>
                  <a:cs typeface="Times New Roman"/>
                </a:rPr>
                <a:t>max</a:t>
              </a:r>
              <a:endParaRPr lang="zh-CN" altLang="en-US" sz="2000" b="0" kern="10" dirty="0">
                <a:ln w="9525">
                  <a:solidFill>
                    <a:srgbClr val="CC3300"/>
                  </a:solidFill>
                  <a:round/>
                  <a:headEnd/>
                  <a:tailEnd/>
                </a:ln>
                <a:solidFill>
                  <a:srgbClr val="CC3300"/>
                </a:solidFill>
                <a:effectLst>
                  <a:outerShdw dist="35921" dir="2700000" algn="ctr" rotWithShape="0">
                    <a:srgbClr val="C0C0C0"/>
                  </a:outerShdw>
                </a:effectLst>
                <a:latin typeface="Times New Roman"/>
                <a:cs typeface="Times New Roman"/>
              </a:endParaRPr>
            </a:p>
          </p:txBody>
        </p:sp>
      </p:grpSp>
      <p:grpSp>
        <p:nvGrpSpPr>
          <p:cNvPr id="103" name="Group 7"/>
          <p:cNvGrpSpPr>
            <a:grpSpLocks/>
          </p:cNvGrpSpPr>
          <p:nvPr/>
        </p:nvGrpSpPr>
        <p:grpSpPr bwMode="auto">
          <a:xfrm>
            <a:off x="7930481" y="1055340"/>
            <a:ext cx="3048001" cy="5130800"/>
            <a:chOff x="3264" y="-1312"/>
            <a:chExt cx="1920" cy="3232"/>
          </a:xfrm>
        </p:grpSpPr>
        <p:sp>
          <p:nvSpPr>
            <p:cNvPr id="104" name="Oval 8"/>
            <p:cNvSpPr>
              <a:spLocks noChangeArrowheads="1"/>
            </p:cNvSpPr>
            <p:nvPr/>
          </p:nvSpPr>
          <p:spPr bwMode="auto">
            <a:xfrm>
              <a:off x="3744" y="480"/>
              <a:ext cx="1440" cy="1440"/>
            </a:xfrm>
            <a:prstGeom prst="ellipse">
              <a:avLst/>
            </a:prstGeom>
            <a:gradFill rotWithShape="0">
              <a:gsLst>
                <a:gs pos="0">
                  <a:srgbClr val="008000"/>
                </a:gs>
                <a:gs pos="100000">
                  <a:srgbClr val="99CC00"/>
                </a:gs>
              </a:gsLst>
              <a:path path="shape">
                <a:fillToRect l="50000" t="50000" r="50000" b="50000"/>
              </a:path>
            </a:gradFill>
            <a:ln w="28575">
              <a:solidFill>
                <a:srgbClr val="99CC00"/>
              </a:solidFill>
              <a:round/>
              <a:headEnd/>
              <a:tailEnd/>
            </a:ln>
            <a:effectLst>
              <a:outerShdw dist="35921" dir="2700000" algn="ctr" rotWithShape="0">
                <a:schemeClr val="hlink"/>
              </a:outerShdw>
            </a:effectLst>
          </p:spPr>
          <p:txBody>
            <a:bodyPr wrap="none" anchor="ctr"/>
            <a:lstStyle/>
            <a:p>
              <a:endParaRPr lang="zh-CN" altLang="en-US"/>
            </a:p>
          </p:txBody>
        </p:sp>
        <p:sp>
          <p:nvSpPr>
            <p:cNvPr id="105" name="Arc 9"/>
            <p:cNvSpPr>
              <a:spLocks/>
            </p:cNvSpPr>
            <p:nvPr/>
          </p:nvSpPr>
          <p:spPr bwMode="auto">
            <a:xfrm rot="16200000" flipV="1">
              <a:off x="3373" y="947"/>
              <a:ext cx="645" cy="192"/>
            </a:xfrm>
            <a:custGeom>
              <a:avLst/>
              <a:gdLst>
                <a:gd name="T0" fmla="*/ 645 w 29317"/>
                <a:gd name="T1" fmla="*/ 22 h 21600"/>
                <a:gd name="T2" fmla="*/ 0 w 29317"/>
                <a:gd name="T3" fmla="*/ 179 h 21600"/>
                <a:gd name="T4" fmla="*/ 173 w 29317"/>
                <a:gd name="T5" fmla="*/ 0 h 21600"/>
                <a:gd name="T6" fmla="*/ 0 60000 65536"/>
                <a:gd name="T7" fmla="*/ 0 60000 65536"/>
                <a:gd name="T8" fmla="*/ 0 60000 65536"/>
              </a:gdLst>
              <a:ahLst/>
              <a:cxnLst>
                <a:cxn ang="T6">
                  <a:pos x="T0" y="T1"/>
                </a:cxn>
                <a:cxn ang="T7">
                  <a:pos x="T2" y="T3"/>
                </a:cxn>
                <a:cxn ang="T8">
                  <a:pos x="T4" y="T5"/>
                </a:cxn>
              </a:cxnLst>
              <a:rect l="0" t="0" r="r" b="b"/>
              <a:pathLst>
                <a:path w="29317" h="21600" fill="none" extrusionOk="0">
                  <a:moveTo>
                    <a:pt x="29316" y="2482"/>
                  </a:moveTo>
                  <a:cubicBezTo>
                    <a:pt x="28055" y="13378"/>
                    <a:pt x="18828" y="21599"/>
                    <a:pt x="7860" y="21600"/>
                  </a:cubicBezTo>
                  <a:cubicBezTo>
                    <a:pt x="5170" y="21600"/>
                    <a:pt x="2504" y="21097"/>
                    <a:pt x="-1" y="20119"/>
                  </a:cubicBezTo>
                </a:path>
                <a:path w="29317" h="21600" stroke="0" extrusionOk="0">
                  <a:moveTo>
                    <a:pt x="29316" y="2482"/>
                  </a:moveTo>
                  <a:cubicBezTo>
                    <a:pt x="28055" y="13378"/>
                    <a:pt x="18828" y="21599"/>
                    <a:pt x="7860" y="21600"/>
                  </a:cubicBezTo>
                  <a:cubicBezTo>
                    <a:pt x="5170" y="21600"/>
                    <a:pt x="2504" y="21097"/>
                    <a:pt x="-1" y="20119"/>
                  </a:cubicBezTo>
                  <a:lnTo>
                    <a:pt x="7860" y="0"/>
                  </a:lnTo>
                  <a:lnTo>
                    <a:pt x="29316" y="2482"/>
                  </a:lnTo>
                  <a:close/>
                </a:path>
              </a:pathLst>
            </a:custGeom>
            <a:noFill/>
            <a:ln w="57150">
              <a:solidFill>
                <a:schemeClr val="tx1"/>
              </a:solidFill>
              <a:round/>
              <a:headEnd/>
              <a:tailEnd type="stealth"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06" name="WordArt 10"/>
            <p:cNvSpPr>
              <a:spLocks noChangeArrowheads="1" noChangeShapeType="1" noTextEdit="1"/>
            </p:cNvSpPr>
            <p:nvPr/>
          </p:nvSpPr>
          <p:spPr bwMode="auto">
            <a:xfrm>
              <a:off x="3287" y="606"/>
              <a:ext cx="313" cy="227"/>
            </a:xfrm>
            <a:prstGeom prst="rect">
              <a:avLst/>
            </a:prstGeom>
          </p:spPr>
          <p:txBody>
            <a:bodyPr wrap="none" fromWordArt="1">
              <a:prstTxWarp prst="textPlain">
                <a:avLst>
                  <a:gd name="adj" fmla="val 50000"/>
                </a:avLst>
              </a:prstTxWarp>
            </a:bodyPr>
            <a:lstStyle/>
            <a:p>
              <a:pPr algn="ctr">
                <a:buFontTx/>
                <a:buNone/>
              </a:pPr>
              <a:r>
                <a:rPr lang="en-US" altLang="zh-CN" sz="2800" b="0" i="1" kern="0" dirty="0">
                  <a:ln w="9525">
                    <a:solidFill>
                      <a:srgbClr val="CC3300"/>
                    </a:solidFill>
                    <a:round/>
                    <a:headEnd/>
                    <a:tailEnd/>
                  </a:ln>
                  <a:solidFill>
                    <a:srgbClr val="CC3300"/>
                  </a:solidFill>
                  <a:effectLst>
                    <a:outerShdw dist="35921" dir="2700000" algn="ctr" rotWithShape="0">
                      <a:srgbClr val="C0C0C0"/>
                    </a:outerShdw>
                  </a:effectLst>
                  <a:latin typeface="Times New Roman"/>
                  <a:cs typeface="Times New Roman"/>
                </a:rPr>
                <a:t>M</a:t>
              </a:r>
              <a:r>
                <a:rPr lang="en-US" altLang="zh-CN" sz="2800" b="0" i="0" kern="0" baseline="-25000" dirty="0">
                  <a:ln w="9525">
                    <a:solidFill>
                      <a:srgbClr val="CC3300"/>
                    </a:solidFill>
                    <a:round/>
                    <a:headEnd/>
                    <a:tailEnd/>
                  </a:ln>
                  <a:solidFill>
                    <a:srgbClr val="CC3300"/>
                  </a:solidFill>
                  <a:effectLst>
                    <a:outerShdw dist="35921" dir="2700000" algn="ctr" rotWithShape="0">
                      <a:srgbClr val="C0C0C0"/>
                    </a:outerShdw>
                  </a:effectLst>
                  <a:latin typeface="Times New Roman"/>
                  <a:cs typeface="Times New Roman"/>
                </a:rPr>
                <a:t>n</a:t>
              </a:r>
              <a:endParaRPr lang="zh-CN" altLang="en-US" sz="2800" b="0" i="0" kern="0" baseline="-25000" dirty="0">
                <a:ln w="9525">
                  <a:solidFill>
                    <a:srgbClr val="CC3300"/>
                  </a:solidFill>
                  <a:round/>
                  <a:headEnd/>
                  <a:tailEnd/>
                </a:ln>
                <a:solidFill>
                  <a:srgbClr val="CC3300"/>
                </a:solidFill>
                <a:effectLst>
                  <a:outerShdw dist="35921" dir="2700000" algn="ctr" rotWithShape="0">
                    <a:srgbClr val="C0C0C0"/>
                  </a:outerShdw>
                </a:effectLst>
                <a:latin typeface="Times New Roman"/>
                <a:cs typeface="Times New Roman"/>
              </a:endParaRPr>
            </a:p>
          </p:txBody>
        </p:sp>
        <p:sp>
          <p:nvSpPr>
            <p:cNvPr id="107" name="Text Box 11"/>
            <p:cNvSpPr txBox="1">
              <a:spLocks noChangeArrowheads="1"/>
            </p:cNvSpPr>
            <p:nvPr/>
          </p:nvSpPr>
          <p:spPr bwMode="auto">
            <a:xfrm>
              <a:off x="4320" y="1248"/>
              <a:ext cx="38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Char char="•"/>
                <a:defRPr>
                  <a:solidFill>
                    <a:schemeClr val="tx1"/>
                  </a:solidFill>
                  <a:latin typeface="Arial" charset="0"/>
                  <a:ea typeface="宋体" charset="-122"/>
                </a:defRPr>
              </a:lvl6pPr>
              <a:lvl7pPr marL="2971800" indent="-228600" eaLnBrk="0" fontAlgn="base" hangingPunct="0">
                <a:spcBef>
                  <a:spcPct val="0"/>
                </a:spcBef>
                <a:spcAft>
                  <a:spcPct val="0"/>
                </a:spcAft>
                <a:buChar char="•"/>
                <a:defRPr>
                  <a:solidFill>
                    <a:schemeClr val="tx1"/>
                  </a:solidFill>
                  <a:latin typeface="Arial" charset="0"/>
                  <a:ea typeface="宋体" charset="-122"/>
                </a:defRPr>
              </a:lvl7pPr>
              <a:lvl8pPr marL="3429000" indent="-228600" eaLnBrk="0" fontAlgn="base" hangingPunct="0">
                <a:spcBef>
                  <a:spcPct val="0"/>
                </a:spcBef>
                <a:spcAft>
                  <a:spcPct val="0"/>
                </a:spcAft>
                <a:buChar char="•"/>
                <a:defRPr>
                  <a:solidFill>
                    <a:schemeClr val="tx1"/>
                  </a:solidFill>
                  <a:latin typeface="Arial" charset="0"/>
                  <a:ea typeface="宋体" charset="-122"/>
                </a:defRPr>
              </a:lvl8pPr>
              <a:lvl9pPr marL="3886200" indent="-228600" eaLnBrk="0" fontAlgn="base" hangingPunct="0">
                <a:spcBef>
                  <a:spcPct val="0"/>
                </a:spcBef>
                <a:spcAft>
                  <a:spcPct val="0"/>
                </a:spcAft>
                <a:buChar char="•"/>
                <a:defRPr>
                  <a:solidFill>
                    <a:schemeClr val="tx1"/>
                  </a:solidFill>
                  <a:latin typeface="Arial" charset="0"/>
                  <a:ea typeface="宋体" charset="-122"/>
                </a:defRPr>
              </a:lvl9pPr>
            </a:lstStyle>
            <a:p>
              <a:pPr eaLnBrk="1" hangingPunct="1">
                <a:spcBef>
                  <a:spcPct val="50000"/>
                </a:spcBef>
                <a:buFontTx/>
                <a:buNone/>
              </a:pPr>
              <a:r>
                <a:rPr kumimoji="1" lang="en-US" altLang="zh-CN" sz="2400" i="1" dirty="0">
                  <a:latin typeface="Times New Roman" pitchFamily="18" charset="0"/>
                </a:rPr>
                <a:t>O</a:t>
              </a:r>
            </a:p>
          </p:txBody>
        </p:sp>
        <p:sp>
          <p:nvSpPr>
            <p:cNvPr id="194" name="WordArt 10"/>
            <p:cNvSpPr>
              <a:spLocks noChangeArrowheads="1" noChangeShapeType="1" noTextEdit="1"/>
            </p:cNvSpPr>
            <p:nvPr/>
          </p:nvSpPr>
          <p:spPr bwMode="auto">
            <a:xfrm>
              <a:off x="3264" y="-1312"/>
              <a:ext cx="313" cy="227"/>
            </a:xfrm>
            <a:prstGeom prst="rect">
              <a:avLst/>
            </a:prstGeom>
          </p:spPr>
          <p:txBody>
            <a:bodyPr wrap="none" fromWordArt="1">
              <a:prstTxWarp prst="textPlain">
                <a:avLst>
                  <a:gd name="adj" fmla="val 50000"/>
                </a:avLst>
              </a:prstTxWarp>
            </a:bodyPr>
            <a:lstStyle/>
            <a:p>
              <a:pPr algn="ctr">
                <a:buFontTx/>
                <a:buNone/>
              </a:pPr>
              <a:r>
                <a:rPr lang="en-US" altLang="zh-CN" sz="2800" b="0" i="1" kern="0" dirty="0">
                  <a:ln w="9525">
                    <a:solidFill>
                      <a:srgbClr val="CC3300"/>
                    </a:solidFill>
                    <a:round/>
                    <a:headEnd/>
                    <a:tailEnd/>
                  </a:ln>
                  <a:solidFill>
                    <a:srgbClr val="CC3300"/>
                  </a:solidFill>
                  <a:effectLst>
                    <a:outerShdw dist="35921" dir="2700000" algn="ctr" rotWithShape="0">
                      <a:srgbClr val="C0C0C0"/>
                    </a:outerShdw>
                  </a:effectLst>
                  <a:latin typeface="Times New Roman"/>
                  <a:cs typeface="Times New Roman"/>
                </a:rPr>
                <a:t>M</a:t>
              </a:r>
              <a:r>
                <a:rPr lang="en-US" altLang="zh-CN" sz="2800" b="0" i="0" kern="0" baseline="-25000" dirty="0">
                  <a:ln w="9525">
                    <a:solidFill>
                      <a:srgbClr val="CC3300"/>
                    </a:solidFill>
                    <a:round/>
                    <a:headEnd/>
                    <a:tailEnd/>
                  </a:ln>
                  <a:solidFill>
                    <a:srgbClr val="CC3300"/>
                  </a:solidFill>
                  <a:effectLst>
                    <a:outerShdw dist="35921" dir="2700000" algn="ctr" rotWithShape="0">
                      <a:srgbClr val="C0C0C0"/>
                    </a:outerShdw>
                  </a:effectLst>
                  <a:latin typeface="Times New Roman"/>
                  <a:cs typeface="Times New Roman"/>
                </a:rPr>
                <a:t>n</a:t>
              </a:r>
              <a:endParaRPr lang="zh-CN" altLang="en-US" sz="2800" b="0" i="0" kern="0" baseline="-25000" dirty="0">
                <a:ln w="9525">
                  <a:solidFill>
                    <a:srgbClr val="CC3300"/>
                  </a:solidFill>
                  <a:round/>
                  <a:headEnd/>
                  <a:tailEnd/>
                </a:ln>
                <a:solidFill>
                  <a:srgbClr val="CC3300"/>
                </a:solidFill>
                <a:effectLst>
                  <a:outerShdw dist="35921" dir="2700000" algn="ctr" rotWithShape="0">
                    <a:srgbClr val="C0C0C0"/>
                  </a:outerShdw>
                </a:effectLst>
                <a:latin typeface="Times New Roman"/>
                <a:cs typeface="Times New Roman"/>
              </a:endParaRPr>
            </a:p>
          </p:txBody>
        </p:sp>
      </p:grpSp>
      <p:sp>
        <p:nvSpPr>
          <p:cNvPr id="108" name="Line 12"/>
          <p:cNvSpPr>
            <a:spLocks noChangeShapeType="1"/>
          </p:cNvSpPr>
          <p:nvPr/>
        </p:nvSpPr>
        <p:spPr bwMode="auto">
          <a:xfrm flipV="1">
            <a:off x="9835480" y="4281140"/>
            <a:ext cx="1143000" cy="762000"/>
          </a:xfrm>
          <a:prstGeom prst="line">
            <a:avLst/>
          </a:prstGeom>
          <a:noFill/>
          <a:ln w="9525">
            <a:solidFill>
              <a:schemeClr val="tx1"/>
            </a:solidFill>
            <a:round/>
            <a:headEnd/>
            <a:tailEnd/>
          </a:ln>
          <a:effectLst>
            <a:outerShdw dist="35921" dir="2700000" algn="ctr" rotWithShape="0">
              <a:schemeClr val="hlink"/>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9" name="AutoShape 13"/>
          <p:cNvSpPr>
            <a:spLocks noChangeArrowheads="1"/>
          </p:cNvSpPr>
          <p:nvPr/>
        </p:nvSpPr>
        <p:spPr bwMode="auto">
          <a:xfrm>
            <a:off x="10445080" y="4585940"/>
            <a:ext cx="76200" cy="457200"/>
          </a:xfrm>
          <a:prstGeom prst="upArrow">
            <a:avLst>
              <a:gd name="adj1" fmla="val 50000"/>
              <a:gd name="adj2" fmla="val 15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a:p>
        </p:txBody>
      </p:sp>
      <p:sp>
        <p:nvSpPr>
          <p:cNvPr id="110" name="AutoShape 14"/>
          <p:cNvSpPr>
            <a:spLocks noChangeArrowheads="1"/>
          </p:cNvSpPr>
          <p:nvPr/>
        </p:nvSpPr>
        <p:spPr bwMode="auto">
          <a:xfrm>
            <a:off x="10673680" y="4433540"/>
            <a:ext cx="76200" cy="609600"/>
          </a:xfrm>
          <a:prstGeom prst="upArrow">
            <a:avLst>
              <a:gd name="adj1" fmla="val 50000"/>
              <a:gd name="adj2" fmla="val 20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a:p>
        </p:txBody>
      </p:sp>
      <p:sp>
        <p:nvSpPr>
          <p:cNvPr id="111" name="AutoShape 15"/>
          <p:cNvSpPr>
            <a:spLocks noChangeArrowheads="1"/>
          </p:cNvSpPr>
          <p:nvPr/>
        </p:nvSpPr>
        <p:spPr bwMode="auto">
          <a:xfrm>
            <a:off x="10216480" y="4738340"/>
            <a:ext cx="76200" cy="304800"/>
          </a:xfrm>
          <a:prstGeom prst="upArrow">
            <a:avLst>
              <a:gd name="adj1" fmla="val 50000"/>
              <a:gd name="adj2" fmla="val 10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a:p>
        </p:txBody>
      </p:sp>
      <p:sp>
        <p:nvSpPr>
          <p:cNvPr id="112" name="Line 16"/>
          <p:cNvSpPr>
            <a:spLocks noChangeShapeType="1"/>
          </p:cNvSpPr>
          <p:nvPr/>
        </p:nvSpPr>
        <p:spPr bwMode="auto">
          <a:xfrm>
            <a:off x="8692480" y="5043140"/>
            <a:ext cx="2286000" cy="0"/>
          </a:xfrm>
          <a:prstGeom prst="line">
            <a:avLst/>
          </a:prstGeom>
          <a:noFill/>
          <a:ln w="19050">
            <a:solidFill>
              <a:schemeClr val="accent2"/>
            </a:solidFill>
            <a:round/>
            <a:headEnd/>
            <a:tailEnd/>
          </a:ln>
          <a:effectLst>
            <a:outerShdw dist="35921" dir="2700000" algn="ctr" rotWithShape="0">
              <a:schemeClr val="hlink"/>
            </a:outerShdw>
          </a:effectLst>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3" name="Group 17"/>
          <p:cNvGrpSpPr>
            <a:grpSpLocks/>
          </p:cNvGrpSpPr>
          <p:nvPr/>
        </p:nvGrpSpPr>
        <p:grpSpPr bwMode="auto">
          <a:xfrm>
            <a:off x="9302080" y="4128740"/>
            <a:ext cx="838200" cy="914400"/>
            <a:chOff x="3648" y="1104"/>
            <a:chExt cx="528" cy="576"/>
          </a:xfrm>
        </p:grpSpPr>
        <p:sp>
          <p:nvSpPr>
            <p:cNvPr id="140" name="Rectangle 18"/>
            <p:cNvSpPr>
              <a:spLocks noChangeArrowheads="1"/>
            </p:cNvSpPr>
            <p:nvPr/>
          </p:nvSpPr>
          <p:spPr bwMode="auto">
            <a:xfrm>
              <a:off x="3936" y="1200"/>
              <a:ext cx="96" cy="96"/>
            </a:xfrm>
            <a:prstGeom prst="rect">
              <a:avLst/>
            </a:prstGeom>
            <a:solidFill>
              <a:srgbClr val="CC3300"/>
            </a:solidFill>
            <a:ln w="9525">
              <a:solidFill>
                <a:schemeClr val="tx1"/>
              </a:solidFill>
              <a:miter lim="800000"/>
              <a:headEnd/>
              <a:tailEnd/>
            </a:ln>
          </p:spPr>
          <p:txBody>
            <a:bodyPr wrap="none" anchor="ctr"/>
            <a:lstStyle/>
            <a:p>
              <a:endParaRPr lang="zh-CN" altLang="en-US"/>
            </a:p>
          </p:txBody>
        </p:sp>
        <p:sp>
          <p:nvSpPr>
            <p:cNvPr id="141" name="Line 19"/>
            <p:cNvSpPr>
              <a:spLocks noChangeShapeType="1"/>
            </p:cNvSpPr>
            <p:nvPr/>
          </p:nvSpPr>
          <p:spPr bwMode="auto">
            <a:xfrm flipV="1">
              <a:off x="3984" y="1296"/>
              <a:ext cx="0" cy="384"/>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 name="Text Box 20"/>
            <p:cNvSpPr txBox="1">
              <a:spLocks noChangeArrowheads="1"/>
            </p:cNvSpPr>
            <p:nvPr/>
          </p:nvSpPr>
          <p:spPr bwMode="auto">
            <a:xfrm>
              <a:off x="3648" y="1104"/>
              <a:ext cx="52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Char char="•"/>
                <a:defRPr>
                  <a:solidFill>
                    <a:schemeClr val="tx1"/>
                  </a:solidFill>
                  <a:latin typeface="Arial" charset="0"/>
                  <a:ea typeface="宋体" charset="-122"/>
                </a:defRPr>
              </a:lvl6pPr>
              <a:lvl7pPr marL="2971800" indent="-228600" eaLnBrk="0" fontAlgn="base" hangingPunct="0">
                <a:spcBef>
                  <a:spcPct val="0"/>
                </a:spcBef>
                <a:spcAft>
                  <a:spcPct val="0"/>
                </a:spcAft>
                <a:buChar char="•"/>
                <a:defRPr>
                  <a:solidFill>
                    <a:schemeClr val="tx1"/>
                  </a:solidFill>
                  <a:latin typeface="Arial" charset="0"/>
                  <a:ea typeface="宋体" charset="-122"/>
                </a:defRPr>
              </a:lvl7pPr>
              <a:lvl8pPr marL="3429000" indent="-228600" eaLnBrk="0" fontAlgn="base" hangingPunct="0">
                <a:spcBef>
                  <a:spcPct val="0"/>
                </a:spcBef>
                <a:spcAft>
                  <a:spcPct val="0"/>
                </a:spcAft>
                <a:buChar char="•"/>
                <a:defRPr>
                  <a:solidFill>
                    <a:schemeClr val="tx1"/>
                  </a:solidFill>
                  <a:latin typeface="Arial" charset="0"/>
                  <a:ea typeface="宋体" charset="-122"/>
                </a:defRPr>
              </a:lvl8pPr>
              <a:lvl9pPr marL="3886200" indent="-228600" eaLnBrk="0" fontAlgn="base" hangingPunct="0">
                <a:spcBef>
                  <a:spcPct val="0"/>
                </a:spcBef>
                <a:spcAft>
                  <a:spcPct val="0"/>
                </a:spcAft>
                <a:buChar char="•"/>
                <a:defRPr>
                  <a:solidFill>
                    <a:schemeClr val="tx1"/>
                  </a:solidFill>
                  <a:latin typeface="Arial" charset="0"/>
                  <a:ea typeface="宋体" charset="-122"/>
                </a:defRPr>
              </a:lvl9pPr>
            </a:lstStyle>
            <a:p>
              <a:pPr eaLnBrk="1" hangingPunct="1">
                <a:spcBef>
                  <a:spcPct val="50000"/>
                </a:spcBef>
                <a:buFontTx/>
                <a:buNone/>
              </a:pPr>
              <a:r>
                <a:rPr kumimoji="1" lang="en-US" altLang="zh-CN" sz="2400" b="0" i="0" dirty="0" err="1">
                  <a:latin typeface="Times New Roman" pitchFamily="18" charset="0"/>
                </a:rPr>
                <a:t>d</a:t>
              </a:r>
              <a:r>
                <a:rPr kumimoji="1" lang="en-US" altLang="zh-CN" sz="2400" b="0" i="1" dirty="0" err="1">
                  <a:latin typeface="Times New Roman" pitchFamily="18" charset="0"/>
                </a:rPr>
                <a:t>A</a:t>
              </a:r>
              <a:endParaRPr kumimoji="1" lang="en-US" altLang="zh-CN" sz="2400" b="0" dirty="0">
                <a:latin typeface="Times New Roman" pitchFamily="18" charset="0"/>
              </a:endParaRPr>
            </a:p>
          </p:txBody>
        </p:sp>
        <p:sp>
          <p:nvSpPr>
            <p:cNvPr id="143" name="Text Box 21"/>
            <p:cNvSpPr txBox="1">
              <a:spLocks noChangeArrowheads="1"/>
            </p:cNvSpPr>
            <p:nvPr/>
          </p:nvSpPr>
          <p:spPr bwMode="auto">
            <a:xfrm>
              <a:off x="3744" y="1344"/>
              <a:ext cx="24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Char char="•"/>
                <a:defRPr>
                  <a:solidFill>
                    <a:schemeClr val="tx1"/>
                  </a:solidFill>
                  <a:latin typeface="Arial" charset="0"/>
                  <a:ea typeface="宋体" charset="-122"/>
                </a:defRPr>
              </a:lvl6pPr>
              <a:lvl7pPr marL="2971800" indent="-228600" eaLnBrk="0" fontAlgn="base" hangingPunct="0">
                <a:spcBef>
                  <a:spcPct val="0"/>
                </a:spcBef>
                <a:spcAft>
                  <a:spcPct val="0"/>
                </a:spcAft>
                <a:buChar char="•"/>
                <a:defRPr>
                  <a:solidFill>
                    <a:schemeClr val="tx1"/>
                  </a:solidFill>
                  <a:latin typeface="Arial" charset="0"/>
                  <a:ea typeface="宋体" charset="-122"/>
                </a:defRPr>
              </a:lvl7pPr>
              <a:lvl8pPr marL="3429000" indent="-228600" eaLnBrk="0" fontAlgn="base" hangingPunct="0">
                <a:spcBef>
                  <a:spcPct val="0"/>
                </a:spcBef>
                <a:spcAft>
                  <a:spcPct val="0"/>
                </a:spcAft>
                <a:buChar char="•"/>
                <a:defRPr>
                  <a:solidFill>
                    <a:schemeClr val="tx1"/>
                  </a:solidFill>
                  <a:latin typeface="Arial" charset="0"/>
                  <a:ea typeface="宋体" charset="-122"/>
                </a:defRPr>
              </a:lvl8pPr>
              <a:lvl9pPr marL="3886200" indent="-228600" eaLnBrk="0" fontAlgn="base" hangingPunct="0">
                <a:spcBef>
                  <a:spcPct val="0"/>
                </a:spcBef>
                <a:spcAft>
                  <a:spcPct val="0"/>
                </a:spcAft>
                <a:buChar char="•"/>
                <a:defRPr>
                  <a:solidFill>
                    <a:schemeClr val="tx1"/>
                  </a:solidFill>
                  <a:latin typeface="Arial" charset="0"/>
                  <a:ea typeface="宋体" charset="-122"/>
                </a:defRPr>
              </a:lvl9pPr>
            </a:lstStyle>
            <a:p>
              <a:pPr eaLnBrk="1" hangingPunct="1">
                <a:spcBef>
                  <a:spcPct val="50000"/>
                </a:spcBef>
                <a:buFontTx/>
                <a:buNone/>
              </a:pPr>
              <a:r>
                <a:rPr kumimoji="1" lang="en-US" altLang="zh-CN" sz="2400" b="0" i="1" dirty="0">
                  <a:latin typeface="Times New Roman" pitchFamily="18" charset="0"/>
                  <a:sym typeface="Symbol" pitchFamily="18" charset="2"/>
                </a:rPr>
                <a:t></a:t>
              </a:r>
              <a:endParaRPr kumimoji="1" lang="en-US" altLang="zh-CN" sz="2400" b="0" i="1" dirty="0">
                <a:latin typeface="Times New Roman" pitchFamily="18" charset="0"/>
              </a:endParaRPr>
            </a:p>
          </p:txBody>
        </p:sp>
      </p:grpSp>
      <p:sp>
        <p:nvSpPr>
          <p:cNvPr id="144" name="Oval 22"/>
          <p:cNvSpPr>
            <a:spLocks noChangeArrowheads="1"/>
          </p:cNvSpPr>
          <p:nvPr/>
        </p:nvSpPr>
        <p:spPr bwMode="auto">
          <a:xfrm>
            <a:off x="9759280" y="4966940"/>
            <a:ext cx="152400" cy="152400"/>
          </a:xfrm>
          <a:prstGeom prst="ellipse">
            <a:avLst/>
          </a:prstGeom>
          <a:solidFill>
            <a:srgbClr val="CC3300"/>
          </a:solidFill>
          <a:ln w="9525">
            <a:solidFill>
              <a:schemeClr val="tx1"/>
            </a:solidFill>
            <a:round/>
            <a:headEnd/>
            <a:tailEnd/>
          </a:ln>
          <a:effectLst>
            <a:outerShdw dist="35921" dir="2700000" algn="ctr" rotWithShape="0">
              <a:schemeClr val="hlink"/>
            </a:outerShdw>
          </a:effectLst>
        </p:spPr>
        <p:txBody>
          <a:bodyPr wrap="none" anchor="ctr"/>
          <a:lstStyle/>
          <a:p>
            <a:endParaRPr lang="zh-CN" altLang="en-US"/>
          </a:p>
        </p:txBody>
      </p:sp>
      <p:sp>
        <p:nvSpPr>
          <p:cNvPr id="145" name="AutoShape 32"/>
          <p:cNvSpPr>
            <a:spLocks noChangeArrowheads="1"/>
          </p:cNvSpPr>
          <p:nvPr/>
        </p:nvSpPr>
        <p:spPr bwMode="auto">
          <a:xfrm>
            <a:off x="10902280" y="4281140"/>
            <a:ext cx="152400" cy="762000"/>
          </a:xfrm>
          <a:prstGeom prst="upArrow">
            <a:avLst>
              <a:gd name="adj1" fmla="val 50000"/>
              <a:gd name="adj2" fmla="val 125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a:p>
        </p:txBody>
      </p:sp>
      <p:sp>
        <p:nvSpPr>
          <p:cNvPr id="146" name="Text Box 1032"/>
          <p:cNvSpPr txBox="1">
            <a:spLocks noChangeArrowheads="1"/>
          </p:cNvSpPr>
          <p:nvPr/>
        </p:nvSpPr>
        <p:spPr bwMode="auto">
          <a:xfrm>
            <a:off x="335361" y="2594975"/>
            <a:ext cx="6912767" cy="581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5000"/>
              </a:lnSpc>
            </a:pPr>
            <a:r>
              <a:rPr lang="zh-CN" altLang="en-US" sz="2800" i="0" dirty="0">
                <a:solidFill>
                  <a:srgbClr val="FF00FF"/>
                </a:solidFill>
                <a:latin typeface="+mj-lt"/>
                <a:ea typeface="微软雅黑" panose="020B0503020204020204" pitchFamily="34" charset="-122"/>
              </a:rPr>
              <a:t>静力学关系</a:t>
            </a:r>
          </a:p>
        </p:txBody>
      </p:sp>
      <p:graphicFrame>
        <p:nvGraphicFramePr>
          <p:cNvPr id="147" name="Object 23"/>
          <p:cNvGraphicFramePr>
            <a:graphicFrameLocks noChangeAspect="1"/>
          </p:cNvGraphicFramePr>
          <p:nvPr>
            <p:extLst>
              <p:ext uri="{D42A27DB-BD31-4B8C-83A1-F6EECF244321}">
                <p14:modId xmlns:p14="http://schemas.microsoft.com/office/powerpoint/2010/main" val="2809175307"/>
              </p:ext>
            </p:extLst>
          </p:nvPr>
        </p:nvGraphicFramePr>
        <p:xfrm>
          <a:off x="582613" y="3176588"/>
          <a:ext cx="6781800" cy="869950"/>
        </p:xfrm>
        <a:graphic>
          <a:graphicData uri="http://schemas.openxmlformats.org/presentationml/2006/ole">
            <mc:AlternateContent xmlns:mc="http://schemas.openxmlformats.org/markup-compatibility/2006">
              <mc:Choice xmlns:v="urn:schemas-microsoft-com:vml" Requires="v">
                <p:oleObj spid="_x0000_s4114" name="Equation" r:id="rId8" imgW="3073320" imgH="393480" progId="Equation.DSMT4">
                  <p:embed/>
                </p:oleObj>
              </mc:Choice>
              <mc:Fallback>
                <p:oleObj name="Equation" r:id="rId8" imgW="3073320" imgH="393480" progId="Equation.DSMT4">
                  <p:embed/>
                  <p:pic>
                    <p:nvPicPr>
                      <p:cNvPr id="0" name=""/>
                      <p:cNvPicPr>
                        <a:picLocks noChangeAspect="1" noChangeArrowheads="1"/>
                      </p:cNvPicPr>
                      <p:nvPr/>
                    </p:nvPicPr>
                    <p:blipFill>
                      <a:blip r:embed="rId9"/>
                      <a:srcRect/>
                      <a:stretch>
                        <a:fillRect/>
                      </a:stretch>
                    </p:blipFill>
                    <p:spPr bwMode="auto">
                      <a:xfrm>
                        <a:off x="582613" y="3176588"/>
                        <a:ext cx="6781800" cy="869950"/>
                      </a:xfrm>
                      <a:prstGeom prst="rect">
                        <a:avLst/>
                      </a:prstGeom>
                      <a:noFill/>
                      <a:ln>
                        <a:noFill/>
                      </a:ln>
                      <a:effectLst/>
                    </p:spPr>
                  </p:pic>
                </p:oleObj>
              </mc:Fallback>
            </mc:AlternateContent>
          </a:graphicData>
        </a:graphic>
      </p:graphicFrame>
      <p:graphicFrame>
        <p:nvGraphicFramePr>
          <p:cNvPr id="148" name="Object 27"/>
          <p:cNvGraphicFramePr>
            <a:graphicFrameLocks noChangeAspect="1"/>
          </p:cNvGraphicFramePr>
          <p:nvPr>
            <p:extLst>
              <p:ext uri="{D42A27DB-BD31-4B8C-83A1-F6EECF244321}">
                <p14:modId xmlns:p14="http://schemas.microsoft.com/office/powerpoint/2010/main" val="820289463"/>
              </p:ext>
            </p:extLst>
          </p:nvPr>
        </p:nvGraphicFramePr>
        <p:xfrm>
          <a:off x="435717" y="3952867"/>
          <a:ext cx="2030061" cy="839440"/>
        </p:xfrm>
        <a:graphic>
          <a:graphicData uri="http://schemas.openxmlformats.org/presentationml/2006/ole">
            <mc:AlternateContent xmlns:mc="http://schemas.openxmlformats.org/markup-compatibility/2006">
              <mc:Choice xmlns:v="urn:schemas-microsoft-com:vml" Requires="v">
                <p:oleObj spid="_x0000_s4115" name="Equation" r:id="rId10" imgW="952200" imgH="393480" progId="Equation.DSMT4">
                  <p:embed/>
                </p:oleObj>
              </mc:Choice>
              <mc:Fallback>
                <p:oleObj name="Equation" r:id="rId10" imgW="952200" imgH="393480" progId="Equation.DSMT4">
                  <p:embed/>
                  <p:pic>
                    <p:nvPicPr>
                      <p:cNvPr id="0" name=""/>
                      <p:cNvPicPr>
                        <a:picLocks noChangeAspect="1" noChangeArrowheads="1"/>
                      </p:cNvPicPr>
                      <p:nvPr/>
                    </p:nvPicPr>
                    <p:blipFill>
                      <a:blip r:embed="rId11"/>
                      <a:srcRect/>
                      <a:stretch>
                        <a:fillRect/>
                      </a:stretch>
                    </p:blipFill>
                    <p:spPr bwMode="auto">
                      <a:xfrm>
                        <a:off x="435717" y="3952867"/>
                        <a:ext cx="2030061" cy="839440"/>
                      </a:xfrm>
                      <a:prstGeom prst="rect">
                        <a:avLst/>
                      </a:prstGeom>
                      <a:noFill/>
                      <a:ln>
                        <a:noFill/>
                      </a:ln>
                      <a:effectLst/>
                    </p:spPr>
                  </p:pic>
                </p:oleObj>
              </mc:Fallback>
            </mc:AlternateContent>
          </a:graphicData>
        </a:graphic>
      </p:graphicFrame>
      <p:graphicFrame>
        <p:nvGraphicFramePr>
          <p:cNvPr id="190" name="Object 25"/>
          <p:cNvGraphicFramePr>
            <a:graphicFrameLocks noChangeAspect="1"/>
          </p:cNvGraphicFramePr>
          <p:nvPr>
            <p:extLst>
              <p:ext uri="{D42A27DB-BD31-4B8C-83A1-F6EECF244321}">
                <p14:modId xmlns:p14="http://schemas.microsoft.com/office/powerpoint/2010/main" val="1110282874"/>
              </p:ext>
            </p:extLst>
          </p:nvPr>
        </p:nvGraphicFramePr>
        <p:xfrm>
          <a:off x="2961872" y="4157601"/>
          <a:ext cx="1936569" cy="605854"/>
        </p:xfrm>
        <a:graphic>
          <a:graphicData uri="http://schemas.openxmlformats.org/presentationml/2006/ole">
            <mc:AlternateContent xmlns:mc="http://schemas.openxmlformats.org/markup-compatibility/2006">
              <mc:Choice xmlns:v="urn:schemas-microsoft-com:vml" Requires="v">
                <p:oleObj spid="_x0000_s4116" name="Equation" r:id="rId12" imgW="812520" imgH="253800" progId="Equation.DSMT4">
                  <p:embed/>
                </p:oleObj>
              </mc:Choice>
              <mc:Fallback>
                <p:oleObj name="Equation" r:id="rId12" imgW="812520" imgH="253800" progId="Equation.DSMT4">
                  <p:embed/>
                  <p:pic>
                    <p:nvPicPr>
                      <p:cNvPr id="0" name=""/>
                      <p:cNvPicPr>
                        <a:picLocks noChangeAspect="1" noChangeArrowheads="1"/>
                      </p:cNvPicPr>
                      <p:nvPr/>
                    </p:nvPicPr>
                    <p:blipFill>
                      <a:blip r:embed="rId13"/>
                      <a:srcRect/>
                      <a:stretch>
                        <a:fillRect/>
                      </a:stretch>
                    </p:blipFill>
                    <p:spPr bwMode="auto">
                      <a:xfrm>
                        <a:off x="2961872" y="4157601"/>
                        <a:ext cx="1936569" cy="605854"/>
                      </a:xfrm>
                      <a:prstGeom prst="rect">
                        <a:avLst/>
                      </a:prstGeom>
                      <a:noFill/>
                      <a:ln>
                        <a:noFill/>
                      </a:ln>
                      <a:effectLst/>
                    </p:spPr>
                  </p:pic>
                </p:oleObj>
              </mc:Fallback>
            </mc:AlternateContent>
          </a:graphicData>
        </a:graphic>
      </p:graphicFrame>
      <p:sp>
        <p:nvSpPr>
          <p:cNvPr id="191" name="Text Box 1032"/>
          <p:cNvSpPr txBox="1">
            <a:spLocks noChangeArrowheads="1"/>
          </p:cNvSpPr>
          <p:nvPr/>
        </p:nvSpPr>
        <p:spPr bwMode="auto">
          <a:xfrm>
            <a:off x="335361" y="4803869"/>
            <a:ext cx="3281189" cy="63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5000"/>
              </a:lnSpc>
            </a:pPr>
            <a:r>
              <a:rPr kumimoji="1" lang="zh-CN" altLang="en-US" sz="2800" i="0" dirty="0">
                <a:solidFill>
                  <a:srgbClr val="000000"/>
                </a:solidFill>
                <a:latin typeface="+mn-lt"/>
                <a:ea typeface="微软雅黑" panose="020B0503020204020204" pitchFamily="34" charset="-122"/>
              </a:rPr>
              <a:t>代入物理关系式得：</a:t>
            </a:r>
            <a:endParaRPr lang="en-US" altLang="zh-CN" sz="2800" i="0" dirty="0">
              <a:latin typeface="+mj-lt"/>
              <a:ea typeface="微软雅黑" panose="020B0503020204020204" pitchFamily="34" charset="-122"/>
            </a:endParaRPr>
          </a:p>
        </p:txBody>
      </p:sp>
      <p:graphicFrame>
        <p:nvGraphicFramePr>
          <p:cNvPr id="192" name="Object 28"/>
          <p:cNvGraphicFramePr>
            <a:graphicFrameLocks noChangeAspect="1"/>
          </p:cNvGraphicFramePr>
          <p:nvPr>
            <p:extLst>
              <p:ext uri="{D42A27DB-BD31-4B8C-83A1-F6EECF244321}">
                <p14:modId xmlns:p14="http://schemas.microsoft.com/office/powerpoint/2010/main" val="1163070828"/>
              </p:ext>
            </p:extLst>
          </p:nvPr>
        </p:nvGraphicFramePr>
        <p:xfrm>
          <a:off x="760413" y="5338763"/>
          <a:ext cx="1719262" cy="939800"/>
        </p:xfrm>
        <a:graphic>
          <a:graphicData uri="http://schemas.openxmlformats.org/presentationml/2006/ole">
            <mc:AlternateContent xmlns:mc="http://schemas.openxmlformats.org/markup-compatibility/2006">
              <mc:Choice xmlns:v="urn:schemas-microsoft-com:vml" Requires="v">
                <p:oleObj spid="_x0000_s4117" name="Equation" r:id="rId14" imgW="812520" imgH="444240" progId="Equation.DSMT4">
                  <p:embed/>
                </p:oleObj>
              </mc:Choice>
              <mc:Fallback>
                <p:oleObj name="Equation" r:id="rId14" imgW="812520" imgH="444240" progId="Equation.DSMT4">
                  <p:embed/>
                  <p:pic>
                    <p:nvPicPr>
                      <p:cNvPr id="0" name=""/>
                      <p:cNvPicPr>
                        <a:picLocks noChangeAspect="1" noChangeArrowheads="1"/>
                      </p:cNvPicPr>
                      <p:nvPr/>
                    </p:nvPicPr>
                    <p:blipFill>
                      <a:blip r:embed="rId15"/>
                      <a:srcRect/>
                      <a:stretch>
                        <a:fillRect/>
                      </a:stretch>
                    </p:blipFill>
                    <p:spPr bwMode="auto">
                      <a:xfrm>
                        <a:off x="760413" y="5338763"/>
                        <a:ext cx="1719262" cy="939800"/>
                      </a:xfrm>
                      <a:prstGeom prst="rect">
                        <a:avLst/>
                      </a:prstGeom>
                      <a:noFill/>
                      <a:ln>
                        <a:noFill/>
                      </a:ln>
                      <a:effectLst/>
                    </p:spPr>
                  </p:pic>
                </p:oleObj>
              </mc:Fallback>
            </mc:AlternateContent>
          </a:graphicData>
        </a:graphic>
      </p:graphicFrame>
      <p:graphicFrame>
        <p:nvGraphicFramePr>
          <p:cNvPr id="193" name="Object 31"/>
          <p:cNvGraphicFramePr>
            <a:graphicFrameLocks noChangeAspect="1"/>
          </p:cNvGraphicFramePr>
          <p:nvPr>
            <p:extLst>
              <p:ext uri="{D42A27DB-BD31-4B8C-83A1-F6EECF244321}">
                <p14:modId xmlns:p14="http://schemas.microsoft.com/office/powerpoint/2010/main" val="3171264403"/>
              </p:ext>
            </p:extLst>
          </p:nvPr>
        </p:nvGraphicFramePr>
        <p:xfrm>
          <a:off x="2906713" y="5359476"/>
          <a:ext cx="1548831" cy="919087"/>
        </p:xfrm>
        <a:graphic>
          <a:graphicData uri="http://schemas.openxmlformats.org/presentationml/2006/ole">
            <mc:AlternateContent xmlns:mc="http://schemas.openxmlformats.org/markup-compatibility/2006">
              <mc:Choice xmlns:v="urn:schemas-microsoft-com:vml" Requires="v">
                <p:oleObj spid="_x0000_s4118" name="Equation" r:id="rId16" imgW="749160" imgH="444240" progId="Equation.DSMT4">
                  <p:embed/>
                </p:oleObj>
              </mc:Choice>
              <mc:Fallback>
                <p:oleObj name="Equation" r:id="rId16" imgW="749160" imgH="444240" progId="Equation.DSMT4">
                  <p:embed/>
                  <p:pic>
                    <p:nvPicPr>
                      <p:cNvPr id="0" name=""/>
                      <p:cNvPicPr>
                        <a:picLocks noChangeAspect="1" noChangeArrowheads="1"/>
                      </p:cNvPicPr>
                      <p:nvPr/>
                    </p:nvPicPr>
                    <p:blipFill>
                      <a:blip r:embed="rId17"/>
                      <a:srcRect/>
                      <a:stretch>
                        <a:fillRect/>
                      </a:stretch>
                    </p:blipFill>
                    <p:spPr bwMode="auto">
                      <a:xfrm>
                        <a:off x="2906713" y="5359476"/>
                        <a:ext cx="1548831" cy="919087"/>
                      </a:xfrm>
                      <a:prstGeom prst="rect">
                        <a:avLst/>
                      </a:prstGeom>
                      <a:noFill/>
                      <a:ln>
                        <a:noFill/>
                      </a:ln>
                      <a:effectLst/>
                    </p:spPr>
                  </p:pic>
                </p:oleObj>
              </mc:Fallback>
            </mc:AlternateContent>
          </a:graphicData>
        </a:graphic>
      </p:graphicFrame>
      <p:sp>
        <p:nvSpPr>
          <p:cNvPr id="195" name="Text Box 1032"/>
          <p:cNvSpPr txBox="1">
            <a:spLocks noChangeArrowheads="1"/>
          </p:cNvSpPr>
          <p:nvPr/>
        </p:nvSpPr>
        <p:spPr bwMode="auto">
          <a:xfrm>
            <a:off x="4662131" y="4118275"/>
            <a:ext cx="3086086" cy="63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5000"/>
              </a:lnSpc>
            </a:pPr>
            <a:r>
              <a:rPr kumimoji="1" lang="zh-CN" altLang="en-US" sz="2800" i="0" dirty="0">
                <a:latin typeface="+mn-lt"/>
                <a:ea typeface="微软雅黑" panose="020B0503020204020204" pitchFamily="34" charset="-122"/>
              </a:rPr>
              <a:t>，为</a:t>
            </a:r>
            <a:r>
              <a:rPr kumimoji="1" lang="zh-CN" altLang="en-US" sz="2800" i="0" dirty="0">
                <a:solidFill>
                  <a:srgbClr val="FF0000"/>
                </a:solidFill>
                <a:latin typeface="+mn-lt"/>
                <a:ea typeface="微软雅黑" panose="020B0503020204020204" pitchFamily="34" charset="-122"/>
              </a:rPr>
              <a:t>截面极惯性矩</a:t>
            </a:r>
            <a:endParaRPr lang="en-US" altLang="zh-CN" sz="2800" i="0" dirty="0">
              <a:solidFill>
                <a:srgbClr val="FF0000"/>
              </a:solidFill>
              <a:latin typeface="+mj-lt"/>
              <a:ea typeface="微软雅黑" panose="020B0503020204020204" pitchFamily="34" charset="-122"/>
            </a:endParaRPr>
          </a:p>
        </p:txBody>
      </p:sp>
    </p:spTree>
    <p:extLst>
      <p:ext uri="{BB962C8B-B14F-4D97-AF65-F5344CB8AC3E}">
        <p14:creationId xmlns:p14="http://schemas.microsoft.com/office/powerpoint/2010/main" val="89593130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86"/>
                                        </p:tgtEl>
                                        <p:attrNameLst>
                                          <p:attrName>style.visibility</p:attrName>
                                        </p:attrNameLst>
                                      </p:cBhvr>
                                      <p:to>
                                        <p:strVal val="visible"/>
                                      </p:to>
                                    </p:se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71"/>
                                        </p:tgtEl>
                                        <p:attrNameLst>
                                          <p:attrName>style.visibility</p:attrName>
                                        </p:attrNameLst>
                                      </p:cBhvr>
                                      <p:to>
                                        <p:strVal val="visible"/>
                                      </p:to>
                                    </p:set>
                                    <p:animEffect transition="in" filter="wipe(left)">
                                      <p:cBhvr>
                                        <p:cTn id="16" dur="500"/>
                                        <p:tgtEl>
                                          <p:spTgt spid="7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2"/>
                                        </p:tgtEl>
                                        <p:attrNameLst>
                                          <p:attrName>style.visibility</p:attrName>
                                        </p:attrNameLst>
                                      </p:cBhvr>
                                      <p:to>
                                        <p:strVal val="visible"/>
                                      </p:to>
                                    </p:set>
                                    <p:animEffect transition="in" filter="wipe(left)">
                                      <p:cBhvr>
                                        <p:cTn id="21" dur="500"/>
                                        <p:tgtEl>
                                          <p:spTgt spid="7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3"/>
                                        </p:tgtEl>
                                        <p:attrNameLst>
                                          <p:attrName>style.visibility</p:attrName>
                                        </p:attrNameLst>
                                      </p:cBhvr>
                                      <p:to>
                                        <p:strVal val="visible"/>
                                      </p:to>
                                    </p:set>
                                    <p:animEffect transition="in" filter="wipe(left)">
                                      <p:cBhvr>
                                        <p:cTn id="26" dur="500"/>
                                        <p:tgtEl>
                                          <p:spTgt spid="73"/>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92"/>
                                        </p:tgtEl>
                                        <p:attrNameLst>
                                          <p:attrName>style.visibility</p:attrName>
                                        </p:attrNameLst>
                                      </p:cBhvr>
                                      <p:to>
                                        <p:strVal val="visible"/>
                                      </p:to>
                                    </p:set>
                                    <p:animEffect transition="in" filter="wipe(left)">
                                      <p:cBhvr>
                                        <p:cTn id="30" dur="500"/>
                                        <p:tgtEl>
                                          <p:spTgt spid="92"/>
                                        </p:tgtEl>
                                      </p:cBhvr>
                                    </p:animEffect>
                                  </p:childTnLst>
                                </p:cTn>
                              </p:par>
                            </p:childTnLst>
                          </p:cTn>
                        </p:par>
                        <p:par>
                          <p:cTn id="31" fill="hold">
                            <p:stCondLst>
                              <p:cond delay="1000"/>
                            </p:stCondLst>
                            <p:childTnLst>
                              <p:par>
                                <p:cTn id="32" presetID="22" presetClass="entr" presetSubtype="8" fill="hold" grpId="0" nodeType="afterEffect">
                                  <p:stCondLst>
                                    <p:cond delay="0"/>
                                  </p:stCondLst>
                                  <p:childTnLst>
                                    <p:set>
                                      <p:cBhvr>
                                        <p:cTn id="33" dur="1" fill="hold">
                                          <p:stCondLst>
                                            <p:cond delay="0"/>
                                          </p:stCondLst>
                                        </p:cTn>
                                        <p:tgtEl>
                                          <p:spTgt spid="93"/>
                                        </p:tgtEl>
                                        <p:attrNameLst>
                                          <p:attrName>style.visibility</p:attrName>
                                        </p:attrNameLst>
                                      </p:cBhvr>
                                      <p:to>
                                        <p:strVal val="visible"/>
                                      </p:to>
                                    </p:set>
                                    <p:animEffect transition="in" filter="wipe(left)">
                                      <p:cBhvr>
                                        <p:cTn id="34" dur="500"/>
                                        <p:tgtEl>
                                          <p:spTgt spid="93"/>
                                        </p:tgtEl>
                                      </p:cBhvr>
                                    </p:animEffect>
                                  </p:childTnLst>
                                </p:cTn>
                              </p:par>
                            </p:childTnLst>
                          </p:cTn>
                        </p:par>
                        <p:par>
                          <p:cTn id="35" fill="hold">
                            <p:stCondLst>
                              <p:cond delay="1500"/>
                            </p:stCondLst>
                            <p:childTnLst>
                              <p:par>
                                <p:cTn id="36" presetID="22" presetClass="entr" presetSubtype="8" fill="hold" grpId="0" nodeType="afterEffect">
                                  <p:stCondLst>
                                    <p:cond delay="0"/>
                                  </p:stCondLst>
                                  <p:childTnLst>
                                    <p:set>
                                      <p:cBhvr>
                                        <p:cTn id="37" dur="1" fill="hold">
                                          <p:stCondLst>
                                            <p:cond delay="0"/>
                                          </p:stCondLst>
                                        </p:cTn>
                                        <p:tgtEl>
                                          <p:spTgt spid="94"/>
                                        </p:tgtEl>
                                        <p:attrNameLst>
                                          <p:attrName>style.visibility</p:attrName>
                                        </p:attrNameLst>
                                      </p:cBhvr>
                                      <p:to>
                                        <p:strVal val="visible"/>
                                      </p:to>
                                    </p:set>
                                    <p:animEffect transition="in" filter="wipe(left)">
                                      <p:cBhvr>
                                        <p:cTn id="38" dur="500"/>
                                        <p:tgtEl>
                                          <p:spTgt spid="94"/>
                                        </p:tgtEl>
                                      </p:cBhvr>
                                    </p:animEffect>
                                  </p:childTnLst>
                                </p:cTn>
                              </p:par>
                            </p:childTnLst>
                          </p:cTn>
                        </p:par>
                        <p:par>
                          <p:cTn id="39" fill="hold">
                            <p:stCondLst>
                              <p:cond delay="2000"/>
                            </p:stCondLst>
                            <p:childTnLst>
                              <p:par>
                                <p:cTn id="40" presetID="22" presetClass="entr" presetSubtype="8" fill="hold" grpId="0" nodeType="afterEffect">
                                  <p:stCondLst>
                                    <p:cond delay="0"/>
                                  </p:stCondLst>
                                  <p:childTnLst>
                                    <p:set>
                                      <p:cBhvr>
                                        <p:cTn id="41" dur="1" fill="hold">
                                          <p:stCondLst>
                                            <p:cond delay="0"/>
                                          </p:stCondLst>
                                        </p:cTn>
                                        <p:tgtEl>
                                          <p:spTgt spid="95"/>
                                        </p:tgtEl>
                                        <p:attrNameLst>
                                          <p:attrName>style.visibility</p:attrName>
                                        </p:attrNameLst>
                                      </p:cBhvr>
                                      <p:to>
                                        <p:strVal val="visible"/>
                                      </p:to>
                                    </p:set>
                                    <p:animEffect transition="in" filter="wipe(left)">
                                      <p:cBhvr>
                                        <p:cTn id="42" dur="500"/>
                                        <p:tgtEl>
                                          <p:spTgt spid="95"/>
                                        </p:tgtEl>
                                      </p:cBhvr>
                                    </p:animEffect>
                                  </p:childTnLst>
                                </p:cTn>
                              </p:par>
                            </p:childTnLst>
                          </p:cTn>
                        </p:par>
                        <p:par>
                          <p:cTn id="43" fill="hold">
                            <p:stCondLst>
                              <p:cond delay="2500"/>
                            </p:stCondLst>
                            <p:childTnLst>
                              <p:par>
                                <p:cTn id="44" presetID="22" presetClass="entr" presetSubtype="8" fill="hold" grpId="0" nodeType="afterEffect">
                                  <p:stCondLst>
                                    <p:cond delay="0"/>
                                  </p:stCondLst>
                                  <p:childTnLst>
                                    <p:set>
                                      <p:cBhvr>
                                        <p:cTn id="45" dur="1" fill="hold">
                                          <p:stCondLst>
                                            <p:cond delay="0"/>
                                          </p:stCondLst>
                                        </p:cTn>
                                        <p:tgtEl>
                                          <p:spTgt spid="75"/>
                                        </p:tgtEl>
                                        <p:attrNameLst>
                                          <p:attrName>style.visibility</p:attrName>
                                        </p:attrNameLst>
                                      </p:cBhvr>
                                      <p:to>
                                        <p:strVal val="visible"/>
                                      </p:to>
                                    </p:set>
                                    <p:animEffect transition="in" filter="wipe(left)">
                                      <p:cBhvr>
                                        <p:cTn id="46" dur="500"/>
                                        <p:tgtEl>
                                          <p:spTgt spid="75"/>
                                        </p:tgtEl>
                                      </p:cBhvr>
                                    </p:animEffect>
                                  </p:childTnLst>
                                </p:cTn>
                              </p:par>
                            </p:childTnLst>
                          </p:cTn>
                        </p:par>
                        <p:par>
                          <p:cTn id="47" fill="hold">
                            <p:stCondLst>
                              <p:cond delay="3000"/>
                            </p:stCondLst>
                            <p:childTnLst>
                              <p:par>
                                <p:cTn id="48" presetID="22" presetClass="entr" presetSubtype="8" fill="hold" grpId="0" nodeType="afterEffect">
                                  <p:stCondLst>
                                    <p:cond delay="0"/>
                                  </p:stCondLst>
                                  <p:childTnLst>
                                    <p:set>
                                      <p:cBhvr>
                                        <p:cTn id="49" dur="1" fill="hold">
                                          <p:stCondLst>
                                            <p:cond delay="0"/>
                                          </p:stCondLst>
                                        </p:cTn>
                                        <p:tgtEl>
                                          <p:spTgt spid="80"/>
                                        </p:tgtEl>
                                        <p:attrNameLst>
                                          <p:attrName>style.visibility</p:attrName>
                                        </p:attrNameLst>
                                      </p:cBhvr>
                                      <p:to>
                                        <p:strVal val="visible"/>
                                      </p:to>
                                    </p:set>
                                    <p:animEffect transition="in" filter="wipe(left)">
                                      <p:cBhvr>
                                        <p:cTn id="50" dur="500"/>
                                        <p:tgtEl>
                                          <p:spTgt spid="80"/>
                                        </p:tgtEl>
                                      </p:cBhvr>
                                    </p:animEffect>
                                  </p:childTnLst>
                                </p:cTn>
                              </p:par>
                            </p:childTnLst>
                          </p:cTn>
                        </p:par>
                        <p:par>
                          <p:cTn id="51" fill="hold">
                            <p:stCondLst>
                              <p:cond delay="3500"/>
                            </p:stCondLst>
                            <p:childTnLst>
                              <p:par>
                                <p:cTn id="52" presetID="22" presetClass="entr" presetSubtype="8" fill="hold" grpId="0" nodeType="afterEffect">
                                  <p:stCondLst>
                                    <p:cond delay="0"/>
                                  </p:stCondLst>
                                  <p:childTnLst>
                                    <p:set>
                                      <p:cBhvr>
                                        <p:cTn id="53" dur="1" fill="hold">
                                          <p:stCondLst>
                                            <p:cond delay="0"/>
                                          </p:stCondLst>
                                        </p:cTn>
                                        <p:tgtEl>
                                          <p:spTgt spid="78"/>
                                        </p:tgtEl>
                                        <p:attrNameLst>
                                          <p:attrName>style.visibility</p:attrName>
                                        </p:attrNameLst>
                                      </p:cBhvr>
                                      <p:to>
                                        <p:strVal val="visible"/>
                                      </p:to>
                                    </p:set>
                                    <p:animEffect transition="in" filter="wipe(left)">
                                      <p:cBhvr>
                                        <p:cTn id="54" dur="500"/>
                                        <p:tgtEl>
                                          <p:spTgt spid="78"/>
                                        </p:tgtEl>
                                      </p:cBhvr>
                                    </p:animEffect>
                                  </p:childTnLst>
                                </p:cTn>
                              </p:par>
                            </p:childTnLst>
                          </p:cTn>
                        </p:par>
                        <p:par>
                          <p:cTn id="55" fill="hold">
                            <p:stCondLst>
                              <p:cond delay="4000"/>
                            </p:stCondLst>
                            <p:childTnLst>
                              <p:par>
                                <p:cTn id="56" presetID="22" presetClass="entr" presetSubtype="8" fill="hold" grpId="0" nodeType="afterEffect">
                                  <p:stCondLst>
                                    <p:cond delay="0"/>
                                  </p:stCondLst>
                                  <p:childTnLst>
                                    <p:set>
                                      <p:cBhvr>
                                        <p:cTn id="57" dur="1" fill="hold">
                                          <p:stCondLst>
                                            <p:cond delay="0"/>
                                          </p:stCondLst>
                                        </p:cTn>
                                        <p:tgtEl>
                                          <p:spTgt spid="82"/>
                                        </p:tgtEl>
                                        <p:attrNameLst>
                                          <p:attrName>style.visibility</p:attrName>
                                        </p:attrNameLst>
                                      </p:cBhvr>
                                      <p:to>
                                        <p:strVal val="visible"/>
                                      </p:to>
                                    </p:set>
                                    <p:animEffect transition="in" filter="wipe(left)">
                                      <p:cBhvr>
                                        <p:cTn id="58" dur="500"/>
                                        <p:tgtEl>
                                          <p:spTgt spid="82"/>
                                        </p:tgtEl>
                                      </p:cBhvr>
                                    </p:animEffect>
                                  </p:childTnLst>
                                </p:cTn>
                              </p:par>
                            </p:childTnLst>
                          </p:cTn>
                        </p:par>
                        <p:par>
                          <p:cTn id="59" fill="hold">
                            <p:stCondLst>
                              <p:cond delay="4500"/>
                            </p:stCondLst>
                            <p:childTnLst>
                              <p:par>
                                <p:cTn id="60" presetID="22" presetClass="entr" presetSubtype="8" fill="hold" grpId="0" nodeType="afterEffect">
                                  <p:stCondLst>
                                    <p:cond delay="0"/>
                                  </p:stCondLst>
                                  <p:childTnLst>
                                    <p:set>
                                      <p:cBhvr>
                                        <p:cTn id="61" dur="1" fill="hold">
                                          <p:stCondLst>
                                            <p:cond delay="0"/>
                                          </p:stCondLst>
                                        </p:cTn>
                                        <p:tgtEl>
                                          <p:spTgt spid="81"/>
                                        </p:tgtEl>
                                        <p:attrNameLst>
                                          <p:attrName>style.visibility</p:attrName>
                                        </p:attrNameLst>
                                      </p:cBhvr>
                                      <p:to>
                                        <p:strVal val="visible"/>
                                      </p:to>
                                    </p:set>
                                    <p:animEffect transition="in" filter="wipe(left)">
                                      <p:cBhvr>
                                        <p:cTn id="62" dur="500"/>
                                        <p:tgtEl>
                                          <p:spTgt spid="81"/>
                                        </p:tgtEl>
                                      </p:cBhvr>
                                    </p:animEffect>
                                  </p:childTnLst>
                                </p:cTn>
                              </p:par>
                            </p:childTnLst>
                          </p:cTn>
                        </p:par>
                        <p:par>
                          <p:cTn id="63" fill="hold">
                            <p:stCondLst>
                              <p:cond delay="5000"/>
                            </p:stCondLst>
                            <p:childTnLst>
                              <p:par>
                                <p:cTn id="64" presetID="22" presetClass="entr" presetSubtype="8" fill="hold" grpId="0" nodeType="afterEffect">
                                  <p:stCondLst>
                                    <p:cond delay="0"/>
                                  </p:stCondLst>
                                  <p:childTnLst>
                                    <p:set>
                                      <p:cBhvr>
                                        <p:cTn id="65" dur="1" fill="hold">
                                          <p:stCondLst>
                                            <p:cond delay="0"/>
                                          </p:stCondLst>
                                        </p:cTn>
                                        <p:tgtEl>
                                          <p:spTgt spid="77"/>
                                        </p:tgtEl>
                                        <p:attrNameLst>
                                          <p:attrName>style.visibility</p:attrName>
                                        </p:attrNameLst>
                                      </p:cBhvr>
                                      <p:to>
                                        <p:strVal val="visible"/>
                                      </p:to>
                                    </p:set>
                                    <p:animEffect transition="in" filter="wipe(left)">
                                      <p:cBhvr>
                                        <p:cTn id="66" dur="500"/>
                                        <p:tgtEl>
                                          <p:spTgt spid="77"/>
                                        </p:tgtEl>
                                      </p:cBhvr>
                                    </p:animEffect>
                                  </p:childTnLst>
                                </p:cTn>
                              </p:par>
                            </p:childTnLst>
                          </p:cTn>
                        </p:par>
                        <p:par>
                          <p:cTn id="67" fill="hold">
                            <p:stCondLst>
                              <p:cond delay="5500"/>
                            </p:stCondLst>
                            <p:childTnLst>
                              <p:par>
                                <p:cTn id="68" presetID="22" presetClass="entr" presetSubtype="8" fill="hold" grpId="0" nodeType="afterEffect">
                                  <p:stCondLst>
                                    <p:cond delay="0"/>
                                  </p:stCondLst>
                                  <p:childTnLst>
                                    <p:set>
                                      <p:cBhvr>
                                        <p:cTn id="69" dur="1" fill="hold">
                                          <p:stCondLst>
                                            <p:cond delay="0"/>
                                          </p:stCondLst>
                                        </p:cTn>
                                        <p:tgtEl>
                                          <p:spTgt spid="79"/>
                                        </p:tgtEl>
                                        <p:attrNameLst>
                                          <p:attrName>style.visibility</p:attrName>
                                        </p:attrNameLst>
                                      </p:cBhvr>
                                      <p:to>
                                        <p:strVal val="visible"/>
                                      </p:to>
                                    </p:set>
                                    <p:animEffect transition="in" filter="wipe(left)">
                                      <p:cBhvr>
                                        <p:cTn id="70" dur="500"/>
                                        <p:tgtEl>
                                          <p:spTgt spid="79"/>
                                        </p:tgtEl>
                                      </p:cBhvr>
                                    </p:animEffect>
                                  </p:childTnLst>
                                </p:cTn>
                              </p:par>
                            </p:childTnLst>
                          </p:cTn>
                        </p:par>
                        <p:par>
                          <p:cTn id="71" fill="hold">
                            <p:stCondLst>
                              <p:cond delay="6000"/>
                            </p:stCondLst>
                            <p:childTnLst>
                              <p:par>
                                <p:cTn id="72" presetID="22" presetClass="entr" presetSubtype="8" fill="hold" grpId="0" nodeType="afterEffect">
                                  <p:stCondLst>
                                    <p:cond delay="0"/>
                                  </p:stCondLst>
                                  <p:childTnLst>
                                    <p:set>
                                      <p:cBhvr>
                                        <p:cTn id="73" dur="1" fill="hold">
                                          <p:stCondLst>
                                            <p:cond delay="0"/>
                                          </p:stCondLst>
                                        </p:cTn>
                                        <p:tgtEl>
                                          <p:spTgt spid="74"/>
                                        </p:tgtEl>
                                        <p:attrNameLst>
                                          <p:attrName>style.visibility</p:attrName>
                                        </p:attrNameLst>
                                      </p:cBhvr>
                                      <p:to>
                                        <p:strVal val="visible"/>
                                      </p:to>
                                    </p:set>
                                    <p:animEffect transition="in" filter="wipe(left)">
                                      <p:cBhvr>
                                        <p:cTn id="74" dur="500"/>
                                        <p:tgtEl>
                                          <p:spTgt spid="74"/>
                                        </p:tgtEl>
                                      </p:cBhvr>
                                    </p:animEffect>
                                  </p:childTnLst>
                                </p:cTn>
                              </p:par>
                            </p:childTnLst>
                          </p:cTn>
                        </p:par>
                        <p:par>
                          <p:cTn id="75" fill="hold">
                            <p:stCondLst>
                              <p:cond delay="6500"/>
                            </p:stCondLst>
                            <p:childTnLst>
                              <p:par>
                                <p:cTn id="76" presetID="22" presetClass="entr" presetSubtype="8" fill="hold" grpId="0" nodeType="afterEffect">
                                  <p:stCondLst>
                                    <p:cond delay="0"/>
                                  </p:stCondLst>
                                  <p:childTnLst>
                                    <p:set>
                                      <p:cBhvr>
                                        <p:cTn id="77" dur="1" fill="hold">
                                          <p:stCondLst>
                                            <p:cond delay="0"/>
                                          </p:stCondLst>
                                        </p:cTn>
                                        <p:tgtEl>
                                          <p:spTgt spid="76"/>
                                        </p:tgtEl>
                                        <p:attrNameLst>
                                          <p:attrName>style.visibility</p:attrName>
                                        </p:attrNameLst>
                                      </p:cBhvr>
                                      <p:to>
                                        <p:strVal val="visible"/>
                                      </p:to>
                                    </p:set>
                                    <p:animEffect transition="in" filter="wipe(left)">
                                      <p:cBhvr>
                                        <p:cTn id="78" dur="500"/>
                                        <p:tgtEl>
                                          <p:spTgt spid="76"/>
                                        </p:tgtEl>
                                      </p:cBhvr>
                                    </p:animEffect>
                                  </p:childTnLst>
                                </p:cTn>
                              </p:par>
                            </p:childTnLst>
                          </p:cTn>
                        </p:par>
                        <p:par>
                          <p:cTn id="79" fill="hold">
                            <p:stCondLst>
                              <p:cond delay="7000"/>
                            </p:stCondLst>
                            <p:childTnLst>
                              <p:par>
                                <p:cTn id="80" presetID="22" presetClass="entr" presetSubtype="8" fill="hold" nodeType="afterEffect">
                                  <p:stCondLst>
                                    <p:cond delay="0"/>
                                  </p:stCondLst>
                                  <p:childTnLst>
                                    <p:set>
                                      <p:cBhvr>
                                        <p:cTn id="81" dur="1" fill="hold">
                                          <p:stCondLst>
                                            <p:cond delay="0"/>
                                          </p:stCondLst>
                                        </p:cTn>
                                        <p:tgtEl>
                                          <p:spTgt spid="97"/>
                                        </p:tgtEl>
                                        <p:attrNameLst>
                                          <p:attrName>style.visibility</p:attrName>
                                        </p:attrNameLst>
                                      </p:cBhvr>
                                      <p:to>
                                        <p:strVal val="visible"/>
                                      </p:to>
                                    </p:set>
                                    <p:animEffect transition="in" filter="wipe(left)">
                                      <p:cBhvr>
                                        <p:cTn id="82" dur="500"/>
                                        <p:tgtEl>
                                          <p:spTgt spid="97"/>
                                        </p:tgtEl>
                                      </p:cBhvr>
                                    </p:animEffect>
                                  </p:childTnLst>
                                </p:cTn>
                              </p:par>
                            </p:childTnLst>
                          </p:cTn>
                        </p:par>
                        <p:par>
                          <p:cTn id="83" fill="hold">
                            <p:stCondLst>
                              <p:cond delay="7500"/>
                            </p:stCondLst>
                            <p:childTnLst>
                              <p:par>
                                <p:cTn id="84" presetID="22" presetClass="entr" presetSubtype="8" fill="hold" grpId="0" nodeType="afterEffect">
                                  <p:stCondLst>
                                    <p:cond delay="0"/>
                                  </p:stCondLst>
                                  <p:childTnLst>
                                    <p:set>
                                      <p:cBhvr>
                                        <p:cTn id="85" dur="1" fill="hold">
                                          <p:stCondLst>
                                            <p:cond delay="0"/>
                                          </p:stCondLst>
                                        </p:cTn>
                                        <p:tgtEl>
                                          <p:spTgt spid="84"/>
                                        </p:tgtEl>
                                        <p:attrNameLst>
                                          <p:attrName>style.visibility</p:attrName>
                                        </p:attrNameLst>
                                      </p:cBhvr>
                                      <p:to>
                                        <p:strVal val="visible"/>
                                      </p:to>
                                    </p:set>
                                    <p:animEffect transition="in" filter="wipe(left)">
                                      <p:cBhvr>
                                        <p:cTn id="86" dur="500"/>
                                        <p:tgtEl>
                                          <p:spTgt spid="84"/>
                                        </p:tgtEl>
                                      </p:cBhvr>
                                    </p:animEffect>
                                  </p:childTnLst>
                                </p:cTn>
                              </p:par>
                            </p:childTnLst>
                          </p:cTn>
                        </p:par>
                        <p:par>
                          <p:cTn id="87" fill="hold">
                            <p:stCondLst>
                              <p:cond delay="8000"/>
                            </p:stCondLst>
                            <p:childTnLst>
                              <p:par>
                                <p:cTn id="88" presetID="22" presetClass="entr" presetSubtype="8" fill="hold" grpId="0" nodeType="afterEffect">
                                  <p:stCondLst>
                                    <p:cond delay="0"/>
                                  </p:stCondLst>
                                  <p:childTnLst>
                                    <p:set>
                                      <p:cBhvr>
                                        <p:cTn id="89" dur="1" fill="hold">
                                          <p:stCondLst>
                                            <p:cond delay="0"/>
                                          </p:stCondLst>
                                        </p:cTn>
                                        <p:tgtEl>
                                          <p:spTgt spid="89"/>
                                        </p:tgtEl>
                                        <p:attrNameLst>
                                          <p:attrName>style.visibility</p:attrName>
                                        </p:attrNameLst>
                                      </p:cBhvr>
                                      <p:to>
                                        <p:strVal val="visible"/>
                                      </p:to>
                                    </p:set>
                                    <p:animEffect transition="in" filter="wipe(left)">
                                      <p:cBhvr>
                                        <p:cTn id="90" dur="500"/>
                                        <p:tgtEl>
                                          <p:spTgt spid="89"/>
                                        </p:tgtEl>
                                      </p:cBhvr>
                                    </p:animEffect>
                                  </p:childTnLst>
                                </p:cTn>
                              </p:par>
                            </p:childTnLst>
                          </p:cTn>
                        </p:par>
                        <p:par>
                          <p:cTn id="91" fill="hold">
                            <p:stCondLst>
                              <p:cond delay="8500"/>
                            </p:stCondLst>
                            <p:childTnLst>
                              <p:par>
                                <p:cTn id="92" presetID="22" presetClass="entr" presetSubtype="8" fill="hold" grpId="0" nodeType="afterEffect">
                                  <p:stCondLst>
                                    <p:cond delay="0"/>
                                  </p:stCondLst>
                                  <p:childTnLst>
                                    <p:set>
                                      <p:cBhvr>
                                        <p:cTn id="93" dur="1" fill="hold">
                                          <p:stCondLst>
                                            <p:cond delay="0"/>
                                          </p:stCondLst>
                                        </p:cTn>
                                        <p:tgtEl>
                                          <p:spTgt spid="87"/>
                                        </p:tgtEl>
                                        <p:attrNameLst>
                                          <p:attrName>style.visibility</p:attrName>
                                        </p:attrNameLst>
                                      </p:cBhvr>
                                      <p:to>
                                        <p:strVal val="visible"/>
                                      </p:to>
                                    </p:set>
                                    <p:animEffect transition="in" filter="wipe(left)">
                                      <p:cBhvr>
                                        <p:cTn id="94" dur="500"/>
                                        <p:tgtEl>
                                          <p:spTgt spid="87"/>
                                        </p:tgtEl>
                                      </p:cBhvr>
                                    </p:animEffect>
                                  </p:childTnLst>
                                </p:cTn>
                              </p:par>
                            </p:childTnLst>
                          </p:cTn>
                        </p:par>
                        <p:par>
                          <p:cTn id="95" fill="hold">
                            <p:stCondLst>
                              <p:cond delay="9000"/>
                            </p:stCondLst>
                            <p:childTnLst>
                              <p:par>
                                <p:cTn id="96" presetID="22" presetClass="entr" presetSubtype="8" fill="hold" grpId="0" nodeType="afterEffect">
                                  <p:stCondLst>
                                    <p:cond delay="0"/>
                                  </p:stCondLst>
                                  <p:childTnLst>
                                    <p:set>
                                      <p:cBhvr>
                                        <p:cTn id="97" dur="1" fill="hold">
                                          <p:stCondLst>
                                            <p:cond delay="0"/>
                                          </p:stCondLst>
                                        </p:cTn>
                                        <p:tgtEl>
                                          <p:spTgt spid="91"/>
                                        </p:tgtEl>
                                        <p:attrNameLst>
                                          <p:attrName>style.visibility</p:attrName>
                                        </p:attrNameLst>
                                      </p:cBhvr>
                                      <p:to>
                                        <p:strVal val="visible"/>
                                      </p:to>
                                    </p:set>
                                    <p:animEffect transition="in" filter="wipe(left)">
                                      <p:cBhvr>
                                        <p:cTn id="98" dur="500"/>
                                        <p:tgtEl>
                                          <p:spTgt spid="91"/>
                                        </p:tgtEl>
                                      </p:cBhvr>
                                    </p:animEffect>
                                  </p:childTnLst>
                                </p:cTn>
                              </p:par>
                            </p:childTnLst>
                          </p:cTn>
                        </p:par>
                        <p:par>
                          <p:cTn id="99" fill="hold">
                            <p:stCondLst>
                              <p:cond delay="9500"/>
                            </p:stCondLst>
                            <p:childTnLst>
                              <p:par>
                                <p:cTn id="100" presetID="22" presetClass="entr" presetSubtype="8" fill="hold" grpId="0" nodeType="afterEffect">
                                  <p:stCondLst>
                                    <p:cond delay="0"/>
                                  </p:stCondLst>
                                  <p:childTnLst>
                                    <p:set>
                                      <p:cBhvr>
                                        <p:cTn id="101" dur="1" fill="hold">
                                          <p:stCondLst>
                                            <p:cond delay="0"/>
                                          </p:stCondLst>
                                        </p:cTn>
                                        <p:tgtEl>
                                          <p:spTgt spid="90"/>
                                        </p:tgtEl>
                                        <p:attrNameLst>
                                          <p:attrName>style.visibility</p:attrName>
                                        </p:attrNameLst>
                                      </p:cBhvr>
                                      <p:to>
                                        <p:strVal val="visible"/>
                                      </p:to>
                                    </p:set>
                                    <p:animEffect transition="in" filter="wipe(left)">
                                      <p:cBhvr>
                                        <p:cTn id="102" dur="500"/>
                                        <p:tgtEl>
                                          <p:spTgt spid="90"/>
                                        </p:tgtEl>
                                      </p:cBhvr>
                                    </p:animEffect>
                                  </p:childTnLst>
                                </p:cTn>
                              </p:par>
                            </p:childTnLst>
                          </p:cTn>
                        </p:par>
                        <p:par>
                          <p:cTn id="103" fill="hold">
                            <p:stCondLst>
                              <p:cond delay="10000"/>
                            </p:stCondLst>
                            <p:childTnLst>
                              <p:par>
                                <p:cTn id="104" presetID="22" presetClass="entr" presetSubtype="8" fill="hold" grpId="0" nodeType="afterEffect">
                                  <p:stCondLst>
                                    <p:cond delay="0"/>
                                  </p:stCondLst>
                                  <p:childTnLst>
                                    <p:set>
                                      <p:cBhvr>
                                        <p:cTn id="105" dur="1" fill="hold">
                                          <p:stCondLst>
                                            <p:cond delay="0"/>
                                          </p:stCondLst>
                                        </p:cTn>
                                        <p:tgtEl>
                                          <p:spTgt spid="86"/>
                                        </p:tgtEl>
                                        <p:attrNameLst>
                                          <p:attrName>style.visibility</p:attrName>
                                        </p:attrNameLst>
                                      </p:cBhvr>
                                      <p:to>
                                        <p:strVal val="visible"/>
                                      </p:to>
                                    </p:set>
                                    <p:animEffect transition="in" filter="wipe(left)">
                                      <p:cBhvr>
                                        <p:cTn id="106" dur="500"/>
                                        <p:tgtEl>
                                          <p:spTgt spid="86"/>
                                        </p:tgtEl>
                                      </p:cBhvr>
                                    </p:animEffect>
                                  </p:childTnLst>
                                </p:cTn>
                              </p:par>
                            </p:childTnLst>
                          </p:cTn>
                        </p:par>
                        <p:par>
                          <p:cTn id="107" fill="hold">
                            <p:stCondLst>
                              <p:cond delay="10500"/>
                            </p:stCondLst>
                            <p:childTnLst>
                              <p:par>
                                <p:cTn id="108" presetID="22" presetClass="entr" presetSubtype="8" fill="hold" grpId="0" nodeType="afterEffect">
                                  <p:stCondLst>
                                    <p:cond delay="0"/>
                                  </p:stCondLst>
                                  <p:childTnLst>
                                    <p:set>
                                      <p:cBhvr>
                                        <p:cTn id="109" dur="1" fill="hold">
                                          <p:stCondLst>
                                            <p:cond delay="0"/>
                                          </p:stCondLst>
                                        </p:cTn>
                                        <p:tgtEl>
                                          <p:spTgt spid="88"/>
                                        </p:tgtEl>
                                        <p:attrNameLst>
                                          <p:attrName>style.visibility</p:attrName>
                                        </p:attrNameLst>
                                      </p:cBhvr>
                                      <p:to>
                                        <p:strVal val="visible"/>
                                      </p:to>
                                    </p:set>
                                    <p:animEffect transition="in" filter="wipe(left)">
                                      <p:cBhvr>
                                        <p:cTn id="110" dur="500"/>
                                        <p:tgtEl>
                                          <p:spTgt spid="88"/>
                                        </p:tgtEl>
                                      </p:cBhvr>
                                    </p:animEffect>
                                  </p:childTnLst>
                                </p:cTn>
                              </p:par>
                            </p:childTnLst>
                          </p:cTn>
                        </p:par>
                        <p:par>
                          <p:cTn id="111" fill="hold">
                            <p:stCondLst>
                              <p:cond delay="11000"/>
                            </p:stCondLst>
                            <p:childTnLst>
                              <p:par>
                                <p:cTn id="112" presetID="22" presetClass="entr" presetSubtype="8" fill="hold" grpId="0" nodeType="afterEffect">
                                  <p:stCondLst>
                                    <p:cond delay="0"/>
                                  </p:stCondLst>
                                  <p:childTnLst>
                                    <p:set>
                                      <p:cBhvr>
                                        <p:cTn id="113" dur="1" fill="hold">
                                          <p:stCondLst>
                                            <p:cond delay="0"/>
                                          </p:stCondLst>
                                        </p:cTn>
                                        <p:tgtEl>
                                          <p:spTgt spid="83"/>
                                        </p:tgtEl>
                                        <p:attrNameLst>
                                          <p:attrName>style.visibility</p:attrName>
                                        </p:attrNameLst>
                                      </p:cBhvr>
                                      <p:to>
                                        <p:strVal val="visible"/>
                                      </p:to>
                                    </p:set>
                                    <p:animEffect transition="in" filter="wipe(left)">
                                      <p:cBhvr>
                                        <p:cTn id="114" dur="500"/>
                                        <p:tgtEl>
                                          <p:spTgt spid="83"/>
                                        </p:tgtEl>
                                      </p:cBhvr>
                                    </p:animEffect>
                                  </p:childTnLst>
                                </p:cTn>
                              </p:par>
                            </p:childTnLst>
                          </p:cTn>
                        </p:par>
                        <p:par>
                          <p:cTn id="115" fill="hold">
                            <p:stCondLst>
                              <p:cond delay="11500"/>
                            </p:stCondLst>
                            <p:childTnLst>
                              <p:par>
                                <p:cTn id="116" presetID="22" presetClass="entr" presetSubtype="8" fill="hold" nodeType="afterEffect">
                                  <p:stCondLst>
                                    <p:cond delay="0"/>
                                  </p:stCondLst>
                                  <p:childTnLst>
                                    <p:set>
                                      <p:cBhvr>
                                        <p:cTn id="117" dur="1" fill="hold">
                                          <p:stCondLst>
                                            <p:cond delay="0"/>
                                          </p:stCondLst>
                                        </p:cTn>
                                        <p:tgtEl>
                                          <p:spTgt spid="100"/>
                                        </p:tgtEl>
                                        <p:attrNameLst>
                                          <p:attrName>style.visibility</p:attrName>
                                        </p:attrNameLst>
                                      </p:cBhvr>
                                      <p:to>
                                        <p:strVal val="visible"/>
                                      </p:to>
                                    </p:set>
                                    <p:animEffect transition="in" filter="wipe(left)">
                                      <p:cBhvr>
                                        <p:cTn id="118" dur="500"/>
                                        <p:tgtEl>
                                          <p:spTgt spid="100"/>
                                        </p:tgtEl>
                                      </p:cBhvr>
                                    </p:animEffect>
                                  </p:childTnLst>
                                </p:cTn>
                              </p:par>
                            </p:childTnLst>
                          </p:cTn>
                        </p:par>
                        <p:par>
                          <p:cTn id="119" fill="hold">
                            <p:stCondLst>
                              <p:cond delay="12000"/>
                            </p:stCondLst>
                            <p:childTnLst>
                              <p:par>
                                <p:cTn id="120" presetID="22" presetClass="entr" presetSubtype="8" fill="hold" grpId="0" nodeType="afterEffect">
                                  <p:stCondLst>
                                    <p:cond delay="0"/>
                                  </p:stCondLst>
                                  <p:childTnLst>
                                    <p:set>
                                      <p:cBhvr>
                                        <p:cTn id="121" dur="1" fill="hold">
                                          <p:stCondLst>
                                            <p:cond delay="0"/>
                                          </p:stCondLst>
                                        </p:cTn>
                                        <p:tgtEl>
                                          <p:spTgt spid="85"/>
                                        </p:tgtEl>
                                        <p:attrNameLst>
                                          <p:attrName>style.visibility</p:attrName>
                                        </p:attrNameLst>
                                      </p:cBhvr>
                                      <p:to>
                                        <p:strVal val="visible"/>
                                      </p:to>
                                    </p:set>
                                    <p:animEffect transition="in" filter="wipe(left)">
                                      <p:cBhvr>
                                        <p:cTn id="122" dur="500"/>
                                        <p:tgtEl>
                                          <p:spTgt spid="85"/>
                                        </p:tgtEl>
                                      </p:cBhvr>
                                    </p:animEffect>
                                  </p:childTnLst>
                                </p:cTn>
                              </p:par>
                            </p:childTnLst>
                          </p:cTn>
                        </p:par>
                        <p:par>
                          <p:cTn id="123" fill="hold">
                            <p:stCondLst>
                              <p:cond delay="12500"/>
                            </p:stCondLst>
                            <p:childTnLst>
                              <p:par>
                                <p:cTn id="124" presetID="22" presetClass="entr" presetSubtype="8" fill="hold" nodeType="afterEffect">
                                  <p:stCondLst>
                                    <p:cond delay="0"/>
                                  </p:stCondLst>
                                  <p:childTnLst>
                                    <p:set>
                                      <p:cBhvr>
                                        <p:cTn id="125" dur="1" fill="hold">
                                          <p:stCondLst>
                                            <p:cond delay="0"/>
                                          </p:stCondLst>
                                        </p:cTn>
                                        <p:tgtEl>
                                          <p:spTgt spid="103"/>
                                        </p:tgtEl>
                                        <p:attrNameLst>
                                          <p:attrName>style.visibility</p:attrName>
                                        </p:attrNameLst>
                                      </p:cBhvr>
                                      <p:to>
                                        <p:strVal val="visible"/>
                                      </p:to>
                                    </p:set>
                                    <p:animEffect transition="in" filter="wipe(left)">
                                      <p:cBhvr>
                                        <p:cTn id="126" dur="500"/>
                                        <p:tgtEl>
                                          <p:spTgt spid="103"/>
                                        </p:tgtEl>
                                      </p:cBhvr>
                                    </p:animEffec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499"/>
                                          </p:stCondLst>
                                        </p:cTn>
                                        <p:tgtEl>
                                          <p:spTgt spid="146"/>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499"/>
                                          </p:stCondLst>
                                        </p:cTn>
                                        <p:tgtEl>
                                          <p:spTgt spid="112"/>
                                        </p:tgtEl>
                                        <p:attrNameLst>
                                          <p:attrName>style.visibility</p:attrName>
                                        </p:attrNameLst>
                                      </p:cBhvr>
                                      <p:to>
                                        <p:strVal val="visible"/>
                                      </p:to>
                                    </p:set>
                                  </p:childTnLst>
                                </p:cTn>
                              </p:par>
                            </p:childTnLst>
                          </p:cTn>
                        </p:par>
                        <p:par>
                          <p:cTn id="135" fill="hold">
                            <p:stCondLst>
                              <p:cond delay="500"/>
                            </p:stCondLst>
                            <p:childTnLst>
                              <p:par>
                                <p:cTn id="136" presetID="22" presetClass="entr" presetSubtype="8" fill="hold" grpId="0" nodeType="afterEffect">
                                  <p:stCondLst>
                                    <p:cond delay="0"/>
                                  </p:stCondLst>
                                  <p:childTnLst>
                                    <p:set>
                                      <p:cBhvr>
                                        <p:cTn id="137" dur="1" fill="hold">
                                          <p:stCondLst>
                                            <p:cond delay="0"/>
                                          </p:stCondLst>
                                        </p:cTn>
                                        <p:tgtEl>
                                          <p:spTgt spid="144"/>
                                        </p:tgtEl>
                                        <p:attrNameLst>
                                          <p:attrName>style.visibility</p:attrName>
                                        </p:attrNameLst>
                                      </p:cBhvr>
                                      <p:to>
                                        <p:strVal val="visible"/>
                                      </p:to>
                                    </p:set>
                                    <p:animEffect transition="in" filter="wipe(left)">
                                      <p:cBhvr>
                                        <p:cTn id="138" dur="500"/>
                                        <p:tgtEl>
                                          <p:spTgt spid="144"/>
                                        </p:tgtEl>
                                      </p:cBhvr>
                                    </p:animEffect>
                                  </p:childTnLst>
                                </p:cTn>
                              </p:par>
                            </p:childTnLst>
                          </p:cTn>
                        </p:par>
                        <p:par>
                          <p:cTn id="139" fill="hold">
                            <p:stCondLst>
                              <p:cond delay="1000"/>
                            </p:stCondLst>
                            <p:childTnLst>
                              <p:par>
                                <p:cTn id="140" presetID="22" presetClass="entr" presetSubtype="8" fill="hold" grpId="0" nodeType="afterEffect">
                                  <p:stCondLst>
                                    <p:cond delay="0"/>
                                  </p:stCondLst>
                                  <p:childTnLst>
                                    <p:set>
                                      <p:cBhvr>
                                        <p:cTn id="141" dur="1" fill="hold">
                                          <p:stCondLst>
                                            <p:cond delay="0"/>
                                          </p:stCondLst>
                                        </p:cTn>
                                        <p:tgtEl>
                                          <p:spTgt spid="111"/>
                                        </p:tgtEl>
                                        <p:attrNameLst>
                                          <p:attrName>style.visibility</p:attrName>
                                        </p:attrNameLst>
                                      </p:cBhvr>
                                      <p:to>
                                        <p:strVal val="visible"/>
                                      </p:to>
                                    </p:set>
                                    <p:animEffect transition="in" filter="wipe(left)">
                                      <p:cBhvr>
                                        <p:cTn id="142" dur="500"/>
                                        <p:tgtEl>
                                          <p:spTgt spid="111"/>
                                        </p:tgtEl>
                                      </p:cBhvr>
                                    </p:animEffect>
                                  </p:childTnLst>
                                </p:cTn>
                              </p:par>
                            </p:childTnLst>
                          </p:cTn>
                        </p:par>
                        <p:par>
                          <p:cTn id="143" fill="hold">
                            <p:stCondLst>
                              <p:cond delay="1500"/>
                            </p:stCondLst>
                            <p:childTnLst>
                              <p:par>
                                <p:cTn id="144" presetID="22" presetClass="entr" presetSubtype="8" fill="hold" grpId="0" nodeType="afterEffect">
                                  <p:stCondLst>
                                    <p:cond delay="0"/>
                                  </p:stCondLst>
                                  <p:childTnLst>
                                    <p:set>
                                      <p:cBhvr>
                                        <p:cTn id="145" dur="1" fill="hold">
                                          <p:stCondLst>
                                            <p:cond delay="0"/>
                                          </p:stCondLst>
                                        </p:cTn>
                                        <p:tgtEl>
                                          <p:spTgt spid="109"/>
                                        </p:tgtEl>
                                        <p:attrNameLst>
                                          <p:attrName>style.visibility</p:attrName>
                                        </p:attrNameLst>
                                      </p:cBhvr>
                                      <p:to>
                                        <p:strVal val="visible"/>
                                      </p:to>
                                    </p:set>
                                    <p:animEffect transition="in" filter="wipe(left)">
                                      <p:cBhvr>
                                        <p:cTn id="146" dur="500"/>
                                        <p:tgtEl>
                                          <p:spTgt spid="109"/>
                                        </p:tgtEl>
                                      </p:cBhvr>
                                    </p:animEffect>
                                  </p:childTnLst>
                                </p:cTn>
                              </p:par>
                            </p:childTnLst>
                          </p:cTn>
                        </p:par>
                        <p:par>
                          <p:cTn id="147" fill="hold">
                            <p:stCondLst>
                              <p:cond delay="2000"/>
                            </p:stCondLst>
                            <p:childTnLst>
                              <p:par>
                                <p:cTn id="148" presetID="22" presetClass="entr" presetSubtype="8" fill="hold" grpId="0" nodeType="afterEffect">
                                  <p:stCondLst>
                                    <p:cond delay="0"/>
                                  </p:stCondLst>
                                  <p:childTnLst>
                                    <p:set>
                                      <p:cBhvr>
                                        <p:cTn id="149" dur="1" fill="hold">
                                          <p:stCondLst>
                                            <p:cond delay="0"/>
                                          </p:stCondLst>
                                        </p:cTn>
                                        <p:tgtEl>
                                          <p:spTgt spid="110"/>
                                        </p:tgtEl>
                                        <p:attrNameLst>
                                          <p:attrName>style.visibility</p:attrName>
                                        </p:attrNameLst>
                                      </p:cBhvr>
                                      <p:to>
                                        <p:strVal val="visible"/>
                                      </p:to>
                                    </p:set>
                                    <p:animEffect transition="in" filter="wipe(left)">
                                      <p:cBhvr>
                                        <p:cTn id="150" dur="500"/>
                                        <p:tgtEl>
                                          <p:spTgt spid="110"/>
                                        </p:tgtEl>
                                      </p:cBhvr>
                                    </p:animEffect>
                                  </p:childTnLst>
                                </p:cTn>
                              </p:par>
                            </p:childTnLst>
                          </p:cTn>
                        </p:par>
                        <p:par>
                          <p:cTn id="151" fill="hold">
                            <p:stCondLst>
                              <p:cond delay="2500"/>
                            </p:stCondLst>
                            <p:childTnLst>
                              <p:par>
                                <p:cTn id="152" presetID="22" presetClass="entr" presetSubtype="8" fill="hold" grpId="0" nodeType="afterEffect">
                                  <p:stCondLst>
                                    <p:cond delay="0"/>
                                  </p:stCondLst>
                                  <p:childTnLst>
                                    <p:set>
                                      <p:cBhvr>
                                        <p:cTn id="153" dur="1" fill="hold">
                                          <p:stCondLst>
                                            <p:cond delay="0"/>
                                          </p:stCondLst>
                                        </p:cTn>
                                        <p:tgtEl>
                                          <p:spTgt spid="145"/>
                                        </p:tgtEl>
                                        <p:attrNameLst>
                                          <p:attrName>style.visibility</p:attrName>
                                        </p:attrNameLst>
                                      </p:cBhvr>
                                      <p:to>
                                        <p:strVal val="visible"/>
                                      </p:to>
                                    </p:set>
                                    <p:animEffect transition="in" filter="wipe(left)">
                                      <p:cBhvr>
                                        <p:cTn id="154" dur="500"/>
                                        <p:tgtEl>
                                          <p:spTgt spid="145"/>
                                        </p:tgtEl>
                                      </p:cBhvr>
                                    </p:animEffect>
                                  </p:childTnLst>
                                </p:cTn>
                              </p:par>
                            </p:childTnLst>
                          </p:cTn>
                        </p:par>
                        <p:par>
                          <p:cTn id="155" fill="hold">
                            <p:stCondLst>
                              <p:cond delay="3000"/>
                            </p:stCondLst>
                            <p:childTnLst>
                              <p:par>
                                <p:cTn id="156" presetID="22" presetClass="entr" presetSubtype="8" fill="hold" grpId="0" nodeType="afterEffect">
                                  <p:stCondLst>
                                    <p:cond delay="0"/>
                                  </p:stCondLst>
                                  <p:childTnLst>
                                    <p:set>
                                      <p:cBhvr>
                                        <p:cTn id="157" dur="1" fill="hold">
                                          <p:stCondLst>
                                            <p:cond delay="0"/>
                                          </p:stCondLst>
                                        </p:cTn>
                                        <p:tgtEl>
                                          <p:spTgt spid="108"/>
                                        </p:tgtEl>
                                        <p:attrNameLst>
                                          <p:attrName>style.visibility</p:attrName>
                                        </p:attrNameLst>
                                      </p:cBhvr>
                                      <p:to>
                                        <p:strVal val="visible"/>
                                      </p:to>
                                    </p:set>
                                    <p:animEffect transition="in" filter="wipe(left)">
                                      <p:cBhvr>
                                        <p:cTn id="158" dur="500"/>
                                        <p:tgtEl>
                                          <p:spTgt spid="108"/>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nodeType="clickEffect">
                                  <p:stCondLst>
                                    <p:cond delay="0"/>
                                  </p:stCondLst>
                                  <p:childTnLst>
                                    <p:set>
                                      <p:cBhvr>
                                        <p:cTn id="162" dur="1" fill="hold">
                                          <p:stCondLst>
                                            <p:cond delay="0"/>
                                          </p:stCondLst>
                                        </p:cTn>
                                        <p:tgtEl>
                                          <p:spTgt spid="113"/>
                                        </p:tgtEl>
                                        <p:attrNameLst>
                                          <p:attrName>style.visibility</p:attrName>
                                        </p:attrNameLst>
                                      </p:cBhvr>
                                      <p:to>
                                        <p:strVal val="visible"/>
                                      </p:to>
                                    </p:set>
                                    <p:animEffect transition="in" filter="wipe(left)">
                                      <p:cBhvr>
                                        <p:cTn id="163" dur="500"/>
                                        <p:tgtEl>
                                          <p:spTgt spid="113"/>
                                        </p:tgtEl>
                                      </p:cBhvr>
                                    </p:animEffect>
                                  </p:childTnLst>
                                </p:cTn>
                              </p:par>
                            </p:childTnLst>
                          </p:cTn>
                        </p:par>
                      </p:childTnLst>
                    </p:cTn>
                  </p:par>
                  <p:par>
                    <p:cTn id="164" fill="hold">
                      <p:stCondLst>
                        <p:cond delay="indefinite"/>
                      </p:stCondLst>
                      <p:childTnLst>
                        <p:par>
                          <p:cTn id="165" fill="hold">
                            <p:stCondLst>
                              <p:cond delay="0"/>
                            </p:stCondLst>
                            <p:childTnLst>
                              <p:par>
                                <p:cTn id="166" presetID="22" presetClass="entr" presetSubtype="8" fill="hold" nodeType="clickEffect">
                                  <p:stCondLst>
                                    <p:cond delay="0"/>
                                  </p:stCondLst>
                                  <p:childTnLst>
                                    <p:set>
                                      <p:cBhvr>
                                        <p:cTn id="167" dur="1" fill="hold">
                                          <p:stCondLst>
                                            <p:cond delay="0"/>
                                          </p:stCondLst>
                                        </p:cTn>
                                        <p:tgtEl>
                                          <p:spTgt spid="147"/>
                                        </p:tgtEl>
                                        <p:attrNameLst>
                                          <p:attrName>style.visibility</p:attrName>
                                        </p:attrNameLst>
                                      </p:cBhvr>
                                      <p:to>
                                        <p:strVal val="visible"/>
                                      </p:to>
                                    </p:set>
                                    <p:animEffect transition="in" filter="wipe(left)">
                                      <p:cBhvr>
                                        <p:cTn id="168" dur="500"/>
                                        <p:tgtEl>
                                          <p:spTgt spid="147"/>
                                        </p:tgtEl>
                                      </p:cBhvr>
                                    </p:animEffect>
                                  </p:childTnLst>
                                </p:cTn>
                              </p:par>
                            </p:childTnLst>
                          </p:cTn>
                        </p:par>
                      </p:childTnLst>
                    </p:cTn>
                  </p:par>
                  <p:par>
                    <p:cTn id="169" fill="hold">
                      <p:stCondLst>
                        <p:cond delay="indefinite"/>
                      </p:stCondLst>
                      <p:childTnLst>
                        <p:par>
                          <p:cTn id="170" fill="hold">
                            <p:stCondLst>
                              <p:cond delay="0"/>
                            </p:stCondLst>
                            <p:childTnLst>
                              <p:par>
                                <p:cTn id="171" presetID="22" presetClass="entr" presetSubtype="8" fill="hold" nodeType="clickEffect">
                                  <p:stCondLst>
                                    <p:cond delay="0"/>
                                  </p:stCondLst>
                                  <p:childTnLst>
                                    <p:set>
                                      <p:cBhvr>
                                        <p:cTn id="172" dur="1" fill="hold">
                                          <p:stCondLst>
                                            <p:cond delay="0"/>
                                          </p:stCondLst>
                                        </p:cTn>
                                        <p:tgtEl>
                                          <p:spTgt spid="148"/>
                                        </p:tgtEl>
                                        <p:attrNameLst>
                                          <p:attrName>style.visibility</p:attrName>
                                        </p:attrNameLst>
                                      </p:cBhvr>
                                      <p:to>
                                        <p:strVal val="visible"/>
                                      </p:to>
                                    </p:set>
                                    <p:animEffect transition="in" filter="wipe(left)">
                                      <p:cBhvr>
                                        <p:cTn id="173" dur="500"/>
                                        <p:tgtEl>
                                          <p:spTgt spid="148"/>
                                        </p:tgtEl>
                                      </p:cBhvr>
                                    </p:animEffect>
                                  </p:childTnLst>
                                </p:cTn>
                              </p:par>
                            </p:childTnLst>
                          </p:cTn>
                        </p:par>
                      </p:childTnLst>
                    </p:cTn>
                  </p:par>
                  <p:par>
                    <p:cTn id="174" fill="hold">
                      <p:stCondLst>
                        <p:cond delay="indefinite"/>
                      </p:stCondLst>
                      <p:childTnLst>
                        <p:par>
                          <p:cTn id="175" fill="hold">
                            <p:stCondLst>
                              <p:cond delay="0"/>
                            </p:stCondLst>
                            <p:childTnLst>
                              <p:par>
                                <p:cTn id="176" presetID="1" presetClass="entr" presetSubtype="0" fill="hold" grpId="0" nodeType="clickEffect">
                                  <p:stCondLst>
                                    <p:cond delay="0"/>
                                  </p:stCondLst>
                                  <p:childTnLst>
                                    <p:set>
                                      <p:cBhvr>
                                        <p:cTn id="177" dur="1" fill="hold">
                                          <p:stCondLst>
                                            <p:cond delay="499"/>
                                          </p:stCondLst>
                                        </p:cTn>
                                        <p:tgtEl>
                                          <p:spTgt spid="195"/>
                                        </p:tgtEl>
                                        <p:attrNameLst>
                                          <p:attrName>style.visibility</p:attrName>
                                        </p:attrNameLst>
                                      </p:cBhvr>
                                      <p:to>
                                        <p:strVal val="visible"/>
                                      </p:to>
                                    </p:set>
                                  </p:childTnLst>
                                </p:cTn>
                              </p:par>
                              <p:par>
                                <p:cTn id="178" presetID="3" presetClass="entr" presetSubtype="10" fill="hold" nodeType="withEffect">
                                  <p:stCondLst>
                                    <p:cond delay="0"/>
                                  </p:stCondLst>
                                  <p:childTnLst>
                                    <p:set>
                                      <p:cBhvr>
                                        <p:cTn id="179" dur="1" fill="hold">
                                          <p:stCondLst>
                                            <p:cond delay="0"/>
                                          </p:stCondLst>
                                        </p:cTn>
                                        <p:tgtEl>
                                          <p:spTgt spid="190"/>
                                        </p:tgtEl>
                                        <p:attrNameLst>
                                          <p:attrName>style.visibility</p:attrName>
                                        </p:attrNameLst>
                                      </p:cBhvr>
                                      <p:to>
                                        <p:strVal val="visible"/>
                                      </p:to>
                                    </p:set>
                                    <p:animEffect transition="in" filter="blinds(horizontal)">
                                      <p:cBhvr>
                                        <p:cTn id="180" dur="500"/>
                                        <p:tgtEl>
                                          <p:spTgt spid="190"/>
                                        </p:tgtEl>
                                      </p:cBhvr>
                                    </p:animEffec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0" nodeType="clickEffect">
                                  <p:stCondLst>
                                    <p:cond delay="0"/>
                                  </p:stCondLst>
                                  <p:childTnLst>
                                    <p:set>
                                      <p:cBhvr>
                                        <p:cTn id="184" dur="1" fill="hold">
                                          <p:stCondLst>
                                            <p:cond delay="499"/>
                                          </p:stCondLst>
                                        </p:cTn>
                                        <p:tgtEl>
                                          <p:spTgt spid="191"/>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22" presetClass="entr" presetSubtype="8" fill="hold" nodeType="clickEffect">
                                  <p:stCondLst>
                                    <p:cond delay="0"/>
                                  </p:stCondLst>
                                  <p:childTnLst>
                                    <p:set>
                                      <p:cBhvr>
                                        <p:cTn id="188" dur="1" fill="hold">
                                          <p:stCondLst>
                                            <p:cond delay="0"/>
                                          </p:stCondLst>
                                        </p:cTn>
                                        <p:tgtEl>
                                          <p:spTgt spid="192"/>
                                        </p:tgtEl>
                                        <p:attrNameLst>
                                          <p:attrName>style.visibility</p:attrName>
                                        </p:attrNameLst>
                                      </p:cBhvr>
                                      <p:to>
                                        <p:strVal val="visible"/>
                                      </p:to>
                                    </p:set>
                                    <p:animEffect transition="in" filter="wipe(left)">
                                      <p:cBhvr>
                                        <p:cTn id="189" dur="500"/>
                                        <p:tgtEl>
                                          <p:spTgt spid="192"/>
                                        </p:tgtEl>
                                      </p:cBhvr>
                                    </p:animEffect>
                                  </p:childTnLst>
                                </p:cTn>
                              </p:par>
                            </p:childTnLst>
                          </p:cTn>
                        </p:par>
                      </p:childTnLst>
                    </p:cTn>
                  </p:par>
                  <p:par>
                    <p:cTn id="190" fill="hold">
                      <p:stCondLst>
                        <p:cond delay="indefinite"/>
                      </p:stCondLst>
                      <p:childTnLst>
                        <p:par>
                          <p:cTn id="191" fill="hold">
                            <p:stCondLst>
                              <p:cond delay="0"/>
                            </p:stCondLst>
                            <p:childTnLst>
                              <p:par>
                                <p:cTn id="192" presetID="22" presetClass="entr" presetSubtype="8" fill="hold" nodeType="clickEffect">
                                  <p:stCondLst>
                                    <p:cond delay="0"/>
                                  </p:stCondLst>
                                  <p:childTnLst>
                                    <p:set>
                                      <p:cBhvr>
                                        <p:cTn id="193" dur="1" fill="hold">
                                          <p:stCondLst>
                                            <p:cond delay="0"/>
                                          </p:stCondLst>
                                        </p:cTn>
                                        <p:tgtEl>
                                          <p:spTgt spid="193"/>
                                        </p:tgtEl>
                                        <p:attrNameLst>
                                          <p:attrName>style.visibility</p:attrName>
                                        </p:attrNameLst>
                                      </p:cBhvr>
                                      <p:to>
                                        <p:strVal val="visible"/>
                                      </p:to>
                                    </p:set>
                                    <p:animEffect transition="in" filter="wipe(left)">
                                      <p:cBhvr>
                                        <p:cTn id="194" dur="500"/>
                                        <p:tgtEl>
                                          <p:spTgt spid="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9" grpId="0" animBg="1"/>
      <p:bldP spid="186" grpId="0" autoUpdateAnimBg="0"/>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108" grpId="0" animBg="1"/>
      <p:bldP spid="109" grpId="0" animBg="1"/>
      <p:bldP spid="110" grpId="0" animBg="1"/>
      <p:bldP spid="111" grpId="0" animBg="1"/>
      <p:bldP spid="112" grpId="0" animBg="1"/>
      <p:bldP spid="144" grpId="0" animBg="1"/>
      <p:bldP spid="145" grpId="0" animBg="1"/>
      <p:bldP spid="146" grpId="0" autoUpdateAnimBg="0"/>
      <p:bldP spid="191" grpId="0" autoUpdateAnimBg="0"/>
      <p:bldP spid="195"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9" name="Rectangle 61"/>
          <p:cNvSpPr>
            <a:spLocks noChangeArrowheads="1"/>
          </p:cNvSpPr>
          <p:nvPr/>
        </p:nvSpPr>
        <p:spPr bwMode="auto">
          <a:xfrm>
            <a:off x="7610077" y="872492"/>
            <a:ext cx="4551955" cy="5432837"/>
          </a:xfrm>
          <a:prstGeom prst="rect">
            <a:avLst/>
          </a:prstGeom>
          <a:solidFill>
            <a:srgbClr val="B9CDE5"/>
          </a:solidFill>
          <a:ln>
            <a:noFill/>
          </a:ln>
          <a:effectLst/>
        </p:spPr>
        <p:txBody>
          <a:bodyPr wrap="none" anchor="ctr"/>
          <a:lstStyle/>
          <a:p>
            <a:endParaRPr lang="zh-CN" altLang="en-US"/>
          </a:p>
        </p:txBody>
      </p:sp>
      <p:sp>
        <p:nvSpPr>
          <p:cNvPr id="73" name="Oval 6"/>
          <p:cNvSpPr>
            <a:spLocks noChangeArrowheads="1"/>
          </p:cNvSpPr>
          <p:nvPr/>
        </p:nvSpPr>
        <p:spPr bwMode="auto">
          <a:xfrm>
            <a:off x="8616280" y="980728"/>
            <a:ext cx="2286000" cy="2286000"/>
          </a:xfrm>
          <a:prstGeom prst="ellipse">
            <a:avLst/>
          </a:prstGeom>
          <a:gradFill rotWithShape="0">
            <a:gsLst>
              <a:gs pos="0">
                <a:srgbClr val="008000"/>
              </a:gs>
              <a:gs pos="100000">
                <a:srgbClr val="99CC00"/>
              </a:gs>
            </a:gsLst>
            <a:path path="shape">
              <a:fillToRect l="50000" t="50000" r="50000" b="50000"/>
            </a:path>
          </a:gradFill>
          <a:ln w="28575">
            <a:solidFill>
              <a:srgbClr val="99CC00"/>
            </a:solidFill>
            <a:round/>
            <a:headEnd/>
            <a:tailEnd/>
          </a:ln>
          <a:effectLst>
            <a:outerShdw dist="35921" dir="2700000" algn="ctr" rotWithShape="0">
              <a:schemeClr val="hlink"/>
            </a:outerShdw>
          </a:effectLst>
        </p:spPr>
        <p:txBody>
          <a:bodyPr wrap="none" anchor="ctr"/>
          <a:lstStyle/>
          <a:p>
            <a:endParaRPr lang="zh-CN" altLang="en-US" sz="2000" b="1"/>
          </a:p>
        </p:txBody>
      </p:sp>
      <p:sp>
        <p:nvSpPr>
          <p:cNvPr id="74" name="AutoShape 7"/>
          <p:cNvSpPr>
            <a:spLocks noChangeArrowheads="1"/>
          </p:cNvSpPr>
          <p:nvPr/>
        </p:nvSpPr>
        <p:spPr bwMode="auto">
          <a:xfrm rot="16200000">
            <a:off x="9300493" y="598140"/>
            <a:ext cx="152400" cy="762000"/>
          </a:xfrm>
          <a:prstGeom prst="upArrow">
            <a:avLst>
              <a:gd name="adj1" fmla="val 50000"/>
              <a:gd name="adj2" fmla="val 125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75" name="AutoShape 8"/>
          <p:cNvSpPr>
            <a:spLocks noChangeArrowheads="1"/>
          </p:cNvSpPr>
          <p:nvPr/>
        </p:nvSpPr>
        <p:spPr bwMode="auto">
          <a:xfrm rot="16200000" flipV="1">
            <a:off x="10062493" y="2884140"/>
            <a:ext cx="152400" cy="762000"/>
          </a:xfrm>
          <a:prstGeom prst="upArrow">
            <a:avLst>
              <a:gd name="adj1" fmla="val 50000"/>
              <a:gd name="adj2" fmla="val 125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76" name="Line 9"/>
          <p:cNvSpPr>
            <a:spLocks noChangeShapeType="1"/>
          </p:cNvSpPr>
          <p:nvPr/>
        </p:nvSpPr>
        <p:spPr bwMode="auto">
          <a:xfrm rot="16200000" flipV="1">
            <a:off x="8616280" y="1361728"/>
            <a:ext cx="2286000" cy="1524000"/>
          </a:xfrm>
          <a:prstGeom prst="line">
            <a:avLst/>
          </a:prstGeom>
          <a:noFill/>
          <a:ln w="9525">
            <a:solidFill>
              <a:schemeClr val="tx1"/>
            </a:solidFill>
            <a:round/>
            <a:headEnd/>
            <a:tailEnd/>
          </a:ln>
          <a:effectLst>
            <a:outerShdw dist="35921" dir="2700000" algn="ctr" rotWithShape="0">
              <a:schemeClr val="hlink"/>
            </a:outerShdw>
          </a:effectLst>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77" name="AutoShape 10"/>
          <p:cNvSpPr>
            <a:spLocks noChangeArrowheads="1"/>
          </p:cNvSpPr>
          <p:nvPr/>
        </p:nvSpPr>
        <p:spPr bwMode="auto">
          <a:xfrm rot="16200000">
            <a:off x="9490993" y="1245840"/>
            <a:ext cx="76200" cy="457200"/>
          </a:xfrm>
          <a:prstGeom prst="upArrow">
            <a:avLst>
              <a:gd name="adj1" fmla="val 50000"/>
              <a:gd name="adj2" fmla="val 15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78" name="AutoShape 11"/>
          <p:cNvSpPr>
            <a:spLocks noChangeArrowheads="1"/>
          </p:cNvSpPr>
          <p:nvPr/>
        </p:nvSpPr>
        <p:spPr bwMode="auto">
          <a:xfrm rot="16200000" flipV="1">
            <a:off x="9948193" y="2541240"/>
            <a:ext cx="76200" cy="457200"/>
          </a:xfrm>
          <a:prstGeom prst="upArrow">
            <a:avLst>
              <a:gd name="adj1" fmla="val 50000"/>
              <a:gd name="adj2" fmla="val 15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79" name="AutoShape 12"/>
          <p:cNvSpPr>
            <a:spLocks noChangeArrowheads="1"/>
          </p:cNvSpPr>
          <p:nvPr/>
        </p:nvSpPr>
        <p:spPr bwMode="auto">
          <a:xfrm rot="16200000">
            <a:off x="9414793" y="941040"/>
            <a:ext cx="76200" cy="609600"/>
          </a:xfrm>
          <a:prstGeom prst="upArrow">
            <a:avLst>
              <a:gd name="adj1" fmla="val 50000"/>
              <a:gd name="adj2" fmla="val 20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80" name="AutoShape 13"/>
          <p:cNvSpPr>
            <a:spLocks noChangeArrowheads="1"/>
          </p:cNvSpPr>
          <p:nvPr/>
        </p:nvSpPr>
        <p:spPr bwMode="auto">
          <a:xfrm rot="16200000" flipV="1">
            <a:off x="10024393" y="2693640"/>
            <a:ext cx="76200" cy="609600"/>
          </a:xfrm>
          <a:prstGeom prst="upArrow">
            <a:avLst>
              <a:gd name="adj1" fmla="val 50000"/>
              <a:gd name="adj2" fmla="val 20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81" name="AutoShape 14"/>
          <p:cNvSpPr>
            <a:spLocks noChangeArrowheads="1"/>
          </p:cNvSpPr>
          <p:nvPr/>
        </p:nvSpPr>
        <p:spPr bwMode="auto">
          <a:xfrm rot="16200000">
            <a:off x="9567193" y="1550640"/>
            <a:ext cx="76200" cy="304800"/>
          </a:xfrm>
          <a:prstGeom prst="upArrow">
            <a:avLst>
              <a:gd name="adj1" fmla="val 50000"/>
              <a:gd name="adj2" fmla="val 10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82" name="AutoShape 15"/>
          <p:cNvSpPr>
            <a:spLocks noChangeArrowheads="1"/>
          </p:cNvSpPr>
          <p:nvPr/>
        </p:nvSpPr>
        <p:spPr bwMode="auto">
          <a:xfrm rot="16200000" flipV="1">
            <a:off x="9871993" y="2388840"/>
            <a:ext cx="76200" cy="304800"/>
          </a:xfrm>
          <a:prstGeom prst="upArrow">
            <a:avLst>
              <a:gd name="adj1" fmla="val 50000"/>
              <a:gd name="adj2" fmla="val 10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83" name="AutoShape 16"/>
          <p:cNvSpPr>
            <a:spLocks noChangeArrowheads="1"/>
          </p:cNvSpPr>
          <p:nvPr/>
        </p:nvSpPr>
        <p:spPr bwMode="auto">
          <a:xfrm>
            <a:off x="10826080" y="1361728"/>
            <a:ext cx="152400" cy="762000"/>
          </a:xfrm>
          <a:prstGeom prst="upArrow">
            <a:avLst>
              <a:gd name="adj1" fmla="val 50000"/>
              <a:gd name="adj2" fmla="val 125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84" name="AutoShape 17"/>
          <p:cNvSpPr>
            <a:spLocks noChangeArrowheads="1"/>
          </p:cNvSpPr>
          <p:nvPr/>
        </p:nvSpPr>
        <p:spPr bwMode="auto">
          <a:xfrm flipV="1">
            <a:off x="8540080" y="2123728"/>
            <a:ext cx="152400" cy="762000"/>
          </a:xfrm>
          <a:prstGeom prst="upArrow">
            <a:avLst>
              <a:gd name="adj1" fmla="val 50000"/>
              <a:gd name="adj2" fmla="val 125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85" name="Line 18"/>
          <p:cNvSpPr>
            <a:spLocks noChangeShapeType="1"/>
          </p:cNvSpPr>
          <p:nvPr/>
        </p:nvSpPr>
        <p:spPr bwMode="auto">
          <a:xfrm flipV="1">
            <a:off x="8616280" y="1361728"/>
            <a:ext cx="2286000" cy="1524000"/>
          </a:xfrm>
          <a:prstGeom prst="line">
            <a:avLst/>
          </a:prstGeom>
          <a:noFill/>
          <a:ln w="9525">
            <a:solidFill>
              <a:schemeClr val="tx1"/>
            </a:solidFill>
            <a:round/>
            <a:headEnd/>
            <a:tailEnd/>
          </a:ln>
          <a:effectLst>
            <a:outerShdw dist="35921" dir="2700000" algn="ctr" rotWithShape="0">
              <a:schemeClr val="hlink"/>
            </a:outerShdw>
          </a:effectLst>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86" name="AutoShape 19"/>
          <p:cNvSpPr>
            <a:spLocks noChangeArrowheads="1"/>
          </p:cNvSpPr>
          <p:nvPr/>
        </p:nvSpPr>
        <p:spPr bwMode="auto">
          <a:xfrm>
            <a:off x="10368880" y="1666528"/>
            <a:ext cx="76200" cy="457200"/>
          </a:xfrm>
          <a:prstGeom prst="upArrow">
            <a:avLst>
              <a:gd name="adj1" fmla="val 50000"/>
              <a:gd name="adj2" fmla="val 15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87" name="AutoShape 20"/>
          <p:cNvSpPr>
            <a:spLocks noChangeArrowheads="1"/>
          </p:cNvSpPr>
          <p:nvPr/>
        </p:nvSpPr>
        <p:spPr bwMode="auto">
          <a:xfrm flipV="1">
            <a:off x="9073480" y="2123728"/>
            <a:ext cx="76200" cy="457200"/>
          </a:xfrm>
          <a:prstGeom prst="upArrow">
            <a:avLst>
              <a:gd name="adj1" fmla="val 50000"/>
              <a:gd name="adj2" fmla="val 15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88" name="AutoShape 21"/>
          <p:cNvSpPr>
            <a:spLocks noChangeArrowheads="1"/>
          </p:cNvSpPr>
          <p:nvPr/>
        </p:nvSpPr>
        <p:spPr bwMode="auto">
          <a:xfrm>
            <a:off x="10597480" y="1514128"/>
            <a:ext cx="76200" cy="609600"/>
          </a:xfrm>
          <a:prstGeom prst="upArrow">
            <a:avLst>
              <a:gd name="adj1" fmla="val 50000"/>
              <a:gd name="adj2" fmla="val 20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89" name="AutoShape 22"/>
          <p:cNvSpPr>
            <a:spLocks noChangeArrowheads="1"/>
          </p:cNvSpPr>
          <p:nvPr/>
        </p:nvSpPr>
        <p:spPr bwMode="auto">
          <a:xfrm flipV="1">
            <a:off x="8844880" y="2123728"/>
            <a:ext cx="76200" cy="609600"/>
          </a:xfrm>
          <a:prstGeom prst="upArrow">
            <a:avLst>
              <a:gd name="adj1" fmla="val 50000"/>
              <a:gd name="adj2" fmla="val 20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90" name="AutoShape 23"/>
          <p:cNvSpPr>
            <a:spLocks noChangeArrowheads="1"/>
          </p:cNvSpPr>
          <p:nvPr/>
        </p:nvSpPr>
        <p:spPr bwMode="auto">
          <a:xfrm>
            <a:off x="10140280" y="1818928"/>
            <a:ext cx="76200" cy="304800"/>
          </a:xfrm>
          <a:prstGeom prst="upArrow">
            <a:avLst>
              <a:gd name="adj1" fmla="val 50000"/>
              <a:gd name="adj2" fmla="val 10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91" name="AutoShape 24"/>
          <p:cNvSpPr>
            <a:spLocks noChangeArrowheads="1"/>
          </p:cNvSpPr>
          <p:nvPr/>
        </p:nvSpPr>
        <p:spPr bwMode="auto">
          <a:xfrm flipV="1">
            <a:off x="9302080" y="2123728"/>
            <a:ext cx="76200" cy="304800"/>
          </a:xfrm>
          <a:prstGeom prst="upArrow">
            <a:avLst>
              <a:gd name="adj1" fmla="val 50000"/>
              <a:gd name="adj2" fmla="val 10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sz="2000" b="1"/>
          </a:p>
        </p:txBody>
      </p:sp>
      <p:sp>
        <p:nvSpPr>
          <p:cNvPr id="92" name="Oval 25"/>
          <p:cNvSpPr>
            <a:spLocks noChangeArrowheads="1"/>
          </p:cNvSpPr>
          <p:nvPr/>
        </p:nvSpPr>
        <p:spPr bwMode="auto">
          <a:xfrm>
            <a:off x="9683080" y="2047528"/>
            <a:ext cx="152400" cy="152400"/>
          </a:xfrm>
          <a:prstGeom prst="ellipse">
            <a:avLst/>
          </a:prstGeom>
          <a:solidFill>
            <a:srgbClr val="CC3300"/>
          </a:solidFill>
          <a:ln w="9525">
            <a:solidFill>
              <a:schemeClr val="tx1"/>
            </a:solidFill>
            <a:round/>
            <a:headEnd/>
            <a:tailEnd/>
          </a:ln>
          <a:effectLst>
            <a:outerShdw dist="35921" dir="2700000" algn="ctr" rotWithShape="0">
              <a:schemeClr val="hlink"/>
            </a:outerShdw>
          </a:effectLst>
        </p:spPr>
        <p:txBody>
          <a:bodyPr wrap="none" anchor="ctr"/>
          <a:lstStyle/>
          <a:p>
            <a:endParaRPr lang="zh-CN" altLang="en-US" sz="2000" b="1"/>
          </a:p>
        </p:txBody>
      </p:sp>
      <p:sp>
        <p:nvSpPr>
          <p:cNvPr id="93" name="Line 26"/>
          <p:cNvSpPr>
            <a:spLocks noChangeShapeType="1"/>
          </p:cNvSpPr>
          <p:nvPr/>
        </p:nvSpPr>
        <p:spPr bwMode="auto">
          <a:xfrm>
            <a:off x="8616280" y="2123728"/>
            <a:ext cx="2286000" cy="0"/>
          </a:xfrm>
          <a:prstGeom prst="line">
            <a:avLst/>
          </a:prstGeom>
          <a:noFill/>
          <a:ln w="19050">
            <a:solidFill>
              <a:schemeClr val="accent2"/>
            </a:solidFill>
            <a:round/>
            <a:headEnd/>
            <a:tailEnd/>
          </a:ln>
          <a:effectLst>
            <a:outerShdw dist="35921" dir="2700000" algn="ctr" rotWithShape="0">
              <a:schemeClr val="hlink"/>
            </a:outerShdw>
          </a:effectLst>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94" name="Line 27"/>
          <p:cNvSpPr>
            <a:spLocks noChangeShapeType="1"/>
          </p:cNvSpPr>
          <p:nvPr/>
        </p:nvSpPr>
        <p:spPr bwMode="auto">
          <a:xfrm rot="16200000">
            <a:off x="8616280" y="2123728"/>
            <a:ext cx="2286000" cy="0"/>
          </a:xfrm>
          <a:prstGeom prst="line">
            <a:avLst/>
          </a:prstGeom>
          <a:noFill/>
          <a:ln w="19050">
            <a:solidFill>
              <a:schemeClr val="accent2"/>
            </a:solidFill>
            <a:round/>
            <a:headEnd/>
            <a:tailEnd/>
          </a:ln>
          <a:effectLst>
            <a:outerShdw dist="35921" dir="2700000" algn="ctr" rotWithShape="0">
              <a:schemeClr val="hlink"/>
            </a:outerShdw>
          </a:effectLst>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95" name="Arc 28"/>
          <p:cNvSpPr>
            <a:spLocks/>
          </p:cNvSpPr>
          <p:nvPr/>
        </p:nvSpPr>
        <p:spPr bwMode="auto">
          <a:xfrm rot="16200000" flipV="1">
            <a:off x="7951911" y="1645097"/>
            <a:ext cx="1023937" cy="304800"/>
          </a:xfrm>
          <a:custGeom>
            <a:avLst/>
            <a:gdLst>
              <a:gd name="T0" fmla="*/ 1023937 w 29317"/>
              <a:gd name="T1" fmla="*/ 35038 h 21600"/>
              <a:gd name="T2" fmla="*/ 0 w 29317"/>
              <a:gd name="T3" fmla="*/ 283901 h 21600"/>
              <a:gd name="T4" fmla="*/ 274521 w 29317"/>
              <a:gd name="T5" fmla="*/ 0 h 21600"/>
              <a:gd name="T6" fmla="*/ 0 60000 65536"/>
              <a:gd name="T7" fmla="*/ 0 60000 65536"/>
              <a:gd name="T8" fmla="*/ 0 60000 65536"/>
            </a:gdLst>
            <a:ahLst/>
            <a:cxnLst>
              <a:cxn ang="T6">
                <a:pos x="T0" y="T1"/>
              </a:cxn>
              <a:cxn ang="T7">
                <a:pos x="T2" y="T3"/>
              </a:cxn>
              <a:cxn ang="T8">
                <a:pos x="T4" y="T5"/>
              </a:cxn>
            </a:cxnLst>
            <a:rect l="0" t="0" r="r" b="b"/>
            <a:pathLst>
              <a:path w="29317" h="21600" fill="none" extrusionOk="0">
                <a:moveTo>
                  <a:pt x="29316" y="2482"/>
                </a:moveTo>
                <a:cubicBezTo>
                  <a:pt x="28055" y="13378"/>
                  <a:pt x="18828" y="21599"/>
                  <a:pt x="7860" y="21600"/>
                </a:cubicBezTo>
                <a:cubicBezTo>
                  <a:pt x="5170" y="21600"/>
                  <a:pt x="2504" y="21097"/>
                  <a:pt x="-1" y="20119"/>
                </a:cubicBezTo>
              </a:path>
              <a:path w="29317" h="21600" stroke="0" extrusionOk="0">
                <a:moveTo>
                  <a:pt x="29316" y="2482"/>
                </a:moveTo>
                <a:cubicBezTo>
                  <a:pt x="28055" y="13378"/>
                  <a:pt x="18828" y="21599"/>
                  <a:pt x="7860" y="21600"/>
                </a:cubicBezTo>
                <a:cubicBezTo>
                  <a:pt x="5170" y="21600"/>
                  <a:pt x="2504" y="21097"/>
                  <a:pt x="-1" y="20119"/>
                </a:cubicBezTo>
                <a:lnTo>
                  <a:pt x="7860" y="0"/>
                </a:lnTo>
                <a:lnTo>
                  <a:pt x="29316" y="2482"/>
                </a:lnTo>
                <a:close/>
              </a:path>
            </a:pathLst>
          </a:custGeom>
          <a:noFill/>
          <a:ln w="57150">
            <a:solidFill>
              <a:schemeClr val="tx1"/>
            </a:solidFill>
            <a:round/>
            <a:headEnd/>
            <a:tailEnd type="stealth"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sz="2000" b="1"/>
          </a:p>
        </p:txBody>
      </p:sp>
      <p:grpSp>
        <p:nvGrpSpPr>
          <p:cNvPr id="97" name="Group 30"/>
          <p:cNvGrpSpPr>
            <a:grpSpLocks/>
          </p:cNvGrpSpPr>
          <p:nvPr/>
        </p:nvGrpSpPr>
        <p:grpSpPr bwMode="auto">
          <a:xfrm>
            <a:off x="10680030" y="3114328"/>
            <a:ext cx="755650" cy="381000"/>
            <a:chOff x="2452" y="2976"/>
            <a:chExt cx="476" cy="240"/>
          </a:xfrm>
        </p:grpSpPr>
        <p:sp>
          <p:nvSpPr>
            <p:cNvPr id="98" name="WordArt 31"/>
            <p:cNvSpPr>
              <a:spLocks noChangeArrowheads="1" noChangeShapeType="1" noTextEdit="1"/>
            </p:cNvSpPr>
            <p:nvPr/>
          </p:nvSpPr>
          <p:spPr bwMode="auto">
            <a:xfrm>
              <a:off x="2452" y="2976"/>
              <a:ext cx="236" cy="224"/>
            </a:xfrm>
            <a:prstGeom prst="rect">
              <a:avLst/>
            </a:prstGeom>
          </p:spPr>
          <p:txBody>
            <a:bodyPr wrap="none" fromWordArt="1">
              <a:prstTxWarp prst="textPlain">
                <a:avLst>
                  <a:gd name="adj" fmla="val 50000"/>
                </a:avLst>
              </a:prstTxWarp>
            </a:bodyPr>
            <a:lstStyle/>
            <a:p>
              <a:pPr algn="ctr">
                <a:buFontTx/>
                <a:buNone/>
              </a:pPr>
              <a:r>
                <a:rPr lang="en-US" altLang="zh-CN" sz="2000" b="0" i="1" kern="10" dirty="0">
                  <a:ln w="9525">
                    <a:solidFill>
                      <a:srgbClr val="CC3300"/>
                    </a:solidFill>
                    <a:round/>
                    <a:headEnd/>
                    <a:tailEnd/>
                  </a:ln>
                  <a:solidFill>
                    <a:srgbClr val="CC3300"/>
                  </a:solidFill>
                  <a:effectLst>
                    <a:outerShdw dist="35921" dir="2700000" algn="ctr" rotWithShape="0">
                      <a:srgbClr val="C0C0C0"/>
                    </a:outerShdw>
                  </a:effectLst>
                  <a:latin typeface="Symbol"/>
                </a:rPr>
                <a:t>t</a:t>
              </a:r>
              <a:endParaRPr lang="zh-CN" altLang="en-US" sz="2000" b="0" i="1" kern="10" dirty="0">
                <a:ln w="9525">
                  <a:solidFill>
                    <a:srgbClr val="CC3300"/>
                  </a:solidFill>
                  <a:round/>
                  <a:headEnd/>
                  <a:tailEnd/>
                </a:ln>
                <a:solidFill>
                  <a:srgbClr val="CC3300"/>
                </a:solidFill>
                <a:effectLst>
                  <a:outerShdw dist="35921" dir="2700000" algn="ctr" rotWithShape="0">
                    <a:srgbClr val="C0C0C0"/>
                  </a:outerShdw>
                </a:effectLst>
                <a:latin typeface="Symbol"/>
              </a:endParaRPr>
            </a:p>
          </p:txBody>
        </p:sp>
        <p:sp>
          <p:nvSpPr>
            <p:cNvPr id="99" name="WordArt 32"/>
            <p:cNvSpPr>
              <a:spLocks noChangeArrowheads="1" noChangeShapeType="1" noTextEdit="1"/>
            </p:cNvSpPr>
            <p:nvPr/>
          </p:nvSpPr>
          <p:spPr bwMode="auto">
            <a:xfrm>
              <a:off x="2640" y="3120"/>
              <a:ext cx="288" cy="96"/>
            </a:xfrm>
            <a:prstGeom prst="rect">
              <a:avLst/>
            </a:prstGeom>
          </p:spPr>
          <p:txBody>
            <a:bodyPr wrap="none" fromWordArt="1">
              <a:prstTxWarp prst="textPlain">
                <a:avLst>
                  <a:gd name="adj" fmla="val 50000"/>
                </a:avLst>
              </a:prstTxWarp>
            </a:bodyPr>
            <a:lstStyle/>
            <a:p>
              <a:pPr algn="ctr">
                <a:buFontTx/>
                <a:buNone/>
              </a:pPr>
              <a:r>
                <a:rPr lang="en-US" altLang="zh-CN" sz="2000" b="0" kern="10" dirty="0">
                  <a:ln w="9525">
                    <a:solidFill>
                      <a:srgbClr val="CC3300"/>
                    </a:solidFill>
                    <a:round/>
                    <a:headEnd/>
                    <a:tailEnd/>
                  </a:ln>
                  <a:solidFill>
                    <a:srgbClr val="CC3300"/>
                  </a:solidFill>
                  <a:effectLst>
                    <a:outerShdw dist="35921" dir="2700000" algn="ctr" rotWithShape="0">
                      <a:srgbClr val="C0C0C0"/>
                    </a:outerShdw>
                  </a:effectLst>
                  <a:latin typeface="Times New Roman"/>
                  <a:cs typeface="Times New Roman"/>
                </a:rPr>
                <a:t>max</a:t>
              </a:r>
              <a:endParaRPr lang="zh-CN" altLang="en-US" sz="2000" b="0" kern="10" dirty="0">
                <a:ln w="9525">
                  <a:solidFill>
                    <a:srgbClr val="CC3300"/>
                  </a:solidFill>
                  <a:round/>
                  <a:headEnd/>
                  <a:tailEnd/>
                </a:ln>
                <a:solidFill>
                  <a:srgbClr val="CC3300"/>
                </a:solidFill>
                <a:effectLst>
                  <a:outerShdw dist="35921" dir="2700000" algn="ctr" rotWithShape="0">
                    <a:srgbClr val="C0C0C0"/>
                  </a:outerShdw>
                </a:effectLst>
                <a:latin typeface="Times New Roman"/>
                <a:cs typeface="Times New Roman"/>
              </a:endParaRPr>
            </a:p>
          </p:txBody>
        </p:sp>
      </p:grpSp>
      <p:grpSp>
        <p:nvGrpSpPr>
          <p:cNvPr id="100" name="Group 33"/>
          <p:cNvGrpSpPr>
            <a:grpSpLocks/>
          </p:cNvGrpSpPr>
          <p:nvPr/>
        </p:nvGrpSpPr>
        <p:grpSpPr bwMode="auto">
          <a:xfrm>
            <a:off x="11283280" y="1666528"/>
            <a:ext cx="762000" cy="381000"/>
            <a:chOff x="2448" y="2976"/>
            <a:chExt cx="480" cy="240"/>
          </a:xfrm>
        </p:grpSpPr>
        <p:sp>
          <p:nvSpPr>
            <p:cNvPr id="101" name="WordArt 34"/>
            <p:cNvSpPr>
              <a:spLocks noChangeArrowheads="1" noChangeShapeType="1" noTextEdit="1"/>
            </p:cNvSpPr>
            <p:nvPr/>
          </p:nvSpPr>
          <p:spPr bwMode="auto">
            <a:xfrm>
              <a:off x="2448" y="2976"/>
              <a:ext cx="240" cy="224"/>
            </a:xfrm>
            <a:prstGeom prst="rect">
              <a:avLst/>
            </a:prstGeom>
          </p:spPr>
          <p:txBody>
            <a:bodyPr wrap="none" fromWordArt="1">
              <a:prstTxWarp prst="textPlain">
                <a:avLst>
                  <a:gd name="adj" fmla="val 50000"/>
                </a:avLst>
              </a:prstTxWarp>
            </a:bodyPr>
            <a:lstStyle/>
            <a:p>
              <a:pPr algn="ctr">
                <a:buFontTx/>
                <a:buNone/>
              </a:pPr>
              <a:r>
                <a:rPr lang="en-US" altLang="zh-CN" sz="2000" b="0" i="1" kern="10" dirty="0">
                  <a:ln w="9525">
                    <a:solidFill>
                      <a:srgbClr val="CC3300"/>
                    </a:solidFill>
                    <a:round/>
                    <a:headEnd/>
                    <a:tailEnd/>
                  </a:ln>
                  <a:solidFill>
                    <a:srgbClr val="CC3300"/>
                  </a:solidFill>
                  <a:effectLst>
                    <a:outerShdw dist="35921" dir="2700000" algn="ctr" rotWithShape="0">
                      <a:srgbClr val="C0C0C0"/>
                    </a:outerShdw>
                  </a:effectLst>
                  <a:latin typeface="Symbol"/>
                </a:rPr>
                <a:t>t</a:t>
              </a:r>
              <a:endParaRPr lang="zh-CN" altLang="en-US" sz="2000" b="0" i="1" kern="10" dirty="0">
                <a:ln w="9525">
                  <a:solidFill>
                    <a:srgbClr val="CC3300"/>
                  </a:solidFill>
                  <a:round/>
                  <a:headEnd/>
                  <a:tailEnd/>
                </a:ln>
                <a:solidFill>
                  <a:srgbClr val="CC3300"/>
                </a:solidFill>
                <a:effectLst>
                  <a:outerShdw dist="35921" dir="2700000" algn="ctr" rotWithShape="0">
                    <a:srgbClr val="C0C0C0"/>
                  </a:outerShdw>
                </a:effectLst>
                <a:latin typeface="Symbol"/>
              </a:endParaRPr>
            </a:p>
          </p:txBody>
        </p:sp>
        <p:sp>
          <p:nvSpPr>
            <p:cNvPr id="102" name="WordArt 35"/>
            <p:cNvSpPr>
              <a:spLocks noChangeArrowheads="1" noChangeShapeType="1" noTextEdit="1"/>
            </p:cNvSpPr>
            <p:nvPr/>
          </p:nvSpPr>
          <p:spPr bwMode="auto">
            <a:xfrm>
              <a:off x="2640" y="3120"/>
              <a:ext cx="288" cy="96"/>
            </a:xfrm>
            <a:prstGeom prst="rect">
              <a:avLst/>
            </a:prstGeom>
          </p:spPr>
          <p:txBody>
            <a:bodyPr wrap="none" fromWordArt="1">
              <a:prstTxWarp prst="textPlain">
                <a:avLst>
                  <a:gd name="adj" fmla="val 50000"/>
                </a:avLst>
              </a:prstTxWarp>
            </a:bodyPr>
            <a:lstStyle/>
            <a:p>
              <a:pPr algn="ctr">
                <a:buFontTx/>
                <a:buNone/>
              </a:pPr>
              <a:r>
                <a:rPr lang="en-US" altLang="zh-CN" sz="2000" b="0" kern="10" dirty="0">
                  <a:ln w="9525">
                    <a:solidFill>
                      <a:srgbClr val="CC3300"/>
                    </a:solidFill>
                    <a:round/>
                    <a:headEnd/>
                    <a:tailEnd/>
                  </a:ln>
                  <a:solidFill>
                    <a:srgbClr val="CC3300"/>
                  </a:solidFill>
                  <a:effectLst>
                    <a:outerShdw dist="35921" dir="2700000" algn="ctr" rotWithShape="0">
                      <a:srgbClr val="C0C0C0"/>
                    </a:outerShdw>
                  </a:effectLst>
                  <a:latin typeface="Times New Roman"/>
                  <a:cs typeface="Times New Roman"/>
                </a:rPr>
                <a:t>max</a:t>
              </a:r>
              <a:endParaRPr lang="zh-CN" altLang="en-US" sz="2000" b="0" kern="10" dirty="0">
                <a:ln w="9525">
                  <a:solidFill>
                    <a:srgbClr val="CC3300"/>
                  </a:solidFill>
                  <a:round/>
                  <a:headEnd/>
                  <a:tailEnd/>
                </a:ln>
                <a:solidFill>
                  <a:srgbClr val="CC3300"/>
                </a:solidFill>
                <a:effectLst>
                  <a:outerShdw dist="35921" dir="2700000" algn="ctr" rotWithShape="0">
                    <a:srgbClr val="C0C0C0"/>
                  </a:outerShdw>
                </a:effectLst>
                <a:latin typeface="Times New Roman"/>
                <a:cs typeface="Times New Roman"/>
              </a:endParaRPr>
            </a:p>
          </p:txBody>
        </p:sp>
      </p:grpSp>
      <p:grpSp>
        <p:nvGrpSpPr>
          <p:cNvPr id="103" name="Group 7"/>
          <p:cNvGrpSpPr>
            <a:grpSpLocks/>
          </p:cNvGrpSpPr>
          <p:nvPr/>
        </p:nvGrpSpPr>
        <p:grpSpPr bwMode="auto">
          <a:xfrm>
            <a:off x="7930481" y="1055340"/>
            <a:ext cx="3048001" cy="5130800"/>
            <a:chOff x="3264" y="-1312"/>
            <a:chExt cx="1920" cy="3232"/>
          </a:xfrm>
        </p:grpSpPr>
        <p:sp>
          <p:nvSpPr>
            <p:cNvPr id="104" name="Oval 8"/>
            <p:cNvSpPr>
              <a:spLocks noChangeArrowheads="1"/>
            </p:cNvSpPr>
            <p:nvPr/>
          </p:nvSpPr>
          <p:spPr bwMode="auto">
            <a:xfrm>
              <a:off x="3744" y="480"/>
              <a:ext cx="1440" cy="1440"/>
            </a:xfrm>
            <a:prstGeom prst="ellipse">
              <a:avLst/>
            </a:prstGeom>
            <a:gradFill rotWithShape="0">
              <a:gsLst>
                <a:gs pos="0">
                  <a:srgbClr val="008000"/>
                </a:gs>
                <a:gs pos="100000">
                  <a:srgbClr val="99CC00"/>
                </a:gs>
              </a:gsLst>
              <a:path path="shape">
                <a:fillToRect l="50000" t="50000" r="50000" b="50000"/>
              </a:path>
            </a:gradFill>
            <a:ln w="28575">
              <a:solidFill>
                <a:srgbClr val="99CC00"/>
              </a:solidFill>
              <a:round/>
              <a:headEnd/>
              <a:tailEnd/>
            </a:ln>
            <a:effectLst>
              <a:outerShdw dist="35921" dir="2700000" algn="ctr" rotWithShape="0">
                <a:schemeClr val="hlink"/>
              </a:outerShdw>
            </a:effectLst>
          </p:spPr>
          <p:txBody>
            <a:bodyPr wrap="none" anchor="ctr"/>
            <a:lstStyle/>
            <a:p>
              <a:endParaRPr lang="zh-CN" altLang="en-US"/>
            </a:p>
          </p:txBody>
        </p:sp>
        <p:sp>
          <p:nvSpPr>
            <p:cNvPr id="105" name="Arc 9"/>
            <p:cNvSpPr>
              <a:spLocks/>
            </p:cNvSpPr>
            <p:nvPr/>
          </p:nvSpPr>
          <p:spPr bwMode="auto">
            <a:xfrm rot="16200000" flipV="1">
              <a:off x="3373" y="947"/>
              <a:ext cx="645" cy="192"/>
            </a:xfrm>
            <a:custGeom>
              <a:avLst/>
              <a:gdLst>
                <a:gd name="T0" fmla="*/ 645 w 29317"/>
                <a:gd name="T1" fmla="*/ 22 h 21600"/>
                <a:gd name="T2" fmla="*/ 0 w 29317"/>
                <a:gd name="T3" fmla="*/ 179 h 21600"/>
                <a:gd name="T4" fmla="*/ 173 w 29317"/>
                <a:gd name="T5" fmla="*/ 0 h 21600"/>
                <a:gd name="T6" fmla="*/ 0 60000 65536"/>
                <a:gd name="T7" fmla="*/ 0 60000 65536"/>
                <a:gd name="T8" fmla="*/ 0 60000 65536"/>
              </a:gdLst>
              <a:ahLst/>
              <a:cxnLst>
                <a:cxn ang="T6">
                  <a:pos x="T0" y="T1"/>
                </a:cxn>
                <a:cxn ang="T7">
                  <a:pos x="T2" y="T3"/>
                </a:cxn>
                <a:cxn ang="T8">
                  <a:pos x="T4" y="T5"/>
                </a:cxn>
              </a:cxnLst>
              <a:rect l="0" t="0" r="r" b="b"/>
              <a:pathLst>
                <a:path w="29317" h="21600" fill="none" extrusionOk="0">
                  <a:moveTo>
                    <a:pt x="29316" y="2482"/>
                  </a:moveTo>
                  <a:cubicBezTo>
                    <a:pt x="28055" y="13378"/>
                    <a:pt x="18828" y="21599"/>
                    <a:pt x="7860" y="21600"/>
                  </a:cubicBezTo>
                  <a:cubicBezTo>
                    <a:pt x="5170" y="21600"/>
                    <a:pt x="2504" y="21097"/>
                    <a:pt x="-1" y="20119"/>
                  </a:cubicBezTo>
                </a:path>
                <a:path w="29317" h="21600" stroke="0" extrusionOk="0">
                  <a:moveTo>
                    <a:pt x="29316" y="2482"/>
                  </a:moveTo>
                  <a:cubicBezTo>
                    <a:pt x="28055" y="13378"/>
                    <a:pt x="18828" y="21599"/>
                    <a:pt x="7860" y="21600"/>
                  </a:cubicBezTo>
                  <a:cubicBezTo>
                    <a:pt x="5170" y="21600"/>
                    <a:pt x="2504" y="21097"/>
                    <a:pt x="-1" y="20119"/>
                  </a:cubicBezTo>
                  <a:lnTo>
                    <a:pt x="7860" y="0"/>
                  </a:lnTo>
                  <a:lnTo>
                    <a:pt x="29316" y="2482"/>
                  </a:lnTo>
                  <a:close/>
                </a:path>
              </a:pathLst>
            </a:custGeom>
            <a:noFill/>
            <a:ln w="57150">
              <a:solidFill>
                <a:schemeClr val="tx1"/>
              </a:solidFill>
              <a:round/>
              <a:headEnd/>
              <a:tailEnd type="stealth"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06" name="WordArt 10"/>
            <p:cNvSpPr>
              <a:spLocks noChangeArrowheads="1" noChangeShapeType="1" noTextEdit="1"/>
            </p:cNvSpPr>
            <p:nvPr/>
          </p:nvSpPr>
          <p:spPr bwMode="auto">
            <a:xfrm>
              <a:off x="3287" y="606"/>
              <a:ext cx="313" cy="227"/>
            </a:xfrm>
            <a:prstGeom prst="rect">
              <a:avLst/>
            </a:prstGeom>
          </p:spPr>
          <p:txBody>
            <a:bodyPr wrap="none" fromWordArt="1">
              <a:prstTxWarp prst="textPlain">
                <a:avLst>
                  <a:gd name="adj" fmla="val 50000"/>
                </a:avLst>
              </a:prstTxWarp>
            </a:bodyPr>
            <a:lstStyle/>
            <a:p>
              <a:pPr algn="ctr">
                <a:buFontTx/>
                <a:buNone/>
              </a:pPr>
              <a:r>
                <a:rPr lang="en-US" altLang="zh-CN" sz="2800" b="0" i="1" kern="0" dirty="0" err="1">
                  <a:ln w="9525">
                    <a:solidFill>
                      <a:srgbClr val="CC3300"/>
                    </a:solidFill>
                    <a:round/>
                    <a:headEnd/>
                    <a:tailEnd/>
                  </a:ln>
                  <a:solidFill>
                    <a:srgbClr val="CC3300"/>
                  </a:solidFill>
                  <a:effectLst>
                    <a:outerShdw dist="35921" dir="2700000" algn="ctr" rotWithShape="0">
                      <a:srgbClr val="C0C0C0"/>
                    </a:outerShdw>
                  </a:effectLst>
                  <a:latin typeface="Times New Roman"/>
                  <a:cs typeface="Times New Roman"/>
                </a:rPr>
                <a:t>M</a:t>
              </a:r>
              <a:r>
                <a:rPr lang="en-US" altLang="zh-CN" sz="2800" b="0" i="0" kern="0" baseline="-25000" dirty="0" err="1">
                  <a:ln w="9525">
                    <a:solidFill>
                      <a:srgbClr val="CC3300"/>
                    </a:solidFill>
                    <a:round/>
                    <a:headEnd/>
                    <a:tailEnd/>
                  </a:ln>
                  <a:solidFill>
                    <a:srgbClr val="CC3300"/>
                  </a:solidFill>
                  <a:effectLst>
                    <a:outerShdw dist="35921" dir="2700000" algn="ctr" rotWithShape="0">
                      <a:srgbClr val="C0C0C0"/>
                    </a:outerShdw>
                  </a:effectLst>
                  <a:latin typeface="Times New Roman"/>
                  <a:cs typeface="Times New Roman"/>
                </a:rPr>
                <a:t>n</a:t>
              </a:r>
              <a:endParaRPr lang="zh-CN" altLang="en-US" sz="2800" b="0" i="0" kern="0" baseline="-25000" dirty="0">
                <a:ln w="9525">
                  <a:solidFill>
                    <a:srgbClr val="CC3300"/>
                  </a:solidFill>
                  <a:round/>
                  <a:headEnd/>
                  <a:tailEnd/>
                </a:ln>
                <a:solidFill>
                  <a:srgbClr val="CC3300"/>
                </a:solidFill>
                <a:effectLst>
                  <a:outerShdw dist="35921" dir="2700000" algn="ctr" rotWithShape="0">
                    <a:srgbClr val="C0C0C0"/>
                  </a:outerShdw>
                </a:effectLst>
                <a:latin typeface="Times New Roman"/>
                <a:cs typeface="Times New Roman"/>
              </a:endParaRPr>
            </a:p>
          </p:txBody>
        </p:sp>
        <p:sp>
          <p:nvSpPr>
            <p:cNvPr id="107" name="Text Box 11"/>
            <p:cNvSpPr txBox="1">
              <a:spLocks noChangeArrowheads="1"/>
            </p:cNvSpPr>
            <p:nvPr/>
          </p:nvSpPr>
          <p:spPr bwMode="auto">
            <a:xfrm>
              <a:off x="4320" y="1248"/>
              <a:ext cx="38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Char char="•"/>
                <a:defRPr>
                  <a:solidFill>
                    <a:schemeClr val="tx1"/>
                  </a:solidFill>
                  <a:latin typeface="Arial" charset="0"/>
                  <a:ea typeface="宋体" charset="-122"/>
                </a:defRPr>
              </a:lvl6pPr>
              <a:lvl7pPr marL="2971800" indent="-228600" eaLnBrk="0" fontAlgn="base" hangingPunct="0">
                <a:spcBef>
                  <a:spcPct val="0"/>
                </a:spcBef>
                <a:spcAft>
                  <a:spcPct val="0"/>
                </a:spcAft>
                <a:buChar char="•"/>
                <a:defRPr>
                  <a:solidFill>
                    <a:schemeClr val="tx1"/>
                  </a:solidFill>
                  <a:latin typeface="Arial" charset="0"/>
                  <a:ea typeface="宋体" charset="-122"/>
                </a:defRPr>
              </a:lvl7pPr>
              <a:lvl8pPr marL="3429000" indent="-228600" eaLnBrk="0" fontAlgn="base" hangingPunct="0">
                <a:spcBef>
                  <a:spcPct val="0"/>
                </a:spcBef>
                <a:spcAft>
                  <a:spcPct val="0"/>
                </a:spcAft>
                <a:buChar char="•"/>
                <a:defRPr>
                  <a:solidFill>
                    <a:schemeClr val="tx1"/>
                  </a:solidFill>
                  <a:latin typeface="Arial" charset="0"/>
                  <a:ea typeface="宋体" charset="-122"/>
                </a:defRPr>
              </a:lvl8pPr>
              <a:lvl9pPr marL="3886200" indent="-228600" eaLnBrk="0" fontAlgn="base" hangingPunct="0">
                <a:spcBef>
                  <a:spcPct val="0"/>
                </a:spcBef>
                <a:spcAft>
                  <a:spcPct val="0"/>
                </a:spcAft>
                <a:buChar char="•"/>
                <a:defRPr>
                  <a:solidFill>
                    <a:schemeClr val="tx1"/>
                  </a:solidFill>
                  <a:latin typeface="Arial" charset="0"/>
                  <a:ea typeface="宋体" charset="-122"/>
                </a:defRPr>
              </a:lvl9pPr>
            </a:lstStyle>
            <a:p>
              <a:pPr eaLnBrk="1" hangingPunct="1">
                <a:spcBef>
                  <a:spcPct val="50000"/>
                </a:spcBef>
                <a:buFontTx/>
                <a:buNone/>
              </a:pPr>
              <a:r>
                <a:rPr kumimoji="1" lang="en-US" altLang="zh-CN" sz="2400" i="1">
                  <a:latin typeface="Times New Roman" pitchFamily="18" charset="0"/>
                </a:rPr>
                <a:t>O</a:t>
              </a:r>
            </a:p>
          </p:txBody>
        </p:sp>
        <p:sp>
          <p:nvSpPr>
            <p:cNvPr id="194" name="WordArt 10"/>
            <p:cNvSpPr>
              <a:spLocks noChangeArrowheads="1" noChangeShapeType="1" noTextEdit="1"/>
            </p:cNvSpPr>
            <p:nvPr/>
          </p:nvSpPr>
          <p:spPr bwMode="auto">
            <a:xfrm>
              <a:off x="3264" y="-1312"/>
              <a:ext cx="313" cy="227"/>
            </a:xfrm>
            <a:prstGeom prst="rect">
              <a:avLst/>
            </a:prstGeom>
          </p:spPr>
          <p:txBody>
            <a:bodyPr wrap="none" fromWordArt="1">
              <a:prstTxWarp prst="textPlain">
                <a:avLst>
                  <a:gd name="adj" fmla="val 50000"/>
                </a:avLst>
              </a:prstTxWarp>
            </a:bodyPr>
            <a:lstStyle/>
            <a:p>
              <a:pPr algn="ctr">
                <a:buFontTx/>
                <a:buNone/>
              </a:pPr>
              <a:r>
                <a:rPr lang="en-US" altLang="zh-CN" sz="2800" b="0" i="1" kern="0" dirty="0" err="1">
                  <a:ln w="9525">
                    <a:solidFill>
                      <a:srgbClr val="CC3300"/>
                    </a:solidFill>
                    <a:round/>
                    <a:headEnd/>
                    <a:tailEnd/>
                  </a:ln>
                  <a:solidFill>
                    <a:srgbClr val="CC3300"/>
                  </a:solidFill>
                  <a:effectLst>
                    <a:outerShdw dist="35921" dir="2700000" algn="ctr" rotWithShape="0">
                      <a:srgbClr val="C0C0C0"/>
                    </a:outerShdw>
                  </a:effectLst>
                  <a:latin typeface="Times New Roman"/>
                  <a:cs typeface="Times New Roman"/>
                </a:rPr>
                <a:t>M</a:t>
              </a:r>
              <a:r>
                <a:rPr lang="en-US" altLang="zh-CN" sz="2800" b="0" i="0" kern="0" baseline="-25000" dirty="0" err="1">
                  <a:ln w="9525">
                    <a:solidFill>
                      <a:srgbClr val="CC3300"/>
                    </a:solidFill>
                    <a:round/>
                    <a:headEnd/>
                    <a:tailEnd/>
                  </a:ln>
                  <a:solidFill>
                    <a:srgbClr val="CC3300"/>
                  </a:solidFill>
                  <a:effectLst>
                    <a:outerShdw dist="35921" dir="2700000" algn="ctr" rotWithShape="0">
                      <a:srgbClr val="C0C0C0"/>
                    </a:outerShdw>
                  </a:effectLst>
                  <a:latin typeface="Times New Roman"/>
                  <a:cs typeface="Times New Roman"/>
                </a:rPr>
                <a:t>n</a:t>
              </a:r>
              <a:endParaRPr lang="zh-CN" altLang="en-US" sz="2800" b="0" i="0" kern="0" baseline="-25000" dirty="0">
                <a:ln w="9525">
                  <a:solidFill>
                    <a:srgbClr val="CC3300"/>
                  </a:solidFill>
                  <a:round/>
                  <a:headEnd/>
                  <a:tailEnd/>
                </a:ln>
                <a:solidFill>
                  <a:srgbClr val="CC3300"/>
                </a:solidFill>
                <a:effectLst>
                  <a:outerShdw dist="35921" dir="2700000" algn="ctr" rotWithShape="0">
                    <a:srgbClr val="C0C0C0"/>
                  </a:outerShdw>
                </a:effectLst>
                <a:latin typeface="Times New Roman"/>
                <a:cs typeface="Times New Roman"/>
              </a:endParaRPr>
            </a:p>
          </p:txBody>
        </p:sp>
      </p:grpSp>
      <p:sp>
        <p:nvSpPr>
          <p:cNvPr id="108" name="Line 12"/>
          <p:cNvSpPr>
            <a:spLocks noChangeShapeType="1"/>
          </p:cNvSpPr>
          <p:nvPr/>
        </p:nvSpPr>
        <p:spPr bwMode="auto">
          <a:xfrm flipV="1">
            <a:off x="9835480" y="4281140"/>
            <a:ext cx="1143000" cy="762000"/>
          </a:xfrm>
          <a:prstGeom prst="line">
            <a:avLst/>
          </a:prstGeom>
          <a:noFill/>
          <a:ln w="9525">
            <a:solidFill>
              <a:schemeClr val="tx1"/>
            </a:solidFill>
            <a:round/>
            <a:headEnd/>
            <a:tailEnd/>
          </a:ln>
          <a:effectLst>
            <a:outerShdw dist="35921" dir="2700000" algn="ctr" rotWithShape="0">
              <a:schemeClr val="hlink"/>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9" name="AutoShape 13"/>
          <p:cNvSpPr>
            <a:spLocks noChangeArrowheads="1"/>
          </p:cNvSpPr>
          <p:nvPr/>
        </p:nvSpPr>
        <p:spPr bwMode="auto">
          <a:xfrm>
            <a:off x="10445080" y="4585940"/>
            <a:ext cx="76200" cy="457200"/>
          </a:xfrm>
          <a:prstGeom prst="upArrow">
            <a:avLst>
              <a:gd name="adj1" fmla="val 50000"/>
              <a:gd name="adj2" fmla="val 15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a:p>
        </p:txBody>
      </p:sp>
      <p:sp>
        <p:nvSpPr>
          <p:cNvPr id="110" name="AutoShape 14"/>
          <p:cNvSpPr>
            <a:spLocks noChangeArrowheads="1"/>
          </p:cNvSpPr>
          <p:nvPr/>
        </p:nvSpPr>
        <p:spPr bwMode="auto">
          <a:xfrm>
            <a:off x="10673680" y="4433540"/>
            <a:ext cx="76200" cy="609600"/>
          </a:xfrm>
          <a:prstGeom prst="upArrow">
            <a:avLst>
              <a:gd name="adj1" fmla="val 50000"/>
              <a:gd name="adj2" fmla="val 20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a:p>
        </p:txBody>
      </p:sp>
      <p:sp>
        <p:nvSpPr>
          <p:cNvPr id="111" name="AutoShape 15"/>
          <p:cNvSpPr>
            <a:spLocks noChangeArrowheads="1"/>
          </p:cNvSpPr>
          <p:nvPr/>
        </p:nvSpPr>
        <p:spPr bwMode="auto">
          <a:xfrm>
            <a:off x="10216480" y="4738340"/>
            <a:ext cx="76200" cy="304800"/>
          </a:xfrm>
          <a:prstGeom prst="upArrow">
            <a:avLst>
              <a:gd name="adj1" fmla="val 50000"/>
              <a:gd name="adj2" fmla="val 100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a:p>
        </p:txBody>
      </p:sp>
      <p:sp>
        <p:nvSpPr>
          <p:cNvPr id="112" name="Line 16"/>
          <p:cNvSpPr>
            <a:spLocks noChangeShapeType="1"/>
          </p:cNvSpPr>
          <p:nvPr/>
        </p:nvSpPr>
        <p:spPr bwMode="auto">
          <a:xfrm>
            <a:off x="8692480" y="5043140"/>
            <a:ext cx="2286000" cy="0"/>
          </a:xfrm>
          <a:prstGeom prst="line">
            <a:avLst/>
          </a:prstGeom>
          <a:noFill/>
          <a:ln w="19050">
            <a:solidFill>
              <a:schemeClr val="accent2"/>
            </a:solidFill>
            <a:round/>
            <a:headEnd/>
            <a:tailEnd/>
          </a:ln>
          <a:effectLst>
            <a:outerShdw dist="35921" dir="2700000" algn="ctr" rotWithShape="0">
              <a:schemeClr val="hlink"/>
            </a:outerShdw>
          </a:effectLst>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3" name="Group 17"/>
          <p:cNvGrpSpPr>
            <a:grpSpLocks/>
          </p:cNvGrpSpPr>
          <p:nvPr/>
        </p:nvGrpSpPr>
        <p:grpSpPr bwMode="auto">
          <a:xfrm>
            <a:off x="9302080" y="4128740"/>
            <a:ext cx="838200" cy="914400"/>
            <a:chOff x="3648" y="1104"/>
            <a:chExt cx="528" cy="576"/>
          </a:xfrm>
        </p:grpSpPr>
        <p:sp>
          <p:nvSpPr>
            <p:cNvPr id="140" name="Rectangle 18"/>
            <p:cNvSpPr>
              <a:spLocks noChangeArrowheads="1"/>
            </p:cNvSpPr>
            <p:nvPr/>
          </p:nvSpPr>
          <p:spPr bwMode="auto">
            <a:xfrm>
              <a:off x="3936" y="1200"/>
              <a:ext cx="96" cy="96"/>
            </a:xfrm>
            <a:prstGeom prst="rect">
              <a:avLst/>
            </a:prstGeom>
            <a:solidFill>
              <a:srgbClr val="CC3300"/>
            </a:solidFill>
            <a:ln w="9525">
              <a:solidFill>
                <a:schemeClr val="tx1"/>
              </a:solidFill>
              <a:miter lim="800000"/>
              <a:headEnd/>
              <a:tailEnd/>
            </a:ln>
          </p:spPr>
          <p:txBody>
            <a:bodyPr wrap="none" anchor="ctr"/>
            <a:lstStyle/>
            <a:p>
              <a:endParaRPr lang="zh-CN" altLang="en-US"/>
            </a:p>
          </p:txBody>
        </p:sp>
        <p:sp>
          <p:nvSpPr>
            <p:cNvPr id="141" name="Line 19"/>
            <p:cNvSpPr>
              <a:spLocks noChangeShapeType="1"/>
            </p:cNvSpPr>
            <p:nvPr/>
          </p:nvSpPr>
          <p:spPr bwMode="auto">
            <a:xfrm flipV="1">
              <a:off x="3984" y="1296"/>
              <a:ext cx="0" cy="384"/>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 name="Text Box 20"/>
            <p:cNvSpPr txBox="1">
              <a:spLocks noChangeArrowheads="1"/>
            </p:cNvSpPr>
            <p:nvPr/>
          </p:nvSpPr>
          <p:spPr bwMode="auto">
            <a:xfrm>
              <a:off x="3648" y="1104"/>
              <a:ext cx="52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Char char="•"/>
                <a:defRPr>
                  <a:solidFill>
                    <a:schemeClr val="tx1"/>
                  </a:solidFill>
                  <a:latin typeface="Arial" charset="0"/>
                  <a:ea typeface="宋体" charset="-122"/>
                </a:defRPr>
              </a:lvl6pPr>
              <a:lvl7pPr marL="2971800" indent="-228600" eaLnBrk="0" fontAlgn="base" hangingPunct="0">
                <a:spcBef>
                  <a:spcPct val="0"/>
                </a:spcBef>
                <a:spcAft>
                  <a:spcPct val="0"/>
                </a:spcAft>
                <a:buChar char="•"/>
                <a:defRPr>
                  <a:solidFill>
                    <a:schemeClr val="tx1"/>
                  </a:solidFill>
                  <a:latin typeface="Arial" charset="0"/>
                  <a:ea typeface="宋体" charset="-122"/>
                </a:defRPr>
              </a:lvl7pPr>
              <a:lvl8pPr marL="3429000" indent="-228600" eaLnBrk="0" fontAlgn="base" hangingPunct="0">
                <a:spcBef>
                  <a:spcPct val="0"/>
                </a:spcBef>
                <a:spcAft>
                  <a:spcPct val="0"/>
                </a:spcAft>
                <a:buChar char="•"/>
                <a:defRPr>
                  <a:solidFill>
                    <a:schemeClr val="tx1"/>
                  </a:solidFill>
                  <a:latin typeface="Arial" charset="0"/>
                  <a:ea typeface="宋体" charset="-122"/>
                </a:defRPr>
              </a:lvl8pPr>
              <a:lvl9pPr marL="3886200" indent="-228600" eaLnBrk="0" fontAlgn="base" hangingPunct="0">
                <a:spcBef>
                  <a:spcPct val="0"/>
                </a:spcBef>
                <a:spcAft>
                  <a:spcPct val="0"/>
                </a:spcAft>
                <a:buChar char="•"/>
                <a:defRPr>
                  <a:solidFill>
                    <a:schemeClr val="tx1"/>
                  </a:solidFill>
                  <a:latin typeface="Arial" charset="0"/>
                  <a:ea typeface="宋体" charset="-122"/>
                </a:defRPr>
              </a:lvl9pPr>
            </a:lstStyle>
            <a:p>
              <a:pPr eaLnBrk="1" hangingPunct="1">
                <a:spcBef>
                  <a:spcPct val="50000"/>
                </a:spcBef>
                <a:buFontTx/>
                <a:buNone/>
              </a:pPr>
              <a:r>
                <a:rPr kumimoji="1" lang="en-US" altLang="zh-CN" sz="2400" b="0" dirty="0" err="1">
                  <a:latin typeface="Times New Roman" pitchFamily="18" charset="0"/>
                </a:rPr>
                <a:t>d</a:t>
              </a:r>
              <a:r>
                <a:rPr kumimoji="1" lang="en-US" altLang="zh-CN" sz="2400" b="0" i="1" dirty="0" err="1">
                  <a:latin typeface="Times New Roman" pitchFamily="18" charset="0"/>
                </a:rPr>
                <a:t>A</a:t>
              </a:r>
              <a:endParaRPr kumimoji="1" lang="en-US" altLang="zh-CN" sz="2400" b="0" dirty="0">
                <a:latin typeface="Times New Roman" pitchFamily="18" charset="0"/>
              </a:endParaRPr>
            </a:p>
          </p:txBody>
        </p:sp>
        <p:sp>
          <p:nvSpPr>
            <p:cNvPr id="143" name="Text Box 21"/>
            <p:cNvSpPr txBox="1">
              <a:spLocks noChangeArrowheads="1"/>
            </p:cNvSpPr>
            <p:nvPr/>
          </p:nvSpPr>
          <p:spPr bwMode="auto">
            <a:xfrm>
              <a:off x="3744" y="1344"/>
              <a:ext cx="24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Char char="•"/>
                <a:defRPr>
                  <a:solidFill>
                    <a:schemeClr val="tx1"/>
                  </a:solidFill>
                  <a:latin typeface="Arial" charset="0"/>
                  <a:ea typeface="宋体" charset="-122"/>
                </a:defRPr>
              </a:lvl6pPr>
              <a:lvl7pPr marL="2971800" indent="-228600" eaLnBrk="0" fontAlgn="base" hangingPunct="0">
                <a:spcBef>
                  <a:spcPct val="0"/>
                </a:spcBef>
                <a:spcAft>
                  <a:spcPct val="0"/>
                </a:spcAft>
                <a:buChar char="•"/>
                <a:defRPr>
                  <a:solidFill>
                    <a:schemeClr val="tx1"/>
                  </a:solidFill>
                  <a:latin typeface="Arial" charset="0"/>
                  <a:ea typeface="宋体" charset="-122"/>
                </a:defRPr>
              </a:lvl7pPr>
              <a:lvl8pPr marL="3429000" indent="-228600" eaLnBrk="0" fontAlgn="base" hangingPunct="0">
                <a:spcBef>
                  <a:spcPct val="0"/>
                </a:spcBef>
                <a:spcAft>
                  <a:spcPct val="0"/>
                </a:spcAft>
                <a:buChar char="•"/>
                <a:defRPr>
                  <a:solidFill>
                    <a:schemeClr val="tx1"/>
                  </a:solidFill>
                  <a:latin typeface="Arial" charset="0"/>
                  <a:ea typeface="宋体" charset="-122"/>
                </a:defRPr>
              </a:lvl8pPr>
              <a:lvl9pPr marL="3886200" indent="-228600" eaLnBrk="0" fontAlgn="base" hangingPunct="0">
                <a:spcBef>
                  <a:spcPct val="0"/>
                </a:spcBef>
                <a:spcAft>
                  <a:spcPct val="0"/>
                </a:spcAft>
                <a:buChar char="•"/>
                <a:defRPr>
                  <a:solidFill>
                    <a:schemeClr val="tx1"/>
                  </a:solidFill>
                  <a:latin typeface="Arial" charset="0"/>
                  <a:ea typeface="宋体" charset="-122"/>
                </a:defRPr>
              </a:lvl9pPr>
            </a:lstStyle>
            <a:p>
              <a:pPr eaLnBrk="1" hangingPunct="1">
                <a:spcBef>
                  <a:spcPct val="50000"/>
                </a:spcBef>
                <a:buFontTx/>
                <a:buNone/>
              </a:pPr>
              <a:r>
                <a:rPr kumimoji="1" lang="en-US" altLang="zh-CN" sz="2400" b="0" i="1" dirty="0">
                  <a:latin typeface="Times New Roman" pitchFamily="18" charset="0"/>
                  <a:sym typeface="Symbol" pitchFamily="18" charset="2"/>
                </a:rPr>
                <a:t></a:t>
              </a:r>
              <a:endParaRPr kumimoji="1" lang="en-US" altLang="zh-CN" sz="2400" b="0" i="1" dirty="0">
                <a:latin typeface="Times New Roman" pitchFamily="18" charset="0"/>
              </a:endParaRPr>
            </a:p>
          </p:txBody>
        </p:sp>
      </p:grpSp>
      <p:sp>
        <p:nvSpPr>
          <p:cNvPr id="144" name="Oval 22"/>
          <p:cNvSpPr>
            <a:spLocks noChangeArrowheads="1"/>
          </p:cNvSpPr>
          <p:nvPr/>
        </p:nvSpPr>
        <p:spPr bwMode="auto">
          <a:xfrm>
            <a:off x="9759280" y="4966940"/>
            <a:ext cx="152400" cy="152400"/>
          </a:xfrm>
          <a:prstGeom prst="ellipse">
            <a:avLst/>
          </a:prstGeom>
          <a:solidFill>
            <a:srgbClr val="CC3300"/>
          </a:solidFill>
          <a:ln w="9525">
            <a:solidFill>
              <a:schemeClr val="tx1"/>
            </a:solidFill>
            <a:round/>
            <a:headEnd/>
            <a:tailEnd/>
          </a:ln>
          <a:effectLst>
            <a:outerShdw dist="35921" dir="2700000" algn="ctr" rotWithShape="0">
              <a:schemeClr val="hlink"/>
            </a:outerShdw>
          </a:effectLst>
        </p:spPr>
        <p:txBody>
          <a:bodyPr wrap="none" anchor="ctr"/>
          <a:lstStyle/>
          <a:p>
            <a:endParaRPr lang="zh-CN" altLang="en-US"/>
          </a:p>
        </p:txBody>
      </p:sp>
      <p:sp>
        <p:nvSpPr>
          <p:cNvPr id="145" name="AutoShape 32"/>
          <p:cNvSpPr>
            <a:spLocks noChangeArrowheads="1"/>
          </p:cNvSpPr>
          <p:nvPr/>
        </p:nvSpPr>
        <p:spPr bwMode="auto">
          <a:xfrm>
            <a:off x="10902280" y="4281140"/>
            <a:ext cx="152400" cy="762000"/>
          </a:xfrm>
          <a:prstGeom prst="upArrow">
            <a:avLst>
              <a:gd name="adj1" fmla="val 50000"/>
              <a:gd name="adj2" fmla="val 125000"/>
            </a:avLst>
          </a:prstGeom>
          <a:solidFill>
            <a:srgbClr val="CC3300"/>
          </a:solidFill>
          <a:ln w="9525">
            <a:solidFill>
              <a:srgbClr val="CC3300"/>
            </a:solidFill>
            <a:miter lim="800000"/>
            <a:headEnd/>
            <a:tailEnd/>
          </a:ln>
          <a:effectLst>
            <a:outerShdw dist="35921" dir="2700000" algn="ctr" rotWithShape="0">
              <a:schemeClr val="hlink"/>
            </a:outerShdw>
          </a:effectLst>
        </p:spPr>
        <p:txBody>
          <a:bodyPr vert="eaVert" wrap="none" anchor="ctr"/>
          <a:lstStyle/>
          <a:p>
            <a:endParaRPr lang="zh-CN" altLang="en-US"/>
          </a:p>
        </p:txBody>
      </p:sp>
      <p:sp>
        <p:nvSpPr>
          <p:cNvPr id="191" name="Text Box 1032"/>
          <p:cNvSpPr txBox="1">
            <a:spLocks noChangeArrowheads="1"/>
          </p:cNvSpPr>
          <p:nvPr/>
        </p:nvSpPr>
        <p:spPr bwMode="auto">
          <a:xfrm>
            <a:off x="713087" y="2372186"/>
            <a:ext cx="6506024"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5000"/>
              </a:lnSpc>
            </a:pPr>
            <a:r>
              <a:rPr kumimoji="1" lang="zh-CN" altLang="en-US" sz="2800" i="0" dirty="0">
                <a:latin typeface="+mn-lt"/>
                <a:ea typeface="微软雅黑" panose="020B0503020204020204" pitchFamily="34" charset="-122"/>
              </a:rPr>
              <a:t>当</a:t>
            </a:r>
            <a:r>
              <a:rPr kumimoji="1" lang="zh-CN" altLang="en-US" sz="2800" b="0" dirty="0">
                <a:latin typeface="+mn-lt"/>
                <a:ea typeface="微软雅黑" panose="020B0503020204020204" pitchFamily="34" charset="-122"/>
                <a:sym typeface="Symbol" panose="05050102010706020507" pitchFamily="18" charset="2"/>
              </a:rPr>
              <a:t> </a:t>
            </a:r>
            <a:r>
              <a:rPr kumimoji="1" lang="en-US" altLang="zh-CN" sz="2800" b="0" i="0" dirty="0">
                <a:latin typeface="+mn-lt"/>
                <a:ea typeface="微软雅黑" panose="020B0503020204020204" pitchFamily="34" charset="-122"/>
              </a:rPr>
              <a:t>=0</a:t>
            </a:r>
            <a:r>
              <a:rPr kumimoji="1" lang="zh-CN" altLang="en-US" sz="2800" i="0" dirty="0">
                <a:latin typeface="+mn-lt"/>
                <a:ea typeface="微软雅黑" panose="020B0503020204020204" pitchFamily="34" charset="-122"/>
              </a:rPr>
              <a:t>时，</a:t>
            </a:r>
            <a:r>
              <a:rPr kumimoji="1" lang="zh-CN" altLang="en-US" sz="2800" b="0" dirty="0">
                <a:latin typeface="+mn-lt"/>
                <a:ea typeface="微软雅黑" panose="020B0503020204020204" pitchFamily="34" charset="-122"/>
                <a:sym typeface="Symbol" panose="05050102010706020507" pitchFamily="18" charset="2"/>
              </a:rPr>
              <a:t> </a:t>
            </a:r>
            <a:r>
              <a:rPr kumimoji="1" lang="en-US" altLang="zh-CN" sz="2800" b="0" i="0" dirty="0">
                <a:latin typeface="+mn-lt"/>
                <a:ea typeface="微软雅黑" panose="020B0503020204020204" pitchFamily="34" charset="-122"/>
              </a:rPr>
              <a:t>=0</a:t>
            </a:r>
            <a:r>
              <a:rPr kumimoji="1" lang="zh-CN" altLang="en-US" sz="2800" i="0" dirty="0">
                <a:latin typeface="+mn-lt"/>
                <a:ea typeface="微软雅黑" panose="020B0503020204020204" pitchFamily="34" charset="-122"/>
              </a:rPr>
              <a:t>；当</a:t>
            </a:r>
            <a:r>
              <a:rPr kumimoji="1" lang="zh-CN" altLang="en-US" sz="2800" b="0" dirty="0">
                <a:latin typeface="+mn-lt"/>
                <a:ea typeface="微软雅黑" panose="020B0503020204020204" pitchFamily="34" charset="-122"/>
                <a:sym typeface="Symbol" panose="05050102010706020507" pitchFamily="18" charset="2"/>
              </a:rPr>
              <a:t> </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rPr>
              <a:t>R</a:t>
            </a:r>
            <a:r>
              <a:rPr kumimoji="1" lang="zh-CN" altLang="en-US" sz="2800" i="0" dirty="0">
                <a:latin typeface="+mn-lt"/>
                <a:ea typeface="微软雅黑" panose="020B0503020204020204" pitchFamily="34" charset="-122"/>
              </a:rPr>
              <a:t>时，切应力最大，为</a:t>
            </a:r>
            <a:r>
              <a:rPr kumimoji="1" lang="zh-CN" altLang="en-US" sz="2800" b="0" dirty="0">
                <a:latin typeface="+mn-lt"/>
                <a:ea typeface="微软雅黑" panose="020B0503020204020204" pitchFamily="34" charset="-122"/>
                <a:sym typeface="Symbol" panose="05050102010706020507" pitchFamily="18" charset="2"/>
              </a:rPr>
              <a:t></a:t>
            </a:r>
            <a:r>
              <a:rPr kumimoji="1" lang="en-US" altLang="zh-CN" sz="2800" b="0" i="0" baseline="-25000" dirty="0">
                <a:latin typeface="+mn-lt"/>
                <a:ea typeface="微软雅黑" panose="020B0503020204020204" pitchFamily="34" charset="-122"/>
              </a:rPr>
              <a:t>max</a:t>
            </a:r>
            <a:r>
              <a:rPr kumimoji="1" lang="en-US" altLang="zh-CN" sz="2800" b="0" i="0" dirty="0">
                <a:latin typeface="+mn-lt"/>
                <a:ea typeface="微软雅黑" panose="020B0503020204020204" pitchFamily="34" charset="-122"/>
              </a:rPr>
              <a:t>=</a:t>
            </a:r>
            <a:r>
              <a:rPr kumimoji="1" lang="en-US" altLang="zh-CN" sz="2800" b="0" dirty="0" err="1">
                <a:latin typeface="+mn-lt"/>
                <a:ea typeface="微软雅黑" panose="020B0503020204020204" pitchFamily="34" charset="-122"/>
              </a:rPr>
              <a:t>M</a:t>
            </a:r>
            <a:r>
              <a:rPr kumimoji="1" lang="en-US" altLang="zh-CN" sz="2800" b="0" i="0" baseline="-25000" dirty="0" err="1">
                <a:latin typeface="+mn-lt"/>
                <a:ea typeface="微软雅黑" panose="020B0503020204020204" pitchFamily="34" charset="-122"/>
              </a:rPr>
              <a:t>n</a:t>
            </a:r>
            <a:r>
              <a:rPr kumimoji="1" lang="en-US" altLang="zh-CN" sz="2800" b="0" dirty="0" err="1">
                <a:latin typeface="+mn-lt"/>
                <a:ea typeface="微软雅黑" panose="020B0503020204020204" pitchFamily="34" charset="-122"/>
              </a:rPr>
              <a:t>R</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rPr>
              <a:t>I</a:t>
            </a:r>
            <a:r>
              <a:rPr kumimoji="1" lang="en-US" altLang="zh-CN" sz="2800" b="0" baseline="-25000" dirty="0">
                <a:latin typeface="+mn-lt"/>
                <a:ea typeface="微软雅黑" panose="020B0503020204020204" pitchFamily="34" charset="-122"/>
                <a:sym typeface="Symbol" panose="05050102010706020507" pitchFamily="18" charset="2"/>
              </a:rPr>
              <a:t></a:t>
            </a:r>
            <a:endParaRPr lang="en-US" altLang="zh-CN" sz="2800" i="0" dirty="0">
              <a:latin typeface="+mn-lt"/>
              <a:ea typeface="微软雅黑" panose="020B0503020204020204" pitchFamily="34" charset="-122"/>
            </a:endParaRPr>
          </a:p>
        </p:txBody>
      </p:sp>
      <p:graphicFrame>
        <p:nvGraphicFramePr>
          <p:cNvPr id="193" name="Object 31"/>
          <p:cNvGraphicFramePr>
            <a:graphicFrameLocks noChangeAspect="1"/>
          </p:cNvGraphicFramePr>
          <p:nvPr>
            <p:extLst>
              <p:ext uri="{D42A27DB-BD31-4B8C-83A1-F6EECF244321}">
                <p14:modId xmlns:p14="http://schemas.microsoft.com/office/powerpoint/2010/main" val="3269705398"/>
              </p:ext>
            </p:extLst>
          </p:nvPr>
        </p:nvGraphicFramePr>
        <p:xfrm>
          <a:off x="935681" y="1030618"/>
          <a:ext cx="1548831" cy="919087"/>
        </p:xfrm>
        <a:graphic>
          <a:graphicData uri="http://schemas.openxmlformats.org/presentationml/2006/ole">
            <mc:AlternateContent xmlns:mc="http://schemas.openxmlformats.org/markup-compatibility/2006">
              <mc:Choice xmlns:v="urn:schemas-microsoft-com:vml" Requires="v">
                <p:oleObj spid="_x0000_s5126" name="Equation" r:id="rId4" imgW="749160" imgH="444240" progId="Equation.DSMT4">
                  <p:embed/>
                </p:oleObj>
              </mc:Choice>
              <mc:Fallback>
                <p:oleObj name="Equation" r:id="rId4" imgW="749160" imgH="444240" progId="Equation.DSMT4">
                  <p:embed/>
                  <p:pic>
                    <p:nvPicPr>
                      <p:cNvPr id="0" name=""/>
                      <p:cNvPicPr>
                        <a:picLocks noChangeAspect="1" noChangeArrowheads="1"/>
                      </p:cNvPicPr>
                      <p:nvPr/>
                    </p:nvPicPr>
                    <p:blipFill>
                      <a:blip r:embed="rId5"/>
                      <a:srcRect/>
                      <a:stretch>
                        <a:fillRect/>
                      </a:stretch>
                    </p:blipFill>
                    <p:spPr bwMode="auto">
                      <a:xfrm>
                        <a:off x="935681" y="1030618"/>
                        <a:ext cx="1548831" cy="919087"/>
                      </a:xfrm>
                      <a:prstGeom prst="rect">
                        <a:avLst/>
                      </a:prstGeom>
                      <a:noFill/>
                      <a:ln>
                        <a:noFill/>
                      </a:ln>
                      <a:effectLst/>
                    </p:spPr>
                  </p:pic>
                </p:oleObj>
              </mc:Fallback>
            </mc:AlternateContent>
          </a:graphicData>
        </a:graphic>
      </p:graphicFrame>
      <p:sp>
        <p:nvSpPr>
          <p:cNvPr id="63" name="Text Box 1032"/>
          <p:cNvSpPr txBox="1">
            <a:spLocks noChangeArrowheads="1"/>
          </p:cNvSpPr>
          <p:nvPr/>
        </p:nvSpPr>
        <p:spPr bwMode="auto">
          <a:xfrm>
            <a:off x="2554688" y="1135616"/>
            <a:ext cx="5045708"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0000"/>
              </a:lnSpc>
              <a:spcBef>
                <a:spcPct val="50000"/>
              </a:spcBef>
            </a:pPr>
            <a:r>
              <a:rPr kumimoji="1" lang="en-US" altLang="zh-CN" sz="2800" i="0" dirty="0">
                <a:solidFill>
                  <a:srgbClr val="000000"/>
                </a:solidFill>
                <a:latin typeface="+mn-lt"/>
                <a:ea typeface="微软雅黑" panose="020B0503020204020204" pitchFamily="34" charset="-122"/>
              </a:rPr>
              <a:t>—— </a:t>
            </a:r>
            <a:r>
              <a:rPr kumimoji="1" lang="zh-CN" altLang="en-US" sz="2800" i="0" dirty="0">
                <a:solidFill>
                  <a:srgbClr val="000000"/>
                </a:solidFill>
                <a:latin typeface="+mn-lt"/>
                <a:ea typeface="微软雅黑" panose="020B0503020204020204" pitchFamily="34" charset="-122"/>
              </a:rPr>
              <a:t>横截面上距圆心为</a:t>
            </a:r>
            <a:r>
              <a:rPr kumimoji="1" lang="zh-CN" altLang="en-US" sz="2800" b="0" dirty="0">
                <a:solidFill>
                  <a:srgbClr val="000000"/>
                </a:solidFill>
                <a:latin typeface="+mn-lt"/>
                <a:ea typeface="微软雅黑" panose="020B0503020204020204" pitchFamily="34" charset="-122"/>
                <a:sym typeface="Symbol" pitchFamily="18" charset="2"/>
              </a:rPr>
              <a:t> </a:t>
            </a:r>
            <a:r>
              <a:rPr kumimoji="1" lang="zh-CN" altLang="en-US" sz="2800" i="0" dirty="0">
                <a:solidFill>
                  <a:srgbClr val="000000"/>
                </a:solidFill>
                <a:latin typeface="+mn-lt"/>
                <a:ea typeface="微软雅黑" panose="020B0503020204020204" pitchFamily="34" charset="-122"/>
              </a:rPr>
              <a:t>处任一点切应力计算公式。</a:t>
            </a:r>
            <a:endParaRPr lang="en-US" altLang="zh-CN" sz="2800" i="0" dirty="0">
              <a:latin typeface="+mj-lt"/>
              <a:ea typeface="微软雅黑" panose="020B0503020204020204" pitchFamily="34" charset="-122"/>
            </a:endParaRPr>
          </a:p>
        </p:txBody>
      </p:sp>
      <p:sp>
        <p:nvSpPr>
          <p:cNvPr id="64" name="Text Box 1032"/>
          <p:cNvSpPr txBox="1">
            <a:spLocks noChangeArrowheads="1"/>
          </p:cNvSpPr>
          <p:nvPr/>
        </p:nvSpPr>
        <p:spPr bwMode="auto">
          <a:xfrm>
            <a:off x="3035894" y="3897811"/>
            <a:ext cx="6506024" cy="581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5000"/>
              </a:lnSpc>
            </a:pPr>
            <a:r>
              <a:rPr kumimoji="1" lang="en-US" altLang="zh-CN" sz="2800" b="0" dirty="0" err="1">
                <a:latin typeface="+mn-lt"/>
                <a:ea typeface="微软雅黑" panose="020B0503020204020204" pitchFamily="34" charset="-122"/>
              </a:rPr>
              <a:t>W</a:t>
            </a:r>
            <a:r>
              <a:rPr kumimoji="1" lang="en-US" altLang="zh-CN" sz="2800" b="0" i="0" baseline="-25000" dirty="0" err="1">
                <a:ea typeface="微软雅黑" panose="020B0503020204020204" pitchFamily="34" charset="-122"/>
              </a:rPr>
              <a:t>n</a:t>
            </a:r>
            <a:r>
              <a:rPr kumimoji="1" lang="zh-CN" altLang="en-US" sz="2800" b="0" dirty="0">
                <a:latin typeface="+mn-lt"/>
                <a:ea typeface="微软雅黑" panose="020B0503020204020204" pitchFamily="34" charset="-122"/>
                <a:sym typeface="Symbol" panose="05050102010706020507" pitchFamily="18" charset="2"/>
              </a:rPr>
              <a:t> </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rPr>
              <a:t>I</a:t>
            </a:r>
            <a:r>
              <a:rPr kumimoji="1" lang="en-US" altLang="zh-CN" sz="2800" b="0" baseline="-25000" dirty="0">
                <a:latin typeface="+mn-lt"/>
                <a:ea typeface="微软雅黑" panose="020B0503020204020204" pitchFamily="34" charset="-122"/>
                <a:sym typeface="Symbol" panose="05050102010706020507" pitchFamily="18" charset="2"/>
              </a:rPr>
              <a:t> </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rPr>
              <a:t>R</a:t>
            </a:r>
            <a:r>
              <a:rPr kumimoji="1" lang="zh-CN" altLang="en-US" sz="2800" i="0" dirty="0">
                <a:latin typeface="+mn-lt"/>
                <a:ea typeface="微软雅黑" panose="020B0503020204020204" pitchFamily="34" charset="-122"/>
              </a:rPr>
              <a:t>，为</a:t>
            </a:r>
            <a:r>
              <a:rPr kumimoji="1" lang="zh-CN" altLang="en-US" sz="2800" i="0" dirty="0">
                <a:solidFill>
                  <a:srgbClr val="FF0000"/>
                </a:solidFill>
                <a:latin typeface="+mn-lt"/>
                <a:ea typeface="微软雅黑" panose="020B0503020204020204" pitchFamily="34" charset="-122"/>
              </a:rPr>
              <a:t>抗扭截面系数</a:t>
            </a:r>
            <a:endParaRPr kumimoji="1" lang="en-US" altLang="zh-CN" sz="2800" i="0" dirty="0">
              <a:solidFill>
                <a:srgbClr val="FF0000"/>
              </a:solidFill>
              <a:latin typeface="+mn-lt"/>
              <a:ea typeface="微软雅黑" panose="020B0503020204020204" pitchFamily="34" charset="-122"/>
            </a:endParaRPr>
          </a:p>
        </p:txBody>
      </p:sp>
      <p:graphicFrame>
        <p:nvGraphicFramePr>
          <p:cNvPr id="65" name="Object 55"/>
          <p:cNvGraphicFramePr>
            <a:graphicFrameLocks noChangeAspect="1"/>
          </p:cNvGraphicFramePr>
          <p:nvPr>
            <p:extLst>
              <p:ext uri="{D42A27DB-BD31-4B8C-83A1-F6EECF244321}">
                <p14:modId xmlns:p14="http://schemas.microsoft.com/office/powerpoint/2010/main" val="2646655727"/>
              </p:ext>
            </p:extLst>
          </p:nvPr>
        </p:nvGraphicFramePr>
        <p:xfrm>
          <a:off x="1127448" y="3682651"/>
          <a:ext cx="1647041" cy="1058945"/>
        </p:xfrm>
        <a:graphic>
          <a:graphicData uri="http://schemas.openxmlformats.org/presentationml/2006/ole">
            <mc:AlternateContent xmlns:mc="http://schemas.openxmlformats.org/markup-compatibility/2006">
              <mc:Choice xmlns:v="urn:schemas-microsoft-com:vml" Requires="v">
                <p:oleObj spid="_x0000_s5127" name="Equation" r:id="rId6" imgW="672840" imgH="431640" progId="Equation.DSMT4">
                  <p:embed/>
                </p:oleObj>
              </mc:Choice>
              <mc:Fallback>
                <p:oleObj name="Equation" r:id="rId6" imgW="672840" imgH="431640" progId="Equation.DSMT4">
                  <p:embed/>
                  <p:pic>
                    <p:nvPicPr>
                      <p:cNvPr id="0" name=""/>
                      <p:cNvPicPr>
                        <a:picLocks noChangeAspect="1" noChangeArrowheads="1"/>
                      </p:cNvPicPr>
                      <p:nvPr/>
                    </p:nvPicPr>
                    <p:blipFill>
                      <a:blip r:embed="rId7"/>
                      <a:srcRect/>
                      <a:stretch>
                        <a:fillRect/>
                      </a:stretch>
                    </p:blipFill>
                    <p:spPr bwMode="auto">
                      <a:xfrm>
                        <a:off x="1127448" y="3682651"/>
                        <a:ext cx="1647041" cy="1058945"/>
                      </a:xfrm>
                      <a:prstGeom prst="rect">
                        <a:avLst/>
                      </a:prstGeom>
                      <a:noFill/>
                    </p:spPr>
                  </p:pic>
                </p:oleObj>
              </mc:Fallback>
            </mc:AlternateContent>
          </a:graphicData>
        </a:graphic>
      </p:graphicFrame>
    </p:spTree>
    <p:extLst>
      <p:ext uri="{BB962C8B-B14F-4D97-AF65-F5344CB8AC3E}">
        <p14:creationId xmlns:p14="http://schemas.microsoft.com/office/powerpoint/2010/main" val="240824620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93"/>
                                        </p:tgtEl>
                                        <p:attrNameLst>
                                          <p:attrName>style.visibility</p:attrName>
                                        </p:attrNameLst>
                                      </p:cBhvr>
                                      <p:to>
                                        <p:strVal val="visible"/>
                                      </p:to>
                                    </p:set>
                                    <p:animEffect transition="in" filter="wipe(left)">
                                      <p:cBhvr>
                                        <p:cTn id="7" dur="500"/>
                                        <p:tgtEl>
                                          <p:spTgt spid="19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6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9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65"/>
                                        </p:tgtEl>
                                        <p:attrNameLst>
                                          <p:attrName>style.visibility</p:attrName>
                                        </p:attrNameLst>
                                      </p:cBhvr>
                                      <p:to>
                                        <p:strVal val="visible"/>
                                      </p:to>
                                    </p:set>
                                    <p:animEffect transition="in" filter="wipe(left)">
                                      <p:cBhvr>
                                        <p:cTn id="20" dur="3000"/>
                                        <p:tgtEl>
                                          <p:spTgt spid="6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 grpId="0" autoUpdateAnimBg="0"/>
      <p:bldP spid="63" grpId="0" autoUpdateAnimBg="0"/>
      <p:bldP spid="64"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14" name="Text Box 1032"/>
          <p:cNvSpPr txBox="1">
            <a:spLocks noChangeArrowheads="1"/>
          </p:cNvSpPr>
          <p:nvPr/>
        </p:nvSpPr>
        <p:spPr bwMode="auto">
          <a:xfrm>
            <a:off x="585012" y="1485125"/>
            <a:ext cx="7373596" cy="1212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zh-CN" altLang="en-US" sz="2800" i="0" dirty="0">
                <a:latin typeface="+mn-lt"/>
                <a:ea typeface="微软雅黑" panose="020B0503020204020204" pitchFamily="34" charset="-122"/>
              </a:rPr>
              <a:t>在理论力学中，曾计算过均质圆盘对过圆心且垂直盘面轴的转动惯量，其表达式为 </a:t>
            </a:r>
          </a:p>
        </p:txBody>
      </p:sp>
      <p:sp>
        <p:nvSpPr>
          <p:cNvPr id="9" name="Rectangle 61"/>
          <p:cNvSpPr>
            <a:spLocks noChangeArrowheads="1"/>
          </p:cNvSpPr>
          <p:nvPr/>
        </p:nvSpPr>
        <p:spPr bwMode="auto">
          <a:xfrm>
            <a:off x="8098184" y="2047305"/>
            <a:ext cx="3784848" cy="3384376"/>
          </a:xfrm>
          <a:prstGeom prst="rect">
            <a:avLst/>
          </a:prstGeom>
          <a:solidFill>
            <a:srgbClr val="B9CDE5"/>
          </a:solidFill>
          <a:ln>
            <a:noFill/>
          </a:ln>
          <a:effectLst/>
        </p:spPr>
        <p:txBody>
          <a:bodyPr wrap="none" anchor="ctr"/>
          <a:lstStyle/>
          <a:p>
            <a:endParaRPr lang="zh-CN" altLang="en-US"/>
          </a:p>
        </p:txBody>
      </p:sp>
      <p:sp>
        <p:nvSpPr>
          <p:cNvPr id="53" name="矩形 52"/>
          <p:cNvSpPr/>
          <p:nvPr/>
        </p:nvSpPr>
        <p:spPr>
          <a:xfrm>
            <a:off x="2388824" y="931127"/>
            <a:ext cx="5198859" cy="553998"/>
          </a:xfrm>
          <a:prstGeom prst="rect">
            <a:avLst/>
          </a:prstGeom>
        </p:spPr>
        <p:txBody>
          <a:bodyPr wrap="none">
            <a:spAutoFit/>
          </a:bodyPr>
          <a:lstStyle/>
          <a:p>
            <a:pPr lvl="0" algn="just"/>
            <a:r>
              <a:rPr lang="zh-CN" altLang="en-US" sz="3000" i="0" dirty="0">
                <a:solidFill>
                  <a:srgbClr val="4F81BD"/>
                </a:solidFill>
                <a:latin typeface="+mn-lt"/>
                <a:ea typeface="微软雅黑" panose="020B0503020204020204" pitchFamily="34" charset="-122"/>
              </a:rPr>
              <a:t>极惯性矩</a:t>
            </a:r>
            <a:r>
              <a:rPr lang="en-US" altLang="zh-CN" sz="3000" b="0" dirty="0">
                <a:solidFill>
                  <a:srgbClr val="4F81BD"/>
                </a:solidFill>
                <a:latin typeface="+mn-lt"/>
                <a:ea typeface="微软雅黑" panose="020B0503020204020204" pitchFamily="34" charset="-122"/>
              </a:rPr>
              <a:t>I</a:t>
            </a:r>
            <a:r>
              <a:rPr lang="en-US" altLang="zh-CN" sz="3000" b="0" baseline="-25000" dirty="0">
                <a:solidFill>
                  <a:srgbClr val="4F81BD"/>
                </a:solidFill>
                <a:latin typeface="+mn-lt"/>
                <a:ea typeface="微软雅黑" panose="020B0503020204020204" pitchFamily="34" charset="-122"/>
                <a:sym typeface="Symbol" panose="05050102010706020507" pitchFamily="18" charset="2"/>
              </a:rPr>
              <a:t> </a:t>
            </a:r>
            <a:r>
              <a:rPr lang="zh-CN" altLang="en-US" sz="3000" i="0" dirty="0">
                <a:solidFill>
                  <a:srgbClr val="4F81BD"/>
                </a:solidFill>
                <a:latin typeface="+mn-lt"/>
                <a:ea typeface="微软雅黑" panose="020B0503020204020204" pitchFamily="34" charset="-122"/>
              </a:rPr>
              <a:t>及抗扭截面系数</a:t>
            </a:r>
            <a:r>
              <a:rPr lang="en-US" altLang="zh-CN" sz="3000" b="0" dirty="0" err="1">
                <a:solidFill>
                  <a:srgbClr val="4F81BD"/>
                </a:solidFill>
                <a:latin typeface="+mn-lt"/>
                <a:ea typeface="微软雅黑" panose="020B0503020204020204" pitchFamily="34" charset="-122"/>
              </a:rPr>
              <a:t>W</a:t>
            </a:r>
            <a:r>
              <a:rPr lang="en-US" altLang="zh-CN" sz="3000" b="0" i="0" baseline="-25000" dirty="0" err="1">
                <a:solidFill>
                  <a:srgbClr val="4F81BD"/>
                </a:solidFill>
                <a:latin typeface="+mn-lt"/>
                <a:ea typeface="微软雅黑" panose="020B0503020204020204" pitchFamily="34" charset="-122"/>
              </a:rPr>
              <a:t>n</a:t>
            </a:r>
            <a:endParaRPr lang="zh-CN" altLang="en-US" sz="3000" i="0" dirty="0">
              <a:solidFill>
                <a:srgbClr val="4F81BD"/>
              </a:solidFill>
              <a:latin typeface="微软雅黑" panose="020B0503020204020204" pitchFamily="34" charset="-122"/>
              <a:ea typeface="微软雅黑" panose="020B0503020204020204" pitchFamily="34" charset="-122"/>
            </a:endParaRPr>
          </a:p>
        </p:txBody>
      </p:sp>
      <p:sp>
        <p:nvSpPr>
          <p:cNvPr id="138" name="Oval 13"/>
          <p:cNvSpPr>
            <a:spLocks noChangeArrowheads="1"/>
          </p:cNvSpPr>
          <p:nvPr/>
        </p:nvSpPr>
        <p:spPr bwMode="auto">
          <a:xfrm>
            <a:off x="8530232" y="2551360"/>
            <a:ext cx="2362200" cy="2362200"/>
          </a:xfrm>
          <a:prstGeom prst="ellipse">
            <a:avLst/>
          </a:prstGeom>
          <a:gradFill rotWithShape="0">
            <a:gsLst>
              <a:gs pos="0">
                <a:srgbClr val="008000"/>
              </a:gs>
              <a:gs pos="100000">
                <a:srgbClr val="99CC00"/>
              </a:gs>
            </a:gsLst>
            <a:path path="shape">
              <a:fillToRect l="50000" t="50000" r="50000" b="50000"/>
            </a:path>
          </a:gradFill>
          <a:ln w="9525">
            <a:solidFill>
              <a:srgbClr val="99CC00"/>
            </a:solidFill>
            <a:round/>
            <a:headEnd/>
            <a:tailEnd/>
          </a:ln>
          <a:effectLst>
            <a:outerShdw dist="35921" dir="2700000" algn="ctr" rotWithShape="0">
              <a:srgbClr val="808080"/>
            </a:outerShdw>
          </a:effectLst>
        </p:spPr>
        <p:txBody>
          <a:bodyPr wrap="none" anchor="ctr"/>
          <a:lstStyle/>
          <a:p>
            <a:endParaRPr lang="zh-CN" altLang="en-US" sz="2000"/>
          </a:p>
        </p:txBody>
      </p:sp>
      <p:sp>
        <p:nvSpPr>
          <p:cNvPr id="139" name="AutoShape 14" descr="深色上对角线"/>
          <p:cNvSpPr>
            <a:spLocks noChangeArrowheads="1"/>
          </p:cNvSpPr>
          <p:nvPr/>
        </p:nvSpPr>
        <p:spPr bwMode="auto">
          <a:xfrm>
            <a:off x="8835032" y="2856160"/>
            <a:ext cx="1752600" cy="1752600"/>
          </a:xfrm>
          <a:custGeom>
            <a:avLst/>
            <a:gdLst>
              <a:gd name="T0" fmla="*/ 876300 w 21600"/>
              <a:gd name="T1" fmla="*/ 0 h 21600"/>
              <a:gd name="T2" fmla="*/ 256642 w 21600"/>
              <a:gd name="T3" fmla="*/ 256642 h 21600"/>
              <a:gd name="T4" fmla="*/ 0 w 21600"/>
              <a:gd name="T5" fmla="*/ 876300 h 21600"/>
              <a:gd name="T6" fmla="*/ 256642 w 21600"/>
              <a:gd name="T7" fmla="*/ 1495958 h 21600"/>
              <a:gd name="T8" fmla="*/ 876300 w 21600"/>
              <a:gd name="T9" fmla="*/ 1752600 h 21600"/>
              <a:gd name="T10" fmla="*/ 1495958 w 21600"/>
              <a:gd name="T11" fmla="*/ 1495958 h 21600"/>
              <a:gd name="T12" fmla="*/ 1752600 w 21600"/>
              <a:gd name="T13" fmla="*/ 876300 h 21600"/>
              <a:gd name="T14" fmla="*/ 1495958 w 21600"/>
              <a:gd name="T15" fmla="*/ 25664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04" y="10800"/>
                </a:moveTo>
                <a:cubicBezTo>
                  <a:pt x="1904" y="15713"/>
                  <a:pt x="5887" y="19696"/>
                  <a:pt x="10800" y="19696"/>
                </a:cubicBezTo>
                <a:cubicBezTo>
                  <a:pt x="15713" y="19696"/>
                  <a:pt x="19696" y="15713"/>
                  <a:pt x="19696" y="10800"/>
                </a:cubicBezTo>
                <a:cubicBezTo>
                  <a:pt x="19696" y="5887"/>
                  <a:pt x="15713" y="1904"/>
                  <a:pt x="10800" y="1904"/>
                </a:cubicBezTo>
                <a:cubicBezTo>
                  <a:pt x="5887" y="1904"/>
                  <a:pt x="1904" y="5887"/>
                  <a:pt x="1904" y="10800"/>
                </a:cubicBezTo>
                <a:close/>
              </a:path>
            </a:pathLst>
          </a:custGeom>
          <a:pattFill prst="dkUpDiag">
            <a:fgClr>
              <a:srgbClr val="CC3300"/>
            </a:fgClr>
            <a:bgClr>
              <a:srgbClr val="99CC00"/>
            </a:bgClr>
          </a:pattFill>
          <a:ln w="9525">
            <a:solidFill>
              <a:srgbClr val="CC3300"/>
            </a:solidFill>
            <a:round/>
            <a:headEnd/>
            <a:tailEnd/>
          </a:ln>
        </p:spPr>
        <p:txBody>
          <a:bodyPr wrap="none" anchor="ctr"/>
          <a:lstStyle/>
          <a:p>
            <a:endParaRPr lang="zh-CN" altLang="en-US" sz="2000"/>
          </a:p>
        </p:txBody>
      </p:sp>
      <p:sp>
        <p:nvSpPr>
          <p:cNvPr id="149" name="Oval 15"/>
          <p:cNvSpPr>
            <a:spLocks noChangeArrowheads="1"/>
          </p:cNvSpPr>
          <p:nvPr/>
        </p:nvSpPr>
        <p:spPr bwMode="auto">
          <a:xfrm>
            <a:off x="9673232" y="3694360"/>
            <a:ext cx="152400" cy="152400"/>
          </a:xfrm>
          <a:prstGeom prst="ellipse">
            <a:avLst/>
          </a:prstGeom>
          <a:solidFill>
            <a:srgbClr val="CC3300"/>
          </a:solidFill>
          <a:ln w="9525">
            <a:solidFill>
              <a:schemeClr val="tx1"/>
            </a:solidFill>
            <a:round/>
            <a:headEnd/>
            <a:tailEnd/>
          </a:ln>
        </p:spPr>
        <p:txBody>
          <a:bodyPr wrap="none" anchor="ctr"/>
          <a:lstStyle/>
          <a:p>
            <a:endParaRPr lang="zh-CN" altLang="en-US" sz="2000"/>
          </a:p>
        </p:txBody>
      </p:sp>
      <p:sp>
        <p:nvSpPr>
          <p:cNvPr id="150" name="Line 16"/>
          <p:cNvSpPr>
            <a:spLocks noChangeShapeType="1"/>
          </p:cNvSpPr>
          <p:nvPr/>
        </p:nvSpPr>
        <p:spPr bwMode="auto">
          <a:xfrm>
            <a:off x="10892432" y="2551360"/>
            <a:ext cx="6858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151" name="Line 17"/>
          <p:cNvSpPr>
            <a:spLocks noChangeShapeType="1"/>
          </p:cNvSpPr>
          <p:nvPr/>
        </p:nvSpPr>
        <p:spPr bwMode="auto">
          <a:xfrm>
            <a:off x="10740032" y="4913560"/>
            <a:ext cx="8382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152" name="Line 18"/>
          <p:cNvSpPr>
            <a:spLocks noChangeShapeType="1"/>
          </p:cNvSpPr>
          <p:nvPr/>
        </p:nvSpPr>
        <p:spPr bwMode="auto">
          <a:xfrm flipV="1">
            <a:off x="11197232" y="2551360"/>
            <a:ext cx="1588" cy="2362200"/>
          </a:xfrm>
          <a:prstGeom prst="line">
            <a:avLst/>
          </a:prstGeom>
          <a:noFill/>
          <a:ln w="127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153" name="Text Box 19"/>
          <p:cNvSpPr txBox="1">
            <a:spLocks noChangeArrowheads="1"/>
          </p:cNvSpPr>
          <p:nvPr/>
        </p:nvSpPr>
        <p:spPr bwMode="auto">
          <a:xfrm>
            <a:off x="11349632" y="3389560"/>
            <a:ext cx="533400" cy="400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Char char="•"/>
              <a:defRPr>
                <a:solidFill>
                  <a:schemeClr val="tx1"/>
                </a:solidFill>
                <a:latin typeface="Arial" charset="0"/>
                <a:ea typeface="宋体" charset="-122"/>
              </a:defRPr>
            </a:lvl6pPr>
            <a:lvl7pPr marL="2971800" indent="-228600" eaLnBrk="0" fontAlgn="base" hangingPunct="0">
              <a:spcBef>
                <a:spcPct val="0"/>
              </a:spcBef>
              <a:spcAft>
                <a:spcPct val="0"/>
              </a:spcAft>
              <a:buChar char="•"/>
              <a:defRPr>
                <a:solidFill>
                  <a:schemeClr val="tx1"/>
                </a:solidFill>
                <a:latin typeface="Arial" charset="0"/>
                <a:ea typeface="宋体" charset="-122"/>
              </a:defRPr>
            </a:lvl7pPr>
            <a:lvl8pPr marL="3429000" indent="-228600" eaLnBrk="0" fontAlgn="base" hangingPunct="0">
              <a:spcBef>
                <a:spcPct val="0"/>
              </a:spcBef>
              <a:spcAft>
                <a:spcPct val="0"/>
              </a:spcAft>
              <a:buChar char="•"/>
              <a:defRPr>
                <a:solidFill>
                  <a:schemeClr val="tx1"/>
                </a:solidFill>
                <a:latin typeface="Arial" charset="0"/>
                <a:ea typeface="宋体" charset="-122"/>
              </a:defRPr>
            </a:lvl8pPr>
            <a:lvl9pPr marL="3886200" indent="-228600" eaLnBrk="0" fontAlgn="base" hangingPunct="0">
              <a:spcBef>
                <a:spcPct val="0"/>
              </a:spcBef>
              <a:spcAft>
                <a:spcPct val="0"/>
              </a:spcAft>
              <a:buChar char="•"/>
              <a:defRPr>
                <a:solidFill>
                  <a:schemeClr val="tx1"/>
                </a:solidFill>
                <a:latin typeface="Arial" charset="0"/>
                <a:ea typeface="宋体" charset="-122"/>
              </a:defRPr>
            </a:lvl9pPr>
          </a:lstStyle>
          <a:p>
            <a:pPr eaLnBrk="1" hangingPunct="1">
              <a:spcBef>
                <a:spcPct val="50000"/>
              </a:spcBef>
              <a:buFontTx/>
              <a:buNone/>
            </a:pPr>
            <a:r>
              <a:rPr kumimoji="1" lang="en-US" altLang="zh-CN" sz="2000" b="0" i="1" dirty="0">
                <a:latin typeface="Times New Roman" pitchFamily="18" charset="0"/>
              </a:rPr>
              <a:t>D</a:t>
            </a:r>
          </a:p>
        </p:txBody>
      </p:sp>
      <p:sp>
        <p:nvSpPr>
          <p:cNvPr id="154" name="Line 20"/>
          <p:cNvSpPr>
            <a:spLocks noChangeShapeType="1"/>
          </p:cNvSpPr>
          <p:nvPr/>
        </p:nvSpPr>
        <p:spPr bwMode="auto">
          <a:xfrm flipH="1" flipV="1">
            <a:off x="8259957" y="2911645"/>
            <a:ext cx="685800" cy="396875"/>
          </a:xfrm>
          <a:prstGeom prst="line">
            <a:avLst/>
          </a:prstGeom>
          <a:noFill/>
          <a:ln w="12700">
            <a:solidFill>
              <a:schemeClr val="tx1"/>
            </a:solidFill>
            <a:round/>
            <a:headEnd type="stealth" w="med" len="lg"/>
            <a:tailEn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155" name="Line 21"/>
          <p:cNvSpPr>
            <a:spLocks noChangeShapeType="1"/>
          </p:cNvSpPr>
          <p:nvPr/>
        </p:nvSpPr>
        <p:spPr bwMode="auto">
          <a:xfrm rot="10800000" flipH="1" flipV="1">
            <a:off x="9063632" y="3389560"/>
            <a:ext cx="685800" cy="381000"/>
          </a:xfrm>
          <a:prstGeom prst="line">
            <a:avLst/>
          </a:prstGeom>
          <a:noFill/>
          <a:ln w="12700">
            <a:solidFill>
              <a:schemeClr val="tx1"/>
            </a:solidFill>
            <a:round/>
            <a:headEnd type="stealth" w="med" len="lg"/>
            <a:tailEn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156" name="Text Box 22"/>
          <p:cNvSpPr txBox="1">
            <a:spLocks noChangeArrowheads="1"/>
          </p:cNvSpPr>
          <p:nvPr/>
        </p:nvSpPr>
        <p:spPr bwMode="auto">
          <a:xfrm>
            <a:off x="9063632" y="3541960"/>
            <a:ext cx="533400" cy="400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Char char="•"/>
              <a:defRPr>
                <a:solidFill>
                  <a:schemeClr val="tx1"/>
                </a:solidFill>
                <a:latin typeface="Arial" charset="0"/>
                <a:ea typeface="宋体" charset="-122"/>
              </a:defRPr>
            </a:lvl6pPr>
            <a:lvl7pPr marL="2971800" indent="-228600" eaLnBrk="0" fontAlgn="base" hangingPunct="0">
              <a:spcBef>
                <a:spcPct val="0"/>
              </a:spcBef>
              <a:spcAft>
                <a:spcPct val="0"/>
              </a:spcAft>
              <a:buChar char="•"/>
              <a:defRPr>
                <a:solidFill>
                  <a:schemeClr val="tx1"/>
                </a:solidFill>
                <a:latin typeface="Arial" charset="0"/>
                <a:ea typeface="宋体" charset="-122"/>
              </a:defRPr>
            </a:lvl7pPr>
            <a:lvl8pPr marL="3429000" indent="-228600" eaLnBrk="0" fontAlgn="base" hangingPunct="0">
              <a:spcBef>
                <a:spcPct val="0"/>
              </a:spcBef>
              <a:spcAft>
                <a:spcPct val="0"/>
              </a:spcAft>
              <a:buChar char="•"/>
              <a:defRPr>
                <a:solidFill>
                  <a:schemeClr val="tx1"/>
                </a:solidFill>
                <a:latin typeface="Arial" charset="0"/>
                <a:ea typeface="宋体" charset="-122"/>
              </a:defRPr>
            </a:lvl8pPr>
            <a:lvl9pPr marL="3886200" indent="-228600" eaLnBrk="0" fontAlgn="base" hangingPunct="0">
              <a:spcBef>
                <a:spcPct val="0"/>
              </a:spcBef>
              <a:spcAft>
                <a:spcPct val="0"/>
              </a:spcAft>
              <a:buChar char="•"/>
              <a:defRPr>
                <a:solidFill>
                  <a:schemeClr val="tx1"/>
                </a:solidFill>
                <a:latin typeface="Arial" charset="0"/>
                <a:ea typeface="宋体" charset="-122"/>
              </a:defRPr>
            </a:lvl9pPr>
          </a:lstStyle>
          <a:p>
            <a:pPr eaLnBrk="1" hangingPunct="1">
              <a:spcBef>
                <a:spcPct val="50000"/>
              </a:spcBef>
              <a:buFontTx/>
              <a:buNone/>
            </a:pPr>
            <a:r>
              <a:rPr kumimoji="1" lang="en-US" altLang="zh-CN" sz="2000" b="0" i="1" dirty="0">
                <a:latin typeface="Times New Roman" pitchFamily="18" charset="0"/>
                <a:sym typeface="Symbol" pitchFamily="18" charset="2"/>
              </a:rPr>
              <a:t></a:t>
            </a:r>
            <a:endParaRPr kumimoji="1" lang="en-US" altLang="zh-CN" sz="2000" b="0" i="1" dirty="0">
              <a:latin typeface="Times New Roman" pitchFamily="18" charset="0"/>
            </a:endParaRPr>
          </a:p>
        </p:txBody>
      </p:sp>
      <p:sp>
        <p:nvSpPr>
          <p:cNvPr id="157" name="Rectangle 23"/>
          <p:cNvSpPr>
            <a:spLocks noChangeArrowheads="1"/>
          </p:cNvSpPr>
          <p:nvPr/>
        </p:nvSpPr>
        <p:spPr bwMode="auto">
          <a:xfrm>
            <a:off x="8301632" y="2551360"/>
            <a:ext cx="453970" cy="400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buFontTx/>
              <a:buNone/>
            </a:pPr>
            <a:r>
              <a:rPr kumimoji="1" lang="en-US" altLang="zh-CN" sz="2000" b="0" i="0" dirty="0">
                <a:solidFill>
                  <a:schemeClr val="tx1"/>
                </a:solidFill>
                <a:latin typeface="Times New Roman" pitchFamily="18" charset="0"/>
                <a:sym typeface="Symbol" pitchFamily="18" charset="2"/>
              </a:rPr>
              <a:t>d</a:t>
            </a:r>
            <a:r>
              <a:rPr kumimoji="1" lang="en-US" altLang="zh-CN" sz="2000" b="0" i="1" dirty="0">
                <a:solidFill>
                  <a:schemeClr val="tx1"/>
                </a:solidFill>
                <a:latin typeface="Times New Roman" pitchFamily="18" charset="0"/>
                <a:sym typeface="Symbol" pitchFamily="18" charset="2"/>
              </a:rPr>
              <a:t></a:t>
            </a:r>
          </a:p>
        </p:txBody>
      </p:sp>
      <p:sp>
        <p:nvSpPr>
          <p:cNvPr id="158" name="Text Box 24"/>
          <p:cNvSpPr txBox="1">
            <a:spLocks noChangeArrowheads="1"/>
          </p:cNvSpPr>
          <p:nvPr/>
        </p:nvSpPr>
        <p:spPr bwMode="auto">
          <a:xfrm>
            <a:off x="9825632" y="3541960"/>
            <a:ext cx="609600" cy="400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Char char="•"/>
              <a:defRPr>
                <a:solidFill>
                  <a:schemeClr val="tx1"/>
                </a:solidFill>
                <a:latin typeface="Arial" charset="0"/>
                <a:ea typeface="宋体" charset="-122"/>
              </a:defRPr>
            </a:lvl6pPr>
            <a:lvl7pPr marL="2971800" indent="-228600" eaLnBrk="0" fontAlgn="base" hangingPunct="0">
              <a:spcBef>
                <a:spcPct val="0"/>
              </a:spcBef>
              <a:spcAft>
                <a:spcPct val="0"/>
              </a:spcAft>
              <a:buChar char="•"/>
              <a:defRPr>
                <a:solidFill>
                  <a:schemeClr val="tx1"/>
                </a:solidFill>
                <a:latin typeface="Arial" charset="0"/>
                <a:ea typeface="宋体" charset="-122"/>
              </a:defRPr>
            </a:lvl7pPr>
            <a:lvl8pPr marL="3429000" indent="-228600" eaLnBrk="0" fontAlgn="base" hangingPunct="0">
              <a:spcBef>
                <a:spcPct val="0"/>
              </a:spcBef>
              <a:spcAft>
                <a:spcPct val="0"/>
              </a:spcAft>
              <a:buChar char="•"/>
              <a:defRPr>
                <a:solidFill>
                  <a:schemeClr val="tx1"/>
                </a:solidFill>
                <a:latin typeface="Arial" charset="0"/>
                <a:ea typeface="宋体" charset="-122"/>
              </a:defRPr>
            </a:lvl8pPr>
            <a:lvl9pPr marL="3886200" indent="-228600" eaLnBrk="0" fontAlgn="base" hangingPunct="0">
              <a:spcBef>
                <a:spcPct val="0"/>
              </a:spcBef>
              <a:spcAft>
                <a:spcPct val="0"/>
              </a:spcAft>
              <a:buChar char="•"/>
              <a:defRPr>
                <a:solidFill>
                  <a:schemeClr val="tx1"/>
                </a:solidFill>
                <a:latin typeface="Arial" charset="0"/>
                <a:ea typeface="宋体" charset="-122"/>
              </a:defRPr>
            </a:lvl9pPr>
          </a:lstStyle>
          <a:p>
            <a:pPr eaLnBrk="1" hangingPunct="1">
              <a:spcBef>
                <a:spcPct val="50000"/>
              </a:spcBef>
              <a:buFontTx/>
              <a:buNone/>
            </a:pPr>
            <a:r>
              <a:rPr kumimoji="1" lang="en-US" altLang="zh-CN" sz="2000" b="0" i="1" dirty="0">
                <a:latin typeface="Times New Roman" pitchFamily="18" charset="0"/>
              </a:rPr>
              <a:t>O</a:t>
            </a:r>
            <a:endParaRPr kumimoji="1" lang="en-US" altLang="zh-CN" sz="2000" b="0" dirty="0">
              <a:latin typeface="Times New Roman" pitchFamily="18" charset="0"/>
            </a:endParaRPr>
          </a:p>
        </p:txBody>
      </p:sp>
      <p:sp>
        <p:nvSpPr>
          <p:cNvPr id="159" name="Line 21"/>
          <p:cNvSpPr>
            <a:spLocks noChangeShapeType="1"/>
          </p:cNvSpPr>
          <p:nvPr/>
        </p:nvSpPr>
        <p:spPr bwMode="auto">
          <a:xfrm rot="10800000" flipV="1">
            <a:off x="9747844" y="2549772"/>
            <a:ext cx="77788" cy="1220789"/>
          </a:xfrm>
          <a:prstGeom prst="line">
            <a:avLst/>
          </a:prstGeom>
          <a:noFill/>
          <a:ln w="12700">
            <a:solidFill>
              <a:schemeClr val="tx1"/>
            </a:solidFill>
            <a:round/>
            <a:headEnd type="stealth" w="med" len="lg"/>
            <a:tailEnd/>
          </a:ln>
          <a:extLst>
            <a:ext uri="{909E8E84-426E-40DD-AFC4-6F175D3DCCD1}">
              <a14:hiddenFill xmlns:a14="http://schemas.microsoft.com/office/drawing/2010/main">
                <a:noFill/>
              </a14:hiddenFill>
            </a:ext>
          </a:extLst>
        </p:spPr>
        <p:txBody>
          <a:bodyPr wrap="none" anchor="ctr"/>
          <a:lstStyle/>
          <a:p>
            <a:endParaRPr lang="zh-CN" altLang="en-US" sz="2000"/>
          </a:p>
        </p:txBody>
      </p:sp>
      <p:sp>
        <p:nvSpPr>
          <p:cNvPr id="160" name="Text Box 19"/>
          <p:cNvSpPr txBox="1">
            <a:spLocks noChangeArrowheads="1"/>
          </p:cNvSpPr>
          <p:nvPr/>
        </p:nvSpPr>
        <p:spPr bwMode="auto">
          <a:xfrm>
            <a:off x="9481144" y="2999005"/>
            <a:ext cx="533400" cy="400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Char char="•"/>
              <a:defRPr>
                <a:solidFill>
                  <a:schemeClr val="tx1"/>
                </a:solidFill>
                <a:latin typeface="Arial" charset="0"/>
                <a:ea typeface="宋体" charset="-122"/>
              </a:defRPr>
            </a:lvl6pPr>
            <a:lvl7pPr marL="2971800" indent="-228600" eaLnBrk="0" fontAlgn="base" hangingPunct="0">
              <a:spcBef>
                <a:spcPct val="0"/>
              </a:spcBef>
              <a:spcAft>
                <a:spcPct val="0"/>
              </a:spcAft>
              <a:buChar char="•"/>
              <a:defRPr>
                <a:solidFill>
                  <a:schemeClr val="tx1"/>
                </a:solidFill>
                <a:latin typeface="Arial" charset="0"/>
                <a:ea typeface="宋体" charset="-122"/>
              </a:defRPr>
            </a:lvl7pPr>
            <a:lvl8pPr marL="3429000" indent="-228600" eaLnBrk="0" fontAlgn="base" hangingPunct="0">
              <a:spcBef>
                <a:spcPct val="0"/>
              </a:spcBef>
              <a:spcAft>
                <a:spcPct val="0"/>
              </a:spcAft>
              <a:buChar char="•"/>
              <a:defRPr>
                <a:solidFill>
                  <a:schemeClr val="tx1"/>
                </a:solidFill>
                <a:latin typeface="Arial" charset="0"/>
                <a:ea typeface="宋体" charset="-122"/>
              </a:defRPr>
            </a:lvl8pPr>
            <a:lvl9pPr marL="3886200" indent="-228600" eaLnBrk="0" fontAlgn="base" hangingPunct="0">
              <a:spcBef>
                <a:spcPct val="0"/>
              </a:spcBef>
              <a:spcAft>
                <a:spcPct val="0"/>
              </a:spcAft>
              <a:buChar char="•"/>
              <a:defRPr>
                <a:solidFill>
                  <a:schemeClr val="tx1"/>
                </a:solidFill>
                <a:latin typeface="Arial" charset="0"/>
                <a:ea typeface="宋体" charset="-122"/>
              </a:defRPr>
            </a:lvl9pPr>
          </a:lstStyle>
          <a:p>
            <a:pPr eaLnBrk="1" hangingPunct="1">
              <a:spcBef>
                <a:spcPct val="50000"/>
              </a:spcBef>
              <a:buFontTx/>
              <a:buNone/>
            </a:pPr>
            <a:r>
              <a:rPr kumimoji="1" lang="en-US" altLang="zh-CN" sz="2000" b="0" i="1" dirty="0">
                <a:latin typeface="Times New Roman" pitchFamily="18" charset="0"/>
              </a:rPr>
              <a:t>R</a:t>
            </a:r>
          </a:p>
        </p:txBody>
      </p:sp>
      <p:graphicFrame>
        <p:nvGraphicFramePr>
          <p:cNvPr id="161" name="Object 27"/>
          <p:cNvGraphicFramePr>
            <a:graphicFrameLocks noChangeAspect="1"/>
          </p:cNvGraphicFramePr>
          <p:nvPr>
            <p:extLst>
              <p:ext uri="{D42A27DB-BD31-4B8C-83A1-F6EECF244321}">
                <p14:modId xmlns:p14="http://schemas.microsoft.com/office/powerpoint/2010/main" val="344379778"/>
              </p:ext>
            </p:extLst>
          </p:nvPr>
        </p:nvGraphicFramePr>
        <p:xfrm>
          <a:off x="1703512" y="2691407"/>
          <a:ext cx="3113088" cy="620712"/>
        </p:xfrm>
        <a:graphic>
          <a:graphicData uri="http://schemas.openxmlformats.org/presentationml/2006/ole">
            <mc:AlternateContent xmlns:mc="http://schemas.openxmlformats.org/markup-compatibility/2006">
              <mc:Choice xmlns:v="urn:schemas-microsoft-com:vml" Requires="v">
                <p:oleObj spid="_x0000_s6156" name="Equation" r:id="rId4" imgW="1485720" imgH="291960" progId="Equation.DSMT4">
                  <p:embed/>
                </p:oleObj>
              </mc:Choice>
              <mc:Fallback>
                <p:oleObj name="Equation" r:id="rId4" imgW="1485720" imgH="291960" progId="Equation.DSMT4">
                  <p:embed/>
                  <p:pic>
                    <p:nvPicPr>
                      <p:cNvPr id="0" name=""/>
                      <p:cNvPicPr>
                        <a:picLocks noChangeAspect="1" noChangeArrowheads="1"/>
                      </p:cNvPicPr>
                      <p:nvPr/>
                    </p:nvPicPr>
                    <p:blipFill>
                      <a:blip r:embed="rId5"/>
                      <a:srcRect/>
                      <a:stretch>
                        <a:fillRect/>
                      </a:stretch>
                    </p:blipFill>
                    <p:spPr bwMode="auto">
                      <a:xfrm>
                        <a:off x="1703512" y="2691407"/>
                        <a:ext cx="3113088" cy="620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2" name="Text Box 1032"/>
          <p:cNvSpPr txBox="1">
            <a:spLocks noChangeArrowheads="1"/>
          </p:cNvSpPr>
          <p:nvPr/>
        </p:nvSpPr>
        <p:spPr bwMode="auto">
          <a:xfrm>
            <a:off x="585012" y="3251763"/>
            <a:ext cx="7373596"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zh-CN" altLang="en-US" sz="2800" i="0" dirty="0">
                <a:latin typeface="+mn-lt"/>
                <a:ea typeface="微软雅黑" panose="020B0503020204020204" pitchFamily="34" charset="-122"/>
              </a:rPr>
              <a:t>圆截面对圆心</a:t>
            </a:r>
            <a:r>
              <a:rPr kumimoji="1" lang="en-US" altLang="zh-CN" sz="2800" b="0" dirty="0">
                <a:latin typeface="+mn-lt"/>
                <a:ea typeface="微软雅黑" panose="020B0503020204020204" pitchFamily="34" charset="-122"/>
              </a:rPr>
              <a:t>O </a:t>
            </a:r>
            <a:r>
              <a:rPr kumimoji="1" lang="zh-CN" altLang="en-US" sz="2800" i="0" dirty="0">
                <a:latin typeface="+mn-lt"/>
                <a:ea typeface="微软雅黑" panose="020B0503020204020204" pitchFamily="34" charset="-122"/>
              </a:rPr>
              <a:t>的极惯性矩可类比求出</a:t>
            </a:r>
          </a:p>
        </p:txBody>
      </p:sp>
      <p:graphicFrame>
        <p:nvGraphicFramePr>
          <p:cNvPr id="163" name="Object 45"/>
          <p:cNvGraphicFramePr>
            <a:graphicFrameLocks noChangeAspect="1"/>
          </p:cNvGraphicFramePr>
          <p:nvPr>
            <p:extLst>
              <p:ext uri="{D42A27DB-BD31-4B8C-83A1-F6EECF244321}">
                <p14:modId xmlns:p14="http://schemas.microsoft.com/office/powerpoint/2010/main" val="587830256"/>
              </p:ext>
            </p:extLst>
          </p:nvPr>
        </p:nvGraphicFramePr>
        <p:xfrm>
          <a:off x="1691907" y="3852556"/>
          <a:ext cx="3073400" cy="619125"/>
        </p:xfrm>
        <a:graphic>
          <a:graphicData uri="http://schemas.openxmlformats.org/presentationml/2006/ole">
            <mc:AlternateContent xmlns:mc="http://schemas.openxmlformats.org/markup-compatibility/2006">
              <mc:Choice xmlns:v="urn:schemas-microsoft-com:vml" Requires="v">
                <p:oleObj spid="_x0000_s6157" name="Equation" r:id="rId6" imgW="1460160" imgH="291960" progId="Equation.DSMT4">
                  <p:embed/>
                </p:oleObj>
              </mc:Choice>
              <mc:Fallback>
                <p:oleObj name="Equation" r:id="rId6" imgW="1460160" imgH="291960" progId="Equation.DSMT4">
                  <p:embed/>
                  <p:pic>
                    <p:nvPicPr>
                      <p:cNvPr id="0" name=""/>
                      <p:cNvPicPr>
                        <a:picLocks noChangeAspect="1" noChangeArrowheads="1"/>
                      </p:cNvPicPr>
                      <p:nvPr/>
                    </p:nvPicPr>
                    <p:blipFill>
                      <a:blip r:embed="rId7"/>
                      <a:srcRect/>
                      <a:stretch>
                        <a:fillRect/>
                      </a:stretch>
                    </p:blipFill>
                    <p:spPr bwMode="auto">
                      <a:xfrm>
                        <a:off x="1691907" y="3852556"/>
                        <a:ext cx="3073400" cy="619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64" name="Group 49"/>
          <p:cNvGrpSpPr>
            <a:grpSpLocks/>
          </p:cNvGrpSpPr>
          <p:nvPr/>
        </p:nvGrpSpPr>
        <p:grpSpPr bwMode="auto">
          <a:xfrm>
            <a:off x="623392" y="4497390"/>
            <a:ext cx="4967287" cy="935038"/>
            <a:chOff x="563" y="2833"/>
            <a:chExt cx="3129" cy="589"/>
          </a:xfrm>
        </p:grpSpPr>
        <p:sp>
          <p:nvSpPr>
            <p:cNvPr id="165" name="Rectangle 23"/>
            <p:cNvSpPr>
              <a:spLocks noChangeArrowheads="1"/>
            </p:cNvSpPr>
            <p:nvPr/>
          </p:nvSpPr>
          <p:spPr bwMode="auto">
            <a:xfrm>
              <a:off x="563" y="2976"/>
              <a:ext cx="312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r>
                <a:rPr lang="zh-CN" altLang="en-US" sz="2800" i="0" dirty="0">
                  <a:latin typeface="+mn-lt"/>
                  <a:ea typeface="微软雅黑" panose="020B0503020204020204" pitchFamily="34" charset="-122"/>
                </a:rPr>
                <a:t>用                 代入，即得 </a:t>
              </a:r>
            </a:p>
          </p:txBody>
        </p:sp>
        <p:graphicFrame>
          <p:nvGraphicFramePr>
            <p:cNvPr id="166" name="Object 47"/>
            <p:cNvGraphicFramePr>
              <a:graphicFrameLocks noChangeAspect="1"/>
            </p:cNvGraphicFramePr>
            <p:nvPr>
              <p:extLst>
                <p:ext uri="{D42A27DB-BD31-4B8C-83A1-F6EECF244321}">
                  <p14:modId xmlns:p14="http://schemas.microsoft.com/office/powerpoint/2010/main" val="3010793132"/>
                </p:ext>
              </p:extLst>
            </p:nvPr>
          </p:nvGraphicFramePr>
          <p:xfrm>
            <a:off x="892" y="2833"/>
            <a:ext cx="816" cy="589"/>
          </p:xfrm>
          <a:graphic>
            <a:graphicData uri="http://schemas.openxmlformats.org/presentationml/2006/ole">
              <mc:AlternateContent xmlns:mc="http://schemas.openxmlformats.org/markup-compatibility/2006">
                <mc:Choice xmlns:v="urn:schemas-microsoft-com:vml" Requires="v">
                  <p:oleObj spid="_x0000_s6158" name="Equation" r:id="rId8" imgW="583920" imgH="419040" progId="Equation.DSMT4">
                    <p:embed/>
                  </p:oleObj>
                </mc:Choice>
                <mc:Fallback>
                  <p:oleObj name="Equation" r:id="rId8" imgW="583920" imgH="419040" progId="Equation.DSMT4">
                    <p:embed/>
                    <p:pic>
                      <p:nvPicPr>
                        <p:cNvPr id="0" name=""/>
                        <p:cNvPicPr>
                          <a:picLocks noChangeAspect="1" noChangeArrowheads="1"/>
                        </p:cNvPicPr>
                        <p:nvPr/>
                      </p:nvPicPr>
                      <p:blipFill>
                        <a:blip r:embed="rId9"/>
                        <a:srcRect/>
                        <a:stretch>
                          <a:fillRect/>
                        </a:stretch>
                      </p:blipFill>
                      <p:spPr bwMode="auto">
                        <a:xfrm>
                          <a:off x="892" y="2833"/>
                          <a:ext cx="816" cy="589"/>
                        </a:xfrm>
                        <a:prstGeom prst="rect">
                          <a:avLst/>
                        </a:prstGeom>
                        <a:noFill/>
                      </p:spPr>
                    </p:pic>
                  </p:oleObj>
                </mc:Fallback>
              </mc:AlternateContent>
            </a:graphicData>
          </a:graphic>
        </p:graphicFrame>
      </p:grpSp>
      <p:graphicFrame>
        <p:nvGraphicFramePr>
          <p:cNvPr id="167" name="Object 51"/>
          <p:cNvGraphicFramePr>
            <a:graphicFrameLocks noChangeAspect="1"/>
          </p:cNvGraphicFramePr>
          <p:nvPr>
            <p:extLst>
              <p:ext uri="{D42A27DB-BD31-4B8C-83A1-F6EECF244321}">
                <p14:modId xmlns:p14="http://schemas.microsoft.com/office/powerpoint/2010/main" val="3537241495"/>
              </p:ext>
            </p:extLst>
          </p:nvPr>
        </p:nvGraphicFramePr>
        <p:xfrm>
          <a:off x="4473079" y="4522787"/>
          <a:ext cx="1424558" cy="968281"/>
        </p:xfrm>
        <a:graphic>
          <a:graphicData uri="http://schemas.openxmlformats.org/presentationml/2006/ole">
            <mc:AlternateContent xmlns:mc="http://schemas.openxmlformats.org/markup-compatibility/2006">
              <mc:Choice xmlns:v="urn:schemas-microsoft-com:vml" Requires="v">
                <p:oleObj spid="_x0000_s6159" name="Equation" r:id="rId10" imgW="622080" imgH="419040" progId="Equation.DSMT4">
                  <p:embed/>
                </p:oleObj>
              </mc:Choice>
              <mc:Fallback>
                <p:oleObj name="Equation" r:id="rId10" imgW="622080" imgH="419040" progId="Equation.DSMT4">
                  <p:embed/>
                  <p:pic>
                    <p:nvPicPr>
                      <p:cNvPr id="0" name=""/>
                      <p:cNvPicPr>
                        <a:picLocks noChangeAspect="1" noChangeArrowheads="1"/>
                      </p:cNvPicPr>
                      <p:nvPr/>
                    </p:nvPicPr>
                    <p:blipFill>
                      <a:blip r:embed="rId11"/>
                      <a:srcRect/>
                      <a:stretch>
                        <a:fillRect/>
                      </a:stretch>
                    </p:blipFill>
                    <p:spPr bwMode="auto">
                      <a:xfrm>
                        <a:off x="4473079" y="4522787"/>
                        <a:ext cx="1424558" cy="968281"/>
                      </a:xfrm>
                      <a:prstGeom prst="rect">
                        <a:avLst/>
                      </a:prstGeom>
                      <a:noFill/>
                    </p:spPr>
                  </p:pic>
                </p:oleObj>
              </mc:Fallback>
            </mc:AlternateContent>
          </a:graphicData>
        </a:graphic>
      </p:graphicFrame>
      <p:sp>
        <p:nvSpPr>
          <p:cNvPr id="168" name="Text Box 1032"/>
          <p:cNvSpPr txBox="1">
            <a:spLocks noChangeArrowheads="1"/>
          </p:cNvSpPr>
          <p:nvPr/>
        </p:nvSpPr>
        <p:spPr bwMode="auto">
          <a:xfrm>
            <a:off x="585012" y="5475291"/>
            <a:ext cx="2414644"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zh-CN" altLang="en-US" sz="2800" i="0" dirty="0">
                <a:latin typeface="+mn-lt"/>
                <a:ea typeface="微软雅黑" panose="020B0503020204020204" pitchFamily="34" charset="-122"/>
              </a:rPr>
              <a:t>抗扭截面系数</a:t>
            </a:r>
          </a:p>
        </p:txBody>
      </p:sp>
      <p:graphicFrame>
        <p:nvGraphicFramePr>
          <p:cNvPr id="169" name="Object 53"/>
          <p:cNvGraphicFramePr>
            <a:graphicFrameLocks noChangeAspect="1"/>
          </p:cNvGraphicFramePr>
          <p:nvPr>
            <p:extLst>
              <p:ext uri="{D42A27DB-BD31-4B8C-83A1-F6EECF244321}">
                <p14:modId xmlns:p14="http://schemas.microsoft.com/office/powerpoint/2010/main" val="2922986195"/>
              </p:ext>
            </p:extLst>
          </p:nvPr>
        </p:nvGraphicFramePr>
        <p:xfrm>
          <a:off x="2963366" y="5346657"/>
          <a:ext cx="2412554" cy="905320"/>
        </p:xfrm>
        <a:graphic>
          <a:graphicData uri="http://schemas.openxmlformats.org/presentationml/2006/ole">
            <mc:AlternateContent xmlns:mc="http://schemas.openxmlformats.org/markup-compatibility/2006">
              <mc:Choice xmlns:v="urn:schemas-microsoft-com:vml" Requires="v">
                <p:oleObj spid="_x0000_s6160" name="Equation" r:id="rId12" imgW="1117440" imgH="419040" progId="Equation.DSMT4">
                  <p:embed/>
                </p:oleObj>
              </mc:Choice>
              <mc:Fallback>
                <p:oleObj name="Equation" r:id="rId12" imgW="1117440" imgH="419040" progId="Equation.DSMT4">
                  <p:embed/>
                  <p:pic>
                    <p:nvPicPr>
                      <p:cNvPr id="0" name=""/>
                      <p:cNvPicPr>
                        <a:picLocks noChangeAspect="1" noChangeArrowheads="1"/>
                      </p:cNvPicPr>
                      <p:nvPr/>
                    </p:nvPicPr>
                    <p:blipFill>
                      <a:blip r:embed="rId13"/>
                      <a:srcRect/>
                      <a:stretch>
                        <a:fillRect/>
                      </a:stretch>
                    </p:blipFill>
                    <p:spPr bwMode="auto">
                      <a:xfrm>
                        <a:off x="2963366" y="5346657"/>
                        <a:ext cx="2412554" cy="905320"/>
                      </a:xfrm>
                      <a:prstGeom prst="rect">
                        <a:avLst/>
                      </a:prstGeom>
                      <a:noFill/>
                    </p:spPr>
                  </p:pic>
                </p:oleObj>
              </mc:Fallback>
            </mc:AlternateContent>
          </a:graphicData>
        </a:graphic>
      </p:graphicFrame>
    </p:spTree>
    <p:extLst>
      <p:ext uri="{BB962C8B-B14F-4D97-AF65-F5344CB8AC3E}">
        <p14:creationId xmlns:p14="http://schemas.microsoft.com/office/powerpoint/2010/main" val="129633432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38"/>
                                        </p:tgtEl>
                                        <p:attrNameLst>
                                          <p:attrName>style.visibility</p:attrName>
                                        </p:attrNameLst>
                                      </p:cBhvr>
                                      <p:to>
                                        <p:strVal val="visible"/>
                                      </p:to>
                                    </p:set>
                                    <p:animEffect transition="in" filter="wipe(left)">
                                      <p:cBhvr>
                                        <p:cTn id="11" dur="500"/>
                                        <p:tgtEl>
                                          <p:spTgt spid="138"/>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149"/>
                                        </p:tgtEl>
                                        <p:attrNameLst>
                                          <p:attrName>style.visibility</p:attrName>
                                        </p:attrNameLst>
                                      </p:cBhvr>
                                      <p:to>
                                        <p:strVal val="visible"/>
                                      </p:to>
                                    </p:set>
                                    <p:animEffect transition="in" filter="wipe(left)">
                                      <p:cBhvr>
                                        <p:cTn id="15" dur="500"/>
                                        <p:tgtEl>
                                          <p:spTgt spid="149"/>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158"/>
                                        </p:tgtEl>
                                        <p:attrNameLst>
                                          <p:attrName>style.visibility</p:attrName>
                                        </p:attrNameLst>
                                      </p:cBhvr>
                                      <p:to>
                                        <p:strVal val="visible"/>
                                      </p:to>
                                    </p:set>
                                    <p:animEffect transition="in" filter="wipe(left)">
                                      <p:cBhvr>
                                        <p:cTn id="19" dur="500"/>
                                        <p:tgtEl>
                                          <p:spTgt spid="158"/>
                                        </p:tgtEl>
                                      </p:cBhvr>
                                    </p:animEffect>
                                  </p:childTnLst>
                                </p:cTn>
                              </p:par>
                            </p:childTnLst>
                          </p:cTn>
                        </p:par>
                        <p:par>
                          <p:cTn id="20" fill="hold">
                            <p:stCondLst>
                              <p:cond delay="1500"/>
                            </p:stCondLst>
                            <p:childTnLst>
                              <p:par>
                                <p:cTn id="21" presetID="22" presetClass="entr" presetSubtype="8" fill="hold" grpId="0" nodeType="afterEffect">
                                  <p:stCondLst>
                                    <p:cond delay="0"/>
                                  </p:stCondLst>
                                  <p:childTnLst>
                                    <p:set>
                                      <p:cBhvr>
                                        <p:cTn id="22" dur="1" fill="hold">
                                          <p:stCondLst>
                                            <p:cond delay="0"/>
                                          </p:stCondLst>
                                        </p:cTn>
                                        <p:tgtEl>
                                          <p:spTgt spid="150"/>
                                        </p:tgtEl>
                                        <p:attrNameLst>
                                          <p:attrName>style.visibility</p:attrName>
                                        </p:attrNameLst>
                                      </p:cBhvr>
                                      <p:to>
                                        <p:strVal val="visible"/>
                                      </p:to>
                                    </p:set>
                                    <p:animEffect transition="in" filter="wipe(left)">
                                      <p:cBhvr>
                                        <p:cTn id="23" dur="500"/>
                                        <p:tgtEl>
                                          <p:spTgt spid="150"/>
                                        </p:tgtEl>
                                      </p:cBhvr>
                                    </p:animEffect>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152"/>
                                        </p:tgtEl>
                                        <p:attrNameLst>
                                          <p:attrName>style.visibility</p:attrName>
                                        </p:attrNameLst>
                                      </p:cBhvr>
                                      <p:to>
                                        <p:strVal val="visible"/>
                                      </p:to>
                                    </p:set>
                                    <p:animEffect transition="in" filter="wipe(left)">
                                      <p:cBhvr>
                                        <p:cTn id="27" dur="500"/>
                                        <p:tgtEl>
                                          <p:spTgt spid="152"/>
                                        </p:tgtEl>
                                      </p:cBhvr>
                                    </p:animEffect>
                                  </p:childTnLst>
                                </p:cTn>
                              </p:par>
                            </p:childTnLst>
                          </p:cTn>
                        </p:par>
                        <p:par>
                          <p:cTn id="28" fill="hold">
                            <p:stCondLst>
                              <p:cond delay="2500"/>
                            </p:stCondLst>
                            <p:childTnLst>
                              <p:par>
                                <p:cTn id="29" presetID="22" presetClass="entr" presetSubtype="8" fill="hold" grpId="0" nodeType="afterEffect">
                                  <p:stCondLst>
                                    <p:cond delay="0"/>
                                  </p:stCondLst>
                                  <p:childTnLst>
                                    <p:set>
                                      <p:cBhvr>
                                        <p:cTn id="30" dur="1" fill="hold">
                                          <p:stCondLst>
                                            <p:cond delay="0"/>
                                          </p:stCondLst>
                                        </p:cTn>
                                        <p:tgtEl>
                                          <p:spTgt spid="151"/>
                                        </p:tgtEl>
                                        <p:attrNameLst>
                                          <p:attrName>style.visibility</p:attrName>
                                        </p:attrNameLst>
                                      </p:cBhvr>
                                      <p:to>
                                        <p:strVal val="visible"/>
                                      </p:to>
                                    </p:set>
                                    <p:animEffect transition="in" filter="wipe(left)">
                                      <p:cBhvr>
                                        <p:cTn id="31" dur="500"/>
                                        <p:tgtEl>
                                          <p:spTgt spid="151"/>
                                        </p:tgtEl>
                                      </p:cBhvr>
                                    </p:animEffect>
                                  </p:childTnLst>
                                </p:cTn>
                              </p:par>
                            </p:childTnLst>
                          </p:cTn>
                        </p:par>
                        <p:par>
                          <p:cTn id="32" fill="hold">
                            <p:stCondLst>
                              <p:cond delay="3000"/>
                            </p:stCondLst>
                            <p:childTnLst>
                              <p:par>
                                <p:cTn id="33" presetID="22" presetClass="entr" presetSubtype="8" fill="hold" grpId="0" nodeType="afterEffect">
                                  <p:stCondLst>
                                    <p:cond delay="0"/>
                                  </p:stCondLst>
                                  <p:childTnLst>
                                    <p:set>
                                      <p:cBhvr>
                                        <p:cTn id="34" dur="1" fill="hold">
                                          <p:stCondLst>
                                            <p:cond delay="0"/>
                                          </p:stCondLst>
                                        </p:cTn>
                                        <p:tgtEl>
                                          <p:spTgt spid="153"/>
                                        </p:tgtEl>
                                        <p:attrNameLst>
                                          <p:attrName>style.visibility</p:attrName>
                                        </p:attrNameLst>
                                      </p:cBhvr>
                                      <p:to>
                                        <p:strVal val="visible"/>
                                      </p:to>
                                    </p:set>
                                    <p:animEffect transition="in" filter="wipe(left)">
                                      <p:cBhvr>
                                        <p:cTn id="35" dur="500"/>
                                        <p:tgtEl>
                                          <p:spTgt spid="153"/>
                                        </p:tgtEl>
                                      </p:cBhvr>
                                    </p:animEffect>
                                  </p:childTnLst>
                                </p:cTn>
                              </p:par>
                            </p:childTnLst>
                          </p:cTn>
                        </p:par>
                        <p:par>
                          <p:cTn id="36" fill="hold">
                            <p:stCondLst>
                              <p:cond delay="3500"/>
                            </p:stCondLst>
                            <p:childTnLst>
                              <p:par>
                                <p:cTn id="37" presetID="22" presetClass="entr" presetSubtype="8" fill="hold" grpId="0" nodeType="afterEffect">
                                  <p:stCondLst>
                                    <p:cond delay="0"/>
                                  </p:stCondLst>
                                  <p:childTnLst>
                                    <p:set>
                                      <p:cBhvr>
                                        <p:cTn id="38" dur="1" fill="hold">
                                          <p:stCondLst>
                                            <p:cond delay="0"/>
                                          </p:stCondLst>
                                        </p:cTn>
                                        <p:tgtEl>
                                          <p:spTgt spid="139"/>
                                        </p:tgtEl>
                                        <p:attrNameLst>
                                          <p:attrName>style.visibility</p:attrName>
                                        </p:attrNameLst>
                                      </p:cBhvr>
                                      <p:to>
                                        <p:strVal val="visible"/>
                                      </p:to>
                                    </p:set>
                                    <p:animEffect transition="in" filter="wipe(left)">
                                      <p:cBhvr>
                                        <p:cTn id="39" dur="500"/>
                                        <p:tgtEl>
                                          <p:spTgt spid="139"/>
                                        </p:tgtEl>
                                      </p:cBhvr>
                                    </p:animEffect>
                                  </p:childTnLst>
                                </p:cTn>
                              </p:par>
                            </p:childTnLst>
                          </p:cTn>
                        </p:par>
                        <p:par>
                          <p:cTn id="40" fill="hold">
                            <p:stCondLst>
                              <p:cond delay="4000"/>
                            </p:stCondLst>
                            <p:childTnLst>
                              <p:par>
                                <p:cTn id="41" presetID="22" presetClass="entr" presetSubtype="8" fill="hold" grpId="0" nodeType="afterEffect">
                                  <p:stCondLst>
                                    <p:cond delay="0"/>
                                  </p:stCondLst>
                                  <p:childTnLst>
                                    <p:set>
                                      <p:cBhvr>
                                        <p:cTn id="42" dur="1" fill="hold">
                                          <p:stCondLst>
                                            <p:cond delay="0"/>
                                          </p:stCondLst>
                                        </p:cTn>
                                        <p:tgtEl>
                                          <p:spTgt spid="155"/>
                                        </p:tgtEl>
                                        <p:attrNameLst>
                                          <p:attrName>style.visibility</p:attrName>
                                        </p:attrNameLst>
                                      </p:cBhvr>
                                      <p:to>
                                        <p:strVal val="visible"/>
                                      </p:to>
                                    </p:set>
                                    <p:animEffect transition="in" filter="wipe(left)">
                                      <p:cBhvr>
                                        <p:cTn id="43" dur="500"/>
                                        <p:tgtEl>
                                          <p:spTgt spid="155"/>
                                        </p:tgtEl>
                                      </p:cBhvr>
                                    </p:animEffect>
                                  </p:childTnLst>
                                </p:cTn>
                              </p:par>
                            </p:childTnLst>
                          </p:cTn>
                        </p:par>
                        <p:par>
                          <p:cTn id="44" fill="hold">
                            <p:stCondLst>
                              <p:cond delay="4500"/>
                            </p:stCondLst>
                            <p:childTnLst>
                              <p:par>
                                <p:cTn id="45" presetID="22" presetClass="entr" presetSubtype="8" fill="hold" grpId="0" nodeType="afterEffect">
                                  <p:stCondLst>
                                    <p:cond delay="0"/>
                                  </p:stCondLst>
                                  <p:childTnLst>
                                    <p:set>
                                      <p:cBhvr>
                                        <p:cTn id="46" dur="1" fill="hold">
                                          <p:stCondLst>
                                            <p:cond delay="0"/>
                                          </p:stCondLst>
                                        </p:cTn>
                                        <p:tgtEl>
                                          <p:spTgt spid="156"/>
                                        </p:tgtEl>
                                        <p:attrNameLst>
                                          <p:attrName>style.visibility</p:attrName>
                                        </p:attrNameLst>
                                      </p:cBhvr>
                                      <p:to>
                                        <p:strVal val="visible"/>
                                      </p:to>
                                    </p:set>
                                    <p:animEffect transition="in" filter="wipe(left)">
                                      <p:cBhvr>
                                        <p:cTn id="47" dur="500"/>
                                        <p:tgtEl>
                                          <p:spTgt spid="156"/>
                                        </p:tgtEl>
                                      </p:cBhvr>
                                    </p:animEffect>
                                  </p:childTnLst>
                                </p:cTn>
                              </p:par>
                            </p:childTnLst>
                          </p:cTn>
                        </p:par>
                        <p:par>
                          <p:cTn id="48" fill="hold">
                            <p:stCondLst>
                              <p:cond delay="5000"/>
                            </p:stCondLst>
                            <p:childTnLst>
                              <p:par>
                                <p:cTn id="49" presetID="22" presetClass="entr" presetSubtype="8" fill="hold" grpId="0" nodeType="afterEffect">
                                  <p:stCondLst>
                                    <p:cond delay="0"/>
                                  </p:stCondLst>
                                  <p:childTnLst>
                                    <p:set>
                                      <p:cBhvr>
                                        <p:cTn id="50" dur="1" fill="hold">
                                          <p:stCondLst>
                                            <p:cond delay="0"/>
                                          </p:stCondLst>
                                        </p:cTn>
                                        <p:tgtEl>
                                          <p:spTgt spid="154"/>
                                        </p:tgtEl>
                                        <p:attrNameLst>
                                          <p:attrName>style.visibility</p:attrName>
                                        </p:attrNameLst>
                                      </p:cBhvr>
                                      <p:to>
                                        <p:strVal val="visible"/>
                                      </p:to>
                                    </p:set>
                                    <p:animEffect transition="in" filter="wipe(left)">
                                      <p:cBhvr>
                                        <p:cTn id="51" dur="500"/>
                                        <p:tgtEl>
                                          <p:spTgt spid="154"/>
                                        </p:tgtEl>
                                      </p:cBhvr>
                                    </p:animEffect>
                                  </p:childTnLst>
                                </p:cTn>
                              </p:par>
                            </p:childTnLst>
                          </p:cTn>
                        </p:par>
                        <p:par>
                          <p:cTn id="52" fill="hold">
                            <p:stCondLst>
                              <p:cond delay="5500"/>
                            </p:stCondLst>
                            <p:childTnLst>
                              <p:par>
                                <p:cTn id="53" presetID="22" presetClass="entr" presetSubtype="8" fill="hold" grpId="0" nodeType="afterEffect">
                                  <p:stCondLst>
                                    <p:cond delay="0"/>
                                  </p:stCondLst>
                                  <p:childTnLst>
                                    <p:set>
                                      <p:cBhvr>
                                        <p:cTn id="54" dur="1" fill="hold">
                                          <p:stCondLst>
                                            <p:cond delay="0"/>
                                          </p:stCondLst>
                                        </p:cTn>
                                        <p:tgtEl>
                                          <p:spTgt spid="157"/>
                                        </p:tgtEl>
                                        <p:attrNameLst>
                                          <p:attrName>style.visibility</p:attrName>
                                        </p:attrNameLst>
                                      </p:cBhvr>
                                      <p:to>
                                        <p:strVal val="visible"/>
                                      </p:to>
                                    </p:set>
                                    <p:animEffect transition="in" filter="wipe(left)">
                                      <p:cBhvr>
                                        <p:cTn id="55" dur="500"/>
                                        <p:tgtEl>
                                          <p:spTgt spid="157"/>
                                        </p:tgtEl>
                                      </p:cBhvr>
                                    </p:animEffect>
                                  </p:childTnLst>
                                </p:cTn>
                              </p:par>
                            </p:childTnLst>
                          </p:cTn>
                        </p:par>
                        <p:par>
                          <p:cTn id="56" fill="hold">
                            <p:stCondLst>
                              <p:cond delay="6000"/>
                            </p:stCondLst>
                            <p:childTnLst>
                              <p:par>
                                <p:cTn id="57" presetID="22" presetClass="entr" presetSubtype="8" fill="hold" grpId="0" nodeType="afterEffect">
                                  <p:stCondLst>
                                    <p:cond delay="0"/>
                                  </p:stCondLst>
                                  <p:childTnLst>
                                    <p:set>
                                      <p:cBhvr>
                                        <p:cTn id="58" dur="1" fill="hold">
                                          <p:stCondLst>
                                            <p:cond delay="0"/>
                                          </p:stCondLst>
                                        </p:cTn>
                                        <p:tgtEl>
                                          <p:spTgt spid="159"/>
                                        </p:tgtEl>
                                        <p:attrNameLst>
                                          <p:attrName>style.visibility</p:attrName>
                                        </p:attrNameLst>
                                      </p:cBhvr>
                                      <p:to>
                                        <p:strVal val="visible"/>
                                      </p:to>
                                    </p:set>
                                    <p:animEffect transition="in" filter="wipe(left)">
                                      <p:cBhvr>
                                        <p:cTn id="59" dur="500"/>
                                        <p:tgtEl>
                                          <p:spTgt spid="159"/>
                                        </p:tgtEl>
                                      </p:cBhvr>
                                    </p:animEffect>
                                  </p:childTnLst>
                                </p:cTn>
                              </p:par>
                            </p:childTnLst>
                          </p:cTn>
                        </p:par>
                        <p:par>
                          <p:cTn id="60" fill="hold">
                            <p:stCondLst>
                              <p:cond delay="6500"/>
                            </p:stCondLst>
                            <p:childTnLst>
                              <p:par>
                                <p:cTn id="61" presetID="22" presetClass="entr" presetSubtype="8" fill="hold" grpId="0" nodeType="afterEffect">
                                  <p:stCondLst>
                                    <p:cond delay="0"/>
                                  </p:stCondLst>
                                  <p:childTnLst>
                                    <p:set>
                                      <p:cBhvr>
                                        <p:cTn id="62" dur="1" fill="hold">
                                          <p:stCondLst>
                                            <p:cond delay="0"/>
                                          </p:stCondLst>
                                        </p:cTn>
                                        <p:tgtEl>
                                          <p:spTgt spid="160"/>
                                        </p:tgtEl>
                                        <p:attrNameLst>
                                          <p:attrName>style.visibility</p:attrName>
                                        </p:attrNameLst>
                                      </p:cBhvr>
                                      <p:to>
                                        <p:strVal val="visible"/>
                                      </p:to>
                                    </p:set>
                                    <p:animEffect transition="in" filter="wipe(left)">
                                      <p:cBhvr>
                                        <p:cTn id="63" dur="500"/>
                                        <p:tgtEl>
                                          <p:spTgt spid="160"/>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499"/>
                                          </p:stCondLst>
                                        </p:cTn>
                                        <p:tgtEl>
                                          <p:spTgt spid="14"/>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61"/>
                                        </p:tgtEl>
                                        <p:attrNameLst>
                                          <p:attrName>style.visibility</p:attrName>
                                        </p:attrNameLst>
                                      </p:cBhvr>
                                      <p:to>
                                        <p:strVal val="visible"/>
                                      </p:to>
                                    </p:set>
                                    <p:animEffect transition="in" filter="wipe(left)">
                                      <p:cBhvr>
                                        <p:cTn id="72" dur="3000"/>
                                        <p:tgtEl>
                                          <p:spTgt spid="161"/>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499"/>
                                          </p:stCondLst>
                                        </p:cTn>
                                        <p:tgtEl>
                                          <p:spTgt spid="16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163"/>
                                        </p:tgtEl>
                                        <p:attrNameLst>
                                          <p:attrName>style.visibility</p:attrName>
                                        </p:attrNameLst>
                                      </p:cBhvr>
                                      <p:to>
                                        <p:strVal val="visible"/>
                                      </p:to>
                                    </p:set>
                                    <p:animEffect transition="in" filter="wipe(left)">
                                      <p:cBhvr>
                                        <p:cTn id="81" dur="3000"/>
                                        <p:tgtEl>
                                          <p:spTgt spid="163"/>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164"/>
                                        </p:tgtEl>
                                        <p:attrNameLst>
                                          <p:attrName>style.visibility</p:attrName>
                                        </p:attrNameLst>
                                      </p:cBhvr>
                                      <p:to>
                                        <p:strVal val="visible"/>
                                      </p:to>
                                    </p:set>
                                    <p:animEffect transition="in" filter="wipe(left)">
                                      <p:cBhvr>
                                        <p:cTn id="86" dur="3000"/>
                                        <p:tgtEl>
                                          <p:spTgt spid="164"/>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167"/>
                                        </p:tgtEl>
                                        <p:attrNameLst>
                                          <p:attrName>style.visibility</p:attrName>
                                        </p:attrNameLst>
                                      </p:cBhvr>
                                      <p:to>
                                        <p:strVal val="visible"/>
                                      </p:to>
                                    </p:set>
                                    <p:animEffect transition="in" filter="wipe(left)">
                                      <p:cBhvr>
                                        <p:cTn id="91" dur="3000"/>
                                        <p:tgtEl>
                                          <p:spTgt spid="167"/>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499"/>
                                          </p:stCondLst>
                                        </p:cTn>
                                        <p:tgtEl>
                                          <p:spTgt spid="168"/>
                                        </p:tgtEl>
                                        <p:attrNameLst>
                                          <p:attrName>style.visibility</p:attrName>
                                        </p:attrNameLst>
                                      </p:cBhvr>
                                      <p:to>
                                        <p:strVal val="visible"/>
                                      </p:to>
                                    </p:set>
                                  </p:childTnLst>
                                </p:cTn>
                              </p:par>
                            </p:childTnLst>
                          </p:cTn>
                        </p:par>
                        <p:par>
                          <p:cTn id="96" fill="hold">
                            <p:stCondLst>
                              <p:cond delay="500"/>
                            </p:stCondLst>
                            <p:childTnLst>
                              <p:par>
                                <p:cTn id="97" presetID="22" presetClass="entr" presetSubtype="8" fill="hold" nodeType="afterEffect">
                                  <p:stCondLst>
                                    <p:cond delay="0"/>
                                  </p:stCondLst>
                                  <p:childTnLst>
                                    <p:set>
                                      <p:cBhvr>
                                        <p:cTn id="98" dur="1" fill="hold">
                                          <p:stCondLst>
                                            <p:cond delay="0"/>
                                          </p:stCondLst>
                                        </p:cTn>
                                        <p:tgtEl>
                                          <p:spTgt spid="169"/>
                                        </p:tgtEl>
                                        <p:attrNameLst>
                                          <p:attrName>style.visibility</p:attrName>
                                        </p:attrNameLst>
                                      </p:cBhvr>
                                      <p:to>
                                        <p:strVal val="visible"/>
                                      </p:to>
                                    </p:set>
                                    <p:animEffect transition="in" filter="wipe(left)">
                                      <p:cBhvr>
                                        <p:cTn id="99" dur="30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9" grpId="0" animBg="1"/>
      <p:bldP spid="138" grpId="0" animBg="1"/>
      <p:bldP spid="139" grpId="0" animBg="1"/>
      <p:bldP spid="149" grpId="0" animBg="1"/>
      <p:bldP spid="150" grpId="0" animBg="1"/>
      <p:bldP spid="151" grpId="0" animBg="1"/>
      <p:bldP spid="152" grpId="0" animBg="1"/>
      <p:bldP spid="153" grpId="0" autoUpdateAnimBg="0"/>
      <p:bldP spid="154" grpId="0" animBg="1"/>
      <p:bldP spid="155" grpId="0" animBg="1"/>
      <p:bldP spid="156" grpId="0" autoUpdateAnimBg="0"/>
      <p:bldP spid="157" grpId="0" autoUpdateAnimBg="0"/>
      <p:bldP spid="158" grpId="0" autoUpdateAnimBg="0"/>
      <p:bldP spid="159" grpId="0" animBg="1"/>
      <p:bldP spid="160" grpId="0" autoUpdateAnimBg="0"/>
      <p:bldP spid="162" grpId="0" autoUpdateAnimBg="0"/>
      <p:bldP spid="168"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14" name="Text Box 1032"/>
          <p:cNvSpPr txBox="1">
            <a:spLocks noChangeArrowheads="1"/>
          </p:cNvSpPr>
          <p:nvPr/>
        </p:nvSpPr>
        <p:spPr bwMode="auto">
          <a:xfrm>
            <a:off x="585012" y="1190568"/>
            <a:ext cx="7373596"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latin typeface="+mn-lt"/>
                <a:ea typeface="微软雅黑" panose="020B0503020204020204" pitchFamily="34" charset="-122"/>
              </a:rPr>
              <a:t>对于内径为</a:t>
            </a:r>
            <a:r>
              <a:rPr lang="en-US" altLang="zh-CN" sz="2800" b="0" dirty="0">
                <a:latin typeface="+mn-lt"/>
                <a:ea typeface="微软雅黑" panose="020B0503020204020204" pitchFamily="34" charset="-122"/>
              </a:rPr>
              <a:t>d</a:t>
            </a:r>
            <a:r>
              <a:rPr lang="zh-CN" altLang="en-US" sz="2800" i="0" dirty="0">
                <a:latin typeface="+mn-lt"/>
                <a:ea typeface="微软雅黑" panose="020B0503020204020204" pitchFamily="34" charset="-122"/>
              </a:rPr>
              <a:t>、外径为</a:t>
            </a:r>
            <a:r>
              <a:rPr lang="en-US" altLang="zh-CN" sz="2800" b="0" dirty="0">
                <a:latin typeface="+mn-lt"/>
                <a:ea typeface="微软雅黑" panose="020B0503020204020204" pitchFamily="34" charset="-122"/>
              </a:rPr>
              <a:t>D</a:t>
            </a:r>
            <a:r>
              <a:rPr lang="zh-CN" altLang="en-US" sz="2800" i="0" dirty="0">
                <a:latin typeface="+mn-lt"/>
                <a:ea typeface="微软雅黑" panose="020B0503020204020204" pitchFamily="34" charset="-122"/>
              </a:rPr>
              <a:t>的空心圆截面轴 </a:t>
            </a:r>
          </a:p>
        </p:txBody>
      </p:sp>
      <p:sp>
        <p:nvSpPr>
          <p:cNvPr id="9" name="Rectangle 61"/>
          <p:cNvSpPr>
            <a:spLocks noChangeArrowheads="1"/>
          </p:cNvSpPr>
          <p:nvPr/>
        </p:nvSpPr>
        <p:spPr bwMode="auto">
          <a:xfrm>
            <a:off x="8098184" y="2047305"/>
            <a:ext cx="3784848" cy="3384376"/>
          </a:xfrm>
          <a:prstGeom prst="rect">
            <a:avLst/>
          </a:prstGeom>
          <a:solidFill>
            <a:srgbClr val="B9CDE5"/>
          </a:solidFill>
          <a:ln>
            <a:noFill/>
          </a:ln>
          <a:effectLst/>
        </p:spPr>
        <p:txBody>
          <a:bodyPr wrap="none" anchor="ctr"/>
          <a:lstStyle/>
          <a:p>
            <a:endParaRPr lang="zh-CN" altLang="en-US"/>
          </a:p>
        </p:txBody>
      </p:sp>
      <p:sp>
        <p:nvSpPr>
          <p:cNvPr id="162" name="Text Box 1032"/>
          <p:cNvSpPr txBox="1">
            <a:spLocks noChangeArrowheads="1"/>
          </p:cNvSpPr>
          <p:nvPr/>
        </p:nvSpPr>
        <p:spPr bwMode="auto">
          <a:xfrm>
            <a:off x="585012" y="3251763"/>
            <a:ext cx="7373596"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zh-CN" altLang="en-US" sz="2800" b="0" dirty="0">
                <a:latin typeface="+mn-lt"/>
                <a:ea typeface="微软雅黑" panose="020B0503020204020204" pitchFamily="34" charset="-122"/>
                <a:sym typeface="Symbol" panose="05050102010706020507" pitchFamily="18" charset="2"/>
              </a:rPr>
              <a:t></a:t>
            </a:r>
            <a:r>
              <a:rPr kumimoji="1" lang="zh-CN" altLang="en-US" sz="2800" b="0" i="0" dirty="0">
                <a:latin typeface="+mn-lt"/>
                <a:ea typeface="微软雅黑" panose="020B0503020204020204" pitchFamily="34" charset="-122"/>
                <a:sym typeface="Symbol" panose="05050102010706020507" pitchFamily="18" charset="2"/>
              </a:rPr>
              <a:t> </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rPr>
              <a:t>d</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rPr>
              <a:t>D</a:t>
            </a:r>
            <a:r>
              <a:rPr kumimoji="1" lang="zh-CN" altLang="en-US" sz="2800" i="0" dirty="0">
                <a:latin typeface="+mn-lt"/>
                <a:ea typeface="微软雅黑" panose="020B0503020204020204" pitchFamily="34" charset="-122"/>
              </a:rPr>
              <a:t>即为内、外径之比。</a:t>
            </a:r>
          </a:p>
        </p:txBody>
      </p:sp>
      <p:sp>
        <p:nvSpPr>
          <p:cNvPr id="168" name="Text Box 1032"/>
          <p:cNvSpPr txBox="1">
            <a:spLocks noChangeArrowheads="1"/>
          </p:cNvSpPr>
          <p:nvPr/>
        </p:nvSpPr>
        <p:spPr bwMode="auto">
          <a:xfrm>
            <a:off x="585012" y="4099754"/>
            <a:ext cx="2414644"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zh-CN" altLang="en-US" sz="2800" i="0" dirty="0">
                <a:latin typeface="+mn-lt"/>
                <a:ea typeface="微软雅黑" panose="020B0503020204020204" pitchFamily="34" charset="-122"/>
              </a:rPr>
              <a:t>抗扭截面系数</a:t>
            </a:r>
          </a:p>
        </p:txBody>
      </p:sp>
      <p:graphicFrame>
        <p:nvGraphicFramePr>
          <p:cNvPr id="169" name="Object 53"/>
          <p:cNvGraphicFramePr>
            <a:graphicFrameLocks noChangeAspect="1"/>
          </p:cNvGraphicFramePr>
          <p:nvPr>
            <p:extLst>
              <p:ext uri="{D42A27DB-BD31-4B8C-83A1-F6EECF244321}">
                <p14:modId xmlns:p14="http://schemas.microsoft.com/office/powerpoint/2010/main" val="3529134877"/>
              </p:ext>
            </p:extLst>
          </p:nvPr>
        </p:nvGraphicFramePr>
        <p:xfrm>
          <a:off x="1107532" y="4760913"/>
          <a:ext cx="3425825" cy="904875"/>
        </p:xfrm>
        <a:graphic>
          <a:graphicData uri="http://schemas.openxmlformats.org/presentationml/2006/ole">
            <mc:AlternateContent xmlns:mc="http://schemas.openxmlformats.org/markup-compatibility/2006">
              <mc:Choice xmlns:v="urn:schemas-microsoft-com:vml" Requires="v">
                <p:oleObj spid="_x0000_s7176" name="Equation" r:id="rId4" imgW="1587240" imgH="419040" progId="Equation.DSMT4">
                  <p:embed/>
                </p:oleObj>
              </mc:Choice>
              <mc:Fallback>
                <p:oleObj name="Equation" r:id="rId4" imgW="1587240" imgH="419040" progId="Equation.DSMT4">
                  <p:embed/>
                  <p:pic>
                    <p:nvPicPr>
                      <p:cNvPr id="0" name=""/>
                      <p:cNvPicPr>
                        <a:picLocks noChangeAspect="1" noChangeArrowheads="1"/>
                      </p:cNvPicPr>
                      <p:nvPr/>
                    </p:nvPicPr>
                    <p:blipFill>
                      <a:blip r:embed="rId5"/>
                      <a:srcRect/>
                      <a:stretch>
                        <a:fillRect/>
                      </a:stretch>
                    </p:blipFill>
                    <p:spPr bwMode="auto">
                      <a:xfrm>
                        <a:off x="1107532" y="4760913"/>
                        <a:ext cx="3425825" cy="904875"/>
                      </a:xfrm>
                      <a:prstGeom prst="rect">
                        <a:avLst/>
                      </a:prstGeom>
                      <a:noFill/>
                    </p:spPr>
                  </p:pic>
                </p:oleObj>
              </mc:Fallback>
            </mc:AlternateContent>
          </a:graphicData>
        </a:graphic>
      </p:graphicFrame>
      <p:sp>
        <p:nvSpPr>
          <p:cNvPr id="29" name="AutoShape 11"/>
          <p:cNvSpPr>
            <a:spLocks noChangeArrowheads="1"/>
          </p:cNvSpPr>
          <p:nvPr/>
        </p:nvSpPr>
        <p:spPr bwMode="auto">
          <a:xfrm>
            <a:off x="8649392" y="2554027"/>
            <a:ext cx="2590800" cy="2590800"/>
          </a:xfrm>
          <a:custGeom>
            <a:avLst/>
            <a:gdLst>
              <a:gd name="T0" fmla="*/ 1295400 w 21600"/>
              <a:gd name="T1" fmla="*/ 0 h 21600"/>
              <a:gd name="T2" fmla="*/ 379384 w 21600"/>
              <a:gd name="T3" fmla="*/ 379384 h 21600"/>
              <a:gd name="T4" fmla="*/ 0 w 21600"/>
              <a:gd name="T5" fmla="*/ 1295400 h 21600"/>
              <a:gd name="T6" fmla="*/ 379384 w 21600"/>
              <a:gd name="T7" fmla="*/ 2211416 h 21600"/>
              <a:gd name="T8" fmla="*/ 1295400 w 21600"/>
              <a:gd name="T9" fmla="*/ 2590800 h 21600"/>
              <a:gd name="T10" fmla="*/ 2211416 w 21600"/>
              <a:gd name="T11" fmla="*/ 2211416 h 21600"/>
              <a:gd name="T12" fmla="*/ 2590800 w 21600"/>
              <a:gd name="T13" fmla="*/ 1295400 h 21600"/>
              <a:gd name="T14" fmla="*/ 2211416 w 21600"/>
              <a:gd name="T15" fmla="*/ 379384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gradFill rotWithShape="0">
            <a:gsLst>
              <a:gs pos="0">
                <a:srgbClr val="008000"/>
              </a:gs>
              <a:gs pos="100000">
                <a:srgbClr val="99CC00"/>
              </a:gs>
            </a:gsLst>
            <a:path path="rect">
              <a:fillToRect l="50000" t="50000" r="50000" b="50000"/>
            </a:path>
          </a:gradFill>
          <a:ln w="9525">
            <a:solidFill>
              <a:srgbClr val="99CC00"/>
            </a:solidFill>
            <a:round/>
            <a:headEnd/>
            <a:tailEnd/>
          </a:ln>
        </p:spPr>
        <p:txBody>
          <a:bodyPr wrap="none" anchor="ctr"/>
          <a:lstStyle/>
          <a:p>
            <a:endParaRPr lang="zh-CN" altLang="en-US"/>
          </a:p>
        </p:txBody>
      </p:sp>
      <p:sp>
        <p:nvSpPr>
          <p:cNvPr id="30" name="AutoShape 12" descr="深色上对角线"/>
          <p:cNvSpPr>
            <a:spLocks noChangeArrowheads="1"/>
          </p:cNvSpPr>
          <p:nvPr/>
        </p:nvSpPr>
        <p:spPr bwMode="auto">
          <a:xfrm>
            <a:off x="8954192" y="2858827"/>
            <a:ext cx="1981200" cy="1981200"/>
          </a:xfrm>
          <a:custGeom>
            <a:avLst/>
            <a:gdLst>
              <a:gd name="T0" fmla="*/ 990600 w 21600"/>
              <a:gd name="T1" fmla="*/ 0 h 21600"/>
              <a:gd name="T2" fmla="*/ 290117 w 21600"/>
              <a:gd name="T3" fmla="*/ 290117 h 21600"/>
              <a:gd name="T4" fmla="*/ 0 w 21600"/>
              <a:gd name="T5" fmla="*/ 990600 h 21600"/>
              <a:gd name="T6" fmla="*/ 290117 w 21600"/>
              <a:gd name="T7" fmla="*/ 1691083 h 21600"/>
              <a:gd name="T8" fmla="*/ 990600 w 21600"/>
              <a:gd name="T9" fmla="*/ 1981200 h 21600"/>
              <a:gd name="T10" fmla="*/ 1691083 w 21600"/>
              <a:gd name="T11" fmla="*/ 1691083 h 21600"/>
              <a:gd name="T12" fmla="*/ 1981200 w 21600"/>
              <a:gd name="T13" fmla="*/ 990600 h 21600"/>
              <a:gd name="T14" fmla="*/ 1691083 w 21600"/>
              <a:gd name="T15" fmla="*/ 29011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80" y="10800"/>
                </a:moveTo>
                <a:cubicBezTo>
                  <a:pt x="1980" y="15671"/>
                  <a:pt x="5929" y="19620"/>
                  <a:pt x="10800" y="19620"/>
                </a:cubicBezTo>
                <a:cubicBezTo>
                  <a:pt x="15671" y="19620"/>
                  <a:pt x="19620" y="15671"/>
                  <a:pt x="19620" y="10800"/>
                </a:cubicBezTo>
                <a:cubicBezTo>
                  <a:pt x="19620" y="5929"/>
                  <a:pt x="15671" y="1980"/>
                  <a:pt x="10800" y="1980"/>
                </a:cubicBezTo>
                <a:cubicBezTo>
                  <a:pt x="5929" y="1980"/>
                  <a:pt x="1980" y="5929"/>
                  <a:pt x="1980" y="10800"/>
                </a:cubicBezTo>
                <a:close/>
              </a:path>
            </a:pathLst>
          </a:custGeom>
          <a:pattFill prst="dkUpDiag">
            <a:fgClr>
              <a:srgbClr val="CC3300"/>
            </a:fgClr>
            <a:bgClr>
              <a:srgbClr val="99CC00"/>
            </a:bgClr>
          </a:pattFill>
          <a:ln w="9525">
            <a:solidFill>
              <a:srgbClr val="CC3300"/>
            </a:solidFill>
            <a:round/>
            <a:headEnd/>
            <a:tailEnd/>
          </a:ln>
        </p:spPr>
        <p:txBody>
          <a:bodyPr wrap="none" anchor="ctr"/>
          <a:lstStyle/>
          <a:p>
            <a:endParaRPr lang="zh-CN" altLang="en-US"/>
          </a:p>
        </p:txBody>
      </p:sp>
      <p:grpSp>
        <p:nvGrpSpPr>
          <p:cNvPr id="31" name="Group 13"/>
          <p:cNvGrpSpPr>
            <a:grpSpLocks/>
          </p:cNvGrpSpPr>
          <p:nvPr/>
        </p:nvGrpSpPr>
        <p:grpSpPr bwMode="auto">
          <a:xfrm>
            <a:off x="8115993" y="3163627"/>
            <a:ext cx="1976438" cy="1327150"/>
            <a:chOff x="3216" y="1152"/>
            <a:chExt cx="1245" cy="836"/>
          </a:xfrm>
        </p:grpSpPr>
        <p:sp>
          <p:nvSpPr>
            <p:cNvPr id="32" name="Line 14"/>
            <p:cNvSpPr>
              <a:spLocks noChangeShapeType="1"/>
            </p:cNvSpPr>
            <p:nvPr/>
          </p:nvSpPr>
          <p:spPr bwMode="auto">
            <a:xfrm flipH="1">
              <a:off x="3360" y="1160"/>
              <a:ext cx="2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15"/>
            <p:cNvSpPr>
              <a:spLocks noChangeShapeType="1"/>
            </p:cNvSpPr>
            <p:nvPr/>
          </p:nvSpPr>
          <p:spPr bwMode="auto">
            <a:xfrm flipH="1">
              <a:off x="3360" y="1988"/>
              <a:ext cx="2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16"/>
            <p:cNvSpPr>
              <a:spLocks noChangeShapeType="1"/>
            </p:cNvSpPr>
            <p:nvPr/>
          </p:nvSpPr>
          <p:spPr bwMode="auto">
            <a:xfrm flipV="1">
              <a:off x="3456" y="1152"/>
              <a:ext cx="0" cy="836"/>
            </a:xfrm>
            <a:prstGeom prst="line">
              <a:avLst/>
            </a:prstGeom>
            <a:noFill/>
            <a:ln w="9525">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Text Box 17"/>
            <p:cNvSpPr txBox="1">
              <a:spLocks noChangeArrowheads="1"/>
            </p:cNvSpPr>
            <p:nvPr/>
          </p:nvSpPr>
          <p:spPr bwMode="auto">
            <a:xfrm>
              <a:off x="3216" y="1440"/>
              <a:ext cx="240" cy="288"/>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Char char="•"/>
                <a:defRPr>
                  <a:solidFill>
                    <a:schemeClr val="tx1"/>
                  </a:solidFill>
                  <a:latin typeface="Arial" charset="0"/>
                  <a:ea typeface="宋体" charset="-122"/>
                </a:defRPr>
              </a:lvl6pPr>
              <a:lvl7pPr marL="2971800" indent="-228600" eaLnBrk="0" fontAlgn="base" hangingPunct="0">
                <a:spcBef>
                  <a:spcPct val="0"/>
                </a:spcBef>
                <a:spcAft>
                  <a:spcPct val="0"/>
                </a:spcAft>
                <a:buChar char="•"/>
                <a:defRPr>
                  <a:solidFill>
                    <a:schemeClr val="tx1"/>
                  </a:solidFill>
                  <a:latin typeface="Arial" charset="0"/>
                  <a:ea typeface="宋体" charset="-122"/>
                </a:defRPr>
              </a:lvl7pPr>
              <a:lvl8pPr marL="3429000" indent="-228600" eaLnBrk="0" fontAlgn="base" hangingPunct="0">
                <a:spcBef>
                  <a:spcPct val="0"/>
                </a:spcBef>
                <a:spcAft>
                  <a:spcPct val="0"/>
                </a:spcAft>
                <a:buChar char="•"/>
                <a:defRPr>
                  <a:solidFill>
                    <a:schemeClr val="tx1"/>
                  </a:solidFill>
                  <a:latin typeface="Arial" charset="0"/>
                  <a:ea typeface="宋体" charset="-122"/>
                </a:defRPr>
              </a:lvl8pPr>
              <a:lvl9pPr marL="3886200" indent="-228600" eaLnBrk="0" fontAlgn="base" hangingPunct="0">
                <a:spcBef>
                  <a:spcPct val="0"/>
                </a:spcBef>
                <a:spcAft>
                  <a:spcPct val="0"/>
                </a:spcAft>
                <a:buChar char="•"/>
                <a:defRPr>
                  <a:solidFill>
                    <a:schemeClr val="tx1"/>
                  </a:solidFill>
                  <a:latin typeface="Arial" charset="0"/>
                  <a:ea typeface="宋体" charset="-122"/>
                </a:defRPr>
              </a:lvl9pPr>
            </a:lstStyle>
            <a:p>
              <a:pPr eaLnBrk="1" hangingPunct="1">
                <a:spcBef>
                  <a:spcPct val="50000"/>
                </a:spcBef>
                <a:buFontTx/>
                <a:buNone/>
              </a:pPr>
              <a:r>
                <a:rPr kumimoji="1" lang="en-US" altLang="zh-CN" sz="2400" b="0" i="1" dirty="0">
                  <a:latin typeface="Times New Roman" pitchFamily="18" charset="0"/>
                </a:rPr>
                <a:t>d</a:t>
              </a:r>
            </a:p>
          </p:txBody>
        </p:sp>
        <p:sp>
          <p:nvSpPr>
            <p:cNvPr id="46" name="Line 15"/>
            <p:cNvSpPr>
              <a:spLocks noChangeShapeType="1"/>
            </p:cNvSpPr>
            <p:nvPr/>
          </p:nvSpPr>
          <p:spPr bwMode="auto">
            <a:xfrm flipH="1">
              <a:off x="4221" y="1988"/>
              <a:ext cx="2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6" name="Group 18"/>
          <p:cNvGrpSpPr>
            <a:grpSpLocks/>
          </p:cNvGrpSpPr>
          <p:nvPr/>
        </p:nvGrpSpPr>
        <p:grpSpPr bwMode="auto">
          <a:xfrm>
            <a:off x="11087792" y="2554027"/>
            <a:ext cx="762000" cy="2590800"/>
            <a:chOff x="5088" y="768"/>
            <a:chExt cx="480" cy="1632"/>
          </a:xfrm>
        </p:grpSpPr>
        <p:sp>
          <p:nvSpPr>
            <p:cNvPr id="37" name="Line 19"/>
            <p:cNvSpPr>
              <a:spLocks noChangeShapeType="1"/>
            </p:cNvSpPr>
            <p:nvPr/>
          </p:nvSpPr>
          <p:spPr bwMode="auto">
            <a:xfrm>
              <a:off x="5088" y="768"/>
              <a:ext cx="38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20"/>
            <p:cNvSpPr>
              <a:spLocks noChangeShapeType="1"/>
            </p:cNvSpPr>
            <p:nvPr/>
          </p:nvSpPr>
          <p:spPr bwMode="auto">
            <a:xfrm>
              <a:off x="5088" y="2400"/>
              <a:ext cx="38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21"/>
            <p:cNvSpPr>
              <a:spLocks noChangeShapeType="1"/>
            </p:cNvSpPr>
            <p:nvPr/>
          </p:nvSpPr>
          <p:spPr bwMode="auto">
            <a:xfrm flipV="1">
              <a:off x="5280" y="768"/>
              <a:ext cx="0" cy="1632"/>
            </a:xfrm>
            <a:prstGeom prst="line">
              <a:avLst/>
            </a:prstGeom>
            <a:noFill/>
            <a:ln w="1270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Text Box 22"/>
            <p:cNvSpPr txBox="1">
              <a:spLocks noChangeArrowheads="1"/>
            </p:cNvSpPr>
            <p:nvPr/>
          </p:nvSpPr>
          <p:spPr bwMode="auto">
            <a:xfrm>
              <a:off x="5280" y="1392"/>
              <a:ext cx="288" cy="252"/>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Char char="•"/>
                <a:defRPr>
                  <a:solidFill>
                    <a:schemeClr val="tx1"/>
                  </a:solidFill>
                  <a:latin typeface="Arial" charset="0"/>
                  <a:ea typeface="宋体" charset="-122"/>
                </a:defRPr>
              </a:lvl6pPr>
              <a:lvl7pPr marL="2971800" indent="-228600" eaLnBrk="0" fontAlgn="base" hangingPunct="0">
                <a:spcBef>
                  <a:spcPct val="0"/>
                </a:spcBef>
                <a:spcAft>
                  <a:spcPct val="0"/>
                </a:spcAft>
                <a:buChar char="•"/>
                <a:defRPr>
                  <a:solidFill>
                    <a:schemeClr val="tx1"/>
                  </a:solidFill>
                  <a:latin typeface="Arial" charset="0"/>
                  <a:ea typeface="宋体" charset="-122"/>
                </a:defRPr>
              </a:lvl7pPr>
              <a:lvl8pPr marL="3429000" indent="-228600" eaLnBrk="0" fontAlgn="base" hangingPunct="0">
                <a:spcBef>
                  <a:spcPct val="0"/>
                </a:spcBef>
                <a:spcAft>
                  <a:spcPct val="0"/>
                </a:spcAft>
                <a:buChar char="•"/>
                <a:defRPr>
                  <a:solidFill>
                    <a:schemeClr val="tx1"/>
                  </a:solidFill>
                  <a:latin typeface="Arial" charset="0"/>
                  <a:ea typeface="宋体" charset="-122"/>
                </a:defRPr>
              </a:lvl8pPr>
              <a:lvl9pPr marL="3886200" indent="-228600" eaLnBrk="0" fontAlgn="base" hangingPunct="0">
                <a:spcBef>
                  <a:spcPct val="0"/>
                </a:spcBef>
                <a:spcAft>
                  <a:spcPct val="0"/>
                </a:spcAft>
                <a:buChar char="•"/>
                <a:defRPr>
                  <a:solidFill>
                    <a:schemeClr val="tx1"/>
                  </a:solidFill>
                  <a:latin typeface="Arial" charset="0"/>
                  <a:ea typeface="宋体" charset="-122"/>
                </a:defRPr>
              </a:lvl9pPr>
            </a:lstStyle>
            <a:p>
              <a:pPr eaLnBrk="1" hangingPunct="1">
                <a:spcBef>
                  <a:spcPct val="50000"/>
                </a:spcBef>
                <a:buFontTx/>
                <a:buNone/>
              </a:pPr>
              <a:r>
                <a:rPr kumimoji="1" lang="en-US" altLang="zh-CN" sz="2000" b="0" i="1" dirty="0">
                  <a:latin typeface="Times New Roman" pitchFamily="18" charset="0"/>
                </a:rPr>
                <a:t>D</a:t>
              </a:r>
            </a:p>
          </p:txBody>
        </p:sp>
      </p:grpSp>
      <p:sp>
        <p:nvSpPr>
          <p:cNvPr id="41" name="Text Box 23"/>
          <p:cNvSpPr txBox="1">
            <a:spLocks noChangeArrowheads="1"/>
          </p:cNvSpPr>
          <p:nvPr/>
        </p:nvSpPr>
        <p:spPr bwMode="auto">
          <a:xfrm>
            <a:off x="9563792" y="3773227"/>
            <a:ext cx="609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Char char="•"/>
              <a:defRPr>
                <a:solidFill>
                  <a:schemeClr val="tx1"/>
                </a:solidFill>
                <a:latin typeface="Arial" charset="0"/>
                <a:ea typeface="宋体" charset="-122"/>
              </a:defRPr>
            </a:lvl6pPr>
            <a:lvl7pPr marL="2971800" indent="-228600" eaLnBrk="0" fontAlgn="base" hangingPunct="0">
              <a:spcBef>
                <a:spcPct val="0"/>
              </a:spcBef>
              <a:spcAft>
                <a:spcPct val="0"/>
              </a:spcAft>
              <a:buChar char="•"/>
              <a:defRPr>
                <a:solidFill>
                  <a:schemeClr val="tx1"/>
                </a:solidFill>
                <a:latin typeface="Arial" charset="0"/>
                <a:ea typeface="宋体" charset="-122"/>
              </a:defRPr>
            </a:lvl7pPr>
            <a:lvl8pPr marL="3429000" indent="-228600" eaLnBrk="0" fontAlgn="base" hangingPunct="0">
              <a:spcBef>
                <a:spcPct val="0"/>
              </a:spcBef>
              <a:spcAft>
                <a:spcPct val="0"/>
              </a:spcAft>
              <a:buChar char="•"/>
              <a:defRPr>
                <a:solidFill>
                  <a:schemeClr val="tx1"/>
                </a:solidFill>
                <a:latin typeface="Arial" charset="0"/>
                <a:ea typeface="宋体" charset="-122"/>
              </a:defRPr>
            </a:lvl8pPr>
            <a:lvl9pPr marL="3886200" indent="-228600" eaLnBrk="0" fontAlgn="base" hangingPunct="0">
              <a:spcBef>
                <a:spcPct val="0"/>
              </a:spcBef>
              <a:spcAft>
                <a:spcPct val="0"/>
              </a:spcAft>
              <a:buChar char="•"/>
              <a:defRPr>
                <a:solidFill>
                  <a:schemeClr val="tx1"/>
                </a:solidFill>
                <a:latin typeface="Arial" charset="0"/>
                <a:ea typeface="宋体" charset="-122"/>
              </a:defRPr>
            </a:lvl9pPr>
          </a:lstStyle>
          <a:p>
            <a:pPr eaLnBrk="1" hangingPunct="1">
              <a:spcBef>
                <a:spcPct val="50000"/>
              </a:spcBef>
              <a:buFontTx/>
              <a:buNone/>
            </a:pPr>
            <a:r>
              <a:rPr kumimoji="1" lang="en-US" altLang="zh-CN" sz="2400" b="0" i="1" dirty="0">
                <a:latin typeface="Times New Roman" pitchFamily="18" charset="0"/>
              </a:rPr>
              <a:t>O</a:t>
            </a:r>
            <a:endParaRPr kumimoji="1" lang="en-US" altLang="zh-CN" sz="2400" b="0" dirty="0">
              <a:latin typeface="Times New Roman" pitchFamily="18" charset="0"/>
            </a:endParaRPr>
          </a:p>
        </p:txBody>
      </p:sp>
      <p:sp>
        <p:nvSpPr>
          <p:cNvPr id="42" name="Line 24"/>
          <p:cNvSpPr>
            <a:spLocks noChangeShapeType="1"/>
          </p:cNvSpPr>
          <p:nvPr/>
        </p:nvSpPr>
        <p:spPr bwMode="auto">
          <a:xfrm flipV="1">
            <a:off x="9944792" y="3087427"/>
            <a:ext cx="381000" cy="762000"/>
          </a:xfrm>
          <a:prstGeom prst="line">
            <a:avLst/>
          </a:prstGeom>
          <a:noFill/>
          <a:ln w="9525">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25"/>
          <p:cNvSpPr>
            <a:spLocks noChangeShapeType="1"/>
          </p:cNvSpPr>
          <p:nvPr/>
        </p:nvSpPr>
        <p:spPr bwMode="auto">
          <a:xfrm flipV="1">
            <a:off x="10325792" y="2249227"/>
            <a:ext cx="381000" cy="762000"/>
          </a:xfrm>
          <a:prstGeom prst="line">
            <a:avLst/>
          </a:prstGeom>
          <a:noFill/>
          <a:ln w="9525">
            <a:solidFill>
              <a:schemeClr val="tx1"/>
            </a:solidFill>
            <a:round/>
            <a:headEnd type="stealth" w="med"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Text Box 26"/>
          <p:cNvSpPr txBox="1">
            <a:spLocks noChangeArrowheads="1"/>
          </p:cNvSpPr>
          <p:nvPr/>
        </p:nvSpPr>
        <p:spPr bwMode="auto">
          <a:xfrm>
            <a:off x="9716192" y="3163627"/>
            <a:ext cx="5334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buChar char="•"/>
              <a:defRPr>
                <a:solidFill>
                  <a:schemeClr val="tx1"/>
                </a:solidFill>
                <a:latin typeface="Arial" charset="0"/>
                <a:ea typeface="宋体" charset="-122"/>
              </a:defRPr>
            </a:lvl6pPr>
            <a:lvl7pPr marL="2971800" indent="-228600" eaLnBrk="0" fontAlgn="base" hangingPunct="0">
              <a:spcBef>
                <a:spcPct val="0"/>
              </a:spcBef>
              <a:spcAft>
                <a:spcPct val="0"/>
              </a:spcAft>
              <a:buChar char="•"/>
              <a:defRPr>
                <a:solidFill>
                  <a:schemeClr val="tx1"/>
                </a:solidFill>
                <a:latin typeface="Arial" charset="0"/>
                <a:ea typeface="宋体" charset="-122"/>
              </a:defRPr>
            </a:lvl7pPr>
            <a:lvl8pPr marL="3429000" indent="-228600" eaLnBrk="0" fontAlgn="base" hangingPunct="0">
              <a:spcBef>
                <a:spcPct val="0"/>
              </a:spcBef>
              <a:spcAft>
                <a:spcPct val="0"/>
              </a:spcAft>
              <a:buChar char="•"/>
              <a:defRPr>
                <a:solidFill>
                  <a:schemeClr val="tx1"/>
                </a:solidFill>
                <a:latin typeface="Arial" charset="0"/>
                <a:ea typeface="宋体" charset="-122"/>
              </a:defRPr>
            </a:lvl8pPr>
            <a:lvl9pPr marL="3886200" indent="-228600" eaLnBrk="0" fontAlgn="base" hangingPunct="0">
              <a:spcBef>
                <a:spcPct val="0"/>
              </a:spcBef>
              <a:spcAft>
                <a:spcPct val="0"/>
              </a:spcAft>
              <a:buChar char="•"/>
              <a:defRPr>
                <a:solidFill>
                  <a:schemeClr val="tx1"/>
                </a:solidFill>
                <a:latin typeface="Arial" charset="0"/>
                <a:ea typeface="宋体" charset="-122"/>
              </a:defRPr>
            </a:lvl9pPr>
          </a:lstStyle>
          <a:p>
            <a:pPr eaLnBrk="1" hangingPunct="1">
              <a:spcBef>
                <a:spcPct val="50000"/>
              </a:spcBef>
              <a:buFontTx/>
              <a:buNone/>
            </a:pPr>
            <a:r>
              <a:rPr kumimoji="1" lang="en-US" altLang="zh-CN" sz="2400" b="0" i="1" dirty="0">
                <a:latin typeface="Times New Roman" pitchFamily="18" charset="0"/>
                <a:sym typeface="Symbol" pitchFamily="18" charset="2"/>
              </a:rPr>
              <a:t></a:t>
            </a:r>
            <a:endParaRPr kumimoji="1" lang="en-US" altLang="zh-CN" sz="2400" b="0" i="1" dirty="0">
              <a:latin typeface="Times New Roman" pitchFamily="18" charset="0"/>
            </a:endParaRPr>
          </a:p>
        </p:txBody>
      </p:sp>
      <p:sp>
        <p:nvSpPr>
          <p:cNvPr id="45" name="Rectangle 27"/>
          <p:cNvSpPr>
            <a:spLocks noChangeArrowheads="1"/>
          </p:cNvSpPr>
          <p:nvPr/>
        </p:nvSpPr>
        <p:spPr bwMode="auto">
          <a:xfrm>
            <a:off x="10097192" y="2096827"/>
            <a:ext cx="50323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buFontTx/>
              <a:buNone/>
            </a:pPr>
            <a:r>
              <a:rPr kumimoji="1" lang="en-US" altLang="zh-CN" sz="2400" b="0" i="0" dirty="0">
                <a:solidFill>
                  <a:schemeClr val="tx1"/>
                </a:solidFill>
                <a:latin typeface="Times New Roman" pitchFamily="18" charset="0"/>
                <a:sym typeface="Symbol" pitchFamily="18" charset="2"/>
              </a:rPr>
              <a:t>d</a:t>
            </a:r>
            <a:r>
              <a:rPr kumimoji="1" lang="en-US" altLang="zh-CN" sz="2400" b="0" i="1" dirty="0">
                <a:solidFill>
                  <a:schemeClr val="tx1"/>
                </a:solidFill>
                <a:latin typeface="Times New Roman" pitchFamily="18" charset="0"/>
                <a:sym typeface="Symbol" pitchFamily="18" charset="2"/>
              </a:rPr>
              <a:t></a:t>
            </a:r>
          </a:p>
        </p:txBody>
      </p:sp>
      <p:sp>
        <p:nvSpPr>
          <p:cNvPr id="48" name="Text Box 1032"/>
          <p:cNvSpPr txBox="1">
            <a:spLocks noChangeArrowheads="1"/>
          </p:cNvSpPr>
          <p:nvPr/>
        </p:nvSpPr>
        <p:spPr bwMode="auto">
          <a:xfrm>
            <a:off x="585012" y="1797995"/>
            <a:ext cx="7373596"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latin typeface="+mn-lt"/>
                <a:ea typeface="微软雅黑" panose="020B0503020204020204" pitchFamily="34" charset="-122"/>
              </a:rPr>
              <a:t>极惯性矩为</a:t>
            </a:r>
          </a:p>
        </p:txBody>
      </p:sp>
      <p:graphicFrame>
        <p:nvGraphicFramePr>
          <p:cNvPr id="49" name="Object 50"/>
          <p:cNvGraphicFramePr>
            <a:graphicFrameLocks noChangeAspect="1"/>
          </p:cNvGraphicFramePr>
          <p:nvPr>
            <p:extLst>
              <p:ext uri="{D42A27DB-BD31-4B8C-83A1-F6EECF244321}">
                <p14:modId xmlns:p14="http://schemas.microsoft.com/office/powerpoint/2010/main" val="3008308671"/>
              </p:ext>
            </p:extLst>
          </p:nvPr>
        </p:nvGraphicFramePr>
        <p:xfrm>
          <a:off x="1091758" y="2371139"/>
          <a:ext cx="6122634" cy="900597"/>
        </p:xfrm>
        <a:graphic>
          <a:graphicData uri="http://schemas.openxmlformats.org/presentationml/2006/ole">
            <mc:AlternateContent xmlns:mc="http://schemas.openxmlformats.org/markup-compatibility/2006">
              <mc:Choice xmlns:v="urn:schemas-microsoft-com:vml" Requires="v">
                <p:oleObj spid="_x0000_s7177" name="Equation" r:id="rId6" imgW="2844720" imgH="419040" progId="Equation.DSMT4">
                  <p:embed/>
                </p:oleObj>
              </mc:Choice>
              <mc:Fallback>
                <p:oleObj name="Equation" r:id="rId6" imgW="2844720" imgH="419040" progId="Equation.DSMT4">
                  <p:embed/>
                  <p:pic>
                    <p:nvPicPr>
                      <p:cNvPr id="0" name=""/>
                      <p:cNvPicPr>
                        <a:picLocks noChangeAspect="1" noChangeArrowheads="1"/>
                      </p:cNvPicPr>
                      <p:nvPr/>
                    </p:nvPicPr>
                    <p:blipFill>
                      <a:blip r:embed="rId7"/>
                      <a:srcRect/>
                      <a:stretch>
                        <a:fillRect/>
                      </a:stretch>
                    </p:blipFill>
                    <p:spPr bwMode="auto">
                      <a:xfrm>
                        <a:off x="1091758" y="2371139"/>
                        <a:ext cx="6122634" cy="900597"/>
                      </a:xfrm>
                      <a:prstGeom prst="rect">
                        <a:avLst/>
                      </a:prstGeom>
                      <a:noFill/>
                    </p:spPr>
                  </p:pic>
                </p:oleObj>
              </mc:Fallback>
            </mc:AlternateContent>
          </a:graphicData>
        </a:graphic>
      </p:graphicFrame>
    </p:spTree>
    <p:extLst>
      <p:ext uri="{BB962C8B-B14F-4D97-AF65-F5344CB8AC3E}">
        <p14:creationId xmlns:p14="http://schemas.microsoft.com/office/powerpoint/2010/main" val="160214916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left)">
                                      <p:cBhvr>
                                        <p:cTn id="13" dur="500"/>
                                        <p:tgtEl>
                                          <p:spTgt spid="29"/>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500"/>
                                        <p:tgtEl>
                                          <p:spTgt spid="31"/>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wipe(left)">
                                      <p:cBhvr>
                                        <p:cTn id="21" dur="500"/>
                                        <p:tgtEl>
                                          <p:spTgt spid="36"/>
                                        </p:tgtEl>
                                      </p:cBhvr>
                                    </p:animEffect>
                                  </p:childTnLst>
                                </p:cTn>
                              </p:par>
                            </p:childTnLst>
                          </p:cTn>
                        </p:par>
                        <p:par>
                          <p:cTn id="22" fill="hold">
                            <p:stCondLst>
                              <p:cond delay="1500"/>
                            </p:stCondLst>
                            <p:childTnLst>
                              <p:par>
                                <p:cTn id="23" presetID="22" presetClass="entr" presetSubtype="8" fill="hold" grpId="0" nodeType="after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wipe(left)">
                                      <p:cBhvr>
                                        <p:cTn id="25" dur="500"/>
                                        <p:tgtEl>
                                          <p:spTgt spid="41"/>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wipe(left)">
                                      <p:cBhvr>
                                        <p:cTn id="29" dur="500"/>
                                        <p:tgtEl>
                                          <p:spTgt spid="30"/>
                                        </p:tgtEl>
                                      </p:cBhvr>
                                    </p:animEffect>
                                  </p:childTnLst>
                                </p:cTn>
                              </p:par>
                            </p:childTnLst>
                          </p:cTn>
                        </p:par>
                        <p:par>
                          <p:cTn id="30" fill="hold">
                            <p:stCondLst>
                              <p:cond delay="2500"/>
                            </p:stCondLst>
                            <p:childTnLst>
                              <p:par>
                                <p:cTn id="31" presetID="22" presetClass="entr" presetSubtype="8" fill="hold" grpId="0" nodeType="after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wipe(left)">
                                      <p:cBhvr>
                                        <p:cTn id="33" dur="500"/>
                                        <p:tgtEl>
                                          <p:spTgt spid="42"/>
                                        </p:tgtEl>
                                      </p:cBhvr>
                                    </p:animEffect>
                                  </p:childTnLst>
                                </p:cTn>
                              </p:par>
                            </p:childTnLst>
                          </p:cTn>
                        </p:par>
                        <p:par>
                          <p:cTn id="34" fill="hold">
                            <p:stCondLst>
                              <p:cond delay="3000"/>
                            </p:stCondLst>
                            <p:childTnLst>
                              <p:par>
                                <p:cTn id="35" presetID="22" presetClass="entr" presetSubtype="8" fill="hold" grpId="0" nodeType="after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wipe(left)">
                                      <p:cBhvr>
                                        <p:cTn id="37" dur="500"/>
                                        <p:tgtEl>
                                          <p:spTgt spid="43"/>
                                        </p:tgtEl>
                                      </p:cBhvr>
                                    </p:animEffect>
                                  </p:childTnLst>
                                </p:cTn>
                              </p:par>
                            </p:childTnLst>
                          </p:cTn>
                        </p:par>
                        <p:par>
                          <p:cTn id="38" fill="hold">
                            <p:stCondLst>
                              <p:cond delay="3500"/>
                            </p:stCondLst>
                            <p:childTnLst>
                              <p:par>
                                <p:cTn id="39" presetID="22" presetClass="entr" presetSubtype="8" fill="hold" grpId="0" nodeType="after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wipe(left)">
                                      <p:cBhvr>
                                        <p:cTn id="41" dur="500"/>
                                        <p:tgtEl>
                                          <p:spTgt spid="44"/>
                                        </p:tgtEl>
                                      </p:cBhvr>
                                    </p:animEffect>
                                  </p:childTnLst>
                                </p:cTn>
                              </p:par>
                            </p:childTnLst>
                          </p:cTn>
                        </p:par>
                        <p:par>
                          <p:cTn id="42" fill="hold">
                            <p:stCondLst>
                              <p:cond delay="4000"/>
                            </p:stCondLst>
                            <p:childTnLst>
                              <p:par>
                                <p:cTn id="43" presetID="22" presetClass="entr" presetSubtype="8" fill="hold" grpId="0" nodeType="after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wipe(left)">
                                      <p:cBhvr>
                                        <p:cTn id="45" dur="500"/>
                                        <p:tgtEl>
                                          <p:spTgt spid="45"/>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48"/>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49"/>
                                        </p:tgtEl>
                                        <p:attrNameLst>
                                          <p:attrName>style.visibility</p:attrName>
                                        </p:attrNameLst>
                                      </p:cBhvr>
                                      <p:to>
                                        <p:strVal val="visible"/>
                                      </p:to>
                                    </p:set>
                                    <p:animEffect transition="in" filter="wipe(left)">
                                      <p:cBhvr>
                                        <p:cTn id="54" dur="5000"/>
                                        <p:tgtEl>
                                          <p:spTgt spid="49"/>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16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168"/>
                                        </p:tgtEl>
                                        <p:attrNameLst>
                                          <p:attrName>style.visibility</p:attrName>
                                        </p:attrNameLst>
                                      </p:cBhvr>
                                      <p:to>
                                        <p:strVal val="visible"/>
                                      </p:to>
                                    </p:set>
                                  </p:childTnLst>
                                </p:cTn>
                              </p:par>
                            </p:childTnLst>
                          </p:cTn>
                        </p:par>
                        <p:par>
                          <p:cTn id="63" fill="hold">
                            <p:stCondLst>
                              <p:cond delay="500"/>
                            </p:stCondLst>
                            <p:childTnLst>
                              <p:par>
                                <p:cTn id="64" presetID="22" presetClass="entr" presetSubtype="8" fill="hold" nodeType="afterEffect">
                                  <p:stCondLst>
                                    <p:cond delay="0"/>
                                  </p:stCondLst>
                                  <p:childTnLst>
                                    <p:set>
                                      <p:cBhvr>
                                        <p:cTn id="65" dur="1" fill="hold">
                                          <p:stCondLst>
                                            <p:cond delay="0"/>
                                          </p:stCondLst>
                                        </p:cTn>
                                        <p:tgtEl>
                                          <p:spTgt spid="169"/>
                                        </p:tgtEl>
                                        <p:attrNameLst>
                                          <p:attrName>style.visibility</p:attrName>
                                        </p:attrNameLst>
                                      </p:cBhvr>
                                      <p:to>
                                        <p:strVal val="visible"/>
                                      </p:to>
                                    </p:set>
                                    <p:animEffect transition="in" filter="wipe(left)">
                                      <p:cBhvr>
                                        <p:cTn id="66" dur="30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9" grpId="0" animBg="1"/>
      <p:bldP spid="162" grpId="0" autoUpdateAnimBg="0"/>
      <p:bldP spid="168" grpId="0" autoUpdateAnimBg="0"/>
      <p:bldP spid="29" grpId="0" animBg="1"/>
      <p:bldP spid="30" grpId="0" animBg="1"/>
      <p:bldP spid="41" grpId="0" autoUpdateAnimBg="0"/>
      <p:bldP spid="42" grpId="0" animBg="1"/>
      <p:bldP spid="43" grpId="0" animBg="1"/>
      <p:bldP spid="44" grpId="0" autoUpdateAnimBg="0"/>
      <p:bldP spid="45" grpId="0" autoUpdateAnimBg="0"/>
      <p:bldP spid="48"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14" name="Text Box 1032"/>
          <p:cNvSpPr txBox="1">
            <a:spLocks noChangeArrowheads="1"/>
          </p:cNvSpPr>
          <p:nvPr/>
        </p:nvSpPr>
        <p:spPr bwMode="auto">
          <a:xfrm>
            <a:off x="585012" y="1485125"/>
            <a:ext cx="10695564" cy="2332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zh-CN" altLang="en-US" sz="2800" i="0" dirty="0">
                <a:latin typeface="+mn-lt"/>
                <a:ea typeface="微软雅黑" panose="020B0503020204020204" pitchFamily="34" charset="-122"/>
              </a:rPr>
              <a:t>等直圆轴最大切应力发生在最大扭矩截面的外周边各点处。为了使圆轴能正常工作，必须使最大工作切应力不超过材料的许用切应力，于是等直圆轴扭转时的强度条件为 </a:t>
            </a:r>
          </a:p>
          <a:p>
            <a:pPr lvl="0">
              <a:lnSpc>
                <a:spcPct val="130000"/>
              </a:lnSpc>
            </a:pPr>
            <a:endParaRPr kumimoji="1" lang="zh-CN" altLang="en-US" sz="2800" i="0" dirty="0">
              <a:latin typeface="+mn-lt"/>
              <a:ea typeface="微软雅黑" panose="020B0503020204020204" pitchFamily="34" charset="-122"/>
            </a:endParaRPr>
          </a:p>
        </p:txBody>
      </p:sp>
      <p:sp>
        <p:nvSpPr>
          <p:cNvPr id="53" name="矩形 52"/>
          <p:cNvSpPr/>
          <p:nvPr/>
        </p:nvSpPr>
        <p:spPr>
          <a:xfrm>
            <a:off x="3357038" y="931127"/>
            <a:ext cx="3262432" cy="553998"/>
          </a:xfrm>
          <a:prstGeom prst="rect">
            <a:avLst/>
          </a:prstGeom>
        </p:spPr>
        <p:txBody>
          <a:bodyPr wrap="none">
            <a:spAutoFit/>
          </a:bodyPr>
          <a:lstStyle/>
          <a:p>
            <a:pPr lvl="0" algn="just"/>
            <a:r>
              <a:rPr lang="zh-CN" altLang="en-US" sz="3000" i="0" dirty="0">
                <a:solidFill>
                  <a:srgbClr val="4F81BD"/>
                </a:solidFill>
                <a:latin typeface="+mn-lt"/>
                <a:ea typeface="微软雅黑" panose="020B0503020204020204" pitchFamily="34" charset="-122"/>
              </a:rPr>
              <a:t>圆轴扭转强度计算</a:t>
            </a:r>
          </a:p>
        </p:txBody>
      </p:sp>
      <p:sp>
        <p:nvSpPr>
          <p:cNvPr id="168" name="Text Box 1032"/>
          <p:cNvSpPr txBox="1">
            <a:spLocks noChangeArrowheads="1"/>
          </p:cNvSpPr>
          <p:nvPr/>
        </p:nvSpPr>
        <p:spPr bwMode="auto">
          <a:xfrm>
            <a:off x="585012" y="4581128"/>
            <a:ext cx="10623556" cy="1716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zh-CN" altLang="en-US" sz="2800" i="0" dirty="0">
                <a:latin typeface="+mn-lt"/>
                <a:ea typeface="微软雅黑" panose="020B0503020204020204" pitchFamily="34" charset="-122"/>
              </a:rPr>
              <a:t>至于阶梯轴，由于</a:t>
            </a:r>
            <a:r>
              <a:rPr kumimoji="1" lang="en-US" altLang="zh-CN" sz="2800" b="0" dirty="0" err="1">
                <a:latin typeface="+mn-lt"/>
                <a:ea typeface="微软雅黑" panose="020B0503020204020204" pitchFamily="34" charset="-122"/>
              </a:rPr>
              <a:t>W</a:t>
            </a:r>
            <a:r>
              <a:rPr kumimoji="1" lang="en-US" altLang="zh-CN" sz="2800" b="0" i="0" baseline="-25000" dirty="0" err="1">
                <a:latin typeface="+mn-lt"/>
                <a:ea typeface="微软雅黑" panose="020B0503020204020204" pitchFamily="34" charset="-122"/>
              </a:rPr>
              <a:t>n</a:t>
            </a:r>
            <a:r>
              <a:rPr kumimoji="1" lang="zh-CN" altLang="en-US" sz="2800" i="0" dirty="0">
                <a:latin typeface="+mn-lt"/>
                <a:ea typeface="微软雅黑" panose="020B0503020204020204" pitchFamily="34" charset="-122"/>
              </a:rPr>
              <a:t>各段不同，</a:t>
            </a:r>
            <a:r>
              <a:rPr kumimoji="1" lang="zh-CN" altLang="en-US" sz="2800" b="0" dirty="0">
                <a:latin typeface="+mn-lt"/>
                <a:ea typeface="微软雅黑" panose="020B0503020204020204" pitchFamily="34" charset="-122"/>
                <a:sym typeface="Symbol" panose="05050102010706020507" pitchFamily="18" charset="2"/>
              </a:rPr>
              <a:t></a:t>
            </a:r>
            <a:r>
              <a:rPr kumimoji="1" lang="en-US" altLang="zh-CN" sz="2800" b="0" i="0" baseline="-25000" dirty="0">
                <a:latin typeface="+mn-lt"/>
                <a:ea typeface="微软雅黑" panose="020B0503020204020204" pitchFamily="34" charset="-122"/>
              </a:rPr>
              <a:t>max</a:t>
            </a:r>
            <a:r>
              <a:rPr kumimoji="1" lang="zh-CN" altLang="en-US" sz="2800" i="0" dirty="0">
                <a:latin typeface="+mn-lt"/>
                <a:ea typeface="微软雅黑" panose="020B0503020204020204" pitchFamily="34" charset="-122"/>
              </a:rPr>
              <a:t>不一定发生在</a:t>
            </a:r>
            <a:r>
              <a:rPr kumimoji="1" lang="zh-CN" altLang="en-US" sz="2800" b="0" i="0" dirty="0">
                <a:latin typeface="+mn-lt"/>
                <a:ea typeface="微软雅黑" panose="020B0503020204020204" pitchFamily="34" charset="-122"/>
                <a:sym typeface="Symbol" panose="05050102010706020507" pitchFamily="18" charset="2"/>
              </a:rPr>
              <a:t></a:t>
            </a:r>
            <a:r>
              <a:rPr kumimoji="1" lang="en-US" altLang="zh-CN" sz="2800" b="0" dirty="0" err="1">
                <a:latin typeface="+mn-lt"/>
                <a:ea typeface="微软雅黑" panose="020B0503020204020204" pitchFamily="34" charset="-122"/>
              </a:rPr>
              <a:t>M</a:t>
            </a:r>
            <a:r>
              <a:rPr kumimoji="1" lang="en-US" altLang="zh-CN" sz="2800" b="0" i="0" baseline="-25000" dirty="0" err="1">
                <a:latin typeface="+mn-lt"/>
                <a:ea typeface="微软雅黑" panose="020B0503020204020204" pitchFamily="34" charset="-122"/>
              </a:rPr>
              <a:t>n</a:t>
            </a:r>
            <a:r>
              <a:rPr kumimoji="1" lang="en-US" altLang="zh-CN" sz="2800" b="0" i="0" dirty="0" err="1">
                <a:latin typeface="+mn-lt"/>
                <a:ea typeface="微软雅黑" panose="020B0503020204020204" pitchFamily="34" charset="-122"/>
                <a:sym typeface="Symbol" panose="05050102010706020507" pitchFamily="18" charset="2"/>
              </a:rPr>
              <a:t></a:t>
            </a:r>
            <a:r>
              <a:rPr kumimoji="1" lang="en-US" altLang="zh-CN" sz="2800" b="0" i="0" baseline="-25000" dirty="0" err="1">
                <a:latin typeface="+mn-lt"/>
                <a:ea typeface="微软雅黑" panose="020B0503020204020204" pitchFamily="34" charset="-122"/>
              </a:rPr>
              <a:t>max</a:t>
            </a:r>
            <a:r>
              <a:rPr kumimoji="1" lang="zh-CN" altLang="en-US" sz="2800" i="0" dirty="0">
                <a:latin typeface="+mn-lt"/>
                <a:ea typeface="微软雅黑" panose="020B0503020204020204" pitchFamily="34" charset="-122"/>
              </a:rPr>
              <a:t>所在的截面上；因此需综合考虑</a:t>
            </a:r>
            <a:r>
              <a:rPr kumimoji="1" lang="en-US" altLang="zh-CN" sz="2800" b="0" dirty="0" err="1">
                <a:latin typeface="+mn-lt"/>
                <a:ea typeface="微软雅黑" panose="020B0503020204020204" pitchFamily="34" charset="-122"/>
              </a:rPr>
              <a:t>M</a:t>
            </a:r>
            <a:r>
              <a:rPr kumimoji="1" lang="en-US" altLang="zh-CN" sz="2800" b="0" i="0" baseline="-25000" dirty="0" err="1">
                <a:latin typeface="+mn-lt"/>
                <a:ea typeface="微软雅黑" panose="020B0503020204020204" pitchFamily="34" charset="-122"/>
              </a:rPr>
              <a:t>n</a:t>
            </a:r>
            <a:r>
              <a:rPr kumimoji="1" lang="zh-CN" altLang="en-US" sz="2800" i="0" dirty="0">
                <a:latin typeface="+mn-lt"/>
                <a:ea typeface="微软雅黑" panose="020B0503020204020204" pitchFamily="34" charset="-122"/>
              </a:rPr>
              <a:t>和</a:t>
            </a:r>
            <a:r>
              <a:rPr kumimoji="1" lang="en-US" altLang="zh-CN" sz="2800" b="0" dirty="0" err="1">
                <a:latin typeface="+mn-lt"/>
                <a:ea typeface="微软雅黑" panose="020B0503020204020204" pitchFamily="34" charset="-122"/>
              </a:rPr>
              <a:t>W</a:t>
            </a:r>
            <a:r>
              <a:rPr kumimoji="1" lang="en-US" altLang="zh-CN" sz="2800" b="0" i="0" baseline="-25000" dirty="0" err="1">
                <a:latin typeface="+mn-lt"/>
                <a:ea typeface="微软雅黑" panose="020B0503020204020204" pitchFamily="34" charset="-122"/>
              </a:rPr>
              <a:t>n</a:t>
            </a:r>
            <a:r>
              <a:rPr kumimoji="1" lang="zh-CN" altLang="en-US" sz="2800" i="0" dirty="0">
                <a:latin typeface="+mn-lt"/>
                <a:ea typeface="微软雅黑" panose="020B0503020204020204" pitchFamily="34" charset="-122"/>
              </a:rPr>
              <a:t>两个因素来确定。 </a:t>
            </a:r>
          </a:p>
          <a:p>
            <a:pPr lvl="0">
              <a:lnSpc>
                <a:spcPct val="130000"/>
              </a:lnSpc>
            </a:pPr>
            <a:endParaRPr kumimoji="1" lang="zh-CN" altLang="en-US" sz="2800" i="0" dirty="0">
              <a:latin typeface="+mn-lt"/>
              <a:ea typeface="微软雅黑" panose="020B0503020204020204" pitchFamily="34" charset="-122"/>
            </a:endParaRPr>
          </a:p>
        </p:txBody>
      </p:sp>
      <p:graphicFrame>
        <p:nvGraphicFramePr>
          <p:cNvPr id="29" name="Object 36"/>
          <p:cNvGraphicFramePr>
            <a:graphicFrameLocks noChangeAspect="1"/>
          </p:cNvGraphicFramePr>
          <p:nvPr>
            <p:extLst>
              <p:ext uri="{D42A27DB-BD31-4B8C-83A1-F6EECF244321}">
                <p14:modId xmlns:p14="http://schemas.microsoft.com/office/powerpoint/2010/main" val="1701935651"/>
              </p:ext>
            </p:extLst>
          </p:nvPr>
        </p:nvGraphicFramePr>
        <p:xfrm>
          <a:off x="3814551" y="3294062"/>
          <a:ext cx="2741613" cy="1044575"/>
        </p:xfrm>
        <a:graphic>
          <a:graphicData uri="http://schemas.openxmlformats.org/presentationml/2006/ole">
            <mc:AlternateContent xmlns:mc="http://schemas.openxmlformats.org/markup-compatibility/2006">
              <mc:Choice xmlns:v="urn:schemas-microsoft-com:vml" Requires="v">
                <p:oleObj spid="_x0000_s8196" name="Equation" r:id="rId4" imgW="1143000" imgH="431640" progId="Equation.DSMT4">
                  <p:embed/>
                </p:oleObj>
              </mc:Choice>
              <mc:Fallback>
                <p:oleObj name="Equation" r:id="rId4" imgW="1143000" imgH="431640" progId="Equation.DSMT4">
                  <p:embed/>
                  <p:pic>
                    <p:nvPicPr>
                      <p:cNvPr id="0" name=""/>
                      <p:cNvPicPr>
                        <a:picLocks noChangeAspect="1" noChangeArrowheads="1"/>
                      </p:cNvPicPr>
                      <p:nvPr/>
                    </p:nvPicPr>
                    <p:blipFill>
                      <a:blip r:embed="rId5"/>
                      <a:srcRect/>
                      <a:stretch>
                        <a:fillRect/>
                      </a:stretch>
                    </p:blipFill>
                    <p:spPr bwMode="auto">
                      <a:xfrm>
                        <a:off x="3814551" y="3294062"/>
                        <a:ext cx="2741613" cy="1044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6812587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3000"/>
                                        <p:tgtEl>
                                          <p:spTgt spid="2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168"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61"/>
          <p:cNvSpPr>
            <a:spLocks noChangeArrowheads="1"/>
          </p:cNvSpPr>
          <p:nvPr/>
        </p:nvSpPr>
        <p:spPr bwMode="auto">
          <a:xfrm>
            <a:off x="7868448" y="919848"/>
            <a:ext cx="4320480" cy="4408807"/>
          </a:xfrm>
          <a:prstGeom prst="rect">
            <a:avLst/>
          </a:prstGeom>
          <a:solidFill>
            <a:srgbClr val="B9CDE5"/>
          </a:solidFill>
          <a:ln>
            <a:noFill/>
          </a:ln>
          <a:effectLst/>
        </p:spPr>
        <p:txBody>
          <a:bodyPr wrap="none" anchor="ctr"/>
          <a:lstStyle/>
          <a:p>
            <a:endParaRPr lang="zh-CN" altLang="en-US" dirty="0"/>
          </a:p>
        </p:txBody>
      </p:sp>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19" name="矩形 18">
            <a:extLst>
              <a:ext uri="{FF2B5EF4-FFF2-40B4-BE49-F238E27FC236}">
                <a16:creationId xmlns:a16="http://schemas.microsoft.com/office/drawing/2014/main" xmlns="" id="{396E3A4E-3DCE-51D1-DE56-78AC0CFE008B}"/>
              </a:ext>
            </a:extLst>
          </p:cNvPr>
          <p:cNvSpPr/>
          <p:nvPr/>
        </p:nvSpPr>
        <p:spPr>
          <a:xfrm>
            <a:off x="191344" y="820392"/>
            <a:ext cx="7944323" cy="1384995"/>
          </a:xfrm>
          <a:prstGeom prst="rect">
            <a:avLst/>
          </a:prstGeom>
        </p:spPr>
        <p:txBody>
          <a:bodyPr wrap="square">
            <a:spAutoFit/>
          </a:bodyPr>
          <a:lstStyle/>
          <a:p>
            <a:pPr lvl="0">
              <a:lnSpc>
                <a:spcPct val="120000"/>
              </a:lnSpc>
            </a:pPr>
            <a:r>
              <a:rPr lang="zh-CN" altLang="en-US" i="0" dirty="0">
                <a:solidFill>
                  <a:srgbClr val="0033CC"/>
                </a:solidFill>
                <a:ea typeface="黑体" panose="02010609060101010101" pitchFamily="49" charset="-122"/>
              </a:rPr>
              <a:t>例</a:t>
            </a:r>
            <a:r>
              <a:rPr lang="zh-CN" altLang="en-US" i="0" dirty="0">
                <a:solidFill>
                  <a:schemeClr val="tx1"/>
                </a:solidFill>
                <a:ea typeface="黑体" panose="02010609060101010101" pitchFamily="49" charset="-122"/>
              </a:rPr>
              <a:t>  </a:t>
            </a:r>
            <a:r>
              <a:rPr kumimoji="1" lang="zh-CN" altLang="en-US" i="0" dirty="0">
                <a:solidFill>
                  <a:schemeClr val="tx1"/>
                </a:solidFill>
                <a:ea typeface="黑体" panose="02010609060101010101" pitchFamily="49" charset="-122"/>
              </a:rPr>
              <a:t>阶梯轴如图，</a:t>
            </a:r>
            <a:r>
              <a:rPr kumimoji="1" lang="en-US" altLang="zh-CN" b="0" dirty="0">
                <a:solidFill>
                  <a:schemeClr val="tx1"/>
                </a:solidFill>
                <a:ea typeface="黑体" panose="02010609060101010101" pitchFamily="49" charset="-122"/>
              </a:rPr>
              <a:t>M</a:t>
            </a:r>
            <a:r>
              <a:rPr kumimoji="1" lang="en-US" altLang="zh-CN" b="0" i="0" baseline="-25000" dirty="0">
                <a:solidFill>
                  <a:schemeClr val="tx1"/>
                </a:solidFill>
                <a:ea typeface="黑体" panose="02010609060101010101" pitchFamily="49" charset="-122"/>
              </a:rPr>
              <a:t>1</a:t>
            </a:r>
            <a:r>
              <a:rPr kumimoji="1" lang="en-US" altLang="zh-CN" b="0" i="0" dirty="0">
                <a:solidFill>
                  <a:schemeClr val="tx1"/>
                </a:solidFill>
                <a:ea typeface="黑体" panose="02010609060101010101" pitchFamily="49" charset="-122"/>
              </a:rPr>
              <a:t>=5kN·m</a:t>
            </a:r>
            <a:r>
              <a:rPr kumimoji="1" lang="zh-CN" altLang="en-US"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M</a:t>
            </a:r>
            <a:r>
              <a:rPr kumimoji="1" lang="en-US" altLang="zh-CN" b="0" i="0" baseline="-25000" dirty="0">
                <a:solidFill>
                  <a:schemeClr val="tx1"/>
                </a:solidFill>
                <a:ea typeface="黑体" panose="02010609060101010101" pitchFamily="49" charset="-122"/>
              </a:rPr>
              <a:t>2</a:t>
            </a:r>
            <a:r>
              <a:rPr kumimoji="1" lang="en-US" altLang="zh-CN" b="0" i="0" dirty="0">
                <a:solidFill>
                  <a:schemeClr val="tx1"/>
                </a:solidFill>
                <a:ea typeface="黑体" panose="02010609060101010101" pitchFamily="49" charset="-122"/>
              </a:rPr>
              <a:t>=3.2kN·m</a:t>
            </a:r>
            <a:r>
              <a:rPr kumimoji="1" lang="zh-CN" altLang="en-US"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M</a:t>
            </a:r>
            <a:r>
              <a:rPr kumimoji="1" lang="en-US" altLang="zh-CN" b="0" i="0" baseline="-25000" dirty="0">
                <a:solidFill>
                  <a:schemeClr val="tx1"/>
                </a:solidFill>
                <a:ea typeface="黑体" panose="02010609060101010101" pitchFamily="49" charset="-122"/>
              </a:rPr>
              <a:t>3</a:t>
            </a:r>
            <a:r>
              <a:rPr kumimoji="1" lang="en-US" altLang="zh-CN" b="0" i="0" dirty="0">
                <a:solidFill>
                  <a:schemeClr val="tx1"/>
                </a:solidFill>
                <a:ea typeface="黑体" panose="02010609060101010101" pitchFamily="49" charset="-122"/>
              </a:rPr>
              <a:t>=1.8kN·m</a:t>
            </a:r>
            <a:r>
              <a:rPr kumimoji="1" lang="zh-CN" altLang="en-US" i="0" dirty="0">
                <a:solidFill>
                  <a:schemeClr val="tx1"/>
                </a:solidFill>
                <a:ea typeface="黑体" panose="02010609060101010101" pitchFamily="49" charset="-122"/>
              </a:rPr>
              <a:t>，材料的许用切应力</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sym typeface="Symbol" panose="05050102010706020507" pitchFamily="18" charset="2"/>
              </a:rPr>
              <a:t> </a:t>
            </a:r>
            <a:r>
              <a:rPr kumimoji="1" lang="en-US" altLang="zh-CN" b="0" i="0" dirty="0">
                <a:solidFill>
                  <a:schemeClr val="tx1"/>
                </a:solidFill>
                <a:ea typeface="黑体" panose="02010609060101010101" pitchFamily="49" charset="-122"/>
              </a:rPr>
              <a:t>]=60MPa</a:t>
            </a:r>
            <a:r>
              <a:rPr kumimoji="1" lang="zh-CN" altLang="en-US" i="0" dirty="0">
                <a:solidFill>
                  <a:schemeClr val="tx1"/>
                </a:solidFill>
                <a:ea typeface="黑体" panose="02010609060101010101" pitchFamily="49" charset="-122"/>
              </a:rPr>
              <a:t>。试校核该轴的强度。 </a:t>
            </a:r>
          </a:p>
          <a:p>
            <a:pPr>
              <a:lnSpc>
                <a:spcPct val="110000"/>
              </a:lnSpc>
            </a:pPr>
            <a:endParaRPr lang="zh-CN" altLang="en-US" i="0" dirty="0">
              <a:solidFill>
                <a:schemeClr val="tx1"/>
              </a:solidFill>
              <a:latin typeface="+mn-lt"/>
              <a:ea typeface="黑体" panose="02010609060101010101" pitchFamily="49" charset="-122"/>
            </a:endParaRPr>
          </a:p>
        </p:txBody>
      </p:sp>
      <p:sp>
        <p:nvSpPr>
          <p:cNvPr id="136" name="矩形 135">
            <a:extLst>
              <a:ext uri="{FF2B5EF4-FFF2-40B4-BE49-F238E27FC236}">
                <a16:creationId xmlns:a16="http://schemas.microsoft.com/office/drawing/2014/main" xmlns="" id="{396E3A4E-3DCE-51D1-DE56-78AC0CFE008B}"/>
              </a:ext>
            </a:extLst>
          </p:cNvPr>
          <p:cNvSpPr/>
          <p:nvPr/>
        </p:nvSpPr>
        <p:spPr>
          <a:xfrm>
            <a:off x="211184" y="1768446"/>
            <a:ext cx="6770983" cy="1000980"/>
          </a:xfrm>
          <a:prstGeom prst="rect">
            <a:avLst/>
          </a:prstGeom>
        </p:spPr>
        <p:txBody>
          <a:bodyPr wrap="square">
            <a:spAutoFit/>
          </a:bodyPr>
          <a:lstStyle/>
          <a:p>
            <a:pPr lvl="0">
              <a:lnSpc>
                <a:spcPct val="130000"/>
              </a:lnSpc>
            </a:pPr>
            <a:r>
              <a:rPr lang="zh-CN" altLang="en-US" i="0" dirty="0">
                <a:solidFill>
                  <a:srgbClr val="0033CC"/>
                </a:solidFill>
                <a:ea typeface="黑体" panose="02010609060101010101" pitchFamily="49" charset="-122"/>
              </a:rPr>
              <a:t>解  </a:t>
            </a:r>
            <a:r>
              <a:rPr kumimoji="1" lang="zh-CN" altLang="en-US" i="0" dirty="0">
                <a:solidFill>
                  <a:schemeClr val="tx1"/>
                </a:solidFill>
                <a:ea typeface="黑体" panose="02010609060101010101" pitchFamily="49" charset="-122"/>
              </a:rPr>
              <a:t>画出阶梯轴的扭矩图。因两段的扭矩、直径各不相同，需分别校核</a:t>
            </a:r>
            <a:endParaRPr kumimoji="1" lang="en-US" altLang="zh-CN" b="0" i="0" dirty="0">
              <a:solidFill>
                <a:schemeClr val="tx1"/>
              </a:solidFill>
              <a:latin typeface="+mn-lt"/>
              <a:ea typeface="黑体" panose="02010609060101010101" pitchFamily="49" charset="-122"/>
            </a:endParaRPr>
          </a:p>
        </p:txBody>
      </p:sp>
      <p:sp>
        <p:nvSpPr>
          <p:cNvPr id="291" name="Freeform 127" descr="浅色竖线"/>
          <p:cNvSpPr>
            <a:spLocks/>
          </p:cNvSpPr>
          <p:nvPr/>
        </p:nvSpPr>
        <p:spPr bwMode="auto">
          <a:xfrm>
            <a:off x="8904448" y="4014609"/>
            <a:ext cx="2244725" cy="765175"/>
          </a:xfrm>
          <a:custGeom>
            <a:avLst/>
            <a:gdLst>
              <a:gd name="T0" fmla="*/ 0 w 1414"/>
              <a:gd name="T1" fmla="*/ 20161251 h 482"/>
              <a:gd name="T2" fmla="*/ 0 w 1414"/>
              <a:gd name="T3" fmla="*/ 1214715402 h 482"/>
              <a:gd name="T4" fmla="*/ 2091729759 w 1414"/>
              <a:gd name="T5" fmla="*/ 1214715402 h 482"/>
              <a:gd name="T6" fmla="*/ 2091729759 w 1414"/>
              <a:gd name="T7" fmla="*/ 425907291 h 482"/>
              <a:gd name="T8" fmla="*/ 2147483647 w 1414"/>
              <a:gd name="T9" fmla="*/ 425907291 h 482"/>
              <a:gd name="T10" fmla="*/ 2147483647 w 1414"/>
              <a:gd name="T11" fmla="*/ 0 h 482"/>
              <a:gd name="T12" fmla="*/ 0 w 1414"/>
              <a:gd name="T13" fmla="*/ 20161251 h 482"/>
              <a:gd name="T14" fmla="*/ 0 60000 65536"/>
              <a:gd name="T15" fmla="*/ 0 60000 65536"/>
              <a:gd name="T16" fmla="*/ 0 60000 65536"/>
              <a:gd name="T17" fmla="*/ 0 60000 65536"/>
              <a:gd name="T18" fmla="*/ 0 60000 65536"/>
              <a:gd name="T19" fmla="*/ 0 60000 65536"/>
              <a:gd name="T20" fmla="*/ 0 60000 65536"/>
              <a:gd name="T21" fmla="*/ 0 w 1414"/>
              <a:gd name="T22" fmla="*/ 0 h 482"/>
              <a:gd name="T23" fmla="*/ 1414 w 1414"/>
              <a:gd name="T24" fmla="*/ 482 h 4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14" h="482">
                <a:moveTo>
                  <a:pt x="0" y="8"/>
                </a:moveTo>
                <a:lnTo>
                  <a:pt x="0" y="482"/>
                </a:lnTo>
                <a:lnTo>
                  <a:pt x="830" y="482"/>
                </a:lnTo>
                <a:lnTo>
                  <a:pt x="830" y="169"/>
                </a:lnTo>
                <a:lnTo>
                  <a:pt x="1414" y="169"/>
                </a:lnTo>
                <a:lnTo>
                  <a:pt x="1414" y="0"/>
                </a:lnTo>
                <a:lnTo>
                  <a:pt x="0" y="8"/>
                </a:lnTo>
                <a:close/>
              </a:path>
            </a:pathLst>
          </a:custGeom>
          <a:pattFill prst="ltVert">
            <a:fgClr>
              <a:srgbClr val="000000"/>
            </a:fgClr>
            <a:bgClr>
              <a:srgbClr val="66FF99"/>
            </a:bgClr>
          </a:patt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292" name="Group 7"/>
          <p:cNvGrpSpPr>
            <a:grpSpLocks/>
          </p:cNvGrpSpPr>
          <p:nvPr/>
        </p:nvGrpSpPr>
        <p:grpSpPr bwMode="auto">
          <a:xfrm>
            <a:off x="9782335" y="4128909"/>
            <a:ext cx="388938" cy="300038"/>
            <a:chOff x="4383" y="1620"/>
            <a:chExt cx="233" cy="183"/>
          </a:xfrm>
        </p:grpSpPr>
        <p:sp>
          <p:nvSpPr>
            <p:cNvPr id="293" name="Oval 8"/>
            <p:cNvSpPr>
              <a:spLocks noChangeAspect="1" noChangeArrowheads="1"/>
            </p:cNvSpPr>
            <p:nvPr/>
          </p:nvSpPr>
          <p:spPr bwMode="auto">
            <a:xfrm>
              <a:off x="4429" y="1695"/>
              <a:ext cx="100" cy="92"/>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94" name="Text Box 9"/>
            <p:cNvSpPr txBox="1">
              <a:spLocks noChangeAspect="1" noChangeArrowheads="1"/>
            </p:cNvSpPr>
            <p:nvPr/>
          </p:nvSpPr>
          <p:spPr bwMode="auto">
            <a:xfrm>
              <a:off x="4383" y="1620"/>
              <a:ext cx="23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1800" b="0"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a:t>
              </a:r>
            </a:p>
          </p:txBody>
        </p:sp>
      </p:grpSp>
      <p:sp>
        <p:nvSpPr>
          <p:cNvPr id="379" name="Line 111"/>
          <p:cNvSpPr>
            <a:spLocks noChangeShapeType="1"/>
          </p:cNvSpPr>
          <p:nvPr/>
        </p:nvSpPr>
        <p:spPr bwMode="auto">
          <a:xfrm>
            <a:off x="8925085" y="4025722"/>
            <a:ext cx="2814638" cy="0"/>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80" name="Line 112"/>
          <p:cNvSpPr>
            <a:spLocks noChangeShapeType="1"/>
          </p:cNvSpPr>
          <p:nvPr/>
        </p:nvSpPr>
        <p:spPr bwMode="auto">
          <a:xfrm flipV="1">
            <a:off x="8926673" y="3479622"/>
            <a:ext cx="0" cy="1406525"/>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81" name="Line 113"/>
          <p:cNvSpPr>
            <a:spLocks noChangeAspect="1" noChangeShapeType="1"/>
          </p:cNvSpPr>
          <p:nvPr/>
        </p:nvSpPr>
        <p:spPr bwMode="auto">
          <a:xfrm flipV="1">
            <a:off x="8909210" y="4768672"/>
            <a:ext cx="1323975" cy="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82" name="Line 114"/>
          <p:cNvSpPr>
            <a:spLocks noChangeAspect="1" noChangeShapeType="1"/>
          </p:cNvSpPr>
          <p:nvPr/>
        </p:nvSpPr>
        <p:spPr bwMode="auto">
          <a:xfrm flipH="1">
            <a:off x="10231598" y="4265434"/>
            <a:ext cx="0" cy="490538"/>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83" name="Text Box 116"/>
          <p:cNvSpPr txBox="1">
            <a:spLocks noChangeAspect="1" noChangeArrowheads="1"/>
          </p:cNvSpPr>
          <p:nvPr/>
        </p:nvSpPr>
        <p:spPr bwMode="auto">
          <a:xfrm>
            <a:off x="8444073" y="3271659"/>
            <a:ext cx="6000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rPr>
              <a:t>M</a:t>
            </a:r>
            <a:r>
              <a:rPr kumimoji="1" lang="en-US" altLang="zh-CN" sz="2400" b="0" i="0" u="none" strike="noStrike" kern="0" cap="none" spc="0" normalizeH="0" baseline="-25000" noProof="0" dirty="0" err="1">
                <a:ln>
                  <a:noFill/>
                </a:ln>
                <a:solidFill>
                  <a:srgbClr val="000000"/>
                </a:solidFill>
                <a:effectLst/>
                <a:uLnTx/>
                <a:uFillTx/>
                <a:latin typeface="Times New Roman" panose="02020603050405020304" pitchFamily="18" charset="0"/>
                <a:ea typeface="宋体" panose="02010600030101010101" pitchFamily="2" charset="-122"/>
              </a:rPr>
              <a:t>n</a:t>
            </a:r>
            <a:endPar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384" name="Text Box 117"/>
          <p:cNvSpPr txBox="1">
            <a:spLocks noChangeAspect="1" noChangeArrowheads="1"/>
          </p:cNvSpPr>
          <p:nvPr/>
        </p:nvSpPr>
        <p:spPr bwMode="auto">
          <a:xfrm>
            <a:off x="10210960" y="4233684"/>
            <a:ext cx="10763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75N</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m</a:t>
            </a:r>
          </a:p>
        </p:txBody>
      </p:sp>
      <p:sp>
        <p:nvSpPr>
          <p:cNvPr id="385" name="Text Box 118"/>
          <p:cNvSpPr txBox="1">
            <a:spLocks noChangeAspect="1" noChangeArrowheads="1"/>
          </p:cNvSpPr>
          <p:nvPr/>
        </p:nvSpPr>
        <p:spPr bwMode="auto">
          <a:xfrm>
            <a:off x="8929848" y="4701997"/>
            <a:ext cx="1373187"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274N</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m</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86" name="Oval 119"/>
          <p:cNvSpPr>
            <a:spLocks noChangeArrowheads="1"/>
          </p:cNvSpPr>
          <p:nvPr/>
        </p:nvSpPr>
        <p:spPr bwMode="auto">
          <a:xfrm>
            <a:off x="8885398" y="4735334"/>
            <a:ext cx="74612" cy="74613"/>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87" name="Oval 120"/>
          <p:cNvSpPr>
            <a:spLocks noChangeArrowheads="1"/>
          </p:cNvSpPr>
          <p:nvPr/>
        </p:nvSpPr>
        <p:spPr bwMode="auto">
          <a:xfrm>
            <a:off x="10191910" y="4249559"/>
            <a:ext cx="74613" cy="74613"/>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88" name="Line 122"/>
          <p:cNvSpPr>
            <a:spLocks noChangeAspect="1" noChangeShapeType="1"/>
          </p:cNvSpPr>
          <p:nvPr/>
        </p:nvSpPr>
        <p:spPr bwMode="auto">
          <a:xfrm flipV="1">
            <a:off x="10223660" y="4294009"/>
            <a:ext cx="938213" cy="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89" name="Line 123"/>
          <p:cNvSpPr>
            <a:spLocks noChangeAspect="1" noChangeShapeType="1"/>
          </p:cNvSpPr>
          <p:nvPr/>
        </p:nvSpPr>
        <p:spPr bwMode="auto">
          <a:xfrm flipH="1">
            <a:off x="11165048" y="4020959"/>
            <a:ext cx="0" cy="276225"/>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90" name="Text Box 126"/>
          <p:cNvSpPr txBox="1">
            <a:spLocks noChangeAspect="1" noChangeArrowheads="1"/>
          </p:cNvSpPr>
          <p:nvPr/>
        </p:nvSpPr>
        <p:spPr bwMode="auto">
          <a:xfrm>
            <a:off x="11517473" y="3982859"/>
            <a:ext cx="398462"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x</a:t>
            </a:r>
            <a:endPar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391" name="Text Box 128"/>
          <p:cNvSpPr txBox="1">
            <a:spLocks noChangeAspect="1" noChangeArrowheads="1"/>
          </p:cNvSpPr>
          <p:nvPr/>
        </p:nvSpPr>
        <p:spPr bwMode="auto">
          <a:xfrm>
            <a:off x="8602823" y="3768547"/>
            <a:ext cx="398462"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nvGrpSpPr>
          <p:cNvPr id="112" name="Group 53"/>
          <p:cNvGrpSpPr>
            <a:grpSpLocks/>
          </p:cNvGrpSpPr>
          <p:nvPr/>
        </p:nvGrpSpPr>
        <p:grpSpPr bwMode="auto">
          <a:xfrm>
            <a:off x="7928928" y="1310701"/>
            <a:ext cx="3706813" cy="1616075"/>
            <a:chOff x="3320" y="0"/>
            <a:chExt cx="2335" cy="1018"/>
          </a:xfrm>
        </p:grpSpPr>
        <p:sp>
          <p:nvSpPr>
            <p:cNvPr id="113" name="Rectangle 45"/>
            <p:cNvSpPr>
              <a:spLocks noChangeArrowheads="1"/>
            </p:cNvSpPr>
            <p:nvPr/>
          </p:nvSpPr>
          <p:spPr bwMode="auto">
            <a:xfrm>
              <a:off x="3665" y="358"/>
              <a:ext cx="926" cy="375"/>
            </a:xfrm>
            <a:prstGeom prst="rect">
              <a:avLst/>
            </a:prstGeom>
            <a:gradFill rotWithShape="1">
              <a:gsLst>
                <a:gs pos="0">
                  <a:srgbClr val="FFFFFF">
                    <a:gamma/>
                    <a:shade val="50980"/>
                    <a:invGamma/>
                  </a:srgbClr>
                </a:gs>
                <a:gs pos="50000">
                  <a:srgbClr val="FFFFFF"/>
                </a:gs>
                <a:gs pos="100000">
                  <a:srgbClr val="FFFFFF">
                    <a:gamma/>
                    <a:shade val="50980"/>
                    <a:invGamma/>
                  </a:srgbClr>
                </a:gs>
              </a:gsLst>
              <a:lin ang="5400000" scaled="1"/>
            </a:gradFill>
            <a:ln w="28575" algn="ctr">
              <a:solidFill>
                <a:srgbClr val="000000"/>
              </a:solidFill>
              <a:miter lim="800000"/>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114" name="Rectangle 46"/>
            <p:cNvSpPr>
              <a:spLocks noChangeArrowheads="1"/>
            </p:cNvSpPr>
            <p:nvPr/>
          </p:nvSpPr>
          <p:spPr bwMode="auto">
            <a:xfrm>
              <a:off x="4591" y="431"/>
              <a:ext cx="847" cy="227"/>
            </a:xfrm>
            <a:prstGeom prst="rect">
              <a:avLst/>
            </a:prstGeom>
            <a:gradFill rotWithShape="1">
              <a:gsLst>
                <a:gs pos="0">
                  <a:srgbClr val="FFFFFF">
                    <a:gamma/>
                    <a:shade val="50980"/>
                    <a:invGamma/>
                  </a:srgbClr>
                </a:gs>
                <a:gs pos="50000">
                  <a:srgbClr val="FFFFFF"/>
                </a:gs>
                <a:gs pos="100000">
                  <a:srgbClr val="FFFFFF">
                    <a:gamma/>
                    <a:shade val="50980"/>
                    <a:invGamma/>
                  </a:srgbClr>
                </a:gs>
              </a:gsLst>
              <a:lin ang="5400000" scaled="1"/>
            </a:gradFill>
            <a:ln w="28575" algn="ctr">
              <a:solidFill>
                <a:srgbClr val="000000"/>
              </a:solidFill>
              <a:miter lim="800000"/>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115" name="Arc 31"/>
            <p:cNvSpPr>
              <a:spLocks noChangeAspect="1"/>
            </p:cNvSpPr>
            <p:nvPr/>
          </p:nvSpPr>
          <p:spPr bwMode="auto">
            <a:xfrm rot="21317369" flipH="1">
              <a:off x="3602" y="192"/>
              <a:ext cx="302" cy="237"/>
            </a:xfrm>
            <a:custGeom>
              <a:avLst/>
              <a:gdLst>
                <a:gd name="T0" fmla="*/ 0 w 35811"/>
                <a:gd name="T1" fmla="*/ 0 h 21600"/>
                <a:gd name="T2" fmla="*/ 0 w 35811"/>
                <a:gd name="T3" fmla="*/ 0 h 21600"/>
                <a:gd name="T4" fmla="*/ 0 w 35811"/>
                <a:gd name="T5" fmla="*/ 0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28575">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6" name="Text Box 32"/>
            <p:cNvSpPr txBox="1">
              <a:spLocks noChangeAspect="1" noChangeArrowheads="1"/>
            </p:cNvSpPr>
            <p:nvPr/>
          </p:nvSpPr>
          <p:spPr bwMode="auto">
            <a:xfrm>
              <a:off x="3320" y="0"/>
              <a:ext cx="40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r>
                <a:rPr kumimoji="1" lang="en-US" altLang="zh-CN" sz="2400" b="0" i="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1</a:t>
              </a:r>
            </a:p>
          </p:txBody>
        </p:sp>
        <p:sp>
          <p:nvSpPr>
            <p:cNvPr id="117" name="Arc 33"/>
            <p:cNvSpPr>
              <a:spLocks noChangeAspect="1"/>
            </p:cNvSpPr>
            <p:nvPr/>
          </p:nvSpPr>
          <p:spPr bwMode="auto">
            <a:xfrm rot="34243" flipH="1">
              <a:off x="4459" y="260"/>
              <a:ext cx="253" cy="237"/>
            </a:xfrm>
            <a:custGeom>
              <a:avLst/>
              <a:gdLst>
                <a:gd name="T0" fmla="*/ 0 w 35811"/>
                <a:gd name="T1" fmla="*/ 0 h 21600"/>
                <a:gd name="T2" fmla="*/ 0 w 35811"/>
                <a:gd name="T3" fmla="*/ 0 h 21600"/>
                <a:gd name="T4" fmla="*/ 0 w 35811"/>
                <a:gd name="T5" fmla="*/ 0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28575">
              <a:solidFill>
                <a:srgbClr val="FF0000"/>
              </a:solidFill>
              <a:round/>
              <a:headEnd type="stealth" w="med" len="lg"/>
              <a:tailEnd type="none"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8" name="Text Box 34"/>
            <p:cNvSpPr txBox="1">
              <a:spLocks noChangeAspect="1" noChangeArrowheads="1"/>
            </p:cNvSpPr>
            <p:nvPr/>
          </p:nvSpPr>
          <p:spPr bwMode="auto">
            <a:xfrm>
              <a:off x="4252" y="1"/>
              <a:ext cx="36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r>
                <a:rPr kumimoji="1" lang="en-US" altLang="zh-CN" sz="2400" b="0" i="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2</a:t>
              </a:r>
            </a:p>
          </p:txBody>
        </p:sp>
        <p:sp>
          <p:nvSpPr>
            <p:cNvPr id="119" name="Arc 35"/>
            <p:cNvSpPr>
              <a:spLocks noChangeAspect="1"/>
            </p:cNvSpPr>
            <p:nvPr/>
          </p:nvSpPr>
          <p:spPr bwMode="auto">
            <a:xfrm rot="34243" flipH="1">
              <a:off x="5279" y="391"/>
              <a:ext cx="253" cy="237"/>
            </a:xfrm>
            <a:custGeom>
              <a:avLst/>
              <a:gdLst>
                <a:gd name="T0" fmla="*/ 0 w 35811"/>
                <a:gd name="T1" fmla="*/ 0 h 21600"/>
                <a:gd name="T2" fmla="*/ 0 w 35811"/>
                <a:gd name="T3" fmla="*/ 0 h 21600"/>
                <a:gd name="T4" fmla="*/ 0 w 35811"/>
                <a:gd name="T5" fmla="*/ 0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28575">
              <a:solidFill>
                <a:srgbClr val="FF0000"/>
              </a:solidFill>
              <a:round/>
              <a:headEnd type="stealth" w="med" len="lg"/>
              <a:tailEnd type="none"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0" name="Text Box 36"/>
            <p:cNvSpPr txBox="1">
              <a:spLocks noChangeAspect="1" noChangeArrowheads="1"/>
            </p:cNvSpPr>
            <p:nvPr/>
          </p:nvSpPr>
          <p:spPr bwMode="auto">
            <a:xfrm>
              <a:off x="5242" y="97"/>
              <a:ext cx="413"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r>
                <a:rPr kumimoji="1" lang="en-US" altLang="zh-CN" sz="2400" b="0" i="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3</a:t>
              </a:r>
            </a:p>
          </p:txBody>
        </p:sp>
        <p:sp>
          <p:nvSpPr>
            <p:cNvPr id="121" name="Text Box 37"/>
            <p:cNvSpPr txBox="1">
              <a:spLocks noChangeAspect="1" noChangeArrowheads="1"/>
            </p:cNvSpPr>
            <p:nvPr/>
          </p:nvSpPr>
          <p:spPr bwMode="auto">
            <a:xfrm>
              <a:off x="3527" y="697"/>
              <a:ext cx="37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122" name="Text Box 38"/>
            <p:cNvSpPr txBox="1">
              <a:spLocks noChangeAspect="1" noChangeArrowheads="1"/>
            </p:cNvSpPr>
            <p:nvPr/>
          </p:nvSpPr>
          <p:spPr bwMode="auto">
            <a:xfrm>
              <a:off x="4434" y="673"/>
              <a:ext cx="37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123" name="Text Box 39"/>
            <p:cNvSpPr txBox="1">
              <a:spLocks noChangeAspect="1" noChangeArrowheads="1"/>
            </p:cNvSpPr>
            <p:nvPr/>
          </p:nvSpPr>
          <p:spPr bwMode="auto">
            <a:xfrm>
              <a:off x="5331" y="605"/>
              <a:ext cx="287"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p>
          </p:txBody>
        </p:sp>
        <p:sp>
          <p:nvSpPr>
            <p:cNvPr id="124" name="Line 40"/>
            <p:cNvSpPr>
              <a:spLocks noChangeShapeType="1"/>
            </p:cNvSpPr>
            <p:nvPr/>
          </p:nvSpPr>
          <p:spPr bwMode="auto">
            <a:xfrm>
              <a:off x="3442" y="546"/>
              <a:ext cx="2121"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5" name="Line 47"/>
            <p:cNvSpPr>
              <a:spLocks noChangeShapeType="1"/>
            </p:cNvSpPr>
            <p:nvPr/>
          </p:nvSpPr>
          <p:spPr bwMode="auto">
            <a:xfrm>
              <a:off x="4198" y="349"/>
              <a:ext cx="0" cy="375"/>
            </a:xfrm>
            <a:prstGeom prst="line">
              <a:avLst/>
            </a:prstGeom>
            <a:noFill/>
            <a:ln w="952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6" name="Text Box 48"/>
            <p:cNvSpPr txBox="1">
              <a:spLocks noChangeAspect="1" noChangeArrowheads="1"/>
            </p:cNvSpPr>
            <p:nvPr/>
          </p:nvSpPr>
          <p:spPr bwMode="auto">
            <a:xfrm rot="16200000">
              <a:off x="3817" y="388"/>
              <a:ext cx="507"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80</a:t>
              </a:r>
            </a:p>
          </p:txBody>
        </p:sp>
        <p:sp>
          <p:nvSpPr>
            <p:cNvPr id="127" name="Line 49"/>
            <p:cNvSpPr>
              <a:spLocks noChangeShapeType="1"/>
            </p:cNvSpPr>
            <p:nvPr/>
          </p:nvSpPr>
          <p:spPr bwMode="auto">
            <a:xfrm>
              <a:off x="5102" y="142"/>
              <a:ext cx="0" cy="296"/>
            </a:xfrm>
            <a:prstGeom prst="line">
              <a:avLst/>
            </a:prstGeom>
            <a:noFill/>
            <a:ln w="9525">
              <a:solidFill>
                <a:srgbClr val="000000"/>
              </a:solidFill>
              <a:round/>
              <a:headEnd type="none"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8" name="Text Box 50"/>
            <p:cNvSpPr txBox="1">
              <a:spLocks noChangeAspect="1" noChangeArrowheads="1"/>
            </p:cNvSpPr>
            <p:nvPr/>
          </p:nvSpPr>
          <p:spPr bwMode="auto">
            <a:xfrm rot="16200000">
              <a:off x="4716" y="102"/>
              <a:ext cx="507"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50</a:t>
              </a:r>
            </a:p>
          </p:txBody>
        </p:sp>
        <p:sp>
          <p:nvSpPr>
            <p:cNvPr id="129" name="Line 51"/>
            <p:cNvSpPr>
              <a:spLocks noChangeShapeType="1"/>
            </p:cNvSpPr>
            <p:nvPr/>
          </p:nvSpPr>
          <p:spPr bwMode="auto">
            <a:xfrm flipV="1">
              <a:off x="5098" y="653"/>
              <a:ext cx="0" cy="191"/>
            </a:xfrm>
            <a:prstGeom prst="line">
              <a:avLst/>
            </a:prstGeom>
            <a:noFill/>
            <a:ln w="9525">
              <a:solidFill>
                <a:srgbClr val="000000"/>
              </a:solidFill>
              <a:round/>
              <a:headEnd type="none"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0" name="Line 52"/>
            <p:cNvSpPr>
              <a:spLocks noChangeShapeType="1"/>
            </p:cNvSpPr>
            <p:nvPr/>
          </p:nvSpPr>
          <p:spPr bwMode="auto">
            <a:xfrm flipV="1">
              <a:off x="5105" y="419"/>
              <a:ext cx="0" cy="2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31" name="矩形 130">
            <a:extLst>
              <a:ext uri="{FF2B5EF4-FFF2-40B4-BE49-F238E27FC236}">
                <a16:creationId xmlns:a16="http://schemas.microsoft.com/office/drawing/2014/main" xmlns="" id="{396E3A4E-3DCE-51D1-DE56-78AC0CFE008B}"/>
              </a:ext>
            </a:extLst>
          </p:cNvPr>
          <p:cNvSpPr/>
          <p:nvPr/>
        </p:nvSpPr>
        <p:spPr>
          <a:xfrm>
            <a:off x="273755" y="2806231"/>
            <a:ext cx="6770983" cy="520848"/>
          </a:xfrm>
          <a:prstGeom prst="rect">
            <a:avLst/>
          </a:prstGeom>
        </p:spPr>
        <p:txBody>
          <a:bodyPr wrap="square">
            <a:spAutoFit/>
          </a:bodyPr>
          <a:lstStyle/>
          <a:p>
            <a:pPr lvl="0">
              <a:lnSpc>
                <a:spcPct val="130000"/>
              </a:lnSpc>
            </a:pPr>
            <a:r>
              <a:rPr kumimoji="1" lang="en-US" altLang="zh-CN" dirty="0">
                <a:solidFill>
                  <a:schemeClr val="tx1"/>
                </a:solidFill>
                <a:ea typeface="黑体" panose="02010609060101010101" pitchFamily="49" charset="-122"/>
              </a:rPr>
              <a:t>AB</a:t>
            </a:r>
            <a:r>
              <a:rPr kumimoji="1" lang="zh-CN" altLang="en-US" i="0" dirty="0">
                <a:solidFill>
                  <a:schemeClr val="tx1"/>
                </a:solidFill>
                <a:ea typeface="黑体" panose="02010609060101010101" pitchFamily="49" charset="-122"/>
              </a:rPr>
              <a:t>段：</a:t>
            </a:r>
            <a:r>
              <a:rPr kumimoji="1" lang="zh-CN" altLang="en-US" b="0" i="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M</a:t>
            </a:r>
            <a:r>
              <a:rPr kumimoji="1" lang="en-US" altLang="zh-CN" b="0" i="0" baseline="-25000" dirty="0">
                <a:solidFill>
                  <a:schemeClr val="tx1"/>
                </a:solidFill>
                <a:ea typeface="黑体" panose="02010609060101010101" pitchFamily="49" charset="-122"/>
              </a:rPr>
              <a:t>n1</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5</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10</a:t>
            </a:r>
            <a:r>
              <a:rPr kumimoji="1" lang="en-US" altLang="zh-CN" b="0" i="0" baseline="30000" dirty="0">
                <a:solidFill>
                  <a:schemeClr val="tx1"/>
                </a:solidFill>
                <a:ea typeface="黑体" panose="02010609060101010101" pitchFamily="49" charset="-122"/>
              </a:rPr>
              <a:t>3</a:t>
            </a:r>
            <a:r>
              <a:rPr kumimoji="1" lang="en-US" altLang="zh-CN" b="0" i="0" dirty="0">
                <a:solidFill>
                  <a:schemeClr val="tx1"/>
                </a:solidFill>
                <a:ea typeface="黑体" panose="02010609060101010101" pitchFamily="49" charset="-122"/>
              </a:rPr>
              <a:t>N</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m</a:t>
            </a:r>
            <a:endParaRPr kumimoji="1" lang="en-US" altLang="zh-CN" b="0" i="0" dirty="0">
              <a:solidFill>
                <a:schemeClr val="tx1"/>
              </a:solidFill>
              <a:latin typeface="+mn-lt"/>
              <a:ea typeface="黑体" panose="02010609060101010101" pitchFamily="49" charset="-122"/>
            </a:endParaRPr>
          </a:p>
        </p:txBody>
      </p:sp>
      <p:graphicFrame>
        <p:nvGraphicFramePr>
          <p:cNvPr id="132" name="Object 72"/>
          <p:cNvGraphicFramePr>
            <a:graphicFrameLocks noChangeAspect="1"/>
          </p:cNvGraphicFramePr>
          <p:nvPr>
            <p:extLst>
              <p:ext uri="{D42A27DB-BD31-4B8C-83A1-F6EECF244321}">
                <p14:modId xmlns:p14="http://schemas.microsoft.com/office/powerpoint/2010/main" val="3799822407"/>
              </p:ext>
            </p:extLst>
          </p:nvPr>
        </p:nvGraphicFramePr>
        <p:xfrm>
          <a:off x="3848922" y="2671069"/>
          <a:ext cx="2220655" cy="816742"/>
        </p:xfrm>
        <a:graphic>
          <a:graphicData uri="http://schemas.openxmlformats.org/presentationml/2006/ole">
            <mc:AlternateContent xmlns:mc="http://schemas.openxmlformats.org/markup-compatibility/2006">
              <mc:Choice xmlns:v="urn:schemas-microsoft-com:vml" Requires="v">
                <p:oleObj spid="_x0000_s9226" name="Equation" r:id="rId6" imgW="1143000" imgH="419040" progId="Equation.DSMT4">
                  <p:embed/>
                </p:oleObj>
              </mc:Choice>
              <mc:Fallback>
                <p:oleObj name="Equation" r:id="rId6" imgW="1143000" imgH="419040" progId="Equation.DSMT4">
                  <p:embed/>
                  <p:pic>
                    <p:nvPicPr>
                      <p:cNvPr id="0" name=""/>
                      <p:cNvPicPr>
                        <a:picLocks noChangeAspect="1" noChangeArrowheads="1"/>
                      </p:cNvPicPr>
                      <p:nvPr/>
                    </p:nvPicPr>
                    <p:blipFill>
                      <a:blip r:embed="rId7"/>
                      <a:srcRect/>
                      <a:stretch>
                        <a:fillRect/>
                      </a:stretch>
                    </p:blipFill>
                    <p:spPr bwMode="auto">
                      <a:xfrm>
                        <a:off x="3848922" y="2671069"/>
                        <a:ext cx="2220655" cy="816742"/>
                      </a:xfrm>
                      <a:prstGeom prst="rect">
                        <a:avLst/>
                      </a:prstGeom>
                      <a:noFill/>
                    </p:spPr>
                  </p:pic>
                </p:oleObj>
              </mc:Fallback>
            </mc:AlternateContent>
          </a:graphicData>
        </a:graphic>
      </p:graphicFrame>
      <p:graphicFrame>
        <p:nvGraphicFramePr>
          <p:cNvPr id="133" name="Object 74"/>
          <p:cNvGraphicFramePr>
            <a:graphicFrameLocks noChangeAspect="1"/>
          </p:cNvGraphicFramePr>
          <p:nvPr>
            <p:extLst>
              <p:ext uri="{D42A27DB-BD31-4B8C-83A1-F6EECF244321}">
                <p14:modId xmlns:p14="http://schemas.microsoft.com/office/powerpoint/2010/main" val="932609183"/>
              </p:ext>
            </p:extLst>
          </p:nvPr>
        </p:nvGraphicFramePr>
        <p:xfrm>
          <a:off x="1416864" y="3396694"/>
          <a:ext cx="5534014" cy="882234"/>
        </p:xfrm>
        <a:graphic>
          <a:graphicData uri="http://schemas.openxmlformats.org/presentationml/2006/ole">
            <mc:AlternateContent xmlns:mc="http://schemas.openxmlformats.org/markup-compatibility/2006">
              <mc:Choice xmlns:v="urn:schemas-microsoft-com:vml" Requires="v">
                <p:oleObj spid="_x0000_s9227" name="Equation" r:id="rId8" imgW="2869920" imgH="457200" progId="Equation.DSMT4">
                  <p:embed/>
                </p:oleObj>
              </mc:Choice>
              <mc:Fallback>
                <p:oleObj name="Equation" r:id="rId8" imgW="2869920" imgH="457200" progId="Equation.DSMT4">
                  <p:embed/>
                  <p:pic>
                    <p:nvPicPr>
                      <p:cNvPr id="0" name=""/>
                      <p:cNvPicPr>
                        <a:picLocks noChangeAspect="1" noChangeArrowheads="1"/>
                      </p:cNvPicPr>
                      <p:nvPr/>
                    </p:nvPicPr>
                    <p:blipFill>
                      <a:blip r:embed="rId9"/>
                      <a:srcRect/>
                      <a:stretch>
                        <a:fillRect/>
                      </a:stretch>
                    </p:blipFill>
                    <p:spPr bwMode="auto">
                      <a:xfrm>
                        <a:off x="1416864" y="3396694"/>
                        <a:ext cx="5534014" cy="882234"/>
                      </a:xfrm>
                      <a:prstGeom prst="rect">
                        <a:avLst/>
                      </a:prstGeom>
                      <a:noFill/>
                    </p:spPr>
                  </p:pic>
                </p:oleObj>
              </mc:Fallback>
            </mc:AlternateContent>
          </a:graphicData>
        </a:graphic>
      </p:graphicFrame>
      <p:sp>
        <p:nvSpPr>
          <p:cNvPr id="134" name="矩形 133">
            <a:extLst>
              <a:ext uri="{FF2B5EF4-FFF2-40B4-BE49-F238E27FC236}">
                <a16:creationId xmlns:a16="http://schemas.microsoft.com/office/drawing/2014/main" xmlns="" id="{396E3A4E-3DCE-51D1-DE56-78AC0CFE008B}"/>
              </a:ext>
            </a:extLst>
          </p:cNvPr>
          <p:cNvSpPr/>
          <p:nvPr/>
        </p:nvSpPr>
        <p:spPr>
          <a:xfrm>
            <a:off x="273755" y="4341634"/>
            <a:ext cx="6770983" cy="520848"/>
          </a:xfrm>
          <a:prstGeom prst="rect">
            <a:avLst/>
          </a:prstGeom>
        </p:spPr>
        <p:txBody>
          <a:bodyPr wrap="square">
            <a:spAutoFit/>
          </a:bodyPr>
          <a:lstStyle/>
          <a:p>
            <a:pPr lvl="0">
              <a:lnSpc>
                <a:spcPct val="130000"/>
              </a:lnSpc>
            </a:pPr>
            <a:r>
              <a:rPr kumimoji="1" lang="en-US" altLang="zh-CN" dirty="0">
                <a:solidFill>
                  <a:schemeClr val="tx1"/>
                </a:solidFill>
                <a:ea typeface="黑体" panose="02010609060101010101" pitchFamily="49" charset="-122"/>
              </a:rPr>
              <a:t>BC</a:t>
            </a:r>
            <a:r>
              <a:rPr kumimoji="1" lang="zh-CN" altLang="en-US" i="0" dirty="0">
                <a:solidFill>
                  <a:schemeClr val="tx1"/>
                </a:solidFill>
                <a:ea typeface="黑体" panose="02010609060101010101" pitchFamily="49" charset="-122"/>
              </a:rPr>
              <a:t>段： </a:t>
            </a:r>
            <a:r>
              <a:rPr kumimoji="1" lang="en-US" altLang="zh-CN" b="0" dirty="0">
                <a:solidFill>
                  <a:schemeClr val="tx1"/>
                </a:solidFill>
                <a:ea typeface="黑体" panose="02010609060101010101" pitchFamily="49" charset="-122"/>
              </a:rPr>
              <a:t>M</a:t>
            </a:r>
            <a:r>
              <a:rPr kumimoji="1" lang="en-US" altLang="zh-CN" b="0" i="0" baseline="-25000" dirty="0">
                <a:solidFill>
                  <a:schemeClr val="tx1"/>
                </a:solidFill>
                <a:ea typeface="黑体" panose="02010609060101010101" pitchFamily="49" charset="-122"/>
              </a:rPr>
              <a:t>n2</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1.8</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10</a:t>
            </a:r>
            <a:r>
              <a:rPr kumimoji="1" lang="en-US" altLang="zh-CN" b="0" i="0" baseline="30000" dirty="0">
                <a:solidFill>
                  <a:schemeClr val="tx1"/>
                </a:solidFill>
                <a:ea typeface="黑体" panose="02010609060101010101" pitchFamily="49" charset="-122"/>
              </a:rPr>
              <a:t>3</a:t>
            </a:r>
            <a:r>
              <a:rPr kumimoji="1" lang="en-US" altLang="zh-CN" b="0" i="0" dirty="0">
                <a:solidFill>
                  <a:schemeClr val="tx1"/>
                </a:solidFill>
                <a:ea typeface="黑体" panose="02010609060101010101" pitchFamily="49" charset="-122"/>
              </a:rPr>
              <a:t>N</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m</a:t>
            </a:r>
          </a:p>
        </p:txBody>
      </p:sp>
      <p:graphicFrame>
        <p:nvGraphicFramePr>
          <p:cNvPr id="137" name="Object 47"/>
          <p:cNvGraphicFramePr>
            <a:graphicFrameLocks noChangeAspect="1"/>
          </p:cNvGraphicFramePr>
          <p:nvPr>
            <p:extLst>
              <p:ext uri="{D42A27DB-BD31-4B8C-83A1-F6EECF244321}">
                <p14:modId xmlns:p14="http://schemas.microsoft.com/office/powerpoint/2010/main" val="4046479420"/>
              </p:ext>
            </p:extLst>
          </p:nvPr>
        </p:nvGraphicFramePr>
        <p:xfrm>
          <a:off x="4071918" y="4233684"/>
          <a:ext cx="2265233" cy="823857"/>
        </p:xfrm>
        <a:graphic>
          <a:graphicData uri="http://schemas.openxmlformats.org/presentationml/2006/ole">
            <mc:AlternateContent xmlns:mc="http://schemas.openxmlformats.org/markup-compatibility/2006">
              <mc:Choice xmlns:v="urn:schemas-microsoft-com:vml" Requires="v">
                <p:oleObj spid="_x0000_s9228" name="Equation" r:id="rId10" imgW="1155600" imgH="419040" progId="Equation.DSMT4">
                  <p:embed/>
                </p:oleObj>
              </mc:Choice>
              <mc:Fallback>
                <p:oleObj name="Equation" r:id="rId10" imgW="1155600" imgH="419040" progId="Equation.DSMT4">
                  <p:embed/>
                  <p:pic>
                    <p:nvPicPr>
                      <p:cNvPr id="0" name=""/>
                      <p:cNvPicPr>
                        <a:picLocks noChangeAspect="1" noChangeArrowheads="1"/>
                      </p:cNvPicPr>
                      <p:nvPr/>
                    </p:nvPicPr>
                    <p:blipFill>
                      <a:blip r:embed="rId11"/>
                      <a:srcRect/>
                      <a:stretch>
                        <a:fillRect/>
                      </a:stretch>
                    </p:blipFill>
                    <p:spPr bwMode="auto">
                      <a:xfrm>
                        <a:off x="4071918" y="4233684"/>
                        <a:ext cx="2265233" cy="823857"/>
                      </a:xfrm>
                      <a:prstGeom prst="rect">
                        <a:avLst/>
                      </a:prstGeom>
                      <a:noFill/>
                    </p:spPr>
                  </p:pic>
                </p:oleObj>
              </mc:Fallback>
            </mc:AlternateContent>
          </a:graphicData>
        </a:graphic>
      </p:graphicFrame>
      <p:graphicFrame>
        <p:nvGraphicFramePr>
          <p:cNvPr id="138" name="Object 48"/>
          <p:cNvGraphicFramePr>
            <a:graphicFrameLocks noChangeAspect="1"/>
          </p:cNvGraphicFramePr>
          <p:nvPr>
            <p:extLst>
              <p:ext uri="{D42A27DB-BD31-4B8C-83A1-F6EECF244321}">
                <p14:modId xmlns:p14="http://schemas.microsoft.com/office/powerpoint/2010/main" val="3169612787"/>
              </p:ext>
            </p:extLst>
          </p:nvPr>
        </p:nvGraphicFramePr>
        <p:xfrm>
          <a:off x="1451467" y="5046350"/>
          <a:ext cx="5292606" cy="811667"/>
        </p:xfrm>
        <a:graphic>
          <a:graphicData uri="http://schemas.openxmlformats.org/presentationml/2006/ole">
            <mc:AlternateContent xmlns:mc="http://schemas.openxmlformats.org/markup-compatibility/2006">
              <mc:Choice xmlns:v="urn:schemas-microsoft-com:vml" Requires="v">
                <p:oleObj spid="_x0000_s9229" name="Equation" r:id="rId12" imgW="2984400" imgH="457200" progId="Equation.DSMT4">
                  <p:embed/>
                </p:oleObj>
              </mc:Choice>
              <mc:Fallback>
                <p:oleObj name="Equation" r:id="rId12" imgW="2984400" imgH="457200" progId="Equation.DSMT4">
                  <p:embed/>
                  <p:pic>
                    <p:nvPicPr>
                      <p:cNvPr id="0" name=""/>
                      <p:cNvPicPr>
                        <a:picLocks noChangeAspect="1" noChangeArrowheads="1"/>
                      </p:cNvPicPr>
                      <p:nvPr/>
                    </p:nvPicPr>
                    <p:blipFill>
                      <a:blip r:embed="rId13"/>
                      <a:srcRect/>
                      <a:stretch>
                        <a:fillRect/>
                      </a:stretch>
                    </p:blipFill>
                    <p:spPr bwMode="auto">
                      <a:xfrm>
                        <a:off x="1451467" y="5046350"/>
                        <a:ext cx="5292606" cy="811667"/>
                      </a:xfrm>
                      <a:prstGeom prst="rect">
                        <a:avLst/>
                      </a:prstGeom>
                      <a:noFill/>
                    </p:spPr>
                  </p:pic>
                </p:oleObj>
              </mc:Fallback>
            </mc:AlternateContent>
          </a:graphicData>
        </a:graphic>
      </p:graphicFrame>
      <p:sp>
        <p:nvSpPr>
          <p:cNvPr id="139" name="矩形 138">
            <a:extLst>
              <a:ext uri="{FF2B5EF4-FFF2-40B4-BE49-F238E27FC236}">
                <a16:creationId xmlns:a16="http://schemas.microsoft.com/office/drawing/2014/main" xmlns="" id="{396E3A4E-3DCE-51D1-DE56-78AC0CFE008B}"/>
              </a:ext>
            </a:extLst>
          </p:cNvPr>
          <p:cNvSpPr/>
          <p:nvPr/>
        </p:nvSpPr>
        <p:spPr>
          <a:xfrm>
            <a:off x="273755" y="5781461"/>
            <a:ext cx="11465968" cy="1052596"/>
          </a:xfrm>
          <a:prstGeom prst="rect">
            <a:avLst/>
          </a:prstGeom>
        </p:spPr>
        <p:txBody>
          <a:bodyPr wrap="square">
            <a:spAutoFit/>
          </a:bodyPr>
          <a:lstStyle/>
          <a:p>
            <a:pPr lvl="0">
              <a:lnSpc>
                <a:spcPct val="130000"/>
              </a:lnSpc>
            </a:pPr>
            <a:r>
              <a:rPr kumimoji="1" lang="zh-CN" altLang="en-US" i="0" dirty="0">
                <a:solidFill>
                  <a:schemeClr val="tx1"/>
                </a:solidFill>
                <a:ea typeface="黑体" panose="02010609060101010101" pitchFamily="49" charset="-122"/>
              </a:rPr>
              <a:t>最大切应力发生在扭矩较小的</a:t>
            </a:r>
            <a:r>
              <a:rPr kumimoji="1" lang="en-US" altLang="zh-CN" b="0" dirty="0">
                <a:solidFill>
                  <a:schemeClr val="tx1"/>
                </a:solidFill>
                <a:ea typeface="黑体" panose="02010609060101010101" pitchFamily="49" charset="-122"/>
              </a:rPr>
              <a:t>BC</a:t>
            </a:r>
            <a:r>
              <a:rPr kumimoji="1" lang="zh-CN" altLang="en-US" i="0" dirty="0">
                <a:solidFill>
                  <a:schemeClr val="tx1"/>
                </a:solidFill>
                <a:ea typeface="黑体" panose="02010609060101010101" pitchFamily="49" charset="-122"/>
              </a:rPr>
              <a:t>段。由于</a:t>
            </a:r>
            <a:r>
              <a:rPr kumimoji="1" lang="zh-CN" altLang="en-US" b="0" dirty="0">
                <a:solidFill>
                  <a:schemeClr val="tx1"/>
                </a:solidFill>
                <a:ea typeface="黑体" panose="02010609060101010101" pitchFamily="49" charset="-122"/>
                <a:sym typeface="Symbol" panose="05050102010706020507" pitchFamily="18" charset="2"/>
              </a:rPr>
              <a:t></a:t>
            </a:r>
            <a:r>
              <a:rPr kumimoji="1" lang="en-US" altLang="zh-CN" b="0" i="0" baseline="-25000" dirty="0">
                <a:solidFill>
                  <a:schemeClr val="tx1"/>
                </a:solidFill>
                <a:ea typeface="黑体" panose="02010609060101010101" pitchFamily="49" charset="-122"/>
              </a:rPr>
              <a:t>max</a:t>
            </a:r>
            <a:r>
              <a:rPr kumimoji="1" lang="en-US" altLang="zh-CN" b="0" i="0" dirty="0">
                <a:solidFill>
                  <a:schemeClr val="tx1"/>
                </a:solidFill>
                <a:ea typeface="黑体" panose="02010609060101010101" pitchFamily="49" charset="-122"/>
              </a:rPr>
              <a:t>=73.4MPa</a:t>
            </a:r>
            <a:r>
              <a:rPr kumimoji="1" lang="zh-CN" altLang="en-US" b="0" i="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sym typeface="Symbol" panose="05050102010706020507" pitchFamily="18" charset="2"/>
              </a:rPr>
              <a:t> </a:t>
            </a:r>
            <a:r>
              <a:rPr kumimoji="1" lang="en-US" altLang="zh-CN" b="0" i="0" dirty="0">
                <a:solidFill>
                  <a:schemeClr val="tx1"/>
                </a:solidFill>
                <a:ea typeface="黑体" panose="02010609060101010101" pitchFamily="49" charset="-122"/>
              </a:rPr>
              <a:t>]</a:t>
            </a:r>
            <a:r>
              <a:rPr kumimoji="1" lang="zh-CN" altLang="en-US" i="0" dirty="0">
                <a:solidFill>
                  <a:schemeClr val="tx1"/>
                </a:solidFill>
                <a:ea typeface="黑体" panose="02010609060101010101" pitchFamily="49" charset="-122"/>
              </a:rPr>
              <a:t>，所以轴</a:t>
            </a:r>
            <a:r>
              <a:rPr kumimoji="1" lang="en-US" altLang="zh-CN" b="0" dirty="0">
                <a:solidFill>
                  <a:schemeClr val="tx1"/>
                </a:solidFill>
                <a:ea typeface="黑体" panose="02010609060101010101" pitchFamily="49" charset="-122"/>
              </a:rPr>
              <a:t>AC</a:t>
            </a:r>
            <a:r>
              <a:rPr kumimoji="1" lang="zh-CN" altLang="en-US" i="0" dirty="0">
                <a:solidFill>
                  <a:schemeClr val="tx1"/>
                </a:solidFill>
                <a:ea typeface="黑体" panose="02010609060101010101" pitchFamily="49" charset="-122"/>
              </a:rPr>
              <a:t>的强度不够。</a:t>
            </a:r>
          </a:p>
          <a:p>
            <a:pPr lvl="0">
              <a:lnSpc>
                <a:spcPct val="130000"/>
              </a:lnSpc>
            </a:pPr>
            <a:endParaRPr kumimoji="1" lang="en-US" altLang="zh-CN" b="0" i="0" dirty="0">
              <a:solidFill>
                <a:schemeClr val="tx1"/>
              </a:solidFill>
              <a:ea typeface="黑体" panose="02010609060101010101" pitchFamily="49" charset="-122"/>
            </a:endParaRPr>
          </a:p>
        </p:txBody>
      </p:sp>
    </p:spTree>
    <p:extLst>
      <p:ext uri="{BB962C8B-B14F-4D97-AF65-F5344CB8AC3E}">
        <p14:creationId xmlns:p14="http://schemas.microsoft.com/office/powerpoint/2010/main" val="208185991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with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barn(outHorizontal)">
                                      <p:cBhvr>
                                        <p:cTn id="7" dur="3000"/>
                                        <p:tgtEl>
                                          <p:spTgt spid="11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36"/>
                                        </p:tgtEl>
                                        <p:attrNameLst>
                                          <p:attrName>style.visibility</p:attrName>
                                        </p:attrNameLst>
                                      </p:cBhvr>
                                      <p:to>
                                        <p:strVal val="visible"/>
                                      </p:to>
                                    </p:set>
                                  </p:childTnLst>
                                </p:cTn>
                              </p:par>
                              <p:par>
                                <p:cTn id="12" presetID="12" presetClass="entr" presetSubtype="8" fill="hold" grpId="0" nodeType="withEffect">
                                  <p:stCondLst>
                                    <p:cond delay="0"/>
                                  </p:stCondLst>
                                  <p:childTnLst>
                                    <p:set>
                                      <p:cBhvr>
                                        <p:cTn id="13" dur="1" fill="hold">
                                          <p:stCondLst>
                                            <p:cond delay="0"/>
                                          </p:stCondLst>
                                        </p:cTn>
                                        <p:tgtEl>
                                          <p:spTgt spid="379"/>
                                        </p:tgtEl>
                                        <p:attrNameLst>
                                          <p:attrName>style.visibility</p:attrName>
                                        </p:attrNameLst>
                                      </p:cBhvr>
                                      <p:to>
                                        <p:strVal val="visible"/>
                                      </p:to>
                                    </p:set>
                                    <p:animEffect transition="in" filter="slide(fromLeft)">
                                      <p:cBhvr>
                                        <p:cTn id="14" dur="3000"/>
                                        <p:tgtEl>
                                          <p:spTgt spid="379"/>
                                        </p:tgtEl>
                                      </p:cBhvr>
                                    </p:animEffect>
                                  </p:childTnLst>
                                </p:cTn>
                              </p:par>
                            </p:childTnLst>
                          </p:cTn>
                        </p:par>
                      </p:childTnLst>
                    </p:cTn>
                  </p:par>
                  <p:par>
                    <p:cTn id="15" fill="hold">
                      <p:stCondLst>
                        <p:cond delay="indefinite"/>
                      </p:stCondLst>
                      <p:childTnLst>
                        <p:par>
                          <p:cTn id="16" fill="hold">
                            <p:stCondLst>
                              <p:cond delay="0"/>
                            </p:stCondLst>
                            <p:childTnLst>
                              <p:par>
                                <p:cTn id="17" presetID="15" presetClass="entr" presetSubtype="0" fill="hold" grpId="0" nodeType="clickEffect">
                                  <p:stCondLst>
                                    <p:cond delay="0"/>
                                  </p:stCondLst>
                                  <p:childTnLst>
                                    <p:set>
                                      <p:cBhvr>
                                        <p:cTn id="18" dur="1" fill="hold">
                                          <p:stCondLst>
                                            <p:cond delay="0"/>
                                          </p:stCondLst>
                                        </p:cTn>
                                        <p:tgtEl>
                                          <p:spTgt spid="386"/>
                                        </p:tgtEl>
                                        <p:attrNameLst>
                                          <p:attrName>style.visibility</p:attrName>
                                        </p:attrNameLst>
                                      </p:cBhvr>
                                      <p:to>
                                        <p:strVal val="visible"/>
                                      </p:to>
                                    </p:set>
                                    <p:anim calcmode="lin" valueType="num">
                                      <p:cBhvr>
                                        <p:cTn id="19" dur="3000" fill="hold"/>
                                        <p:tgtEl>
                                          <p:spTgt spid="386"/>
                                        </p:tgtEl>
                                        <p:attrNameLst>
                                          <p:attrName>ppt_w</p:attrName>
                                        </p:attrNameLst>
                                      </p:cBhvr>
                                      <p:tavLst>
                                        <p:tav tm="0">
                                          <p:val>
                                            <p:fltVal val="0"/>
                                          </p:val>
                                        </p:tav>
                                        <p:tav tm="100000">
                                          <p:val>
                                            <p:strVal val="#ppt_w"/>
                                          </p:val>
                                        </p:tav>
                                      </p:tavLst>
                                    </p:anim>
                                    <p:anim calcmode="lin" valueType="num">
                                      <p:cBhvr>
                                        <p:cTn id="20" dur="3000" fill="hold"/>
                                        <p:tgtEl>
                                          <p:spTgt spid="386"/>
                                        </p:tgtEl>
                                        <p:attrNameLst>
                                          <p:attrName>ppt_h</p:attrName>
                                        </p:attrNameLst>
                                      </p:cBhvr>
                                      <p:tavLst>
                                        <p:tav tm="0">
                                          <p:val>
                                            <p:fltVal val="0"/>
                                          </p:val>
                                        </p:tav>
                                        <p:tav tm="100000">
                                          <p:val>
                                            <p:strVal val="#ppt_h"/>
                                          </p:val>
                                        </p:tav>
                                      </p:tavLst>
                                    </p:anim>
                                    <p:anim calcmode="lin" valueType="num">
                                      <p:cBhvr>
                                        <p:cTn id="21" dur="3000" fill="hold"/>
                                        <p:tgtEl>
                                          <p:spTgt spid="386"/>
                                        </p:tgtEl>
                                        <p:attrNameLst>
                                          <p:attrName>ppt_x</p:attrName>
                                        </p:attrNameLst>
                                      </p:cBhvr>
                                      <p:tavLst>
                                        <p:tav tm="0" fmla="#ppt_x+(cos(-2*pi*(1-$))*-#ppt_x-sin(-2*pi*(1-$))*(1-#ppt_y))*(1-$)">
                                          <p:val>
                                            <p:fltVal val="0"/>
                                          </p:val>
                                        </p:tav>
                                        <p:tav tm="100000">
                                          <p:val>
                                            <p:fltVal val="1"/>
                                          </p:val>
                                        </p:tav>
                                      </p:tavLst>
                                    </p:anim>
                                    <p:anim calcmode="lin" valueType="num">
                                      <p:cBhvr>
                                        <p:cTn id="22" dur="3000" fill="hold"/>
                                        <p:tgtEl>
                                          <p:spTgt spid="38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7"/>
                                            </p:cond>
                                          </p:stCondLst>
                                          <p:endCondLst>
                                            <p:cond evt="onStopAudio" delay="0">
                                              <p:tgtEl>
                                                <p:sldTgt/>
                                              </p:tgtEl>
                                            </p:cond>
                                          </p:endCondLst>
                                        </p:cTn>
                                        <p:tgtEl>
                                          <p:sndTgt r:embed="rId4" name="CHIMES.WAV"/>
                                        </p:tgtEl>
                                      </p:cMediaNode>
                                    </p:audio>
                                  </p:subTnLst>
                                </p:cTn>
                              </p:par>
                              <p:par>
                                <p:cTn id="23" presetID="12" presetClass="entr" presetSubtype="4" fill="hold" grpId="0" nodeType="withEffect">
                                  <p:stCondLst>
                                    <p:cond delay="0"/>
                                  </p:stCondLst>
                                  <p:childTnLst>
                                    <p:set>
                                      <p:cBhvr>
                                        <p:cTn id="24" dur="1" fill="hold">
                                          <p:stCondLst>
                                            <p:cond delay="0"/>
                                          </p:stCondLst>
                                        </p:cTn>
                                        <p:tgtEl>
                                          <p:spTgt spid="380"/>
                                        </p:tgtEl>
                                        <p:attrNameLst>
                                          <p:attrName>style.visibility</p:attrName>
                                        </p:attrNameLst>
                                      </p:cBhvr>
                                      <p:to>
                                        <p:strVal val="visible"/>
                                      </p:to>
                                    </p:set>
                                    <p:animEffect transition="in" filter="slide(fromBottom)">
                                      <p:cBhvr>
                                        <p:cTn id="25" dur="3000"/>
                                        <p:tgtEl>
                                          <p:spTgt spid="380"/>
                                        </p:tgtEl>
                                      </p:cBhvr>
                                    </p:animEffect>
                                  </p:childTnLst>
                                </p:cTn>
                              </p:par>
                              <p:par>
                                <p:cTn id="26" presetID="19" presetClass="entr" presetSubtype="10" fill="hold" grpId="0" nodeType="withEffect">
                                  <p:stCondLst>
                                    <p:cond delay="0"/>
                                  </p:stCondLst>
                                  <p:childTnLst>
                                    <p:set>
                                      <p:cBhvr>
                                        <p:cTn id="27" dur="1" fill="hold">
                                          <p:stCondLst>
                                            <p:cond delay="0"/>
                                          </p:stCondLst>
                                        </p:cTn>
                                        <p:tgtEl>
                                          <p:spTgt spid="390"/>
                                        </p:tgtEl>
                                        <p:attrNameLst>
                                          <p:attrName>style.visibility</p:attrName>
                                        </p:attrNameLst>
                                      </p:cBhvr>
                                      <p:to>
                                        <p:strVal val="visible"/>
                                      </p:to>
                                    </p:set>
                                    <p:anim calcmode="lin" valueType="num">
                                      <p:cBhvr>
                                        <p:cTn id="28" dur="5000" fill="hold"/>
                                        <p:tgtEl>
                                          <p:spTgt spid="390"/>
                                        </p:tgtEl>
                                        <p:attrNameLst>
                                          <p:attrName>ppt_w</p:attrName>
                                        </p:attrNameLst>
                                      </p:cBhvr>
                                      <p:tavLst>
                                        <p:tav tm="0" fmla="#ppt_w*sin(2.5*pi*$)">
                                          <p:val>
                                            <p:fltVal val="0"/>
                                          </p:val>
                                        </p:tav>
                                        <p:tav tm="100000">
                                          <p:val>
                                            <p:fltVal val="1"/>
                                          </p:val>
                                        </p:tav>
                                      </p:tavLst>
                                    </p:anim>
                                    <p:anim calcmode="lin" valueType="num">
                                      <p:cBhvr>
                                        <p:cTn id="29" dur="5000" fill="hold"/>
                                        <p:tgtEl>
                                          <p:spTgt spid="39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6"/>
                                            </p:cond>
                                          </p:stCondLst>
                                          <p:endCondLst>
                                            <p:cond evt="onStopAudio" delay="0">
                                              <p:tgtEl>
                                                <p:sldTgt/>
                                              </p:tgtEl>
                                            </p:cond>
                                          </p:endCondLst>
                                        </p:cTn>
                                        <p:tgtEl>
                                          <p:sndTgt r:embed="rId5" name="CAMERA.WAV"/>
                                        </p:tgtEl>
                                      </p:cMediaNode>
                                    </p:audio>
                                  </p:subTnLst>
                                </p:cTn>
                              </p:par>
                              <p:par>
                                <p:cTn id="30" presetID="19" presetClass="entr" presetSubtype="10" fill="hold" grpId="0" nodeType="withEffect">
                                  <p:stCondLst>
                                    <p:cond delay="0"/>
                                  </p:stCondLst>
                                  <p:childTnLst>
                                    <p:set>
                                      <p:cBhvr>
                                        <p:cTn id="31" dur="1" fill="hold">
                                          <p:stCondLst>
                                            <p:cond delay="0"/>
                                          </p:stCondLst>
                                        </p:cTn>
                                        <p:tgtEl>
                                          <p:spTgt spid="391"/>
                                        </p:tgtEl>
                                        <p:attrNameLst>
                                          <p:attrName>style.visibility</p:attrName>
                                        </p:attrNameLst>
                                      </p:cBhvr>
                                      <p:to>
                                        <p:strVal val="visible"/>
                                      </p:to>
                                    </p:set>
                                    <p:anim calcmode="lin" valueType="num">
                                      <p:cBhvr>
                                        <p:cTn id="32" dur="5000" fill="hold"/>
                                        <p:tgtEl>
                                          <p:spTgt spid="391"/>
                                        </p:tgtEl>
                                        <p:attrNameLst>
                                          <p:attrName>ppt_w</p:attrName>
                                        </p:attrNameLst>
                                      </p:cBhvr>
                                      <p:tavLst>
                                        <p:tav tm="0" fmla="#ppt_w*sin(2.5*pi*$)">
                                          <p:val>
                                            <p:fltVal val="0"/>
                                          </p:val>
                                        </p:tav>
                                        <p:tav tm="100000">
                                          <p:val>
                                            <p:fltVal val="1"/>
                                          </p:val>
                                        </p:tav>
                                      </p:tavLst>
                                    </p:anim>
                                    <p:anim calcmode="lin" valueType="num">
                                      <p:cBhvr>
                                        <p:cTn id="33" dur="5000" fill="hold"/>
                                        <p:tgtEl>
                                          <p:spTgt spid="39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0"/>
                                            </p:cond>
                                          </p:stCondLst>
                                          <p:endCondLst>
                                            <p:cond evt="onStopAudio" delay="0">
                                              <p:tgtEl>
                                                <p:sldTgt/>
                                              </p:tgtEl>
                                            </p:cond>
                                          </p:endCondLst>
                                        </p:cTn>
                                        <p:tgtEl>
                                          <p:sndTgt r:embed="rId5" name="CAMERA.WAV"/>
                                        </p:tgtEl>
                                      </p:cMediaNode>
                                    </p:audio>
                                  </p:subTnLst>
                                </p:cTn>
                              </p:par>
                              <p:par>
                                <p:cTn id="34" presetID="19" presetClass="entr" presetSubtype="10" fill="hold" grpId="0" nodeType="withEffect">
                                  <p:stCondLst>
                                    <p:cond delay="0"/>
                                  </p:stCondLst>
                                  <p:childTnLst>
                                    <p:set>
                                      <p:cBhvr>
                                        <p:cTn id="35" dur="1" fill="hold">
                                          <p:stCondLst>
                                            <p:cond delay="0"/>
                                          </p:stCondLst>
                                        </p:cTn>
                                        <p:tgtEl>
                                          <p:spTgt spid="383"/>
                                        </p:tgtEl>
                                        <p:attrNameLst>
                                          <p:attrName>style.visibility</p:attrName>
                                        </p:attrNameLst>
                                      </p:cBhvr>
                                      <p:to>
                                        <p:strVal val="visible"/>
                                      </p:to>
                                    </p:set>
                                    <p:anim calcmode="lin" valueType="num">
                                      <p:cBhvr>
                                        <p:cTn id="36" dur="5000" fill="hold"/>
                                        <p:tgtEl>
                                          <p:spTgt spid="383"/>
                                        </p:tgtEl>
                                        <p:attrNameLst>
                                          <p:attrName>ppt_w</p:attrName>
                                        </p:attrNameLst>
                                      </p:cBhvr>
                                      <p:tavLst>
                                        <p:tav tm="0" fmla="#ppt_w*sin(2.5*pi*$)">
                                          <p:val>
                                            <p:fltVal val="0"/>
                                          </p:val>
                                        </p:tav>
                                        <p:tav tm="100000">
                                          <p:val>
                                            <p:fltVal val="1"/>
                                          </p:val>
                                        </p:tav>
                                      </p:tavLst>
                                    </p:anim>
                                    <p:anim calcmode="lin" valueType="num">
                                      <p:cBhvr>
                                        <p:cTn id="37" dur="5000" fill="hold"/>
                                        <p:tgtEl>
                                          <p:spTgt spid="38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4"/>
                                            </p:cond>
                                          </p:stCondLst>
                                          <p:endCondLst>
                                            <p:cond evt="onStopAudio" delay="0">
                                              <p:tgtEl>
                                                <p:sldTgt/>
                                              </p:tgtEl>
                                            </p:cond>
                                          </p:endCondLst>
                                        </p:cTn>
                                        <p:tgtEl>
                                          <p:sndTgt r:embed="rId5" name="CAMERA.WAV"/>
                                        </p:tgtEl>
                                      </p:cMediaNode>
                                    </p:audio>
                                  </p:subTnLst>
                                </p:cTn>
                              </p:par>
                              <p:par>
                                <p:cTn id="38" presetID="19" presetClass="entr" presetSubtype="10" fill="hold" grpId="0" nodeType="withEffect">
                                  <p:stCondLst>
                                    <p:cond delay="0"/>
                                  </p:stCondLst>
                                  <p:childTnLst>
                                    <p:set>
                                      <p:cBhvr>
                                        <p:cTn id="39" dur="1" fill="hold">
                                          <p:stCondLst>
                                            <p:cond delay="0"/>
                                          </p:stCondLst>
                                        </p:cTn>
                                        <p:tgtEl>
                                          <p:spTgt spid="385"/>
                                        </p:tgtEl>
                                        <p:attrNameLst>
                                          <p:attrName>style.visibility</p:attrName>
                                        </p:attrNameLst>
                                      </p:cBhvr>
                                      <p:to>
                                        <p:strVal val="visible"/>
                                      </p:to>
                                    </p:set>
                                    <p:anim calcmode="lin" valueType="num">
                                      <p:cBhvr>
                                        <p:cTn id="40" dur="3000" fill="hold"/>
                                        <p:tgtEl>
                                          <p:spTgt spid="385"/>
                                        </p:tgtEl>
                                        <p:attrNameLst>
                                          <p:attrName>ppt_w</p:attrName>
                                        </p:attrNameLst>
                                      </p:cBhvr>
                                      <p:tavLst>
                                        <p:tav tm="0" fmla="#ppt_w*sin(2.5*pi*$)">
                                          <p:val>
                                            <p:fltVal val="0"/>
                                          </p:val>
                                        </p:tav>
                                        <p:tav tm="100000">
                                          <p:val>
                                            <p:fltVal val="1"/>
                                          </p:val>
                                        </p:tav>
                                      </p:tavLst>
                                    </p:anim>
                                    <p:anim calcmode="lin" valueType="num">
                                      <p:cBhvr>
                                        <p:cTn id="41" dur="3000" fill="hold"/>
                                        <p:tgtEl>
                                          <p:spTgt spid="38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8"/>
                                            </p:cond>
                                          </p:stCondLst>
                                          <p:endCondLst>
                                            <p:cond evt="onStopAudio" delay="0">
                                              <p:tgtEl>
                                                <p:sldTgt/>
                                              </p:tgtEl>
                                            </p:cond>
                                          </p:endCondLst>
                                        </p:cTn>
                                        <p:tgtEl>
                                          <p:sndTgt r:embed="rId4" name="CHIMES.WAV"/>
                                        </p:tgtEl>
                                      </p:cMediaNode>
                                    </p:audio>
                                  </p:subTnLst>
                                </p:cTn>
                              </p:par>
                            </p:childTnLst>
                          </p:cTn>
                        </p:par>
                        <p:par>
                          <p:cTn id="42" fill="hold">
                            <p:stCondLst>
                              <p:cond delay="5000"/>
                            </p:stCondLst>
                            <p:childTnLst>
                              <p:par>
                                <p:cTn id="43" presetID="22" presetClass="entr" presetSubtype="8" fill="hold" grpId="0" nodeType="afterEffect">
                                  <p:stCondLst>
                                    <p:cond delay="0"/>
                                  </p:stCondLst>
                                  <p:childTnLst>
                                    <p:set>
                                      <p:cBhvr>
                                        <p:cTn id="44" dur="1" fill="hold">
                                          <p:stCondLst>
                                            <p:cond delay="0"/>
                                          </p:stCondLst>
                                        </p:cTn>
                                        <p:tgtEl>
                                          <p:spTgt spid="381"/>
                                        </p:tgtEl>
                                        <p:attrNameLst>
                                          <p:attrName>style.visibility</p:attrName>
                                        </p:attrNameLst>
                                      </p:cBhvr>
                                      <p:to>
                                        <p:strVal val="visible"/>
                                      </p:to>
                                    </p:set>
                                    <p:animEffect transition="in" filter="wipe(left)">
                                      <p:cBhvr>
                                        <p:cTn id="45" dur="3000"/>
                                        <p:tgtEl>
                                          <p:spTgt spid="381"/>
                                        </p:tgtEl>
                                      </p:cBhvr>
                                    </p:animEffect>
                                  </p:childTnLst>
                                  <p:subTnLst>
                                    <p:audio>
                                      <p:cMediaNode>
                                        <p:cTn display="0" masterRel="sameClick">
                                          <p:stCondLst>
                                            <p:cond evt="begin" delay="0">
                                              <p:tn val="43"/>
                                            </p:cond>
                                          </p:stCondLst>
                                          <p:endCondLst>
                                            <p:cond evt="onStopAudio" delay="0">
                                              <p:tgtEl>
                                                <p:sldTgt/>
                                              </p:tgtEl>
                                            </p:cond>
                                          </p:endCondLst>
                                        </p:cTn>
                                        <p:tgtEl>
                                          <p:sndTgt r:embed="rId4" name="CHIMES.WAV"/>
                                        </p:tgtEl>
                                      </p:cMediaNode>
                                    </p:audio>
                                  </p:subTnLst>
                                </p:cTn>
                              </p:par>
                            </p:childTnLst>
                          </p:cTn>
                        </p:par>
                        <p:par>
                          <p:cTn id="46" fill="hold">
                            <p:stCondLst>
                              <p:cond delay="8000"/>
                            </p:stCondLst>
                            <p:childTnLst>
                              <p:par>
                                <p:cTn id="47" presetID="15" presetClass="entr" presetSubtype="0" fill="hold" grpId="0" nodeType="afterEffect">
                                  <p:stCondLst>
                                    <p:cond delay="0"/>
                                  </p:stCondLst>
                                  <p:childTnLst>
                                    <p:set>
                                      <p:cBhvr>
                                        <p:cTn id="48" dur="1" fill="hold">
                                          <p:stCondLst>
                                            <p:cond delay="0"/>
                                          </p:stCondLst>
                                        </p:cTn>
                                        <p:tgtEl>
                                          <p:spTgt spid="387"/>
                                        </p:tgtEl>
                                        <p:attrNameLst>
                                          <p:attrName>style.visibility</p:attrName>
                                        </p:attrNameLst>
                                      </p:cBhvr>
                                      <p:to>
                                        <p:strVal val="visible"/>
                                      </p:to>
                                    </p:set>
                                    <p:anim calcmode="lin" valueType="num">
                                      <p:cBhvr>
                                        <p:cTn id="49" dur="3000" fill="hold"/>
                                        <p:tgtEl>
                                          <p:spTgt spid="387"/>
                                        </p:tgtEl>
                                        <p:attrNameLst>
                                          <p:attrName>ppt_w</p:attrName>
                                        </p:attrNameLst>
                                      </p:cBhvr>
                                      <p:tavLst>
                                        <p:tav tm="0">
                                          <p:val>
                                            <p:fltVal val="0"/>
                                          </p:val>
                                        </p:tav>
                                        <p:tav tm="100000">
                                          <p:val>
                                            <p:strVal val="#ppt_w"/>
                                          </p:val>
                                        </p:tav>
                                      </p:tavLst>
                                    </p:anim>
                                    <p:anim calcmode="lin" valueType="num">
                                      <p:cBhvr>
                                        <p:cTn id="50" dur="3000" fill="hold"/>
                                        <p:tgtEl>
                                          <p:spTgt spid="387"/>
                                        </p:tgtEl>
                                        <p:attrNameLst>
                                          <p:attrName>ppt_h</p:attrName>
                                        </p:attrNameLst>
                                      </p:cBhvr>
                                      <p:tavLst>
                                        <p:tav tm="0">
                                          <p:val>
                                            <p:fltVal val="0"/>
                                          </p:val>
                                        </p:tav>
                                        <p:tav tm="100000">
                                          <p:val>
                                            <p:strVal val="#ppt_h"/>
                                          </p:val>
                                        </p:tav>
                                      </p:tavLst>
                                    </p:anim>
                                    <p:anim calcmode="lin" valueType="num">
                                      <p:cBhvr>
                                        <p:cTn id="51" dur="3000" fill="hold"/>
                                        <p:tgtEl>
                                          <p:spTgt spid="387"/>
                                        </p:tgtEl>
                                        <p:attrNameLst>
                                          <p:attrName>ppt_x</p:attrName>
                                        </p:attrNameLst>
                                      </p:cBhvr>
                                      <p:tavLst>
                                        <p:tav tm="0" fmla="#ppt_x+(cos(-2*pi*(1-$))*-#ppt_x-sin(-2*pi*(1-$))*(1-#ppt_y))*(1-$)">
                                          <p:val>
                                            <p:fltVal val="0"/>
                                          </p:val>
                                        </p:tav>
                                        <p:tav tm="100000">
                                          <p:val>
                                            <p:fltVal val="1"/>
                                          </p:val>
                                        </p:tav>
                                      </p:tavLst>
                                    </p:anim>
                                    <p:anim calcmode="lin" valueType="num">
                                      <p:cBhvr>
                                        <p:cTn id="52" dur="3000" fill="hold"/>
                                        <p:tgtEl>
                                          <p:spTgt spid="387"/>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47"/>
                                            </p:cond>
                                          </p:stCondLst>
                                          <p:endCondLst>
                                            <p:cond evt="onStopAudio" delay="0">
                                              <p:tgtEl>
                                                <p:sldTgt/>
                                              </p:tgtEl>
                                            </p:cond>
                                          </p:endCondLst>
                                        </p:cTn>
                                        <p:tgtEl>
                                          <p:sndTgt r:embed="rId4" name="CHIMES.WAV"/>
                                        </p:tgtEl>
                                      </p:cMediaNode>
                                    </p:audio>
                                  </p:subTnLst>
                                </p:cTn>
                              </p:par>
                              <p:par>
                                <p:cTn id="53" presetID="19" presetClass="entr" presetSubtype="10" fill="hold" grpId="0" nodeType="withEffect">
                                  <p:stCondLst>
                                    <p:cond delay="0"/>
                                  </p:stCondLst>
                                  <p:childTnLst>
                                    <p:set>
                                      <p:cBhvr>
                                        <p:cTn id="54" dur="1" fill="hold">
                                          <p:stCondLst>
                                            <p:cond delay="0"/>
                                          </p:stCondLst>
                                        </p:cTn>
                                        <p:tgtEl>
                                          <p:spTgt spid="384"/>
                                        </p:tgtEl>
                                        <p:attrNameLst>
                                          <p:attrName>style.visibility</p:attrName>
                                        </p:attrNameLst>
                                      </p:cBhvr>
                                      <p:to>
                                        <p:strVal val="visible"/>
                                      </p:to>
                                    </p:set>
                                    <p:anim calcmode="lin" valueType="num">
                                      <p:cBhvr>
                                        <p:cTn id="55" dur="3000" fill="hold"/>
                                        <p:tgtEl>
                                          <p:spTgt spid="384"/>
                                        </p:tgtEl>
                                        <p:attrNameLst>
                                          <p:attrName>ppt_w</p:attrName>
                                        </p:attrNameLst>
                                      </p:cBhvr>
                                      <p:tavLst>
                                        <p:tav tm="0" fmla="#ppt_w*sin(2.5*pi*$)">
                                          <p:val>
                                            <p:fltVal val="0"/>
                                          </p:val>
                                        </p:tav>
                                        <p:tav tm="100000">
                                          <p:val>
                                            <p:fltVal val="1"/>
                                          </p:val>
                                        </p:tav>
                                      </p:tavLst>
                                    </p:anim>
                                    <p:anim calcmode="lin" valueType="num">
                                      <p:cBhvr>
                                        <p:cTn id="56" dur="3000" fill="hold"/>
                                        <p:tgtEl>
                                          <p:spTgt spid="38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3"/>
                                            </p:cond>
                                          </p:stCondLst>
                                          <p:endCondLst>
                                            <p:cond evt="onStopAudio" delay="0">
                                              <p:tgtEl>
                                                <p:sldTgt/>
                                              </p:tgtEl>
                                            </p:cond>
                                          </p:endCondLst>
                                        </p:cTn>
                                        <p:tgtEl>
                                          <p:sndTgt r:embed="rId4" name="CHIMES.WAV"/>
                                        </p:tgtEl>
                                      </p:cMediaNode>
                                    </p:audio>
                                  </p:subTnLst>
                                </p:cTn>
                              </p:par>
                            </p:childTnLst>
                          </p:cTn>
                        </p:par>
                        <p:par>
                          <p:cTn id="57" fill="hold">
                            <p:stCondLst>
                              <p:cond delay="11000"/>
                            </p:stCondLst>
                            <p:childTnLst>
                              <p:par>
                                <p:cTn id="58" presetID="22" presetClass="entr" presetSubtype="4" fill="hold" grpId="0" nodeType="afterEffect">
                                  <p:stCondLst>
                                    <p:cond delay="1000"/>
                                  </p:stCondLst>
                                  <p:childTnLst>
                                    <p:set>
                                      <p:cBhvr>
                                        <p:cTn id="59" dur="1" fill="hold">
                                          <p:stCondLst>
                                            <p:cond delay="0"/>
                                          </p:stCondLst>
                                        </p:cTn>
                                        <p:tgtEl>
                                          <p:spTgt spid="382"/>
                                        </p:tgtEl>
                                        <p:attrNameLst>
                                          <p:attrName>style.visibility</p:attrName>
                                        </p:attrNameLst>
                                      </p:cBhvr>
                                      <p:to>
                                        <p:strVal val="visible"/>
                                      </p:to>
                                    </p:set>
                                    <p:animEffect transition="in" filter="wipe(down)">
                                      <p:cBhvr>
                                        <p:cTn id="60" dur="3000"/>
                                        <p:tgtEl>
                                          <p:spTgt spid="382"/>
                                        </p:tgtEl>
                                      </p:cBhvr>
                                    </p:animEffect>
                                  </p:childTnLst>
                                  <p:subTnLst>
                                    <p:audio>
                                      <p:cMediaNode>
                                        <p:cTn display="0" masterRel="sameClick">
                                          <p:stCondLst>
                                            <p:cond evt="begin" delay="0">
                                              <p:tn val="58"/>
                                            </p:cond>
                                          </p:stCondLst>
                                          <p:endCondLst>
                                            <p:cond evt="onStopAudio" delay="0">
                                              <p:tgtEl>
                                                <p:sldTgt/>
                                              </p:tgtEl>
                                            </p:cond>
                                          </p:endCondLst>
                                        </p:cTn>
                                        <p:tgtEl>
                                          <p:sndTgt r:embed="rId4" name="CHIMES.WAV"/>
                                        </p:tgtEl>
                                      </p:cMediaNode>
                                    </p:audio>
                                  </p:subTnLst>
                                </p:cTn>
                              </p:par>
                            </p:childTnLst>
                          </p:cTn>
                        </p:par>
                        <p:par>
                          <p:cTn id="61" fill="hold">
                            <p:stCondLst>
                              <p:cond delay="15000"/>
                            </p:stCondLst>
                            <p:childTnLst>
                              <p:par>
                                <p:cTn id="62" presetID="22" presetClass="entr" presetSubtype="8" fill="hold" grpId="0" nodeType="afterEffect">
                                  <p:stCondLst>
                                    <p:cond delay="1000"/>
                                  </p:stCondLst>
                                  <p:childTnLst>
                                    <p:set>
                                      <p:cBhvr>
                                        <p:cTn id="63" dur="1" fill="hold">
                                          <p:stCondLst>
                                            <p:cond delay="0"/>
                                          </p:stCondLst>
                                        </p:cTn>
                                        <p:tgtEl>
                                          <p:spTgt spid="388"/>
                                        </p:tgtEl>
                                        <p:attrNameLst>
                                          <p:attrName>style.visibility</p:attrName>
                                        </p:attrNameLst>
                                      </p:cBhvr>
                                      <p:to>
                                        <p:strVal val="visible"/>
                                      </p:to>
                                    </p:set>
                                    <p:animEffect transition="in" filter="wipe(left)">
                                      <p:cBhvr>
                                        <p:cTn id="64" dur="3000"/>
                                        <p:tgtEl>
                                          <p:spTgt spid="388"/>
                                        </p:tgtEl>
                                      </p:cBhvr>
                                    </p:animEffect>
                                  </p:childTnLst>
                                  <p:subTnLst>
                                    <p:audio>
                                      <p:cMediaNode>
                                        <p:cTn display="0" masterRel="sameClick">
                                          <p:stCondLst>
                                            <p:cond evt="begin" delay="0">
                                              <p:tn val="62"/>
                                            </p:cond>
                                          </p:stCondLst>
                                          <p:endCondLst>
                                            <p:cond evt="onStopAudio" delay="0">
                                              <p:tgtEl>
                                                <p:sldTgt/>
                                              </p:tgtEl>
                                            </p:cond>
                                          </p:endCondLst>
                                        </p:cTn>
                                        <p:tgtEl>
                                          <p:sndTgt r:embed="rId4" name="CHIMES.WAV"/>
                                        </p:tgtEl>
                                      </p:cMediaNode>
                                    </p:audio>
                                  </p:subTnLst>
                                </p:cTn>
                              </p:par>
                            </p:childTnLst>
                          </p:cTn>
                        </p:par>
                        <p:par>
                          <p:cTn id="65" fill="hold">
                            <p:stCondLst>
                              <p:cond delay="19000"/>
                            </p:stCondLst>
                            <p:childTnLst>
                              <p:par>
                                <p:cTn id="66" presetID="22" presetClass="entr" presetSubtype="4" fill="hold" grpId="0" nodeType="afterEffect">
                                  <p:stCondLst>
                                    <p:cond delay="1000"/>
                                  </p:stCondLst>
                                  <p:childTnLst>
                                    <p:set>
                                      <p:cBhvr>
                                        <p:cTn id="67" dur="1" fill="hold">
                                          <p:stCondLst>
                                            <p:cond delay="0"/>
                                          </p:stCondLst>
                                        </p:cTn>
                                        <p:tgtEl>
                                          <p:spTgt spid="389"/>
                                        </p:tgtEl>
                                        <p:attrNameLst>
                                          <p:attrName>style.visibility</p:attrName>
                                        </p:attrNameLst>
                                      </p:cBhvr>
                                      <p:to>
                                        <p:strVal val="visible"/>
                                      </p:to>
                                    </p:set>
                                    <p:animEffect transition="in" filter="wipe(down)">
                                      <p:cBhvr>
                                        <p:cTn id="68" dur="3000"/>
                                        <p:tgtEl>
                                          <p:spTgt spid="389"/>
                                        </p:tgtEl>
                                      </p:cBhvr>
                                    </p:animEffect>
                                  </p:childTnLst>
                                  <p:subTnLst>
                                    <p:audio>
                                      <p:cMediaNode>
                                        <p:cTn display="0" masterRel="sameClick">
                                          <p:stCondLst>
                                            <p:cond evt="begin" delay="0">
                                              <p:tn val="66"/>
                                            </p:cond>
                                          </p:stCondLst>
                                          <p:endCondLst>
                                            <p:cond evt="onStopAudio" delay="0">
                                              <p:tgtEl>
                                                <p:sldTgt/>
                                              </p:tgtEl>
                                            </p:cond>
                                          </p:endCondLst>
                                        </p:cTn>
                                        <p:tgtEl>
                                          <p:sndTgt r:embed="rId4" name="CHIMES.WAV"/>
                                        </p:tgtEl>
                                      </p:cMediaNode>
                                    </p:audio>
                                  </p:subTnLst>
                                </p:cTn>
                              </p:par>
                            </p:childTnLst>
                          </p:cTn>
                        </p:par>
                        <p:par>
                          <p:cTn id="69" fill="hold">
                            <p:stCondLst>
                              <p:cond delay="23000"/>
                            </p:stCondLst>
                            <p:childTnLst>
                              <p:par>
                                <p:cTn id="70" presetID="22" presetClass="entr" presetSubtype="8" fill="hold" grpId="0" nodeType="afterEffect">
                                  <p:stCondLst>
                                    <p:cond delay="0"/>
                                  </p:stCondLst>
                                  <p:childTnLst>
                                    <p:set>
                                      <p:cBhvr>
                                        <p:cTn id="71" dur="1" fill="hold">
                                          <p:stCondLst>
                                            <p:cond delay="0"/>
                                          </p:stCondLst>
                                        </p:cTn>
                                        <p:tgtEl>
                                          <p:spTgt spid="291"/>
                                        </p:tgtEl>
                                        <p:attrNameLst>
                                          <p:attrName>style.visibility</p:attrName>
                                        </p:attrNameLst>
                                      </p:cBhvr>
                                      <p:to>
                                        <p:strVal val="visible"/>
                                      </p:to>
                                    </p:set>
                                    <p:animEffect transition="in" filter="wipe(left)">
                                      <p:cBhvr>
                                        <p:cTn id="72" dur="3000"/>
                                        <p:tgtEl>
                                          <p:spTgt spid="291"/>
                                        </p:tgtEl>
                                      </p:cBhvr>
                                    </p:animEffect>
                                  </p:childTnLst>
                                </p:cTn>
                              </p:par>
                            </p:childTnLst>
                          </p:cTn>
                        </p:par>
                        <p:par>
                          <p:cTn id="73" fill="hold">
                            <p:stCondLst>
                              <p:cond delay="26000"/>
                            </p:stCondLst>
                            <p:childTnLst>
                              <p:par>
                                <p:cTn id="74" presetID="15" presetClass="entr" presetSubtype="0" fill="hold" nodeType="afterEffect">
                                  <p:stCondLst>
                                    <p:cond delay="0"/>
                                  </p:stCondLst>
                                  <p:childTnLst>
                                    <p:set>
                                      <p:cBhvr>
                                        <p:cTn id="75" dur="1" fill="hold">
                                          <p:stCondLst>
                                            <p:cond delay="0"/>
                                          </p:stCondLst>
                                        </p:cTn>
                                        <p:tgtEl>
                                          <p:spTgt spid="292"/>
                                        </p:tgtEl>
                                        <p:attrNameLst>
                                          <p:attrName>style.visibility</p:attrName>
                                        </p:attrNameLst>
                                      </p:cBhvr>
                                      <p:to>
                                        <p:strVal val="visible"/>
                                      </p:to>
                                    </p:set>
                                    <p:anim calcmode="lin" valueType="num">
                                      <p:cBhvr>
                                        <p:cTn id="76" dur="2000" fill="hold"/>
                                        <p:tgtEl>
                                          <p:spTgt spid="292"/>
                                        </p:tgtEl>
                                        <p:attrNameLst>
                                          <p:attrName>ppt_w</p:attrName>
                                        </p:attrNameLst>
                                      </p:cBhvr>
                                      <p:tavLst>
                                        <p:tav tm="0">
                                          <p:val>
                                            <p:fltVal val="0"/>
                                          </p:val>
                                        </p:tav>
                                        <p:tav tm="100000">
                                          <p:val>
                                            <p:strVal val="#ppt_w"/>
                                          </p:val>
                                        </p:tav>
                                      </p:tavLst>
                                    </p:anim>
                                    <p:anim calcmode="lin" valueType="num">
                                      <p:cBhvr>
                                        <p:cTn id="77" dur="2000" fill="hold"/>
                                        <p:tgtEl>
                                          <p:spTgt spid="292"/>
                                        </p:tgtEl>
                                        <p:attrNameLst>
                                          <p:attrName>ppt_h</p:attrName>
                                        </p:attrNameLst>
                                      </p:cBhvr>
                                      <p:tavLst>
                                        <p:tav tm="0">
                                          <p:val>
                                            <p:fltVal val="0"/>
                                          </p:val>
                                        </p:tav>
                                        <p:tav tm="100000">
                                          <p:val>
                                            <p:strVal val="#ppt_h"/>
                                          </p:val>
                                        </p:tav>
                                      </p:tavLst>
                                    </p:anim>
                                    <p:anim calcmode="lin" valueType="num">
                                      <p:cBhvr>
                                        <p:cTn id="78" dur="2000" fill="hold"/>
                                        <p:tgtEl>
                                          <p:spTgt spid="292"/>
                                        </p:tgtEl>
                                        <p:attrNameLst>
                                          <p:attrName>ppt_x</p:attrName>
                                        </p:attrNameLst>
                                      </p:cBhvr>
                                      <p:tavLst>
                                        <p:tav tm="0" fmla="#ppt_x+(cos(-2*pi*(1-$))*-#ppt_x-sin(-2*pi*(1-$))*(1-#ppt_y))*(1-$)">
                                          <p:val>
                                            <p:fltVal val="0"/>
                                          </p:val>
                                        </p:tav>
                                        <p:tav tm="100000">
                                          <p:val>
                                            <p:fltVal val="1"/>
                                          </p:val>
                                        </p:tav>
                                      </p:tavLst>
                                    </p:anim>
                                    <p:anim calcmode="lin" valueType="num">
                                      <p:cBhvr>
                                        <p:cTn id="79" dur="2000" fill="hold"/>
                                        <p:tgtEl>
                                          <p:spTgt spid="292"/>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74"/>
                                            </p:cond>
                                          </p:stCondLst>
                                          <p:endCondLst>
                                            <p:cond evt="onStopAudio" delay="0">
                                              <p:tgtEl>
                                                <p:sldTgt/>
                                              </p:tgtEl>
                                            </p:cond>
                                          </p:endCondLst>
                                        </p:cTn>
                                        <p:tgtEl>
                                          <p:sndTgt r:embed="rId4" name="CHIMES.WAV"/>
                                        </p:tgtEl>
                                      </p:cMediaNode>
                                    </p:audio>
                                  </p:sub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131"/>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132"/>
                                        </p:tgtEl>
                                        <p:attrNameLst>
                                          <p:attrName>style.visibility</p:attrName>
                                        </p:attrNameLst>
                                      </p:cBhvr>
                                      <p:to>
                                        <p:strVal val="visible"/>
                                      </p:to>
                                    </p:set>
                                    <p:animEffect transition="in" filter="wipe(left)">
                                      <p:cBhvr>
                                        <p:cTn id="88" dur="3000"/>
                                        <p:tgtEl>
                                          <p:spTgt spid="132"/>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133"/>
                                        </p:tgtEl>
                                        <p:attrNameLst>
                                          <p:attrName>style.visibility</p:attrName>
                                        </p:attrNameLst>
                                      </p:cBhvr>
                                      <p:to>
                                        <p:strVal val="visible"/>
                                      </p:to>
                                    </p:set>
                                    <p:animEffect transition="in" filter="wipe(left)">
                                      <p:cBhvr>
                                        <p:cTn id="93" dur="5000"/>
                                        <p:tgtEl>
                                          <p:spTgt spid="133"/>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134"/>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137"/>
                                        </p:tgtEl>
                                        <p:attrNameLst>
                                          <p:attrName>style.visibility</p:attrName>
                                        </p:attrNameLst>
                                      </p:cBhvr>
                                      <p:to>
                                        <p:strVal val="visible"/>
                                      </p:to>
                                    </p:set>
                                    <p:animEffect transition="in" filter="wipe(left)">
                                      <p:cBhvr>
                                        <p:cTn id="102" dur="3000"/>
                                        <p:tgtEl>
                                          <p:spTgt spid="137"/>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138"/>
                                        </p:tgtEl>
                                        <p:attrNameLst>
                                          <p:attrName>style.visibility</p:attrName>
                                        </p:attrNameLst>
                                      </p:cBhvr>
                                      <p:to>
                                        <p:strVal val="visible"/>
                                      </p:to>
                                    </p:set>
                                    <p:animEffect transition="in" filter="wipe(left)">
                                      <p:cBhvr>
                                        <p:cTn id="107" dur="3000"/>
                                        <p:tgtEl>
                                          <p:spTgt spid="138"/>
                                        </p:tgtEl>
                                      </p:cBhvr>
                                    </p:animEffec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1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p:bldP spid="291" grpId="0" animBg="1"/>
      <p:bldP spid="379" grpId="0" animBg="1"/>
      <p:bldP spid="380" grpId="0" animBg="1"/>
      <p:bldP spid="381" grpId="0" animBg="1"/>
      <p:bldP spid="382" grpId="0" animBg="1"/>
      <p:bldP spid="383" grpId="0" autoUpdateAnimBg="0"/>
      <p:bldP spid="384" grpId="0" autoUpdateAnimBg="0"/>
      <p:bldP spid="385" grpId="0" autoUpdateAnimBg="0"/>
      <p:bldP spid="386" grpId="0" animBg="1"/>
      <p:bldP spid="387" grpId="0" animBg="1"/>
      <p:bldP spid="388" grpId="0" animBg="1"/>
      <p:bldP spid="389" grpId="0" animBg="1"/>
      <p:bldP spid="390" grpId="0" autoUpdateAnimBg="0"/>
      <p:bldP spid="391" grpId="0" autoUpdateAnimBg="0"/>
      <p:bldP spid="131" grpId="0"/>
      <p:bldP spid="134" grpId="0"/>
      <p:bldP spid="13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19" name="矩形 18">
            <a:extLst>
              <a:ext uri="{FF2B5EF4-FFF2-40B4-BE49-F238E27FC236}">
                <a16:creationId xmlns:a16="http://schemas.microsoft.com/office/drawing/2014/main" xmlns="" id="{396E3A4E-3DCE-51D1-DE56-78AC0CFE008B}"/>
              </a:ext>
            </a:extLst>
          </p:cNvPr>
          <p:cNvSpPr/>
          <p:nvPr/>
        </p:nvSpPr>
        <p:spPr>
          <a:xfrm>
            <a:off x="191344" y="820392"/>
            <a:ext cx="11305256" cy="3600986"/>
          </a:xfrm>
          <a:prstGeom prst="rect">
            <a:avLst/>
          </a:prstGeom>
        </p:spPr>
        <p:txBody>
          <a:bodyPr wrap="square">
            <a:spAutoFit/>
          </a:bodyPr>
          <a:lstStyle/>
          <a:p>
            <a:pPr lvl="0">
              <a:lnSpc>
                <a:spcPct val="120000"/>
              </a:lnSpc>
            </a:pPr>
            <a:r>
              <a:rPr lang="zh-CN" altLang="en-US" i="0" dirty="0">
                <a:solidFill>
                  <a:srgbClr val="0033CC"/>
                </a:solidFill>
                <a:ea typeface="黑体" panose="02010609060101010101" pitchFamily="49" charset="-122"/>
              </a:rPr>
              <a:t>例</a:t>
            </a:r>
            <a:r>
              <a:rPr lang="zh-CN" altLang="en-US" i="0" dirty="0">
                <a:solidFill>
                  <a:schemeClr val="tx1"/>
                </a:solidFill>
                <a:ea typeface="黑体" panose="02010609060101010101" pitchFamily="49" charset="-122"/>
              </a:rPr>
              <a:t>  </a:t>
            </a:r>
            <a:r>
              <a:rPr kumimoji="1" lang="zh-CN" altLang="en-US" i="0" dirty="0">
                <a:solidFill>
                  <a:schemeClr val="tx1"/>
                </a:solidFill>
                <a:ea typeface="黑体" panose="02010609060101010101" pitchFamily="49" charset="-122"/>
              </a:rPr>
              <a:t>由无缝钢管制成的汽车传动轴</a:t>
            </a:r>
            <a:r>
              <a:rPr kumimoji="1" lang="en-US" altLang="zh-CN" b="0" dirty="0">
                <a:solidFill>
                  <a:schemeClr val="tx1"/>
                </a:solidFill>
                <a:ea typeface="黑体" panose="02010609060101010101" pitchFamily="49" charset="-122"/>
              </a:rPr>
              <a:t>AB</a:t>
            </a:r>
            <a:r>
              <a:rPr kumimoji="1" lang="zh-CN" altLang="en-US" i="0" dirty="0">
                <a:solidFill>
                  <a:schemeClr val="tx1"/>
                </a:solidFill>
                <a:ea typeface="黑体" panose="02010609060101010101" pitchFamily="49" charset="-122"/>
              </a:rPr>
              <a:t>，外径</a:t>
            </a:r>
            <a:r>
              <a:rPr kumimoji="1" lang="en-US" altLang="zh-CN" b="0" dirty="0">
                <a:solidFill>
                  <a:schemeClr val="tx1"/>
                </a:solidFill>
                <a:ea typeface="黑体" panose="02010609060101010101" pitchFamily="49" charset="-122"/>
              </a:rPr>
              <a:t>D</a:t>
            </a:r>
            <a:r>
              <a:rPr kumimoji="1" lang="zh-CN" altLang="en-US" b="0" i="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90mm</a:t>
            </a:r>
            <a:r>
              <a:rPr kumimoji="1" lang="zh-CN" altLang="en-US" i="0" dirty="0">
                <a:solidFill>
                  <a:schemeClr val="tx1"/>
                </a:solidFill>
                <a:ea typeface="黑体" panose="02010609060101010101" pitchFamily="49" charset="-122"/>
              </a:rPr>
              <a:t>，壁厚</a:t>
            </a:r>
            <a:r>
              <a:rPr kumimoji="1" lang="en-US" altLang="zh-CN" b="0" dirty="0">
                <a:solidFill>
                  <a:schemeClr val="tx1"/>
                </a:solidFill>
                <a:ea typeface="黑体" panose="02010609060101010101" pitchFamily="49" charset="-122"/>
              </a:rPr>
              <a:t>t</a:t>
            </a:r>
            <a:r>
              <a:rPr kumimoji="1" lang="en-US" altLang="zh-CN" b="0" i="0" dirty="0">
                <a:solidFill>
                  <a:schemeClr val="tx1"/>
                </a:solidFill>
                <a:ea typeface="黑体" panose="02010609060101010101" pitchFamily="49" charset="-122"/>
              </a:rPr>
              <a:t>=2.5mm</a:t>
            </a:r>
            <a:r>
              <a:rPr kumimoji="1" lang="zh-CN" altLang="en-US" i="0" dirty="0">
                <a:solidFill>
                  <a:schemeClr val="tx1"/>
                </a:solidFill>
                <a:ea typeface="黑体" panose="02010609060101010101" pitchFamily="49" charset="-122"/>
              </a:rPr>
              <a:t>，材料为</a:t>
            </a:r>
            <a:r>
              <a:rPr kumimoji="1" lang="en-US" altLang="zh-CN" i="0" dirty="0">
                <a:solidFill>
                  <a:schemeClr val="tx1"/>
                </a:solidFill>
                <a:ea typeface="黑体" panose="02010609060101010101" pitchFamily="49" charset="-122"/>
              </a:rPr>
              <a:t>45</a:t>
            </a:r>
            <a:r>
              <a:rPr kumimoji="1" lang="zh-CN" altLang="en-US" i="0" dirty="0">
                <a:solidFill>
                  <a:schemeClr val="tx1"/>
                </a:solidFill>
                <a:ea typeface="黑体" panose="02010609060101010101" pitchFamily="49" charset="-122"/>
              </a:rPr>
              <a:t>钢，许用切应力</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sym typeface="Symbol" panose="05050102010706020507" pitchFamily="18" charset="2"/>
              </a:rPr>
              <a:t> </a:t>
            </a:r>
            <a:r>
              <a:rPr kumimoji="1" lang="en-US" altLang="zh-CN" b="0" i="0" dirty="0">
                <a:solidFill>
                  <a:schemeClr val="tx1"/>
                </a:solidFill>
                <a:ea typeface="黑体" panose="02010609060101010101" pitchFamily="49" charset="-122"/>
              </a:rPr>
              <a:t>] =60MPa</a:t>
            </a:r>
            <a:r>
              <a:rPr kumimoji="1" lang="zh-CN" altLang="en-US" i="0" dirty="0">
                <a:solidFill>
                  <a:schemeClr val="tx1"/>
                </a:solidFill>
                <a:ea typeface="黑体" panose="02010609060101010101" pitchFamily="49" charset="-122"/>
              </a:rPr>
              <a:t>，工作时最大外扭矩</a:t>
            </a:r>
            <a:r>
              <a:rPr kumimoji="1" lang="en-US" altLang="zh-CN" b="0" dirty="0">
                <a:solidFill>
                  <a:schemeClr val="tx1"/>
                </a:solidFill>
                <a:ea typeface="黑体" panose="02010609060101010101" pitchFamily="49" charset="-122"/>
              </a:rPr>
              <a:t>M</a:t>
            </a:r>
            <a:r>
              <a:rPr kumimoji="1" lang="zh-CN" altLang="en-US" b="0" i="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1.5kN·m</a:t>
            </a:r>
            <a:r>
              <a:rPr kumimoji="1" lang="zh-CN" altLang="en-US" i="0" dirty="0">
                <a:solidFill>
                  <a:schemeClr val="tx1"/>
                </a:solidFill>
                <a:ea typeface="黑体" panose="02010609060101010101" pitchFamily="49" charset="-122"/>
              </a:rPr>
              <a:t>。</a:t>
            </a:r>
            <a:r>
              <a:rPr kumimoji="1" lang="zh-CN" altLang="en-US" b="0" i="0" dirty="0">
                <a:solidFill>
                  <a:schemeClr val="tx1"/>
                </a:solidFill>
                <a:ea typeface="黑体" panose="02010609060101010101" pitchFamily="49" charset="-122"/>
              </a:rPr>
              <a:t> </a:t>
            </a:r>
            <a:endParaRPr kumimoji="1" lang="en-US" altLang="zh-CN" b="0" i="0" dirty="0">
              <a:solidFill>
                <a:schemeClr val="tx1"/>
              </a:solidFill>
              <a:ea typeface="黑体" panose="02010609060101010101" pitchFamily="49" charset="-122"/>
            </a:endParaRPr>
          </a:p>
          <a:p>
            <a:pPr lvl="0">
              <a:lnSpc>
                <a:spcPct val="120000"/>
              </a:lnSpc>
            </a:pPr>
            <a:r>
              <a:rPr kumimoji="1" lang="en-US" altLang="zh-CN" i="0" dirty="0">
                <a:solidFill>
                  <a:schemeClr val="tx1"/>
                </a:solidFill>
                <a:ea typeface="黑体" panose="02010609060101010101" pitchFamily="49" charset="-122"/>
              </a:rPr>
              <a:t>      1) </a:t>
            </a:r>
            <a:r>
              <a:rPr kumimoji="1" lang="zh-CN" altLang="en-US" i="0" dirty="0">
                <a:solidFill>
                  <a:schemeClr val="tx1"/>
                </a:solidFill>
                <a:ea typeface="黑体" panose="02010609060101010101" pitchFamily="49" charset="-122"/>
              </a:rPr>
              <a:t>试校核</a:t>
            </a:r>
            <a:r>
              <a:rPr kumimoji="1" lang="en-US" altLang="zh-CN" dirty="0">
                <a:solidFill>
                  <a:schemeClr val="tx1"/>
                </a:solidFill>
                <a:ea typeface="黑体" panose="02010609060101010101" pitchFamily="49" charset="-122"/>
              </a:rPr>
              <a:t>AB</a:t>
            </a:r>
            <a:r>
              <a:rPr kumimoji="1" lang="zh-CN" altLang="en-US" i="0" dirty="0">
                <a:solidFill>
                  <a:schemeClr val="tx1"/>
                </a:solidFill>
                <a:ea typeface="黑体" panose="02010609060101010101" pitchFamily="49" charset="-122"/>
              </a:rPr>
              <a:t>轴的强度</a:t>
            </a:r>
            <a:r>
              <a:rPr kumimoji="1" lang="en-US" altLang="zh-CN" i="0" dirty="0">
                <a:solidFill>
                  <a:schemeClr val="tx1"/>
                </a:solidFill>
                <a:ea typeface="黑体" panose="02010609060101010101" pitchFamily="49" charset="-122"/>
              </a:rPr>
              <a:t>;</a:t>
            </a:r>
            <a:endParaRPr kumimoji="1" lang="zh-CN" altLang="en-US" i="0" dirty="0">
              <a:solidFill>
                <a:schemeClr val="tx1"/>
              </a:solidFill>
              <a:ea typeface="黑体" panose="02010609060101010101" pitchFamily="49" charset="-122"/>
            </a:endParaRPr>
          </a:p>
          <a:p>
            <a:pPr lvl="0">
              <a:lnSpc>
                <a:spcPct val="120000"/>
              </a:lnSpc>
            </a:pPr>
            <a:r>
              <a:rPr kumimoji="1" lang="en-US" altLang="zh-CN" i="0" dirty="0">
                <a:solidFill>
                  <a:schemeClr val="tx1"/>
                </a:solidFill>
                <a:ea typeface="黑体" panose="02010609060101010101" pitchFamily="49" charset="-122"/>
              </a:rPr>
              <a:t>      2) </a:t>
            </a:r>
            <a:r>
              <a:rPr kumimoji="1" lang="zh-CN" altLang="en-US" i="0" dirty="0">
                <a:solidFill>
                  <a:schemeClr val="tx1"/>
                </a:solidFill>
                <a:ea typeface="黑体" panose="02010609060101010101" pitchFamily="49" charset="-122"/>
              </a:rPr>
              <a:t>如将</a:t>
            </a:r>
            <a:r>
              <a:rPr kumimoji="1" lang="en-US" altLang="zh-CN" dirty="0">
                <a:solidFill>
                  <a:schemeClr val="tx1"/>
                </a:solidFill>
                <a:ea typeface="黑体" panose="02010609060101010101" pitchFamily="49" charset="-122"/>
              </a:rPr>
              <a:t>AB</a:t>
            </a:r>
            <a:r>
              <a:rPr kumimoji="1" lang="zh-CN" altLang="en-US" i="0" dirty="0">
                <a:solidFill>
                  <a:schemeClr val="tx1"/>
                </a:solidFill>
                <a:ea typeface="黑体" panose="02010609060101010101" pitchFamily="49" charset="-122"/>
              </a:rPr>
              <a:t>轴改为实心轴，试在相同条件下确定轴的直径</a:t>
            </a:r>
            <a:r>
              <a:rPr kumimoji="1" lang="en-US" altLang="zh-CN" i="0" dirty="0">
                <a:solidFill>
                  <a:schemeClr val="tx1"/>
                </a:solidFill>
                <a:ea typeface="黑体" panose="02010609060101010101" pitchFamily="49" charset="-122"/>
              </a:rPr>
              <a:t>;</a:t>
            </a:r>
            <a:r>
              <a:rPr kumimoji="1" lang="zh-CN" altLang="en-US" i="0" dirty="0">
                <a:solidFill>
                  <a:schemeClr val="tx1"/>
                </a:solidFill>
                <a:ea typeface="黑体" panose="02010609060101010101" pitchFamily="49" charset="-122"/>
              </a:rPr>
              <a:t> </a:t>
            </a:r>
          </a:p>
          <a:p>
            <a:pPr lvl="0">
              <a:lnSpc>
                <a:spcPct val="120000"/>
              </a:lnSpc>
            </a:pPr>
            <a:r>
              <a:rPr kumimoji="1" lang="en-US" altLang="zh-CN" i="0" dirty="0">
                <a:solidFill>
                  <a:schemeClr val="tx1"/>
                </a:solidFill>
                <a:ea typeface="黑体" panose="02010609060101010101" pitchFamily="49" charset="-122"/>
              </a:rPr>
              <a:t>      3) </a:t>
            </a:r>
            <a:r>
              <a:rPr kumimoji="1" lang="zh-CN" altLang="en-US" i="0" dirty="0">
                <a:solidFill>
                  <a:schemeClr val="tx1"/>
                </a:solidFill>
                <a:ea typeface="黑体" panose="02010609060101010101" pitchFamily="49" charset="-122"/>
              </a:rPr>
              <a:t>比较实心轴和空心轴的质量。  </a:t>
            </a:r>
            <a:endParaRPr kumimoji="1" lang="en-US" altLang="zh-CN" i="0" dirty="0">
              <a:solidFill>
                <a:schemeClr val="tx1"/>
              </a:solidFill>
              <a:ea typeface="黑体" panose="02010609060101010101" pitchFamily="49" charset="-122"/>
            </a:endParaRPr>
          </a:p>
          <a:p>
            <a:pPr lvl="0">
              <a:lnSpc>
                <a:spcPct val="120000"/>
              </a:lnSpc>
            </a:pPr>
            <a:endParaRPr kumimoji="1" lang="zh-CN" altLang="en-US" i="0" dirty="0">
              <a:solidFill>
                <a:schemeClr val="tx1"/>
              </a:solidFill>
              <a:ea typeface="黑体" panose="02010609060101010101" pitchFamily="49" charset="-122"/>
            </a:endParaRPr>
          </a:p>
          <a:p>
            <a:pPr lvl="0">
              <a:lnSpc>
                <a:spcPct val="120000"/>
              </a:lnSpc>
            </a:pPr>
            <a:r>
              <a:rPr kumimoji="1" lang="zh-CN" altLang="en-US" i="0" dirty="0">
                <a:solidFill>
                  <a:schemeClr val="tx1"/>
                </a:solidFill>
                <a:ea typeface="黑体" panose="02010609060101010101" pitchFamily="49" charset="-122"/>
              </a:rPr>
              <a:t> </a:t>
            </a:r>
          </a:p>
          <a:p>
            <a:pPr>
              <a:lnSpc>
                <a:spcPct val="110000"/>
              </a:lnSpc>
            </a:pPr>
            <a:endParaRPr lang="zh-CN" altLang="en-US" i="0" dirty="0">
              <a:solidFill>
                <a:schemeClr val="tx1"/>
              </a:solidFill>
              <a:latin typeface="+mn-lt"/>
              <a:ea typeface="黑体" panose="02010609060101010101" pitchFamily="49" charset="-122"/>
            </a:endParaRPr>
          </a:p>
        </p:txBody>
      </p:sp>
      <p:sp>
        <p:nvSpPr>
          <p:cNvPr id="136" name="矩形 135">
            <a:extLst>
              <a:ext uri="{FF2B5EF4-FFF2-40B4-BE49-F238E27FC236}">
                <a16:creationId xmlns:a16="http://schemas.microsoft.com/office/drawing/2014/main" xmlns="" id="{396E3A4E-3DCE-51D1-DE56-78AC0CFE008B}"/>
              </a:ext>
            </a:extLst>
          </p:cNvPr>
          <p:cNvSpPr/>
          <p:nvPr/>
        </p:nvSpPr>
        <p:spPr>
          <a:xfrm>
            <a:off x="211184" y="3043819"/>
            <a:ext cx="6770983" cy="572464"/>
          </a:xfrm>
          <a:prstGeom prst="rect">
            <a:avLst/>
          </a:prstGeom>
        </p:spPr>
        <p:txBody>
          <a:bodyPr wrap="square">
            <a:spAutoFit/>
          </a:bodyPr>
          <a:lstStyle/>
          <a:p>
            <a:pPr lvl="0">
              <a:lnSpc>
                <a:spcPct val="130000"/>
              </a:lnSpc>
            </a:pPr>
            <a:r>
              <a:rPr lang="zh-CN" altLang="en-US" i="0" dirty="0">
                <a:solidFill>
                  <a:srgbClr val="0033CC"/>
                </a:solidFill>
                <a:ea typeface="黑体" panose="02010609060101010101" pitchFamily="49" charset="-122"/>
              </a:rPr>
              <a:t>解  </a:t>
            </a:r>
            <a:r>
              <a:rPr kumimoji="1" lang="en-US" altLang="zh-CN" i="0" dirty="0">
                <a:solidFill>
                  <a:schemeClr val="tx1"/>
                </a:solidFill>
                <a:ea typeface="黑体" panose="02010609060101010101" pitchFamily="49" charset="-122"/>
              </a:rPr>
              <a:t>1) </a:t>
            </a:r>
            <a:r>
              <a:rPr kumimoji="1" lang="zh-CN" altLang="en-US" i="0" dirty="0">
                <a:solidFill>
                  <a:schemeClr val="tx1"/>
                </a:solidFill>
                <a:ea typeface="黑体" panose="02010609060101010101" pitchFamily="49" charset="-122"/>
              </a:rPr>
              <a:t>校核</a:t>
            </a:r>
            <a:r>
              <a:rPr kumimoji="1" lang="en-US" altLang="zh-CN" i="0" dirty="0">
                <a:solidFill>
                  <a:schemeClr val="tx1"/>
                </a:solidFill>
                <a:ea typeface="黑体" panose="02010609060101010101" pitchFamily="49" charset="-122"/>
              </a:rPr>
              <a:t>AB</a:t>
            </a:r>
            <a:r>
              <a:rPr kumimoji="1" lang="zh-CN" altLang="en-US" i="0" dirty="0">
                <a:solidFill>
                  <a:schemeClr val="tx1"/>
                </a:solidFill>
                <a:ea typeface="黑体" panose="02010609060101010101" pitchFamily="49" charset="-122"/>
              </a:rPr>
              <a:t>轴的强度。</a:t>
            </a:r>
            <a:endParaRPr kumimoji="1" lang="en-US" altLang="zh-CN" b="0" i="0" dirty="0">
              <a:solidFill>
                <a:schemeClr val="tx1"/>
              </a:solidFill>
              <a:latin typeface="+mn-lt"/>
              <a:ea typeface="黑体" panose="02010609060101010101" pitchFamily="49" charset="-122"/>
            </a:endParaRPr>
          </a:p>
        </p:txBody>
      </p:sp>
      <p:sp>
        <p:nvSpPr>
          <p:cNvPr id="139" name="矩形 138">
            <a:extLst>
              <a:ext uri="{FF2B5EF4-FFF2-40B4-BE49-F238E27FC236}">
                <a16:creationId xmlns:a16="http://schemas.microsoft.com/office/drawing/2014/main" xmlns="" id="{396E3A4E-3DCE-51D1-DE56-78AC0CFE008B}"/>
              </a:ext>
            </a:extLst>
          </p:cNvPr>
          <p:cNvSpPr/>
          <p:nvPr/>
        </p:nvSpPr>
        <p:spPr>
          <a:xfrm>
            <a:off x="936117" y="5781461"/>
            <a:ext cx="3229957" cy="572464"/>
          </a:xfrm>
          <a:prstGeom prst="rect">
            <a:avLst/>
          </a:prstGeom>
        </p:spPr>
        <p:txBody>
          <a:bodyPr wrap="square">
            <a:spAutoFit/>
          </a:bodyPr>
          <a:lstStyle/>
          <a:p>
            <a:pPr lvl="0">
              <a:lnSpc>
                <a:spcPct val="130000"/>
              </a:lnSpc>
            </a:pPr>
            <a:r>
              <a:rPr kumimoji="1" lang="en-US" altLang="zh-CN" dirty="0">
                <a:ea typeface="黑体" panose="02010609060101010101" pitchFamily="49" charset="-122"/>
              </a:rPr>
              <a:t>AB</a:t>
            </a:r>
            <a:r>
              <a:rPr kumimoji="1" lang="zh-CN" altLang="en-US" i="0" dirty="0">
                <a:ea typeface="黑体" panose="02010609060101010101" pitchFamily="49" charset="-122"/>
              </a:rPr>
              <a:t>轴满足强度要求 。</a:t>
            </a:r>
            <a:endParaRPr kumimoji="1" lang="en-US" altLang="zh-CN" b="0" i="0" dirty="0">
              <a:solidFill>
                <a:schemeClr val="tx1"/>
              </a:solidFill>
              <a:ea typeface="黑体" panose="02010609060101010101" pitchFamily="49" charset="-122"/>
            </a:endParaRPr>
          </a:p>
        </p:txBody>
      </p:sp>
      <p:graphicFrame>
        <p:nvGraphicFramePr>
          <p:cNvPr id="50" name="Object 48"/>
          <p:cNvGraphicFramePr>
            <a:graphicFrameLocks noChangeAspect="1"/>
          </p:cNvGraphicFramePr>
          <p:nvPr>
            <p:extLst>
              <p:ext uri="{D42A27DB-BD31-4B8C-83A1-F6EECF244321}">
                <p14:modId xmlns:p14="http://schemas.microsoft.com/office/powerpoint/2010/main" val="2846910625"/>
              </p:ext>
            </p:extLst>
          </p:nvPr>
        </p:nvGraphicFramePr>
        <p:xfrm>
          <a:off x="967697" y="5013325"/>
          <a:ext cx="5883647" cy="898437"/>
        </p:xfrm>
        <a:graphic>
          <a:graphicData uri="http://schemas.openxmlformats.org/presentationml/2006/ole">
            <mc:AlternateContent xmlns:mc="http://schemas.openxmlformats.org/markup-compatibility/2006">
              <mc:Choice xmlns:v="urn:schemas-microsoft-com:vml" Requires="v">
                <p:oleObj spid="_x0000_s10250" name="Equation" r:id="rId4" imgW="2997000" imgH="457200" progId="Equation.DSMT4">
                  <p:embed/>
                </p:oleObj>
              </mc:Choice>
              <mc:Fallback>
                <p:oleObj name="Equation" r:id="rId4" imgW="2997000" imgH="457200" progId="Equation.DSMT4">
                  <p:embed/>
                  <p:pic>
                    <p:nvPicPr>
                      <p:cNvPr id="0" name=""/>
                      <p:cNvPicPr>
                        <a:picLocks noChangeAspect="1" noChangeArrowheads="1"/>
                      </p:cNvPicPr>
                      <p:nvPr/>
                    </p:nvPicPr>
                    <p:blipFill>
                      <a:blip r:embed="rId5"/>
                      <a:srcRect/>
                      <a:stretch>
                        <a:fillRect/>
                      </a:stretch>
                    </p:blipFill>
                    <p:spPr bwMode="auto">
                      <a:xfrm>
                        <a:off x="967697" y="5013325"/>
                        <a:ext cx="5883647" cy="898437"/>
                      </a:xfrm>
                      <a:prstGeom prst="rect">
                        <a:avLst/>
                      </a:prstGeom>
                      <a:noFill/>
                    </p:spPr>
                  </p:pic>
                </p:oleObj>
              </mc:Fallback>
            </mc:AlternateContent>
          </a:graphicData>
        </a:graphic>
      </p:graphicFrame>
      <p:graphicFrame>
        <p:nvGraphicFramePr>
          <p:cNvPr id="51" name="Object 49"/>
          <p:cNvGraphicFramePr>
            <a:graphicFrameLocks noChangeAspect="1"/>
          </p:cNvGraphicFramePr>
          <p:nvPr>
            <p:extLst>
              <p:ext uri="{D42A27DB-BD31-4B8C-83A1-F6EECF244321}">
                <p14:modId xmlns:p14="http://schemas.microsoft.com/office/powerpoint/2010/main" val="2776458992"/>
              </p:ext>
            </p:extLst>
          </p:nvPr>
        </p:nvGraphicFramePr>
        <p:xfrm>
          <a:off x="1001737" y="3663427"/>
          <a:ext cx="2934023" cy="462168"/>
        </p:xfrm>
        <a:graphic>
          <a:graphicData uri="http://schemas.openxmlformats.org/presentationml/2006/ole">
            <mc:AlternateContent xmlns:mc="http://schemas.openxmlformats.org/markup-compatibility/2006">
              <mc:Choice xmlns:v="urn:schemas-microsoft-com:vml" Requires="v">
                <p:oleObj spid="_x0000_s10251" name="Equation" r:id="rId6" imgW="1523880" imgH="241200" progId="Equation.DSMT4">
                  <p:embed/>
                </p:oleObj>
              </mc:Choice>
              <mc:Fallback>
                <p:oleObj name="Equation" r:id="rId6" imgW="1523880" imgH="241200" progId="Equation.DSMT4">
                  <p:embed/>
                  <p:pic>
                    <p:nvPicPr>
                      <p:cNvPr id="0" name=""/>
                      <p:cNvPicPr>
                        <a:picLocks noChangeAspect="1" noChangeArrowheads="1"/>
                      </p:cNvPicPr>
                      <p:nvPr/>
                    </p:nvPicPr>
                    <p:blipFill>
                      <a:blip r:embed="rId7"/>
                      <a:srcRect/>
                      <a:stretch>
                        <a:fillRect/>
                      </a:stretch>
                    </p:blipFill>
                    <p:spPr bwMode="auto">
                      <a:xfrm>
                        <a:off x="1001737" y="3663427"/>
                        <a:ext cx="2934023" cy="462168"/>
                      </a:xfrm>
                      <a:prstGeom prst="rect">
                        <a:avLst/>
                      </a:prstGeom>
                      <a:noFill/>
                    </p:spPr>
                  </p:pic>
                </p:oleObj>
              </mc:Fallback>
            </mc:AlternateContent>
          </a:graphicData>
        </a:graphic>
      </p:graphicFrame>
      <p:graphicFrame>
        <p:nvGraphicFramePr>
          <p:cNvPr id="52" name="Object 51"/>
          <p:cNvGraphicFramePr>
            <a:graphicFrameLocks noChangeAspect="1"/>
          </p:cNvGraphicFramePr>
          <p:nvPr>
            <p:extLst>
              <p:ext uri="{D42A27DB-BD31-4B8C-83A1-F6EECF244321}">
                <p14:modId xmlns:p14="http://schemas.microsoft.com/office/powerpoint/2010/main" val="4028811494"/>
              </p:ext>
            </p:extLst>
          </p:nvPr>
        </p:nvGraphicFramePr>
        <p:xfrm>
          <a:off x="987425" y="4227514"/>
          <a:ext cx="6805135" cy="806832"/>
        </p:xfrm>
        <a:graphic>
          <a:graphicData uri="http://schemas.openxmlformats.org/presentationml/2006/ole">
            <mc:AlternateContent xmlns:mc="http://schemas.openxmlformats.org/markup-compatibility/2006">
              <mc:Choice xmlns:v="urn:schemas-microsoft-com:vml" Requires="v">
                <p:oleObj spid="_x0000_s10252" name="Equation" r:id="rId8" imgW="3530520" imgH="419040" progId="Equation.DSMT4">
                  <p:embed/>
                </p:oleObj>
              </mc:Choice>
              <mc:Fallback>
                <p:oleObj name="Equation" r:id="rId8" imgW="3530520" imgH="419040" progId="Equation.DSMT4">
                  <p:embed/>
                  <p:pic>
                    <p:nvPicPr>
                      <p:cNvPr id="0" name=""/>
                      <p:cNvPicPr>
                        <a:picLocks noChangeAspect="1" noChangeArrowheads="1"/>
                      </p:cNvPicPr>
                      <p:nvPr/>
                    </p:nvPicPr>
                    <p:blipFill>
                      <a:blip r:embed="rId9"/>
                      <a:srcRect/>
                      <a:stretch>
                        <a:fillRect/>
                      </a:stretch>
                    </p:blipFill>
                    <p:spPr bwMode="auto">
                      <a:xfrm>
                        <a:off x="987425" y="4227514"/>
                        <a:ext cx="6805135" cy="806832"/>
                      </a:xfrm>
                      <a:prstGeom prst="rect">
                        <a:avLst/>
                      </a:prstGeom>
                      <a:noFill/>
                    </p:spPr>
                  </p:pic>
                </p:oleObj>
              </mc:Fallback>
            </mc:AlternateContent>
          </a:graphicData>
        </a:graphic>
      </p:graphicFrame>
      <p:graphicFrame>
        <p:nvGraphicFramePr>
          <p:cNvPr id="53" name="Object 49"/>
          <p:cNvGraphicFramePr>
            <a:graphicFrameLocks noChangeAspect="1"/>
          </p:cNvGraphicFramePr>
          <p:nvPr>
            <p:extLst>
              <p:ext uri="{D42A27DB-BD31-4B8C-83A1-F6EECF244321}">
                <p14:modId xmlns:p14="http://schemas.microsoft.com/office/powerpoint/2010/main" val="3933384336"/>
              </p:ext>
            </p:extLst>
          </p:nvPr>
        </p:nvGraphicFramePr>
        <p:xfrm>
          <a:off x="4511824" y="3494638"/>
          <a:ext cx="3280736" cy="721590"/>
        </p:xfrm>
        <a:graphic>
          <a:graphicData uri="http://schemas.openxmlformats.org/presentationml/2006/ole">
            <mc:AlternateContent xmlns:mc="http://schemas.openxmlformats.org/markup-compatibility/2006">
              <mc:Choice xmlns:v="urn:schemas-microsoft-com:vml" Requires="v">
                <p:oleObj spid="_x0000_s10253" name="Equation" r:id="rId10" imgW="1777680" imgH="393480" progId="Equation.DSMT4">
                  <p:embed/>
                </p:oleObj>
              </mc:Choice>
              <mc:Fallback>
                <p:oleObj name="Equation" r:id="rId10" imgW="1777680" imgH="393480" progId="Equation.DSMT4">
                  <p:embed/>
                  <p:pic>
                    <p:nvPicPr>
                      <p:cNvPr id="0" name=""/>
                      <p:cNvPicPr>
                        <a:picLocks noChangeAspect="1" noChangeArrowheads="1"/>
                      </p:cNvPicPr>
                      <p:nvPr/>
                    </p:nvPicPr>
                    <p:blipFill>
                      <a:blip r:embed="rId11"/>
                      <a:srcRect/>
                      <a:stretch>
                        <a:fillRect/>
                      </a:stretch>
                    </p:blipFill>
                    <p:spPr bwMode="auto">
                      <a:xfrm>
                        <a:off x="4511824" y="3494638"/>
                        <a:ext cx="3280736" cy="721590"/>
                      </a:xfrm>
                      <a:prstGeom prst="rect">
                        <a:avLst/>
                      </a:prstGeom>
                      <a:noFill/>
                    </p:spPr>
                  </p:pic>
                </p:oleObj>
              </mc:Fallback>
            </mc:AlternateContent>
          </a:graphicData>
        </a:graphic>
      </p:graphicFrame>
    </p:spTree>
    <p:extLst>
      <p:ext uri="{BB962C8B-B14F-4D97-AF65-F5344CB8AC3E}">
        <p14:creationId xmlns:p14="http://schemas.microsoft.com/office/powerpoint/2010/main" val="341207116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wipe(left)">
                                      <p:cBhvr>
                                        <p:cTn id="11" dur="3000"/>
                                        <p:tgtEl>
                                          <p:spTgt spid="5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3"/>
                                        </p:tgtEl>
                                        <p:attrNameLst>
                                          <p:attrName>style.visibility</p:attrName>
                                        </p:attrNameLst>
                                      </p:cBhvr>
                                      <p:to>
                                        <p:strVal val="visible"/>
                                      </p:to>
                                    </p:set>
                                    <p:animEffect transition="in" filter="wipe(left)">
                                      <p:cBhvr>
                                        <p:cTn id="16" dur="3000"/>
                                        <p:tgtEl>
                                          <p:spTgt spid="5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2"/>
                                        </p:tgtEl>
                                        <p:attrNameLst>
                                          <p:attrName>style.visibility</p:attrName>
                                        </p:attrNameLst>
                                      </p:cBhvr>
                                      <p:to>
                                        <p:strVal val="visible"/>
                                      </p:to>
                                    </p:set>
                                    <p:animEffect transition="in" filter="wipe(left)">
                                      <p:cBhvr>
                                        <p:cTn id="21" dur="5000"/>
                                        <p:tgtEl>
                                          <p:spTgt spid="5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50"/>
                                        </p:tgtEl>
                                        <p:attrNameLst>
                                          <p:attrName>style.visibility</p:attrName>
                                        </p:attrNameLst>
                                      </p:cBhvr>
                                      <p:to>
                                        <p:strVal val="visible"/>
                                      </p:to>
                                    </p:set>
                                    <p:animEffect transition="in" filter="wipe(left)">
                                      <p:cBhvr>
                                        <p:cTn id="26" dur="5000"/>
                                        <p:tgtEl>
                                          <p:spTgt spid="50"/>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p:bldP spid="13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136" name="矩形 135">
            <a:extLst>
              <a:ext uri="{FF2B5EF4-FFF2-40B4-BE49-F238E27FC236}">
                <a16:creationId xmlns:a16="http://schemas.microsoft.com/office/drawing/2014/main" xmlns="" id="{396E3A4E-3DCE-51D1-DE56-78AC0CFE008B}"/>
              </a:ext>
            </a:extLst>
          </p:cNvPr>
          <p:cNvSpPr/>
          <p:nvPr/>
        </p:nvSpPr>
        <p:spPr>
          <a:xfrm>
            <a:off x="211184" y="854797"/>
            <a:ext cx="6770983" cy="572464"/>
          </a:xfrm>
          <a:prstGeom prst="rect">
            <a:avLst/>
          </a:prstGeom>
        </p:spPr>
        <p:txBody>
          <a:bodyPr wrap="square">
            <a:spAutoFit/>
          </a:bodyPr>
          <a:lstStyle/>
          <a:p>
            <a:pPr lvl="0">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ea typeface="黑体" panose="02010609060101010101" pitchFamily="49" charset="-122"/>
              </a:rPr>
              <a:t>2) </a:t>
            </a:r>
            <a:r>
              <a:rPr kumimoji="1" lang="zh-CN" altLang="en-US" i="0" dirty="0">
                <a:solidFill>
                  <a:schemeClr val="tx1"/>
                </a:solidFill>
                <a:ea typeface="黑体" panose="02010609060101010101" pitchFamily="49" charset="-122"/>
              </a:rPr>
              <a:t>确定实心轴的直径。</a:t>
            </a:r>
            <a:endParaRPr kumimoji="1" lang="en-US" altLang="zh-CN" i="0" dirty="0">
              <a:solidFill>
                <a:schemeClr val="tx1"/>
              </a:solidFill>
              <a:ea typeface="黑体" panose="02010609060101010101" pitchFamily="49" charset="-122"/>
            </a:endParaRPr>
          </a:p>
        </p:txBody>
      </p:sp>
      <p:sp>
        <p:nvSpPr>
          <p:cNvPr id="10" name="矩形 9">
            <a:extLst>
              <a:ext uri="{FF2B5EF4-FFF2-40B4-BE49-F238E27FC236}">
                <a16:creationId xmlns:a16="http://schemas.microsoft.com/office/drawing/2014/main" xmlns="" id="{396E3A4E-3DCE-51D1-DE56-78AC0CFE008B}"/>
              </a:ext>
            </a:extLst>
          </p:cNvPr>
          <p:cNvSpPr/>
          <p:nvPr/>
        </p:nvSpPr>
        <p:spPr>
          <a:xfrm>
            <a:off x="780582" y="1438547"/>
            <a:ext cx="9851922" cy="1052596"/>
          </a:xfrm>
          <a:prstGeom prst="rect">
            <a:avLst/>
          </a:prstGeom>
        </p:spPr>
        <p:txBody>
          <a:bodyPr wrap="square">
            <a:spAutoFit/>
          </a:bodyPr>
          <a:lstStyle/>
          <a:p>
            <a:pPr lvl="0">
              <a:lnSpc>
                <a:spcPct val="130000"/>
              </a:lnSpc>
            </a:pPr>
            <a:r>
              <a:rPr kumimoji="1" lang="zh-CN" altLang="en-US" i="0" dirty="0">
                <a:solidFill>
                  <a:schemeClr val="tx1"/>
                </a:solidFill>
                <a:ea typeface="黑体" panose="02010609060101010101" pitchFamily="49" charset="-122"/>
              </a:rPr>
              <a:t>若实心轴与空心轴的强度相同，则两轴的抗扭截面系数必相等。设实心轴的直径为</a:t>
            </a:r>
            <a:r>
              <a:rPr kumimoji="1" lang="en-US" altLang="zh-CN" b="0" dirty="0">
                <a:solidFill>
                  <a:schemeClr val="tx1"/>
                </a:solidFill>
                <a:ea typeface="黑体" panose="02010609060101010101" pitchFamily="49" charset="-122"/>
              </a:rPr>
              <a:t>D</a:t>
            </a:r>
            <a:r>
              <a:rPr kumimoji="1" lang="en-US" altLang="zh-CN" b="0" i="0" baseline="-25000" dirty="0">
                <a:solidFill>
                  <a:schemeClr val="tx1"/>
                </a:solidFill>
                <a:ea typeface="黑体" panose="02010609060101010101" pitchFamily="49" charset="-122"/>
              </a:rPr>
              <a:t>l</a:t>
            </a:r>
            <a:r>
              <a:rPr kumimoji="1" lang="zh-CN" altLang="en-US" i="0" dirty="0">
                <a:solidFill>
                  <a:schemeClr val="tx1"/>
                </a:solidFill>
                <a:ea typeface="黑体" panose="02010609060101010101" pitchFamily="49" charset="-122"/>
              </a:rPr>
              <a:t>，则有 </a:t>
            </a:r>
            <a:endParaRPr kumimoji="1" lang="en-US" altLang="zh-CN" i="0" dirty="0">
              <a:solidFill>
                <a:schemeClr val="tx1"/>
              </a:solidFill>
              <a:ea typeface="黑体" panose="02010609060101010101" pitchFamily="49" charset="-122"/>
            </a:endParaRPr>
          </a:p>
        </p:txBody>
      </p:sp>
      <p:graphicFrame>
        <p:nvGraphicFramePr>
          <p:cNvPr id="11" name="Object 16"/>
          <p:cNvGraphicFramePr>
            <a:graphicFrameLocks noChangeAspect="1"/>
          </p:cNvGraphicFramePr>
          <p:nvPr>
            <p:extLst>
              <p:ext uri="{D42A27DB-BD31-4B8C-83A1-F6EECF244321}">
                <p14:modId xmlns:p14="http://schemas.microsoft.com/office/powerpoint/2010/main" val="3831102082"/>
              </p:ext>
            </p:extLst>
          </p:nvPr>
        </p:nvGraphicFramePr>
        <p:xfrm>
          <a:off x="911424" y="2520733"/>
          <a:ext cx="3600400" cy="746003"/>
        </p:xfrm>
        <a:graphic>
          <a:graphicData uri="http://schemas.openxmlformats.org/presentationml/2006/ole">
            <mc:AlternateContent xmlns:mc="http://schemas.openxmlformats.org/markup-compatibility/2006">
              <mc:Choice xmlns:v="urn:schemas-microsoft-com:vml" Requires="v">
                <p:oleObj spid="_x0000_s11271" name="Equation" r:id="rId4" imgW="2019240" imgH="419040" progId="Equation.DSMT4">
                  <p:embed/>
                </p:oleObj>
              </mc:Choice>
              <mc:Fallback>
                <p:oleObj name="Equation" r:id="rId4" imgW="2019240" imgH="419040" progId="Equation.DSMT4">
                  <p:embed/>
                  <p:pic>
                    <p:nvPicPr>
                      <p:cNvPr id="0" name=""/>
                      <p:cNvPicPr>
                        <a:picLocks noChangeAspect="1" noChangeArrowheads="1"/>
                      </p:cNvPicPr>
                      <p:nvPr/>
                    </p:nvPicPr>
                    <p:blipFill>
                      <a:blip r:embed="rId5"/>
                      <a:srcRect/>
                      <a:stretch>
                        <a:fillRect/>
                      </a:stretch>
                    </p:blipFill>
                    <p:spPr bwMode="auto">
                      <a:xfrm>
                        <a:off x="911424" y="2520733"/>
                        <a:ext cx="3600400" cy="746003"/>
                      </a:xfrm>
                      <a:prstGeom prst="rect">
                        <a:avLst/>
                      </a:prstGeom>
                      <a:noFill/>
                    </p:spPr>
                  </p:pic>
                </p:oleObj>
              </mc:Fallback>
            </mc:AlternateContent>
          </a:graphicData>
        </a:graphic>
      </p:graphicFrame>
      <p:graphicFrame>
        <p:nvGraphicFramePr>
          <p:cNvPr id="12" name="Object 18"/>
          <p:cNvGraphicFramePr>
            <a:graphicFrameLocks noChangeAspect="1"/>
          </p:cNvGraphicFramePr>
          <p:nvPr>
            <p:extLst>
              <p:ext uri="{D42A27DB-BD31-4B8C-83A1-F6EECF244321}">
                <p14:modId xmlns:p14="http://schemas.microsoft.com/office/powerpoint/2010/main" val="2836304498"/>
              </p:ext>
            </p:extLst>
          </p:nvPr>
        </p:nvGraphicFramePr>
        <p:xfrm>
          <a:off x="5015880" y="2484122"/>
          <a:ext cx="3412058" cy="761162"/>
        </p:xfrm>
        <a:graphic>
          <a:graphicData uri="http://schemas.openxmlformats.org/presentationml/2006/ole">
            <mc:AlternateContent xmlns:mc="http://schemas.openxmlformats.org/markup-compatibility/2006">
              <mc:Choice xmlns:v="urn:schemas-microsoft-com:vml" Requires="v">
                <p:oleObj spid="_x0000_s11272" name="Equation" r:id="rId6" imgW="2006280" imgH="444240" progId="Equation.DSMT4">
                  <p:embed/>
                </p:oleObj>
              </mc:Choice>
              <mc:Fallback>
                <p:oleObj name="Equation" r:id="rId6" imgW="2006280" imgH="444240" progId="Equation.DSMT4">
                  <p:embed/>
                  <p:pic>
                    <p:nvPicPr>
                      <p:cNvPr id="0" name=""/>
                      <p:cNvPicPr>
                        <a:picLocks noChangeAspect="1" noChangeArrowheads="1"/>
                      </p:cNvPicPr>
                      <p:nvPr/>
                    </p:nvPicPr>
                    <p:blipFill>
                      <a:blip r:embed="rId7"/>
                      <a:srcRect/>
                      <a:stretch>
                        <a:fillRect/>
                      </a:stretch>
                    </p:blipFill>
                    <p:spPr bwMode="auto">
                      <a:xfrm>
                        <a:off x="5015880" y="2484122"/>
                        <a:ext cx="3412058" cy="761162"/>
                      </a:xfrm>
                      <a:prstGeom prst="rect">
                        <a:avLst/>
                      </a:prstGeom>
                      <a:noFill/>
                    </p:spPr>
                  </p:pic>
                </p:oleObj>
              </mc:Fallback>
            </mc:AlternateContent>
          </a:graphicData>
        </a:graphic>
      </p:graphicFrame>
      <p:sp>
        <p:nvSpPr>
          <p:cNvPr id="13" name="矩形 12">
            <a:extLst>
              <a:ext uri="{FF2B5EF4-FFF2-40B4-BE49-F238E27FC236}">
                <a16:creationId xmlns:a16="http://schemas.microsoft.com/office/drawing/2014/main" xmlns="" id="{396E3A4E-3DCE-51D1-DE56-78AC0CFE008B}"/>
              </a:ext>
            </a:extLst>
          </p:cNvPr>
          <p:cNvSpPr/>
          <p:nvPr/>
        </p:nvSpPr>
        <p:spPr>
          <a:xfrm>
            <a:off x="211184" y="3421676"/>
            <a:ext cx="6770983" cy="572464"/>
          </a:xfrm>
          <a:prstGeom prst="rect">
            <a:avLst/>
          </a:prstGeom>
        </p:spPr>
        <p:txBody>
          <a:bodyPr wrap="square">
            <a:spAutoFit/>
          </a:bodyPr>
          <a:lstStyle/>
          <a:p>
            <a:pPr lvl="0">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ea typeface="黑体" panose="02010609060101010101" pitchFamily="49" charset="-122"/>
              </a:rPr>
              <a:t>3)</a:t>
            </a:r>
            <a:r>
              <a:rPr kumimoji="1" lang="zh-CN" altLang="en-US" i="0" dirty="0">
                <a:solidFill>
                  <a:schemeClr val="tx1"/>
                </a:solidFill>
                <a:ea typeface="黑体" panose="02010609060101010101" pitchFamily="49" charset="-122"/>
              </a:rPr>
              <a:t> 实心轴和空心轴的质量。</a:t>
            </a:r>
            <a:endParaRPr kumimoji="1" lang="en-US" altLang="zh-CN" i="0" dirty="0">
              <a:solidFill>
                <a:schemeClr val="tx1"/>
              </a:solidFill>
              <a:ea typeface="黑体" panose="02010609060101010101" pitchFamily="49" charset="-122"/>
            </a:endParaRPr>
          </a:p>
        </p:txBody>
      </p:sp>
      <p:sp>
        <p:nvSpPr>
          <p:cNvPr id="14" name="矩形 13">
            <a:extLst>
              <a:ext uri="{FF2B5EF4-FFF2-40B4-BE49-F238E27FC236}">
                <a16:creationId xmlns:a16="http://schemas.microsoft.com/office/drawing/2014/main" xmlns="" id="{396E3A4E-3DCE-51D1-DE56-78AC0CFE008B}"/>
              </a:ext>
            </a:extLst>
          </p:cNvPr>
          <p:cNvSpPr/>
          <p:nvPr/>
        </p:nvSpPr>
        <p:spPr>
          <a:xfrm>
            <a:off x="780582" y="3884163"/>
            <a:ext cx="9635898" cy="1052596"/>
          </a:xfrm>
          <a:prstGeom prst="rect">
            <a:avLst/>
          </a:prstGeom>
        </p:spPr>
        <p:txBody>
          <a:bodyPr wrap="square">
            <a:spAutoFit/>
          </a:bodyPr>
          <a:lstStyle/>
          <a:p>
            <a:pPr lvl="0">
              <a:lnSpc>
                <a:spcPct val="130000"/>
              </a:lnSpc>
            </a:pPr>
            <a:r>
              <a:rPr kumimoji="1" lang="zh-CN" altLang="en-US" i="0" dirty="0">
                <a:solidFill>
                  <a:schemeClr val="tx1"/>
                </a:solidFill>
                <a:ea typeface="黑体" panose="02010609060101010101" pitchFamily="49" charset="-122"/>
              </a:rPr>
              <a:t>两轴的材料和长度相同，它们的质量比就等于面积比。  设</a:t>
            </a:r>
            <a:r>
              <a:rPr kumimoji="1" lang="en-US" altLang="zh-CN" b="0" dirty="0">
                <a:solidFill>
                  <a:schemeClr val="tx1"/>
                </a:solidFill>
                <a:ea typeface="黑体" panose="02010609060101010101" pitchFamily="49" charset="-122"/>
              </a:rPr>
              <a:t>A</a:t>
            </a:r>
            <a:r>
              <a:rPr kumimoji="1" lang="en-US" altLang="zh-CN" b="0" i="0" baseline="-25000" dirty="0">
                <a:solidFill>
                  <a:schemeClr val="tx1"/>
                </a:solidFill>
                <a:ea typeface="黑体" panose="02010609060101010101" pitchFamily="49" charset="-122"/>
              </a:rPr>
              <a:t>l</a:t>
            </a:r>
            <a:r>
              <a:rPr kumimoji="1" lang="zh-CN" altLang="en-US" i="0" dirty="0">
                <a:solidFill>
                  <a:schemeClr val="tx1"/>
                </a:solidFill>
                <a:ea typeface="黑体" panose="02010609060101010101" pitchFamily="49" charset="-122"/>
              </a:rPr>
              <a:t>为实心轴的截面面积，</a:t>
            </a:r>
            <a:r>
              <a:rPr kumimoji="1" lang="en-US" altLang="zh-CN" b="0" dirty="0">
                <a:solidFill>
                  <a:schemeClr val="tx1"/>
                </a:solidFill>
                <a:ea typeface="黑体" panose="02010609060101010101" pitchFamily="49" charset="-122"/>
              </a:rPr>
              <a:t>A</a:t>
            </a:r>
            <a:r>
              <a:rPr kumimoji="1" lang="en-US" altLang="zh-CN" b="0" i="0" baseline="-25000" dirty="0">
                <a:solidFill>
                  <a:schemeClr val="tx1"/>
                </a:solidFill>
                <a:ea typeface="黑体" panose="02010609060101010101" pitchFamily="49" charset="-122"/>
              </a:rPr>
              <a:t>2</a:t>
            </a:r>
            <a:r>
              <a:rPr kumimoji="1" lang="zh-CN" altLang="en-US" i="0" dirty="0">
                <a:solidFill>
                  <a:schemeClr val="tx1"/>
                </a:solidFill>
                <a:ea typeface="黑体" panose="02010609060101010101" pitchFamily="49" charset="-122"/>
              </a:rPr>
              <a:t>为空心轴的截面面积，则有 </a:t>
            </a:r>
            <a:endParaRPr kumimoji="1" lang="en-US" altLang="zh-CN" i="0" dirty="0">
              <a:solidFill>
                <a:schemeClr val="tx1"/>
              </a:solidFill>
              <a:ea typeface="黑体" panose="02010609060101010101" pitchFamily="49" charset="-122"/>
            </a:endParaRPr>
          </a:p>
        </p:txBody>
      </p:sp>
      <p:graphicFrame>
        <p:nvGraphicFramePr>
          <p:cNvPr id="15" name="Object 16"/>
          <p:cNvGraphicFramePr>
            <a:graphicFrameLocks noChangeAspect="1"/>
          </p:cNvGraphicFramePr>
          <p:nvPr>
            <p:extLst>
              <p:ext uri="{D42A27DB-BD31-4B8C-83A1-F6EECF244321}">
                <p14:modId xmlns:p14="http://schemas.microsoft.com/office/powerpoint/2010/main" val="1668028595"/>
              </p:ext>
            </p:extLst>
          </p:nvPr>
        </p:nvGraphicFramePr>
        <p:xfrm>
          <a:off x="1132365" y="4886806"/>
          <a:ext cx="1112654" cy="748689"/>
        </p:xfrm>
        <a:graphic>
          <a:graphicData uri="http://schemas.openxmlformats.org/presentationml/2006/ole">
            <mc:AlternateContent xmlns:mc="http://schemas.openxmlformats.org/markup-compatibility/2006">
              <mc:Choice xmlns:v="urn:schemas-microsoft-com:vml" Requires="v">
                <p:oleObj spid="_x0000_s11273" name="Equation" r:id="rId8" imgW="622080" imgH="419040" progId="Equation.DSMT4">
                  <p:embed/>
                </p:oleObj>
              </mc:Choice>
              <mc:Fallback>
                <p:oleObj name="Equation" r:id="rId8" imgW="622080" imgH="419040" progId="Equation.DSMT4">
                  <p:embed/>
                  <p:pic>
                    <p:nvPicPr>
                      <p:cNvPr id="0" name=""/>
                      <p:cNvPicPr>
                        <a:picLocks noChangeAspect="1" noChangeArrowheads="1"/>
                      </p:cNvPicPr>
                      <p:nvPr/>
                    </p:nvPicPr>
                    <p:blipFill>
                      <a:blip r:embed="rId9"/>
                      <a:srcRect/>
                      <a:stretch>
                        <a:fillRect/>
                      </a:stretch>
                    </p:blipFill>
                    <p:spPr bwMode="auto">
                      <a:xfrm>
                        <a:off x="1132365" y="4886806"/>
                        <a:ext cx="1112654" cy="748689"/>
                      </a:xfrm>
                      <a:prstGeom prst="rect">
                        <a:avLst/>
                      </a:prstGeom>
                      <a:noFill/>
                    </p:spPr>
                  </p:pic>
                </p:oleObj>
              </mc:Fallback>
            </mc:AlternateContent>
          </a:graphicData>
        </a:graphic>
      </p:graphicFrame>
      <p:graphicFrame>
        <p:nvGraphicFramePr>
          <p:cNvPr id="16" name="Object 15"/>
          <p:cNvGraphicFramePr>
            <a:graphicFrameLocks noChangeAspect="1"/>
          </p:cNvGraphicFramePr>
          <p:nvPr>
            <p:extLst>
              <p:ext uri="{D42A27DB-BD31-4B8C-83A1-F6EECF244321}">
                <p14:modId xmlns:p14="http://schemas.microsoft.com/office/powerpoint/2010/main" val="2096672439"/>
              </p:ext>
            </p:extLst>
          </p:nvPr>
        </p:nvGraphicFramePr>
        <p:xfrm>
          <a:off x="2586968" y="4908172"/>
          <a:ext cx="1856417" cy="746707"/>
        </p:xfrm>
        <a:graphic>
          <a:graphicData uri="http://schemas.openxmlformats.org/presentationml/2006/ole">
            <mc:AlternateContent xmlns:mc="http://schemas.openxmlformats.org/markup-compatibility/2006">
              <mc:Choice xmlns:v="urn:schemas-microsoft-com:vml" Requires="v">
                <p:oleObj spid="_x0000_s11274" name="Equation" r:id="rId10" imgW="1041120" imgH="419040" progId="Equation.DSMT4">
                  <p:embed/>
                </p:oleObj>
              </mc:Choice>
              <mc:Fallback>
                <p:oleObj name="Equation" r:id="rId10" imgW="1041120" imgH="419040" progId="Equation.DSMT4">
                  <p:embed/>
                  <p:pic>
                    <p:nvPicPr>
                      <p:cNvPr id="0" name=""/>
                      <p:cNvPicPr>
                        <a:picLocks noChangeAspect="1" noChangeArrowheads="1"/>
                      </p:cNvPicPr>
                      <p:nvPr/>
                    </p:nvPicPr>
                    <p:blipFill>
                      <a:blip r:embed="rId11"/>
                      <a:srcRect/>
                      <a:stretch>
                        <a:fillRect/>
                      </a:stretch>
                    </p:blipFill>
                    <p:spPr bwMode="auto">
                      <a:xfrm>
                        <a:off x="2586968" y="4908172"/>
                        <a:ext cx="1856417" cy="746707"/>
                      </a:xfrm>
                      <a:prstGeom prst="rect">
                        <a:avLst/>
                      </a:prstGeom>
                      <a:noFill/>
                    </p:spPr>
                  </p:pic>
                </p:oleObj>
              </mc:Fallback>
            </mc:AlternateContent>
          </a:graphicData>
        </a:graphic>
      </p:graphicFrame>
      <p:graphicFrame>
        <p:nvGraphicFramePr>
          <p:cNvPr id="17" name="Object 14"/>
          <p:cNvGraphicFramePr>
            <a:graphicFrameLocks noChangeAspect="1"/>
          </p:cNvGraphicFramePr>
          <p:nvPr>
            <p:extLst>
              <p:ext uri="{D42A27DB-BD31-4B8C-83A1-F6EECF244321}">
                <p14:modId xmlns:p14="http://schemas.microsoft.com/office/powerpoint/2010/main" val="2016608611"/>
              </p:ext>
            </p:extLst>
          </p:nvPr>
        </p:nvGraphicFramePr>
        <p:xfrm>
          <a:off x="4957340" y="4865485"/>
          <a:ext cx="3529137" cy="803935"/>
        </p:xfrm>
        <a:graphic>
          <a:graphicData uri="http://schemas.openxmlformats.org/presentationml/2006/ole">
            <mc:AlternateContent xmlns:mc="http://schemas.openxmlformats.org/markup-compatibility/2006">
              <mc:Choice xmlns:v="urn:schemas-microsoft-com:vml" Requires="v">
                <p:oleObj spid="_x0000_s11275" name="Equation" r:id="rId12" imgW="2006280" imgH="457200" progId="Equation.DSMT4">
                  <p:embed/>
                </p:oleObj>
              </mc:Choice>
              <mc:Fallback>
                <p:oleObj name="Equation" r:id="rId12" imgW="2006280" imgH="457200" progId="Equation.DSMT4">
                  <p:embed/>
                  <p:pic>
                    <p:nvPicPr>
                      <p:cNvPr id="0" name=""/>
                      <p:cNvPicPr>
                        <a:picLocks noChangeAspect="1" noChangeArrowheads="1"/>
                      </p:cNvPicPr>
                      <p:nvPr/>
                    </p:nvPicPr>
                    <p:blipFill>
                      <a:blip r:embed="rId13"/>
                      <a:srcRect/>
                      <a:stretch>
                        <a:fillRect/>
                      </a:stretch>
                    </p:blipFill>
                    <p:spPr bwMode="auto">
                      <a:xfrm>
                        <a:off x="4957340" y="4865485"/>
                        <a:ext cx="3529137" cy="803935"/>
                      </a:xfrm>
                      <a:prstGeom prst="rect">
                        <a:avLst/>
                      </a:prstGeom>
                      <a:noFill/>
                    </p:spPr>
                  </p:pic>
                </p:oleObj>
              </mc:Fallback>
            </mc:AlternateContent>
          </a:graphicData>
        </a:graphic>
      </p:graphicFrame>
      <p:sp>
        <p:nvSpPr>
          <p:cNvPr id="18" name="矩形 17">
            <a:extLst>
              <a:ext uri="{FF2B5EF4-FFF2-40B4-BE49-F238E27FC236}">
                <a16:creationId xmlns:a16="http://schemas.microsoft.com/office/drawing/2014/main" xmlns="" id="{396E3A4E-3DCE-51D1-DE56-78AC0CFE008B}"/>
              </a:ext>
            </a:extLst>
          </p:cNvPr>
          <p:cNvSpPr/>
          <p:nvPr/>
        </p:nvSpPr>
        <p:spPr>
          <a:xfrm>
            <a:off x="780582" y="5695813"/>
            <a:ext cx="11364090" cy="572464"/>
          </a:xfrm>
          <a:prstGeom prst="rect">
            <a:avLst/>
          </a:prstGeom>
        </p:spPr>
        <p:txBody>
          <a:bodyPr wrap="square">
            <a:spAutoFit/>
          </a:bodyPr>
          <a:lstStyle/>
          <a:p>
            <a:pPr lvl="0">
              <a:lnSpc>
                <a:spcPct val="130000"/>
              </a:lnSpc>
            </a:pPr>
            <a:r>
              <a:rPr kumimoji="1" lang="zh-CN" altLang="en-US" i="0" dirty="0">
                <a:solidFill>
                  <a:schemeClr val="tx1"/>
                </a:solidFill>
                <a:ea typeface="黑体" panose="02010609060101010101" pitchFamily="49" charset="-122"/>
              </a:rPr>
              <a:t>在强度相同的情况下，空心轴的质量仅为实心轴质量的</a:t>
            </a:r>
            <a:r>
              <a:rPr kumimoji="1" lang="en-US" altLang="zh-CN" i="0" dirty="0">
                <a:ea typeface="黑体" panose="02010609060101010101" pitchFamily="49" charset="-122"/>
              </a:rPr>
              <a:t>31</a:t>
            </a:r>
            <a:r>
              <a:rPr kumimoji="1" lang="zh-CN" altLang="en-US" i="0" dirty="0">
                <a:ea typeface="黑体" panose="02010609060101010101" pitchFamily="49" charset="-122"/>
              </a:rPr>
              <a:t>％</a:t>
            </a:r>
            <a:r>
              <a:rPr kumimoji="1" lang="zh-CN" altLang="en-US" i="0" dirty="0">
                <a:solidFill>
                  <a:schemeClr val="tx1"/>
                </a:solidFill>
                <a:ea typeface="黑体" panose="02010609060101010101" pitchFamily="49" charset="-122"/>
              </a:rPr>
              <a:t>，</a:t>
            </a:r>
            <a:r>
              <a:rPr kumimoji="1" lang="zh-CN" altLang="en-US" i="0" dirty="0">
                <a:ea typeface="黑体" panose="02010609060101010101" pitchFamily="49" charset="-122"/>
              </a:rPr>
              <a:t>节省材料</a:t>
            </a:r>
            <a:r>
              <a:rPr kumimoji="1" lang="zh-CN" altLang="en-US" i="0" dirty="0">
                <a:solidFill>
                  <a:schemeClr val="tx1"/>
                </a:solidFill>
                <a:ea typeface="黑体" panose="02010609060101010101" pitchFamily="49" charset="-122"/>
              </a:rPr>
              <a:t>的效果明显。</a:t>
            </a:r>
            <a:endParaRPr kumimoji="1" lang="en-US" altLang="zh-CN" i="0" dirty="0">
              <a:solidFill>
                <a:schemeClr val="tx1"/>
              </a:solidFill>
              <a:ea typeface="黑体" panose="02010609060101010101" pitchFamily="49" charset="-122"/>
            </a:endParaRPr>
          </a:p>
        </p:txBody>
      </p:sp>
    </p:spTree>
    <p:extLst>
      <p:ext uri="{BB962C8B-B14F-4D97-AF65-F5344CB8AC3E}">
        <p14:creationId xmlns:p14="http://schemas.microsoft.com/office/powerpoint/2010/main" val="92892556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30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left)">
                                      <p:cBhvr>
                                        <p:cTn id="20" dur="30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left)">
                                      <p:cBhvr>
                                        <p:cTn id="33" dur="20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left)">
                                      <p:cBhvr>
                                        <p:cTn id="38" dur="20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left)">
                                      <p:cBhvr>
                                        <p:cTn id="43" dur="50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p:bldP spid="10" grpId="0"/>
      <p:bldP spid="13" grpId="0"/>
      <p:bldP spid="14" grpId="0"/>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§9-3  </a:t>
            </a:r>
            <a:r>
              <a:rPr lang="zh-CN" altLang="en-US" sz="3000" i="0" dirty="0">
                <a:solidFill>
                  <a:schemeClr val="accent6">
                    <a:lumMod val="75000"/>
                  </a:schemeClr>
                </a:solidFill>
                <a:latin typeface="+mn-lt"/>
                <a:ea typeface="微软雅黑" panose="020B0503020204020204" pitchFamily="34" charset="-122"/>
              </a:rPr>
              <a:t>圆轴扭转时的变形与刚度计算</a:t>
            </a:r>
          </a:p>
        </p:txBody>
      </p:sp>
      <p:sp>
        <p:nvSpPr>
          <p:cNvPr id="14" name="Text Box 1032"/>
          <p:cNvSpPr txBox="1">
            <a:spLocks noChangeArrowheads="1"/>
          </p:cNvSpPr>
          <p:nvPr/>
        </p:nvSpPr>
        <p:spPr bwMode="auto">
          <a:xfrm>
            <a:off x="335361" y="1913190"/>
            <a:ext cx="7704856" cy="1120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25000"/>
              </a:lnSpc>
            </a:pPr>
            <a:r>
              <a:rPr lang="zh-CN" altLang="en-US" sz="2800" i="0" dirty="0">
                <a:latin typeface="+mj-lt"/>
                <a:ea typeface="微软雅黑" panose="020B0503020204020204" pitchFamily="34" charset="-122"/>
              </a:rPr>
              <a:t>扭转变形是用两个横截面绕轴线的扭角</a:t>
            </a:r>
            <a:r>
              <a:rPr lang="zh-CN" altLang="en-US" sz="2800" b="0" dirty="0">
                <a:latin typeface="+mj-lt"/>
                <a:ea typeface="微软雅黑" panose="020B0503020204020204" pitchFamily="34" charset="-122"/>
                <a:sym typeface="Symbol" panose="05050102010706020507" pitchFamily="18" charset="2"/>
              </a:rPr>
              <a:t> </a:t>
            </a:r>
            <a:r>
              <a:rPr lang="zh-CN" altLang="en-US" sz="2800" i="0" dirty="0">
                <a:latin typeface="+mj-lt"/>
                <a:ea typeface="微软雅黑" panose="020B0503020204020204" pitchFamily="34" charset="-122"/>
              </a:rPr>
              <a:t>来表示的，由公式</a:t>
            </a:r>
            <a:endParaRPr lang="zh-CN" altLang="en-US" sz="2800" i="0" dirty="0">
              <a:solidFill>
                <a:srgbClr val="FF00FF"/>
              </a:solidFill>
              <a:latin typeface="+mj-lt"/>
              <a:ea typeface="微软雅黑" panose="020B0503020204020204" pitchFamily="34" charset="-122"/>
            </a:endParaRPr>
          </a:p>
        </p:txBody>
      </p:sp>
      <p:sp>
        <p:nvSpPr>
          <p:cNvPr id="9" name="Rectangle 61"/>
          <p:cNvSpPr>
            <a:spLocks noChangeArrowheads="1"/>
          </p:cNvSpPr>
          <p:nvPr/>
        </p:nvSpPr>
        <p:spPr bwMode="auto">
          <a:xfrm>
            <a:off x="8040218" y="1174268"/>
            <a:ext cx="3942882" cy="2520281"/>
          </a:xfrm>
          <a:prstGeom prst="rect">
            <a:avLst/>
          </a:prstGeom>
          <a:solidFill>
            <a:srgbClr val="B9CDE5"/>
          </a:solidFill>
          <a:ln>
            <a:noFill/>
          </a:ln>
          <a:effectLst/>
        </p:spPr>
        <p:txBody>
          <a:bodyPr wrap="none" anchor="ctr"/>
          <a:lstStyle/>
          <a:p>
            <a:endParaRPr lang="zh-CN" altLang="en-US"/>
          </a:p>
        </p:txBody>
      </p:sp>
      <p:sp>
        <p:nvSpPr>
          <p:cNvPr id="53" name="矩形 52"/>
          <p:cNvSpPr/>
          <p:nvPr/>
        </p:nvSpPr>
        <p:spPr>
          <a:xfrm>
            <a:off x="3161676" y="1300804"/>
            <a:ext cx="4031873" cy="703206"/>
          </a:xfrm>
          <a:prstGeom prst="rect">
            <a:avLst/>
          </a:prstGeom>
        </p:spPr>
        <p:txBody>
          <a:bodyPr wrap="none">
            <a:spAutoFit/>
          </a:bodyPr>
          <a:lstStyle/>
          <a:p>
            <a:pPr lvl="0">
              <a:lnSpc>
                <a:spcPct val="150000"/>
              </a:lnSpc>
            </a:pPr>
            <a:r>
              <a:rPr lang="zh-CN" altLang="en-US" sz="3000" i="0" dirty="0">
                <a:solidFill>
                  <a:srgbClr val="4F81BD"/>
                </a:solidFill>
                <a:latin typeface="微软雅黑" panose="020B0503020204020204" pitchFamily="34" charset="-122"/>
                <a:ea typeface="微软雅黑" panose="020B0503020204020204" pitchFamily="34" charset="-122"/>
              </a:rPr>
              <a:t>圆轴扭转时的变形计算</a:t>
            </a:r>
          </a:p>
        </p:txBody>
      </p:sp>
      <p:graphicFrame>
        <p:nvGraphicFramePr>
          <p:cNvPr id="3" name="Object 6">
            <a:extLst>
              <a:ext uri="{FF2B5EF4-FFF2-40B4-BE49-F238E27FC236}">
                <a16:creationId xmlns:a16="http://schemas.microsoft.com/office/drawing/2014/main" xmlns="" id="{5032E9F6-FF7B-C6CA-F8DE-42977D813B27}"/>
              </a:ext>
            </a:extLst>
          </p:cNvPr>
          <p:cNvGraphicFramePr>
            <a:graphicFrameLocks noChangeAspect="1"/>
          </p:cNvGraphicFramePr>
          <p:nvPr>
            <p:extLst>
              <p:ext uri="{D42A27DB-BD31-4B8C-83A1-F6EECF244321}">
                <p14:modId xmlns:p14="http://schemas.microsoft.com/office/powerpoint/2010/main" val="465902322"/>
              </p:ext>
            </p:extLst>
          </p:nvPr>
        </p:nvGraphicFramePr>
        <p:xfrm>
          <a:off x="2607387" y="2568297"/>
          <a:ext cx="1837305" cy="1005476"/>
        </p:xfrm>
        <a:graphic>
          <a:graphicData uri="http://schemas.openxmlformats.org/presentationml/2006/ole">
            <mc:AlternateContent xmlns:mc="http://schemas.openxmlformats.org/markup-compatibility/2006">
              <mc:Choice xmlns:v="urn:schemas-microsoft-com:vml" Requires="v">
                <p:oleObj spid="_x0000_s12296" name="Equation" r:id="rId4" imgW="812520" imgH="444240" progId="Equation.DSMT4">
                  <p:embed/>
                </p:oleObj>
              </mc:Choice>
              <mc:Fallback>
                <p:oleObj name="Equation" r:id="rId4" imgW="812520" imgH="444240" progId="Equation.DSMT4">
                  <p:embed/>
                  <p:pic>
                    <p:nvPicPr>
                      <p:cNvPr id="39" name="Object 6"/>
                      <p:cNvPicPr>
                        <a:picLocks noChangeAspect="1" noChangeArrowheads="1"/>
                      </p:cNvPicPr>
                      <p:nvPr/>
                    </p:nvPicPr>
                    <p:blipFill>
                      <a:blip r:embed="rId5"/>
                      <a:srcRect/>
                      <a:stretch>
                        <a:fillRect/>
                      </a:stretch>
                    </p:blipFill>
                    <p:spPr bwMode="auto">
                      <a:xfrm>
                        <a:off x="2607387" y="2568297"/>
                        <a:ext cx="1837305" cy="1005476"/>
                      </a:xfrm>
                      <a:prstGeom prst="rect">
                        <a:avLst/>
                      </a:prstGeom>
                      <a:noFill/>
                      <a:ln>
                        <a:noFill/>
                      </a:ln>
                      <a:effectLst/>
                    </p:spPr>
                  </p:pic>
                </p:oleObj>
              </mc:Fallback>
            </mc:AlternateContent>
          </a:graphicData>
        </a:graphic>
      </p:graphicFrame>
      <p:sp>
        <p:nvSpPr>
          <p:cNvPr id="4" name="Text Box 1032">
            <a:extLst>
              <a:ext uri="{FF2B5EF4-FFF2-40B4-BE49-F238E27FC236}">
                <a16:creationId xmlns:a16="http://schemas.microsoft.com/office/drawing/2014/main" xmlns="" id="{2861C687-F1AD-F558-F31E-999FABA27DA1}"/>
              </a:ext>
            </a:extLst>
          </p:cNvPr>
          <p:cNvSpPr txBox="1">
            <a:spLocks noChangeArrowheads="1"/>
          </p:cNvSpPr>
          <p:nvPr/>
        </p:nvSpPr>
        <p:spPr bwMode="auto">
          <a:xfrm>
            <a:off x="335361" y="3414206"/>
            <a:ext cx="7734585" cy="1118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25000"/>
              </a:lnSpc>
            </a:pPr>
            <a:r>
              <a:rPr kumimoji="1" lang="zh-CN" altLang="en-US" sz="2800" i="0" dirty="0">
                <a:latin typeface="+mn-lt"/>
                <a:ea typeface="微软雅黑" panose="020B0503020204020204" pitchFamily="34" charset="-122"/>
              </a:rPr>
              <a:t>可推得：</a:t>
            </a:r>
            <a:r>
              <a:rPr lang="en-US" altLang="zh-CN" sz="2800" b="0" dirty="0">
                <a:latin typeface="+mn-lt"/>
                <a:ea typeface="微软雅黑" panose="020B0503020204020204" pitchFamily="34" charset="-122"/>
              </a:rPr>
              <a:t>M</a:t>
            </a:r>
            <a:r>
              <a:rPr lang="en-US" altLang="zh-CN" sz="2800" b="0" i="0" baseline="-25000" dirty="0">
                <a:latin typeface="+mn-lt"/>
                <a:ea typeface="微软雅黑" panose="020B0503020204020204" pitchFamily="34" charset="-122"/>
              </a:rPr>
              <a:t>n</a:t>
            </a:r>
            <a:r>
              <a:rPr lang="zh-CN" altLang="en-US" sz="2800" i="0" dirty="0">
                <a:latin typeface="+mn-lt"/>
                <a:ea typeface="微软雅黑" panose="020B0503020204020204" pitchFamily="34" charset="-122"/>
              </a:rPr>
              <a:t>为常值，</a:t>
            </a:r>
            <a:r>
              <a:rPr kumimoji="1" lang="zh-CN" altLang="en-US" sz="2800" i="0" dirty="0">
                <a:latin typeface="+mn-lt"/>
                <a:ea typeface="微软雅黑" panose="020B0503020204020204" pitchFamily="34" charset="-122"/>
              </a:rPr>
              <a:t>长为</a:t>
            </a:r>
            <a:r>
              <a:rPr kumimoji="1" lang="en-US" altLang="zh-CN" sz="2800" b="0" dirty="0">
                <a:latin typeface="+mn-lt"/>
                <a:ea typeface="微软雅黑" panose="020B0503020204020204" pitchFamily="34" charset="-122"/>
              </a:rPr>
              <a:t>l</a:t>
            </a:r>
            <a:r>
              <a:rPr lang="zh-CN" altLang="en-US" sz="2800" i="0" dirty="0">
                <a:latin typeface="+mn-lt"/>
                <a:ea typeface="微软雅黑" panose="020B0503020204020204" pitchFamily="34" charset="-122"/>
              </a:rPr>
              <a:t>的等截面圆轴</a:t>
            </a:r>
            <a:r>
              <a:rPr kumimoji="1" lang="zh-CN" altLang="en-US" sz="2800" i="0" dirty="0">
                <a:latin typeface="+mn-lt"/>
                <a:ea typeface="微软雅黑" panose="020B0503020204020204" pitchFamily="34" charset="-122"/>
              </a:rPr>
              <a:t>，两截面间相对扭转角</a:t>
            </a:r>
            <a:r>
              <a:rPr kumimoji="1" lang="zh-CN" altLang="en-US" sz="2800" b="0" dirty="0">
                <a:latin typeface="+mn-lt"/>
                <a:ea typeface="微软雅黑" panose="020B0503020204020204" pitchFamily="34" charset="-122"/>
                <a:sym typeface="Symbol" pitchFamily="18" charset="2"/>
              </a:rPr>
              <a:t></a:t>
            </a:r>
            <a:r>
              <a:rPr kumimoji="1" lang="zh-CN" altLang="en-US" sz="2800" i="0" dirty="0">
                <a:latin typeface="+mn-lt"/>
                <a:ea typeface="微软雅黑" panose="020B0503020204020204" pitchFamily="34" charset="-122"/>
                <a:sym typeface="Symbol" pitchFamily="18" charset="2"/>
              </a:rPr>
              <a:t>为</a:t>
            </a:r>
            <a:endParaRPr kumimoji="1" lang="zh-CN" altLang="en-US" sz="2800" i="0" dirty="0">
              <a:latin typeface="+mn-lt"/>
              <a:ea typeface="微软雅黑" panose="020B0503020204020204" pitchFamily="34" charset="-122"/>
            </a:endParaRPr>
          </a:p>
        </p:txBody>
      </p:sp>
      <p:graphicFrame>
        <p:nvGraphicFramePr>
          <p:cNvPr id="6" name="Object 8">
            <a:extLst>
              <a:ext uri="{FF2B5EF4-FFF2-40B4-BE49-F238E27FC236}">
                <a16:creationId xmlns:a16="http://schemas.microsoft.com/office/drawing/2014/main" xmlns="" id="{C9750DCD-005E-D5C6-E876-1C7FC4E35BBE}"/>
              </a:ext>
            </a:extLst>
          </p:cNvPr>
          <p:cNvGraphicFramePr>
            <a:graphicFrameLocks noChangeAspect="1"/>
          </p:cNvGraphicFramePr>
          <p:nvPr>
            <p:extLst>
              <p:ext uri="{D42A27DB-BD31-4B8C-83A1-F6EECF244321}">
                <p14:modId xmlns:p14="http://schemas.microsoft.com/office/powerpoint/2010/main" val="709680364"/>
              </p:ext>
            </p:extLst>
          </p:nvPr>
        </p:nvGraphicFramePr>
        <p:xfrm>
          <a:off x="2855640" y="4427701"/>
          <a:ext cx="4240313" cy="1045608"/>
        </p:xfrm>
        <a:graphic>
          <a:graphicData uri="http://schemas.openxmlformats.org/presentationml/2006/ole">
            <mc:AlternateContent xmlns:mc="http://schemas.openxmlformats.org/markup-compatibility/2006">
              <mc:Choice xmlns:v="urn:schemas-microsoft-com:vml" Requires="v">
                <p:oleObj spid="_x0000_s12297" name="Equation" r:id="rId6" imgW="1803240" imgH="444240" progId="Equation.DSMT4">
                  <p:embed/>
                </p:oleObj>
              </mc:Choice>
              <mc:Fallback>
                <p:oleObj name="Equation" r:id="rId6" imgW="1803240" imgH="444240" progId="Equation.DSMT4">
                  <p:embed/>
                  <p:pic>
                    <p:nvPicPr>
                      <p:cNvPr id="41" name="Object 8"/>
                      <p:cNvPicPr>
                        <a:picLocks noChangeAspect="1" noChangeArrowheads="1"/>
                      </p:cNvPicPr>
                      <p:nvPr/>
                    </p:nvPicPr>
                    <p:blipFill>
                      <a:blip r:embed="rId7"/>
                      <a:srcRect/>
                      <a:stretch>
                        <a:fillRect/>
                      </a:stretch>
                    </p:blipFill>
                    <p:spPr bwMode="auto">
                      <a:xfrm>
                        <a:off x="2855640" y="4427701"/>
                        <a:ext cx="4240313" cy="1045608"/>
                      </a:xfrm>
                      <a:prstGeom prst="rect">
                        <a:avLst/>
                      </a:prstGeom>
                      <a:noFill/>
                      <a:ln>
                        <a:noFill/>
                      </a:ln>
                      <a:effectLst/>
                    </p:spPr>
                  </p:pic>
                </p:oleObj>
              </mc:Fallback>
            </mc:AlternateContent>
          </a:graphicData>
        </a:graphic>
      </p:graphicFrame>
      <p:grpSp>
        <p:nvGrpSpPr>
          <p:cNvPr id="10" name="组合 9">
            <a:extLst>
              <a:ext uri="{FF2B5EF4-FFF2-40B4-BE49-F238E27FC236}">
                <a16:creationId xmlns:a16="http://schemas.microsoft.com/office/drawing/2014/main" xmlns="" id="{6FBF8AC7-9EA5-71A9-7EE5-BD3DD291C640}"/>
              </a:ext>
            </a:extLst>
          </p:cNvPr>
          <p:cNvGrpSpPr/>
          <p:nvPr/>
        </p:nvGrpSpPr>
        <p:grpSpPr>
          <a:xfrm>
            <a:off x="8261373" y="1658375"/>
            <a:ext cx="3694004" cy="1827219"/>
            <a:chOff x="374650" y="1441215"/>
            <a:chExt cx="3694004" cy="1827219"/>
          </a:xfrm>
        </p:grpSpPr>
        <p:grpSp>
          <p:nvGrpSpPr>
            <p:cNvPr id="11" name="组合 10">
              <a:extLst>
                <a:ext uri="{FF2B5EF4-FFF2-40B4-BE49-F238E27FC236}">
                  <a16:creationId xmlns:a16="http://schemas.microsoft.com/office/drawing/2014/main" xmlns="" id="{FF7787E1-342E-E7C4-041A-8ECA9C60AA0E}"/>
                </a:ext>
              </a:extLst>
            </p:cNvPr>
            <p:cNvGrpSpPr/>
            <p:nvPr/>
          </p:nvGrpSpPr>
          <p:grpSpPr>
            <a:xfrm>
              <a:off x="374650" y="1441215"/>
              <a:ext cx="3694004" cy="1219200"/>
              <a:chOff x="374650" y="1441215"/>
              <a:chExt cx="3694004" cy="1219200"/>
            </a:xfrm>
          </p:grpSpPr>
          <p:grpSp>
            <p:nvGrpSpPr>
              <p:cNvPr id="23" name="组合 22">
                <a:extLst>
                  <a:ext uri="{FF2B5EF4-FFF2-40B4-BE49-F238E27FC236}">
                    <a16:creationId xmlns:a16="http://schemas.microsoft.com/office/drawing/2014/main" xmlns="" id="{46DFEB37-173F-0902-5117-37F026172250}"/>
                  </a:ext>
                </a:extLst>
              </p:cNvPr>
              <p:cNvGrpSpPr/>
              <p:nvPr/>
            </p:nvGrpSpPr>
            <p:grpSpPr>
              <a:xfrm>
                <a:off x="374650" y="1441215"/>
                <a:ext cx="3694004" cy="1219200"/>
                <a:chOff x="374650" y="1441215"/>
                <a:chExt cx="3694004" cy="1219200"/>
              </a:xfrm>
            </p:grpSpPr>
            <p:pic>
              <p:nvPicPr>
                <p:cNvPr id="37" name="图片 36">
                  <a:extLst>
                    <a:ext uri="{FF2B5EF4-FFF2-40B4-BE49-F238E27FC236}">
                      <a16:creationId xmlns:a16="http://schemas.microsoft.com/office/drawing/2014/main" xmlns="" id="{130898A9-A4BD-D3BB-F755-2183ABF6709A}"/>
                    </a:ext>
                  </a:extLst>
                </p:cNvPr>
                <p:cNvPicPr>
                  <a:picLocks noChangeAspect="1"/>
                </p:cNvPicPr>
                <p:nvPr/>
              </p:nvPicPr>
              <p:blipFill>
                <a:blip r:embed="rId8"/>
                <a:stretch>
                  <a:fillRect/>
                </a:stretch>
              </p:blipFill>
              <p:spPr>
                <a:xfrm>
                  <a:off x="374650" y="1441215"/>
                  <a:ext cx="3343275" cy="1219200"/>
                </a:xfrm>
                <a:prstGeom prst="rect">
                  <a:avLst/>
                </a:prstGeom>
              </p:spPr>
            </p:pic>
            <p:sp>
              <p:nvSpPr>
                <p:cNvPr id="38" name="弧形 37">
                  <a:extLst>
                    <a:ext uri="{FF2B5EF4-FFF2-40B4-BE49-F238E27FC236}">
                      <a16:creationId xmlns:a16="http://schemas.microsoft.com/office/drawing/2014/main" xmlns="" id="{AA1AE6D4-7213-E789-F308-040FF03412A5}"/>
                    </a:ext>
                  </a:extLst>
                </p:cNvPr>
                <p:cNvSpPr/>
                <p:nvPr/>
              </p:nvSpPr>
              <p:spPr>
                <a:xfrm rot="13594886">
                  <a:off x="544009" y="1461045"/>
                  <a:ext cx="1173867" cy="1185834"/>
                </a:xfrm>
                <a:prstGeom prst="arc">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弧形 38">
                  <a:extLst>
                    <a:ext uri="{FF2B5EF4-FFF2-40B4-BE49-F238E27FC236}">
                      <a16:creationId xmlns:a16="http://schemas.microsoft.com/office/drawing/2014/main" xmlns="" id="{086D9122-DF0E-44FE-DB5C-5EDC8142CC44}"/>
                    </a:ext>
                  </a:extLst>
                </p:cNvPr>
                <p:cNvSpPr/>
                <p:nvPr/>
              </p:nvSpPr>
              <p:spPr>
                <a:xfrm rot="13594886">
                  <a:off x="2888803" y="1470425"/>
                  <a:ext cx="1173867" cy="1185834"/>
                </a:xfrm>
                <a:prstGeom prst="arc">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40" name="直接箭头连接符 39">
                  <a:extLst>
                    <a:ext uri="{FF2B5EF4-FFF2-40B4-BE49-F238E27FC236}">
                      <a16:creationId xmlns:a16="http://schemas.microsoft.com/office/drawing/2014/main" xmlns="" id="{D59CECD7-F42F-6380-1D68-2B7CA0E25108}"/>
                    </a:ext>
                  </a:extLst>
                </p:cNvPr>
                <p:cNvCxnSpPr/>
                <p:nvPr/>
              </p:nvCxnSpPr>
              <p:spPr>
                <a:xfrm>
                  <a:off x="3340359" y="2051050"/>
                  <a:ext cx="643812" cy="0"/>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xmlns="" id="{E7C3D88D-5978-EB08-CFA7-F48076EB60D0}"/>
                    </a:ext>
                  </a:extLst>
                </p:cNvPr>
                <p:cNvSpPr txBox="1"/>
                <p:nvPr/>
              </p:nvSpPr>
              <p:spPr>
                <a:xfrm>
                  <a:off x="599675" y="2122769"/>
                  <a:ext cx="425116" cy="338554"/>
                </a:xfrm>
                <a:prstGeom prst="rect">
                  <a:avLst/>
                </a:prstGeom>
                <a:noFill/>
              </p:spPr>
              <p:txBody>
                <a:bodyPr wrap="none" rtlCol="0">
                  <a:spAutoFit/>
                </a:bodyPr>
                <a:lstStyle/>
                <a:p>
                  <a:r>
                    <a:rPr lang="en-US" altLang="zh-CN" sz="1600" b="0" i="1" dirty="0">
                      <a:solidFill>
                        <a:srgbClr val="FF0000"/>
                      </a:solidFill>
                      <a:latin typeface="+mn-lt"/>
                    </a:rPr>
                    <a:t>M</a:t>
                  </a:r>
                  <a:r>
                    <a:rPr lang="en-US" altLang="zh-CN" sz="1600" b="0" i="0" baseline="-25000" dirty="0">
                      <a:solidFill>
                        <a:srgbClr val="FF0000"/>
                      </a:solidFill>
                      <a:latin typeface="+mn-lt"/>
                    </a:rPr>
                    <a:t>n</a:t>
                  </a:r>
                  <a:endParaRPr lang="zh-CN" altLang="en-US" sz="1600" b="0" i="0" baseline="-25000" dirty="0">
                    <a:solidFill>
                      <a:srgbClr val="FF0000"/>
                    </a:solidFill>
                    <a:latin typeface="+mn-lt"/>
                  </a:endParaRPr>
                </a:p>
              </p:txBody>
            </p:sp>
            <p:sp>
              <p:nvSpPr>
                <p:cNvPr id="42" name="文本框 40">
                  <a:extLst>
                    <a:ext uri="{FF2B5EF4-FFF2-40B4-BE49-F238E27FC236}">
                      <a16:creationId xmlns:a16="http://schemas.microsoft.com/office/drawing/2014/main" xmlns="" id="{96FE3E1C-337F-B430-DE10-601B4B0FF30F}"/>
                    </a:ext>
                  </a:extLst>
                </p:cNvPr>
                <p:cNvSpPr txBox="1"/>
                <p:nvPr/>
              </p:nvSpPr>
              <p:spPr>
                <a:xfrm>
                  <a:off x="2579895" y="2195515"/>
                  <a:ext cx="425116" cy="338554"/>
                </a:xfrm>
                <a:prstGeom prst="rect">
                  <a:avLst/>
                </a:prstGeom>
                <a:noFill/>
              </p:spPr>
              <p:txBody>
                <a:bodyPr wrap="none" rtlCol="0">
                  <a:spAutoFit/>
                </a:bodyPr>
                <a:lstStyle/>
                <a:p>
                  <a:r>
                    <a:rPr lang="en-US" altLang="zh-CN" sz="1600" b="0" i="1" dirty="0">
                      <a:solidFill>
                        <a:srgbClr val="FF0000"/>
                      </a:solidFill>
                      <a:latin typeface="+mn-lt"/>
                    </a:rPr>
                    <a:t>M</a:t>
                  </a:r>
                  <a:r>
                    <a:rPr lang="en-US" altLang="zh-CN" sz="1600" b="0" i="0" baseline="-25000" dirty="0">
                      <a:solidFill>
                        <a:srgbClr val="FF0000"/>
                      </a:solidFill>
                      <a:latin typeface="+mn-lt"/>
                    </a:rPr>
                    <a:t>n</a:t>
                  </a:r>
                  <a:endParaRPr lang="zh-CN" altLang="en-US" sz="1600" b="0" i="0" baseline="-25000" dirty="0">
                    <a:solidFill>
                      <a:srgbClr val="FF0000"/>
                    </a:solidFill>
                    <a:latin typeface="+mn-lt"/>
                  </a:endParaRPr>
                </a:p>
              </p:txBody>
            </p:sp>
          </p:grpSp>
          <p:cxnSp>
            <p:nvCxnSpPr>
              <p:cNvPr id="24" name="直接连接符 23">
                <a:extLst>
                  <a:ext uri="{FF2B5EF4-FFF2-40B4-BE49-F238E27FC236}">
                    <a16:creationId xmlns:a16="http://schemas.microsoft.com/office/drawing/2014/main" xmlns="" id="{12D3A7D2-2C23-A3E2-7EAA-EEFE16069482}"/>
                  </a:ext>
                </a:extLst>
              </p:cNvPr>
              <p:cNvCxnSpPr/>
              <p:nvPr/>
            </p:nvCxnSpPr>
            <p:spPr>
              <a:xfrm>
                <a:off x="479872" y="1795722"/>
                <a:ext cx="259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xmlns="" id="{0ED0CED8-4684-C08C-162F-3948FB68CEBD}"/>
                  </a:ext>
                </a:extLst>
              </p:cNvPr>
              <p:cNvCxnSpPr/>
              <p:nvPr/>
            </p:nvCxnSpPr>
            <p:spPr>
              <a:xfrm>
                <a:off x="479872" y="1795722"/>
                <a:ext cx="2550073" cy="4616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xmlns="" id="{F91C84B5-7256-823C-C0D4-FFD5984458F8}"/>
                  </a:ext>
                </a:extLst>
              </p:cNvPr>
              <p:cNvCxnSpPr>
                <a:cxnSpLocks noChangeAspect="1"/>
              </p:cNvCxnSpPr>
              <p:nvPr/>
            </p:nvCxnSpPr>
            <p:spPr>
              <a:xfrm>
                <a:off x="3051110" y="1795722"/>
                <a:ext cx="289249" cy="2553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xmlns="" id="{88BA8CA2-F61E-C119-81E9-CCE4B17E6E2C}"/>
                  </a:ext>
                </a:extLst>
              </p:cNvPr>
              <p:cNvCxnSpPr>
                <a:cxnSpLocks/>
              </p:cNvCxnSpPr>
              <p:nvPr/>
            </p:nvCxnSpPr>
            <p:spPr>
              <a:xfrm flipV="1">
                <a:off x="3029945" y="2050817"/>
                <a:ext cx="315615" cy="20657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xmlns="" id="{885E954A-C12A-CD4D-6101-47849C734B22}"/>
                  </a:ext>
                </a:extLst>
              </p:cNvPr>
              <p:cNvCxnSpPr>
                <a:cxnSpLocks/>
              </p:cNvCxnSpPr>
              <p:nvPr/>
            </p:nvCxnSpPr>
            <p:spPr>
              <a:xfrm flipV="1">
                <a:off x="3340359" y="1589385"/>
                <a:ext cx="135377" cy="461430"/>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29" name="文本框 30">
                <a:extLst>
                  <a:ext uri="{FF2B5EF4-FFF2-40B4-BE49-F238E27FC236}">
                    <a16:creationId xmlns:a16="http://schemas.microsoft.com/office/drawing/2014/main" xmlns="" id="{ECCC3527-30B1-50A2-40CD-2AE0C888CFBF}"/>
                  </a:ext>
                </a:extLst>
              </p:cNvPr>
              <p:cNvSpPr txBox="1"/>
              <p:nvPr/>
            </p:nvSpPr>
            <p:spPr>
              <a:xfrm>
                <a:off x="2946872" y="1811956"/>
                <a:ext cx="308098" cy="338554"/>
              </a:xfrm>
              <a:prstGeom prst="rect">
                <a:avLst/>
              </a:prstGeom>
              <a:noFill/>
            </p:spPr>
            <p:txBody>
              <a:bodyPr wrap="none" rtlCol="0">
                <a:spAutoFit/>
              </a:bodyPr>
              <a:lstStyle/>
              <a:p>
                <a:r>
                  <a:rPr lang="zh-CN" altLang="en-US" sz="1600" b="0" i="1" dirty="0">
                    <a:solidFill>
                      <a:schemeClr val="tx1"/>
                    </a:solidFill>
                    <a:latin typeface="+mn-lt"/>
                    <a:sym typeface="Symbol"/>
                  </a:rPr>
                  <a:t></a:t>
                </a:r>
                <a:endParaRPr lang="zh-CN" altLang="en-US" b="0" i="1" dirty="0">
                  <a:solidFill>
                    <a:schemeClr val="tx1"/>
                  </a:solidFill>
                  <a:latin typeface="+mn-lt"/>
                </a:endParaRPr>
              </a:p>
            </p:txBody>
          </p:sp>
          <p:sp>
            <p:nvSpPr>
              <p:cNvPr id="30" name="文本框 31">
                <a:extLst>
                  <a:ext uri="{FF2B5EF4-FFF2-40B4-BE49-F238E27FC236}">
                    <a16:creationId xmlns:a16="http://schemas.microsoft.com/office/drawing/2014/main" xmlns="" id="{BA7CBDA1-A144-AB2F-B44D-44E189EFCF0B}"/>
                  </a:ext>
                </a:extLst>
              </p:cNvPr>
              <p:cNvSpPr txBox="1"/>
              <p:nvPr/>
            </p:nvSpPr>
            <p:spPr>
              <a:xfrm>
                <a:off x="1409765" y="1664668"/>
                <a:ext cx="269626" cy="338554"/>
              </a:xfrm>
              <a:prstGeom prst="rect">
                <a:avLst/>
              </a:prstGeom>
              <a:noFill/>
            </p:spPr>
            <p:txBody>
              <a:bodyPr wrap="none" rtlCol="0">
                <a:spAutoFit/>
              </a:bodyPr>
              <a:lstStyle/>
              <a:p>
                <a:r>
                  <a:rPr lang="zh-CN" altLang="en-US" sz="1600" b="1" i="1" dirty="0">
                    <a:solidFill>
                      <a:schemeClr val="tx1"/>
                    </a:solidFill>
                    <a:sym typeface="Symbol"/>
                  </a:rPr>
                  <a:t></a:t>
                </a:r>
                <a:endParaRPr lang="zh-CN" altLang="en-US" b="1" i="1" dirty="0">
                  <a:solidFill>
                    <a:schemeClr val="tx1"/>
                  </a:solidFill>
                </a:endParaRPr>
              </a:p>
            </p:txBody>
          </p:sp>
          <p:sp>
            <p:nvSpPr>
              <p:cNvPr id="31" name="文本框 32">
                <a:extLst>
                  <a:ext uri="{FF2B5EF4-FFF2-40B4-BE49-F238E27FC236}">
                    <a16:creationId xmlns:a16="http://schemas.microsoft.com/office/drawing/2014/main" xmlns="" id="{77A0165C-1141-1D18-7B32-8204D2B9F90E}"/>
                  </a:ext>
                </a:extLst>
              </p:cNvPr>
              <p:cNvSpPr txBox="1"/>
              <p:nvPr/>
            </p:nvSpPr>
            <p:spPr>
              <a:xfrm>
                <a:off x="3164960" y="1596569"/>
                <a:ext cx="320922" cy="338554"/>
              </a:xfrm>
              <a:prstGeom prst="rect">
                <a:avLst/>
              </a:prstGeom>
              <a:noFill/>
            </p:spPr>
            <p:txBody>
              <a:bodyPr wrap="none" rtlCol="0">
                <a:spAutoFit/>
              </a:bodyPr>
              <a:lstStyle/>
              <a:p>
                <a:r>
                  <a:rPr lang="en-US" altLang="zh-CN" sz="1600" b="0" i="1" dirty="0">
                    <a:solidFill>
                      <a:schemeClr val="tx1"/>
                    </a:solidFill>
                    <a:latin typeface="+mn-lt"/>
                  </a:rPr>
                  <a:t>R</a:t>
                </a:r>
                <a:endParaRPr lang="zh-CN" altLang="en-US" b="0" i="1" dirty="0">
                  <a:solidFill>
                    <a:schemeClr val="tx1"/>
                  </a:solidFill>
                  <a:latin typeface="+mn-lt"/>
                </a:endParaRPr>
              </a:p>
            </p:txBody>
          </p:sp>
          <p:sp>
            <p:nvSpPr>
              <p:cNvPr id="32" name="弧形 31">
                <a:extLst>
                  <a:ext uri="{FF2B5EF4-FFF2-40B4-BE49-F238E27FC236}">
                    <a16:creationId xmlns:a16="http://schemas.microsoft.com/office/drawing/2014/main" xmlns="" id="{E141AB93-57D6-D80C-474A-43587DECBA5D}"/>
                  </a:ext>
                </a:extLst>
              </p:cNvPr>
              <p:cNvSpPr>
                <a:spLocks noChangeAspect="1"/>
              </p:cNvSpPr>
              <p:nvPr/>
            </p:nvSpPr>
            <p:spPr>
              <a:xfrm rot="13478190">
                <a:off x="3204000" y="1944000"/>
                <a:ext cx="180000" cy="180000"/>
              </a:xfrm>
              <a:prstGeom prst="arc">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3" name="弧形 32">
                <a:extLst>
                  <a:ext uri="{FF2B5EF4-FFF2-40B4-BE49-F238E27FC236}">
                    <a16:creationId xmlns:a16="http://schemas.microsoft.com/office/drawing/2014/main" xmlns="" id="{3ECCC1FA-4DAF-4A85-AE3B-B9E8EAF3EC87}"/>
                  </a:ext>
                </a:extLst>
              </p:cNvPr>
              <p:cNvSpPr>
                <a:spLocks noChangeAspect="1"/>
              </p:cNvSpPr>
              <p:nvPr/>
            </p:nvSpPr>
            <p:spPr>
              <a:xfrm rot="3646572">
                <a:off x="1181024" y="1728000"/>
                <a:ext cx="252000" cy="252000"/>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4" name="文本框 32">
                <a:extLst>
                  <a:ext uri="{FF2B5EF4-FFF2-40B4-BE49-F238E27FC236}">
                    <a16:creationId xmlns:a16="http://schemas.microsoft.com/office/drawing/2014/main" xmlns="" id="{954423E9-9E0A-21FE-4D00-6559084CD5CE}"/>
                  </a:ext>
                </a:extLst>
              </p:cNvPr>
              <p:cNvSpPr txBox="1"/>
              <p:nvPr/>
            </p:nvSpPr>
            <p:spPr>
              <a:xfrm>
                <a:off x="3705020" y="1700460"/>
                <a:ext cx="298480" cy="400110"/>
              </a:xfrm>
              <a:prstGeom prst="rect">
                <a:avLst/>
              </a:prstGeom>
              <a:noFill/>
            </p:spPr>
            <p:txBody>
              <a:bodyPr wrap="none" rtlCol="0">
                <a:spAutoFit/>
              </a:bodyPr>
              <a:lstStyle/>
              <a:p>
                <a:r>
                  <a:rPr lang="en-US" altLang="zh-CN" sz="2000" b="0" i="1" dirty="0">
                    <a:solidFill>
                      <a:schemeClr val="tx1"/>
                    </a:solidFill>
                    <a:latin typeface="+mn-lt"/>
                  </a:rPr>
                  <a:t>x</a:t>
                </a:r>
                <a:endParaRPr lang="zh-CN" altLang="en-US" sz="2000" b="0" i="1" dirty="0">
                  <a:solidFill>
                    <a:schemeClr val="tx1"/>
                  </a:solidFill>
                  <a:latin typeface="+mn-lt"/>
                </a:endParaRPr>
              </a:p>
            </p:txBody>
          </p:sp>
        </p:grpSp>
        <p:cxnSp>
          <p:nvCxnSpPr>
            <p:cNvPr id="15" name="直接连接符 14">
              <a:extLst>
                <a:ext uri="{FF2B5EF4-FFF2-40B4-BE49-F238E27FC236}">
                  <a16:creationId xmlns:a16="http://schemas.microsoft.com/office/drawing/2014/main" xmlns="" id="{02C1C3C2-8567-FE32-3E14-E9B3B736E4F9}"/>
                </a:ext>
              </a:extLst>
            </p:cNvPr>
            <p:cNvCxnSpPr/>
            <p:nvPr/>
          </p:nvCxnSpPr>
          <p:spPr>
            <a:xfrm>
              <a:off x="718457" y="2584434"/>
              <a:ext cx="0" cy="68400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xmlns="" id="{4A1BBE0A-776A-E88D-0B69-25ECDFD89C0D}"/>
                </a:ext>
              </a:extLst>
            </p:cNvPr>
            <p:cNvCxnSpPr/>
            <p:nvPr/>
          </p:nvCxnSpPr>
          <p:spPr>
            <a:xfrm>
              <a:off x="3392496" y="2567090"/>
              <a:ext cx="0" cy="68400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xmlns="" id="{A139645C-D332-B3BD-0977-668C31AB6228}"/>
                </a:ext>
              </a:extLst>
            </p:cNvPr>
            <p:cNvCxnSpPr/>
            <p:nvPr/>
          </p:nvCxnSpPr>
          <p:spPr>
            <a:xfrm flipV="1">
              <a:off x="718457" y="3172811"/>
              <a:ext cx="2664000" cy="0"/>
            </a:xfrm>
            <a:prstGeom prst="line">
              <a:avLst/>
            </a:prstGeom>
            <a:ln w="9525">
              <a:solidFill>
                <a:schemeClr val="tx1"/>
              </a:solidFill>
              <a:headEnd type="stealth" w="sm" len="med"/>
              <a:tailEnd type="stealth" w="sm"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文本框 23">
                  <a:extLst>
                    <a:ext uri="{FF2B5EF4-FFF2-40B4-BE49-F238E27FC236}">
                      <a16:creationId xmlns:a16="http://schemas.microsoft.com/office/drawing/2014/main" xmlns="" id="{8F5C03FF-DB3A-AD3E-5CF8-CE54B76BE8FF}"/>
                    </a:ext>
                  </a:extLst>
                </p:cNvPr>
                <p:cNvSpPr txBox="1"/>
                <p:nvPr/>
              </p:nvSpPr>
              <p:spPr>
                <a:xfrm>
                  <a:off x="1951066" y="2805841"/>
                  <a:ext cx="33868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rPr>
                          <m:t>𝑙</m:t>
                        </m:r>
                      </m:oMath>
                    </m:oMathPara>
                  </a14:m>
                  <a:endParaRPr lang="zh-CN" altLang="en-US" sz="2000" b="0" dirty="0">
                    <a:solidFill>
                      <a:schemeClr val="tx1"/>
                    </a:solidFill>
                  </a:endParaRPr>
                </a:p>
              </p:txBody>
            </p:sp>
          </mc:Choice>
          <mc:Fallback xmlns="">
            <p:sp>
              <p:nvSpPr>
                <p:cNvPr id="22" name="文本框 23">
                  <a:extLst>
                    <a:ext uri="{FF2B5EF4-FFF2-40B4-BE49-F238E27FC236}">
                      <a16:creationId xmlns:a16="http://schemas.microsoft.com/office/drawing/2014/main" id="{8F5C03FF-DB3A-AD3E-5CF8-CE54B76BE8FF}"/>
                    </a:ext>
                  </a:extLst>
                </p:cNvPr>
                <p:cNvSpPr txBox="1">
                  <a:spLocks noRot="1" noChangeAspect="1" noMove="1" noResize="1" noEditPoints="1" noAdjustHandles="1" noChangeArrowheads="1" noChangeShapeType="1" noTextEdit="1"/>
                </p:cNvSpPr>
                <p:nvPr/>
              </p:nvSpPr>
              <p:spPr>
                <a:xfrm>
                  <a:off x="1951066" y="2805841"/>
                  <a:ext cx="338682" cy="400110"/>
                </a:xfrm>
                <a:prstGeom prst="rect">
                  <a:avLst/>
                </a:prstGeom>
                <a:blipFill>
                  <a:blip r:embed="rId9"/>
                  <a:stretch>
                    <a:fillRect/>
                  </a:stretch>
                </a:blipFill>
              </p:spPr>
              <p:txBody>
                <a:bodyPr/>
                <a:lstStyle/>
                <a:p>
                  <a:r>
                    <a:rPr lang="zh-CN" altLang="en-US">
                      <a:noFill/>
                    </a:rPr>
                    <a:t> </a:t>
                  </a:r>
                </a:p>
              </p:txBody>
            </p:sp>
          </mc:Fallback>
        </mc:AlternateContent>
      </p:grpSp>
      <p:graphicFrame>
        <p:nvGraphicFramePr>
          <p:cNvPr id="43" name="Object 8">
            <a:extLst>
              <a:ext uri="{FF2B5EF4-FFF2-40B4-BE49-F238E27FC236}">
                <a16:creationId xmlns:a16="http://schemas.microsoft.com/office/drawing/2014/main" xmlns="" id="{208A450B-A242-5E0B-B2EC-91C76B9E872C}"/>
              </a:ext>
            </a:extLst>
          </p:cNvPr>
          <p:cNvGraphicFramePr>
            <a:graphicFrameLocks noChangeAspect="1"/>
          </p:cNvGraphicFramePr>
          <p:nvPr>
            <p:extLst>
              <p:ext uri="{D42A27DB-BD31-4B8C-83A1-F6EECF244321}">
                <p14:modId xmlns:p14="http://schemas.microsoft.com/office/powerpoint/2010/main" val="85672158"/>
              </p:ext>
            </p:extLst>
          </p:nvPr>
        </p:nvGraphicFramePr>
        <p:xfrm>
          <a:off x="7631243" y="4666257"/>
          <a:ext cx="655637" cy="566737"/>
        </p:xfrm>
        <a:graphic>
          <a:graphicData uri="http://schemas.openxmlformats.org/presentationml/2006/ole">
            <mc:AlternateContent xmlns:mc="http://schemas.openxmlformats.org/markup-compatibility/2006">
              <mc:Choice xmlns:v="urn:schemas-microsoft-com:vml" Requires="v">
                <p:oleObj spid="_x0000_s12298" name="Equation" r:id="rId10" imgW="279360" imgH="241200" progId="Equation.DSMT4">
                  <p:embed/>
                </p:oleObj>
              </mc:Choice>
              <mc:Fallback>
                <p:oleObj name="Equation" r:id="rId10" imgW="279360" imgH="241200" progId="Equation.DSMT4">
                  <p:embed/>
                  <p:pic>
                    <p:nvPicPr>
                      <p:cNvPr id="6" name="Object 8">
                        <a:extLst>
                          <a:ext uri="{FF2B5EF4-FFF2-40B4-BE49-F238E27FC236}">
                            <a16:creationId xmlns:a16="http://schemas.microsoft.com/office/drawing/2014/main" xmlns="" id="{C9750DCD-005E-D5C6-E876-1C7FC4E35BBE}"/>
                          </a:ext>
                        </a:extLst>
                      </p:cNvPr>
                      <p:cNvPicPr>
                        <a:picLocks noChangeAspect="1" noChangeArrowheads="1"/>
                      </p:cNvPicPr>
                      <p:nvPr/>
                    </p:nvPicPr>
                    <p:blipFill>
                      <a:blip r:embed="rId11"/>
                      <a:srcRect/>
                      <a:stretch>
                        <a:fillRect/>
                      </a:stretch>
                    </p:blipFill>
                    <p:spPr bwMode="auto">
                      <a:xfrm>
                        <a:off x="7631243" y="4666257"/>
                        <a:ext cx="655637" cy="566737"/>
                      </a:xfrm>
                      <a:prstGeom prst="rect">
                        <a:avLst/>
                      </a:prstGeom>
                      <a:noFill/>
                      <a:ln>
                        <a:noFill/>
                      </a:ln>
                      <a:effectLst/>
                    </p:spPr>
                  </p:pic>
                </p:oleObj>
              </mc:Fallback>
            </mc:AlternateContent>
          </a:graphicData>
        </a:graphic>
      </p:graphicFrame>
      <p:sp>
        <p:nvSpPr>
          <p:cNvPr id="44" name="Text Box 1032">
            <a:extLst>
              <a:ext uri="{FF2B5EF4-FFF2-40B4-BE49-F238E27FC236}">
                <a16:creationId xmlns:a16="http://schemas.microsoft.com/office/drawing/2014/main" xmlns="" id="{A2C45E24-75D5-4D55-30AE-C3093C060782}"/>
              </a:ext>
            </a:extLst>
          </p:cNvPr>
          <p:cNvSpPr txBox="1">
            <a:spLocks noChangeArrowheads="1"/>
          </p:cNvSpPr>
          <p:nvPr/>
        </p:nvSpPr>
        <p:spPr bwMode="auto">
          <a:xfrm>
            <a:off x="8225510" y="4614191"/>
            <a:ext cx="3121316" cy="581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5000"/>
              </a:lnSpc>
            </a:pPr>
            <a:r>
              <a:rPr kumimoji="1" lang="zh-CN" altLang="en-US" sz="2800" i="0" dirty="0">
                <a:latin typeface="+mn-lt"/>
                <a:ea typeface="微软雅黑" panose="020B0503020204020204" pitchFamily="34" charset="-122"/>
              </a:rPr>
              <a:t>为</a:t>
            </a:r>
            <a:r>
              <a:rPr kumimoji="1" lang="zh-CN" altLang="en-US" sz="2800" i="0" dirty="0">
                <a:solidFill>
                  <a:srgbClr val="FF0000"/>
                </a:solidFill>
                <a:latin typeface="+mn-lt"/>
                <a:ea typeface="微软雅黑" panose="020B0503020204020204" pitchFamily="34" charset="-122"/>
              </a:rPr>
              <a:t>截面抗扭刚度</a:t>
            </a:r>
            <a:endParaRPr kumimoji="1" lang="en-US" altLang="zh-CN" sz="2800" i="0" dirty="0">
              <a:solidFill>
                <a:srgbClr val="FF0000"/>
              </a:solidFill>
              <a:latin typeface="+mn-lt"/>
              <a:ea typeface="微软雅黑" panose="020B0503020204020204" pitchFamily="34" charset="-122"/>
            </a:endParaRPr>
          </a:p>
        </p:txBody>
      </p:sp>
      <p:sp>
        <p:nvSpPr>
          <p:cNvPr id="45" name="Text Box 1032">
            <a:extLst>
              <a:ext uri="{FF2B5EF4-FFF2-40B4-BE49-F238E27FC236}">
                <a16:creationId xmlns:a16="http://schemas.microsoft.com/office/drawing/2014/main" xmlns="" id="{42CFC43B-D3EB-DF7C-4502-C01231CD7033}"/>
              </a:ext>
            </a:extLst>
          </p:cNvPr>
          <p:cNvSpPr txBox="1">
            <a:spLocks noChangeArrowheads="1"/>
          </p:cNvSpPr>
          <p:nvPr/>
        </p:nvSpPr>
        <p:spPr bwMode="auto">
          <a:xfrm>
            <a:off x="335361" y="5265234"/>
            <a:ext cx="11256382" cy="1120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25000"/>
              </a:lnSpc>
            </a:pPr>
            <a:r>
              <a:rPr kumimoji="1" lang="zh-CN" altLang="en-US" sz="2800" i="0" dirty="0">
                <a:latin typeface="+mn-lt"/>
                <a:ea typeface="微软雅黑" panose="020B0503020204020204" pitchFamily="34" charset="-122"/>
              </a:rPr>
              <a:t>当两个截面间的</a:t>
            </a:r>
            <a:r>
              <a:rPr kumimoji="1" lang="en-US" altLang="zh-CN" sz="2800" b="0" dirty="0">
                <a:latin typeface="+mn-lt"/>
                <a:ea typeface="微软雅黑" panose="020B0503020204020204" pitchFamily="34" charset="-122"/>
              </a:rPr>
              <a:t>M</a:t>
            </a:r>
            <a:r>
              <a:rPr kumimoji="1" lang="en-US" altLang="zh-CN" sz="2800" b="0" i="0" baseline="-25000" dirty="0">
                <a:latin typeface="+mn-lt"/>
                <a:ea typeface="微软雅黑" panose="020B0503020204020204" pitchFamily="34" charset="-122"/>
              </a:rPr>
              <a:t>n</a:t>
            </a:r>
            <a:r>
              <a:rPr kumimoji="1" lang="zh-CN" altLang="en-US" sz="2800" i="0" dirty="0">
                <a:latin typeface="+mn-lt"/>
                <a:ea typeface="微软雅黑" panose="020B0503020204020204" pitchFamily="34" charset="-122"/>
              </a:rPr>
              <a:t>、</a:t>
            </a:r>
            <a:r>
              <a:rPr kumimoji="1" lang="en-US" altLang="zh-CN" sz="2800" b="0" dirty="0">
                <a:latin typeface="+mn-lt"/>
                <a:ea typeface="微软雅黑" panose="020B0503020204020204" pitchFamily="34" charset="-122"/>
              </a:rPr>
              <a:t>G</a:t>
            </a:r>
            <a:r>
              <a:rPr kumimoji="1" lang="zh-CN" altLang="en-US" sz="2800" i="0" dirty="0">
                <a:latin typeface="+mn-lt"/>
                <a:ea typeface="微软雅黑" panose="020B0503020204020204" pitchFamily="34" charset="-122"/>
              </a:rPr>
              <a:t>或</a:t>
            </a:r>
            <a:r>
              <a:rPr kumimoji="1" lang="en-US" altLang="zh-CN" sz="2800" b="0" dirty="0">
                <a:latin typeface="+mn-lt"/>
                <a:ea typeface="微软雅黑" panose="020B0503020204020204" pitchFamily="34" charset="-122"/>
              </a:rPr>
              <a:t>I</a:t>
            </a:r>
            <a:r>
              <a:rPr kumimoji="1" lang="en-US" altLang="zh-CN" sz="2800" b="0" baseline="-25000" dirty="0">
                <a:latin typeface="+mn-lt"/>
                <a:ea typeface="微软雅黑" panose="020B0503020204020204" pitchFamily="34" charset="-122"/>
                <a:sym typeface="Symbol" panose="05050102010706020507" pitchFamily="18" charset="2"/>
              </a:rPr>
              <a:t></a:t>
            </a:r>
            <a:r>
              <a:rPr kumimoji="1" lang="zh-CN" altLang="en-US" sz="2800" i="0" dirty="0">
                <a:latin typeface="+mn-lt"/>
                <a:ea typeface="微软雅黑" panose="020B0503020204020204" pitchFamily="34" charset="-122"/>
              </a:rPr>
              <a:t>为变量时，需分段计算扭角，然后求其代数和，扭角的正负号与扭矩相同。</a:t>
            </a:r>
          </a:p>
        </p:txBody>
      </p:sp>
    </p:spTree>
    <p:extLst>
      <p:ext uri="{BB962C8B-B14F-4D97-AF65-F5344CB8AC3E}">
        <p14:creationId xmlns:p14="http://schemas.microsoft.com/office/powerpoint/2010/main" val="110759261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4"/>
                                        </p:tgtEl>
                                        <p:attrNameLst>
                                          <p:attrName>style.visibility</p:attrName>
                                        </p:attrNameLst>
                                      </p:cBhvr>
                                      <p:to>
                                        <p:strVal val="visible"/>
                                      </p:to>
                                    </p:se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wipe(left)">
                                      <p:cBhvr>
                                        <p:cTn id="30" dur="500"/>
                                        <p:tgtEl>
                                          <p:spTgt spid="43"/>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4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9" grpId="0" animBg="1"/>
      <p:bldP spid="4" grpId="0" autoUpdateAnimBg="0"/>
      <p:bldP spid="44" grpId="0" autoUpdateAnimBg="0"/>
      <p:bldP spid="45"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61"/>
          <p:cNvSpPr>
            <a:spLocks noChangeArrowheads="1"/>
          </p:cNvSpPr>
          <p:nvPr/>
        </p:nvSpPr>
        <p:spPr bwMode="auto">
          <a:xfrm>
            <a:off x="7524438" y="919848"/>
            <a:ext cx="4320480" cy="4408807"/>
          </a:xfrm>
          <a:prstGeom prst="rect">
            <a:avLst/>
          </a:prstGeom>
          <a:solidFill>
            <a:srgbClr val="B9CDE5"/>
          </a:solidFill>
          <a:ln>
            <a:noFill/>
          </a:ln>
          <a:effectLst/>
        </p:spPr>
        <p:txBody>
          <a:bodyPr wrap="none" anchor="ctr"/>
          <a:lstStyle/>
          <a:p>
            <a:endParaRPr lang="zh-CN" altLang="en-US" dirty="0"/>
          </a:p>
        </p:txBody>
      </p:sp>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19" name="矩形 18">
            <a:extLst>
              <a:ext uri="{FF2B5EF4-FFF2-40B4-BE49-F238E27FC236}">
                <a16:creationId xmlns:a16="http://schemas.microsoft.com/office/drawing/2014/main" xmlns="" id="{396E3A4E-3DCE-51D1-DE56-78AC0CFE008B}"/>
              </a:ext>
            </a:extLst>
          </p:cNvPr>
          <p:cNvSpPr/>
          <p:nvPr/>
        </p:nvSpPr>
        <p:spPr>
          <a:xfrm>
            <a:off x="191344" y="820392"/>
            <a:ext cx="7944323" cy="1355564"/>
          </a:xfrm>
          <a:prstGeom prst="rect">
            <a:avLst/>
          </a:prstGeom>
        </p:spPr>
        <p:txBody>
          <a:bodyPr wrap="square">
            <a:spAutoFit/>
          </a:bodyPr>
          <a:lstStyle/>
          <a:p>
            <a:pPr lvl="0">
              <a:lnSpc>
                <a:spcPct val="120000"/>
              </a:lnSpc>
            </a:pPr>
            <a:r>
              <a:rPr lang="zh-CN" altLang="en-US" i="0" dirty="0">
                <a:solidFill>
                  <a:srgbClr val="0033CC"/>
                </a:solidFill>
                <a:ea typeface="黑体" panose="02010609060101010101" pitchFamily="49" charset="-122"/>
              </a:rPr>
              <a:t>例</a:t>
            </a:r>
            <a:r>
              <a:rPr lang="zh-CN" altLang="en-US" i="0" dirty="0">
                <a:solidFill>
                  <a:schemeClr val="tx1"/>
                </a:solidFill>
                <a:ea typeface="黑体" panose="02010609060101010101" pitchFamily="49" charset="-122"/>
              </a:rPr>
              <a:t>  </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一传动轴如图，直径</a:t>
            </a:r>
            <a:r>
              <a:rPr kumimoji="1" lang="en-US" altLang="zh-CN" sz="240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d</a:t>
            </a:r>
            <a:r>
              <a:rPr kumimoji="1" lang="en-US" altLang="zh-CN"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=40mm</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，材料的切变模量</a:t>
            </a:r>
            <a:r>
              <a:rPr kumimoji="1" lang="en-US" altLang="zh-CN" sz="240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G</a:t>
            </a:r>
            <a:r>
              <a:rPr kumimoji="1" lang="en-US" altLang="zh-CN"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=80GPa</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，载荷如图示。试计算该轴的总扭角。</a:t>
            </a:r>
            <a:r>
              <a:rPr kumimoji="1" lang="zh-CN" altLang="en-US" i="0" dirty="0">
                <a:solidFill>
                  <a:schemeClr val="tx1"/>
                </a:solidFill>
                <a:ea typeface="黑体" panose="02010609060101010101" pitchFamily="49" charset="-122"/>
              </a:rPr>
              <a:t> </a:t>
            </a:r>
          </a:p>
          <a:p>
            <a:pPr>
              <a:lnSpc>
                <a:spcPct val="110000"/>
              </a:lnSpc>
            </a:pPr>
            <a:endParaRPr lang="zh-CN" altLang="en-US" i="0" dirty="0">
              <a:solidFill>
                <a:schemeClr val="tx1"/>
              </a:solidFill>
              <a:latin typeface="+mn-lt"/>
              <a:ea typeface="黑体" panose="02010609060101010101" pitchFamily="49" charset="-122"/>
            </a:endParaRPr>
          </a:p>
        </p:txBody>
      </p:sp>
      <p:sp>
        <p:nvSpPr>
          <p:cNvPr id="136" name="矩形 135">
            <a:extLst>
              <a:ext uri="{FF2B5EF4-FFF2-40B4-BE49-F238E27FC236}">
                <a16:creationId xmlns:a16="http://schemas.microsoft.com/office/drawing/2014/main" xmlns="" id="{396E3A4E-3DCE-51D1-DE56-78AC0CFE008B}"/>
              </a:ext>
            </a:extLst>
          </p:cNvPr>
          <p:cNvSpPr/>
          <p:nvPr/>
        </p:nvSpPr>
        <p:spPr>
          <a:xfrm>
            <a:off x="211184" y="1768446"/>
            <a:ext cx="6770983" cy="1000980"/>
          </a:xfrm>
          <a:prstGeom prst="rect">
            <a:avLst/>
          </a:prstGeom>
        </p:spPr>
        <p:txBody>
          <a:bodyPr wrap="square">
            <a:spAutoFit/>
          </a:bodyPr>
          <a:lstStyle/>
          <a:p>
            <a:pPr lvl="0">
              <a:lnSpc>
                <a:spcPct val="130000"/>
              </a:lnSpc>
            </a:pPr>
            <a:r>
              <a:rPr lang="zh-CN" altLang="en-US" i="0" dirty="0">
                <a:solidFill>
                  <a:srgbClr val="0033CC"/>
                </a:solidFill>
                <a:ea typeface="黑体" panose="02010609060101010101" pitchFamily="49" charset="-122"/>
              </a:rPr>
              <a:t>解  </a:t>
            </a:r>
            <a:r>
              <a:rPr kumimoji="1" lang="zh-CN" altLang="en-US" i="0" dirty="0">
                <a:solidFill>
                  <a:schemeClr val="tx1"/>
                </a:solidFill>
                <a:ea typeface="黑体" panose="02010609060101010101" pitchFamily="49" charset="-122"/>
              </a:rPr>
              <a:t>画出阶梯轴的扭矩图。画出阶梯轴的扭矩图，</a:t>
            </a:r>
          </a:p>
          <a:p>
            <a:pPr lvl="0">
              <a:lnSpc>
                <a:spcPct val="130000"/>
              </a:lnSpc>
            </a:pPr>
            <a:r>
              <a:rPr kumimoji="1" lang="en-US" altLang="zh-CN" b="0" dirty="0">
                <a:solidFill>
                  <a:schemeClr val="tx1"/>
                </a:solidFill>
                <a:ea typeface="黑体" panose="02010609060101010101" pitchFamily="49" charset="-122"/>
              </a:rPr>
              <a:t>AB</a:t>
            </a:r>
            <a:r>
              <a:rPr kumimoji="1" lang="zh-CN" altLang="en-US" i="0" dirty="0">
                <a:solidFill>
                  <a:schemeClr val="tx1"/>
                </a:solidFill>
                <a:ea typeface="黑体" panose="02010609060101010101" pitchFamily="49" charset="-122"/>
              </a:rPr>
              <a:t>和</a:t>
            </a:r>
            <a:r>
              <a:rPr kumimoji="1" lang="en-US" altLang="zh-CN" b="0" dirty="0">
                <a:solidFill>
                  <a:schemeClr val="tx1"/>
                </a:solidFill>
                <a:ea typeface="黑体" panose="02010609060101010101" pitchFamily="49" charset="-122"/>
              </a:rPr>
              <a:t>BC</a:t>
            </a:r>
            <a:r>
              <a:rPr kumimoji="1" lang="zh-CN" altLang="en-US" i="0" dirty="0">
                <a:solidFill>
                  <a:schemeClr val="tx1"/>
                </a:solidFill>
                <a:ea typeface="黑体" panose="02010609060101010101" pitchFamily="49" charset="-122"/>
              </a:rPr>
              <a:t>段的扭矩分别为</a:t>
            </a:r>
            <a:endParaRPr kumimoji="1" lang="en-US" altLang="zh-CN" b="0" i="0" dirty="0">
              <a:solidFill>
                <a:schemeClr val="tx1"/>
              </a:solidFill>
              <a:latin typeface="+mn-lt"/>
              <a:ea typeface="黑体" panose="02010609060101010101" pitchFamily="49" charset="-122"/>
            </a:endParaRPr>
          </a:p>
        </p:txBody>
      </p:sp>
      <p:sp>
        <p:nvSpPr>
          <p:cNvPr id="131" name="矩形 130">
            <a:extLst>
              <a:ext uri="{FF2B5EF4-FFF2-40B4-BE49-F238E27FC236}">
                <a16:creationId xmlns:a16="http://schemas.microsoft.com/office/drawing/2014/main" xmlns="" id="{396E3A4E-3DCE-51D1-DE56-78AC0CFE008B}"/>
              </a:ext>
            </a:extLst>
          </p:cNvPr>
          <p:cNvSpPr/>
          <p:nvPr/>
        </p:nvSpPr>
        <p:spPr>
          <a:xfrm>
            <a:off x="682343" y="2717951"/>
            <a:ext cx="2095129" cy="523413"/>
          </a:xfrm>
          <a:prstGeom prst="rect">
            <a:avLst/>
          </a:prstGeom>
        </p:spPr>
        <p:txBody>
          <a:bodyPr wrap="square">
            <a:spAutoFit/>
          </a:bodyPr>
          <a:lstStyle/>
          <a:p>
            <a:pPr lvl="0">
              <a:lnSpc>
                <a:spcPct val="130000"/>
              </a:lnSpc>
            </a:pPr>
            <a:r>
              <a:rPr kumimoji="1" lang="en-US" altLang="zh-CN" b="0" dirty="0">
                <a:solidFill>
                  <a:schemeClr val="tx1"/>
                </a:solidFill>
                <a:ea typeface="黑体" panose="02010609060101010101" pitchFamily="49" charset="-122"/>
              </a:rPr>
              <a:t>M</a:t>
            </a:r>
            <a:r>
              <a:rPr kumimoji="1" lang="en-US" altLang="zh-CN" b="0" i="0" baseline="-25000" dirty="0">
                <a:solidFill>
                  <a:schemeClr val="tx1"/>
                </a:solidFill>
                <a:ea typeface="黑体" panose="02010609060101010101" pitchFamily="49" charset="-122"/>
              </a:rPr>
              <a:t>n1</a:t>
            </a:r>
            <a:r>
              <a:rPr kumimoji="1" lang="en-US" altLang="zh-CN" b="0" i="0" dirty="0">
                <a:solidFill>
                  <a:schemeClr val="tx1"/>
                </a:solidFill>
                <a:ea typeface="黑体" panose="02010609060101010101" pitchFamily="49" charset="-122"/>
              </a:rPr>
              <a:t>=1200N</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m</a:t>
            </a:r>
            <a:endParaRPr kumimoji="1" lang="en-US" altLang="zh-CN" b="0" i="0" dirty="0">
              <a:solidFill>
                <a:schemeClr val="tx1"/>
              </a:solidFill>
              <a:latin typeface="+mn-lt"/>
              <a:ea typeface="黑体" panose="02010609060101010101" pitchFamily="49" charset="-122"/>
            </a:endParaRPr>
          </a:p>
        </p:txBody>
      </p:sp>
      <p:sp>
        <p:nvSpPr>
          <p:cNvPr id="2" name="Freeform 29" descr="浅色竖线">
            <a:extLst>
              <a:ext uri="{FF2B5EF4-FFF2-40B4-BE49-F238E27FC236}">
                <a16:creationId xmlns:a16="http://schemas.microsoft.com/office/drawing/2014/main" xmlns="" id="{9E98B397-B621-76DD-D088-F14837FBC2E6}"/>
              </a:ext>
            </a:extLst>
          </p:cNvPr>
          <p:cNvSpPr>
            <a:spLocks/>
          </p:cNvSpPr>
          <p:nvPr/>
        </p:nvSpPr>
        <p:spPr bwMode="auto">
          <a:xfrm>
            <a:off x="8194818" y="3519127"/>
            <a:ext cx="3162300" cy="942975"/>
          </a:xfrm>
          <a:custGeom>
            <a:avLst/>
            <a:gdLst>
              <a:gd name="T0" fmla="*/ 3175 w 1992"/>
              <a:gd name="T1" fmla="*/ 627062 h 594"/>
              <a:gd name="T2" fmla="*/ 0 w 1992"/>
              <a:gd name="T3" fmla="*/ 11112 h 594"/>
              <a:gd name="T4" fmla="*/ 1417638 w 1992"/>
              <a:gd name="T5" fmla="*/ 0 h 594"/>
              <a:gd name="T6" fmla="*/ 1406525 w 1992"/>
              <a:gd name="T7" fmla="*/ 620712 h 594"/>
              <a:gd name="T8" fmla="*/ 3148013 w 1992"/>
              <a:gd name="T9" fmla="*/ 606425 h 594"/>
              <a:gd name="T10" fmla="*/ 3162300 w 1992"/>
              <a:gd name="T11" fmla="*/ 928688 h 594"/>
              <a:gd name="T12" fmla="*/ 1400175 w 1992"/>
              <a:gd name="T13" fmla="*/ 942975 h 594"/>
              <a:gd name="T14" fmla="*/ 1387475 w 1992"/>
              <a:gd name="T15" fmla="*/ 614362 h 594"/>
              <a:gd name="T16" fmla="*/ 3175 w 1992"/>
              <a:gd name="T17" fmla="*/ 627062 h 5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92"/>
              <a:gd name="T28" fmla="*/ 0 h 594"/>
              <a:gd name="T29" fmla="*/ 1992 w 1992"/>
              <a:gd name="T30" fmla="*/ 594 h 5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92" h="594">
                <a:moveTo>
                  <a:pt x="2" y="395"/>
                </a:moveTo>
                <a:lnTo>
                  <a:pt x="0" y="7"/>
                </a:lnTo>
                <a:lnTo>
                  <a:pt x="893" y="0"/>
                </a:lnTo>
                <a:lnTo>
                  <a:pt x="886" y="391"/>
                </a:lnTo>
                <a:lnTo>
                  <a:pt x="1983" y="382"/>
                </a:lnTo>
                <a:lnTo>
                  <a:pt x="1992" y="585"/>
                </a:lnTo>
                <a:lnTo>
                  <a:pt x="882" y="594"/>
                </a:lnTo>
                <a:lnTo>
                  <a:pt x="874" y="387"/>
                </a:lnTo>
                <a:lnTo>
                  <a:pt x="2" y="395"/>
                </a:lnTo>
                <a:close/>
              </a:path>
            </a:pathLst>
          </a:custGeom>
          <a:pattFill prst="ltVert">
            <a:fgClr>
              <a:srgbClr val="000000"/>
            </a:fgClr>
            <a:bgClr>
              <a:srgbClr val="66FF99"/>
            </a:bgClr>
          </a:patt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3" name="Group 30">
            <a:extLst>
              <a:ext uri="{FF2B5EF4-FFF2-40B4-BE49-F238E27FC236}">
                <a16:creationId xmlns:a16="http://schemas.microsoft.com/office/drawing/2014/main" xmlns="" id="{B75D10B0-5E00-6BC9-140B-FE3D26291686}"/>
              </a:ext>
            </a:extLst>
          </p:cNvPr>
          <p:cNvGrpSpPr>
            <a:grpSpLocks/>
          </p:cNvGrpSpPr>
          <p:nvPr/>
        </p:nvGrpSpPr>
        <p:grpSpPr bwMode="auto">
          <a:xfrm>
            <a:off x="10247456" y="4031160"/>
            <a:ext cx="563562" cy="476250"/>
            <a:chOff x="4383" y="1649"/>
            <a:chExt cx="233" cy="183"/>
          </a:xfrm>
        </p:grpSpPr>
        <p:sp>
          <p:nvSpPr>
            <p:cNvPr id="4" name="Oval 31">
              <a:extLst>
                <a:ext uri="{FF2B5EF4-FFF2-40B4-BE49-F238E27FC236}">
                  <a16:creationId xmlns:a16="http://schemas.microsoft.com/office/drawing/2014/main" xmlns="" id="{A6543E91-A787-EC8C-43FE-A4E37D4CFAA0}"/>
                </a:ext>
              </a:extLst>
            </p:cNvPr>
            <p:cNvSpPr>
              <a:spLocks noChangeAspect="1" noChangeArrowheads="1"/>
            </p:cNvSpPr>
            <p:nvPr/>
          </p:nvSpPr>
          <p:spPr bwMode="auto">
            <a:xfrm>
              <a:off x="4429" y="1695"/>
              <a:ext cx="100" cy="92"/>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5" name="Text Box 32">
              <a:extLst>
                <a:ext uri="{FF2B5EF4-FFF2-40B4-BE49-F238E27FC236}">
                  <a16:creationId xmlns:a16="http://schemas.microsoft.com/office/drawing/2014/main" xmlns="" id="{15025609-75AE-C9A9-4DA4-A2206423BFF7}"/>
                </a:ext>
              </a:extLst>
            </p:cNvPr>
            <p:cNvSpPr txBox="1">
              <a:spLocks noChangeAspect="1" noChangeArrowheads="1"/>
            </p:cNvSpPr>
            <p:nvPr/>
          </p:nvSpPr>
          <p:spPr bwMode="auto">
            <a:xfrm>
              <a:off x="4383" y="1649"/>
              <a:ext cx="23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20000"/>
                </a:lnSpc>
                <a:spcBef>
                  <a:spcPts val="0"/>
                </a:spcBef>
                <a:spcAft>
                  <a:spcPts val="0"/>
                </a:spcAft>
                <a:buClrTx/>
                <a:buSzTx/>
                <a:buFontTx/>
                <a:buNone/>
                <a:tabLst/>
                <a:defRPr/>
              </a:pPr>
              <a:r>
                <a:rPr kumimoji="1" lang="en-US" altLang="zh-CN" sz="8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 </a:t>
              </a:r>
              <a:r>
                <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a:t>
              </a:r>
            </a:p>
          </p:txBody>
        </p:sp>
      </p:grpSp>
      <p:sp>
        <p:nvSpPr>
          <p:cNvPr id="6" name="Line 33">
            <a:extLst>
              <a:ext uri="{FF2B5EF4-FFF2-40B4-BE49-F238E27FC236}">
                <a16:creationId xmlns:a16="http://schemas.microsoft.com/office/drawing/2014/main" xmlns="" id="{1E9C0B4F-ED95-FAED-6648-E21533FFE851}"/>
              </a:ext>
            </a:extLst>
          </p:cNvPr>
          <p:cNvSpPr>
            <a:spLocks noChangeShapeType="1"/>
          </p:cNvSpPr>
          <p:nvPr/>
        </p:nvSpPr>
        <p:spPr bwMode="auto">
          <a:xfrm>
            <a:off x="8191643" y="4138252"/>
            <a:ext cx="3397250" cy="0"/>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 name="Line 34">
            <a:extLst>
              <a:ext uri="{FF2B5EF4-FFF2-40B4-BE49-F238E27FC236}">
                <a16:creationId xmlns:a16="http://schemas.microsoft.com/office/drawing/2014/main" xmlns="" id="{31288705-927F-1E1A-B760-AB77D2937C2D}"/>
              </a:ext>
            </a:extLst>
          </p:cNvPr>
          <p:cNvSpPr>
            <a:spLocks noChangeShapeType="1"/>
          </p:cNvSpPr>
          <p:nvPr/>
        </p:nvSpPr>
        <p:spPr bwMode="auto">
          <a:xfrm flipV="1">
            <a:off x="8193231" y="3185752"/>
            <a:ext cx="0" cy="1406525"/>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 name="Line 35">
            <a:extLst>
              <a:ext uri="{FF2B5EF4-FFF2-40B4-BE49-F238E27FC236}">
                <a16:creationId xmlns:a16="http://schemas.microsoft.com/office/drawing/2014/main" xmlns="" id="{D1F697A4-FBB0-6BE6-0C3E-E9C6F767403C}"/>
              </a:ext>
            </a:extLst>
          </p:cNvPr>
          <p:cNvSpPr>
            <a:spLocks noChangeAspect="1" noChangeShapeType="1"/>
          </p:cNvSpPr>
          <p:nvPr/>
        </p:nvSpPr>
        <p:spPr bwMode="auto">
          <a:xfrm flipV="1">
            <a:off x="8201168" y="3531827"/>
            <a:ext cx="1417638" cy="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 name="Line 36">
            <a:extLst>
              <a:ext uri="{FF2B5EF4-FFF2-40B4-BE49-F238E27FC236}">
                <a16:creationId xmlns:a16="http://schemas.microsoft.com/office/drawing/2014/main" xmlns="" id="{D4C9E164-42EE-4C29-42DF-CCE700236BE9}"/>
              </a:ext>
            </a:extLst>
          </p:cNvPr>
          <p:cNvSpPr>
            <a:spLocks noChangeAspect="1" noChangeShapeType="1"/>
          </p:cNvSpPr>
          <p:nvPr/>
        </p:nvSpPr>
        <p:spPr bwMode="auto">
          <a:xfrm flipH="1">
            <a:off x="9606106" y="3527064"/>
            <a:ext cx="0" cy="974725"/>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 name="Text Box 37">
            <a:extLst>
              <a:ext uri="{FF2B5EF4-FFF2-40B4-BE49-F238E27FC236}">
                <a16:creationId xmlns:a16="http://schemas.microsoft.com/office/drawing/2014/main" xmlns="" id="{F97F7100-8E67-A6DD-1C87-C077A02AB301}"/>
              </a:ext>
            </a:extLst>
          </p:cNvPr>
          <p:cNvSpPr txBox="1">
            <a:spLocks noChangeAspect="1" noChangeArrowheads="1"/>
          </p:cNvSpPr>
          <p:nvPr/>
        </p:nvSpPr>
        <p:spPr bwMode="auto">
          <a:xfrm>
            <a:off x="7710631" y="2977789"/>
            <a:ext cx="6000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n</a:t>
            </a:r>
            <a:endPar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3" name="Text Box 38">
            <a:extLst>
              <a:ext uri="{FF2B5EF4-FFF2-40B4-BE49-F238E27FC236}">
                <a16:creationId xmlns:a16="http://schemas.microsoft.com/office/drawing/2014/main" xmlns="" id="{2EC5BF62-8E6E-1C8F-9EA9-6187B918C3F6}"/>
              </a:ext>
            </a:extLst>
          </p:cNvPr>
          <p:cNvSpPr txBox="1">
            <a:spLocks noChangeAspect="1" noChangeArrowheads="1"/>
          </p:cNvSpPr>
          <p:nvPr/>
        </p:nvSpPr>
        <p:spPr bwMode="auto">
          <a:xfrm>
            <a:off x="9775968" y="4425589"/>
            <a:ext cx="1371600"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800N</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m</a:t>
            </a:r>
          </a:p>
        </p:txBody>
      </p:sp>
      <p:sp>
        <p:nvSpPr>
          <p:cNvPr id="14" name="Text Box 39">
            <a:extLst>
              <a:ext uri="{FF2B5EF4-FFF2-40B4-BE49-F238E27FC236}">
                <a16:creationId xmlns:a16="http://schemas.microsoft.com/office/drawing/2014/main" xmlns="" id="{D6228A3C-A9BA-9BD3-ED46-63EE0E8EE078}"/>
              </a:ext>
            </a:extLst>
          </p:cNvPr>
          <p:cNvSpPr txBox="1">
            <a:spLocks noChangeAspect="1" noChangeArrowheads="1"/>
          </p:cNvSpPr>
          <p:nvPr/>
        </p:nvSpPr>
        <p:spPr bwMode="auto">
          <a:xfrm>
            <a:off x="8212281" y="3088914"/>
            <a:ext cx="1373187"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1200N</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m</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 name="Oval 40">
            <a:extLst>
              <a:ext uri="{FF2B5EF4-FFF2-40B4-BE49-F238E27FC236}">
                <a16:creationId xmlns:a16="http://schemas.microsoft.com/office/drawing/2014/main" xmlns="" id="{A3C7AE56-5409-073C-0CC4-095B157EFD38}"/>
              </a:ext>
            </a:extLst>
          </p:cNvPr>
          <p:cNvSpPr>
            <a:spLocks noChangeArrowheads="1"/>
          </p:cNvSpPr>
          <p:nvPr/>
        </p:nvSpPr>
        <p:spPr bwMode="auto">
          <a:xfrm>
            <a:off x="8110681" y="4331927"/>
            <a:ext cx="74612" cy="74612"/>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6" name="Oval 41">
            <a:extLst>
              <a:ext uri="{FF2B5EF4-FFF2-40B4-BE49-F238E27FC236}">
                <a16:creationId xmlns:a16="http://schemas.microsoft.com/office/drawing/2014/main" xmlns="" id="{BFAC090D-A09E-0F1B-3248-242B327C67E2}"/>
              </a:ext>
            </a:extLst>
          </p:cNvPr>
          <p:cNvSpPr>
            <a:spLocks noChangeArrowheads="1"/>
          </p:cNvSpPr>
          <p:nvPr/>
        </p:nvSpPr>
        <p:spPr bwMode="auto">
          <a:xfrm>
            <a:off x="9568006" y="4439877"/>
            <a:ext cx="74612" cy="74612"/>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 name="Line 42">
            <a:extLst>
              <a:ext uri="{FF2B5EF4-FFF2-40B4-BE49-F238E27FC236}">
                <a16:creationId xmlns:a16="http://schemas.microsoft.com/office/drawing/2014/main" xmlns="" id="{ABBE128F-C150-FD87-A0B2-A4CBA10617A8}"/>
              </a:ext>
            </a:extLst>
          </p:cNvPr>
          <p:cNvSpPr>
            <a:spLocks noChangeAspect="1" noChangeShapeType="1"/>
          </p:cNvSpPr>
          <p:nvPr/>
        </p:nvSpPr>
        <p:spPr bwMode="auto">
          <a:xfrm flipV="1">
            <a:off x="9590231" y="4473214"/>
            <a:ext cx="1758950" cy="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 name="Line 43">
            <a:extLst>
              <a:ext uri="{FF2B5EF4-FFF2-40B4-BE49-F238E27FC236}">
                <a16:creationId xmlns:a16="http://schemas.microsoft.com/office/drawing/2014/main" xmlns="" id="{690397CF-FC0A-9924-E3C7-0C6BA95FA24E}"/>
              </a:ext>
            </a:extLst>
          </p:cNvPr>
          <p:cNvSpPr>
            <a:spLocks noChangeAspect="1" noChangeShapeType="1"/>
          </p:cNvSpPr>
          <p:nvPr/>
        </p:nvSpPr>
        <p:spPr bwMode="auto">
          <a:xfrm flipH="1">
            <a:off x="11352356" y="4144602"/>
            <a:ext cx="0" cy="315912"/>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0" name="Text Box 44">
            <a:extLst>
              <a:ext uri="{FF2B5EF4-FFF2-40B4-BE49-F238E27FC236}">
                <a16:creationId xmlns:a16="http://schemas.microsoft.com/office/drawing/2014/main" xmlns="" id="{AE541CBE-90B3-F79A-7F4E-C001E71B5575}"/>
              </a:ext>
            </a:extLst>
          </p:cNvPr>
          <p:cNvSpPr txBox="1">
            <a:spLocks noChangeAspect="1" noChangeArrowheads="1"/>
          </p:cNvSpPr>
          <p:nvPr/>
        </p:nvSpPr>
        <p:spPr bwMode="auto">
          <a:xfrm>
            <a:off x="11361881" y="3755664"/>
            <a:ext cx="398462"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x</a:t>
            </a:r>
            <a:endPar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21" name="Text Box 45">
            <a:extLst>
              <a:ext uri="{FF2B5EF4-FFF2-40B4-BE49-F238E27FC236}">
                <a16:creationId xmlns:a16="http://schemas.microsoft.com/office/drawing/2014/main" xmlns="" id="{273674BA-09FB-7EB9-9219-8CFF0C5564DF}"/>
              </a:ext>
            </a:extLst>
          </p:cNvPr>
          <p:cNvSpPr txBox="1">
            <a:spLocks noChangeAspect="1" noChangeArrowheads="1"/>
          </p:cNvSpPr>
          <p:nvPr/>
        </p:nvSpPr>
        <p:spPr bwMode="auto">
          <a:xfrm>
            <a:off x="7896368" y="3850914"/>
            <a:ext cx="398463"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nvGrpSpPr>
          <p:cNvPr id="22" name="Group 60">
            <a:extLst>
              <a:ext uri="{FF2B5EF4-FFF2-40B4-BE49-F238E27FC236}">
                <a16:creationId xmlns:a16="http://schemas.microsoft.com/office/drawing/2014/main" xmlns="" id="{D08335BE-16FB-62EA-9CB0-140254653ABF}"/>
              </a:ext>
            </a:extLst>
          </p:cNvPr>
          <p:cNvGrpSpPr>
            <a:grpSpLocks/>
          </p:cNvGrpSpPr>
          <p:nvPr/>
        </p:nvGrpSpPr>
        <p:grpSpPr bwMode="auto">
          <a:xfrm>
            <a:off x="7553468" y="1412514"/>
            <a:ext cx="4289425" cy="1600200"/>
            <a:chOff x="3182" y="884"/>
            <a:chExt cx="2702" cy="1008"/>
          </a:xfrm>
        </p:grpSpPr>
        <p:sp>
          <p:nvSpPr>
            <p:cNvPr id="23" name="Rectangle 11">
              <a:extLst>
                <a:ext uri="{FF2B5EF4-FFF2-40B4-BE49-F238E27FC236}">
                  <a16:creationId xmlns:a16="http://schemas.microsoft.com/office/drawing/2014/main" xmlns="" id="{FFD67ED0-CE6C-B469-4EFA-8D430D41884C}"/>
                </a:ext>
              </a:extLst>
            </p:cNvPr>
            <p:cNvSpPr>
              <a:spLocks noChangeArrowheads="1"/>
            </p:cNvSpPr>
            <p:nvPr/>
          </p:nvSpPr>
          <p:spPr bwMode="auto">
            <a:xfrm>
              <a:off x="3561" y="1179"/>
              <a:ext cx="2024" cy="375"/>
            </a:xfrm>
            <a:prstGeom prst="rect">
              <a:avLst/>
            </a:prstGeom>
            <a:gradFill rotWithShape="1">
              <a:gsLst>
                <a:gs pos="0">
                  <a:srgbClr val="FFFFFF">
                    <a:gamma/>
                    <a:shade val="50980"/>
                    <a:invGamma/>
                  </a:srgbClr>
                </a:gs>
                <a:gs pos="50000">
                  <a:srgbClr val="FFFFFF"/>
                </a:gs>
                <a:gs pos="100000">
                  <a:srgbClr val="FFFFFF">
                    <a:gamma/>
                    <a:shade val="50980"/>
                    <a:invGamma/>
                  </a:srgbClr>
                </a:gs>
              </a:gsLst>
              <a:lin ang="5400000" scaled="1"/>
            </a:gradFill>
            <a:ln w="28575" algn="ctr">
              <a:solidFill>
                <a:srgbClr val="000000"/>
              </a:solidFill>
              <a:miter lim="800000"/>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24" name="Arc 13">
              <a:extLst>
                <a:ext uri="{FF2B5EF4-FFF2-40B4-BE49-F238E27FC236}">
                  <a16:creationId xmlns:a16="http://schemas.microsoft.com/office/drawing/2014/main" xmlns="" id="{900896B5-2E41-574C-EBD3-BEFADF56B8CB}"/>
                </a:ext>
              </a:extLst>
            </p:cNvPr>
            <p:cNvSpPr>
              <a:spLocks noChangeAspect="1"/>
            </p:cNvSpPr>
            <p:nvPr/>
          </p:nvSpPr>
          <p:spPr bwMode="auto">
            <a:xfrm rot="19996221" flipH="1">
              <a:off x="4321" y="1185"/>
              <a:ext cx="201" cy="333"/>
            </a:xfrm>
            <a:custGeom>
              <a:avLst/>
              <a:gdLst>
                <a:gd name="T0" fmla="*/ 0 w 25955"/>
                <a:gd name="T1" fmla="*/ 0 h 21600"/>
                <a:gd name="T2" fmla="*/ 2 w 25955"/>
                <a:gd name="T3" fmla="*/ 5 h 21600"/>
                <a:gd name="T4" fmla="*/ 0 w 25955"/>
                <a:gd name="T5" fmla="*/ 5 h 21600"/>
                <a:gd name="T6" fmla="*/ 0 60000 65536"/>
                <a:gd name="T7" fmla="*/ 0 60000 65536"/>
                <a:gd name="T8" fmla="*/ 0 60000 65536"/>
                <a:gd name="T9" fmla="*/ 0 w 25955"/>
                <a:gd name="T10" fmla="*/ 0 h 21600"/>
                <a:gd name="T11" fmla="*/ 25955 w 25955"/>
                <a:gd name="T12" fmla="*/ 21600 h 21600"/>
              </a:gdLst>
              <a:ahLst/>
              <a:cxnLst>
                <a:cxn ang="T6">
                  <a:pos x="T0" y="T1"/>
                </a:cxn>
                <a:cxn ang="T7">
                  <a:pos x="T2" y="T3"/>
                </a:cxn>
                <a:cxn ang="T8">
                  <a:pos x="T4" y="T5"/>
                </a:cxn>
              </a:cxnLst>
              <a:rect l="T9" t="T10" r="T11" b="T12"/>
              <a:pathLst>
                <a:path w="25955" h="21600" fill="none" extrusionOk="0">
                  <a:moveTo>
                    <a:pt x="0" y="445"/>
                  </a:moveTo>
                  <a:cubicBezTo>
                    <a:pt x="1435" y="149"/>
                    <a:pt x="2897" y="-1"/>
                    <a:pt x="4363" y="0"/>
                  </a:cubicBezTo>
                  <a:cubicBezTo>
                    <a:pt x="16056" y="0"/>
                    <a:pt x="25626" y="9305"/>
                    <a:pt x="25954" y="20994"/>
                  </a:cubicBezTo>
                </a:path>
                <a:path w="25955" h="21600" stroke="0" extrusionOk="0">
                  <a:moveTo>
                    <a:pt x="0" y="445"/>
                  </a:moveTo>
                  <a:cubicBezTo>
                    <a:pt x="1435" y="149"/>
                    <a:pt x="2897" y="-1"/>
                    <a:pt x="4363" y="0"/>
                  </a:cubicBezTo>
                  <a:cubicBezTo>
                    <a:pt x="16056" y="0"/>
                    <a:pt x="25626" y="9305"/>
                    <a:pt x="25954" y="20994"/>
                  </a:cubicBezTo>
                  <a:lnTo>
                    <a:pt x="4363" y="21600"/>
                  </a:lnTo>
                  <a:close/>
                </a:path>
              </a:pathLst>
            </a:custGeom>
            <a:noFill/>
            <a:ln w="28575">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5" name="Arc 15">
              <a:extLst>
                <a:ext uri="{FF2B5EF4-FFF2-40B4-BE49-F238E27FC236}">
                  <a16:creationId xmlns:a16="http://schemas.microsoft.com/office/drawing/2014/main" xmlns="" id="{ED11BCEF-06EF-5C0B-9BFD-54EE3A2EEB47}"/>
                </a:ext>
              </a:extLst>
            </p:cNvPr>
            <p:cNvSpPr>
              <a:spLocks noChangeAspect="1"/>
            </p:cNvSpPr>
            <p:nvPr/>
          </p:nvSpPr>
          <p:spPr bwMode="auto">
            <a:xfrm rot="18787816" flipH="1">
              <a:off x="3392" y="1234"/>
              <a:ext cx="272" cy="231"/>
            </a:xfrm>
            <a:custGeom>
              <a:avLst/>
              <a:gdLst>
                <a:gd name="T0" fmla="*/ 0 w 24883"/>
                <a:gd name="T1" fmla="*/ 0 h 21600"/>
                <a:gd name="T2" fmla="*/ 3 w 24883"/>
                <a:gd name="T3" fmla="*/ 2 h 21600"/>
                <a:gd name="T4" fmla="*/ 0 w 24883"/>
                <a:gd name="T5" fmla="*/ 2 h 21600"/>
                <a:gd name="T6" fmla="*/ 0 60000 65536"/>
                <a:gd name="T7" fmla="*/ 0 60000 65536"/>
                <a:gd name="T8" fmla="*/ 0 60000 65536"/>
                <a:gd name="T9" fmla="*/ 0 w 24883"/>
                <a:gd name="T10" fmla="*/ 0 h 21600"/>
                <a:gd name="T11" fmla="*/ 24883 w 24883"/>
                <a:gd name="T12" fmla="*/ 21600 h 21600"/>
              </a:gdLst>
              <a:ahLst/>
              <a:cxnLst>
                <a:cxn ang="T6">
                  <a:pos x="T0" y="T1"/>
                </a:cxn>
                <a:cxn ang="T7">
                  <a:pos x="T2" y="T3"/>
                </a:cxn>
                <a:cxn ang="T8">
                  <a:pos x="T4" y="T5"/>
                </a:cxn>
              </a:cxnLst>
              <a:rect l="T9" t="T10" r="T11" b="T12"/>
              <a:pathLst>
                <a:path w="24883" h="21600" fill="none" extrusionOk="0">
                  <a:moveTo>
                    <a:pt x="0" y="252"/>
                  </a:moveTo>
                  <a:cubicBezTo>
                    <a:pt x="1088" y="84"/>
                    <a:pt x="2189" y="-1"/>
                    <a:pt x="3291" y="0"/>
                  </a:cubicBezTo>
                  <a:cubicBezTo>
                    <a:pt x="14984" y="0"/>
                    <a:pt x="24554" y="9305"/>
                    <a:pt x="24882" y="20994"/>
                  </a:cubicBezTo>
                </a:path>
                <a:path w="24883" h="21600" stroke="0" extrusionOk="0">
                  <a:moveTo>
                    <a:pt x="0" y="252"/>
                  </a:moveTo>
                  <a:cubicBezTo>
                    <a:pt x="1088" y="84"/>
                    <a:pt x="2189" y="-1"/>
                    <a:pt x="3291" y="0"/>
                  </a:cubicBezTo>
                  <a:cubicBezTo>
                    <a:pt x="14984" y="0"/>
                    <a:pt x="24554" y="9305"/>
                    <a:pt x="24882" y="20994"/>
                  </a:cubicBezTo>
                  <a:lnTo>
                    <a:pt x="3291" y="21600"/>
                  </a:lnTo>
                  <a:close/>
                </a:path>
              </a:pathLst>
            </a:custGeom>
            <a:noFill/>
            <a:ln w="28575">
              <a:solidFill>
                <a:srgbClr val="FF0000"/>
              </a:solidFill>
              <a:round/>
              <a:headEnd type="stealth" w="med" len="lg"/>
              <a:tailEnd type="none"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6" name="Text Box 19">
              <a:extLst>
                <a:ext uri="{FF2B5EF4-FFF2-40B4-BE49-F238E27FC236}">
                  <a16:creationId xmlns:a16="http://schemas.microsoft.com/office/drawing/2014/main" xmlns="" id="{5F9AE04C-4F1F-DB4E-0A93-3FA12DB08988}"/>
                </a:ext>
              </a:extLst>
            </p:cNvPr>
            <p:cNvSpPr txBox="1">
              <a:spLocks noChangeAspect="1" noChangeArrowheads="1"/>
            </p:cNvSpPr>
            <p:nvPr/>
          </p:nvSpPr>
          <p:spPr bwMode="auto">
            <a:xfrm>
              <a:off x="3329" y="1500"/>
              <a:ext cx="37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27" name="Text Box 20">
              <a:extLst>
                <a:ext uri="{FF2B5EF4-FFF2-40B4-BE49-F238E27FC236}">
                  <a16:creationId xmlns:a16="http://schemas.microsoft.com/office/drawing/2014/main" xmlns="" id="{A5CA5248-950A-4792-C5D7-4D5746640A29}"/>
                </a:ext>
              </a:extLst>
            </p:cNvPr>
            <p:cNvSpPr txBox="1">
              <a:spLocks noChangeAspect="1" noChangeArrowheads="1"/>
            </p:cNvSpPr>
            <p:nvPr/>
          </p:nvSpPr>
          <p:spPr bwMode="auto">
            <a:xfrm>
              <a:off x="4330" y="1494"/>
              <a:ext cx="37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28" name="Text Box 21">
              <a:extLst>
                <a:ext uri="{FF2B5EF4-FFF2-40B4-BE49-F238E27FC236}">
                  <a16:creationId xmlns:a16="http://schemas.microsoft.com/office/drawing/2014/main" xmlns="" id="{C653213E-1728-FFA8-D76F-25CD7B3201F2}"/>
                </a:ext>
              </a:extLst>
            </p:cNvPr>
            <p:cNvSpPr txBox="1">
              <a:spLocks noChangeAspect="1" noChangeArrowheads="1"/>
            </p:cNvSpPr>
            <p:nvPr/>
          </p:nvSpPr>
          <p:spPr bwMode="auto">
            <a:xfrm>
              <a:off x="5515" y="1482"/>
              <a:ext cx="245"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p>
          </p:txBody>
        </p:sp>
        <p:sp>
          <p:nvSpPr>
            <p:cNvPr id="29" name="Line 23">
              <a:extLst>
                <a:ext uri="{FF2B5EF4-FFF2-40B4-BE49-F238E27FC236}">
                  <a16:creationId xmlns:a16="http://schemas.microsoft.com/office/drawing/2014/main" xmlns="" id="{578DD54C-6575-195E-6F16-DBB161467BA0}"/>
                </a:ext>
              </a:extLst>
            </p:cNvPr>
            <p:cNvSpPr>
              <a:spLocks noChangeShapeType="1"/>
            </p:cNvSpPr>
            <p:nvPr/>
          </p:nvSpPr>
          <p:spPr bwMode="auto">
            <a:xfrm>
              <a:off x="4094" y="1170"/>
              <a:ext cx="0" cy="375"/>
            </a:xfrm>
            <a:prstGeom prst="line">
              <a:avLst/>
            </a:prstGeom>
            <a:noFill/>
            <a:ln w="952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 name="Text Box 24">
              <a:extLst>
                <a:ext uri="{FF2B5EF4-FFF2-40B4-BE49-F238E27FC236}">
                  <a16:creationId xmlns:a16="http://schemas.microsoft.com/office/drawing/2014/main" xmlns="" id="{CEE873B1-A7B5-031C-12DB-386284B8627E}"/>
                </a:ext>
              </a:extLst>
            </p:cNvPr>
            <p:cNvSpPr txBox="1">
              <a:spLocks noChangeAspect="1" noChangeArrowheads="1"/>
            </p:cNvSpPr>
            <p:nvPr/>
          </p:nvSpPr>
          <p:spPr bwMode="auto">
            <a:xfrm rot="-5400000">
              <a:off x="3769" y="1209"/>
              <a:ext cx="507"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80</a:t>
              </a:r>
            </a:p>
          </p:txBody>
        </p:sp>
        <p:sp>
          <p:nvSpPr>
            <p:cNvPr id="31" name="Line 27">
              <a:extLst>
                <a:ext uri="{FF2B5EF4-FFF2-40B4-BE49-F238E27FC236}">
                  <a16:creationId xmlns:a16="http://schemas.microsoft.com/office/drawing/2014/main" xmlns="" id="{6F13A97C-9F86-2555-E0C6-38FB42D551E5}"/>
                </a:ext>
              </a:extLst>
            </p:cNvPr>
            <p:cNvSpPr>
              <a:spLocks noChangeShapeType="1"/>
            </p:cNvSpPr>
            <p:nvPr/>
          </p:nvSpPr>
          <p:spPr bwMode="auto">
            <a:xfrm flipV="1">
              <a:off x="3571" y="1686"/>
              <a:ext cx="0" cy="191"/>
            </a:xfrm>
            <a:prstGeom prst="line">
              <a:avLst/>
            </a:prstGeom>
            <a:noFill/>
            <a:ln w="9525">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88" name="Line 28">
              <a:extLst>
                <a:ext uri="{FF2B5EF4-FFF2-40B4-BE49-F238E27FC236}">
                  <a16:creationId xmlns:a16="http://schemas.microsoft.com/office/drawing/2014/main" xmlns="" id="{E55DF35B-1C75-DD16-543E-53F93E4A73C8}"/>
                </a:ext>
              </a:extLst>
            </p:cNvPr>
            <p:cNvSpPr>
              <a:spLocks noChangeShapeType="1"/>
            </p:cNvSpPr>
            <p:nvPr/>
          </p:nvSpPr>
          <p:spPr bwMode="auto">
            <a:xfrm flipV="1">
              <a:off x="4457" y="1180"/>
              <a:ext cx="0" cy="37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89" name="Line 49">
              <a:extLst>
                <a:ext uri="{FF2B5EF4-FFF2-40B4-BE49-F238E27FC236}">
                  <a16:creationId xmlns:a16="http://schemas.microsoft.com/office/drawing/2014/main" xmlns="" id="{EE5A7FD9-16FC-BAD6-452A-0436E46E64CB}"/>
                </a:ext>
              </a:extLst>
            </p:cNvPr>
            <p:cNvSpPr>
              <a:spLocks noChangeShapeType="1"/>
            </p:cNvSpPr>
            <p:nvPr/>
          </p:nvSpPr>
          <p:spPr bwMode="auto">
            <a:xfrm>
              <a:off x="3563" y="1846"/>
              <a:ext cx="898" cy="0"/>
            </a:xfrm>
            <a:prstGeom prst="line">
              <a:avLst/>
            </a:prstGeom>
            <a:noFill/>
            <a:ln w="1270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90" name="Line 50">
              <a:extLst>
                <a:ext uri="{FF2B5EF4-FFF2-40B4-BE49-F238E27FC236}">
                  <a16:creationId xmlns:a16="http://schemas.microsoft.com/office/drawing/2014/main" xmlns="" id="{9B95920E-3B22-B82B-DBA8-90E60F6B6CA3}"/>
                </a:ext>
              </a:extLst>
            </p:cNvPr>
            <p:cNvSpPr>
              <a:spLocks noChangeShapeType="1"/>
            </p:cNvSpPr>
            <p:nvPr/>
          </p:nvSpPr>
          <p:spPr bwMode="auto">
            <a:xfrm>
              <a:off x="4462" y="1846"/>
              <a:ext cx="1122" cy="0"/>
            </a:xfrm>
            <a:prstGeom prst="line">
              <a:avLst/>
            </a:prstGeom>
            <a:noFill/>
            <a:ln w="1270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95" name="Line 51">
              <a:extLst>
                <a:ext uri="{FF2B5EF4-FFF2-40B4-BE49-F238E27FC236}">
                  <a16:creationId xmlns:a16="http://schemas.microsoft.com/office/drawing/2014/main" xmlns="" id="{2497B7ED-E208-07B0-0828-0F3DB7C0B15F}"/>
                </a:ext>
              </a:extLst>
            </p:cNvPr>
            <p:cNvSpPr>
              <a:spLocks noChangeShapeType="1"/>
            </p:cNvSpPr>
            <p:nvPr/>
          </p:nvSpPr>
          <p:spPr bwMode="auto">
            <a:xfrm flipV="1">
              <a:off x="4462" y="1686"/>
              <a:ext cx="0" cy="191"/>
            </a:xfrm>
            <a:prstGeom prst="line">
              <a:avLst/>
            </a:prstGeom>
            <a:noFill/>
            <a:ln w="9525">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96" name="Line 52">
              <a:extLst>
                <a:ext uri="{FF2B5EF4-FFF2-40B4-BE49-F238E27FC236}">
                  <a16:creationId xmlns:a16="http://schemas.microsoft.com/office/drawing/2014/main" xmlns="" id="{654386E9-D6E2-216A-2171-EDDC2F3578E0}"/>
                </a:ext>
              </a:extLst>
            </p:cNvPr>
            <p:cNvSpPr>
              <a:spLocks noChangeShapeType="1"/>
            </p:cNvSpPr>
            <p:nvPr/>
          </p:nvSpPr>
          <p:spPr bwMode="auto">
            <a:xfrm flipV="1">
              <a:off x="5582" y="1685"/>
              <a:ext cx="0" cy="191"/>
            </a:xfrm>
            <a:prstGeom prst="line">
              <a:avLst/>
            </a:prstGeom>
            <a:noFill/>
            <a:ln w="9525">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97" name="Text Box 53">
              <a:extLst>
                <a:ext uri="{FF2B5EF4-FFF2-40B4-BE49-F238E27FC236}">
                  <a16:creationId xmlns:a16="http://schemas.microsoft.com/office/drawing/2014/main" xmlns="" id="{8694661A-B3CC-C070-30B8-D6F26B7704D6}"/>
                </a:ext>
              </a:extLst>
            </p:cNvPr>
            <p:cNvSpPr txBox="1">
              <a:spLocks noChangeAspect="1" noChangeArrowheads="1"/>
            </p:cNvSpPr>
            <p:nvPr/>
          </p:nvSpPr>
          <p:spPr bwMode="auto">
            <a:xfrm>
              <a:off x="3724" y="1604"/>
              <a:ext cx="671"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800</a:t>
              </a:r>
              <a:endPar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8" name="Text Box 54">
              <a:extLst>
                <a:ext uri="{FF2B5EF4-FFF2-40B4-BE49-F238E27FC236}">
                  <a16:creationId xmlns:a16="http://schemas.microsoft.com/office/drawing/2014/main" xmlns="" id="{82E9D2D9-EA5B-552A-E0C3-41B6424F40AE}"/>
                </a:ext>
              </a:extLst>
            </p:cNvPr>
            <p:cNvSpPr txBox="1">
              <a:spLocks noChangeAspect="1" noChangeArrowheads="1"/>
            </p:cNvSpPr>
            <p:nvPr/>
          </p:nvSpPr>
          <p:spPr bwMode="auto">
            <a:xfrm>
              <a:off x="4715" y="1605"/>
              <a:ext cx="69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1000</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9" name="Arc 55">
              <a:extLst>
                <a:ext uri="{FF2B5EF4-FFF2-40B4-BE49-F238E27FC236}">
                  <a16:creationId xmlns:a16="http://schemas.microsoft.com/office/drawing/2014/main" xmlns="" id="{3F6ECFC1-86B6-8F97-4636-96D17BA7850C}"/>
                </a:ext>
              </a:extLst>
            </p:cNvPr>
            <p:cNvSpPr>
              <a:spLocks noChangeAspect="1"/>
            </p:cNvSpPr>
            <p:nvPr/>
          </p:nvSpPr>
          <p:spPr bwMode="auto">
            <a:xfrm rot="18787816" flipH="1">
              <a:off x="5392" y="1226"/>
              <a:ext cx="272" cy="231"/>
            </a:xfrm>
            <a:custGeom>
              <a:avLst/>
              <a:gdLst>
                <a:gd name="T0" fmla="*/ 0 w 24883"/>
                <a:gd name="T1" fmla="*/ 0 h 21600"/>
                <a:gd name="T2" fmla="*/ 3 w 24883"/>
                <a:gd name="T3" fmla="*/ 2 h 21600"/>
                <a:gd name="T4" fmla="*/ 0 w 24883"/>
                <a:gd name="T5" fmla="*/ 2 h 21600"/>
                <a:gd name="T6" fmla="*/ 0 60000 65536"/>
                <a:gd name="T7" fmla="*/ 0 60000 65536"/>
                <a:gd name="T8" fmla="*/ 0 60000 65536"/>
                <a:gd name="T9" fmla="*/ 0 w 24883"/>
                <a:gd name="T10" fmla="*/ 0 h 21600"/>
                <a:gd name="T11" fmla="*/ 24883 w 24883"/>
                <a:gd name="T12" fmla="*/ 21600 h 21600"/>
              </a:gdLst>
              <a:ahLst/>
              <a:cxnLst>
                <a:cxn ang="T6">
                  <a:pos x="T0" y="T1"/>
                </a:cxn>
                <a:cxn ang="T7">
                  <a:pos x="T2" y="T3"/>
                </a:cxn>
                <a:cxn ang="T8">
                  <a:pos x="T4" y="T5"/>
                </a:cxn>
              </a:cxnLst>
              <a:rect l="T9" t="T10" r="T11" b="T12"/>
              <a:pathLst>
                <a:path w="24883" h="21600" fill="none" extrusionOk="0">
                  <a:moveTo>
                    <a:pt x="0" y="252"/>
                  </a:moveTo>
                  <a:cubicBezTo>
                    <a:pt x="1088" y="84"/>
                    <a:pt x="2189" y="-1"/>
                    <a:pt x="3291" y="0"/>
                  </a:cubicBezTo>
                  <a:cubicBezTo>
                    <a:pt x="14984" y="0"/>
                    <a:pt x="24554" y="9305"/>
                    <a:pt x="24882" y="20994"/>
                  </a:cubicBezTo>
                </a:path>
                <a:path w="24883" h="21600" stroke="0" extrusionOk="0">
                  <a:moveTo>
                    <a:pt x="0" y="252"/>
                  </a:moveTo>
                  <a:cubicBezTo>
                    <a:pt x="1088" y="84"/>
                    <a:pt x="2189" y="-1"/>
                    <a:pt x="3291" y="0"/>
                  </a:cubicBezTo>
                  <a:cubicBezTo>
                    <a:pt x="14984" y="0"/>
                    <a:pt x="24554" y="9305"/>
                    <a:pt x="24882" y="20994"/>
                  </a:cubicBezTo>
                  <a:lnTo>
                    <a:pt x="3291" y="21600"/>
                  </a:lnTo>
                  <a:close/>
                </a:path>
              </a:pathLst>
            </a:custGeom>
            <a:noFill/>
            <a:ln w="28575">
              <a:solidFill>
                <a:srgbClr val="FF0000"/>
              </a:solidFill>
              <a:round/>
              <a:headEnd type="stealth" w="med" len="lg"/>
              <a:tailEnd type="none"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0" name="Text Box 56">
              <a:extLst>
                <a:ext uri="{FF2B5EF4-FFF2-40B4-BE49-F238E27FC236}">
                  <a16:creationId xmlns:a16="http://schemas.microsoft.com/office/drawing/2014/main" xmlns="" id="{FDDDBAC2-3EFA-76E3-30B0-EAC29B8374EE}"/>
                </a:ext>
              </a:extLst>
            </p:cNvPr>
            <p:cNvSpPr txBox="1">
              <a:spLocks noChangeAspect="1" noChangeArrowheads="1"/>
            </p:cNvSpPr>
            <p:nvPr/>
          </p:nvSpPr>
          <p:spPr bwMode="auto">
            <a:xfrm>
              <a:off x="3182" y="885"/>
              <a:ext cx="865"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1200N</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m</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1" name="Text Box 57">
              <a:extLst>
                <a:ext uri="{FF2B5EF4-FFF2-40B4-BE49-F238E27FC236}">
                  <a16:creationId xmlns:a16="http://schemas.microsoft.com/office/drawing/2014/main" xmlns="" id="{9EDA6518-E228-B56B-6F39-85877C301878}"/>
                </a:ext>
              </a:extLst>
            </p:cNvPr>
            <p:cNvSpPr txBox="1">
              <a:spLocks noChangeAspect="1" noChangeArrowheads="1"/>
            </p:cNvSpPr>
            <p:nvPr/>
          </p:nvSpPr>
          <p:spPr bwMode="auto">
            <a:xfrm>
              <a:off x="4080" y="884"/>
              <a:ext cx="865"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2000N</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m</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2" name="Text Box 58">
              <a:extLst>
                <a:ext uri="{FF2B5EF4-FFF2-40B4-BE49-F238E27FC236}">
                  <a16:creationId xmlns:a16="http://schemas.microsoft.com/office/drawing/2014/main" xmlns="" id="{97B3FE4E-A43F-787F-F9BB-E19CE2ED5955}"/>
                </a:ext>
              </a:extLst>
            </p:cNvPr>
            <p:cNvSpPr txBox="1">
              <a:spLocks noChangeAspect="1" noChangeArrowheads="1"/>
            </p:cNvSpPr>
            <p:nvPr/>
          </p:nvSpPr>
          <p:spPr bwMode="auto">
            <a:xfrm>
              <a:off x="5019" y="892"/>
              <a:ext cx="865"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800N</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m</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3" name="Line 59">
              <a:extLst>
                <a:ext uri="{FF2B5EF4-FFF2-40B4-BE49-F238E27FC236}">
                  <a16:creationId xmlns:a16="http://schemas.microsoft.com/office/drawing/2014/main" xmlns="" id="{C1CE1094-6D1D-56BB-2367-F9C761C02939}"/>
                </a:ext>
              </a:extLst>
            </p:cNvPr>
            <p:cNvSpPr>
              <a:spLocks noChangeShapeType="1"/>
            </p:cNvSpPr>
            <p:nvPr/>
          </p:nvSpPr>
          <p:spPr bwMode="auto">
            <a:xfrm>
              <a:off x="3388" y="1371"/>
              <a:ext cx="2372"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304" name="Group 61">
            <a:extLst>
              <a:ext uri="{FF2B5EF4-FFF2-40B4-BE49-F238E27FC236}">
                <a16:creationId xmlns:a16="http://schemas.microsoft.com/office/drawing/2014/main" xmlns="" id="{199F61E9-FFA3-C652-AA8B-E0478DBED84D}"/>
              </a:ext>
            </a:extLst>
          </p:cNvPr>
          <p:cNvGrpSpPr>
            <a:grpSpLocks/>
          </p:cNvGrpSpPr>
          <p:nvPr/>
        </p:nvGrpSpPr>
        <p:grpSpPr bwMode="auto">
          <a:xfrm>
            <a:off x="8686943" y="3581716"/>
            <a:ext cx="576263" cy="476250"/>
            <a:chOff x="4383" y="1641"/>
            <a:chExt cx="233" cy="183"/>
          </a:xfrm>
        </p:grpSpPr>
        <p:sp>
          <p:nvSpPr>
            <p:cNvPr id="305" name="Oval 62">
              <a:extLst>
                <a:ext uri="{FF2B5EF4-FFF2-40B4-BE49-F238E27FC236}">
                  <a16:creationId xmlns:a16="http://schemas.microsoft.com/office/drawing/2014/main" xmlns="" id="{745F7BEB-32B4-DA04-6A08-9936DBF5CC06}"/>
                </a:ext>
              </a:extLst>
            </p:cNvPr>
            <p:cNvSpPr>
              <a:spLocks noChangeAspect="1" noChangeArrowheads="1"/>
            </p:cNvSpPr>
            <p:nvPr/>
          </p:nvSpPr>
          <p:spPr bwMode="auto">
            <a:xfrm>
              <a:off x="4429" y="1695"/>
              <a:ext cx="100" cy="92"/>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06" name="Text Box 63">
              <a:extLst>
                <a:ext uri="{FF2B5EF4-FFF2-40B4-BE49-F238E27FC236}">
                  <a16:creationId xmlns:a16="http://schemas.microsoft.com/office/drawing/2014/main" xmlns="" id="{E4AD8D27-77D5-F9EF-7256-C42BBD965813}"/>
                </a:ext>
              </a:extLst>
            </p:cNvPr>
            <p:cNvSpPr txBox="1">
              <a:spLocks noChangeAspect="1" noChangeArrowheads="1"/>
            </p:cNvSpPr>
            <p:nvPr/>
          </p:nvSpPr>
          <p:spPr bwMode="auto">
            <a:xfrm>
              <a:off x="4383" y="1641"/>
              <a:ext cx="23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20000"/>
                </a:lnSpc>
                <a:spcBef>
                  <a:spcPts val="0"/>
                </a:spcBef>
                <a:spcAft>
                  <a:spcPts val="0"/>
                </a:spcAft>
                <a:buClrTx/>
                <a:buSzTx/>
                <a:buFontTx/>
                <a:buNone/>
                <a:tabLst/>
                <a:defRPr/>
              </a:pPr>
              <a:r>
                <a:rPr kumimoji="1" lang="en-US" altLang="zh-CN" sz="8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 </a:t>
              </a:r>
              <a:r>
                <a:rPr kumimoji="1" lang="en-US" altLang="zh-CN" sz="2400" b="0"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a:t>
              </a:r>
            </a:p>
          </p:txBody>
        </p:sp>
      </p:grpSp>
      <p:sp>
        <p:nvSpPr>
          <p:cNvPr id="307" name="矩形 306">
            <a:extLst>
              <a:ext uri="{FF2B5EF4-FFF2-40B4-BE49-F238E27FC236}">
                <a16:creationId xmlns:a16="http://schemas.microsoft.com/office/drawing/2014/main" xmlns="" id="{45327D0B-666C-FF12-E1C7-7AD8301F651F}"/>
              </a:ext>
            </a:extLst>
          </p:cNvPr>
          <p:cNvSpPr/>
          <p:nvPr/>
        </p:nvSpPr>
        <p:spPr>
          <a:xfrm>
            <a:off x="2863821" y="2717951"/>
            <a:ext cx="2416631" cy="520848"/>
          </a:xfrm>
          <a:prstGeom prst="rect">
            <a:avLst/>
          </a:prstGeom>
        </p:spPr>
        <p:txBody>
          <a:bodyPr wrap="square">
            <a:spAutoFit/>
          </a:bodyPr>
          <a:lstStyle/>
          <a:p>
            <a:pPr lvl="0">
              <a:lnSpc>
                <a:spcPct val="130000"/>
              </a:lnSpc>
            </a:pPr>
            <a:r>
              <a:rPr kumimoji="1" lang="en-US" altLang="zh-CN" b="0" dirty="0">
                <a:solidFill>
                  <a:schemeClr val="tx1"/>
                </a:solidFill>
                <a:ea typeface="黑体" panose="02010609060101010101" pitchFamily="49" charset="-122"/>
              </a:rPr>
              <a:t>M</a:t>
            </a:r>
            <a:r>
              <a:rPr kumimoji="1" lang="en-US" altLang="zh-CN" b="0" i="0" baseline="-25000" dirty="0">
                <a:solidFill>
                  <a:schemeClr val="tx1"/>
                </a:solidFill>
                <a:ea typeface="黑体" panose="02010609060101010101" pitchFamily="49" charset="-122"/>
              </a:rPr>
              <a:t>n2</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800N</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m</a:t>
            </a:r>
            <a:endParaRPr kumimoji="1" lang="en-US" altLang="zh-CN" b="0" i="0" dirty="0">
              <a:solidFill>
                <a:schemeClr val="tx1"/>
              </a:solidFill>
              <a:latin typeface="+mn-lt"/>
              <a:ea typeface="黑体" panose="02010609060101010101" pitchFamily="49" charset="-122"/>
            </a:endParaRPr>
          </a:p>
        </p:txBody>
      </p:sp>
      <p:sp>
        <p:nvSpPr>
          <p:cNvPr id="308" name="矩形 307">
            <a:extLst>
              <a:ext uri="{FF2B5EF4-FFF2-40B4-BE49-F238E27FC236}">
                <a16:creationId xmlns:a16="http://schemas.microsoft.com/office/drawing/2014/main" xmlns="" id="{D7D7262C-DD6E-C906-864A-19CFD580D1B3}"/>
              </a:ext>
            </a:extLst>
          </p:cNvPr>
          <p:cNvSpPr/>
          <p:nvPr/>
        </p:nvSpPr>
        <p:spPr>
          <a:xfrm>
            <a:off x="211184" y="3166894"/>
            <a:ext cx="6770983" cy="520848"/>
          </a:xfrm>
          <a:prstGeom prst="rect">
            <a:avLst/>
          </a:prstGeom>
        </p:spPr>
        <p:txBody>
          <a:bodyPr wrap="square">
            <a:spAutoFit/>
          </a:bodyPr>
          <a:lstStyle/>
          <a:p>
            <a:pPr lvl="0">
              <a:lnSpc>
                <a:spcPct val="130000"/>
              </a:lnSpc>
            </a:pPr>
            <a:r>
              <a:rPr kumimoji="1" lang="zh-CN" altLang="en-US" i="0" dirty="0">
                <a:solidFill>
                  <a:schemeClr val="tx1"/>
                </a:solidFill>
                <a:ea typeface="黑体" panose="02010609060101010101" pitchFamily="49" charset="-122"/>
              </a:rPr>
              <a:t>圆轴截面的极惯性矩为</a:t>
            </a:r>
            <a:endParaRPr kumimoji="1" lang="en-US" altLang="zh-CN" b="0" i="0" dirty="0">
              <a:solidFill>
                <a:schemeClr val="tx1"/>
              </a:solidFill>
              <a:latin typeface="+mn-lt"/>
              <a:ea typeface="黑体" panose="02010609060101010101" pitchFamily="49" charset="-122"/>
            </a:endParaRPr>
          </a:p>
        </p:txBody>
      </p:sp>
      <p:graphicFrame>
        <p:nvGraphicFramePr>
          <p:cNvPr id="309" name="Object 66">
            <a:extLst>
              <a:ext uri="{FF2B5EF4-FFF2-40B4-BE49-F238E27FC236}">
                <a16:creationId xmlns:a16="http://schemas.microsoft.com/office/drawing/2014/main" xmlns="" id="{9996D8DD-5440-EAAC-7E4D-60F609ADCC96}"/>
              </a:ext>
            </a:extLst>
          </p:cNvPr>
          <p:cNvGraphicFramePr>
            <a:graphicFrameLocks noChangeAspect="1"/>
          </p:cNvGraphicFramePr>
          <p:nvPr>
            <p:extLst>
              <p:ext uri="{D42A27DB-BD31-4B8C-83A1-F6EECF244321}">
                <p14:modId xmlns:p14="http://schemas.microsoft.com/office/powerpoint/2010/main" val="2757667202"/>
              </p:ext>
            </p:extLst>
          </p:nvPr>
        </p:nvGraphicFramePr>
        <p:xfrm>
          <a:off x="764048" y="3628547"/>
          <a:ext cx="5681662" cy="858837"/>
        </p:xfrm>
        <a:graphic>
          <a:graphicData uri="http://schemas.openxmlformats.org/presentationml/2006/ole">
            <mc:AlternateContent xmlns:mc="http://schemas.openxmlformats.org/markup-compatibility/2006">
              <mc:Choice xmlns:v="urn:schemas-microsoft-com:vml" Requires="v">
                <p:oleObj spid="_x0000_s13322" name="Equation" r:id="rId6" imgW="2768400" imgH="419040" progId="Equation.DSMT4">
                  <p:embed/>
                </p:oleObj>
              </mc:Choice>
              <mc:Fallback>
                <p:oleObj name="Equation" r:id="rId6" imgW="2768400" imgH="419040" progId="Equation.DSMT4">
                  <p:embed/>
                  <p:pic>
                    <p:nvPicPr>
                      <p:cNvPr id="871490" name="Object 66">
                        <a:extLst>
                          <a:ext uri="{FF2B5EF4-FFF2-40B4-BE49-F238E27FC236}">
                            <a16:creationId xmlns:a16="http://schemas.microsoft.com/office/drawing/2014/main" xmlns="" id="{001F4C3D-D8E9-2EF7-67BC-8DA0589255A2}"/>
                          </a:ext>
                        </a:extLst>
                      </p:cNvPr>
                      <p:cNvPicPr>
                        <a:picLocks noChangeAspect="1" noChangeArrowheads="1"/>
                      </p:cNvPicPr>
                      <p:nvPr/>
                    </p:nvPicPr>
                    <p:blipFill>
                      <a:blip r:embed="rId7"/>
                      <a:srcRect/>
                      <a:stretch>
                        <a:fillRect/>
                      </a:stretch>
                    </p:blipFill>
                    <p:spPr bwMode="auto">
                      <a:xfrm>
                        <a:off x="764048" y="3628547"/>
                        <a:ext cx="5681662" cy="858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0" name="矩形 309">
            <a:extLst>
              <a:ext uri="{FF2B5EF4-FFF2-40B4-BE49-F238E27FC236}">
                <a16:creationId xmlns:a16="http://schemas.microsoft.com/office/drawing/2014/main" xmlns="" id="{6145AA3B-E482-03F4-CC31-D847B6DA5323}"/>
              </a:ext>
            </a:extLst>
          </p:cNvPr>
          <p:cNvSpPr/>
          <p:nvPr/>
        </p:nvSpPr>
        <p:spPr>
          <a:xfrm>
            <a:off x="211185" y="4666436"/>
            <a:ext cx="2109304" cy="520848"/>
          </a:xfrm>
          <a:prstGeom prst="rect">
            <a:avLst/>
          </a:prstGeom>
        </p:spPr>
        <p:txBody>
          <a:bodyPr wrap="square">
            <a:spAutoFit/>
          </a:bodyPr>
          <a:lstStyle/>
          <a:p>
            <a:pPr lvl="0">
              <a:lnSpc>
                <a:spcPct val="130000"/>
              </a:lnSpc>
            </a:pPr>
            <a:r>
              <a:rPr kumimoji="1" lang="en-US" altLang="zh-CN" b="0" dirty="0">
                <a:solidFill>
                  <a:schemeClr val="tx1"/>
                </a:solidFill>
                <a:ea typeface="黑体" panose="02010609060101010101" pitchFamily="49" charset="-122"/>
              </a:rPr>
              <a:t>AB</a:t>
            </a:r>
            <a:r>
              <a:rPr kumimoji="1" lang="zh-CN" altLang="en-US" i="0" dirty="0">
                <a:solidFill>
                  <a:schemeClr val="tx1"/>
                </a:solidFill>
                <a:ea typeface="黑体" panose="02010609060101010101" pitchFamily="49" charset="-122"/>
              </a:rPr>
              <a:t>段扭角</a:t>
            </a:r>
            <a:endParaRPr kumimoji="1" lang="en-US" altLang="zh-CN" b="0" i="0" dirty="0">
              <a:solidFill>
                <a:schemeClr val="tx1"/>
              </a:solidFill>
              <a:latin typeface="+mn-lt"/>
              <a:ea typeface="黑体" panose="02010609060101010101" pitchFamily="49" charset="-122"/>
            </a:endParaRPr>
          </a:p>
        </p:txBody>
      </p:sp>
      <p:graphicFrame>
        <p:nvGraphicFramePr>
          <p:cNvPr id="311" name="Object 68">
            <a:extLst>
              <a:ext uri="{FF2B5EF4-FFF2-40B4-BE49-F238E27FC236}">
                <a16:creationId xmlns:a16="http://schemas.microsoft.com/office/drawing/2014/main" xmlns="" id="{B608499F-07C0-424C-182F-C19B3E8E7306}"/>
              </a:ext>
            </a:extLst>
          </p:cNvPr>
          <p:cNvGraphicFramePr>
            <a:graphicFrameLocks noChangeAspect="1"/>
          </p:cNvGraphicFramePr>
          <p:nvPr>
            <p:extLst>
              <p:ext uri="{D42A27DB-BD31-4B8C-83A1-F6EECF244321}">
                <p14:modId xmlns:p14="http://schemas.microsoft.com/office/powerpoint/2010/main" val="1016928412"/>
              </p:ext>
            </p:extLst>
          </p:nvPr>
        </p:nvGraphicFramePr>
        <p:xfrm>
          <a:off x="1763641" y="4479663"/>
          <a:ext cx="3290901" cy="979244"/>
        </p:xfrm>
        <a:graphic>
          <a:graphicData uri="http://schemas.openxmlformats.org/presentationml/2006/ole">
            <mc:AlternateContent xmlns:mc="http://schemas.openxmlformats.org/markup-compatibility/2006">
              <mc:Choice xmlns:v="urn:schemas-microsoft-com:vml" Requires="v">
                <p:oleObj spid="_x0000_s13323" name="Equation" r:id="rId8" imgW="1587240" imgH="469800" progId="Equation.DSMT4">
                  <p:embed/>
                </p:oleObj>
              </mc:Choice>
              <mc:Fallback>
                <p:oleObj name="Equation" r:id="rId8" imgW="1587240" imgH="469800" progId="Equation.DSMT4">
                  <p:embed/>
                  <p:pic>
                    <p:nvPicPr>
                      <p:cNvPr id="871492" name="Object 68">
                        <a:extLst>
                          <a:ext uri="{FF2B5EF4-FFF2-40B4-BE49-F238E27FC236}">
                            <a16:creationId xmlns:a16="http://schemas.microsoft.com/office/drawing/2014/main" xmlns="" id="{67C3C23F-3403-9644-DAD9-B9168DF65684}"/>
                          </a:ext>
                        </a:extLst>
                      </p:cNvPr>
                      <p:cNvPicPr>
                        <a:picLocks noChangeAspect="1" noChangeArrowheads="1"/>
                      </p:cNvPicPr>
                      <p:nvPr/>
                    </p:nvPicPr>
                    <p:blipFill>
                      <a:blip r:embed="rId9"/>
                      <a:srcRect/>
                      <a:stretch>
                        <a:fillRect/>
                      </a:stretch>
                    </p:blipFill>
                    <p:spPr bwMode="auto">
                      <a:xfrm>
                        <a:off x="1763641" y="4479663"/>
                        <a:ext cx="3290901" cy="979244"/>
                      </a:xfrm>
                      <a:prstGeom prst="rect">
                        <a:avLst/>
                      </a:prstGeom>
                      <a:noFill/>
                      <a:ln>
                        <a:noFill/>
                      </a:ln>
                      <a:effectLst/>
                    </p:spPr>
                  </p:pic>
                </p:oleObj>
              </mc:Fallback>
            </mc:AlternateContent>
          </a:graphicData>
        </a:graphic>
      </p:graphicFrame>
      <p:sp>
        <p:nvSpPr>
          <p:cNvPr id="312" name="矩形 311">
            <a:extLst>
              <a:ext uri="{FF2B5EF4-FFF2-40B4-BE49-F238E27FC236}">
                <a16:creationId xmlns:a16="http://schemas.microsoft.com/office/drawing/2014/main" xmlns="" id="{92DE4111-436E-25CC-88B2-CCB5DB18CCCC}"/>
              </a:ext>
            </a:extLst>
          </p:cNvPr>
          <p:cNvSpPr/>
          <p:nvPr/>
        </p:nvSpPr>
        <p:spPr>
          <a:xfrm>
            <a:off x="211185" y="5544802"/>
            <a:ext cx="2109304" cy="520848"/>
          </a:xfrm>
          <a:prstGeom prst="rect">
            <a:avLst/>
          </a:prstGeom>
        </p:spPr>
        <p:txBody>
          <a:bodyPr wrap="square">
            <a:spAutoFit/>
          </a:bodyPr>
          <a:lstStyle/>
          <a:p>
            <a:pPr lvl="0">
              <a:lnSpc>
                <a:spcPct val="130000"/>
              </a:lnSpc>
            </a:pPr>
            <a:r>
              <a:rPr kumimoji="1" lang="en-US" altLang="zh-CN" b="0" dirty="0">
                <a:solidFill>
                  <a:schemeClr val="tx1"/>
                </a:solidFill>
                <a:ea typeface="黑体" panose="02010609060101010101" pitchFamily="49" charset="-122"/>
              </a:rPr>
              <a:t>BC</a:t>
            </a:r>
            <a:r>
              <a:rPr kumimoji="1" lang="zh-CN" altLang="en-US" i="0" dirty="0">
                <a:solidFill>
                  <a:schemeClr val="tx1"/>
                </a:solidFill>
                <a:ea typeface="黑体" panose="02010609060101010101" pitchFamily="49" charset="-122"/>
              </a:rPr>
              <a:t>段扭角</a:t>
            </a:r>
            <a:endParaRPr kumimoji="1" lang="en-US" altLang="zh-CN" b="0" i="0" dirty="0">
              <a:solidFill>
                <a:schemeClr val="tx1"/>
              </a:solidFill>
              <a:latin typeface="+mn-lt"/>
              <a:ea typeface="黑体" panose="02010609060101010101" pitchFamily="49" charset="-122"/>
            </a:endParaRPr>
          </a:p>
        </p:txBody>
      </p:sp>
      <p:graphicFrame>
        <p:nvGraphicFramePr>
          <p:cNvPr id="313" name="Object 68">
            <a:extLst>
              <a:ext uri="{FF2B5EF4-FFF2-40B4-BE49-F238E27FC236}">
                <a16:creationId xmlns:a16="http://schemas.microsoft.com/office/drawing/2014/main" xmlns="" id="{C8FF0879-E4D7-7DDD-67D0-B6192498DC1A}"/>
              </a:ext>
            </a:extLst>
          </p:cNvPr>
          <p:cNvGraphicFramePr>
            <a:graphicFrameLocks noChangeAspect="1"/>
          </p:cNvGraphicFramePr>
          <p:nvPr>
            <p:extLst>
              <p:ext uri="{D42A27DB-BD31-4B8C-83A1-F6EECF244321}">
                <p14:modId xmlns:p14="http://schemas.microsoft.com/office/powerpoint/2010/main" val="4175201966"/>
              </p:ext>
            </p:extLst>
          </p:nvPr>
        </p:nvGraphicFramePr>
        <p:xfrm>
          <a:off x="1738313" y="5365750"/>
          <a:ext cx="3343275" cy="979488"/>
        </p:xfrm>
        <a:graphic>
          <a:graphicData uri="http://schemas.openxmlformats.org/presentationml/2006/ole">
            <mc:AlternateContent xmlns:mc="http://schemas.openxmlformats.org/markup-compatibility/2006">
              <mc:Choice xmlns:v="urn:schemas-microsoft-com:vml" Requires="v">
                <p:oleObj spid="_x0000_s13324" name="Equation" r:id="rId10" imgW="1612800" imgH="469800" progId="Equation.DSMT4">
                  <p:embed/>
                </p:oleObj>
              </mc:Choice>
              <mc:Fallback>
                <p:oleObj name="Equation" r:id="rId10" imgW="1612800" imgH="469800" progId="Equation.DSMT4">
                  <p:embed/>
                  <p:pic>
                    <p:nvPicPr>
                      <p:cNvPr id="311" name="Object 68">
                        <a:extLst>
                          <a:ext uri="{FF2B5EF4-FFF2-40B4-BE49-F238E27FC236}">
                            <a16:creationId xmlns:a16="http://schemas.microsoft.com/office/drawing/2014/main" xmlns="" id="{B608499F-07C0-424C-182F-C19B3E8E7306}"/>
                          </a:ext>
                        </a:extLst>
                      </p:cNvPr>
                      <p:cNvPicPr>
                        <a:picLocks noChangeAspect="1" noChangeArrowheads="1"/>
                      </p:cNvPicPr>
                      <p:nvPr/>
                    </p:nvPicPr>
                    <p:blipFill>
                      <a:blip r:embed="rId11"/>
                      <a:srcRect/>
                      <a:stretch>
                        <a:fillRect/>
                      </a:stretch>
                    </p:blipFill>
                    <p:spPr bwMode="auto">
                      <a:xfrm>
                        <a:off x="1738313" y="5365750"/>
                        <a:ext cx="3343275" cy="979488"/>
                      </a:xfrm>
                      <a:prstGeom prst="rect">
                        <a:avLst/>
                      </a:prstGeom>
                      <a:noFill/>
                      <a:ln>
                        <a:noFill/>
                      </a:ln>
                      <a:effectLst/>
                    </p:spPr>
                  </p:pic>
                </p:oleObj>
              </mc:Fallback>
            </mc:AlternateContent>
          </a:graphicData>
        </a:graphic>
      </p:graphicFrame>
      <p:sp>
        <p:nvSpPr>
          <p:cNvPr id="314" name="矩形 313">
            <a:extLst>
              <a:ext uri="{FF2B5EF4-FFF2-40B4-BE49-F238E27FC236}">
                <a16:creationId xmlns:a16="http://schemas.microsoft.com/office/drawing/2014/main" xmlns="" id="{4F702C1F-89CA-EB60-6696-CB7F39394E41}"/>
              </a:ext>
            </a:extLst>
          </p:cNvPr>
          <p:cNvSpPr/>
          <p:nvPr/>
        </p:nvSpPr>
        <p:spPr>
          <a:xfrm>
            <a:off x="5415921" y="5522707"/>
            <a:ext cx="1832207" cy="520848"/>
          </a:xfrm>
          <a:prstGeom prst="rect">
            <a:avLst/>
          </a:prstGeom>
        </p:spPr>
        <p:txBody>
          <a:bodyPr wrap="square">
            <a:spAutoFit/>
          </a:bodyPr>
          <a:lstStyle/>
          <a:p>
            <a:pPr lvl="0">
              <a:lnSpc>
                <a:spcPct val="130000"/>
              </a:lnSpc>
            </a:pPr>
            <a:r>
              <a:rPr kumimoji="1" lang="zh-CN" altLang="en-US" i="0" dirty="0">
                <a:solidFill>
                  <a:schemeClr val="tx1"/>
                </a:solidFill>
                <a:ea typeface="黑体" panose="02010609060101010101" pitchFamily="49" charset="-122"/>
              </a:rPr>
              <a:t>轴的总扭角</a:t>
            </a:r>
            <a:endParaRPr kumimoji="1" lang="en-US" altLang="zh-CN" i="0" dirty="0">
              <a:solidFill>
                <a:schemeClr val="tx1"/>
              </a:solidFill>
              <a:ea typeface="黑体" panose="02010609060101010101" pitchFamily="49" charset="-122"/>
            </a:endParaRPr>
          </a:p>
        </p:txBody>
      </p:sp>
      <p:graphicFrame>
        <p:nvGraphicFramePr>
          <p:cNvPr id="315" name="Object 62">
            <a:extLst>
              <a:ext uri="{FF2B5EF4-FFF2-40B4-BE49-F238E27FC236}">
                <a16:creationId xmlns:a16="http://schemas.microsoft.com/office/drawing/2014/main" xmlns="" id="{345FFC82-E8FA-920D-1FB4-87D9FA8FBEA5}"/>
              </a:ext>
            </a:extLst>
          </p:cNvPr>
          <p:cNvGraphicFramePr>
            <a:graphicFrameLocks noChangeAspect="1"/>
          </p:cNvGraphicFramePr>
          <p:nvPr>
            <p:extLst>
              <p:ext uri="{D42A27DB-BD31-4B8C-83A1-F6EECF244321}">
                <p14:modId xmlns:p14="http://schemas.microsoft.com/office/powerpoint/2010/main" val="2812355136"/>
              </p:ext>
            </p:extLst>
          </p:nvPr>
        </p:nvGraphicFramePr>
        <p:xfrm>
          <a:off x="7443453" y="5553075"/>
          <a:ext cx="3543300" cy="479425"/>
        </p:xfrm>
        <a:graphic>
          <a:graphicData uri="http://schemas.openxmlformats.org/presentationml/2006/ole">
            <mc:AlternateContent xmlns:mc="http://schemas.openxmlformats.org/markup-compatibility/2006">
              <mc:Choice xmlns:v="urn:schemas-microsoft-com:vml" Requires="v">
                <p:oleObj spid="_x0000_s13325" name="Equation" r:id="rId12" imgW="1688760" imgH="228600" progId="Equation.DSMT4">
                  <p:embed/>
                </p:oleObj>
              </mc:Choice>
              <mc:Fallback>
                <p:oleObj name="Equation" r:id="rId12" imgW="1688760" imgH="228600" progId="Equation.DSMT4">
                  <p:embed/>
                  <p:pic>
                    <p:nvPicPr>
                      <p:cNvPr id="872510" name="Object 62">
                        <a:extLst>
                          <a:ext uri="{FF2B5EF4-FFF2-40B4-BE49-F238E27FC236}">
                            <a16:creationId xmlns:a16="http://schemas.microsoft.com/office/drawing/2014/main" xmlns="" id="{A639ECC4-8F30-FC06-D0E2-63FFF159E91D}"/>
                          </a:ext>
                        </a:extLst>
                      </p:cNvPr>
                      <p:cNvPicPr>
                        <a:picLocks noChangeAspect="1" noChangeArrowheads="1"/>
                      </p:cNvPicPr>
                      <p:nvPr/>
                    </p:nvPicPr>
                    <p:blipFill>
                      <a:blip r:embed="rId13"/>
                      <a:srcRect/>
                      <a:stretch>
                        <a:fillRect/>
                      </a:stretch>
                    </p:blipFill>
                    <p:spPr bwMode="auto">
                      <a:xfrm>
                        <a:off x="7443453" y="5553075"/>
                        <a:ext cx="3543300"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4180966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outVertical)">
                                      <p:cBhvr>
                                        <p:cTn id="7" dur="30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3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3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0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p:cTn id="24" dur="3000" fill="hold"/>
                                        <p:tgtEl>
                                          <p:spTgt spid="15"/>
                                        </p:tgtEl>
                                        <p:attrNameLst>
                                          <p:attrName>ppt_w</p:attrName>
                                        </p:attrNameLst>
                                      </p:cBhvr>
                                      <p:tavLst>
                                        <p:tav tm="0">
                                          <p:val>
                                            <p:fltVal val="0"/>
                                          </p:val>
                                        </p:tav>
                                        <p:tav tm="100000">
                                          <p:val>
                                            <p:strVal val="#ppt_w"/>
                                          </p:val>
                                        </p:tav>
                                      </p:tavLst>
                                    </p:anim>
                                    <p:anim calcmode="lin" valueType="num">
                                      <p:cBhvr>
                                        <p:cTn id="25" dur="3000" fill="hold"/>
                                        <p:tgtEl>
                                          <p:spTgt spid="15"/>
                                        </p:tgtEl>
                                        <p:attrNameLst>
                                          <p:attrName>ppt_h</p:attrName>
                                        </p:attrNameLst>
                                      </p:cBhvr>
                                      <p:tavLst>
                                        <p:tav tm="0">
                                          <p:val>
                                            <p:fltVal val="0"/>
                                          </p:val>
                                        </p:tav>
                                        <p:tav tm="100000">
                                          <p:val>
                                            <p:strVal val="#ppt_h"/>
                                          </p:val>
                                        </p:tav>
                                      </p:tavLst>
                                    </p:anim>
                                    <p:anim calcmode="lin" valueType="num">
                                      <p:cBhvr>
                                        <p:cTn id="26" dur="3000" fill="hold"/>
                                        <p:tgtEl>
                                          <p:spTgt spid="15"/>
                                        </p:tgtEl>
                                        <p:attrNameLst>
                                          <p:attrName>ppt_x</p:attrName>
                                        </p:attrNameLst>
                                      </p:cBhvr>
                                      <p:tavLst>
                                        <p:tav tm="0" fmla="#ppt_x+(cos(-2*pi*(1-$))*-#ppt_x-sin(-2*pi*(1-$))*(1-#ppt_y))*(1-$)">
                                          <p:val>
                                            <p:fltVal val="0"/>
                                          </p:val>
                                        </p:tav>
                                        <p:tav tm="100000">
                                          <p:val>
                                            <p:fltVal val="1"/>
                                          </p:val>
                                        </p:tav>
                                      </p:tavLst>
                                    </p:anim>
                                    <p:anim calcmode="lin" valueType="num">
                                      <p:cBhvr>
                                        <p:cTn id="27" dur="3000" fill="hold"/>
                                        <p:tgtEl>
                                          <p:spTgt spid="15"/>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22"/>
                                            </p:cond>
                                          </p:stCondLst>
                                          <p:endCondLst>
                                            <p:cond evt="onStopAudio" delay="0">
                                              <p:tgtEl>
                                                <p:sldTgt/>
                                              </p:tgtEl>
                                            </p:cond>
                                          </p:endCondLst>
                                        </p:cTn>
                                        <p:tgtEl>
                                          <p:sndTgt r:embed="rId4" name="CHIMES.WAV"/>
                                        </p:tgtEl>
                                      </p:cMediaNode>
                                    </p:audio>
                                  </p:subTnLst>
                                </p:cTn>
                              </p:par>
                              <p:par>
                                <p:cTn id="28" presetID="12" presetClass="entr" presetSubtype="8" fill="hold"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slide(fromLeft)">
                                      <p:cBhvr>
                                        <p:cTn id="30" dur="3000"/>
                                        <p:tgtEl>
                                          <p:spTgt spid="6"/>
                                        </p:tgtEl>
                                      </p:cBhvr>
                                    </p:animEffect>
                                  </p:childTnLst>
                                </p:cTn>
                              </p:par>
                              <p:par>
                                <p:cTn id="31" presetID="19" presetClass="entr" presetSubtype="1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 calcmode="lin" valueType="num">
                                      <p:cBhvr>
                                        <p:cTn id="33" dur="5000" fill="hold"/>
                                        <p:tgtEl>
                                          <p:spTgt spid="20"/>
                                        </p:tgtEl>
                                        <p:attrNameLst>
                                          <p:attrName>ppt_w</p:attrName>
                                        </p:attrNameLst>
                                      </p:cBhvr>
                                      <p:tavLst>
                                        <p:tav tm="0" fmla="#ppt_w*sin(2.5*pi*$)">
                                          <p:val>
                                            <p:fltVal val="0"/>
                                          </p:val>
                                        </p:tav>
                                        <p:tav tm="100000">
                                          <p:val>
                                            <p:fltVal val="1"/>
                                          </p:val>
                                        </p:tav>
                                      </p:tavLst>
                                    </p:anim>
                                    <p:anim calcmode="lin" valueType="num">
                                      <p:cBhvr>
                                        <p:cTn id="34" dur="5000" fill="hold"/>
                                        <p:tgtEl>
                                          <p:spTgt spid="2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1"/>
                                            </p:cond>
                                          </p:stCondLst>
                                          <p:endCondLst>
                                            <p:cond evt="onStopAudio" delay="0">
                                              <p:tgtEl>
                                                <p:sldTgt/>
                                              </p:tgtEl>
                                            </p:cond>
                                          </p:endCondLst>
                                        </p:cTn>
                                        <p:tgtEl>
                                          <p:sndTgt r:embed="rId5" name="CAMERA.WAV"/>
                                        </p:tgtEl>
                                      </p:cMediaNode>
                                    </p:audio>
                                  </p:subTnLst>
                                </p:cTn>
                              </p:par>
                              <p:par>
                                <p:cTn id="35" presetID="19" presetClass="entr" presetSubtype="1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p:cTn id="37" dur="5000" fill="hold"/>
                                        <p:tgtEl>
                                          <p:spTgt spid="21"/>
                                        </p:tgtEl>
                                        <p:attrNameLst>
                                          <p:attrName>ppt_w</p:attrName>
                                        </p:attrNameLst>
                                      </p:cBhvr>
                                      <p:tavLst>
                                        <p:tav tm="0" fmla="#ppt_w*sin(2.5*pi*$)">
                                          <p:val>
                                            <p:fltVal val="0"/>
                                          </p:val>
                                        </p:tav>
                                        <p:tav tm="100000">
                                          <p:val>
                                            <p:fltVal val="1"/>
                                          </p:val>
                                        </p:tav>
                                      </p:tavLst>
                                    </p:anim>
                                    <p:anim calcmode="lin" valueType="num">
                                      <p:cBhvr>
                                        <p:cTn id="38" dur="5000" fill="hold"/>
                                        <p:tgtEl>
                                          <p:spTgt spid="2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5"/>
                                            </p:cond>
                                          </p:stCondLst>
                                          <p:endCondLst>
                                            <p:cond evt="onStopAudio" delay="0">
                                              <p:tgtEl>
                                                <p:sldTgt/>
                                              </p:tgtEl>
                                            </p:cond>
                                          </p:endCondLst>
                                        </p:cTn>
                                        <p:tgtEl>
                                          <p:sndTgt r:embed="rId5" name="CAMERA.WAV"/>
                                        </p:tgtEl>
                                      </p:cMediaNode>
                                    </p:audio>
                                  </p:subTnLst>
                                </p:cTn>
                              </p:par>
                              <p:par>
                                <p:cTn id="39" presetID="12" presetClass="entr" presetSubtype="4" fill="hold"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slide(fromBottom)">
                                      <p:cBhvr>
                                        <p:cTn id="41" dur="3000"/>
                                        <p:tgtEl>
                                          <p:spTgt spid="8"/>
                                        </p:tgtEl>
                                      </p:cBhvr>
                                    </p:animEffect>
                                  </p:childTnLst>
                                </p:cTn>
                              </p:par>
                              <p:par>
                                <p:cTn id="42" presetID="19" presetClass="entr" presetSubtype="1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p:cTn id="44" dur="5000" fill="hold"/>
                                        <p:tgtEl>
                                          <p:spTgt spid="12"/>
                                        </p:tgtEl>
                                        <p:attrNameLst>
                                          <p:attrName>ppt_w</p:attrName>
                                        </p:attrNameLst>
                                      </p:cBhvr>
                                      <p:tavLst>
                                        <p:tav tm="0" fmla="#ppt_w*sin(2.5*pi*$)">
                                          <p:val>
                                            <p:fltVal val="0"/>
                                          </p:val>
                                        </p:tav>
                                        <p:tav tm="100000">
                                          <p:val>
                                            <p:fltVal val="1"/>
                                          </p:val>
                                        </p:tav>
                                      </p:tavLst>
                                    </p:anim>
                                    <p:anim calcmode="lin" valueType="num">
                                      <p:cBhvr>
                                        <p:cTn id="45" dur="5000" fill="hold"/>
                                        <p:tgtEl>
                                          <p:spTgt spid="1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2"/>
                                            </p:cond>
                                          </p:stCondLst>
                                          <p:endCondLst>
                                            <p:cond evt="onStopAudio" delay="0">
                                              <p:tgtEl>
                                                <p:sldTgt/>
                                              </p:tgtEl>
                                            </p:cond>
                                          </p:endCondLst>
                                        </p:cTn>
                                        <p:tgtEl>
                                          <p:sndTgt r:embed="rId5" name="CAMERA.WAV"/>
                                        </p:tgtEl>
                                      </p:cMediaNode>
                                    </p:audio>
                                  </p:subTnLst>
                                </p:cTn>
                              </p:par>
                              <p:par>
                                <p:cTn id="46" presetID="19" presetClass="entr" presetSubtype="1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 calcmode="lin" valueType="num">
                                      <p:cBhvr>
                                        <p:cTn id="48" dur="3000" fill="hold"/>
                                        <p:tgtEl>
                                          <p:spTgt spid="14"/>
                                        </p:tgtEl>
                                        <p:attrNameLst>
                                          <p:attrName>ppt_w</p:attrName>
                                        </p:attrNameLst>
                                      </p:cBhvr>
                                      <p:tavLst>
                                        <p:tav tm="0" fmla="#ppt_w*sin(2.5*pi*$)">
                                          <p:val>
                                            <p:fltVal val="0"/>
                                          </p:val>
                                        </p:tav>
                                        <p:tav tm="100000">
                                          <p:val>
                                            <p:fltVal val="1"/>
                                          </p:val>
                                        </p:tav>
                                      </p:tavLst>
                                    </p:anim>
                                    <p:anim calcmode="lin" valueType="num">
                                      <p:cBhvr>
                                        <p:cTn id="49" dur="3000" fill="hold"/>
                                        <p:tgtEl>
                                          <p:spTgt spid="1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6"/>
                                            </p:cond>
                                          </p:stCondLst>
                                          <p:endCondLst>
                                            <p:cond evt="onStopAudio" delay="0">
                                              <p:tgtEl>
                                                <p:sldTgt/>
                                              </p:tgtEl>
                                            </p:cond>
                                          </p:endCondLst>
                                        </p:cTn>
                                        <p:tgtEl>
                                          <p:sndTgt r:embed="rId4" name="CHIMES.WAV"/>
                                        </p:tgtEl>
                                      </p:cMediaNode>
                                    </p:audio>
                                  </p:subTnLst>
                                </p:cTn>
                              </p:par>
                            </p:childTnLst>
                          </p:cTn>
                        </p:par>
                        <p:par>
                          <p:cTn id="50" fill="hold">
                            <p:stCondLst>
                              <p:cond delay="5000"/>
                            </p:stCondLst>
                            <p:childTnLst>
                              <p:par>
                                <p:cTn id="51" presetID="22" presetClass="entr" presetSubtype="8" fill="hold" nodeType="after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wipe(left)">
                                      <p:cBhvr>
                                        <p:cTn id="53" dur="3000"/>
                                        <p:tgtEl>
                                          <p:spTgt spid="10"/>
                                        </p:tgtEl>
                                      </p:cBhvr>
                                    </p:animEffect>
                                  </p:childTnLst>
                                  <p:subTnLst>
                                    <p:audio>
                                      <p:cMediaNode>
                                        <p:cTn display="0" masterRel="sameClick">
                                          <p:stCondLst>
                                            <p:cond evt="begin" delay="0">
                                              <p:tn val="51"/>
                                            </p:cond>
                                          </p:stCondLst>
                                          <p:endCondLst>
                                            <p:cond evt="onStopAudio" delay="0">
                                              <p:tgtEl>
                                                <p:sldTgt/>
                                              </p:tgtEl>
                                            </p:cond>
                                          </p:endCondLst>
                                        </p:cTn>
                                        <p:tgtEl>
                                          <p:sndTgt r:embed="rId4" name="CHIMES.WAV"/>
                                        </p:tgtEl>
                                      </p:cMediaNode>
                                    </p:audio>
                                  </p:subTnLst>
                                </p:cTn>
                              </p:par>
                            </p:childTnLst>
                          </p:cTn>
                        </p:par>
                        <p:par>
                          <p:cTn id="54" fill="hold">
                            <p:stCondLst>
                              <p:cond delay="8000"/>
                            </p:stCondLst>
                            <p:childTnLst>
                              <p:par>
                                <p:cTn id="55" presetID="15" presetClass="entr" presetSubtype="0" fill="hold" grpId="0" nodeType="after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p:cTn id="57" dur="3000" fill="hold"/>
                                        <p:tgtEl>
                                          <p:spTgt spid="16"/>
                                        </p:tgtEl>
                                        <p:attrNameLst>
                                          <p:attrName>ppt_w</p:attrName>
                                        </p:attrNameLst>
                                      </p:cBhvr>
                                      <p:tavLst>
                                        <p:tav tm="0">
                                          <p:val>
                                            <p:fltVal val="0"/>
                                          </p:val>
                                        </p:tav>
                                        <p:tav tm="100000">
                                          <p:val>
                                            <p:strVal val="#ppt_w"/>
                                          </p:val>
                                        </p:tav>
                                      </p:tavLst>
                                    </p:anim>
                                    <p:anim calcmode="lin" valueType="num">
                                      <p:cBhvr>
                                        <p:cTn id="58" dur="3000" fill="hold"/>
                                        <p:tgtEl>
                                          <p:spTgt spid="16"/>
                                        </p:tgtEl>
                                        <p:attrNameLst>
                                          <p:attrName>ppt_h</p:attrName>
                                        </p:attrNameLst>
                                      </p:cBhvr>
                                      <p:tavLst>
                                        <p:tav tm="0">
                                          <p:val>
                                            <p:fltVal val="0"/>
                                          </p:val>
                                        </p:tav>
                                        <p:tav tm="100000">
                                          <p:val>
                                            <p:strVal val="#ppt_h"/>
                                          </p:val>
                                        </p:tav>
                                      </p:tavLst>
                                    </p:anim>
                                    <p:anim calcmode="lin" valueType="num">
                                      <p:cBhvr>
                                        <p:cTn id="59" dur="3000" fill="hold"/>
                                        <p:tgtEl>
                                          <p:spTgt spid="16"/>
                                        </p:tgtEl>
                                        <p:attrNameLst>
                                          <p:attrName>ppt_x</p:attrName>
                                        </p:attrNameLst>
                                      </p:cBhvr>
                                      <p:tavLst>
                                        <p:tav tm="0" fmla="#ppt_x+(cos(-2*pi*(1-$))*-#ppt_x-sin(-2*pi*(1-$))*(1-#ppt_y))*(1-$)">
                                          <p:val>
                                            <p:fltVal val="0"/>
                                          </p:val>
                                        </p:tav>
                                        <p:tav tm="100000">
                                          <p:val>
                                            <p:fltVal val="1"/>
                                          </p:val>
                                        </p:tav>
                                      </p:tavLst>
                                    </p:anim>
                                    <p:anim calcmode="lin" valueType="num">
                                      <p:cBhvr>
                                        <p:cTn id="60" dur="3000" fill="hold"/>
                                        <p:tgtEl>
                                          <p:spTgt spid="1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55"/>
                                            </p:cond>
                                          </p:stCondLst>
                                          <p:endCondLst>
                                            <p:cond evt="onStopAudio" delay="0">
                                              <p:tgtEl>
                                                <p:sldTgt/>
                                              </p:tgtEl>
                                            </p:cond>
                                          </p:endCondLst>
                                        </p:cTn>
                                        <p:tgtEl>
                                          <p:sndTgt r:embed="rId4" name="CHIMES.WAV"/>
                                        </p:tgtEl>
                                      </p:cMediaNode>
                                    </p:audio>
                                  </p:subTnLst>
                                </p:cTn>
                              </p:par>
                              <p:par>
                                <p:cTn id="61" presetID="19" presetClass="entr" presetSubtype="10" fill="hold" grpId="0" nodeType="withEffect">
                                  <p:stCondLst>
                                    <p:cond delay="0"/>
                                  </p:stCondLst>
                                  <p:childTnLst>
                                    <p:set>
                                      <p:cBhvr>
                                        <p:cTn id="62" dur="1" fill="hold">
                                          <p:stCondLst>
                                            <p:cond delay="0"/>
                                          </p:stCondLst>
                                        </p:cTn>
                                        <p:tgtEl>
                                          <p:spTgt spid="13"/>
                                        </p:tgtEl>
                                        <p:attrNameLst>
                                          <p:attrName>style.visibility</p:attrName>
                                        </p:attrNameLst>
                                      </p:cBhvr>
                                      <p:to>
                                        <p:strVal val="visible"/>
                                      </p:to>
                                    </p:set>
                                    <p:anim calcmode="lin" valueType="num">
                                      <p:cBhvr>
                                        <p:cTn id="63" dur="3000" fill="hold"/>
                                        <p:tgtEl>
                                          <p:spTgt spid="13"/>
                                        </p:tgtEl>
                                        <p:attrNameLst>
                                          <p:attrName>ppt_w</p:attrName>
                                        </p:attrNameLst>
                                      </p:cBhvr>
                                      <p:tavLst>
                                        <p:tav tm="0" fmla="#ppt_w*sin(2.5*pi*$)">
                                          <p:val>
                                            <p:fltVal val="0"/>
                                          </p:val>
                                        </p:tav>
                                        <p:tav tm="100000">
                                          <p:val>
                                            <p:fltVal val="1"/>
                                          </p:val>
                                        </p:tav>
                                      </p:tavLst>
                                    </p:anim>
                                    <p:anim calcmode="lin" valueType="num">
                                      <p:cBhvr>
                                        <p:cTn id="64" dur="3000" fill="hold"/>
                                        <p:tgtEl>
                                          <p:spTgt spid="1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1"/>
                                            </p:cond>
                                          </p:stCondLst>
                                          <p:endCondLst>
                                            <p:cond evt="onStopAudio" delay="0">
                                              <p:tgtEl>
                                                <p:sldTgt/>
                                              </p:tgtEl>
                                            </p:cond>
                                          </p:endCondLst>
                                        </p:cTn>
                                        <p:tgtEl>
                                          <p:sndTgt r:embed="rId4" name="CHIMES.WAV"/>
                                        </p:tgtEl>
                                      </p:cMediaNode>
                                    </p:audio>
                                  </p:subTnLst>
                                </p:cTn>
                              </p:par>
                            </p:childTnLst>
                          </p:cTn>
                        </p:par>
                        <p:par>
                          <p:cTn id="65" fill="hold">
                            <p:stCondLst>
                              <p:cond delay="11000"/>
                            </p:stCondLst>
                            <p:childTnLst>
                              <p:par>
                                <p:cTn id="66" presetID="22" presetClass="entr" presetSubtype="4" fill="hold" nodeType="afterEffect">
                                  <p:stCondLst>
                                    <p:cond delay="1000"/>
                                  </p:stCondLst>
                                  <p:childTnLst>
                                    <p:set>
                                      <p:cBhvr>
                                        <p:cTn id="67" dur="1" fill="hold">
                                          <p:stCondLst>
                                            <p:cond delay="0"/>
                                          </p:stCondLst>
                                        </p:cTn>
                                        <p:tgtEl>
                                          <p:spTgt spid="11"/>
                                        </p:tgtEl>
                                        <p:attrNameLst>
                                          <p:attrName>style.visibility</p:attrName>
                                        </p:attrNameLst>
                                      </p:cBhvr>
                                      <p:to>
                                        <p:strVal val="visible"/>
                                      </p:to>
                                    </p:set>
                                    <p:animEffect transition="in" filter="wipe(down)">
                                      <p:cBhvr>
                                        <p:cTn id="68" dur="3000"/>
                                        <p:tgtEl>
                                          <p:spTgt spid="11"/>
                                        </p:tgtEl>
                                      </p:cBhvr>
                                    </p:animEffect>
                                  </p:childTnLst>
                                  <p:subTnLst>
                                    <p:audio>
                                      <p:cMediaNode>
                                        <p:cTn display="0" masterRel="sameClick">
                                          <p:stCondLst>
                                            <p:cond evt="begin" delay="0">
                                              <p:tn val="66"/>
                                            </p:cond>
                                          </p:stCondLst>
                                          <p:endCondLst>
                                            <p:cond evt="onStopAudio" delay="0">
                                              <p:tgtEl>
                                                <p:sldTgt/>
                                              </p:tgtEl>
                                            </p:cond>
                                          </p:endCondLst>
                                        </p:cTn>
                                        <p:tgtEl>
                                          <p:sndTgt r:embed="rId4" name="CHIMES.WAV"/>
                                        </p:tgtEl>
                                      </p:cMediaNode>
                                    </p:audio>
                                  </p:subTnLst>
                                </p:cTn>
                              </p:par>
                            </p:childTnLst>
                          </p:cTn>
                        </p:par>
                        <p:par>
                          <p:cTn id="69" fill="hold">
                            <p:stCondLst>
                              <p:cond delay="15000"/>
                            </p:stCondLst>
                            <p:childTnLst>
                              <p:par>
                                <p:cTn id="70" presetID="22" presetClass="entr" presetSubtype="8" fill="hold" nodeType="afterEffect">
                                  <p:stCondLst>
                                    <p:cond delay="1000"/>
                                  </p:stCondLst>
                                  <p:childTnLst>
                                    <p:set>
                                      <p:cBhvr>
                                        <p:cTn id="71" dur="1" fill="hold">
                                          <p:stCondLst>
                                            <p:cond delay="0"/>
                                          </p:stCondLst>
                                        </p:cTn>
                                        <p:tgtEl>
                                          <p:spTgt spid="17"/>
                                        </p:tgtEl>
                                        <p:attrNameLst>
                                          <p:attrName>style.visibility</p:attrName>
                                        </p:attrNameLst>
                                      </p:cBhvr>
                                      <p:to>
                                        <p:strVal val="visible"/>
                                      </p:to>
                                    </p:set>
                                    <p:animEffect transition="in" filter="wipe(left)">
                                      <p:cBhvr>
                                        <p:cTn id="72" dur="3000"/>
                                        <p:tgtEl>
                                          <p:spTgt spid="17"/>
                                        </p:tgtEl>
                                      </p:cBhvr>
                                    </p:animEffect>
                                  </p:childTnLst>
                                  <p:subTnLst>
                                    <p:audio>
                                      <p:cMediaNode>
                                        <p:cTn display="0" masterRel="sameClick">
                                          <p:stCondLst>
                                            <p:cond evt="begin" delay="0">
                                              <p:tn val="70"/>
                                            </p:cond>
                                          </p:stCondLst>
                                          <p:endCondLst>
                                            <p:cond evt="onStopAudio" delay="0">
                                              <p:tgtEl>
                                                <p:sldTgt/>
                                              </p:tgtEl>
                                            </p:cond>
                                          </p:endCondLst>
                                        </p:cTn>
                                        <p:tgtEl>
                                          <p:sndTgt r:embed="rId4" name="CHIMES.WAV"/>
                                        </p:tgtEl>
                                      </p:cMediaNode>
                                    </p:audio>
                                  </p:subTnLst>
                                </p:cTn>
                              </p:par>
                            </p:childTnLst>
                          </p:cTn>
                        </p:par>
                        <p:par>
                          <p:cTn id="73" fill="hold">
                            <p:stCondLst>
                              <p:cond delay="19000"/>
                            </p:stCondLst>
                            <p:childTnLst>
                              <p:par>
                                <p:cTn id="74" presetID="22" presetClass="entr" presetSubtype="4" fill="hold" nodeType="afterEffect">
                                  <p:stCondLst>
                                    <p:cond delay="1000"/>
                                  </p:stCondLst>
                                  <p:childTnLst>
                                    <p:set>
                                      <p:cBhvr>
                                        <p:cTn id="75" dur="1" fill="hold">
                                          <p:stCondLst>
                                            <p:cond delay="0"/>
                                          </p:stCondLst>
                                        </p:cTn>
                                        <p:tgtEl>
                                          <p:spTgt spid="18"/>
                                        </p:tgtEl>
                                        <p:attrNameLst>
                                          <p:attrName>style.visibility</p:attrName>
                                        </p:attrNameLst>
                                      </p:cBhvr>
                                      <p:to>
                                        <p:strVal val="visible"/>
                                      </p:to>
                                    </p:set>
                                    <p:animEffect transition="in" filter="wipe(down)">
                                      <p:cBhvr>
                                        <p:cTn id="76" dur="3000"/>
                                        <p:tgtEl>
                                          <p:spTgt spid="18"/>
                                        </p:tgtEl>
                                      </p:cBhvr>
                                    </p:animEffect>
                                  </p:childTnLst>
                                  <p:subTnLst>
                                    <p:audio>
                                      <p:cMediaNode>
                                        <p:cTn display="0" masterRel="sameClick">
                                          <p:stCondLst>
                                            <p:cond evt="begin" delay="0">
                                              <p:tn val="74"/>
                                            </p:cond>
                                          </p:stCondLst>
                                          <p:endCondLst>
                                            <p:cond evt="onStopAudio" delay="0">
                                              <p:tgtEl>
                                                <p:sldTgt/>
                                              </p:tgtEl>
                                            </p:cond>
                                          </p:endCondLst>
                                        </p:cTn>
                                        <p:tgtEl>
                                          <p:sndTgt r:embed="rId4" name="CHIMES.WAV"/>
                                        </p:tgtEl>
                                      </p:cMediaNode>
                                    </p:audio>
                                  </p:subTnLst>
                                </p:cTn>
                              </p:par>
                            </p:childTnLst>
                          </p:cTn>
                        </p:par>
                        <p:par>
                          <p:cTn id="77" fill="hold">
                            <p:stCondLst>
                              <p:cond delay="23000"/>
                            </p:stCondLst>
                            <p:childTnLst>
                              <p:par>
                                <p:cTn id="78" presetID="22" presetClass="entr" presetSubtype="8" fill="hold" nodeType="afterEffect">
                                  <p:stCondLst>
                                    <p:cond delay="0"/>
                                  </p:stCondLst>
                                  <p:childTnLst>
                                    <p:set>
                                      <p:cBhvr>
                                        <p:cTn id="79" dur="1" fill="hold">
                                          <p:stCondLst>
                                            <p:cond delay="0"/>
                                          </p:stCondLst>
                                        </p:cTn>
                                        <p:tgtEl>
                                          <p:spTgt spid="2"/>
                                        </p:tgtEl>
                                        <p:attrNameLst>
                                          <p:attrName>style.visibility</p:attrName>
                                        </p:attrNameLst>
                                      </p:cBhvr>
                                      <p:to>
                                        <p:strVal val="visible"/>
                                      </p:to>
                                    </p:set>
                                    <p:animEffect transition="in" filter="wipe(left)">
                                      <p:cBhvr>
                                        <p:cTn id="80" dur="3000"/>
                                        <p:tgtEl>
                                          <p:spTgt spid="2"/>
                                        </p:tgtEl>
                                      </p:cBhvr>
                                    </p:animEffect>
                                  </p:childTnLst>
                                </p:cTn>
                              </p:par>
                            </p:childTnLst>
                          </p:cTn>
                        </p:par>
                        <p:par>
                          <p:cTn id="81" fill="hold">
                            <p:stCondLst>
                              <p:cond delay="26000"/>
                            </p:stCondLst>
                            <p:childTnLst>
                              <p:par>
                                <p:cTn id="82" presetID="15" presetClass="entr" presetSubtype="0" fill="hold" nodeType="afterEffect">
                                  <p:stCondLst>
                                    <p:cond delay="0"/>
                                  </p:stCondLst>
                                  <p:childTnLst>
                                    <p:set>
                                      <p:cBhvr>
                                        <p:cTn id="83" dur="1" fill="hold">
                                          <p:stCondLst>
                                            <p:cond delay="0"/>
                                          </p:stCondLst>
                                        </p:cTn>
                                        <p:tgtEl>
                                          <p:spTgt spid="304"/>
                                        </p:tgtEl>
                                        <p:attrNameLst>
                                          <p:attrName>style.visibility</p:attrName>
                                        </p:attrNameLst>
                                      </p:cBhvr>
                                      <p:to>
                                        <p:strVal val="visible"/>
                                      </p:to>
                                    </p:set>
                                    <p:anim calcmode="lin" valueType="num">
                                      <p:cBhvr>
                                        <p:cTn id="84" dur="2000" fill="hold"/>
                                        <p:tgtEl>
                                          <p:spTgt spid="304"/>
                                        </p:tgtEl>
                                        <p:attrNameLst>
                                          <p:attrName>ppt_w</p:attrName>
                                        </p:attrNameLst>
                                      </p:cBhvr>
                                      <p:tavLst>
                                        <p:tav tm="0">
                                          <p:val>
                                            <p:fltVal val="0"/>
                                          </p:val>
                                        </p:tav>
                                        <p:tav tm="100000">
                                          <p:val>
                                            <p:strVal val="#ppt_w"/>
                                          </p:val>
                                        </p:tav>
                                      </p:tavLst>
                                    </p:anim>
                                    <p:anim calcmode="lin" valueType="num">
                                      <p:cBhvr>
                                        <p:cTn id="85" dur="2000" fill="hold"/>
                                        <p:tgtEl>
                                          <p:spTgt spid="304"/>
                                        </p:tgtEl>
                                        <p:attrNameLst>
                                          <p:attrName>ppt_h</p:attrName>
                                        </p:attrNameLst>
                                      </p:cBhvr>
                                      <p:tavLst>
                                        <p:tav tm="0">
                                          <p:val>
                                            <p:fltVal val="0"/>
                                          </p:val>
                                        </p:tav>
                                        <p:tav tm="100000">
                                          <p:val>
                                            <p:strVal val="#ppt_h"/>
                                          </p:val>
                                        </p:tav>
                                      </p:tavLst>
                                    </p:anim>
                                    <p:anim calcmode="lin" valueType="num">
                                      <p:cBhvr>
                                        <p:cTn id="86" dur="2000" fill="hold"/>
                                        <p:tgtEl>
                                          <p:spTgt spid="304"/>
                                        </p:tgtEl>
                                        <p:attrNameLst>
                                          <p:attrName>ppt_x</p:attrName>
                                        </p:attrNameLst>
                                      </p:cBhvr>
                                      <p:tavLst>
                                        <p:tav tm="0" fmla="#ppt_x+(cos(-2*pi*(1-$))*-#ppt_x-sin(-2*pi*(1-$))*(1-#ppt_y))*(1-$)">
                                          <p:val>
                                            <p:fltVal val="0"/>
                                          </p:val>
                                        </p:tav>
                                        <p:tav tm="100000">
                                          <p:val>
                                            <p:fltVal val="1"/>
                                          </p:val>
                                        </p:tav>
                                      </p:tavLst>
                                    </p:anim>
                                    <p:anim calcmode="lin" valueType="num">
                                      <p:cBhvr>
                                        <p:cTn id="87" dur="2000" fill="hold"/>
                                        <p:tgtEl>
                                          <p:spTgt spid="304"/>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82"/>
                                            </p:cond>
                                          </p:stCondLst>
                                          <p:endCondLst>
                                            <p:cond evt="onStopAudio" delay="0">
                                              <p:tgtEl>
                                                <p:sldTgt/>
                                              </p:tgtEl>
                                            </p:cond>
                                          </p:endCondLst>
                                        </p:cTn>
                                        <p:tgtEl>
                                          <p:sndTgt r:embed="rId4" name="CHIMES.WAV"/>
                                        </p:tgtEl>
                                      </p:cMediaNode>
                                    </p:audio>
                                  </p:subTnLst>
                                </p:cTn>
                              </p:par>
                            </p:childTnLst>
                          </p:cTn>
                        </p:par>
                        <p:par>
                          <p:cTn id="88" fill="hold">
                            <p:stCondLst>
                              <p:cond delay="28000"/>
                            </p:stCondLst>
                            <p:childTnLst>
                              <p:par>
                                <p:cTn id="89" presetID="15" presetClass="entr" presetSubtype="0" fill="hold" nodeType="afterEffect">
                                  <p:stCondLst>
                                    <p:cond delay="0"/>
                                  </p:stCondLst>
                                  <p:childTnLst>
                                    <p:set>
                                      <p:cBhvr>
                                        <p:cTn id="90" dur="1" fill="hold">
                                          <p:stCondLst>
                                            <p:cond delay="0"/>
                                          </p:stCondLst>
                                        </p:cTn>
                                        <p:tgtEl>
                                          <p:spTgt spid="3"/>
                                        </p:tgtEl>
                                        <p:attrNameLst>
                                          <p:attrName>style.visibility</p:attrName>
                                        </p:attrNameLst>
                                      </p:cBhvr>
                                      <p:to>
                                        <p:strVal val="visible"/>
                                      </p:to>
                                    </p:set>
                                    <p:anim calcmode="lin" valueType="num">
                                      <p:cBhvr>
                                        <p:cTn id="91" dur="2000" fill="hold"/>
                                        <p:tgtEl>
                                          <p:spTgt spid="3"/>
                                        </p:tgtEl>
                                        <p:attrNameLst>
                                          <p:attrName>ppt_w</p:attrName>
                                        </p:attrNameLst>
                                      </p:cBhvr>
                                      <p:tavLst>
                                        <p:tav tm="0">
                                          <p:val>
                                            <p:fltVal val="0"/>
                                          </p:val>
                                        </p:tav>
                                        <p:tav tm="100000">
                                          <p:val>
                                            <p:strVal val="#ppt_w"/>
                                          </p:val>
                                        </p:tav>
                                      </p:tavLst>
                                    </p:anim>
                                    <p:anim calcmode="lin" valueType="num">
                                      <p:cBhvr>
                                        <p:cTn id="92" dur="2000" fill="hold"/>
                                        <p:tgtEl>
                                          <p:spTgt spid="3"/>
                                        </p:tgtEl>
                                        <p:attrNameLst>
                                          <p:attrName>ppt_h</p:attrName>
                                        </p:attrNameLst>
                                      </p:cBhvr>
                                      <p:tavLst>
                                        <p:tav tm="0">
                                          <p:val>
                                            <p:fltVal val="0"/>
                                          </p:val>
                                        </p:tav>
                                        <p:tav tm="100000">
                                          <p:val>
                                            <p:strVal val="#ppt_h"/>
                                          </p:val>
                                        </p:tav>
                                      </p:tavLst>
                                    </p:anim>
                                    <p:anim calcmode="lin" valueType="num">
                                      <p:cBhvr>
                                        <p:cTn id="93" dur="2000" fill="hold"/>
                                        <p:tgtEl>
                                          <p:spTgt spid="3"/>
                                        </p:tgtEl>
                                        <p:attrNameLst>
                                          <p:attrName>ppt_x</p:attrName>
                                        </p:attrNameLst>
                                      </p:cBhvr>
                                      <p:tavLst>
                                        <p:tav tm="0" fmla="#ppt_x+(cos(-2*pi*(1-$))*-#ppt_x-sin(-2*pi*(1-$))*(1-#ppt_y))*(1-$)">
                                          <p:val>
                                            <p:fltVal val="0"/>
                                          </p:val>
                                        </p:tav>
                                        <p:tav tm="100000">
                                          <p:val>
                                            <p:fltVal val="1"/>
                                          </p:val>
                                        </p:tav>
                                      </p:tavLst>
                                    </p:anim>
                                    <p:anim calcmode="lin" valueType="num">
                                      <p:cBhvr>
                                        <p:cTn id="94" dur="2000" fill="hold"/>
                                        <p:tgtEl>
                                          <p:spTgt spid="3"/>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89"/>
                                            </p:cond>
                                          </p:stCondLst>
                                          <p:endCondLst>
                                            <p:cond evt="onStopAudio" delay="0">
                                              <p:tgtEl>
                                                <p:sldTgt/>
                                              </p:tgtEl>
                                            </p:cond>
                                          </p:endCondLst>
                                        </p:cTn>
                                        <p:tgtEl>
                                          <p:sndTgt r:embed="rId4" name="CHIMES.WAV"/>
                                        </p:tgtEl>
                                      </p:cMediaNode>
                                    </p:audio>
                                  </p:sub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0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309"/>
                                        </p:tgtEl>
                                        <p:attrNameLst>
                                          <p:attrName>style.visibility</p:attrName>
                                        </p:attrNameLst>
                                      </p:cBhvr>
                                      <p:to>
                                        <p:strVal val="visible"/>
                                      </p:to>
                                    </p:set>
                                    <p:animEffect transition="in" filter="wipe(left)">
                                      <p:cBhvr>
                                        <p:cTn id="103" dur="5000"/>
                                        <p:tgtEl>
                                          <p:spTgt spid="309"/>
                                        </p:tgtEl>
                                      </p:cBhvr>
                                    </p:animEffec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310"/>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311"/>
                                        </p:tgtEl>
                                        <p:attrNameLst>
                                          <p:attrName>style.visibility</p:attrName>
                                        </p:attrNameLst>
                                      </p:cBhvr>
                                      <p:to>
                                        <p:strVal val="visible"/>
                                      </p:to>
                                    </p:set>
                                    <p:animEffect transition="in" filter="wipe(left)">
                                      <p:cBhvr>
                                        <p:cTn id="112" dur="5000"/>
                                        <p:tgtEl>
                                          <p:spTgt spid="311"/>
                                        </p:tgtEl>
                                      </p:cBhvr>
                                    </p:animEffec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312"/>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nodeType="clickEffect">
                                  <p:stCondLst>
                                    <p:cond delay="0"/>
                                  </p:stCondLst>
                                  <p:childTnLst>
                                    <p:set>
                                      <p:cBhvr>
                                        <p:cTn id="120" dur="1" fill="hold">
                                          <p:stCondLst>
                                            <p:cond delay="0"/>
                                          </p:stCondLst>
                                        </p:cTn>
                                        <p:tgtEl>
                                          <p:spTgt spid="313"/>
                                        </p:tgtEl>
                                        <p:attrNameLst>
                                          <p:attrName>style.visibility</p:attrName>
                                        </p:attrNameLst>
                                      </p:cBhvr>
                                      <p:to>
                                        <p:strVal val="visible"/>
                                      </p:to>
                                    </p:set>
                                    <p:animEffect transition="in" filter="wipe(left)">
                                      <p:cBhvr>
                                        <p:cTn id="121" dur="5000"/>
                                        <p:tgtEl>
                                          <p:spTgt spid="313"/>
                                        </p:tgtEl>
                                      </p:cBhvr>
                                    </p:animEffec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grpId="0" nodeType="clickEffect">
                                  <p:stCondLst>
                                    <p:cond delay="0"/>
                                  </p:stCondLst>
                                  <p:childTnLst>
                                    <p:set>
                                      <p:cBhvr>
                                        <p:cTn id="125" dur="1" fill="hold">
                                          <p:stCondLst>
                                            <p:cond delay="0"/>
                                          </p:stCondLst>
                                        </p:cTn>
                                        <p:tgtEl>
                                          <p:spTgt spid="314"/>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nodeType="clickEffect">
                                  <p:stCondLst>
                                    <p:cond delay="0"/>
                                  </p:stCondLst>
                                  <p:childTnLst>
                                    <p:set>
                                      <p:cBhvr>
                                        <p:cTn id="129" dur="1" fill="hold">
                                          <p:stCondLst>
                                            <p:cond delay="0"/>
                                          </p:stCondLst>
                                        </p:cTn>
                                        <p:tgtEl>
                                          <p:spTgt spid="315"/>
                                        </p:tgtEl>
                                        <p:attrNameLst>
                                          <p:attrName>style.visibility</p:attrName>
                                        </p:attrNameLst>
                                      </p:cBhvr>
                                      <p:to>
                                        <p:strVal val="visible"/>
                                      </p:to>
                                    </p:set>
                                    <p:animEffect transition="in" filter="wipe(left)">
                                      <p:cBhvr>
                                        <p:cTn id="130" dur="5000"/>
                                        <p:tgtEl>
                                          <p:spTgt spid="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p:bldP spid="131" grpId="0"/>
      <p:bldP spid="12" grpId="0" autoUpdateAnimBg="0"/>
      <p:bldP spid="13" grpId="0" autoUpdateAnimBg="0"/>
      <p:bldP spid="14" grpId="0" autoUpdateAnimBg="0"/>
      <p:bldP spid="15" grpId="0" animBg="1"/>
      <p:bldP spid="16" grpId="0" animBg="1"/>
      <p:bldP spid="20" grpId="0" autoUpdateAnimBg="0"/>
      <p:bldP spid="21" grpId="0" autoUpdateAnimBg="0"/>
      <p:bldP spid="307" grpId="0"/>
      <p:bldP spid="308" grpId="0"/>
      <p:bldP spid="310" grpId="0"/>
      <p:bldP spid="312" grpId="0"/>
      <p:bldP spid="3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14" name="Text Box 1032"/>
          <p:cNvSpPr txBox="1">
            <a:spLocks noChangeArrowheads="1"/>
          </p:cNvSpPr>
          <p:nvPr/>
        </p:nvSpPr>
        <p:spPr bwMode="auto">
          <a:xfrm>
            <a:off x="335360" y="1433623"/>
            <a:ext cx="11665295" cy="1118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25000"/>
              </a:lnSpc>
            </a:pPr>
            <a:r>
              <a:rPr kumimoji="1" lang="zh-CN" altLang="en-US" sz="2800" i="0" dirty="0">
                <a:latin typeface="微软雅黑" panose="020B0503020204020204" pitchFamily="34" charset="-122"/>
                <a:ea typeface="微软雅黑" panose="020B0503020204020204" pitchFamily="34" charset="-122"/>
              </a:rPr>
              <a:t>设计轴类构件时，不仅要满足强度要求，有些轴还要考虑刚度问题。工程上通常是限制单位长度的扭角</a:t>
            </a:r>
            <a:r>
              <a:rPr kumimoji="1" lang="zh-CN" altLang="en-US" sz="2800" b="0" dirty="0">
                <a:latin typeface="微软雅黑" panose="020B0503020204020204" pitchFamily="34" charset="-122"/>
                <a:ea typeface="微软雅黑" panose="020B0503020204020204" pitchFamily="34" charset="-122"/>
                <a:sym typeface="Symbol" panose="05050102010706020507" pitchFamily="18" charset="2"/>
              </a:rPr>
              <a:t></a:t>
            </a:r>
            <a:r>
              <a:rPr kumimoji="1" lang="zh-CN" altLang="en-US" sz="2800" i="0" dirty="0">
                <a:latin typeface="微软雅黑" panose="020B0503020204020204" pitchFamily="34" charset="-122"/>
                <a:ea typeface="微软雅黑" panose="020B0503020204020204" pitchFamily="34" charset="-122"/>
              </a:rPr>
              <a:t>，使它不超过规定的许用值</a:t>
            </a:r>
            <a:r>
              <a:rPr kumimoji="1" lang="en-US" altLang="zh-CN" sz="2800" b="0" i="0" dirty="0">
                <a:latin typeface="微软雅黑" panose="020B0503020204020204" pitchFamily="34" charset="-122"/>
                <a:ea typeface="微软雅黑" panose="020B0503020204020204" pitchFamily="34" charset="-122"/>
              </a:rPr>
              <a:t>[</a:t>
            </a:r>
            <a:r>
              <a:rPr kumimoji="1" lang="en-US" altLang="zh-CN" sz="2800" b="0" dirty="0">
                <a:latin typeface="微软雅黑" panose="020B0503020204020204" pitchFamily="34" charset="-122"/>
                <a:ea typeface="微软雅黑" panose="020B0503020204020204" pitchFamily="34" charset="-122"/>
                <a:sym typeface="Symbol" panose="05050102010706020507" pitchFamily="18" charset="2"/>
              </a:rPr>
              <a:t> </a:t>
            </a:r>
            <a:r>
              <a:rPr kumimoji="1" lang="en-US" altLang="zh-CN" sz="2800" b="0" i="0" dirty="0">
                <a:latin typeface="微软雅黑" panose="020B0503020204020204" pitchFamily="34" charset="-122"/>
                <a:ea typeface="微软雅黑" panose="020B0503020204020204" pitchFamily="34" charset="-122"/>
              </a:rPr>
              <a:t>]</a:t>
            </a:r>
            <a:endParaRPr lang="zh-CN" altLang="en-US" sz="2800" b="0" i="0" dirty="0">
              <a:solidFill>
                <a:srgbClr val="FF00FF"/>
              </a:solidFill>
              <a:latin typeface="+mj-lt"/>
              <a:ea typeface="微软雅黑" panose="020B0503020204020204" pitchFamily="34" charset="-122"/>
            </a:endParaRPr>
          </a:p>
        </p:txBody>
      </p:sp>
      <p:sp>
        <p:nvSpPr>
          <p:cNvPr id="53" name="矩形 52"/>
          <p:cNvSpPr/>
          <p:nvPr/>
        </p:nvSpPr>
        <p:spPr>
          <a:xfrm>
            <a:off x="3161676" y="822665"/>
            <a:ext cx="4031873" cy="703206"/>
          </a:xfrm>
          <a:prstGeom prst="rect">
            <a:avLst/>
          </a:prstGeom>
        </p:spPr>
        <p:txBody>
          <a:bodyPr wrap="none">
            <a:spAutoFit/>
          </a:bodyPr>
          <a:lstStyle/>
          <a:p>
            <a:pPr lvl="0">
              <a:lnSpc>
                <a:spcPct val="150000"/>
              </a:lnSpc>
            </a:pPr>
            <a:r>
              <a:rPr lang="zh-CN" altLang="en-US" sz="3000" i="0" dirty="0">
                <a:solidFill>
                  <a:srgbClr val="4F81BD"/>
                </a:solidFill>
                <a:latin typeface="微软雅黑" panose="020B0503020204020204" pitchFamily="34" charset="-122"/>
                <a:ea typeface="微软雅黑" panose="020B0503020204020204" pitchFamily="34" charset="-122"/>
              </a:rPr>
              <a:t>圆轴扭转时的刚度计算</a:t>
            </a:r>
          </a:p>
        </p:txBody>
      </p:sp>
      <p:graphicFrame>
        <p:nvGraphicFramePr>
          <p:cNvPr id="6" name="Object 8">
            <a:extLst>
              <a:ext uri="{FF2B5EF4-FFF2-40B4-BE49-F238E27FC236}">
                <a16:creationId xmlns:a16="http://schemas.microsoft.com/office/drawing/2014/main" xmlns="" id="{C9750DCD-005E-D5C6-E876-1C7FC4E35BBE}"/>
              </a:ext>
            </a:extLst>
          </p:cNvPr>
          <p:cNvGraphicFramePr>
            <a:graphicFrameLocks noChangeAspect="1"/>
          </p:cNvGraphicFramePr>
          <p:nvPr>
            <p:extLst>
              <p:ext uri="{D42A27DB-BD31-4B8C-83A1-F6EECF244321}">
                <p14:modId xmlns:p14="http://schemas.microsoft.com/office/powerpoint/2010/main" val="1332966738"/>
              </p:ext>
            </p:extLst>
          </p:nvPr>
        </p:nvGraphicFramePr>
        <p:xfrm>
          <a:off x="952781" y="5086952"/>
          <a:ext cx="2895600" cy="1046162"/>
        </p:xfrm>
        <a:graphic>
          <a:graphicData uri="http://schemas.openxmlformats.org/presentationml/2006/ole">
            <mc:AlternateContent xmlns:mc="http://schemas.openxmlformats.org/markup-compatibility/2006">
              <mc:Choice xmlns:v="urn:schemas-microsoft-com:vml" Requires="v">
                <p:oleObj spid="_x0000_s14344" name="Equation" r:id="rId4" imgW="1231560" imgH="444240" progId="Equation.DSMT4">
                  <p:embed/>
                </p:oleObj>
              </mc:Choice>
              <mc:Fallback>
                <p:oleObj name="Equation" r:id="rId4" imgW="1231560" imgH="444240" progId="Equation.DSMT4">
                  <p:embed/>
                  <p:pic>
                    <p:nvPicPr>
                      <p:cNvPr id="6" name="Object 8">
                        <a:extLst>
                          <a:ext uri="{FF2B5EF4-FFF2-40B4-BE49-F238E27FC236}">
                            <a16:creationId xmlns:a16="http://schemas.microsoft.com/office/drawing/2014/main" xmlns="" id="{C9750DCD-005E-D5C6-E876-1C7FC4E35BBE}"/>
                          </a:ext>
                        </a:extLst>
                      </p:cNvPr>
                      <p:cNvPicPr>
                        <a:picLocks noChangeAspect="1" noChangeArrowheads="1"/>
                      </p:cNvPicPr>
                      <p:nvPr/>
                    </p:nvPicPr>
                    <p:blipFill>
                      <a:blip r:embed="rId5"/>
                      <a:srcRect/>
                      <a:stretch>
                        <a:fillRect/>
                      </a:stretch>
                    </p:blipFill>
                    <p:spPr bwMode="auto">
                      <a:xfrm>
                        <a:off x="952781" y="5086952"/>
                        <a:ext cx="2895600" cy="1046162"/>
                      </a:xfrm>
                      <a:prstGeom prst="rect">
                        <a:avLst/>
                      </a:prstGeom>
                      <a:noFill/>
                      <a:ln>
                        <a:noFill/>
                      </a:ln>
                      <a:effectLst/>
                    </p:spPr>
                  </p:pic>
                </p:oleObj>
              </mc:Fallback>
            </mc:AlternateContent>
          </a:graphicData>
        </a:graphic>
      </p:graphicFrame>
      <p:sp>
        <p:nvSpPr>
          <p:cNvPr id="45" name="Text Box 1032">
            <a:extLst>
              <a:ext uri="{FF2B5EF4-FFF2-40B4-BE49-F238E27FC236}">
                <a16:creationId xmlns:a16="http://schemas.microsoft.com/office/drawing/2014/main" xmlns="" id="{42CFC43B-D3EB-DF7C-4502-C01231CD7033}"/>
              </a:ext>
            </a:extLst>
          </p:cNvPr>
          <p:cNvSpPr txBox="1">
            <a:spLocks noChangeArrowheads="1"/>
          </p:cNvSpPr>
          <p:nvPr/>
        </p:nvSpPr>
        <p:spPr bwMode="auto">
          <a:xfrm>
            <a:off x="5514527" y="4566065"/>
            <a:ext cx="6552728" cy="17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zh-CN" altLang="en-US" sz="2800" i="0" dirty="0">
                <a:latin typeface="+mn-lt"/>
                <a:ea typeface="微软雅黑" panose="020B0503020204020204" pitchFamily="34" charset="-122"/>
              </a:rPr>
              <a:t>精密机器的轴         </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sym typeface="Symbol" panose="05050102010706020507" pitchFamily="18" charset="2"/>
              </a:rPr>
              <a:t> </a:t>
            </a:r>
            <a:r>
              <a:rPr kumimoji="1" lang="en-US" altLang="zh-CN" sz="2800" b="0" i="0" dirty="0">
                <a:latin typeface="+mn-lt"/>
                <a:ea typeface="微软雅黑" panose="020B0503020204020204" pitchFamily="34" charset="-122"/>
              </a:rPr>
              <a:t>]</a:t>
            </a:r>
            <a:r>
              <a:rPr kumimoji="1" lang="zh-CN" altLang="en-US" sz="2800" b="0" i="0" dirty="0">
                <a:latin typeface="+mn-lt"/>
                <a:ea typeface="微软雅黑" panose="020B0503020204020204" pitchFamily="34" charset="-122"/>
              </a:rPr>
              <a:t>＝</a:t>
            </a:r>
            <a:r>
              <a:rPr kumimoji="1" lang="en-US" altLang="zh-CN" sz="2800" b="0" i="0" dirty="0">
                <a:latin typeface="+mn-lt"/>
                <a:ea typeface="微软雅黑" panose="020B0503020204020204" pitchFamily="34" charset="-122"/>
              </a:rPr>
              <a:t>0.25</a:t>
            </a:r>
            <a:r>
              <a:rPr kumimoji="1" lang="en-US" altLang="zh-CN" sz="2800" b="0" i="0" dirty="0">
                <a:latin typeface="+mn-lt"/>
                <a:ea typeface="微软雅黑" panose="020B0503020204020204" pitchFamily="34" charset="-122"/>
                <a:sym typeface="Symbol" panose="05050102010706020507" pitchFamily="18" charset="2"/>
              </a:rPr>
              <a:t></a:t>
            </a:r>
            <a:r>
              <a:rPr kumimoji="1" lang="en-US" altLang="zh-CN" sz="2800" b="0" i="0" dirty="0">
                <a:latin typeface="+mn-lt"/>
                <a:ea typeface="微软雅黑" panose="020B0503020204020204" pitchFamily="34" charset="-122"/>
              </a:rPr>
              <a:t>/m </a:t>
            </a:r>
            <a:r>
              <a:rPr kumimoji="1" lang="en-US" altLang="zh-CN" sz="2800" b="0" i="0" dirty="0">
                <a:ea typeface="微软雅黑" panose="020B0503020204020204" pitchFamily="34" charset="-122"/>
              </a:rPr>
              <a:t>—</a:t>
            </a:r>
            <a:r>
              <a:rPr kumimoji="1" lang="en-US" altLang="zh-CN" sz="2800" b="0" i="0" dirty="0">
                <a:latin typeface="+mn-lt"/>
                <a:ea typeface="微软雅黑" panose="020B0503020204020204" pitchFamily="34" charset="-122"/>
              </a:rPr>
              <a:t>0.5</a:t>
            </a:r>
            <a:r>
              <a:rPr kumimoji="1" lang="en-US" altLang="zh-CN" sz="2800" b="0" i="0" dirty="0">
                <a:latin typeface="+mn-lt"/>
                <a:ea typeface="微软雅黑" panose="020B0503020204020204" pitchFamily="34" charset="-122"/>
                <a:sym typeface="Symbol" panose="05050102010706020507" pitchFamily="18" charset="2"/>
              </a:rPr>
              <a:t></a:t>
            </a:r>
            <a:r>
              <a:rPr kumimoji="1" lang="en-US" altLang="zh-CN" sz="2800" b="0" i="0" dirty="0">
                <a:latin typeface="+mn-lt"/>
                <a:ea typeface="微软雅黑" panose="020B0503020204020204" pitchFamily="34" charset="-122"/>
              </a:rPr>
              <a:t>/m  </a:t>
            </a:r>
          </a:p>
          <a:p>
            <a:pPr lvl="0">
              <a:lnSpc>
                <a:spcPct val="130000"/>
              </a:lnSpc>
            </a:pPr>
            <a:r>
              <a:rPr kumimoji="1" lang="zh-CN" altLang="en-US" sz="2800" i="0" dirty="0">
                <a:latin typeface="+mn-lt"/>
                <a:ea typeface="微软雅黑" panose="020B0503020204020204" pitchFamily="34" charset="-122"/>
              </a:rPr>
              <a:t>一般传动轴             </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sym typeface="Symbol" panose="05050102010706020507" pitchFamily="18" charset="2"/>
              </a:rPr>
              <a:t> </a:t>
            </a:r>
            <a:r>
              <a:rPr kumimoji="1" lang="en-US" altLang="zh-CN" sz="2800" b="0" i="0" dirty="0">
                <a:latin typeface="+mn-lt"/>
                <a:ea typeface="微软雅黑" panose="020B0503020204020204" pitchFamily="34" charset="-122"/>
              </a:rPr>
              <a:t>]</a:t>
            </a:r>
            <a:r>
              <a:rPr kumimoji="1" lang="zh-CN" altLang="en-US" sz="2800" b="0" i="0" dirty="0">
                <a:latin typeface="+mn-lt"/>
                <a:ea typeface="微软雅黑" panose="020B0503020204020204" pitchFamily="34" charset="-122"/>
              </a:rPr>
              <a:t>＝</a:t>
            </a:r>
            <a:r>
              <a:rPr kumimoji="1" lang="en-US" altLang="zh-CN" sz="2800" b="0" i="0" dirty="0">
                <a:latin typeface="+mn-lt"/>
                <a:ea typeface="微软雅黑" panose="020B0503020204020204" pitchFamily="34" charset="-122"/>
              </a:rPr>
              <a:t>0.5</a:t>
            </a:r>
            <a:r>
              <a:rPr kumimoji="1" lang="en-US" altLang="zh-CN" sz="2800" b="0" i="0" dirty="0">
                <a:latin typeface="+mn-lt"/>
                <a:ea typeface="微软雅黑" panose="020B0503020204020204" pitchFamily="34" charset="-122"/>
                <a:sym typeface="Symbol" panose="05050102010706020507" pitchFamily="18" charset="2"/>
              </a:rPr>
              <a:t></a:t>
            </a:r>
            <a:r>
              <a:rPr kumimoji="1" lang="en-US" altLang="zh-CN" sz="2800" b="0" i="0" dirty="0">
                <a:latin typeface="+mn-lt"/>
                <a:ea typeface="微软雅黑" panose="020B0503020204020204" pitchFamily="34" charset="-122"/>
              </a:rPr>
              <a:t>/m —1.0</a:t>
            </a:r>
            <a:r>
              <a:rPr kumimoji="1" lang="en-US" altLang="zh-CN" sz="2800" b="0" i="0" dirty="0">
                <a:latin typeface="+mn-lt"/>
                <a:ea typeface="微软雅黑" panose="020B0503020204020204" pitchFamily="34" charset="-122"/>
                <a:sym typeface="Symbol" panose="05050102010706020507" pitchFamily="18" charset="2"/>
              </a:rPr>
              <a:t></a:t>
            </a:r>
            <a:r>
              <a:rPr kumimoji="1" lang="en-US" altLang="zh-CN" sz="2800" b="0" i="0" dirty="0">
                <a:latin typeface="+mn-lt"/>
                <a:ea typeface="微软雅黑" panose="020B0503020204020204" pitchFamily="34" charset="-122"/>
              </a:rPr>
              <a:t>/m</a:t>
            </a:r>
          </a:p>
          <a:p>
            <a:pPr lvl="0">
              <a:lnSpc>
                <a:spcPct val="130000"/>
              </a:lnSpc>
            </a:pPr>
            <a:r>
              <a:rPr kumimoji="1" lang="zh-CN" altLang="en-US" sz="2800" i="0" dirty="0">
                <a:latin typeface="+mn-lt"/>
                <a:ea typeface="微软雅黑" panose="020B0503020204020204" pitchFamily="34" charset="-122"/>
              </a:rPr>
              <a:t>精度较低的轴</a:t>
            </a:r>
            <a:r>
              <a:rPr kumimoji="1" lang="zh-CN" altLang="en-US" sz="2800" b="0" i="0" dirty="0">
                <a:latin typeface="+mn-lt"/>
                <a:ea typeface="微软雅黑" panose="020B0503020204020204" pitchFamily="34" charset="-122"/>
              </a:rPr>
              <a:t>         </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sym typeface="Symbol" panose="05050102010706020507" pitchFamily="18" charset="2"/>
              </a:rPr>
              <a:t> </a:t>
            </a:r>
            <a:r>
              <a:rPr kumimoji="1" lang="en-US" altLang="zh-CN" sz="2800" b="0" i="0" dirty="0">
                <a:latin typeface="+mn-lt"/>
                <a:ea typeface="微软雅黑" panose="020B0503020204020204" pitchFamily="34" charset="-122"/>
              </a:rPr>
              <a:t>]</a:t>
            </a:r>
            <a:r>
              <a:rPr kumimoji="1" lang="zh-CN" altLang="en-US" sz="2800" b="0" i="0" dirty="0">
                <a:latin typeface="+mn-lt"/>
                <a:ea typeface="微软雅黑" panose="020B0503020204020204" pitchFamily="34" charset="-122"/>
              </a:rPr>
              <a:t>＝</a:t>
            </a:r>
            <a:r>
              <a:rPr kumimoji="1" lang="en-US" altLang="zh-CN" sz="2800" b="0" i="0" dirty="0">
                <a:latin typeface="+mn-lt"/>
                <a:ea typeface="微软雅黑" panose="020B0503020204020204" pitchFamily="34" charset="-122"/>
              </a:rPr>
              <a:t>1.0</a:t>
            </a:r>
            <a:r>
              <a:rPr kumimoji="1" lang="en-US" altLang="zh-CN" sz="2800" b="0" i="0" dirty="0">
                <a:latin typeface="+mn-lt"/>
                <a:ea typeface="微软雅黑" panose="020B0503020204020204" pitchFamily="34" charset="-122"/>
                <a:sym typeface="Symbol" panose="05050102010706020507" pitchFamily="18" charset="2"/>
              </a:rPr>
              <a:t></a:t>
            </a:r>
            <a:r>
              <a:rPr kumimoji="1" lang="en-US" altLang="zh-CN" sz="2800" b="0" i="0" dirty="0">
                <a:latin typeface="+mn-lt"/>
                <a:ea typeface="微软雅黑" panose="020B0503020204020204" pitchFamily="34" charset="-122"/>
              </a:rPr>
              <a:t>/m </a:t>
            </a:r>
            <a:r>
              <a:rPr kumimoji="1" lang="en-US" altLang="zh-CN" sz="2800" b="0" i="0" dirty="0">
                <a:ea typeface="微软雅黑" panose="020B0503020204020204" pitchFamily="34" charset="-122"/>
              </a:rPr>
              <a:t>— </a:t>
            </a:r>
            <a:r>
              <a:rPr kumimoji="1" lang="en-US" altLang="zh-CN" sz="2800" b="0" i="0" dirty="0">
                <a:latin typeface="+mn-lt"/>
                <a:ea typeface="微软雅黑" panose="020B0503020204020204" pitchFamily="34" charset="-122"/>
              </a:rPr>
              <a:t>2.5</a:t>
            </a:r>
            <a:r>
              <a:rPr kumimoji="1" lang="en-US" altLang="zh-CN" sz="2800" b="0" i="0" dirty="0">
                <a:latin typeface="+mn-lt"/>
                <a:ea typeface="微软雅黑" panose="020B0503020204020204" pitchFamily="34" charset="-122"/>
                <a:sym typeface="Symbol" panose="05050102010706020507" pitchFamily="18" charset="2"/>
              </a:rPr>
              <a:t></a:t>
            </a:r>
            <a:r>
              <a:rPr kumimoji="1" lang="en-US" altLang="zh-CN" sz="2800" b="0" i="0" dirty="0">
                <a:latin typeface="+mn-lt"/>
                <a:ea typeface="微软雅黑" panose="020B0503020204020204" pitchFamily="34" charset="-122"/>
              </a:rPr>
              <a:t>/m </a:t>
            </a:r>
            <a:endParaRPr kumimoji="1" lang="zh-CN" altLang="en-US" sz="2800" b="0" i="0" dirty="0">
              <a:latin typeface="+mn-lt"/>
              <a:ea typeface="微软雅黑" panose="020B0503020204020204" pitchFamily="34" charset="-122"/>
            </a:endParaRPr>
          </a:p>
        </p:txBody>
      </p:sp>
      <p:sp>
        <p:nvSpPr>
          <p:cNvPr id="2" name="Text Box 1032">
            <a:extLst>
              <a:ext uri="{FF2B5EF4-FFF2-40B4-BE49-F238E27FC236}">
                <a16:creationId xmlns:a16="http://schemas.microsoft.com/office/drawing/2014/main" xmlns="" id="{CB78F754-C7B3-2EE8-45C2-A93211DEA203}"/>
              </a:ext>
            </a:extLst>
          </p:cNvPr>
          <p:cNvSpPr txBox="1">
            <a:spLocks noChangeArrowheads="1"/>
          </p:cNvSpPr>
          <p:nvPr/>
        </p:nvSpPr>
        <p:spPr bwMode="auto">
          <a:xfrm>
            <a:off x="394762" y="2758790"/>
            <a:ext cx="3024336" cy="580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25000"/>
              </a:lnSpc>
            </a:pPr>
            <a:r>
              <a:rPr kumimoji="1" lang="zh-CN" altLang="en-US" sz="2800" i="0" dirty="0">
                <a:latin typeface="微软雅黑" panose="020B0503020204020204" pitchFamily="34" charset="-122"/>
                <a:ea typeface="微软雅黑" panose="020B0503020204020204" pitchFamily="34" charset="-122"/>
              </a:rPr>
              <a:t>单位长度的扭角</a:t>
            </a:r>
            <a:endParaRPr lang="zh-CN" altLang="en-US" sz="2800" b="0" i="0" dirty="0">
              <a:solidFill>
                <a:srgbClr val="FF00FF"/>
              </a:solidFill>
              <a:latin typeface="+mj-lt"/>
              <a:ea typeface="微软雅黑" panose="020B0503020204020204" pitchFamily="34" charset="-122"/>
            </a:endParaRPr>
          </a:p>
        </p:txBody>
      </p:sp>
      <p:graphicFrame>
        <p:nvGraphicFramePr>
          <p:cNvPr id="8" name="Object 23">
            <a:extLst>
              <a:ext uri="{FF2B5EF4-FFF2-40B4-BE49-F238E27FC236}">
                <a16:creationId xmlns:a16="http://schemas.microsoft.com/office/drawing/2014/main" xmlns="" id="{00A363A1-E501-201E-CA69-69AE644F9591}"/>
              </a:ext>
            </a:extLst>
          </p:cNvPr>
          <p:cNvGraphicFramePr>
            <a:graphicFrameLocks noChangeAspect="1"/>
          </p:cNvGraphicFramePr>
          <p:nvPr>
            <p:extLst>
              <p:ext uri="{D42A27DB-BD31-4B8C-83A1-F6EECF244321}">
                <p14:modId xmlns:p14="http://schemas.microsoft.com/office/powerpoint/2010/main" val="2486314883"/>
              </p:ext>
            </p:extLst>
          </p:nvPr>
        </p:nvGraphicFramePr>
        <p:xfrm>
          <a:off x="3419098" y="2695830"/>
          <a:ext cx="1147763" cy="935037"/>
        </p:xfrm>
        <a:graphic>
          <a:graphicData uri="http://schemas.openxmlformats.org/presentationml/2006/ole">
            <mc:AlternateContent xmlns:mc="http://schemas.openxmlformats.org/markup-compatibility/2006">
              <mc:Choice xmlns:v="urn:schemas-microsoft-com:vml" Requires="v">
                <p:oleObj spid="_x0000_s14345" name="Equation" r:id="rId6" imgW="545760" imgH="444240" progId="Equation.DSMT4">
                  <p:embed/>
                </p:oleObj>
              </mc:Choice>
              <mc:Fallback>
                <p:oleObj name="Equation" r:id="rId6" imgW="545760" imgH="444240" progId="Equation.DSMT4">
                  <p:embed/>
                  <p:pic>
                    <p:nvPicPr>
                      <p:cNvPr id="873495" name="Object 23">
                        <a:extLst>
                          <a:ext uri="{FF2B5EF4-FFF2-40B4-BE49-F238E27FC236}">
                            <a16:creationId xmlns:a16="http://schemas.microsoft.com/office/drawing/2014/main" xmlns="" id="{562F4F46-3F18-C8BC-AA7F-4A3F5CB9D991}"/>
                          </a:ext>
                        </a:extLst>
                      </p:cNvPr>
                      <p:cNvPicPr>
                        <a:picLocks noChangeAspect="1" noChangeArrowheads="1"/>
                      </p:cNvPicPr>
                      <p:nvPr/>
                    </p:nvPicPr>
                    <p:blipFill>
                      <a:blip r:embed="rId7"/>
                      <a:srcRect/>
                      <a:stretch>
                        <a:fillRect/>
                      </a:stretch>
                    </p:blipFill>
                    <p:spPr bwMode="auto">
                      <a:xfrm>
                        <a:off x="3419098" y="2695830"/>
                        <a:ext cx="1147763" cy="935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Text Box 1032">
            <a:extLst>
              <a:ext uri="{FF2B5EF4-FFF2-40B4-BE49-F238E27FC236}">
                <a16:creationId xmlns:a16="http://schemas.microsoft.com/office/drawing/2014/main" xmlns="" id="{92746817-2FE4-82FC-FD43-F7A3811CC6E4}"/>
              </a:ext>
            </a:extLst>
          </p:cNvPr>
          <p:cNvSpPr txBox="1">
            <a:spLocks noChangeArrowheads="1"/>
          </p:cNvSpPr>
          <p:nvPr/>
        </p:nvSpPr>
        <p:spPr bwMode="auto">
          <a:xfrm>
            <a:off x="5485996" y="2782943"/>
            <a:ext cx="3415106" cy="581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25000"/>
              </a:lnSpc>
            </a:pPr>
            <a:r>
              <a:rPr kumimoji="1" lang="zh-CN" altLang="en-US" sz="2800" i="0" dirty="0">
                <a:latin typeface="微软雅黑" panose="020B0503020204020204" pitchFamily="34" charset="-122"/>
                <a:ea typeface="微软雅黑" panose="020B0503020204020204" pitchFamily="34" charset="-122"/>
              </a:rPr>
              <a:t>圆轴扭转刚度条件</a:t>
            </a:r>
            <a:endParaRPr lang="zh-CN" altLang="en-US" sz="2800" b="0" i="0" dirty="0">
              <a:solidFill>
                <a:srgbClr val="FF00FF"/>
              </a:solidFill>
              <a:latin typeface="+mj-lt"/>
              <a:ea typeface="微软雅黑" panose="020B0503020204020204" pitchFamily="34" charset="-122"/>
            </a:endParaRPr>
          </a:p>
        </p:txBody>
      </p:sp>
      <p:graphicFrame>
        <p:nvGraphicFramePr>
          <p:cNvPr id="13" name="Object 23">
            <a:extLst>
              <a:ext uri="{FF2B5EF4-FFF2-40B4-BE49-F238E27FC236}">
                <a16:creationId xmlns:a16="http://schemas.microsoft.com/office/drawing/2014/main" xmlns="" id="{5CBA18A5-359C-A379-DAA1-7766A3575D40}"/>
              </a:ext>
            </a:extLst>
          </p:cNvPr>
          <p:cNvGraphicFramePr>
            <a:graphicFrameLocks noChangeAspect="1"/>
          </p:cNvGraphicFramePr>
          <p:nvPr>
            <p:extLst>
              <p:ext uri="{D42A27DB-BD31-4B8C-83A1-F6EECF244321}">
                <p14:modId xmlns:p14="http://schemas.microsoft.com/office/powerpoint/2010/main" val="768994677"/>
              </p:ext>
            </p:extLst>
          </p:nvPr>
        </p:nvGraphicFramePr>
        <p:xfrm>
          <a:off x="8976320" y="2695575"/>
          <a:ext cx="1841500" cy="935038"/>
        </p:xfrm>
        <a:graphic>
          <a:graphicData uri="http://schemas.openxmlformats.org/presentationml/2006/ole">
            <mc:AlternateContent xmlns:mc="http://schemas.openxmlformats.org/markup-compatibility/2006">
              <mc:Choice xmlns:v="urn:schemas-microsoft-com:vml" Requires="v">
                <p:oleObj spid="_x0000_s14346" name="Equation" r:id="rId8" imgW="876240" imgH="444240" progId="Equation.DSMT4">
                  <p:embed/>
                </p:oleObj>
              </mc:Choice>
              <mc:Fallback>
                <p:oleObj name="Equation" r:id="rId8" imgW="876240" imgH="444240" progId="Equation.DSMT4">
                  <p:embed/>
                  <p:pic>
                    <p:nvPicPr>
                      <p:cNvPr id="8" name="Object 23">
                        <a:extLst>
                          <a:ext uri="{FF2B5EF4-FFF2-40B4-BE49-F238E27FC236}">
                            <a16:creationId xmlns:a16="http://schemas.microsoft.com/office/drawing/2014/main" xmlns="" id="{00A363A1-E501-201E-CA69-69AE644F9591}"/>
                          </a:ext>
                        </a:extLst>
                      </p:cNvPr>
                      <p:cNvPicPr>
                        <a:picLocks noChangeAspect="1" noChangeArrowheads="1"/>
                      </p:cNvPicPr>
                      <p:nvPr/>
                    </p:nvPicPr>
                    <p:blipFill>
                      <a:blip r:embed="rId9"/>
                      <a:srcRect/>
                      <a:stretch>
                        <a:fillRect/>
                      </a:stretch>
                    </p:blipFill>
                    <p:spPr bwMode="auto">
                      <a:xfrm>
                        <a:off x="8976320" y="2695575"/>
                        <a:ext cx="1841500"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Text Box 1032">
            <a:extLst>
              <a:ext uri="{FF2B5EF4-FFF2-40B4-BE49-F238E27FC236}">
                <a16:creationId xmlns:a16="http://schemas.microsoft.com/office/drawing/2014/main" xmlns="" id="{76DA599B-A91D-FB39-DCC7-2DD32256E3D7}"/>
              </a:ext>
            </a:extLst>
          </p:cNvPr>
          <p:cNvSpPr txBox="1">
            <a:spLocks noChangeArrowheads="1"/>
          </p:cNvSpPr>
          <p:nvPr/>
        </p:nvSpPr>
        <p:spPr bwMode="auto">
          <a:xfrm>
            <a:off x="335361" y="3592874"/>
            <a:ext cx="7128792" cy="1120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25000"/>
              </a:lnSpc>
            </a:pPr>
            <a:r>
              <a:rPr kumimoji="1" lang="zh-CN" altLang="en-US" sz="2800" i="0" dirty="0">
                <a:latin typeface="+mn-lt"/>
                <a:ea typeface="微软雅黑" panose="020B0503020204020204" pitchFamily="34" charset="-122"/>
                <a:sym typeface="Symbol" panose="05050102010706020507" pitchFamily="18" charset="2"/>
              </a:rPr>
              <a:t>工程实际中，许用扭角</a:t>
            </a:r>
            <a:r>
              <a:rPr kumimoji="1" lang="en-US" altLang="zh-CN" sz="2800" b="0" i="0" dirty="0">
                <a:latin typeface="+mn-lt"/>
                <a:ea typeface="微软雅黑" panose="020B0503020204020204" pitchFamily="34" charset="-122"/>
                <a:sym typeface="Symbol" panose="05050102010706020507" pitchFamily="18" charset="2"/>
              </a:rPr>
              <a:t>[</a:t>
            </a:r>
            <a:r>
              <a:rPr kumimoji="1" lang="en-US" altLang="zh-CN" sz="2800" b="0" dirty="0">
                <a:latin typeface="+mn-lt"/>
                <a:ea typeface="微软雅黑" panose="020B0503020204020204" pitchFamily="34" charset="-122"/>
                <a:sym typeface="Symbol" panose="05050102010706020507" pitchFamily="18" charset="2"/>
              </a:rPr>
              <a:t> </a:t>
            </a:r>
            <a:r>
              <a:rPr kumimoji="1" lang="en-US" altLang="zh-CN" sz="2800" b="0" i="0" dirty="0">
                <a:latin typeface="+mn-lt"/>
                <a:ea typeface="微软雅黑" panose="020B0503020204020204" pitchFamily="34" charset="-122"/>
                <a:sym typeface="Symbol" panose="05050102010706020507" pitchFamily="18" charset="2"/>
              </a:rPr>
              <a:t>]</a:t>
            </a:r>
            <a:r>
              <a:rPr kumimoji="1" lang="zh-CN" altLang="en-US" sz="2800" i="0" dirty="0">
                <a:latin typeface="+mn-lt"/>
                <a:ea typeface="微软雅黑" panose="020B0503020204020204" pitchFamily="34" charset="-122"/>
                <a:sym typeface="Symbol" panose="05050102010706020507" pitchFamily="18" charset="2"/>
              </a:rPr>
              <a:t>的单位为</a:t>
            </a:r>
            <a:r>
              <a:rPr kumimoji="1" lang="en-US" altLang="zh-CN" sz="2800" b="0" i="0" dirty="0">
                <a:latin typeface="+mn-lt"/>
                <a:ea typeface="微软雅黑" panose="020B0503020204020204" pitchFamily="34" charset="-122"/>
                <a:sym typeface="Symbol" panose="05050102010706020507" pitchFamily="18" charset="2"/>
              </a:rPr>
              <a:t>()/m</a:t>
            </a:r>
            <a:r>
              <a:rPr kumimoji="1" lang="zh-CN" altLang="en-US" sz="2800" i="0" dirty="0">
                <a:latin typeface="+mn-lt"/>
                <a:ea typeface="微软雅黑" panose="020B0503020204020204" pitchFamily="34" charset="-122"/>
                <a:sym typeface="Symbol" panose="05050102010706020507" pitchFamily="18" charset="2"/>
              </a:rPr>
              <a:t>，考虑单位的换算，则得</a:t>
            </a:r>
            <a:endParaRPr lang="zh-CN" altLang="en-US" sz="2800" i="0" dirty="0">
              <a:latin typeface="+mn-lt"/>
              <a:ea typeface="微软雅黑" panose="020B0503020204020204" pitchFamily="34" charset="-122"/>
            </a:endParaRPr>
          </a:p>
        </p:txBody>
      </p:sp>
    </p:spTree>
    <p:extLst>
      <p:ext uri="{BB962C8B-B14F-4D97-AF65-F5344CB8AC3E}">
        <p14:creationId xmlns:p14="http://schemas.microsoft.com/office/powerpoint/2010/main" val="320431774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20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20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45" grpId="0" autoUpdateAnimBg="0"/>
      <p:bldP spid="2" grpId="0" autoUpdateAnimBg="0"/>
      <p:bldP spid="12" grpId="0" autoUpdateAnimBg="0"/>
      <p:bldP spid="18"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19" name="矩形 18">
            <a:extLst>
              <a:ext uri="{FF2B5EF4-FFF2-40B4-BE49-F238E27FC236}">
                <a16:creationId xmlns:a16="http://schemas.microsoft.com/office/drawing/2014/main" xmlns="" id="{396E3A4E-3DCE-51D1-DE56-78AC0CFE008B}"/>
              </a:ext>
            </a:extLst>
          </p:cNvPr>
          <p:cNvSpPr/>
          <p:nvPr/>
        </p:nvSpPr>
        <p:spPr>
          <a:xfrm>
            <a:off x="191344" y="924095"/>
            <a:ext cx="10657184" cy="1384995"/>
          </a:xfrm>
          <a:prstGeom prst="rect">
            <a:avLst/>
          </a:prstGeom>
        </p:spPr>
        <p:txBody>
          <a:bodyPr wrap="square">
            <a:spAutoFit/>
          </a:bodyPr>
          <a:lstStyle/>
          <a:p>
            <a:pPr lvl="0">
              <a:lnSpc>
                <a:spcPct val="120000"/>
              </a:lnSpc>
            </a:pPr>
            <a:r>
              <a:rPr lang="zh-CN" altLang="en-US" i="0" dirty="0">
                <a:solidFill>
                  <a:srgbClr val="0033CC"/>
                </a:solidFill>
                <a:ea typeface="黑体" panose="02010609060101010101" pitchFamily="49" charset="-122"/>
              </a:rPr>
              <a:t>例</a:t>
            </a:r>
            <a:r>
              <a:rPr lang="zh-CN" altLang="en-US" i="0" dirty="0">
                <a:solidFill>
                  <a:schemeClr val="tx1"/>
                </a:solidFill>
                <a:ea typeface="黑体" panose="02010609060101010101" pitchFamily="49" charset="-122"/>
              </a:rPr>
              <a:t>  </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一空心轴外径</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D</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100mm</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，内径</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d</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=50mm</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G</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=80GPa</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 </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]=0.75</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/m</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zh-CN" altLang="en-US" sz="2400" i="0" u="none" strike="noStrike" kern="1200" cap="none" spc="0" normalizeH="0" baseline="0" noProof="0" dirty="0" smtClean="0">
                <a:ln>
                  <a:noFill/>
                </a:ln>
                <a:solidFill>
                  <a:schemeClr val="tx1"/>
                </a:solidFill>
                <a:effectLst/>
                <a:uLnTx/>
                <a:uFillTx/>
                <a:latin typeface="Times New Roman" panose="02020603050405020304" pitchFamily="18" charset="0"/>
                <a:ea typeface="黑体" panose="02010609060101010101" pitchFamily="49" charset="-122"/>
                <a:cs typeface="+mn-cs"/>
              </a:rPr>
              <a:t>试求</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该轴所能承受的最大扭矩</a:t>
            </a:r>
            <a:r>
              <a:rPr kumimoji="1" lang="en-US" altLang="zh-CN" sz="2400" b="0" i="1" u="none" strike="noStrike" kern="1200" cap="none" spc="0" normalizeH="0" baseline="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M</a:t>
            </a:r>
            <a:r>
              <a:rPr kumimoji="1" lang="en-US" altLang="zh-CN" sz="2400" b="0" i="0" u="none" strike="noStrike" kern="1200" cap="none" spc="0" normalizeH="0" baseline="-2500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nmax</a:t>
            </a:r>
            <a:r>
              <a:rPr kumimoji="1" lang="en-US" altLang="zh-CN"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zh-CN" altLang="en-US" i="0" dirty="0">
                <a:solidFill>
                  <a:schemeClr val="tx1"/>
                </a:solidFill>
                <a:ea typeface="黑体" panose="02010609060101010101" pitchFamily="49" charset="-122"/>
              </a:rPr>
              <a:t> </a:t>
            </a:r>
          </a:p>
          <a:p>
            <a:pPr>
              <a:lnSpc>
                <a:spcPct val="110000"/>
              </a:lnSpc>
            </a:pPr>
            <a:endParaRPr lang="zh-CN" altLang="en-US" i="0" dirty="0">
              <a:solidFill>
                <a:schemeClr val="tx1"/>
              </a:solidFill>
              <a:latin typeface="+mn-lt"/>
              <a:ea typeface="黑体" panose="02010609060101010101" pitchFamily="49" charset="-122"/>
            </a:endParaRPr>
          </a:p>
        </p:txBody>
      </p:sp>
      <p:sp>
        <p:nvSpPr>
          <p:cNvPr id="136" name="矩形 135">
            <a:extLst>
              <a:ext uri="{FF2B5EF4-FFF2-40B4-BE49-F238E27FC236}">
                <a16:creationId xmlns:a16="http://schemas.microsoft.com/office/drawing/2014/main" xmlns="" id="{396E3A4E-3DCE-51D1-DE56-78AC0CFE008B}"/>
              </a:ext>
            </a:extLst>
          </p:cNvPr>
          <p:cNvSpPr/>
          <p:nvPr/>
        </p:nvSpPr>
        <p:spPr>
          <a:xfrm>
            <a:off x="211184" y="1872149"/>
            <a:ext cx="6770983" cy="520848"/>
          </a:xfrm>
          <a:prstGeom prst="rect">
            <a:avLst/>
          </a:prstGeom>
        </p:spPr>
        <p:txBody>
          <a:bodyPr wrap="square">
            <a:spAutoFit/>
          </a:bodyPr>
          <a:lstStyle/>
          <a:p>
            <a:pPr lvl="0">
              <a:lnSpc>
                <a:spcPct val="130000"/>
              </a:lnSpc>
            </a:pPr>
            <a:r>
              <a:rPr lang="zh-CN" altLang="en-US" i="0" dirty="0">
                <a:solidFill>
                  <a:srgbClr val="0033CC"/>
                </a:solidFill>
                <a:ea typeface="黑体" panose="02010609060101010101" pitchFamily="49" charset="-122"/>
              </a:rPr>
              <a:t>解  </a:t>
            </a:r>
            <a:r>
              <a:rPr kumimoji="1" lang="zh-CN" altLang="en-US" i="0" dirty="0">
                <a:solidFill>
                  <a:schemeClr val="tx1"/>
                </a:solidFill>
                <a:ea typeface="黑体" panose="02010609060101010101" pitchFamily="49" charset="-122"/>
              </a:rPr>
              <a:t>为由刚度条件式得 </a:t>
            </a:r>
            <a:endParaRPr kumimoji="1" lang="en-US" altLang="zh-CN" i="0" dirty="0">
              <a:solidFill>
                <a:schemeClr val="tx1"/>
              </a:solidFill>
              <a:latin typeface="+mn-lt"/>
              <a:ea typeface="黑体" panose="02010609060101010101" pitchFamily="49" charset="-122"/>
            </a:endParaRPr>
          </a:p>
        </p:txBody>
      </p:sp>
      <p:graphicFrame>
        <p:nvGraphicFramePr>
          <p:cNvPr id="309" name="Object 66">
            <a:extLst>
              <a:ext uri="{FF2B5EF4-FFF2-40B4-BE49-F238E27FC236}">
                <a16:creationId xmlns:a16="http://schemas.microsoft.com/office/drawing/2014/main" xmlns="" id="{9996D8DD-5440-EAAC-7E4D-60F609ADCC96}"/>
              </a:ext>
            </a:extLst>
          </p:cNvPr>
          <p:cNvGraphicFramePr>
            <a:graphicFrameLocks noChangeAspect="1"/>
          </p:cNvGraphicFramePr>
          <p:nvPr>
            <p:extLst>
              <p:ext uri="{D42A27DB-BD31-4B8C-83A1-F6EECF244321}">
                <p14:modId xmlns:p14="http://schemas.microsoft.com/office/powerpoint/2010/main" val="3569321841"/>
              </p:ext>
            </p:extLst>
          </p:nvPr>
        </p:nvGraphicFramePr>
        <p:xfrm>
          <a:off x="1655374" y="3603029"/>
          <a:ext cx="6954650" cy="874712"/>
        </p:xfrm>
        <a:graphic>
          <a:graphicData uri="http://schemas.openxmlformats.org/presentationml/2006/ole">
            <mc:AlternateContent xmlns:mc="http://schemas.openxmlformats.org/markup-compatibility/2006">
              <mc:Choice xmlns:v="urn:schemas-microsoft-com:vml" Requires="v">
                <p:oleObj spid="_x0000_s15370" name="Equation" r:id="rId4" imgW="3124080" imgH="393480" progId="Equation.DSMT4">
                  <p:embed/>
                </p:oleObj>
              </mc:Choice>
              <mc:Fallback>
                <p:oleObj name="Equation" r:id="rId4" imgW="3124080" imgH="393480" progId="Equation.DSMT4">
                  <p:embed/>
                  <p:pic>
                    <p:nvPicPr>
                      <p:cNvPr id="309" name="Object 66">
                        <a:extLst>
                          <a:ext uri="{FF2B5EF4-FFF2-40B4-BE49-F238E27FC236}">
                            <a16:creationId xmlns:a16="http://schemas.microsoft.com/office/drawing/2014/main" xmlns="" id="{9996D8DD-5440-EAAC-7E4D-60F609ADCC96}"/>
                          </a:ext>
                        </a:extLst>
                      </p:cNvPr>
                      <p:cNvPicPr>
                        <a:picLocks noChangeAspect="1" noChangeArrowheads="1"/>
                      </p:cNvPicPr>
                      <p:nvPr/>
                    </p:nvPicPr>
                    <p:blipFill>
                      <a:blip r:embed="rId5"/>
                      <a:srcRect/>
                      <a:stretch>
                        <a:fillRect/>
                      </a:stretch>
                    </p:blipFill>
                    <p:spPr bwMode="auto">
                      <a:xfrm>
                        <a:off x="1655374" y="3603029"/>
                        <a:ext cx="6954650" cy="874712"/>
                      </a:xfrm>
                      <a:prstGeom prst="rect">
                        <a:avLst/>
                      </a:prstGeom>
                      <a:noFill/>
                      <a:ln>
                        <a:noFill/>
                      </a:ln>
                      <a:effectLst/>
                    </p:spPr>
                  </p:pic>
                </p:oleObj>
              </mc:Fallback>
            </mc:AlternateContent>
          </a:graphicData>
        </a:graphic>
      </p:graphicFrame>
      <p:graphicFrame>
        <p:nvGraphicFramePr>
          <p:cNvPr id="291" name="Object 57">
            <a:extLst>
              <a:ext uri="{FF2B5EF4-FFF2-40B4-BE49-F238E27FC236}">
                <a16:creationId xmlns:a16="http://schemas.microsoft.com/office/drawing/2014/main" xmlns="" id="{6BBBF033-97F9-853D-9A2C-57B904946742}"/>
              </a:ext>
            </a:extLst>
          </p:cNvPr>
          <p:cNvGraphicFramePr>
            <a:graphicFrameLocks noChangeAspect="1"/>
          </p:cNvGraphicFramePr>
          <p:nvPr>
            <p:extLst>
              <p:ext uri="{D42A27DB-BD31-4B8C-83A1-F6EECF244321}">
                <p14:modId xmlns:p14="http://schemas.microsoft.com/office/powerpoint/2010/main" val="1955941636"/>
              </p:ext>
            </p:extLst>
          </p:nvPr>
        </p:nvGraphicFramePr>
        <p:xfrm>
          <a:off x="1738313" y="2565272"/>
          <a:ext cx="2878141" cy="1037757"/>
        </p:xfrm>
        <a:graphic>
          <a:graphicData uri="http://schemas.openxmlformats.org/presentationml/2006/ole">
            <mc:AlternateContent xmlns:mc="http://schemas.openxmlformats.org/markup-compatibility/2006">
              <mc:Choice xmlns:v="urn:schemas-microsoft-com:vml" Requires="v">
                <p:oleObj spid="_x0000_s15371" name="Equation" r:id="rId6" imgW="1231560" imgH="444240" progId="Equation.DSMT4">
                  <p:embed/>
                </p:oleObj>
              </mc:Choice>
              <mc:Fallback>
                <p:oleObj name="Equation" r:id="rId6" imgW="1231560" imgH="444240" progId="Equation.DSMT4">
                  <p:embed/>
                  <p:pic>
                    <p:nvPicPr>
                      <p:cNvPr id="875577" name="Object 57">
                        <a:extLst>
                          <a:ext uri="{FF2B5EF4-FFF2-40B4-BE49-F238E27FC236}">
                            <a16:creationId xmlns:a16="http://schemas.microsoft.com/office/drawing/2014/main" xmlns="" id="{476AB590-5E85-FB6C-9C14-490C8DB1EA9D}"/>
                          </a:ext>
                        </a:extLst>
                      </p:cNvPr>
                      <p:cNvPicPr>
                        <a:picLocks noChangeAspect="1" noChangeArrowheads="1"/>
                      </p:cNvPicPr>
                      <p:nvPr/>
                    </p:nvPicPr>
                    <p:blipFill>
                      <a:blip r:embed="rId7"/>
                      <a:srcRect/>
                      <a:stretch>
                        <a:fillRect/>
                      </a:stretch>
                    </p:blipFill>
                    <p:spPr bwMode="auto">
                      <a:xfrm>
                        <a:off x="1738313" y="2565272"/>
                        <a:ext cx="2878141" cy="1037757"/>
                      </a:xfrm>
                      <a:prstGeom prst="rect">
                        <a:avLst/>
                      </a:prstGeom>
                      <a:noFill/>
                      <a:ln>
                        <a:noFill/>
                      </a:ln>
                      <a:effectLst/>
                    </p:spPr>
                  </p:pic>
                </p:oleObj>
              </mc:Fallback>
            </mc:AlternateContent>
          </a:graphicData>
        </a:graphic>
      </p:graphicFrame>
      <p:graphicFrame>
        <p:nvGraphicFramePr>
          <p:cNvPr id="292" name="Object 57">
            <a:extLst>
              <a:ext uri="{FF2B5EF4-FFF2-40B4-BE49-F238E27FC236}">
                <a16:creationId xmlns:a16="http://schemas.microsoft.com/office/drawing/2014/main" xmlns="" id="{AF568CAA-5DBA-D60D-5890-2E3885CDA519}"/>
              </a:ext>
            </a:extLst>
          </p:cNvPr>
          <p:cNvGraphicFramePr>
            <a:graphicFrameLocks noChangeAspect="1"/>
          </p:cNvGraphicFramePr>
          <p:nvPr>
            <p:extLst>
              <p:ext uri="{D42A27DB-BD31-4B8C-83A1-F6EECF244321}">
                <p14:modId xmlns:p14="http://schemas.microsoft.com/office/powerpoint/2010/main" val="1248005563"/>
              </p:ext>
            </p:extLst>
          </p:nvPr>
        </p:nvGraphicFramePr>
        <p:xfrm>
          <a:off x="5336716" y="2777826"/>
          <a:ext cx="3290901" cy="607522"/>
        </p:xfrm>
        <a:graphic>
          <a:graphicData uri="http://schemas.openxmlformats.org/presentationml/2006/ole">
            <mc:AlternateContent xmlns:mc="http://schemas.openxmlformats.org/markup-compatibility/2006">
              <mc:Choice xmlns:v="urn:schemas-microsoft-com:vml" Requires="v">
                <p:oleObj spid="_x0000_s15372" name="Equation" r:id="rId8" imgW="1307880" imgH="241200" progId="Equation.DSMT4">
                  <p:embed/>
                </p:oleObj>
              </mc:Choice>
              <mc:Fallback>
                <p:oleObj name="Equation" r:id="rId8" imgW="1307880" imgH="241200" progId="Equation.DSMT4">
                  <p:embed/>
                  <p:pic>
                    <p:nvPicPr>
                      <p:cNvPr id="291" name="Object 57">
                        <a:extLst>
                          <a:ext uri="{FF2B5EF4-FFF2-40B4-BE49-F238E27FC236}">
                            <a16:creationId xmlns:a16="http://schemas.microsoft.com/office/drawing/2014/main" xmlns="" id="{6BBBF033-97F9-853D-9A2C-57B904946742}"/>
                          </a:ext>
                        </a:extLst>
                      </p:cNvPr>
                      <p:cNvPicPr>
                        <a:picLocks noChangeAspect="1" noChangeArrowheads="1"/>
                      </p:cNvPicPr>
                      <p:nvPr/>
                    </p:nvPicPr>
                    <p:blipFill>
                      <a:blip r:embed="rId9"/>
                      <a:srcRect/>
                      <a:stretch>
                        <a:fillRect/>
                      </a:stretch>
                    </p:blipFill>
                    <p:spPr bwMode="auto">
                      <a:xfrm>
                        <a:off x="5336716" y="2777826"/>
                        <a:ext cx="3290901" cy="607522"/>
                      </a:xfrm>
                      <a:prstGeom prst="rect">
                        <a:avLst/>
                      </a:prstGeom>
                      <a:noFill/>
                      <a:ln>
                        <a:noFill/>
                      </a:ln>
                      <a:effectLst/>
                    </p:spPr>
                  </p:pic>
                </p:oleObj>
              </mc:Fallback>
            </mc:AlternateContent>
          </a:graphicData>
        </a:graphic>
      </p:graphicFrame>
      <p:graphicFrame>
        <p:nvGraphicFramePr>
          <p:cNvPr id="294" name="Object 57">
            <a:extLst>
              <a:ext uri="{FF2B5EF4-FFF2-40B4-BE49-F238E27FC236}">
                <a16:creationId xmlns:a16="http://schemas.microsoft.com/office/drawing/2014/main" xmlns="" id="{D3109EC5-6216-6DA6-7EE2-49C7F361652A}"/>
              </a:ext>
            </a:extLst>
          </p:cNvPr>
          <p:cNvGraphicFramePr>
            <a:graphicFrameLocks noChangeAspect="1"/>
          </p:cNvGraphicFramePr>
          <p:nvPr>
            <p:extLst>
              <p:ext uri="{D42A27DB-BD31-4B8C-83A1-F6EECF244321}">
                <p14:modId xmlns:p14="http://schemas.microsoft.com/office/powerpoint/2010/main" val="1321154369"/>
              </p:ext>
            </p:extLst>
          </p:nvPr>
        </p:nvGraphicFramePr>
        <p:xfrm>
          <a:off x="1671646" y="4689475"/>
          <a:ext cx="7459663" cy="990600"/>
        </p:xfrm>
        <a:graphic>
          <a:graphicData uri="http://schemas.openxmlformats.org/presentationml/2006/ole">
            <mc:AlternateContent xmlns:mc="http://schemas.openxmlformats.org/markup-compatibility/2006">
              <mc:Choice xmlns:v="urn:schemas-microsoft-com:vml" Requires="v">
                <p:oleObj spid="_x0000_s15373" name="Equation" r:id="rId10" imgW="3162240" imgH="419040" progId="Equation.DSMT4">
                  <p:embed/>
                </p:oleObj>
              </mc:Choice>
              <mc:Fallback>
                <p:oleObj name="Equation" r:id="rId10" imgW="3162240" imgH="419040" progId="Equation.DSMT4">
                  <p:embed/>
                  <p:pic>
                    <p:nvPicPr>
                      <p:cNvPr id="292" name="Object 57">
                        <a:extLst>
                          <a:ext uri="{FF2B5EF4-FFF2-40B4-BE49-F238E27FC236}">
                            <a16:creationId xmlns:a16="http://schemas.microsoft.com/office/drawing/2014/main" xmlns="" id="{AF568CAA-5DBA-D60D-5890-2E3885CDA519}"/>
                          </a:ext>
                        </a:extLst>
                      </p:cNvPr>
                      <p:cNvPicPr>
                        <a:picLocks noChangeAspect="1" noChangeArrowheads="1"/>
                      </p:cNvPicPr>
                      <p:nvPr/>
                    </p:nvPicPr>
                    <p:blipFill>
                      <a:blip r:embed="rId11"/>
                      <a:srcRect/>
                      <a:stretch>
                        <a:fillRect/>
                      </a:stretch>
                    </p:blipFill>
                    <p:spPr bwMode="auto">
                      <a:xfrm>
                        <a:off x="1671646" y="4689475"/>
                        <a:ext cx="7459663" cy="9906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16650458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291"/>
                                        </p:tgtEl>
                                        <p:attrNameLst>
                                          <p:attrName>style.visibility</p:attrName>
                                        </p:attrNameLst>
                                      </p:cBhvr>
                                      <p:to>
                                        <p:strVal val="visible"/>
                                      </p:to>
                                    </p:set>
                                    <p:animEffect transition="in" filter="wipe(left)">
                                      <p:cBhvr>
                                        <p:cTn id="11" dur="3000"/>
                                        <p:tgtEl>
                                          <p:spTgt spid="29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92"/>
                                        </p:tgtEl>
                                        <p:attrNameLst>
                                          <p:attrName>style.visibility</p:attrName>
                                        </p:attrNameLst>
                                      </p:cBhvr>
                                      <p:to>
                                        <p:strVal val="visible"/>
                                      </p:to>
                                    </p:set>
                                    <p:animEffect transition="in" filter="wipe(left)">
                                      <p:cBhvr>
                                        <p:cTn id="16" dur="3000"/>
                                        <p:tgtEl>
                                          <p:spTgt spid="29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09"/>
                                        </p:tgtEl>
                                        <p:attrNameLst>
                                          <p:attrName>style.visibility</p:attrName>
                                        </p:attrNameLst>
                                      </p:cBhvr>
                                      <p:to>
                                        <p:strVal val="visible"/>
                                      </p:to>
                                    </p:set>
                                    <p:animEffect transition="in" filter="wipe(left)">
                                      <p:cBhvr>
                                        <p:cTn id="21" dur="5000"/>
                                        <p:tgtEl>
                                          <p:spTgt spid="30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94"/>
                                        </p:tgtEl>
                                        <p:attrNameLst>
                                          <p:attrName>style.visibility</p:attrName>
                                        </p:attrNameLst>
                                      </p:cBhvr>
                                      <p:to>
                                        <p:strVal val="visible"/>
                                      </p:to>
                                    </p:set>
                                    <p:animEffect transition="in" filter="wipe(left)">
                                      <p:cBhvr>
                                        <p:cTn id="26" dur="3000"/>
                                        <p:tgtEl>
                                          <p:spTgt spid="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19" name="矩形 18">
            <a:extLst>
              <a:ext uri="{FF2B5EF4-FFF2-40B4-BE49-F238E27FC236}">
                <a16:creationId xmlns:a16="http://schemas.microsoft.com/office/drawing/2014/main" xmlns="" id="{396E3A4E-3DCE-51D1-DE56-78AC0CFE008B}"/>
              </a:ext>
            </a:extLst>
          </p:cNvPr>
          <p:cNvSpPr/>
          <p:nvPr/>
        </p:nvSpPr>
        <p:spPr>
          <a:xfrm>
            <a:off x="191344" y="924095"/>
            <a:ext cx="7272808" cy="2265941"/>
          </a:xfrm>
          <a:prstGeom prst="rect">
            <a:avLst/>
          </a:prstGeom>
        </p:spPr>
        <p:txBody>
          <a:bodyPr wrap="square">
            <a:spAutoFit/>
          </a:bodyPr>
          <a:lstStyle/>
          <a:p>
            <a:pPr marL="0" marR="0" lvl="0" indent="0" algn="just" defTabSz="914400" rtl="0" eaLnBrk="1" fontAlgn="base" latinLnBrk="0" hangingPunct="1">
              <a:lnSpc>
                <a:spcPct val="120000"/>
              </a:lnSpc>
              <a:spcBef>
                <a:spcPct val="0"/>
              </a:spcBef>
              <a:spcAft>
                <a:spcPct val="0"/>
              </a:spcAft>
              <a:buClrTx/>
              <a:buSzTx/>
              <a:buFontTx/>
              <a:buNone/>
              <a:tabLst/>
              <a:defRPr/>
            </a:pPr>
            <a:r>
              <a:rPr lang="zh-CN" altLang="en-US" i="0" dirty="0">
                <a:solidFill>
                  <a:srgbClr val="0033CC"/>
                </a:solidFill>
                <a:ea typeface="黑体" panose="02010609060101010101" pitchFamily="49" charset="-122"/>
              </a:rPr>
              <a:t>例</a:t>
            </a:r>
            <a:r>
              <a:rPr lang="zh-CN" altLang="en-US" i="0" dirty="0">
                <a:solidFill>
                  <a:schemeClr val="tx1"/>
                </a:solidFill>
                <a:ea typeface="黑体" panose="02010609060101010101" pitchFamily="49" charset="-122"/>
              </a:rPr>
              <a:t>  </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传动轴如图。已知该轴转速</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n</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=300r/min</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，主动轮输入功率</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P</a:t>
            </a:r>
            <a:r>
              <a:rPr kumimoji="1" lang="en-US" altLang="zh-CN" sz="2400" b="0" i="1"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C</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=30kW</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，从动轮输出功率</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P</a:t>
            </a:r>
            <a:r>
              <a:rPr kumimoji="1" lang="en-US" altLang="zh-CN" sz="2400" b="0" i="1"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D</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=15kW</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P</a:t>
            </a:r>
            <a:r>
              <a:rPr kumimoji="1" lang="en-US" altLang="zh-CN" sz="2400" b="0" i="1"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B</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=10kW</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P</a:t>
            </a:r>
            <a:r>
              <a:rPr kumimoji="1" lang="en-US" altLang="zh-CN" sz="2400" b="0" i="1"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A</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=5kW</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，材料的切变模量</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G</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=80GPa</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，许用切应力</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 </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]=40MPa</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 </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]=l</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/m</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。试按强度条件及刚度条件设计此轴直径。 </a:t>
            </a:r>
            <a:endParaRPr lang="zh-CN" altLang="en-US" i="0" dirty="0">
              <a:solidFill>
                <a:schemeClr val="tx1"/>
              </a:solidFill>
              <a:latin typeface="+mn-lt"/>
              <a:ea typeface="黑体" panose="02010609060101010101" pitchFamily="49" charset="-122"/>
            </a:endParaRPr>
          </a:p>
        </p:txBody>
      </p:sp>
      <p:sp>
        <p:nvSpPr>
          <p:cNvPr id="136" name="矩形 135">
            <a:extLst>
              <a:ext uri="{FF2B5EF4-FFF2-40B4-BE49-F238E27FC236}">
                <a16:creationId xmlns:a16="http://schemas.microsoft.com/office/drawing/2014/main" xmlns="" id="{396E3A4E-3DCE-51D1-DE56-78AC0CFE008B}"/>
              </a:ext>
            </a:extLst>
          </p:cNvPr>
          <p:cNvSpPr/>
          <p:nvPr/>
        </p:nvSpPr>
        <p:spPr>
          <a:xfrm>
            <a:off x="211184" y="3129563"/>
            <a:ext cx="8479452" cy="520848"/>
          </a:xfrm>
          <a:prstGeom prst="rect">
            <a:avLst/>
          </a:prstGeom>
        </p:spPr>
        <p:txBody>
          <a:bodyPr wrap="square">
            <a:spAutoFit/>
          </a:bodyPr>
          <a:lstStyle/>
          <a:p>
            <a:pPr lvl="0">
              <a:lnSpc>
                <a:spcPct val="130000"/>
              </a:lnSpc>
            </a:pPr>
            <a:r>
              <a:rPr lang="zh-CN" altLang="en-US" i="0" dirty="0">
                <a:solidFill>
                  <a:srgbClr val="0033CC"/>
                </a:solidFill>
                <a:ea typeface="黑体" panose="02010609060101010101" pitchFamily="49" charset="-122"/>
              </a:rPr>
              <a:t>解  </a:t>
            </a:r>
            <a:r>
              <a:rPr lang="en-US" altLang="zh-CN" i="0" dirty="0">
                <a:solidFill>
                  <a:schemeClr val="tx1"/>
                </a:solidFill>
                <a:ea typeface="黑体" panose="02010609060101010101" pitchFamily="49" charset="-122"/>
              </a:rPr>
              <a:t>1</a:t>
            </a:r>
            <a:r>
              <a:rPr kumimoji="1" lang="zh-CN" altLang="en-US" i="0" dirty="0">
                <a:solidFill>
                  <a:schemeClr val="tx1"/>
                </a:solidFill>
                <a:ea typeface="黑体" panose="02010609060101010101" pitchFamily="49" charset="-122"/>
              </a:rPr>
              <a:t>）</a:t>
            </a:r>
            <a:r>
              <a:rPr kumimoji="1" lang="zh-CN" altLang="en-US" i="0" dirty="0" smtClean="0">
                <a:solidFill>
                  <a:schemeClr val="tx1"/>
                </a:solidFill>
                <a:ea typeface="黑体" panose="02010609060101010101" pitchFamily="49" charset="-122"/>
              </a:rPr>
              <a:t>求外力偶矩                        </a:t>
            </a:r>
            <a:r>
              <a:rPr kumimoji="1" lang="zh-CN" altLang="en-US" i="0" dirty="0">
                <a:solidFill>
                  <a:schemeClr val="tx1"/>
                </a:solidFill>
                <a:ea typeface="黑体" panose="02010609060101010101" pitchFamily="49" charset="-122"/>
              </a:rPr>
              <a:t>。由可得  </a:t>
            </a:r>
            <a:endParaRPr kumimoji="1" lang="en-US" altLang="zh-CN" i="0" dirty="0">
              <a:solidFill>
                <a:schemeClr val="tx1"/>
              </a:solidFill>
              <a:latin typeface="+mn-lt"/>
              <a:ea typeface="黑体" panose="02010609060101010101" pitchFamily="49" charset="-122"/>
            </a:endParaRPr>
          </a:p>
        </p:txBody>
      </p:sp>
      <p:sp>
        <p:nvSpPr>
          <p:cNvPr id="2" name="Rectangle 61">
            <a:extLst>
              <a:ext uri="{FF2B5EF4-FFF2-40B4-BE49-F238E27FC236}">
                <a16:creationId xmlns:a16="http://schemas.microsoft.com/office/drawing/2014/main" xmlns="" id="{B52825A5-387A-A88E-2502-3D396EC111AE}"/>
              </a:ext>
            </a:extLst>
          </p:cNvPr>
          <p:cNvSpPr>
            <a:spLocks noChangeArrowheads="1"/>
          </p:cNvSpPr>
          <p:nvPr/>
        </p:nvSpPr>
        <p:spPr bwMode="auto">
          <a:xfrm>
            <a:off x="7608168" y="919848"/>
            <a:ext cx="4236750" cy="5222595"/>
          </a:xfrm>
          <a:prstGeom prst="rect">
            <a:avLst/>
          </a:prstGeom>
          <a:solidFill>
            <a:srgbClr val="B9CDE5"/>
          </a:solidFill>
          <a:ln>
            <a:noFill/>
          </a:ln>
          <a:effectLst/>
        </p:spPr>
        <p:txBody>
          <a:bodyPr wrap="none" anchor="ctr"/>
          <a:lstStyle/>
          <a:p>
            <a:endParaRPr lang="zh-CN" altLang="en-US" dirty="0"/>
          </a:p>
        </p:txBody>
      </p:sp>
      <p:grpSp>
        <p:nvGrpSpPr>
          <p:cNvPr id="4" name="Group 83">
            <a:extLst>
              <a:ext uri="{FF2B5EF4-FFF2-40B4-BE49-F238E27FC236}">
                <a16:creationId xmlns:a16="http://schemas.microsoft.com/office/drawing/2014/main" xmlns="" id="{3792CF08-D717-DE24-5238-7953DE54A3B4}"/>
              </a:ext>
            </a:extLst>
          </p:cNvPr>
          <p:cNvGrpSpPr>
            <a:grpSpLocks/>
          </p:cNvGrpSpPr>
          <p:nvPr/>
        </p:nvGrpSpPr>
        <p:grpSpPr bwMode="auto">
          <a:xfrm>
            <a:off x="8006423" y="1379138"/>
            <a:ext cx="3616325" cy="1574801"/>
            <a:chOff x="3234" y="0"/>
            <a:chExt cx="2278" cy="992"/>
          </a:xfrm>
        </p:grpSpPr>
        <p:grpSp>
          <p:nvGrpSpPr>
            <p:cNvPr id="5" name="Group 58">
              <a:extLst>
                <a:ext uri="{FF2B5EF4-FFF2-40B4-BE49-F238E27FC236}">
                  <a16:creationId xmlns:a16="http://schemas.microsoft.com/office/drawing/2014/main" xmlns="" id="{62F49C97-8835-7DEB-E12D-91C06B7C6F77}"/>
                </a:ext>
              </a:extLst>
            </p:cNvPr>
            <p:cNvGrpSpPr>
              <a:grpSpLocks/>
            </p:cNvGrpSpPr>
            <p:nvPr/>
          </p:nvGrpSpPr>
          <p:grpSpPr bwMode="auto">
            <a:xfrm>
              <a:off x="3234" y="0"/>
              <a:ext cx="2278" cy="992"/>
              <a:chOff x="2692" y="0"/>
              <a:chExt cx="2278" cy="992"/>
            </a:xfrm>
          </p:grpSpPr>
          <p:grpSp>
            <p:nvGrpSpPr>
              <p:cNvPr id="11" name="Group 18">
                <a:extLst>
                  <a:ext uri="{FF2B5EF4-FFF2-40B4-BE49-F238E27FC236}">
                    <a16:creationId xmlns:a16="http://schemas.microsoft.com/office/drawing/2014/main" xmlns="" id="{94B43ADC-BC41-6DA6-6615-961D35680C46}"/>
                  </a:ext>
                </a:extLst>
              </p:cNvPr>
              <p:cNvGrpSpPr>
                <a:grpSpLocks/>
              </p:cNvGrpSpPr>
              <p:nvPr/>
            </p:nvGrpSpPr>
            <p:grpSpPr bwMode="auto">
              <a:xfrm>
                <a:off x="2849" y="356"/>
                <a:ext cx="257" cy="419"/>
                <a:chOff x="2762" y="2234"/>
                <a:chExt cx="397" cy="648"/>
              </a:xfrm>
            </p:grpSpPr>
            <p:sp>
              <p:nvSpPr>
                <p:cNvPr id="308" name="Freeform 19">
                  <a:extLst>
                    <a:ext uri="{FF2B5EF4-FFF2-40B4-BE49-F238E27FC236}">
                      <a16:creationId xmlns:a16="http://schemas.microsoft.com/office/drawing/2014/main" xmlns="" id="{E6B5933B-11AB-C7D5-4666-A16F678A6A42}"/>
                    </a:ext>
                  </a:extLst>
                </p:cNvPr>
                <p:cNvSpPr>
                  <a:spLocks/>
                </p:cNvSpPr>
                <p:nvPr/>
              </p:nvSpPr>
              <p:spPr bwMode="auto">
                <a:xfrm>
                  <a:off x="2767" y="2234"/>
                  <a:ext cx="233" cy="648"/>
                </a:xfrm>
                <a:custGeom>
                  <a:avLst/>
                  <a:gdLst/>
                  <a:ahLst/>
                  <a:cxnLst>
                    <a:cxn ang="0">
                      <a:pos x="142" y="4"/>
                    </a:cxn>
                    <a:cxn ang="0">
                      <a:pos x="124" y="6"/>
                    </a:cxn>
                    <a:cxn ang="0">
                      <a:pos x="88" y="32"/>
                    </a:cxn>
                    <a:cxn ang="0">
                      <a:pos x="62" y="64"/>
                    </a:cxn>
                    <a:cxn ang="0">
                      <a:pos x="32" y="128"/>
                    </a:cxn>
                    <a:cxn ang="0">
                      <a:pos x="10" y="206"/>
                    </a:cxn>
                    <a:cxn ang="0">
                      <a:pos x="0" y="332"/>
                    </a:cxn>
                    <a:cxn ang="0">
                      <a:pos x="4" y="402"/>
                    </a:cxn>
                    <a:cxn ang="0">
                      <a:pos x="30" y="510"/>
                    </a:cxn>
                    <a:cxn ang="0">
                      <a:pos x="54" y="572"/>
                    </a:cxn>
                    <a:cxn ang="0">
                      <a:pos x="86" y="616"/>
                    </a:cxn>
                    <a:cxn ang="0">
                      <a:pos x="128" y="644"/>
                    </a:cxn>
                    <a:cxn ang="0">
                      <a:pos x="234" y="640"/>
                    </a:cxn>
                    <a:cxn ang="0">
                      <a:pos x="226" y="4"/>
                    </a:cxn>
                    <a:cxn ang="0">
                      <a:pos x="142" y="4"/>
                    </a:cxn>
                  </a:cxnLst>
                  <a:rect l="0" t="0" r="r" b="b"/>
                  <a:pathLst>
                    <a:path w="234" h="648">
                      <a:moveTo>
                        <a:pt x="142" y="4"/>
                      </a:moveTo>
                      <a:cubicBezTo>
                        <a:pt x="144" y="6"/>
                        <a:pt x="133" y="1"/>
                        <a:pt x="124" y="6"/>
                      </a:cubicBezTo>
                      <a:cubicBezTo>
                        <a:pt x="115" y="11"/>
                        <a:pt x="98" y="22"/>
                        <a:pt x="88" y="32"/>
                      </a:cubicBezTo>
                      <a:cubicBezTo>
                        <a:pt x="78" y="42"/>
                        <a:pt x="71" y="48"/>
                        <a:pt x="62" y="64"/>
                      </a:cubicBezTo>
                      <a:cubicBezTo>
                        <a:pt x="53" y="80"/>
                        <a:pt x="36" y="102"/>
                        <a:pt x="32" y="128"/>
                      </a:cubicBezTo>
                      <a:cubicBezTo>
                        <a:pt x="23" y="152"/>
                        <a:pt x="16" y="172"/>
                        <a:pt x="10" y="206"/>
                      </a:cubicBezTo>
                      <a:cubicBezTo>
                        <a:pt x="5" y="240"/>
                        <a:pt x="1" y="299"/>
                        <a:pt x="0" y="332"/>
                      </a:cubicBezTo>
                      <a:cubicBezTo>
                        <a:pt x="4" y="368"/>
                        <a:pt x="0" y="368"/>
                        <a:pt x="4" y="402"/>
                      </a:cubicBezTo>
                      <a:cubicBezTo>
                        <a:pt x="12" y="442"/>
                        <a:pt x="18" y="478"/>
                        <a:pt x="30" y="510"/>
                      </a:cubicBezTo>
                      <a:cubicBezTo>
                        <a:pt x="39" y="538"/>
                        <a:pt x="45" y="554"/>
                        <a:pt x="54" y="572"/>
                      </a:cubicBezTo>
                      <a:cubicBezTo>
                        <a:pt x="63" y="590"/>
                        <a:pt x="74" y="604"/>
                        <a:pt x="86" y="616"/>
                      </a:cubicBezTo>
                      <a:cubicBezTo>
                        <a:pt x="106" y="632"/>
                        <a:pt x="103" y="640"/>
                        <a:pt x="128" y="644"/>
                      </a:cubicBezTo>
                      <a:cubicBezTo>
                        <a:pt x="153" y="648"/>
                        <a:pt x="134" y="648"/>
                        <a:pt x="234" y="640"/>
                      </a:cubicBezTo>
                      <a:cubicBezTo>
                        <a:pt x="152" y="532"/>
                        <a:pt x="98" y="232"/>
                        <a:pt x="226" y="4"/>
                      </a:cubicBezTo>
                      <a:cubicBezTo>
                        <a:pt x="158" y="0"/>
                        <a:pt x="158" y="10"/>
                        <a:pt x="142" y="4"/>
                      </a:cubicBezTo>
                      <a:close/>
                    </a:path>
                  </a:pathLst>
                </a:custGeom>
                <a:gradFill rotWithShape="1">
                  <a:gsLst>
                    <a:gs pos="0">
                      <a:srgbClr val="FFFFFF">
                        <a:gamma/>
                        <a:shade val="41176"/>
                        <a:invGamma/>
                      </a:srgbClr>
                    </a:gs>
                    <a:gs pos="50000">
                      <a:srgbClr val="FFFFFF"/>
                    </a:gs>
                    <a:gs pos="100000">
                      <a:srgbClr val="FFFFFF">
                        <a:gamma/>
                        <a:shade val="41176"/>
                        <a:invGamma/>
                      </a:srgbClr>
                    </a:gs>
                  </a:gsLst>
                  <a:lin ang="5400000" scaled="1"/>
                </a:gradFill>
                <a:ln w="9525">
                  <a:no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10" name="Oval 20">
                  <a:extLst>
                    <a:ext uri="{FF2B5EF4-FFF2-40B4-BE49-F238E27FC236}">
                      <a16:creationId xmlns:a16="http://schemas.microsoft.com/office/drawing/2014/main" xmlns="" id="{E515CAFF-2D6F-7D66-F07C-334B76B28E4B}"/>
                    </a:ext>
                  </a:extLst>
                </p:cNvPr>
                <p:cNvSpPr>
                  <a:spLocks noChangeArrowheads="1"/>
                </p:cNvSpPr>
                <p:nvPr/>
              </p:nvSpPr>
              <p:spPr bwMode="auto">
                <a:xfrm>
                  <a:off x="2855" y="2243"/>
                  <a:ext cx="304" cy="637"/>
                </a:xfrm>
                <a:prstGeom prst="ellipse">
                  <a:avLst/>
                </a:prstGeom>
                <a:gradFill rotWithShape="1">
                  <a:gsLst>
                    <a:gs pos="0">
                      <a:srgbClr val="FFFFFF"/>
                    </a:gs>
                    <a:gs pos="100000">
                      <a:srgbClr val="FFFFFF">
                        <a:gamma/>
                        <a:shade val="60392"/>
                        <a:invGamma/>
                      </a:srgbClr>
                    </a:gs>
                  </a:gsLst>
                  <a:path path="shape">
                    <a:fillToRect l="50000" t="50000" r="50000" b="50000"/>
                  </a:path>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11" name="Line 21">
                  <a:extLst>
                    <a:ext uri="{FF2B5EF4-FFF2-40B4-BE49-F238E27FC236}">
                      <a16:creationId xmlns:a16="http://schemas.microsoft.com/office/drawing/2014/main" xmlns="" id="{E90EBB3F-DB61-631B-17D8-EC52B6CF4E64}"/>
                    </a:ext>
                  </a:extLst>
                </p:cNvPr>
                <p:cNvSpPr>
                  <a:spLocks noChangeShapeType="1"/>
                </p:cNvSpPr>
                <p:nvPr/>
              </p:nvSpPr>
              <p:spPr bwMode="auto">
                <a:xfrm flipH="1">
                  <a:off x="2904" y="2242"/>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12" name="Line 22">
                  <a:extLst>
                    <a:ext uri="{FF2B5EF4-FFF2-40B4-BE49-F238E27FC236}">
                      <a16:creationId xmlns:a16="http://schemas.microsoft.com/office/drawing/2014/main" xmlns="" id="{3E86703E-268E-8044-F2E7-4AE1461C687D}"/>
                    </a:ext>
                  </a:extLst>
                </p:cNvPr>
                <p:cNvSpPr>
                  <a:spLocks noChangeShapeType="1"/>
                </p:cNvSpPr>
                <p:nvPr/>
              </p:nvSpPr>
              <p:spPr bwMode="auto">
                <a:xfrm flipH="1">
                  <a:off x="2896" y="2880"/>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13" name="Freeform 23">
                  <a:extLst>
                    <a:ext uri="{FF2B5EF4-FFF2-40B4-BE49-F238E27FC236}">
                      <a16:creationId xmlns:a16="http://schemas.microsoft.com/office/drawing/2014/main" xmlns="" id="{A4A9C96A-7BD4-BC0C-9450-1A790E4508F1}"/>
                    </a:ext>
                  </a:extLst>
                </p:cNvPr>
                <p:cNvSpPr>
                  <a:spLocks/>
                </p:cNvSpPr>
                <p:nvPr/>
              </p:nvSpPr>
              <p:spPr bwMode="auto">
                <a:xfrm>
                  <a:off x="2762" y="2241"/>
                  <a:ext cx="148" cy="637"/>
                </a:xfrm>
                <a:custGeom>
                  <a:avLst/>
                  <a:gdLst>
                    <a:gd name="T0" fmla="*/ 148 w 148"/>
                    <a:gd name="T1" fmla="*/ 1 h 637"/>
                    <a:gd name="T2" fmla="*/ 126 w 148"/>
                    <a:gd name="T3" fmla="*/ 5 h 637"/>
                    <a:gd name="T4" fmla="*/ 90 w 148"/>
                    <a:gd name="T5" fmla="*/ 31 h 637"/>
                    <a:gd name="T6" fmla="*/ 64 w 148"/>
                    <a:gd name="T7" fmla="*/ 63 h 637"/>
                    <a:gd name="T8" fmla="*/ 30 w 148"/>
                    <a:gd name="T9" fmla="*/ 129 h 637"/>
                    <a:gd name="T10" fmla="*/ 12 w 148"/>
                    <a:gd name="T11" fmla="*/ 205 h 637"/>
                    <a:gd name="T12" fmla="*/ 2 w 148"/>
                    <a:gd name="T13" fmla="*/ 331 h 637"/>
                    <a:gd name="T14" fmla="*/ 6 w 148"/>
                    <a:gd name="T15" fmla="*/ 401 h 637"/>
                    <a:gd name="T16" fmla="*/ 32 w 148"/>
                    <a:gd name="T17" fmla="*/ 509 h 637"/>
                    <a:gd name="T18" fmla="*/ 60 w 148"/>
                    <a:gd name="T19" fmla="*/ 571 h 637"/>
                    <a:gd name="T20" fmla="*/ 92 w 148"/>
                    <a:gd name="T21" fmla="*/ 611 h 637"/>
                    <a:gd name="T22" fmla="*/ 136 w 148"/>
                    <a:gd name="T23" fmla="*/ 637 h 6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637"/>
                    <a:gd name="T38" fmla="*/ 148 w 148"/>
                    <a:gd name="T39" fmla="*/ 637 h 6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637">
                      <a:moveTo>
                        <a:pt x="148" y="1"/>
                      </a:moveTo>
                      <a:cubicBezTo>
                        <a:pt x="144" y="2"/>
                        <a:pt x="136" y="0"/>
                        <a:pt x="126" y="5"/>
                      </a:cubicBezTo>
                      <a:cubicBezTo>
                        <a:pt x="116" y="10"/>
                        <a:pt x="100" y="21"/>
                        <a:pt x="90" y="31"/>
                      </a:cubicBezTo>
                      <a:cubicBezTo>
                        <a:pt x="80" y="41"/>
                        <a:pt x="74" y="47"/>
                        <a:pt x="64" y="63"/>
                      </a:cubicBezTo>
                      <a:cubicBezTo>
                        <a:pt x="54" y="79"/>
                        <a:pt x="40" y="97"/>
                        <a:pt x="30" y="129"/>
                      </a:cubicBezTo>
                      <a:cubicBezTo>
                        <a:pt x="18" y="161"/>
                        <a:pt x="18" y="171"/>
                        <a:pt x="12" y="205"/>
                      </a:cubicBezTo>
                      <a:cubicBezTo>
                        <a:pt x="4" y="243"/>
                        <a:pt x="3" y="298"/>
                        <a:pt x="2" y="331"/>
                      </a:cubicBezTo>
                      <a:cubicBezTo>
                        <a:pt x="0" y="369"/>
                        <a:pt x="6" y="373"/>
                        <a:pt x="6" y="401"/>
                      </a:cubicBezTo>
                      <a:cubicBezTo>
                        <a:pt x="14" y="441"/>
                        <a:pt x="18" y="471"/>
                        <a:pt x="32" y="509"/>
                      </a:cubicBezTo>
                      <a:cubicBezTo>
                        <a:pt x="41" y="537"/>
                        <a:pt x="51" y="555"/>
                        <a:pt x="60" y="571"/>
                      </a:cubicBezTo>
                      <a:cubicBezTo>
                        <a:pt x="70" y="588"/>
                        <a:pt x="78" y="593"/>
                        <a:pt x="92" y="611"/>
                      </a:cubicBezTo>
                      <a:cubicBezTo>
                        <a:pt x="112" y="627"/>
                        <a:pt x="127" y="632"/>
                        <a:pt x="136" y="637"/>
                      </a:cubicBez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2" name="AutoShape 24">
                <a:extLst>
                  <a:ext uri="{FF2B5EF4-FFF2-40B4-BE49-F238E27FC236}">
                    <a16:creationId xmlns:a16="http://schemas.microsoft.com/office/drawing/2014/main" xmlns="" id="{B94AD989-2789-F95A-A1F2-39F618C24BD7}"/>
                  </a:ext>
                </a:extLst>
              </p:cNvPr>
              <p:cNvSpPr>
                <a:spLocks noChangeArrowheads="1"/>
              </p:cNvSpPr>
              <p:nvPr/>
            </p:nvSpPr>
            <p:spPr bwMode="auto">
              <a:xfrm>
                <a:off x="2976" y="506"/>
                <a:ext cx="520" cy="119"/>
              </a:xfrm>
              <a:prstGeom prst="roundRect">
                <a:avLst>
                  <a:gd name="adj" fmla="val 41176"/>
                </a:avLst>
              </a:prstGeom>
              <a:gradFill rotWithShape="1">
                <a:gsLst>
                  <a:gs pos="0">
                    <a:srgbClr val="FFFFFF">
                      <a:gamma/>
                      <a:shade val="9412"/>
                      <a:invGamma/>
                    </a:srgbClr>
                  </a:gs>
                  <a:gs pos="50000">
                    <a:srgbClr val="FFFFFF"/>
                  </a:gs>
                  <a:gs pos="100000">
                    <a:srgbClr val="FFFFFF">
                      <a:gamma/>
                      <a:shade val="9412"/>
                      <a:invGamma/>
                    </a:srgbClr>
                  </a:gs>
                </a:gsLst>
                <a:lin ang="5400000" scaled="1"/>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grpSp>
            <p:nvGrpSpPr>
              <p:cNvPr id="13" name="Group 25">
                <a:extLst>
                  <a:ext uri="{FF2B5EF4-FFF2-40B4-BE49-F238E27FC236}">
                    <a16:creationId xmlns:a16="http://schemas.microsoft.com/office/drawing/2014/main" xmlns="" id="{55F137A6-3FAA-9560-BE92-FBD127038244}"/>
                  </a:ext>
                </a:extLst>
              </p:cNvPr>
              <p:cNvGrpSpPr>
                <a:grpSpLocks/>
              </p:cNvGrpSpPr>
              <p:nvPr/>
            </p:nvGrpSpPr>
            <p:grpSpPr bwMode="auto">
              <a:xfrm>
                <a:off x="3375" y="356"/>
                <a:ext cx="257" cy="419"/>
                <a:chOff x="2762" y="2234"/>
                <a:chExt cx="397" cy="648"/>
              </a:xfrm>
            </p:grpSpPr>
            <p:sp>
              <p:nvSpPr>
                <p:cNvPr id="303" name="Freeform 26">
                  <a:extLst>
                    <a:ext uri="{FF2B5EF4-FFF2-40B4-BE49-F238E27FC236}">
                      <a16:creationId xmlns:a16="http://schemas.microsoft.com/office/drawing/2014/main" xmlns="" id="{906CE188-CDD0-EFDB-DF7A-79EE6CEE00A7}"/>
                    </a:ext>
                  </a:extLst>
                </p:cNvPr>
                <p:cNvSpPr>
                  <a:spLocks/>
                </p:cNvSpPr>
                <p:nvPr/>
              </p:nvSpPr>
              <p:spPr bwMode="auto">
                <a:xfrm>
                  <a:off x="2767" y="2234"/>
                  <a:ext cx="233" cy="648"/>
                </a:xfrm>
                <a:custGeom>
                  <a:avLst/>
                  <a:gdLst/>
                  <a:ahLst/>
                  <a:cxnLst>
                    <a:cxn ang="0">
                      <a:pos x="142" y="4"/>
                    </a:cxn>
                    <a:cxn ang="0">
                      <a:pos x="124" y="6"/>
                    </a:cxn>
                    <a:cxn ang="0">
                      <a:pos x="88" y="32"/>
                    </a:cxn>
                    <a:cxn ang="0">
                      <a:pos x="62" y="64"/>
                    </a:cxn>
                    <a:cxn ang="0">
                      <a:pos x="32" y="128"/>
                    </a:cxn>
                    <a:cxn ang="0">
                      <a:pos x="10" y="206"/>
                    </a:cxn>
                    <a:cxn ang="0">
                      <a:pos x="0" y="332"/>
                    </a:cxn>
                    <a:cxn ang="0">
                      <a:pos x="4" y="402"/>
                    </a:cxn>
                    <a:cxn ang="0">
                      <a:pos x="30" y="510"/>
                    </a:cxn>
                    <a:cxn ang="0">
                      <a:pos x="54" y="572"/>
                    </a:cxn>
                    <a:cxn ang="0">
                      <a:pos x="86" y="616"/>
                    </a:cxn>
                    <a:cxn ang="0">
                      <a:pos x="128" y="644"/>
                    </a:cxn>
                    <a:cxn ang="0">
                      <a:pos x="234" y="640"/>
                    </a:cxn>
                    <a:cxn ang="0">
                      <a:pos x="226" y="4"/>
                    </a:cxn>
                    <a:cxn ang="0">
                      <a:pos x="142" y="4"/>
                    </a:cxn>
                  </a:cxnLst>
                  <a:rect l="0" t="0" r="r" b="b"/>
                  <a:pathLst>
                    <a:path w="234" h="648">
                      <a:moveTo>
                        <a:pt x="142" y="4"/>
                      </a:moveTo>
                      <a:cubicBezTo>
                        <a:pt x="144" y="6"/>
                        <a:pt x="133" y="1"/>
                        <a:pt x="124" y="6"/>
                      </a:cubicBezTo>
                      <a:cubicBezTo>
                        <a:pt x="115" y="11"/>
                        <a:pt x="98" y="22"/>
                        <a:pt x="88" y="32"/>
                      </a:cubicBezTo>
                      <a:cubicBezTo>
                        <a:pt x="78" y="42"/>
                        <a:pt x="71" y="48"/>
                        <a:pt x="62" y="64"/>
                      </a:cubicBezTo>
                      <a:cubicBezTo>
                        <a:pt x="53" y="80"/>
                        <a:pt x="36" y="102"/>
                        <a:pt x="32" y="128"/>
                      </a:cubicBezTo>
                      <a:cubicBezTo>
                        <a:pt x="23" y="152"/>
                        <a:pt x="16" y="172"/>
                        <a:pt x="10" y="206"/>
                      </a:cubicBezTo>
                      <a:cubicBezTo>
                        <a:pt x="5" y="240"/>
                        <a:pt x="1" y="299"/>
                        <a:pt x="0" y="332"/>
                      </a:cubicBezTo>
                      <a:cubicBezTo>
                        <a:pt x="4" y="368"/>
                        <a:pt x="0" y="368"/>
                        <a:pt x="4" y="402"/>
                      </a:cubicBezTo>
                      <a:cubicBezTo>
                        <a:pt x="12" y="442"/>
                        <a:pt x="18" y="478"/>
                        <a:pt x="30" y="510"/>
                      </a:cubicBezTo>
                      <a:cubicBezTo>
                        <a:pt x="39" y="538"/>
                        <a:pt x="45" y="554"/>
                        <a:pt x="54" y="572"/>
                      </a:cubicBezTo>
                      <a:cubicBezTo>
                        <a:pt x="63" y="590"/>
                        <a:pt x="74" y="604"/>
                        <a:pt x="86" y="616"/>
                      </a:cubicBezTo>
                      <a:cubicBezTo>
                        <a:pt x="106" y="632"/>
                        <a:pt x="103" y="640"/>
                        <a:pt x="128" y="644"/>
                      </a:cubicBezTo>
                      <a:cubicBezTo>
                        <a:pt x="153" y="648"/>
                        <a:pt x="134" y="648"/>
                        <a:pt x="234" y="640"/>
                      </a:cubicBezTo>
                      <a:cubicBezTo>
                        <a:pt x="152" y="532"/>
                        <a:pt x="98" y="232"/>
                        <a:pt x="226" y="4"/>
                      </a:cubicBezTo>
                      <a:cubicBezTo>
                        <a:pt x="158" y="0"/>
                        <a:pt x="158" y="10"/>
                        <a:pt x="142" y="4"/>
                      </a:cubicBezTo>
                      <a:close/>
                    </a:path>
                  </a:pathLst>
                </a:custGeom>
                <a:gradFill rotWithShape="1">
                  <a:gsLst>
                    <a:gs pos="0">
                      <a:srgbClr val="FFFFFF">
                        <a:gamma/>
                        <a:shade val="41176"/>
                        <a:invGamma/>
                      </a:srgbClr>
                    </a:gs>
                    <a:gs pos="50000">
                      <a:srgbClr val="FFFFFF"/>
                    </a:gs>
                    <a:gs pos="100000">
                      <a:srgbClr val="FFFFFF">
                        <a:gamma/>
                        <a:shade val="41176"/>
                        <a:invGamma/>
                      </a:srgbClr>
                    </a:gs>
                  </a:gsLst>
                  <a:lin ang="5400000" scaled="1"/>
                </a:gradFill>
                <a:ln w="9525">
                  <a:no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04" name="Oval 27">
                  <a:extLst>
                    <a:ext uri="{FF2B5EF4-FFF2-40B4-BE49-F238E27FC236}">
                      <a16:creationId xmlns:a16="http://schemas.microsoft.com/office/drawing/2014/main" xmlns="" id="{79907330-A244-4B0D-71DD-49CB42A5AE90}"/>
                    </a:ext>
                  </a:extLst>
                </p:cNvPr>
                <p:cNvSpPr>
                  <a:spLocks noChangeArrowheads="1"/>
                </p:cNvSpPr>
                <p:nvPr/>
              </p:nvSpPr>
              <p:spPr bwMode="auto">
                <a:xfrm>
                  <a:off x="2855" y="2243"/>
                  <a:ext cx="304" cy="637"/>
                </a:xfrm>
                <a:prstGeom prst="ellipse">
                  <a:avLst/>
                </a:prstGeom>
                <a:gradFill rotWithShape="1">
                  <a:gsLst>
                    <a:gs pos="0">
                      <a:srgbClr val="FFFFFF"/>
                    </a:gs>
                    <a:gs pos="100000">
                      <a:srgbClr val="FFFFFF">
                        <a:gamma/>
                        <a:shade val="60392"/>
                        <a:invGamma/>
                      </a:srgbClr>
                    </a:gs>
                  </a:gsLst>
                  <a:path path="shape">
                    <a:fillToRect l="50000" t="50000" r="50000" b="50000"/>
                  </a:path>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05" name="Line 28">
                  <a:extLst>
                    <a:ext uri="{FF2B5EF4-FFF2-40B4-BE49-F238E27FC236}">
                      <a16:creationId xmlns:a16="http://schemas.microsoft.com/office/drawing/2014/main" xmlns="" id="{13D07427-B04C-AC63-1A86-641D53CE05FC}"/>
                    </a:ext>
                  </a:extLst>
                </p:cNvPr>
                <p:cNvSpPr>
                  <a:spLocks noChangeShapeType="1"/>
                </p:cNvSpPr>
                <p:nvPr/>
              </p:nvSpPr>
              <p:spPr bwMode="auto">
                <a:xfrm flipH="1">
                  <a:off x="2904" y="2242"/>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6" name="Line 29">
                  <a:extLst>
                    <a:ext uri="{FF2B5EF4-FFF2-40B4-BE49-F238E27FC236}">
                      <a16:creationId xmlns:a16="http://schemas.microsoft.com/office/drawing/2014/main" xmlns="" id="{0426A766-A705-EEFC-AA2A-7CD3739F342E}"/>
                    </a:ext>
                  </a:extLst>
                </p:cNvPr>
                <p:cNvSpPr>
                  <a:spLocks noChangeShapeType="1"/>
                </p:cNvSpPr>
                <p:nvPr/>
              </p:nvSpPr>
              <p:spPr bwMode="auto">
                <a:xfrm flipH="1">
                  <a:off x="2896" y="2880"/>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7" name="Freeform 30">
                  <a:extLst>
                    <a:ext uri="{FF2B5EF4-FFF2-40B4-BE49-F238E27FC236}">
                      <a16:creationId xmlns:a16="http://schemas.microsoft.com/office/drawing/2014/main" xmlns="" id="{6D420CEC-05C0-CE0A-75A0-CD4070ED9A3D}"/>
                    </a:ext>
                  </a:extLst>
                </p:cNvPr>
                <p:cNvSpPr>
                  <a:spLocks/>
                </p:cNvSpPr>
                <p:nvPr/>
              </p:nvSpPr>
              <p:spPr bwMode="auto">
                <a:xfrm>
                  <a:off x="2762" y="2241"/>
                  <a:ext cx="148" cy="637"/>
                </a:xfrm>
                <a:custGeom>
                  <a:avLst/>
                  <a:gdLst>
                    <a:gd name="T0" fmla="*/ 148 w 148"/>
                    <a:gd name="T1" fmla="*/ 1 h 637"/>
                    <a:gd name="T2" fmla="*/ 126 w 148"/>
                    <a:gd name="T3" fmla="*/ 5 h 637"/>
                    <a:gd name="T4" fmla="*/ 90 w 148"/>
                    <a:gd name="T5" fmla="*/ 31 h 637"/>
                    <a:gd name="T6" fmla="*/ 64 w 148"/>
                    <a:gd name="T7" fmla="*/ 63 h 637"/>
                    <a:gd name="T8" fmla="*/ 30 w 148"/>
                    <a:gd name="T9" fmla="*/ 129 h 637"/>
                    <a:gd name="T10" fmla="*/ 12 w 148"/>
                    <a:gd name="T11" fmla="*/ 205 h 637"/>
                    <a:gd name="T12" fmla="*/ 2 w 148"/>
                    <a:gd name="T13" fmla="*/ 331 h 637"/>
                    <a:gd name="T14" fmla="*/ 6 w 148"/>
                    <a:gd name="T15" fmla="*/ 401 h 637"/>
                    <a:gd name="T16" fmla="*/ 32 w 148"/>
                    <a:gd name="T17" fmla="*/ 509 h 637"/>
                    <a:gd name="T18" fmla="*/ 60 w 148"/>
                    <a:gd name="T19" fmla="*/ 571 h 637"/>
                    <a:gd name="T20" fmla="*/ 92 w 148"/>
                    <a:gd name="T21" fmla="*/ 611 h 637"/>
                    <a:gd name="T22" fmla="*/ 136 w 148"/>
                    <a:gd name="T23" fmla="*/ 637 h 6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637"/>
                    <a:gd name="T38" fmla="*/ 148 w 148"/>
                    <a:gd name="T39" fmla="*/ 637 h 6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637">
                      <a:moveTo>
                        <a:pt x="148" y="1"/>
                      </a:moveTo>
                      <a:cubicBezTo>
                        <a:pt x="144" y="2"/>
                        <a:pt x="136" y="0"/>
                        <a:pt x="126" y="5"/>
                      </a:cubicBezTo>
                      <a:cubicBezTo>
                        <a:pt x="116" y="10"/>
                        <a:pt x="100" y="21"/>
                        <a:pt x="90" y="31"/>
                      </a:cubicBezTo>
                      <a:cubicBezTo>
                        <a:pt x="80" y="41"/>
                        <a:pt x="74" y="47"/>
                        <a:pt x="64" y="63"/>
                      </a:cubicBezTo>
                      <a:cubicBezTo>
                        <a:pt x="54" y="79"/>
                        <a:pt x="40" y="97"/>
                        <a:pt x="30" y="129"/>
                      </a:cubicBezTo>
                      <a:cubicBezTo>
                        <a:pt x="18" y="161"/>
                        <a:pt x="18" y="171"/>
                        <a:pt x="12" y="205"/>
                      </a:cubicBezTo>
                      <a:cubicBezTo>
                        <a:pt x="4" y="243"/>
                        <a:pt x="3" y="298"/>
                        <a:pt x="2" y="331"/>
                      </a:cubicBezTo>
                      <a:cubicBezTo>
                        <a:pt x="0" y="369"/>
                        <a:pt x="6" y="373"/>
                        <a:pt x="6" y="401"/>
                      </a:cubicBezTo>
                      <a:cubicBezTo>
                        <a:pt x="14" y="441"/>
                        <a:pt x="18" y="471"/>
                        <a:pt x="32" y="509"/>
                      </a:cubicBezTo>
                      <a:cubicBezTo>
                        <a:pt x="41" y="537"/>
                        <a:pt x="51" y="555"/>
                        <a:pt x="60" y="571"/>
                      </a:cubicBezTo>
                      <a:cubicBezTo>
                        <a:pt x="70" y="588"/>
                        <a:pt x="78" y="593"/>
                        <a:pt x="92" y="611"/>
                      </a:cubicBezTo>
                      <a:cubicBezTo>
                        <a:pt x="112" y="627"/>
                        <a:pt x="127" y="632"/>
                        <a:pt x="136" y="637"/>
                      </a:cubicBez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4" name="Text Box 32">
                <a:extLst>
                  <a:ext uri="{FF2B5EF4-FFF2-40B4-BE49-F238E27FC236}">
                    <a16:creationId xmlns:a16="http://schemas.microsoft.com/office/drawing/2014/main" xmlns="" id="{1C3C03E8-89E4-A1BA-1AB4-C95E802DFAB1}"/>
                  </a:ext>
                </a:extLst>
              </p:cNvPr>
              <p:cNvSpPr txBox="1">
                <a:spLocks noChangeAspect="1" noChangeArrowheads="1"/>
              </p:cNvSpPr>
              <p:nvPr/>
            </p:nvSpPr>
            <p:spPr bwMode="auto">
              <a:xfrm>
                <a:off x="3320" y="0"/>
                <a:ext cx="40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r>
                  <a:rPr kumimoji="1" lang="en-US" altLang="zh-CN" sz="24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B</a:t>
                </a:r>
              </a:p>
            </p:txBody>
          </p:sp>
          <p:sp>
            <p:nvSpPr>
              <p:cNvPr id="15" name="Arc 35">
                <a:extLst>
                  <a:ext uri="{FF2B5EF4-FFF2-40B4-BE49-F238E27FC236}">
                    <a16:creationId xmlns:a16="http://schemas.microsoft.com/office/drawing/2014/main" xmlns="" id="{A9C02A79-928B-8251-5673-5E30B2F96A54}"/>
                  </a:ext>
                </a:extLst>
              </p:cNvPr>
              <p:cNvSpPr>
                <a:spLocks noChangeAspect="1"/>
              </p:cNvSpPr>
              <p:nvPr/>
            </p:nvSpPr>
            <p:spPr bwMode="auto">
              <a:xfrm rot="34243" flipH="1">
                <a:off x="3345" y="295"/>
                <a:ext cx="253" cy="237"/>
              </a:xfrm>
              <a:custGeom>
                <a:avLst/>
                <a:gdLst>
                  <a:gd name="T0" fmla="*/ 0 w 35811"/>
                  <a:gd name="T1" fmla="*/ 1 h 21600"/>
                  <a:gd name="T2" fmla="*/ 2 w 35811"/>
                  <a:gd name="T3" fmla="*/ 3 h 21600"/>
                  <a:gd name="T4" fmla="*/ 1 w 35811"/>
                  <a:gd name="T5" fmla="*/ 3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28575">
                <a:solidFill>
                  <a:srgbClr val="FF0000"/>
                </a:solidFill>
                <a:round/>
                <a:headEnd type="none" w="med" len="lg"/>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 name="Text Box 36">
                <a:extLst>
                  <a:ext uri="{FF2B5EF4-FFF2-40B4-BE49-F238E27FC236}">
                    <a16:creationId xmlns:a16="http://schemas.microsoft.com/office/drawing/2014/main" xmlns="" id="{DAEA7D2C-C8B1-10D7-E7C7-3CCC00E48887}"/>
                  </a:ext>
                </a:extLst>
              </p:cNvPr>
              <p:cNvSpPr txBox="1">
                <a:spLocks noChangeAspect="1" noChangeArrowheads="1"/>
              </p:cNvSpPr>
              <p:nvPr/>
            </p:nvSpPr>
            <p:spPr bwMode="auto">
              <a:xfrm>
                <a:off x="4108" y="0"/>
                <a:ext cx="37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r>
                  <a:rPr kumimoji="1" lang="en-US" altLang="zh-CN" sz="24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C</a:t>
                </a:r>
              </a:p>
            </p:txBody>
          </p:sp>
          <p:sp>
            <p:nvSpPr>
              <p:cNvPr id="17" name="Text Box 37">
                <a:extLst>
                  <a:ext uri="{FF2B5EF4-FFF2-40B4-BE49-F238E27FC236}">
                    <a16:creationId xmlns:a16="http://schemas.microsoft.com/office/drawing/2014/main" xmlns="" id="{5AB29034-1BBE-F7E3-1824-A41C4ED3F739}"/>
                  </a:ext>
                </a:extLst>
              </p:cNvPr>
              <p:cNvSpPr txBox="1">
                <a:spLocks noChangeAspect="1" noChangeArrowheads="1"/>
              </p:cNvSpPr>
              <p:nvPr/>
            </p:nvSpPr>
            <p:spPr bwMode="auto">
              <a:xfrm>
                <a:off x="2904" y="671"/>
                <a:ext cx="37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18" name="Text Box 38">
                <a:extLst>
                  <a:ext uri="{FF2B5EF4-FFF2-40B4-BE49-F238E27FC236}">
                    <a16:creationId xmlns:a16="http://schemas.microsoft.com/office/drawing/2014/main" xmlns="" id="{25DB7D16-C037-AB05-83FF-94055E93832B}"/>
                  </a:ext>
                </a:extLst>
              </p:cNvPr>
              <p:cNvSpPr txBox="1">
                <a:spLocks noChangeAspect="1" noChangeArrowheads="1"/>
              </p:cNvSpPr>
              <p:nvPr/>
            </p:nvSpPr>
            <p:spPr bwMode="auto">
              <a:xfrm>
                <a:off x="3520" y="654"/>
                <a:ext cx="307"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20" name="Text Box 39">
                <a:extLst>
                  <a:ext uri="{FF2B5EF4-FFF2-40B4-BE49-F238E27FC236}">
                    <a16:creationId xmlns:a16="http://schemas.microsoft.com/office/drawing/2014/main" xmlns="" id="{281F5F87-E0BE-C77E-177C-92C54A09B01D}"/>
                  </a:ext>
                </a:extLst>
              </p:cNvPr>
              <p:cNvSpPr txBox="1">
                <a:spLocks noChangeAspect="1" noChangeArrowheads="1"/>
              </p:cNvSpPr>
              <p:nvPr/>
            </p:nvSpPr>
            <p:spPr bwMode="auto">
              <a:xfrm>
                <a:off x="4264" y="669"/>
                <a:ext cx="211"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p>
            </p:txBody>
          </p:sp>
          <p:sp>
            <p:nvSpPr>
              <p:cNvPr id="21" name="AutoShape 45">
                <a:extLst>
                  <a:ext uri="{FF2B5EF4-FFF2-40B4-BE49-F238E27FC236}">
                    <a16:creationId xmlns:a16="http://schemas.microsoft.com/office/drawing/2014/main" xmlns="" id="{D5DF4020-7459-9940-37B4-B35B890BC1A5}"/>
                  </a:ext>
                </a:extLst>
              </p:cNvPr>
              <p:cNvSpPr>
                <a:spLocks noChangeArrowheads="1"/>
              </p:cNvSpPr>
              <p:nvPr/>
            </p:nvSpPr>
            <p:spPr bwMode="auto">
              <a:xfrm>
                <a:off x="3493" y="505"/>
                <a:ext cx="481" cy="119"/>
              </a:xfrm>
              <a:prstGeom prst="roundRect">
                <a:avLst>
                  <a:gd name="adj" fmla="val 41176"/>
                </a:avLst>
              </a:prstGeom>
              <a:gradFill rotWithShape="1">
                <a:gsLst>
                  <a:gs pos="0">
                    <a:srgbClr val="FFFFFF">
                      <a:gamma/>
                      <a:shade val="9412"/>
                      <a:invGamma/>
                    </a:srgbClr>
                  </a:gs>
                  <a:gs pos="50000">
                    <a:srgbClr val="FFFFFF"/>
                  </a:gs>
                  <a:gs pos="100000">
                    <a:srgbClr val="FFFFFF">
                      <a:gamma/>
                      <a:shade val="9412"/>
                      <a:invGamma/>
                    </a:srgbClr>
                  </a:gs>
                </a:gsLst>
                <a:lin ang="5400000" scaled="1"/>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grpSp>
            <p:nvGrpSpPr>
              <p:cNvPr id="22" name="Group 11">
                <a:extLst>
                  <a:ext uri="{FF2B5EF4-FFF2-40B4-BE49-F238E27FC236}">
                    <a16:creationId xmlns:a16="http://schemas.microsoft.com/office/drawing/2014/main" xmlns="" id="{503ED62D-5CC7-7D4A-2852-40FF364C4391}"/>
                  </a:ext>
                </a:extLst>
              </p:cNvPr>
              <p:cNvGrpSpPr>
                <a:grpSpLocks/>
              </p:cNvGrpSpPr>
              <p:nvPr/>
            </p:nvGrpSpPr>
            <p:grpSpPr bwMode="auto">
              <a:xfrm>
                <a:off x="3924" y="241"/>
                <a:ext cx="397" cy="648"/>
                <a:chOff x="2762" y="2234"/>
                <a:chExt cx="397" cy="648"/>
              </a:xfrm>
            </p:grpSpPr>
            <p:sp>
              <p:nvSpPr>
                <p:cNvPr id="298" name="Freeform 12">
                  <a:extLst>
                    <a:ext uri="{FF2B5EF4-FFF2-40B4-BE49-F238E27FC236}">
                      <a16:creationId xmlns:a16="http://schemas.microsoft.com/office/drawing/2014/main" xmlns="" id="{D1D8C312-04DA-9982-6865-1ABC1A2D3002}"/>
                    </a:ext>
                  </a:extLst>
                </p:cNvPr>
                <p:cNvSpPr>
                  <a:spLocks/>
                </p:cNvSpPr>
                <p:nvPr/>
              </p:nvSpPr>
              <p:spPr bwMode="auto">
                <a:xfrm>
                  <a:off x="2766" y="2234"/>
                  <a:ext cx="234" cy="648"/>
                </a:xfrm>
                <a:custGeom>
                  <a:avLst/>
                  <a:gdLst/>
                  <a:ahLst/>
                  <a:cxnLst>
                    <a:cxn ang="0">
                      <a:pos x="142" y="4"/>
                    </a:cxn>
                    <a:cxn ang="0">
                      <a:pos x="124" y="6"/>
                    </a:cxn>
                    <a:cxn ang="0">
                      <a:pos x="88" y="32"/>
                    </a:cxn>
                    <a:cxn ang="0">
                      <a:pos x="62" y="64"/>
                    </a:cxn>
                    <a:cxn ang="0">
                      <a:pos x="32" y="128"/>
                    </a:cxn>
                    <a:cxn ang="0">
                      <a:pos x="10" y="206"/>
                    </a:cxn>
                    <a:cxn ang="0">
                      <a:pos x="0" y="332"/>
                    </a:cxn>
                    <a:cxn ang="0">
                      <a:pos x="4" y="402"/>
                    </a:cxn>
                    <a:cxn ang="0">
                      <a:pos x="30" y="510"/>
                    </a:cxn>
                    <a:cxn ang="0">
                      <a:pos x="54" y="572"/>
                    </a:cxn>
                    <a:cxn ang="0">
                      <a:pos x="86" y="616"/>
                    </a:cxn>
                    <a:cxn ang="0">
                      <a:pos x="128" y="644"/>
                    </a:cxn>
                    <a:cxn ang="0">
                      <a:pos x="234" y="640"/>
                    </a:cxn>
                    <a:cxn ang="0">
                      <a:pos x="226" y="4"/>
                    </a:cxn>
                    <a:cxn ang="0">
                      <a:pos x="142" y="4"/>
                    </a:cxn>
                  </a:cxnLst>
                  <a:rect l="0" t="0" r="r" b="b"/>
                  <a:pathLst>
                    <a:path w="234" h="648">
                      <a:moveTo>
                        <a:pt x="142" y="4"/>
                      </a:moveTo>
                      <a:cubicBezTo>
                        <a:pt x="144" y="6"/>
                        <a:pt x="133" y="1"/>
                        <a:pt x="124" y="6"/>
                      </a:cubicBezTo>
                      <a:cubicBezTo>
                        <a:pt x="115" y="11"/>
                        <a:pt x="98" y="22"/>
                        <a:pt x="88" y="32"/>
                      </a:cubicBezTo>
                      <a:cubicBezTo>
                        <a:pt x="78" y="42"/>
                        <a:pt x="71" y="48"/>
                        <a:pt x="62" y="64"/>
                      </a:cubicBezTo>
                      <a:cubicBezTo>
                        <a:pt x="53" y="80"/>
                        <a:pt x="36" y="102"/>
                        <a:pt x="32" y="128"/>
                      </a:cubicBezTo>
                      <a:cubicBezTo>
                        <a:pt x="23" y="152"/>
                        <a:pt x="16" y="172"/>
                        <a:pt x="10" y="206"/>
                      </a:cubicBezTo>
                      <a:cubicBezTo>
                        <a:pt x="5" y="240"/>
                        <a:pt x="1" y="299"/>
                        <a:pt x="0" y="332"/>
                      </a:cubicBezTo>
                      <a:cubicBezTo>
                        <a:pt x="4" y="368"/>
                        <a:pt x="0" y="368"/>
                        <a:pt x="4" y="402"/>
                      </a:cubicBezTo>
                      <a:cubicBezTo>
                        <a:pt x="12" y="442"/>
                        <a:pt x="18" y="478"/>
                        <a:pt x="30" y="510"/>
                      </a:cubicBezTo>
                      <a:cubicBezTo>
                        <a:pt x="39" y="538"/>
                        <a:pt x="45" y="554"/>
                        <a:pt x="54" y="572"/>
                      </a:cubicBezTo>
                      <a:cubicBezTo>
                        <a:pt x="63" y="590"/>
                        <a:pt x="74" y="604"/>
                        <a:pt x="86" y="616"/>
                      </a:cubicBezTo>
                      <a:cubicBezTo>
                        <a:pt x="106" y="632"/>
                        <a:pt x="103" y="640"/>
                        <a:pt x="128" y="644"/>
                      </a:cubicBezTo>
                      <a:cubicBezTo>
                        <a:pt x="153" y="648"/>
                        <a:pt x="134" y="648"/>
                        <a:pt x="234" y="640"/>
                      </a:cubicBezTo>
                      <a:cubicBezTo>
                        <a:pt x="152" y="532"/>
                        <a:pt x="98" y="232"/>
                        <a:pt x="226" y="4"/>
                      </a:cubicBezTo>
                      <a:cubicBezTo>
                        <a:pt x="158" y="0"/>
                        <a:pt x="158" y="10"/>
                        <a:pt x="142" y="4"/>
                      </a:cubicBezTo>
                      <a:close/>
                    </a:path>
                  </a:pathLst>
                </a:custGeom>
                <a:gradFill rotWithShape="1">
                  <a:gsLst>
                    <a:gs pos="0">
                      <a:srgbClr val="FFFFFF">
                        <a:gamma/>
                        <a:shade val="41176"/>
                        <a:invGamma/>
                      </a:srgbClr>
                    </a:gs>
                    <a:gs pos="50000">
                      <a:srgbClr val="FFFFFF"/>
                    </a:gs>
                    <a:gs pos="100000">
                      <a:srgbClr val="FFFFFF">
                        <a:gamma/>
                        <a:shade val="41176"/>
                        <a:invGamma/>
                      </a:srgbClr>
                    </a:gs>
                  </a:gsLst>
                  <a:lin ang="5400000" scaled="1"/>
                </a:gradFill>
                <a:ln w="9525">
                  <a:no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299" name="Oval 13">
                  <a:extLst>
                    <a:ext uri="{FF2B5EF4-FFF2-40B4-BE49-F238E27FC236}">
                      <a16:creationId xmlns:a16="http://schemas.microsoft.com/office/drawing/2014/main" xmlns="" id="{C67F5CAE-38C9-400B-6389-036B980AFC3E}"/>
                    </a:ext>
                  </a:extLst>
                </p:cNvPr>
                <p:cNvSpPr>
                  <a:spLocks noChangeArrowheads="1"/>
                </p:cNvSpPr>
                <p:nvPr/>
              </p:nvSpPr>
              <p:spPr bwMode="auto">
                <a:xfrm>
                  <a:off x="2854" y="2243"/>
                  <a:ext cx="305" cy="637"/>
                </a:xfrm>
                <a:prstGeom prst="ellipse">
                  <a:avLst/>
                </a:prstGeom>
                <a:gradFill rotWithShape="1">
                  <a:gsLst>
                    <a:gs pos="0">
                      <a:srgbClr val="FFFFFF"/>
                    </a:gs>
                    <a:gs pos="100000">
                      <a:srgbClr val="FFFFFF">
                        <a:gamma/>
                        <a:shade val="60392"/>
                        <a:invGamma/>
                      </a:srgbClr>
                    </a:gs>
                  </a:gsLst>
                  <a:path path="shape">
                    <a:fillToRect l="50000" t="50000" r="50000" b="50000"/>
                  </a:path>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00" name="Line 14">
                  <a:extLst>
                    <a:ext uri="{FF2B5EF4-FFF2-40B4-BE49-F238E27FC236}">
                      <a16:creationId xmlns:a16="http://schemas.microsoft.com/office/drawing/2014/main" xmlns="" id="{69DC3CEB-F27D-1C30-29DB-1015DEA0F5C3}"/>
                    </a:ext>
                  </a:extLst>
                </p:cNvPr>
                <p:cNvSpPr>
                  <a:spLocks noChangeShapeType="1"/>
                </p:cNvSpPr>
                <p:nvPr/>
              </p:nvSpPr>
              <p:spPr bwMode="auto">
                <a:xfrm flipH="1">
                  <a:off x="2904" y="2242"/>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1" name="Line 15">
                  <a:extLst>
                    <a:ext uri="{FF2B5EF4-FFF2-40B4-BE49-F238E27FC236}">
                      <a16:creationId xmlns:a16="http://schemas.microsoft.com/office/drawing/2014/main" xmlns="" id="{26904497-A1D3-EBA8-F1B3-A16D79AC343D}"/>
                    </a:ext>
                  </a:extLst>
                </p:cNvPr>
                <p:cNvSpPr>
                  <a:spLocks noChangeShapeType="1"/>
                </p:cNvSpPr>
                <p:nvPr/>
              </p:nvSpPr>
              <p:spPr bwMode="auto">
                <a:xfrm flipH="1">
                  <a:off x="2896" y="2880"/>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2" name="Freeform 16">
                  <a:extLst>
                    <a:ext uri="{FF2B5EF4-FFF2-40B4-BE49-F238E27FC236}">
                      <a16:creationId xmlns:a16="http://schemas.microsoft.com/office/drawing/2014/main" xmlns="" id="{6127D47E-2E05-3094-6F86-E762C7AC3238}"/>
                    </a:ext>
                  </a:extLst>
                </p:cNvPr>
                <p:cNvSpPr>
                  <a:spLocks/>
                </p:cNvSpPr>
                <p:nvPr/>
              </p:nvSpPr>
              <p:spPr bwMode="auto">
                <a:xfrm>
                  <a:off x="2762" y="2241"/>
                  <a:ext cx="148" cy="637"/>
                </a:xfrm>
                <a:custGeom>
                  <a:avLst/>
                  <a:gdLst>
                    <a:gd name="T0" fmla="*/ 148 w 148"/>
                    <a:gd name="T1" fmla="*/ 1 h 637"/>
                    <a:gd name="T2" fmla="*/ 126 w 148"/>
                    <a:gd name="T3" fmla="*/ 5 h 637"/>
                    <a:gd name="T4" fmla="*/ 90 w 148"/>
                    <a:gd name="T5" fmla="*/ 31 h 637"/>
                    <a:gd name="T6" fmla="*/ 64 w 148"/>
                    <a:gd name="T7" fmla="*/ 63 h 637"/>
                    <a:gd name="T8" fmla="*/ 30 w 148"/>
                    <a:gd name="T9" fmla="*/ 129 h 637"/>
                    <a:gd name="T10" fmla="*/ 12 w 148"/>
                    <a:gd name="T11" fmla="*/ 205 h 637"/>
                    <a:gd name="T12" fmla="*/ 2 w 148"/>
                    <a:gd name="T13" fmla="*/ 331 h 637"/>
                    <a:gd name="T14" fmla="*/ 6 w 148"/>
                    <a:gd name="T15" fmla="*/ 401 h 637"/>
                    <a:gd name="T16" fmla="*/ 32 w 148"/>
                    <a:gd name="T17" fmla="*/ 509 h 637"/>
                    <a:gd name="T18" fmla="*/ 60 w 148"/>
                    <a:gd name="T19" fmla="*/ 571 h 637"/>
                    <a:gd name="T20" fmla="*/ 92 w 148"/>
                    <a:gd name="T21" fmla="*/ 611 h 637"/>
                    <a:gd name="T22" fmla="*/ 136 w 148"/>
                    <a:gd name="T23" fmla="*/ 637 h 6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637"/>
                    <a:gd name="T38" fmla="*/ 148 w 148"/>
                    <a:gd name="T39" fmla="*/ 637 h 6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637">
                      <a:moveTo>
                        <a:pt x="148" y="1"/>
                      </a:moveTo>
                      <a:cubicBezTo>
                        <a:pt x="144" y="2"/>
                        <a:pt x="136" y="0"/>
                        <a:pt x="126" y="5"/>
                      </a:cubicBezTo>
                      <a:cubicBezTo>
                        <a:pt x="116" y="10"/>
                        <a:pt x="100" y="21"/>
                        <a:pt x="90" y="31"/>
                      </a:cubicBezTo>
                      <a:cubicBezTo>
                        <a:pt x="80" y="41"/>
                        <a:pt x="74" y="47"/>
                        <a:pt x="64" y="63"/>
                      </a:cubicBezTo>
                      <a:cubicBezTo>
                        <a:pt x="54" y="79"/>
                        <a:pt x="40" y="97"/>
                        <a:pt x="30" y="129"/>
                      </a:cubicBezTo>
                      <a:cubicBezTo>
                        <a:pt x="18" y="161"/>
                        <a:pt x="18" y="171"/>
                        <a:pt x="12" y="205"/>
                      </a:cubicBezTo>
                      <a:cubicBezTo>
                        <a:pt x="4" y="243"/>
                        <a:pt x="3" y="298"/>
                        <a:pt x="2" y="331"/>
                      </a:cubicBezTo>
                      <a:cubicBezTo>
                        <a:pt x="0" y="369"/>
                        <a:pt x="6" y="373"/>
                        <a:pt x="6" y="401"/>
                      </a:cubicBezTo>
                      <a:cubicBezTo>
                        <a:pt x="14" y="441"/>
                        <a:pt x="18" y="471"/>
                        <a:pt x="32" y="509"/>
                      </a:cubicBezTo>
                      <a:cubicBezTo>
                        <a:pt x="41" y="537"/>
                        <a:pt x="51" y="555"/>
                        <a:pt x="60" y="571"/>
                      </a:cubicBezTo>
                      <a:cubicBezTo>
                        <a:pt x="70" y="588"/>
                        <a:pt x="78" y="593"/>
                        <a:pt x="92" y="611"/>
                      </a:cubicBezTo>
                      <a:cubicBezTo>
                        <a:pt x="112" y="627"/>
                        <a:pt x="127" y="632"/>
                        <a:pt x="136" y="637"/>
                      </a:cubicBez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23" name="AutoShape 17">
                <a:extLst>
                  <a:ext uri="{FF2B5EF4-FFF2-40B4-BE49-F238E27FC236}">
                    <a16:creationId xmlns:a16="http://schemas.microsoft.com/office/drawing/2014/main" xmlns="" id="{F04CC0FF-0E13-BAC2-4D09-1E8C2CE21087}"/>
                  </a:ext>
                </a:extLst>
              </p:cNvPr>
              <p:cNvSpPr>
                <a:spLocks noChangeArrowheads="1"/>
              </p:cNvSpPr>
              <p:nvPr/>
            </p:nvSpPr>
            <p:spPr bwMode="auto">
              <a:xfrm>
                <a:off x="4144" y="506"/>
                <a:ext cx="690" cy="119"/>
              </a:xfrm>
              <a:prstGeom prst="roundRect">
                <a:avLst>
                  <a:gd name="adj" fmla="val 44537"/>
                </a:avLst>
              </a:prstGeom>
              <a:gradFill rotWithShape="1">
                <a:gsLst>
                  <a:gs pos="0">
                    <a:srgbClr val="FFFFFF">
                      <a:gamma/>
                      <a:shade val="9412"/>
                      <a:invGamma/>
                    </a:srgbClr>
                  </a:gs>
                  <a:gs pos="50000">
                    <a:srgbClr val="FFFFFF"/>
                  </a:gs>
                  <a:gs pos="100000">
                    <a:srgbClr val="FFFFFF">
                      <a:gamma/>
                      <a:shade val="9412"/>
                      <a:invGamma/>
                    </a:srgbClr>
                  </a:gs>
                </a:gsLst>
                <a:lin ang="5400000" scaled="1"/>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24" name="Arc 31">
                <a:extLst>
                  <a:ext uri="{FF2B5EF4-FFF2-40B4-BE49-F238E27FC236}">
                    <a16:creationId xmlns:a16="http://schemas.microsoft.com/office/drawing/2014/main" xmlns="" id="{6C6AAB04-70FA-98A5-82D7-CB6BD14847B8}"/>
                  </a:ext>
                </a:extLst>
              </p:cNvPr>
              <p:cNvSpPr>
                <a:spLocks noChangeAspect="1"/>
              </p:cNvSpPr>
              <p:nvPr/>
            </p:nvSpPr>
            <p:spPr bwMode="auto">
              <a:xfrm rot="21317369" flipH="1">
                <a:off x="3899" y="192"/>
                <a:ext cx="302" cy="237"/>
              </a:xfrm>
              <a:custGeom>
                <a:avLst/>
                <a:gdLst>
                  <a:gd name="T0" fmla="*/ 0 w 35811"/>
                  <a:gd name="T1" fmla="*/ 1 h 21600"/>
                  <a:gd name="T2" fmla="*/ 3 w 35811"/>
                  <a:gd name="T3" fmla="*/ 3 h 21600"/>
                  <a:gd name="T4" fmla="*/ 1 w 35811"/>
                  <a:gd name="T5" fmla="*/ 3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28575">
                <a:solidFill>
                  <a:srgbClr val="FF0000"/>
                </a:solidFill>
                <a:round/>
                <a:headEnd type="stealth" w="med" len="lg"/>
                <a:tailEnd type="none"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5" name="Text Box 34">
                <a:extLst>
                  <a:ext uri="{FF2B5EF4-FFF2-40B4-BE49-F238E27FC236}">
                    <a16:creationId xmlns:a16="http://schemas.microsoft.com/office/drawing/2014/main" xmlns="" id="{CAC9C56B-B146-419C-5342-574726D2540E}"/>
                  </a:ext>
                </a:extLst>
              </p:cNvPr>
              <p:cNvSpPr txBox="1">
                <a:spLocks noChangeAspect="1" noChangeArrowheads="1"/>
              </p:cNvSpPr>
              <p:nvPr/>
            </p:nvSpPr>
            <p:spPr bwMode="auto">
              <a:xfrm>
                <a:off x="4549" y="46"/>
                <a:ext cx="40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r>
                  <a:rPr kumimoji="1" lang="en-US" altLang="zh-CN" sz="24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D</a:t>
                </a:r>
              </a:p>
            </p:txBody>
          </p:sp>
          <p:grpSp>
            <p:nvGrpSpPr>
              <p:cNvPr id="26" name="Group 46">
                <a:extLst>
                  <a:ext uri="{FF2B5EF4-FFF2-40B4-BE49-F238E27FC236}">
                    <a16:creationId xmlns:a16="http://schemas.microsoft.com/office/drawing/2014/main" xmlns="" id="{554C39E7-38E8-A7BB-1193-0A39132782CD}"/>
                  </a:ext>
                </a:extLst>
              </p:cNvPr>
              <p:cNvGrpSpPr>
                <a:grpSpLocks/>
              </p:cNvGrpSpPr>
              <p:nvPr/>
            </p:nvGrpSpPr>
            <p:grpSpPr bwMode="auto">
              <a:xfrm>
                <a:off x="4581" y="355"/>
                <a:ext cx="257" cy="419"/>
                <a:chOff x="2762" y="2234"/>
                <a:chExt cx="397" cy="648"/>
              </a:xfrm>
            </p:grpSpPr>
            <p:sp>
              <p:nvSpPr>
                <p:cNvPr id="290" name="Freeform 47">
                  <a:extLst>
                    <a:ext uri="{FF2B5EF4-FFF2-40B4-BE49-F238E27FC236}">
                      <a16:creationId xmlns:a16="http://schemas.microsoft.com/office/drawing/2014/main" xmlns="" id="{FB9A9403-7295-6B92-A6B9-A00A15D4778F}"/>
                    </a:ext>
                  </a:extLst>
                </p:cNvPr>
                <p:cNvSpPr>
                  <a:spLocks/>
                </p:cNvSpPr>
                <p:nvPr/>
              </p:nvSpPr>
              <p:spPr bwMode="auto">
                <a:xfrm>
                  <a:off x="2767" y="2234"/>
                  <a:ext cx="233" cy="648"/>
                </a:xfrm>
                <a:custGeom>
                  <a:avLst/>
                  <a:gdLst/>
                  <a:ahLst/>
                  <a:cxnLst>
                    <a:cxn ang="0">
                      <a:pos x="142" y="4"/>
                    </a:cxn>
                    <a:cxn ang="0">
                      <a:pos x="124" y="6"/>
                    </a:cxn>
                    <a:cxn ang="0">
                      <a:pos x="88" y="32"/>
                    </a:cxn>
                    <a:cxn ang="0">
                      <a:pos x="62" y="64"/>
                    </a:cxn>
                    <a:cxn ang="0">
                      <a:pos x="32" y="128"/>
                    </a:cxn>
                    <a:cxn ang="0">
                      <a:pos x="10" y="206"/>
                    </a:cxn>
                    <a:cxn ang="0">
                      <a:pos x="0" y="332"/>
                    </a:cxn>
                    <a:cxn ang="0">
                      <a:pos x="4" y="402"/>
                    </a:cxn>
                    <a:cxn ang="0">
                      <a:pos x="30" y="510"/>
                    </a:cxn>
                    <a:cxn ang="0">
                      <a:pos x="54" y="572"/>
                    </a:cxn>
                    <a:cxn ang="0">
                      <a:pos x="86" y="616"/>
                    </a:cxn>
                    <a:cxn ang="0">
                      <a:pos x="128" y="644"/>
                    </a:cxn>
                    <a:cxn ang="0">
                      <a:pos x="234" y="640"/>
                    </a:cxn>
                    <a:cxn ang="0">
                      <a:pos x="226" y="4"/>
                    </a:cxn>
                    <a:cxn ang="0">
                      <a:pos x="142" y="4"/>
                    </a:cxn>
                  </a:cxnLst>
                  <a:rect l="0" t="0" r="r" b="b"/>
                  <a:pathLst>
                    <a:path w="234" h="648">
                      <a:moveTo>
                        <a:pt x="142" y="4"/>
                      </a:moveTo>
                      <a:cubicBezTo>
                        <a:pt x="144" y="6"/>
                        <a:pt x="133" y="1"/>
                        <a:pt x="124" y="6"/>
                      </a:cubicBezTo>
                      <a:cubicBezTo>
                        <a:pt x="115" y="11"/>
                        <a:pt x="98" y="22"/>
                        <a:pt x="88" y="32"/>
                      </a:cubicBezTo>
                      <a:cubicBezTo>
                        <a:pt x="78" y="42"/>
                        <a:pt x="71" y="48"/>
                        <a:pt x="62" y="64"/>
                      </a:cubicBezTo>
                      <a:cubicBezTo>
                        <a:pt x="53" y="80"/>
                        <a:pt x="36" y="102"/>
                        <a:pt x="32" y="128"/>
                      </a:cubicBezTo>
                      <a:cubicBezTo>
                        <a:pt x="23" y="152"/>
                        <a:pt x="16" y="172"/>
                        <a:pt x="10" y="206"/>
                      </a:cubicBezTo>
                      <a:cubicBezTo>
                        <a:pt x="5" y="240"/>
                        <a:pt x="1" y="299"/>
                        <a:pt x="0" y="332"/>
                      </a:cubicBezTo>
                      <a:cubicBezTo>
                        <a:pt x="4" y="368"/>
                        <a:pt x="0" y="368"/>
                        <a:pt x="4" y="402"/>
                      </a:cubicBezTo>
                      <a:cubicBezTo>
                        <a:pt x="12" y="442"/>
                        <a:pt x="18" y="478"/>
                        <a:pt x="30" y="510"/>
                      </a:cubicBezTo>
                      <a:cubicBezTo>
                        <a:pt x="39" y="538"/>
                        <a:pt x="45" y="554"/>
                        <a:pt x="54" y="572"/>
                      </a:cubicBezTo>
                      <a:cubicBezTo>
                        <a:pt x="63" y="590"/>
                        <a:pt x="74" y="604"/>
                        <a:pt x="86" y="616"/>
                      </a:cubicBezTo>
                      <a:cubicBezTo>
                        <a:pt x="106" y="632"/>
                        <a:pt x="103" y="640"/>
                        <a:pt x="128" y="644"/>
                      </a:cubicBezTo>
                      <a:cubicBezTo>
                        <a:pt x="153" y="648"/>
                        <a:pt x="134" y="648"/>
                        <a:pt x="234" y="640"/>
                      </a:cubicBezTo>
                      <a:cubicBezTo>
                        <a:pt x="152" y="532"/>
                        <a:pt x="98" y="232"/>
                        <a:pt x="226" y="4"/>
                      </a:cubicBezTo>
                      <a:cubicBezTo>
                        <a:pt x="158" y="0"/>
                        <a:pt x="158" y="10"/>
                        <a:pt x="142" y="4"/>
                      </a:cubicBezTo>
                      <a:close/>
                    </a:path>
                  </a:pathLst>
                </a:custGeom>
                <a:gradFill rotWithShape="1">
                  <a:gsLst>
                    <a:gs pos="0">
                      <a:srgbClr val="FFFFFF">
                        <a:gamma/>
                        <a:shade val="41176"/>
                        <a:invGamma/>
                      </a:srgbClr>
                    </a:gs>
                    <a:gs pos="50000">
                      <a:srgbClr val="FFFFFF"/>
                    </a:gs>
                    <a:gs pos="100000">
                      <a:srgbClr val="FFFFFF">
                        <a:gamma/>
                        <a:shade val="41176"/>
                        <a:invGamma/>
                      </a:srgbClr>
                    </a:gs>
                  </a:gsLst>
                  <a:lin ang="5400000" scaled="1"/>
                </a:gradFill>
                <a:ln w="9525">
                  <a:no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293" name="Oval 48">
                  <a:extLst>
                    <a:ext uri="{FF2B5EF4-FFF2-40B4-BE49-F238E27FC236}">
                      <a16:creationId xmlns:a16="http://schemas.microsoft.com/office/drawing/2014/main" xmlns="" id="{4F60F428-239B-7FFC-96C1-8BE945D61820}"/>
                    </a:ext>
                  </a:extLst>
                </p:cNvPr>
                <p:cNvSpPr>
                  <a:spLocks noChangeArrowheads="1"/>
                </p:cNvSpPr>
                <p:nvPr/>
              </p:nvSpPr>
              <p:spPr bwMode="auto">
                <a:xfrm>
                  <a:off x="2855" y="2243"/>
                  <a:ext cx="304" cy="637"/>
                </a:xfrm>
                <a:prstGeom prst="ellipse">
                  <a:avLst/>
                </a:prstGeom>
                <a:gradFill rotWithShape="1">
                  <a:gsLst>
                    <a:gs pos="0">
                      <a:srgbClr val="FFFFFF"/>
                    </a:gs>
                    <a:gs pos="100000">
                      <a:srgbClr val="FFFFFF">
                        <a:gamma/>
                        <a:shade val="60392"/>
                        <a:invGamma/>
                      </a:srgbClr>
                    </a:gs>
                  </a:gsLst>
                  <a:path path="shape">
                    <a:fillToRect l="50000" t="50000" r="50000" b="50000"/>
                  </a:path>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295" name="Line 49">
                  <a:extLst>
                    <a:ext uri="{FF2B5EF4-FFF2-40B4-BE49-F238E27FC236}">
                      <a16:creationId xmlns:a16="http://schemas.microsoft.com/office/drawing/2014/main" xmlns="" id="{4E33657E-417E-A0EC-87A8-2D89607DCD4A}"/>
                    </a:ext>
                  </a:extLst>
                </p:cNvPr>
                <p:cNvSpPr>
                  <a:spLocks noChangeShapeType="1"/>
                </p:cNvSpPr>
                <p:nvPr/>
              </p:nvSpPr>
              <p:spPr bwMode="auto">
                <a:xfrm flipH="1">
                  <a:off x="2904" y="2242"/>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96" name="Line 50">
                  <a:extLst>
                    <a:ext uri="{FF2B5EF4-FFF2-40B4-BE49-F238E27FC236}">
                      <a16:creationId xmlns:a16="http://schemas.microsoft.com/office/drawing/2014/main" xmlns="" id="{80B3588B-A68C-9B69-230B-A0A3749FFB9E}"/>
                    </a:ext>
                  </a:extLst>
                </p:cNvPr>
                <p:cNvSpPr>
                  <a:spLocks noChangeShapeType="1"/>
                </p:cNvSpPr>
                <p:nvPr/>
              </p:nvSpPr>
              <p:spPr bwMode="auto">
                <a:xfrm flipH="1">
                  <a:off x="2896" y="2880"/>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97" name="Freeform 51">
                  <a:extLst>
                    <a:ext uri="{FF2B5EF4-FFF2-40B4-BE49-F238E27FC236}">
                      <a16:creationId xmlns:a16="http://schemas.microsoft.com/office/drawing/2014/main" xmlns="" id="{30BDD98F-EBF0-5BBF-7A1C-38B83F1872E3}"/>
                    </a:ext>
                  </a:extLst>
                </p:cNvPr>
                <p:cNvSpPr>
                  <a:spLocks/>
                </p:cNvSpPr>
                <p:nvPr/>
              </p:nvSpPr>
              <p:spPr bwMode="auto">
                <a:xfrm>
                  <a:off x="2762" y="2241"/>
                  <a:ext cx="148" cy="637"/>
                </a:xfrm>
                <a:custGeom>
                  <a:avLst/>
                  <a:gdLst>
                    <a:gd name="T0" fmla="*/ 148 w 148"/>
                    <a:gd name="T1" fmla="*/ 1 h 637"/>
                    <a:gd name="T2" fmla="*/ 126 w 148"/>
                    <a:gd name="T3" fmla="*/ 5 h 637"/>
                    <a:gd name="T4" fmla="*/ 90 w 148"/>
                    <a:gd name="T5" fmla="*/ 31 h 637"/>
                    <a:gd name="T6" fmla="*/ 64 w 148"/>
                    <a:gd name="T7" fmla="*/ 63 h 637"/>
                    <a:gd name="T8" fmla="*/ 30 w 148"/>
                    <a:gd name="T9" fmla="*/ 129 h 637"/>
                    <a:gd name="T10" fmla="*/ 12 w 148"/>
                    <a:gd name="T11" fmla="*/ 205 h 637"/>
                    <a:gd name="T12" fmla="*/ 2 w 148"/>
                    <a:gd name="T13" fmla="*/ 331 h 637"/>
                    <a:gd name="T14" fmla="*/ 6 w 148"/>
                    <a:gd name="T15" fmla="*/ 401 h 637"/>
                    <a:gd name="T16" fmla="*/ 32 w 148"/>
                    <a:gd name="T17" fmla="*/ 509 h 637"/>
                    <a:gd name="T18" fmla="*/ 60 w 148"/>
                    <a:gd name="T19" fmla="*/ 571 h 637"/>
                    <a:gd name="T20" fmla="*/ 92 w 148"/>
                    <a:gd name="T21" fmla="*/ 611 h 637"/>
                    <a:gd name="T22" fmla="*/ 136 w 148"/>
                    <a:gd name="T23" fmla="*/ 637 h 6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637"/>
                    <a:gd name="T38" fmla="*/ 148 w 148"/>
                    <a:gd name="T39" fmla="*/ 637 h 6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637">
                      <a:moveTo>
                        <a:pt x="148" y="1"/>
                      </a:moveTo>
                      <a:cubicBezTo>
                        <a:pt x="144" y="2"/>
                        <a:pt x="136" y="0"/>
                        <a:pt x="126" y="5"/>
                      </a:cubicBezTo>
                      <a:cubicBezTo>
                        <a:pt x="116" y="10"/>
                        <a:pt x="100" y="21"/>
                        <a:pt x="90" y="31"/>
                      </a:cubicBezTo>
                      <a:cubicBezTo>
                        <a:pt x="80" y="41"/>
                        <a:pt x="74" y="47"/>
                        <a:pt x="64" y="63"/>
                      </a:cubicBezTo>
                      <a:cubicBezTo>
                        <a:pt x="54" y="79"/>
                        <a:pt x="40" y="97"/>
                        <a:pt x="30" y="129"/>
                      </a:cubicBezTo>
                      <a:cubicBezTo>
                        <a:pt x="18" y="161"/>
                        <a:pt x="18" y="171"/>
                        <a:pt x="12" y="205"/>
                      </a:cubicBezTo>
                      <a:cubicBezTo>
                        <a:pt x="4" y="243"/>
                        <a:pt x="3" y="298"/>
                        <a:pt x="2" y="331"/>
                      </a:cubicBezTo>
                      <a:cubicBezTo>
                        <a:pt x="0" y="369"/>
                        <a:pt x="6" y="373"/>
                        <a:pt x="6" y="401"/>
                      </a:cubicBezTo>
                      <a:cubicBezTo>
                        <a:pt x="14" y="441"/>
                        <a:pt x="18" y="471"/>
                        <a:pt x="32" y="509"/>
                      </a:cubicBezTo>
                      <a:cubicBezTo>
                        <a:pt x="41" y="537"/>
                        <a:pt x="51" y="555"/>
                        <a:pt x="60" y="571"/>
                      </a:cubicBezTo>
                      <a:cubicBezTo>
                        <a:pt x="70" y="588"/>
                        <a:pt x="78" y="593"/>
                        <a:pt x="92" y="611"/>
                      </a:cubicBezTo>
                      <a:cubicBezTo>
                        <a:pt x="112" y="627"/>
                        <a:pt x="127" y="632"/>
                        <a:pt x="136" y="637"/>
                      </a:cubicBez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27" name="Line 40">
                <a:extLst>
                  <a:ext uri="{FF2B5EF4-FFF2-40B4-BE49-F238E27FC236}">
                    <a16:creationId xmlns:a16="http://schemas.microsoft.com/office/drawing/2014/main" xmlns="" id="{F841D451-94D1-DAA3-A973-AAF23CC0F650}"/>
                  </a:ext>
                </a:extLst>
              </p:cNvPr>
              <p:cNvSpPr>
                <a:spLocks noChangeShapeType="1"/>
              </p:cNvSpPr>
              <p:nvPr/>
            </p:nvSpPr>
            <p:spPr bwMode="auto">
              <a:xfrm>
                <a:off x="2692" y="565"/>
                <a:ext cx="161"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8" name="Line 52">
                <a:extLst>
                  <a:ext uri="{FF2B5EF4-FFF2-40B4-BE49-F238E27FC236}">
                    <a16:creationId xmlns:a16="http://schemas.microsoft.com/office/drawing/2014/main" xmlns="" id="{C677E9C2-F46F-19ED-1D1F-077C7B3750E4}"/>
                  </a:ext>
                </a:extLst>
              </p:cNvPr>
              <p:cNvSpPr>
                <a:spLocks noChangeShapeType="1"/>
              </p:cNvSpPr>
              <p:nvPr/>
            </p:nvSpPr>
            <p:spPr bwMode="auto">
              <a:xfrm>
                <a:off x="4742" y="565"/>
                <a:ext cx="228"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9" name="Line 53">
                <a:extLst>
                  <a:ext uri="{FF2B5EF4-FFF2-40B4-BE49-F238E27FC236}">
                    <a16:creationId xmlns:a16="http://schemas.microsoft.com/office/drawing/2014/main" xmlns="" id="{8B85132A-F3BB-08C5-BF26-F30A5A01E38B}"/>
                  </a:ext>
                </a:extLst>
              </p:cNvPr>
              <p:cNvSpPr>
                <a:spLocks noChangeShapeType="1"/>
              </p:cNvSpPr>
              <p:nvPr/>
            </p:nvSpPr>
            <p:spPr bwMode="auto">
              <a:xfrm>
                <a:off x="2972" y="565"/>
                <a:ext cx="1617" cy="0"/>
              </a:xfrm>
              <a:prstGeom prst="line">
                <a:avLst/>
              </a:prstGeom>
              <a:noFill/>
              <a:ln w="9525">
                <a:solidFill>
                  <a:srgbClr val="80808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 name="Text Box 54">
                <a:extLst>
                  <a:ext uri="{FF2B5EF4-FFF2-40B4-BE49-F238E27FC236}">
                    <a16:creationId xmlns:a16="http://schemas.microsoft.com/office/drawing/2014/main" xmlns="" id="{9331480A-D514-924F-6FE5-D6B7C90AFACE}"/>
                  </a:ext>
                </a:extLst>
              </p:cNvPr>
              <p:cNvSpPr txBox="1">
                <a:spLocks noChangeAspect="1" noChangeArrowheads="1"/>
              </p:cNvSpPr>
              <p:nvPr/>
            </p:nvSpPr>
            <p:spPr bwMode="auto">
              <a:xfrm>
                <a:off x="4758" y="644"/>
                <a:ext cx="211"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a:t>
                </a:r>
              </a:p>
            </p:txBody>
          </p:sp>
          <p:sp>
            <p:nvSpPr>
              <p:cNvPr id="31" name="Arc 55">
                <a:extLst>
                  <a:ext uri="{FF2B5EF4-FFF2-40B4-BE49-F238E27FC236}">
                    <a16:creationId xmlns:a16="http://schemas.microsoft.com/office/drawing/2014/main" xmlns="" id="{F7138815-E467-28F3-9A14-FEB3D4B26CAE}"/>
                  </a:ext>
                </a:extLst>
              </p:cNvPr>
              <p:cNvSpPr>
                <a:spLocks noChangeAspect="1"/>
              </p:cNvSpPr>
              <p:nvPr/>
            </p:nvSpPr>
            <p:spPr bwMode="auto">
              <a:xfrm rot="19787402" flipH="1">
                <a:off x="2811" y="348"/>
                <a:ext cx="168" cy="157"/>
              </a:xfrm>
              <a:custGeom>
                <a:avLst/>
                <a:gdLst>
                  <a:gd name="T0" fmla="*/ 0 w 29634"/>
                  <a:gd name="T1" fmla="*/ 0 h 21600"/>
                  <a:gd name="T2" fmla="*/ 1 w 29634"/>
                  <a:gd name="T3" fmla="*/ 1 h 21600"/>
                  <a:gd name="T4" fmla="*/ 0 w 29634"/>
                  <a:gd name="T5" fmla="*/ 1 h 21600"/>
                  <a:gd name="T6" fmla="*/ 0 60000 65536"/>
                  <a:gd name="T7" fmla="*/ 0 60000 65536"/>
                  <a:gd name="T8" fmla="*/ 0 60000 65536"/>
                  <a:gd name="T9" fmla="*/ 0 w 29634"/>
                  <a:gd name="T10" fmla="*/ 0 h 21600"/>
                  <a:gd name="T11" fmla="*/ 29634 w 29634"/>
                  <a:gd name="T12" fmla="*/ 21600 h 21600"/>
                </a:gdLst>
                <a:ahLst/>
                <a:cxnLst>
                  <a:cxn ang="T6">
                    <a:pos x="T0" y="T1"/>
                  </a:cxn>
                  <a:cxn ang="T7">
                    <a:pos x="T2" y="T3"/>
                  </a:cxn>
                  <a:cxn ang="T8">
                    <a:pos x="T4" y="T5"/>
                  </a:cxn>
                </a:cxnLst>
                <a:rect l="T9" t="T10" r="T11" b="T12"/>
                <a:pathLst>
                  <a:path w="29634" h="21600" fill="none" extrusionOk="0">
                    <a:moveTo>
                      <a:pt x="-1" y="2218"/>
                    </a:moveTo>
                    <a:cubicBezTo>
                      <a:pt x="2966" y="759"/>
                      <a:pt x="6229" y="-1"/>
                      <a:pt x="9536" y="0"/>
                    </a:cubicBezTo>
                    <a:cubicBezTo>
                      <a:pt x="18411" y="0"/>
                      <a:pt x="26382" y="5428"/>
                      <a:pt x="29634" y="13686"/>
                    </a:cubicBezTo>
                  </a:path>
                  <a:path w="29634" h="21600" stroke="0" extrusionOk="0">
                    <a:moveTo>
                      <a:pt x="-1" y="2218"/>
                    </a:moveTo>
                    <a:cubicBezTo>
                      <a:pt x="2966" y="759"/>
                      <a:pt x="6229" y="-1"/>
                      <a:pt x="9536" y="0"/>
                    </a:cubicBezTo>
                    <a:cubicBezTo>
                      <a:pt x="18411" y="0"/>
                      <a:pt x="26382" y="5428"/>
                      <a:pt x="29634" y="13686"/>
                    </a:cubicBezTo>
                    <a:lnTo>
                      <a:pt x="9536" y="21600"/>
                    </a:lnTo>
                    <a:close/>
                  </a:path>
                </a:pathLst>
              </a:custGeom>
              <a:noFill/>
              <a:ln w="28575">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88" name="Text Box 56">
                <a:extLst>
                  <a:ext uri="{FF2B5EF4-FFF2-40B4-BE49-F238E27FC236}">
                    <a16:creationId xmlns:a16="http://schemas.microsoft.com/office/drawing/2014/main" xmlns="" id="{0778B554-3004-BEAE-5F73-D226F5254448}"/>
                  </a:ext>
                </a:extLst>
              </p:cNvPr>
              <p:cNvSpPr txBox="1">
                <a:spLocks noChangeAspect="1" noChangeArrowheads="1"/>
              </p:cNvSpPr>
              <p:nvPr/>
            </p:nvSpPr>
            <p:spPr bwMode="auto">
              <a:xfrm>
                <a:off x="2766" y="58"/>
                <a:ext cx="357"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r>
                  <a:rPr kumimoji="1" lang="en-US" altLang="zh-CN" sz="24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A</a:t>
                </a:r>
              </a:p>
            </p:txBody>
          </p:sp>
          <p:sp>
            <p:nvSpPr>
              <p:cNvPr id="289" name="Arc 57">
                <a:extLst>
                  <a:ext uri="{FF2B5EF4-FFF2-40B4-BE49-F238E27FC236}">
                    <a16:creationId xmlns:a16="http://schemas.microsoft.com/office/drawing/2014/main" xmlns="" id="{3633197F-82E8-38CD-8ED7-368A145C6285}"/>
                  </a:ext>
                </a:extLst>
              </p:cNvPr>
              <p:cNvSpPr>
                <a:spLocks noChangeAspect="1"/>
              </p:cNvSpPr>
              <p:nvPr/>
            </p:nvSpPr>
            <p:spPr bwMode="auto">
              <a:xfrm rot="426721" flipH="1">
                <a:off x="4648" y="322"/>
                <a:ext cx="168" cy="157"/>
              </a:xfrm>
              <a:custGeom>
                <a:avLst/>
                <a:gdLst>
                  <a:gd name="T0" fmla="*/ 0 w 29634"/>
                  <a:gd name="T1" fmla="*/ 0 h 21600"/>
                  <a:gd name="T2" fmla="*/ 1 w 29634"/>
                  <a:gd name="T3" fmla="*/ 1 h 21600"/>
                  <a:gd name="T4" fmla="*/ 0 w 29634"/>
                  <a:gd name="T5" fmla="*/ 1 h 21600"/>
                  <a:gd name="T6" fmla="*/ 0 60000 65536"/>
                  <a:gd name="T7" fmla="*/ 0 60000 65536"/>
                  <a:gd name="T8" fmla="*/ 0 60000 65536"/>
                  <a:gd name="T9" fmla="*/ 0 w 29634"/>
                  <a:gd name="T10" fmla="*/ 0 h 21600"/>
                  <a:gd name="T11" fmla="*/ 29634 w 29634"/>
                  <a:gd name="T12" fmla="*/ 21600 h 21600"/>
                </a:gdLst>
                <a:ahLst/>
                <a:cxnLst>
                  <a:cxn ang="T6">
                    <a:pos x="T0" y="T1"/>
                  </a:cxn>
                  <a:cxn ang="T7">
                    <a:pos x="T2" y="T3"/>
                  </a:cxn>
                  <a:cxn ang="T8">
                    <a:pos x="T4" y="T5"/>
                  </a:cxn>
                </a:cxnLst>
                <a:rect l="T9" t="T10" r="T11" b="T12"/>
                <a:pathLst>
                  <a:path w="29634" h="21600" fill="none" extrusionOk="0">
                    <a:moveTo>
                      <a:pt x="-1" y="2218"/>
                    </a:moveTo>
                    <a:cubicBezTo>
                      <a:pt x="2966" y="759"/>
                      <a:pt x="6229" y="-1"/>
                      <a:pt x="9536" y="0"/>
                    </a:cubicBezTo>
                    <a:cubicBezTo>
                      <a:pt x="18411" y="0"/>
                      <a:pt x="26382" y="5428"/>
                      <a:pt x="29634" y="13686"/>
                    </a:cubicBezTo>
                  </a:path>
                  <a:path w="29634" h="21600" stroke="0" extrusionOk="0">
                    <a:moveTo>
                      <a:pt x="-1" y="2218"/>
                    </a:moveTo>
                    <a:cubicBezTo>
                      <a:pt x="2966" y="759"/>
                      <a:pt x="6229" y="-1"/>
                      <a:pt x="9536" y="0"/>
                    </a:cubicBezTo>
                    <a:cubicBezTo>
                      <a:pt x="18411" y="0"/>
                      <a:pt x="26382" y="5428"/>
                      <a:pt x="29634" y="13686"/>
                    </a:cubicBezTo>
                    <a:lnTo>
                      <a:pt x="9536" y="21600"/>
                    </a:lnTo>
                    <a:close/>
                  </a:path>
                </a:pathLst>
              </a:custGeom>
              <a:noFill/>
              <a:ln w="28575">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6" name="Line 79">
              <a:extLst>
                <a:ext uri="{FF2B5EF4-FFF2-40B4-BE49-F238E27FC236}">
                  <a16:creationId xmlns:a16="http://schemas.microsoft.com/office/drawing/2014/main" xmlns="" id="{2A662A76-58A0-DB7D-340F-F7C139B9328A}"/>
                </a:ext>
              </a:extLst>
            </p:cNvPr>
            <p:cNvSpPr>
              <a:spLocks noChangeShapeType="1"/>
            </p:cNvSpPr>
            <p:nvPr/>
          </p:nvSpPr>
          <p:spPr bwMode="auto">
            <a:xfrm>
              <a:off x="3797" y="235"/>
              <a:ext cx="0" cy="296"/>
            </a:xfrm>
            <a:prstGeom prst="line">
              <a:avLst/>
            </a:prstGeom>
            <a:noFill/>
            <a:ln w="9525">
              <a:solidFill>
                <a:srgbClr val="000000"/>
              </a:solidFill>
              <a:round/>
              <a:headEnd type="none"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 name="Text Box 80">
              <a:extLst>
                <a:ext uri="{FF2B5EF4-FFF2-40B4-BE49-F238E27FC236}">
                  <a16:creationId xmlns:a16="http://schemas.microsoft.com/office/drawing/2014/main" xmlns="" id="{BA126A16-E981-A31E-4999-37D229FFE171}"/>
                </a:ext>
              </a:extLst>
            </p:cNvPr>
            <p:cNvSpPr txBox="1">
              <a:spLocks noChangeAspect="1" noChangeArrowheads="1"/>
            </p:cNvSpPr>
            <p:nvPr/>
          </p:nvSpPr>
          <p:spPr bwMode="auto">
            <a:xfrm rot="16200000">
              <a:off x="3593" y="204"/>
              <a:ext cx="232"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d</a:t>
              </a:r>
            </a:p>
          </p:txBody>
        </p:sp>
        <p:sp>
          <p:nvSpPr>
            <p:cNvPr id="9" name="Line 81">
              <a:extLst>
                <a:ext uri="{FF2B5EF4-FFF2-40B4-BE49-F238E27FC236}">
                  <a16:creationId xmlns:a16="http://schemas.microsoft.com/office/drawing/2014/main" xmlns="" id="{F434E36F-E0D2-28E2-A58C-50FF001DD2DA}"/>
                </a:ext>
              </a:extLst>
            </p:cNvPr>
            <p:cNvSpPr>
              <a:spLocks noChangeShapeType="1"/>
            </p:cNvSpPr>
            <p:nvPr/>
          </p:nvSpPr>
          <p:spPr bwMode="auto">
            <a:xfrm flipV="1">
              <a:off x="3802" y="617"/>
              <a:ext cx="0" cy="191"/>
            </a:xfrm>
            <a:prstGeom prst="line">
              <a:avLst/>
            </a:prstGeom>
            <a:noFill/>
            <a:ln w="9525">
              <a:solidFill>
                <a:srgbClr val="000000"/>
              </a:solidFill>
              <a:round/>
              <a:headEnd type="none"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 name="Line 82">
              <a:extLst>
                <a:ext uri="{FF2B5EF4-FFF2-40B4-BE49-F238E27FC236}">
                  <a16:creationId xmlns:a16="http://schemas.microsoft.com/office/drawing/2014/main" xmlns="" id="{87DFE1F7-49D5-5F13-17DE-CB2ED3076430}"/>
                </a:ext>
              </a:extLst>
            </p:cNvPr>
            <p:cNvSpPr>
              <a:spLocks noChangeShapeType="1"/>
            </p:cNvSpPr>
            <p:nvPr/>
          </p:nvSpPr>
          <p:spPr bwMode="auto">
            <a:xfrm flipV="1">
              <a:off x="3800" y="512"/>
              <a:ext cx="0" cy="1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aphicFrame>
        <p:nvGraphicFramePr>
          <p:cNvPr id="316" name="Object 84">
            <a:extLst>
              <a:ext uri="{FF2B5EF4-FFF2-40B4-BE49-F238E27FC236}">
                <a16:creationId xmlns:a16="http://schemas.microsoft.com/office/drawing/2014/main" xmlns="" id="{971C4CDF-9201-DD82-4857-7A02B3C16A78}"/>
              </a:ext>
            </a:extLst>
          </p:cNvPr>
          <p:cNvGraphicFramePr>
            <a:graphicFrameLocks/>
          </p:cNvGraphicFramePr>
          <p:nvPr>
            <p:extLst>
              <p:ext uri="{D42A27DB-BD31-4B8C-83A1-F6EECF244321}">
                <p14:modId xmlns:p14="http://schemas.microsoft.com/office/powerpoint/2010/main" val="3325991717"/>
              </p:ext>
            </p:extLst>
          </p:nvPr>
        </p:nvGraphicFramePr>
        <p:xfrm>
          <a:off x="2817273" y="3004589"/>
          <a:ext cx="1636713" cy="806450"/>
        </p:xfrm>
        <a:graphic>
          <a:graphicData uri="http://schemas.openxmlformats.org/presentationml/2006/ole">
            <mc:AlternateContent xmlns:mc="http://schemas.openxmlformats.org/markup-compatibility/2006">
              <mc:Choice xmlns:v="urn:schemas-microsoft-com:vml" Requires="v">
                <p:oleObj spid="_x0000_s16391" name="Equation" r:id="rId6" imgW="799920" imgH="393480" progId="Equation.DSMT4">
                  <p:embed/>
                </p:oleObj>
              </mc:Choice>
              <mc:Fallback>
                <p:oleObj name="Equation" r:id="rId6" imgW="799920" imgH="393480" progId="Equation.DSMT4">
                  <p:embed/>
                  <p:pic>
                    <p:nvPicPr>
                      <p:cNvPr id="18438" name="Object 84">
                        <a:extLst>
                          <a:ext uri="{FF2B5EF4-FFF2-40B4-BE49-F238E27FC236}">
                            <a16:creationId xmlns:a16="http://schemas.microsoft.com/office/drawing/2014/main" xmlns="" id="{8C75F032-0338-D6E3-5A22-4815D6A3D188}"/>
                          </a:ext>
                        </a:extLst>
                      </p:cNvPr>
                      <p:cNvPicPr>
                        <a:picLocks noChangeArrowheads="1"/>
                      </p:cNvPicPr>
                      <p:nvPr/>
                    </p:nvPicPr>
                    <p:blipFill>
                      <a:blip r:embed="rId7"/>
                      <a:srcRect/>
                      <a:stretch>
                        <a:fillRect/>
                      </a:stretch>
                    </p:blipFill>
                    <p:spPr bwMode="auto">
                      <a:xfrm>
                        <a:off x="2817273" y="3004589"/>
                        <a:ext cx="1636713" cy="806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 name="Object 42">
            <a:extLst>
              <a:ext uri="{FF2B5EF4-FFF2-40B4-BE49-F238E27FC236}">
                <a16:creationId xmlns:a16="http://schemas.microsoft.com/office/drawing/2014/main" xmlns="" id="{2DB9FC29-4D77-594A-67BB-401A8F44A0AE}"/>
              </a:ext>
            </a:extLst>
          </p:cNvPr>
          <p:cNvGraphicFramePr>
            <a:graphicFrameLocks noChangeAspect="1"/>
          </p:cNvGraphicFramePr>
          <p:nvPr>
            <p:extLst>
              <p:ext uri="{D42A27DB-BD31-4B8C-83A1-F6EECF244321}">
                <p14:modId xmlns:p14="http://schemas.microsoft.com/office/powerpoint/2010/main" val="2126269143"/>
              </p:ext>
            </p:extLst>
          </p:nvPr>
        </p:nvGraphicFramePr>
        <p:xfrm>
          <a:off x="1176875" y="3736789"/>
          <a:ext cx="2241550" cy="484187"/>
        </p:xfrm>
        <a:graphic>
          <a:graphicData uri="http://schemas.openxmlformats.org/presentationml/2006/ole">
            <mc:AlternateContent xmlns:mc="http://schemas.openxmlformats.org/markup-compatibility/2006">
              <mc:Choice xmlns:v="urn:schemas-microsoft-com:vml" Requires="v">
                <p:oleObj spid="_x0000_s16392" name="Equation" r:id="rId8" imgW="1066680" imgH="228600" progId="Equation.DSMT4">
                  <p:embed/>
                </p:oleObj>
              </mc:Choice>
              <mc:Fallback>
                <p:oleObj name="Equation" r:id="rId8" imgW="1066680" imgH="228600" progId="Equation.DSMT4">
                  <p:embed/>
                  <p:pic>
                    <p:nvPicPr>
                      <p:cNvPr id="880682" name="Object 42">
                        <a:extLst>
                          <a:ext uri="{FF2B5EF4-FFF2-40B4-BE49-F238E27FC236}">
                            <a16:creationId xmlns:a16="http://schemas.microsoft.com/office/drawing/2014/main" xmlns="" id="{38B3DB0D-E8FC-7E73-F42A-DE17A367E5E7}"/>
                          </a:ext>
                        </a:extLst>
                      </p:cNvPr>
                      <p:cNvPicPr>
                        <a:picLocks noChangeAspect="1" noChangeArrowheads="1"/>
                      </p:cNvPicPr>
                      <p:nvPr/>
                    </p:nvPicPr>
                    <p:blipFill>
                      <a:blip r:embed="rId9"/>
                      <a:srcRect/>
                      <a:stretch>
                        <a:fillRect/>
                      </a:stretch>
                    </p:blipFill>
                    <p:spPr bwMode="auto">
                      <a:xfrm>
                        <a:off x="1176875" y="3736789"/>
                        <a:ext cx="2241550"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8" name="Object 43">
            <a:extLst>
              <a:ext uri="{FF2B5EF4-FFF2-40B4-BE49-F238E27FC236}">
                <a16:creationId xmlns:a16="http://schemas.microsoft.com/office/drawing/2014/main" xmlns="" id="{A1B00FC8-30AA-932B-B240-51489320CC55}"/>
              </a:ext>
            </a:extLst>
          </p:cNvPr>
          <p:cNvGraphicFramePr>
            <a:graphicFrameLocks noChangeAspect="1"/>
          </p:cNvGraphicFramePr>
          <p:nvPr>
            <p:extLst>
              <p:ext uri="{D42A27DB-BD31-4B8C-83A1-F6EECF244321}">
                <p14:modId xmlns:p14="http://schemas.microsoft.com/office/powerpoint/2010/main" val="1154719823"/>
              </p:ext>
            </p:extLst>
          </p:nvPr>
        </p:nvGraphicFramePr>
        <p:xfrm>
          <a:off x="3802600" y="3736852"/>
          <a:ext cx="2238375" cy="482600"/>
        </p:xfrm>
        <a:graphic>
          <a:graphicData uri="http://schemas.openxmlformats.org/presentationml/2006/ole">
            <mc:AlternateContent xmlns:mc="http://schemas.openxmlformats.org/markup-compatibility/2006">
              <mc:Choice xmlns:v="urn:schemas-microsoft-com:vml" Requires="v">
                <p:oleObj spid="_x0000_s16393" name="Equation" r:id="rId10" imgW="1066680" imgH="228600" progId="Equation.DSMT4">
                  <p:embed/>
                </p:oleObj>
              </mc:Choice>
              <mc:Fallback>
                <p:oleObj name="Equation" r:id="rId10" imgW="1066680" imgH="228600" progId="Equation.DSMT4">
                  <p:embed/>
                  <p:pic>
                    <p:nvPicPr>
                      <p:cNvPr id="880683" name="Object 43">
                        <a:extLst>
                          <a:ext uri="{FF2B5EF4-FFF2-40B4-BE49-F238E27FC236}">
                            <a16:creationId xmlns:a16="http://schemas.microsoft.com/office/drawing/2014/main" xmlns="" id="{DAF35739-5118-4F67-7E13-6FEBDE91CA47}"/>
                          </a:ext>
                        </a:extLst>
                      </p:cNvPr>
                      <p:cNvPicPr>
                        <a:picLocks noChangeAspect="1" noChangeArrowheads="1"/>
                      </p:cNvPicPr>
                      <p:nvPr/>
                    </p:nvPicPr>
                    <p:blipFill>
                      <a:blip r:embed="rId11"/>
                      <a:srcRect/>
                      <a:stretch>
                        <a:fillRect/>
                      </a:stretch>
                    </p:blipFill>
                    <p:spPr bwMode="auto">
                      <a:xfrm>
                        <a:off x="3802600" y="3736852"/>
                        <a:ext cx="2238375"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9" name="Object 44">
            <a:extLst>
              <a:ext uri="{FF2B5EF4-FFF2-40B4-BE49-F238E27FC236}">
                <a16:creationId xmlns:a16="http://schemas.microsoft.com/office/drawing/2014/main" xmlns="" id="{8BCC97B6-DF01-FF61-FDB3-812F04E3999C}"/>
              </a:ext>
            </a:extLst>
          </p:cNvPr>
          <p:cNvGraphicFramePr>
            <a:graphicFrameLocks noChangeAspect="1"/>
          </p:cNvGraphicFramePr>
          <p:nvPr>
            <p:extLst>
              <p:ext uri="{D42A27DB-BD31-4B8C-83A1-F6EECF244321}">
                <p14:modId xmlns:p14="http://schemas.microsoft.com/office/powerpoint/2010/main" val="1791957783"/>
              </p:ext>
            </p:extLst>
          </p:nvPr>
        </p:nvGraphicFramePr>
        <p:xfrm>
          <a:off x="1176875" y="4234391"/>
          <a:ext cx="2028825" cy="484188"/>
        </p:xfrm>
        <a:graphic>
          <a:graphicData uri="http://schemas.openxmlformats.org/presentationml/2006/ole">
            <mc:AlternateContent xmlns:mc="http://schemas.openxmlformats.org/markup-compatibility/2006">
              <mc:Choice xmlns:v="urn:schemas-microsoft-com:vml" Requires="v">
                <p:oleObj spid="_x0000_s16394" name="Equation" r:id="rId12" imgW="965160" imgH="228600" progId="Equation.DSMT4">
                  <p:embed/>
                </p:oleObj>
              </mc:Choice>
              <mc:Fallback>
                <p:oleObj name="Equation" r:id="rId12" imgW="965160" imgH="228600" progId="Equation.DSMT4">
                  <p:embed/>
                  <p:pic>
                    <p:nvPicPr>
                      <p:cNvPr id="880684" name="Object 44">
                        <a:extLst>
                          <a:ext uri="{FF2B5EF4-FFF2-40B4-BE49-F238E27FC236}">
                            <a16:creationId xmlns:a16="http://schemas.microsoft.com/office/drawing/2014/main" xmlns="" id="{F7B80677-6904-933F-71C0-579425C9C348}"/>
                          </a:ext>
                        </a:extLst>
                      </p:cNvPr>
                      <p:cNvPicPr>
                        <a:picLocks noChangeAspect="1" noChangeArrowheads="1"/>
                      </p:cNvPicPr>
                      <p:nvPr/>
                    </p:nvPicPr>
                    <p:blipFill>
                      <a:blip r:embed="rId13"/>
                      <a:srcRect/>
                      <a:stretch>
                        <a:fillRect/>
                      </a:stretch>
                    </p:blipFill>
                    <p:spPr bwMode="auto">
                      <a:xfrm>
                        <a:off x="1176875" y="4234391"/>
                        <a:ext cx="2028825"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8" name="Object 87">
            <a:extLst>
              <a:ext uri="{FF2B5EF4-FFF2-40B4-BE49-F238E27FC236}">
                <a16:creationId xmlns:a16="http://schemas.microsoft.com/office/drawing/2014/main" xmlns="" id="{D878F51F-DC46-0E6B-83E0-1F2A84608647}"/>
              </a:ext>
            </a:extLst>
          </p:cNvPr>
          <p:cNvGraphicFramePr>
            <a:graphicFrameLocks noChangeAspect="1"/>
          </p:cNvGraphicFramePr>
          <p:nvPr>
            <p:extLst>
              <p:ext uri="{D42A27DB-BD31-4B8C-83A1-F6EECF244321}">
                <p14:modId xmlns:p14="http://schemas.microsoft.com/office/powerpoint/2010/main" val="1087136725"/>
              </p:ext>
            </p:extLst>
          </p:nvPr>
        </p:nvGraphicFramePr>
        <p:xfrm>
          <a:off x="3749598" y="4195498"/>
          <a:ext cx="2305050" cy="482600"/>
        </p:xfrm>
        <a:graphic>
          <a:graphicData uri="http://schemas.openxmlformats.org/presentationml/2006/ole">
            <mc:AlternateContent xmlns:mc="http://schemas.openxmlformats.org/markup-compatibility/2006">
              <mc:Choice xmlns:v="urn:schemas-microsoft-com:vml" Requires="v">
                <p:oleObj spid="_x0000_s16395" name="Equation" r:id="rId14" imgW="1091880" imgH="228600" progId="Equation.DSMT4">
                  <p:embed/>
                </p:oleObj>
              </mc:Choice>
              <mc:Fallback>
                <p:oleObj name="Equation" r:id="rId14" imgW="1091880" imgH="228600" progId="Equation.DSMT4">
                  <p:embed/>
                  <p:pic>
                    <p:nvPicPr>
                      <p:cNvPr id="880727" name="Object 87">
                        <a:extLst>
                          <a:ext uri="{FF2B5EF4-FFF2-40B4-BE49-F238E27FC236}">
                            <a16:creationId xmlns:a16="http://schemas.microsoft.com/office/drawing/2014/main" xmlns="" id="{60A2CA0E-EBFD-EE9C-D200-6856509782D6}"/>
                          </a:ext>
                        </a:extLst>
                      </p:cNvPr>
                      <p:cNvPicPr>
                        <a:picLocks noChangeAspect="1" noChangeArrowheads="1"/>
                      </p:cNvPicPr>
                      <p:nvPr/>
                    </p:nvPicPr>
                    <p:blipFill>
                      <a:blip r:embed="rId15"/>
                      <a:srcRect/>
                      <a:stretch>
                        <a:fillRect/>
                      </a:stretch>
                    </p:blipFill>
                    <p:spPr bwMode="auto">
                      <a:xfrm>
                        <a:off x="3749598" y="4195498"/>
                        <a:ext cx="230505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 name="Freeform 84" descr="浅色竖线">
            <a:extLst>
              <a:ext uri="{FF2B5EF4-FFF2-40B4-BE49-F238E27FC236}">
                <a16:creationId xmlns:a16="http://schemas.microsoft.com/office/drawing/2014/main" xmlns="" id="{91022D15-B806-BC4D-DC34-459C49FC2D85}"/>
              </a:ext>
            </a:extLst>
          </p:cNvPr>
          <p:cNvSpPr>
            <a:spLocks/>
          </p:cNvSpPr>
          <p:nvPr/>
        </p:nvSpPr>
        <p:spPr bwMode="auto">
          <a:xfrm>
            <a:off x="8382661" y="3790260"/>
            <a:ext cx="2786062" cy="1433513"/>
          </a:xfrm>
          <a:custGeom>
            <a:avLst/>
            <a:gdLst>
              <a:gd name="T0" fmla="*/ 2786062 w 1755"/>
              <a:gd name="T1" fmla="*/ 685800 h 903"/>
              <a:gd name="T2" fmla="*/ 2776537 w 1755"/>
              <a:gd name="T3" fmla="*/ 0 h 903"/>
              <a:gd name="T4" fmla="*/ 1819275 w 1755"/>
              <a:gd name="T5" fmla="*/ 0 h 903"/>
              <a:gd name="T6" fmla="*/ 1824037 w 1755"/>
              <a:gd name="T7" fmla="*/ 1433513 h 903"/>
              <a:gd name="T8" fmla="*/ 757237 w 1755"/>
              <a:gd name="T9" fmla="*/ 1433513 h 903"/>
              <a:gd name="T10" fmla="*/ 766762 w 1755"/>
              <a:gd name="T11" fmla="*/ 933450 h 903"/>
              <a:gd name="T12" fmla="*/ 0 w 1755"/>
              <a:gd name="T13" fmla="*/ 942975 h 903"/>
              <a:gd name="T14" fmla="*/ 9525 w 1755"/>
              <a:gd name="T15" fmla="*/ 695325 h 903"/>
              <a:gd name="T16" fmla="*/ 2786062 w 1755"/>
              <a:gd name="T17" fmla="*/ 685800 h 90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55"/>
              <a:gd name="T28" fmla="*/ 0 h 903"/>
              <a:gd name="T29" fmla="*/ 1755 w 1755"/>
              <a:gd name="T30" fmla="*/ 903 h 90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55" h="903">
                <a:moveTo>
                  <a:pt x="1755" y="432"/>
                </a:moveTo>
                <a:lnTo>
                  <a:pt x="1749" y="0"/>
                </a:lnTo>
                <a:lnTo>
                  <a:pt x="1146" y="0"/>
                </a:lnTo>
                <a:lnTo>
                  <a:pt x="1149" y="903"/>
                </a:lnTo>
                <a:lnTo>
                  <a:pt x="477" y="903"/>
                </a:lnTo>
                <a:lnTo>
                  <a:pt x="483" y="588"/>
                </a:lnTo>
                <a:lnTo>
                  <a:pt x="0" y="594"/>
                </a:lnTo>
                <a:lnTo>
                  <a:pt x="6" y="438"/>
                </a:lnTo>
                <a:lnTo>
                  <a:pt x="1755" y="432"/>
                </a:lnTo>
                <a:close/>
              </a:path>
            </a:pathLst>
          </a:custGeom>
          <a:pattFill prst="ltVert">
            <a:fgClr>
              <a:srgbClr val="000000"/>
            </a:fgClr>
            <a:bgClr>
              <a:srgbClr val="66FF99"/>
            </a:bgClr>
          </a:patt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0" name="Line 88">
            <a:extLst>
              <a:ext uri="{FF2B5EF4-FFF2-40B4-BE49-F238E27FC236}">
                <a16:creationId xmlns:a16="http://schemas.microsoft.com/office/drawing/2014/main" xmlns="" id="{B8034C5D-7228-9457-6A26-4FCA27B028B9}"/>
              </a:ext>
            </a:extLst>
          </p:cNvPr>
          <p:cNvSpPr>
            <a:spLocks noChangeShapeType="1"/>
          </p:cNvSpPr>
          <p:nvPr/>
        </p:nvSpPr>
        <p:spPr bwMode="auto">
          <a:xfrm>
            <a:off x="8390598" y="4487173"/>
            <a:ext cx="3178175" cy="0"/>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1" name="Line 89">
            <a:extLst>
              <a:ext uri="{FF2B5EF4-FFF2-40B4-BE49-F238E27FC236}">
                <a16:creationId xmlns:a16="http://schemas.microsoft.com/office/drawing/2014/main" xmlns="" id="{97DA10E9-2410-BD26-59BD-5083CF99492F}"/>
              </a:ext>
            </a:extLst>
          </p:cNvPr>
          <p:cNvSpPr>
            <a:spLocks noChangeShapeType="1"/>
          </p:cNvSpPr>
          <p:nvPr/>
        </p:nvSpPr>
        <p:spPr bwMode="auto">
          <a:xfrm flipV="1">
            <a:off x="8392186" y="3685485"/>
            <a:ext cx="0" cy="1662113"/>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2" name="Line 90">
            <a:extLst>
              <a:ext uri="{FF2B5EF4-FFF2-40B4-BE49-F238E27FC236}">
                <a16:creationId xmlns:a16="http://schemas.microsoft.com/office/drawing/2014/main" xmlns="" id="{1B579E22-3E78-CF30-485A-22CAF66B22EE}"/>
              </a:ext>
            </a:extLst>
          </p:cNvPr>
          <p:cNvSpPr>
            <a:spLocks noChangeAspect="1" noChangeShapeType="1"/>
          </p:cNvSpPr>
          <p:nvPr/>
        </p:nvSpPr>
        <p:spPr bwMode="auto">
          <a:xfrm flipV="1">
            <a:off x="8362023" y="4731648"/>
            <a:ext cx="787400" cy="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3" name="Text Box 92">
            <a:extLst>
              <a:ext uri="{FF2B5EF4-FFF2-40B4-BE49-F238E27FC236}">
                <a16:creationId xmlns:a16="http://schemas.microsoft.com/office/drawing/2014/main" xmlns="" id="{BEDAF9F9-57BC-8206-B8A8-AF5D13692F33}"/>
              </a:ext>
            </a:extLst>
          </p:cNvPr>
          <p:cNvSpPr txBox="1">
            <a:spLocks noChangeAspect="1" noChangeArrowheads="1"/>
          </p:cNvSpPr>
          <p:nvPr/>
        </p:nvSpPr>
        <p:spPr bwMode="auto">
          <a:xfrm>
            <a:off x="8339798" y="3664848"/>
            <a:ext cx="1474788"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n</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a:t>
            </a:r>
            <a:r>
              <a:rPr kumimoji="1" lang="en-US" altLang="zh-CN" sz="2400" b="0" i="0" u="none" strike="noStrike" kern="0" cap="none" spc="0" normalizeH="0" baseline="0" noProof="0" dirty="0" err="1">
                <a:ln>
                  <a:noFill/>
                </a:ln>
                <a:solidFill>
                  <a:srgbClr val="000000"/>
                </a:solidFill>
                <a:effectLst/>
                <a:uLnTx/>
                <a:uFillTx/>
                <a:latin typeface="Times New Roman" panose="02020603050405020304" pitchFamily="18" charset="0"/>
                <a:ea typeface="黑体" panose="02010609060101010101" pitchFamily="49" charset="-122"/>
              </a:rPr>
              <a:t>N</a:t>
            </a:r>
            <a:r>
              <a:rPr kumimoji="1" lang="en-US" altLang="zh-CN" sz="2400" b="0" i="0" u="none" strike="noStrike" kern="0" cap="none" spc="0" normalizeH="0" baseline="0" noProof="0" dirty="0" err="1">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i="0" u="none" strike="noStrike" kern="0" cap="none" spc="0" normalizeH="0" baseline="0" noProof="0" dirty="0" err="1">
                <a:ln>
                  <a:noFill/>
                </a:ln>
                <a:solidFill>
                  <a:srgbClr val="000000"/>
                </a:solidFill>
                <a:effectLst/>
                <a:uLnTx/>
                <a:uFillTx/>
                <a:latin typeface="Times New Roman" panose="02020603050405020304" pitchFamily="18" charset="0"/>
                <a:ea typeface="黑体" panose="02010609060101010101" pitchFamily="49" charset="-122"/>
              </a:rPr>
              <a:t>m</a:t>
            </a:r>
            <a:endPar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34" name="Text Box 93">
            <a:extLst>
              <a:ext uri="{FF2B5EF4-FFF2-40B4-BE49-F238E27FC236}">
                <a16:creationId xmlns:a16="http://schemas.microsoft.com/office/drawing/2014/main" xmlns="" id="{7AA628F2-5FBA-92C5-3985-529E6A97A119}"/>
              </a:ext>
            </a:extLst>
          </p:cNvPr>
          <p:cNvSpPr txBox="1">
            <a:spLocks noChangeAspect="1" noChangeArrowheads="1"/>
          </p:cNvSpPr>
          <p:nvPr/>
        </p:nvSpPr>
        <p:spPr bwMode="auto">
          <a:xfrm>
            <a:off x="9392311" y="5152335"/>
            <a:ext cx="1001712"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477.5</a:t>
            </a:r>
          </a:p>
        </p:txBody>
      </p:sp>
      <p:sp>
        <p:nvSpPr>
          <p:cNvPr id="135" name="Text Box 94">
            <a:extLst>
              <a:ext uri="{FF2B5EF4-FFF2-40B4-BE49-F238E27FC236}">
                <a16:creationId xmlns:a16="http://schemas.microsoft.com/office/drawing/2014/main" xmlns="" id="{413C2F30-BD8D-4D36-E65A-3C90FE593516}"/>
              </a:ext>
            </a:extLst>
          </p:cNvPr>
          <p:cNvSpPr txBox="1">
            <a:spLocks noChangeAspect="1" noChangeArrowheads="1"/>
          </p:cNvSpPr>
          <p:nvPr/>
        </p:nvSpPr>
        <p:spPr bwMode="auto">
          <a:xfrm>
            <a:off x="8276298" y="4639573"/>
            <a:ext cx="93027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159.2</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7" name="Oval 95">
            <a:extLst>
              <a:ext uri="{FF2B5EF4-FFF2-40B4-BE49-F238E27FC236}">
                <a16:creationId xmlns:a16="http://schemas.microsoft.com/office/drawing/2014/main" xmlns="" id="{1C1D039E-D8AC-8343-2BEF-8BF34C738B3F}"/>
              </a:ext>
            </a:extLst>
          </p:cNvPr>
          <p:cNvSpPr>
            <a:spLocks noChangeArrowheads="1"/>
          </p:cNvSpPr>
          <p:nvPr/>
        </p:nvSpPr>
        <p:spPr bwMode="auto">
          <a:xfrm>
            <a:off x="8352498" y="4684023"/>
            <a:ext cx="74613" cy="74612"/>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38" name="Line 97">
            <a:extLst>
              <a:ext uri="{FF2B5EF4-FFF2-40B4-BE49-F238E27FC236}">
                <a16:creationId xmlns:a16="http://schemas.microsoft.com/office/drawing/2014/main" xmlns="" id="{E060CEBC-348F-6B14-A61F-DC8C4DD3A44F}"/>
              </a:ext>
            </a:extLst>
          </p:cNvPr>
          <p:cNvSpPr>
            <a:spLocks noChangeAspect="1" noChangeShapeType="1"/>
          </p:cNvSpPr>
          <p:nvPr/>
        </p:nvSpPr>
        <p:spPr bwMode="auto">
          <a:xfrm flipV="1">
            <a:off x="9141486" y="5225360"/>
            <a:ext cx="1062037" cy="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9" name="Line 98">
            <a:extLst>
              <a:ext uri="{FF2B5EF4-FFF2-40B4-BE49-F238E27FC236}">
                <a16:creationId xmlns:a16="http://schemas.microsoft.com/office/drawing/2014/main" xmlns="" id="{7B75DD26-0E42-F929-23B0-52886E23EC3F}"/>
              </a:ext>
            </a:extLst>
          </p:cNvPr>
          <p:cNvSpPr>
            <a:spLocks noChangeAspect="1" noChangeShapeType="1"/>
          </p:cNvSpPr>
          <p:nvPr/>
        </p:nvSpPr>
        <p:spPr bwMode="auto">
          <a:xfrm flipH="1">
            <a:off x="9149423" y="4728473"/>
            <a:ext cx="0" cy="50165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0" name="Text Box 99">
            <a:extLst>
              <a:ext uri="{FF2B5EF4-FFF2-40B4-BE49-F238E27FC236}">
                <a16:creationId xmlns:a16="http://schemas.microsoft.com/office/drawing/2014/main" xmlns="" id="{9330AD69-466C-31A5-329B-6C86D4A7DC82}"/>
              </a:ext>
            </a:extLst>
          </p:cNvPr>
          <p:cNvSpPr txBox="1">
            <a:spLocks noChangeAspect="1" noChangeArrowheads="1"/>
          </p:cNvSpPr>
          <p:nvPr/>
        </p:nvSpPr>
        <p:spPr bwMode="auto">
          <a:xfrm>
            <a:off x="11233811" y="4376048"/>
            <a:ext cx="398462"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x</a:t>
            </a:r>
            <a:endPar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141" name="Text Box 100">
            <a:extLst>
              <a:ext uri="{FF2B5EF4-FFF2-40B4-BE49-F238E27FC236}">
                <a16:creationId xmlns:a16="http://schemas.microsoft.com/office/drawing/2014/main" xmlns="" id="{F2BFF654-9006-8657-2619-CDC6962277EC}"/>
              </a:ext>
            </a:extLst>
          </p:cNvPr>
          <p:cNvSpPr txBox="1">
            <a:spLocks noChangeAspect="1" noChangeArrowheads="1"/>
          </p:cNvSpPr>
          <p:nvPr/>
        </p:nvSpPr>
        <p:spPr bwMode="auto">
          <a:xfrm>
            <a:off x="8068336" y="4229998"/>
            <a:ext cx="398462"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42" name="Line 102">
            <a:extLst>
              <a:ext uri="{FF2B5EF4-FFF2-40B4-BE49-F238E27FC236}">
                <a16:creationId xmlns:a16="http://schemas.microsoft.com/office/drawing/2014/main" xmlns="" id="{63CB28E7-C758-720D-462D-995F12F7A7AE}"/>
              </a:ext>
            </a:extLst>
          </p:cNvPr>
          <p:cNvSpPr>
            <a:spLocks noChangeAspect="1" noChangeShapeType="1"/>
          </p:cNvSpPr>
          <p:nvPr/>
        </p:nvSpPr>
        <p:spPr bwMode="auto">
          <a:xfrm flipH="1">
            <a:off x="10198761" y="3782323"/>
            <a:ext cx="0" cy="1436687"/>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3" name="Line 103">
            <a:extLst>
              <a:ext uri="{FF2B5EF4-FFF2-40B4-BE49-F238E27FC236}">
                <a16:creationId xmlns:a16="http://schemas.microsoft.com/office/drawing/2014/main" xmlns="" id="{C2BA2A4C-EB28-283A-FD41-649A0CD91A0E}"/>
              </a:ext>
            </a:extLst>
          </p:cNvPr>
          <p:cNvSpPr>
            <a:spLocks noChangeAspect="1" noChangeShapeType="1"/>
          </p:cNvSpPr>
          <p:nvPr/>
        </p:nvSpPr>
        <p:spPr bwMode="auto">
          <a:xfrm flipH="1">
            <a:off x="11167136" y="3782323"/>
            <a:ext cx="0" cy="709612"/>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4" name="Line 104">
            <a:extLst>
              <a:ext uri="{FF2B5EF4-FFF2-40B4-BE49-F238E27FC236}">
                <a16:creationId xmlns:a16="http://schemas.microsoft.com/office/drawing/2014/main" xmlns="" id="{121E76A0-3956-1D2F-3967-3E61700555B7}"/>
              </a:ext>
            </a:extLst>
          </p:cNvPr>
          <p:cNvSpPr>
            <a:spLocks noChangeAspect="1" noChangeShapeType="1"/>
          </p:cNvSpPr>
          <p:nvPr/>
        </p:nvSpPr>
        <p:spPr bwMode="auto">
          <a:xfrm flipV="1">
            <a:off x="10203523" y="3787085"/>
            <a:ext cx="965200" cy="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5" name="Oval 106">
            <a:extLst>
              <a:ext uri="{FF2B5EF4-FFF2-40B4-BE49-F238E27FC236}">
                <a16:creationId xmlns:a16="http://schemas.microsoft.com/office/drawing/2014/main" xmlns="" id="{727F55B2-3398-7240-A505-70886A843981}"/>
              </a:ext>
            </a:extLst>
          </p:cNvPr>
          <p:cNvSpPr>
            <a:spLocks noChangeArrowheads="1"/>
          </p:cNvSpPr>
          <p:nvPr/>
        </p:nvSpPr>
        <p:spPr bwMode="auto">
          <a:xfrm>
            <a:off x="10173361" y="3756923"/>
            <a:ext cx="74612" cy="74612"/>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6" name="Oval 96">
            <a:extLst>
              <a:ext uri="{FF2B5EF4-FFF2-40B4-BE49-F238E27FC236}">
                <a16:creationId xmlns:a16="http://schemas.microsoft.com/office/drawing/2014/main" xmlns="" id="{246D95E7-E4C6-7F65-B69C-38B2C49CC1AA}"/>
              </a:ext>
            </a:extLst>
          </p:cNvPr>
          <p:cNvSpPr>
            <a:spLocks noChangeArrowheads="1"/>
          </p:cNvSpPr>
          <p:nvPr/>
        </p:nvSpPr>
        <p:spPr bwMode="auto">
          <a:xfrm>
            <a:off x="9119261" y="5180910"/>
            <a:ext cx="74612" cy="74613"/>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7" name="Text Box 107">
            <a:extLst>
              <a:ext uri="{FF2B5EF4-FFF2-40B4-BE49-F238E27FC236}">
                <a16:creationId xmlns:a16="http://schemas.microsoft.com/office/drawing/2014/main" xmlns="" id="{44631099-7C59-C427-1C6E-91717AED311E}"/>
              </a:ext>
            </a:extLst>
          </p:cNvPr>
          <p:cNvSpPr txBox="1">
            <a:spLocks noChangeAspect="1" noChangeArrowheads="1"/>
          </p:cNvSpPr>
          <p:nvPr/>
        </p:nvSpPr>
        <p:spPr bwMode="auto">
          <a:xfrm>
            <a:off x="10174948" y="3353698"/>
            <a:ext cx="1001713"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477.5</a:t>
            </a:r>
          </a:p>
        </p:txBody>
      </p:sp>
      <p:grpSp>
        <p:nvGrpSpPr>
          <p:cNvPr id="148" name="Group 108">
            <a:extLst>
              <a:ext uri="{FF2B5EF4-FFF2-40B4-BE49-F238E27FC236}">
                <a16:creationId xmlns:a16="http://schemas.microsoft.com/office/drawing/2014/main" xmlns="" id="{D74DA50F-5D9F-4A9E-2854-9C30A57BF47E}"/>
              </a:ext>
            </a:extLst>
          </p:cNvPr>
          <p:cNvGrpSpPr>
            <a:grpSpLocks/>
          </p:cNvGrpSpPr>
          <p:nvPr/>
        </p:nvGrpSpPr>
        <p:grpSpPr bwMode="auto">
          <a:xfrm>
            <a:off x="9301823" y="4528448"/>
            <a:ext cx="563563" cy="476250"/>
            <a:chOff x="4383" y="1620"/>
            <a:chExt cx="233" cy="183"/>
          </a:xfrm>
        </p:grpSpPr>
        <p:sp>
          <p:nvSpPr>
            <p:cNvPr id="149" name="Oval 109">
              <a:extLst>
                <a:ext uri="{FF2B5EF4-FFF2-40B4-BE49-F238E27FC236}">
                  <a16:creationId xmlns:a16="http://schemas.microsoft.com/office/drawing/2014/main" xmlns="" id="{AB05F308-61AF-31F1-9228-4E73E4B4D6E4}"/>
                </a:ext>
              </a:extLst>
            </p:cNvPr>
            <p:cNvSpPr>
              <a:spLocks noChangeAspect="1" noChangeArrowheads="1"/>
            </p:cNvSpPr>
            <p:nvPr/>
          </p:nvSpPr>
          <p:spPr bwMode="auto">
            <a:xfrm>
              <a:off x="4429" y="1695"/>
              <a:ext cx="100" cy="92"/>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0" name="Text Box 110">
              <a:extLst>
                <a:ext uri="{FF2B5EF4-FFF2-40B4-BE49-F238E27FC236}">
                  <a16:creationId xmlns:a16="http://schemas.microsoft.com/office/drawing/2014/main" xmlns="" id="{2090FD37-D9E6-663C-E628-510498A4A8BB}"/>
                </a:ext>
              </a:extLst>
            </p:cNvPr>
            <p:cNvSpPr txBox="1">
              <a:spLocks noChangeAspect="1" noChangeArrowheads="1"/>
            </p:cNvSpPr>
            <p:nvPr/>
          </p:nvSpPr>
          <p:spPr bwMode="auto">
            <a:xfrm>
              <a:off x="4383" y="1620"/>
              <a:ext cx="23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20000"/>
                </a:lnSpc>
                <a:spcBef>
                  <a:spcPts val="0"/>
                </a:spcBef>
                <a:spcAft>
                  <a:spcPts val="0"/>
                </a:spcAft>
                <a:buClrTx/>
                <a:buSzTx/>
                <a:buFontTx/>
                <a:buNone/>
                <a:tabLst/>
                <a:defRPr/>
              </a:pPr>
              <a:r>
                <a:rPr kumimoji="1" lang="en-US" altLang="zh-CN" sz="1000" b="0"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 </a:t>
              </a:r>
              <a:r>
                <a:rPr kumimoji="1" lang="en-US" altLang="zh-CN" sz="2400" b="0"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a:t>
              </a:r>
            </a:p>
          </p:txBody>
        </p:sp>
      </p:grpSp>
      <p:grpSp>
        <p:nvGrpSpPr>
          <p:cNvPr id="151" name="Group 111">
            <a:extLst>
              <a:ext uri="{FF2B5EF4-FFF2-40B4-BE49-F238E27FC236}">
                <a16:creationId xmlns:a16="http://schemas.microsoft.com/office/drawing/2014/main" xmlns="" id="{2B0560CC-1215-3A22-9078-888BD8031399}"/>
              </a:ext>
            </a:extLst>
          </p:cNvPr>
          <p:cNvGrpSpPr>
            <a:grpSpLocks/>
          </p:cNvGrpSpPr>
          <p:nvPr/>
        </p:nvGrpSpPr>
        <p:grpSpPr bwMode="auto">
          <a:xfrm>
            <a:off x="10432123" y="3804548"/>
            <a:ext cx="576263" cy="476250"/>
            <a:chOff x="4383" y="1620"/>
            <a:chExt cx="233" cy="183"/>
          </a:xfrm>
        </p:grpSpPr>
        <p:sp>
          <p:nvSpPr>
            <p:cNvPr id="152" name="Oval 112">
              <a:extLst>
                <a:ext uri="{FF2B5EF4-FFF2-40B4-BE49-F238E27FC236}">
                  <a16:creationId xmlns:a16="http://schemas.microsoft.com/office/drawing/2014/main" xmlns="" id="{ED25C58F-0DBE-EA53-F41D-8A565FA0CD81}"/>
                </a:ext>
              </a:extLst>
            </p:cNvPr>
            <p:cNvSpPr>
              <a:spLocks noChangeAspect="1" noChangeArrowheads="1"/>
            </p:cNvSpPr>
            <p:nvPr/>
          </p:nvSpPr>
          <p:spPr bwMode="auto">
            <a:xfrm>
              <a:off x="4429" y="1695"/>
              <a:ext cx="100" cy="92"/>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3" name="Text Box 113">
              <a:extLst>
                <a:ext uri="{FF2B5EF4-FFF2-40B4-BE49-F238E27FC236}">
                  <a16:creationId xmlns:a16="http://schemas.microsoft.com/office/drawing/2014/main" xmlns="" id="{AA00CF01-6E2F-83A6-6F2F-5CDD2297899C}"/>
                </a:ext>
              </a:extLst>
            </p:cNvPr>
            <p:cNvSpPr txBox="1">
              <a:spLocks noChangeAspect="1" noChangeArrowheads="1"/>
            </p:cNvSpPr>
            <p:nvPr/>
          </p:nvSpPr>
          <p:spPr bwMode="auto">
            <a:xfrm>
              <a:off x="4383" y="1620"/>
              <a:ext cx="23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20000"/>
                </a:lnSpc>
                <a:spcBef>
                  <a:spcPts val="0"/>
                </a:spcBef>
                <a:spcAft>
                  <a:spcPts val="0"/>
                </a:spcAft>
                <a:buClrTx/>
                <a:buSzTx/>
                <a:buFontTx/>
                <a:buNone/>
                <a:tabLst/>
                <a:defRPr/>
              </a:pPr>
              <a:r>
                <a:rPr kumimoji="1" lang="en-US" altLang="zh-CN" sz="1000" b="0"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 </a:t>
              </a:r>
              <a:r>
                <a:rPr kumimoji="1" lang="en-US" altLang="zh-CN" sz="2400" b="0"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a:t>
              </a:r>
            </a:p>
          </p:txBody>
        </p:sp>
      </p:grpSp>
      <p:sp>
        <p:nvSpPr>
          <p:cNvPr id="154" name="矩形 153">
            <a:extLst>
              <a:ext uri="{FF2B5EF4-FFF2-40B4-BE49-F238E27FC236}">
                <a16:creationId xmlns:a16="http://schemas.microsoft.com/office/drawing/2014/main" xmlns="" id="{75D647BD-8A6C-8BEC-1CD4-DFB22F851186}"/>
              </a:ext>
            </a:extLst>
          </p:cNvPr>
          <p:cNvSpPr/>
          <p:nvPr/>
        </p:nvSpPr>
        <p:spPr>
          <a:xfrm>
            <a:off x="211184" y="4580352"/>
            <a:ext cx="8479452" cy="1739643"/>
          </a:xfrm>
          <a:prstGeom prst="rect">
            <a:avLst/>
          </a:prstGeom>
        </p:spPr>
        <p:txBody>
          <a:bodyPr wrap="square">
            <a:spAutoFit/>
          </a:bodyPr>
          <a:lstStyle/>
          <a:p>
            <a:pPr lvl="0">
              <a:lnSpc>
                <a:spcPct val="110000"/>
              </a:lnSpc>
            </a:pPr>
            <a:r>
              <a:rPr lang="zh-CN" altLang="en-US" i="0" dirty="0">
                <a:solidFill>
                  <a:srgbClr val="0033CC"/>
                </a:solidFill>
                <a:ea typeface="黑体" panose="02010609060101010101" pitchFamily="49" charset="-122"/>
              </a:rPr>
              <a:t>      </a:t>
            </a:r>
            <a:r>
              <a:rPr lang="en-US" altLang="zh-CN" i="0" dirty="0">
                <a:solidFill>
                  <a:schemeClr val="tx1"/>
                </a:solidFill>
                <a:ea typeface="黑体" panose="02010609060101010101" pitchFamily="49" charset="-122"/>
              </a:rPr>
              <a:t>2</a:t>
            </a:r>
            <a:r>
              <a:rPr kumimoji="1" lang="zh-CN" altLang="en-US" i="0" dirty="0">
                <a:solidFill>
                  <a:schemeClr val="tx1"/>
                </a:solidFill>
                <a:ea typeface="黑体" panose="02010609060101010101" pitchFamily="49" charset="-122"/>
              </a:rPr>
              <a:t>）画扭矩图。计算各段扭矩</a:t>
            </a:r>
            <a:endParaRPr kumimoji="1" lang="en-US" altLang="zh-CN" i="0" dirty="0">
              <a:solidFill>
                <a:schemeClr val="tx1"/>
              </a:solidFill>
              <a:ea typeface="黑体" panose="02010609060101010101" pitchFamily="49" charset="-122"/>
            </a:endParaRPr>
          </a:p>
          <a:p>
            <a:pPr lvl="0">
              <a:lnSpc>
                <a:spcPct val="110000"/>
              </a:lnSpc>
            </a:pPr>
            <a:r>
              <a:rPr kumimoji="1" lang="en-US" altLang="zh-CN"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AB</a:t>
            </a:r>
            <a:r>
              <a:rPr kumimoji="1" lang="zh-CN" altLang="en-US" i="0" dirty="0">
                <a:solidFill>
                  <a:schemeClr val="tx1"/>
                </a:solidFill>
                <a:ea typeface="黑体" panose="02010609060101010101" pitchFamily="49" charset="-122"/>
              </a:rPr>
              <a:t>段：</a:t>
            </a:r>
            <a:r>
              <a:rPr kumimoji="1" lang="en-US" altLang="zh-CN" b="0" dirty="0">
                <a:solidFill>
                  <a:schemeClr val="tx1"/>
                </a:solidFill>
                <a:ea typeface="黑体" panose="02010609060101010101" pitchFamily="49" charset="-122"/>
              </a:rPr>
              <a:t>M</a:t>
            </a:r>
            <a:r>
              <a:rPr kumimoji="1" lang="en-US" altLang="zh-CN" b="0" i="0" baseline="-25000" dirty="0">
                <a:solidFill>
                  <a:schemeClr val="tx1"/>
                </a:solidFill>
                <a:ea typeface="黑体" panose="02010609060101010101" pitchFamily="49" charset="-122"/>
              </a:rPr>
              <a:t>n1</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159.2N·m </a:t>
            </a:r>
            <a:r>
              <a:rPr kumimoji="1" lang="en-US" altLang="zh-CN"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BC</a:t>
            </a:r>
            <a:r>
              <a:rPr kumimoji="1" lang="zh-CN" altLang="en-US" i="0" dirty="0">
                <a:solidFill>
                  <a:schemeClr val="tx1"/>
                </a:solidFill>
                <a:ea typeface="黑体" panose="02010609060101010101" pitchFamily="49" charset="-122"/>
              </a:rPr>
              <a:t>段：</a:t>
            </a:r>
            <a:r>
              <a:rPr kumimoji="1" lang="en-US" altLang="zh-CN" b="0" dirty="0">
                <a:solidFill>
                  <a:schemeClr val="tx1"/>
                </a:solidFill>
                <a:ea typeface="黑体" panose="02010609060101010101" pitchFamily="49" charset="-122"/>
              </a:rPr>
              <a:t>M</a:t>
            </a:r>
            <a:r>
              <a:rPr kumimoji="1" lang="en-US" altLang="zh-CN" b="0" i="0" baseline="-25000" dirty="0">
                <a:solidFill>
                  <a:schemeClr val="tx1"/>
                </a:solidFill>
                <a:ea typeface="黑体" panose="02010609060101010101" pitchFamily="49" charset="-122"/>
              </a:rPr>
              <a:t>n2</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 477.5N·m</a:t>
            </a:r>
          </a:p>
          <a:p>
            <a:pPr lvl="0">
              <a:lnSpc>
                <a:spcPct val="110000"/>
              </a:lnSpc>
            </a:pPr>
            <a:r>
              <a:rPr kumimoji="1" lang="en-US" altLang="zh-CN" i="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CD</a:t>
            </a:r>
            <a:r>
              <a:rPr kumimoji="1" lang="zh-CN" altLang="en-US" i="0" dirty="0">
                <a:solidFill>
                  <a:schemeClr val="tx1"/>
                </a:solidFill>
                <a:ea typeface="黑体" panose="02010609060101010101" pitchFamily="49" charset="-122"/>
              </a:rPr>
              <a:t>段：</a:t>
            </a:r>
            <a:r>
              <a:rPr kumimoji="1" lang="en-US" altLang="zh-CN" b="0" dirty="0">
                <a:solidFill>
                  <a:schemeClr val="tx1"/>
                </a:solidFill>
                <a:ea typeface="黑体" panose="02010609060101010101" pitchFamily="49" charset="-122"/>
              </a:rPr>
              <a:t>M</a:t>
            </a:r>
            <a:r>
              <a:rPr kumimoji="1" lang="en-US" altLang="zh-CN" b="0" i="0" baseline="-25000" dirty="0">
                <a:solidFill>
                  <a:schemeClr val="tx1"/>
                </a:solidFill>
                <a:ea typeface="黑体" panose="02010609060101010101" pitchFamily="49" charset="-122"/>
              </a:rPr>
              <a:t>n3</a:t>
            </a:r>
            <a:r>
              <a:rPr kumimoji="1" lang="en-US" altLang="zh-CN" b="0" i="0" dirty="0">
                <a:solidFill>
                  <a:schemeClr val="tx1"/>
                </a:solidFill>
                <a:ea typeface="黑体" panose="02010609060101010101" pitchFamily="49" charset="-122"/>
              </a:rPr>
              <a:t>=477.5N·m</a:t>
            </a:r>
          </a:p>
          <a:p>
            <a:pPr>
              <a:lnSpc>
                <a:spcPct val="130000"/>
              </a:lnSpc>
            </a:pPr>
            <a:r>
              <a:rPr kumimoji="1" lang="en-US" altLang="zh-CN" b="0" dirty="0">
                <a:solidFill>
                  <a:schemeClr val="tx1"/>
                </a:solidFill>
                <a:ea typeface="黑体" panose="02010609060101010101" pitchFamily="49" charset="-122"/>
              </a:rPr>
              <a:t>            BC</a:t>
            </a:r>
            <a:r>
              <a:rPr kumimoji="1" lang="zh-CN" altLang="en-US" i="0" dirty="0">
                <a:solidFill>
                  <a:schemeClr val="tx1"/>
                </a:solidFill>
                <a:ea typeface="黑体" panose="02010609060101010101" pitchFamily="49" charset="-122"/>
              </a:rPr>
              <a:t>段和</a:t>
            </a:r>
            <a:r>
              <a:rPr kumimoji="1" lang="en-US" altLang="zh-CN" b="0" dirty="0">
                <a:solidFill>
                  <a:schemeClr val="tx1"/>
                </a:solidFill>
                <a:ea typeface="黑体" panose="02010609060101010101" pitchFamily="49" charset="-122"/>
              </a:rPr>
              <a:t>CD</a:t>
            </a:r>
            <a:r>
              <a:rPr kumimoji="1" lang="zh-CN" altLang="en-US" i="0" dirty="0">
                <a:solidFill>
                  <a:schemeClr val="tx1"/>
                </a:solidFill>
                <a:ea typeface="黑体" panose="02010609060101010101" pitchFamily="49" charset="-122"/>
              </a:rPr>
              <a:t>段扭矩最大     </a:t>
            </a:r>
            <a:r>
              <a:rPr kumimoji="1" lang="en-US" altLang="zh-CN" b="0" dirty="0" err="1">
                <a:solidFill>
                  <a:schemeClr val="tx1"/>
                </a:solidFill>
                <a:ea typeface="黑体" panose="02010609060101010101" pitchFamily="49" charset="-122"/>
              </a:rPr>
              <a:t>M</a:t>
            </a:r>
            <a:r>
              <a:rPr kumimoji="1" lang="en-US" altLang="zh-CN" b="0" i="0" baseline="-25000" dirty="0" err="1">
                <a:solidFill>
                  <a:schemeClr val="tx1"/>
                </a:solidFill>
                <a:ea typeface="黑体" panose="02010609060101010101" pitchFamily="49" charset="-122"/>
              </a:rPr>
              <a:t>nmax</a:t>
            </a:r>
            <a:r>
              <a:rPr kumimoji="1" lang="en-US" altLang="zh-CN" b="0" i="0" dirty="0">
                <a:solidFill>
                  <a:schemeClr val="tx1"/>
                </a:solidFill>
                <a:ea typeface="黑体" panose="02010609060101010101" pitchFamily="49" charset="-122"/>
              </a:rPr>
              <a:t>= 477.5N·m</a:t>
            </a:r>
            <a:endParaRPr kumimoji="1" lang="en-US" altLang="zh-CN" i="0" dirty="0">
              <a:solidFill>
                <a:schemeClr val="tx1"/>
              </a:solidFill>
              <a:ea typeface="黑体" panose="02010609060101010101" pitchFamily="49" charset="-122"/>
            </a:endParaRPr>
          </a:p>
        </p:txBody>
      </p:sp>
    </p:spTree>
    <p:extLst>
      <p:ext uri="{BB962C8B-B14F-4D97-AF65-F5344CB8AC3E}">
        <p14:creationId xmlns:p14="http://schemas.microsoft.com/office/powerpoint/2010/main" val="100646911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Horizontal)">
                                      <p:cBhvr>
                                        <p:cTn id="7" dur="3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36"/>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1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17"/>
                                        </p:tgtEl>
                                        <p:attrNameLst>
                                          <p:attrName>style.visibility</p:attrName>
                                        </p:attrNameLst>
                                      </p:cBhvr>
                                      <p:to>
                                        <p:strVal val="visible"/>
                                      </p:to>
                                    </p:set>
                                    <p:animEffect transition="in" filter="wipe(left)">
                                      <p:cBhvr>
                                        <p:cTn id="18" dur="5000"/>
                                        <p:tgtEl>
                                          <p:spTgt spid="31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18"/>
                                        </p:tgtEl>
                                        <p:attrNameLst>
                                          <p:attrName>style.visibility</p:attrName>
                                        </p:attrNameLst>
                                      </p:cBhvr>
                                      <p:to>
                                        <p:strVal val="visible"/>
                                      </p:to>
                                    </p:set>
                                    <p:animEffect transition="in" filter="wipe(left)">
                                      <p:cBhvr>
                                        <p:cTn id="23" dur="5000"/>
                                        <p:tgtEl>
                                          <p:spTgt spid="31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319"/>
                                        </p:tgtEl>
                                        <p:attrNameLst>
                                          <p:attrName>style.visibility</p:attrName>
                                        </p:attrNameLst>
                                      </p:cBhvr>
                                      <p:to>
                                        <p:strVal val="visible"/>
                                      </p:to>
                                    </p:set>
                                    <p:animEffect transition="in" filter="wipe(left)">
                                      <p:cBhvr>
                                        <p:cTn id="28" dur="5000"/>
                                        <p:tgtEl>
                                          <p:spTgt spid="31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28"/>
                                        </p:tgtEl>
                                        <p:attrNameLst>
                                          <p:attrName>style.visibility</p:attrName>
                                        </p:attrNameLst>
                                      </p:cBhvr>
                                      <p:to>
                                        <p:strVal val="visible"/>
                                      </p:to>
                                    </p:set>
                                    <p:animEffect transition="in" filter="wipe(left)">
                                      <p:cBhvr>
                                        <p:cTn id="33" dur="5000"/>
                                        <p:tgtEl>
                                          <p:spTgt spid="128"/>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54"/>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5" presetClass="entr" presetSubtype="0" fill="hold" grpId="0" nodeType="clickEffect">
                                  <p:stCondLst>
                                    <p:cond delay="0"/>
                                  </p:stCondLst>
                                  <p:childTnLst>
                                    <p:set>
                                      <p:cBhvr>
                                        <p:cTn id="41" dur="1" fill="hold">
                                          <p:stCondLst>
                                            <p:cond delay="0"/>
                                          </p:stCondLst>
                                        </p:cTn>
                                        <p:tgtEl>
                                          <p:spTgt spid="137"/>
                                        </p:tgtEl>
                                        <p:attrNameLst>
                                          <p:attrName>style.visibility</p:attrName>
                                        </p:attrNameLst>
                                      </p:cBhvr>
                                      <p:to>
                                        <p:strVal val="visible"/>
                                      </p:to>
                                    </p:set>
                                    <p:anim calcmode="lin" valueType="num">
                                      <p:cBhvr>
                                        <p:cTn id="42" dur="3000" fill="hold"/>
                                        <p:tgtEl>
                                          <p:spTgt spid="137"/>
                                        </p:tgtEl>
                                        <p:attrNameLst>
                                          <p:attrName>ppt_w</p:attrName>
                                        </p:attrNameLst>
                                      </p:cBhvr>
                                      <p:tavLst>
                                        <p:tav tm="0">
                                          <p:val>
                                            <p:fltVal val="0"/>
                                          </p:val>
                                        </p:tav>
                                        <p:tav tm="100000">
                                          <p:val>
                                            <p:strVal val="#ppt_w"/>
                                          </p:val>
                                        </p:tav>
                                      </p:tavLst>
                                    </p:anim>
                                    <p:anim calcmode="lin" valueType="num">
                                      <p:cBhvr>
                                        <p:cTn id="43" dur="3000" fill="hold"/>
                                        <p:tgtEl>
                                          <p:spTgt spid="137"/>
                                        </p:tgtEl>
                                        <p:attrNameLst>
                                          <p:attrName>ppt_h</p:attrName>
                                        </p:attrNameLst>
                                      </p:cBhvr>
                                      <p:tavLst>
                                        <p:tav tm="0">
                                          <p:val>
                                            <p:fltVal val="0"/>
                                          </p:val>
                                        </p:tav>
                                        <p:tav tm="100000">
                                          <p:val>
                                            <p:strVal val="#ppt_h"/>
                                          </p:val>
                                        </p:tav>
                                      </p:tavLst>
                                    </p:anim>
                                    <p:anim calcmode="lin" valueType="num">
                                      <p:cBhvr>
                                        <p:cTn id="44" dur="3000" fill="hold"/>
                                        <p:tgtEl>
                                          <p:spTgt spid="137"/>
                                        </p:tgtEl>
                                        <p:attrNameLst>
                                          <p:attrName>ppt_x</p:attrName>
                                        </p:attrNameLst>
                                      </p:cBhvr>
                                      <p:tavLst>
                                        <p:tav tm="0" fmla="#ppt_x+(cos(-2*pi*(1-$))*-#ppt_x-sin(-2*pi*(1-$))*(1-#ppt_y))*(1-$)">
                                          <p:val>
                                            <p:fltVal val="0"/>
                                          </p:val>
                                        </p:tav>
                                        <p:tav tm="100000">
                                          <p:val>
                                            <p:fltVal val="1"/>
                                          </p:val>
                                        </p:tav>
                                      </p:tavLst>
                                    </p:anim>
                                    <p:anim calcmode="lin" valueType="num">
                                      <p:cBhvr>
                                        <p:cTn id="45" dur="3000" fill="hold"/>
                                        <p:tgtEl>
                                          <p:spTgt spid="137"/>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40"/>
                                            </p:cond>
                                          </p:stCondLst>
                                          <p:endCondLst>
                                            <p:cond evt="onStopAudio" delay="0">
                                              <p:tgtEl>
                                                <p:sldTgt/>
                                              </p:tgtEl>
                                            </p:cond>
                                          </p:endCondLst>
                                        </p:cTn>
                                        <p:tgtEl>
                                          <p:sndTgt r:embed="rId4" name="CHIMES.WAV"/>
                                        </p:tgtEl>
                                      </p:cMediaNode>
                                    </p:audio>
                                  </p:subTnLst>
                                </p:cTn>
                              </p:par>
                              <p:par>
                                <p:cTn id="46" presetID="19" presetClass="entr" presetSubtype="10" fill="hold" grpId="0" nodeType="withEffect">
                                  <p:stCondLst>
                                    <p:cond delay="0"/>
                                  </p:stCondLst>
                                  <p:childTnLst>
                                    <p:set>
                                      <p:cBhvr>
                                        <p:cTn id="47" dur="1" fill="hold">
                                          <p:stCondLst>
                                            <p:cond delay="0"/>
                                          </p:stCondLst>
                                        </p:cTn>
                                        <p:tgtEl>
                                          <p:spTgt spid="133"/>
                                        </p:tgtEl>
                                        <p:attrNameLst>
                                          <p:attrName>style.visibility</p:attrName>
                                        </p:attrNameLst>
                                      </p:cBhvr>
                                      <p:to>
                                        <p:strVal val="visible"/>
                                      </p:to>
                                    </p:set>
                                    <p:anim calcmode="lin" valueType="num">
                                      <p:cBhvr>
                                        <p:cTn id="48" dur="5000" fill="hold"/>
                                        <p:tgtEl>
                                          <p:spTgt spid="133"/>
                                        </p:tgtEl>
                                        <p:attrNameLst>
                                          <p:attrName>ppt_w</p:attrName>
                                        </p:attrNameLst>
                                      </p:cBhvr>
                                      <p:tavLst>
                                        <p:tav tm="0" fmla="#ppt_w*sin(2.5*pi*$)">
                                          <p:val>
                                            <p:fltVal val="0"/>
                                          </p:val>
                                        </p:tav>
                                        <p:tav tm="100000">
                                          <p:val>
                                            <p:fltVal val="1"/>
                                          </p:val>
                                        </p:tav>
                                      </p:tavLst>
                                    </p:anim>
                                    <p:anim calcmode="lin" valueType="num">
                                      <p:cBhvr>
                                        <p:cTn id="49" dur="5000" fill="hold"/>
                                        <p:tgtEl>
                                          <p:spTgt spid="13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6"/>
                                            </p:cond>
                                          </p:stCondLst>
                                          <p:endCondLst>
                                            <p:cond evt="onStopAudio" delay="0">
                                              <p:tgtEl>
                                                <p:sldTgt/>
                                              </p:tgtEl>
                                            </p:cond>
                                          </p:endCondLst>
                                        </p:cTn>
                                        <p:tgtEl>
                                          <p:sndTgt r:embed="rId5" name="CAMERA.WAV"/>
                                        </p:tgtEl>
                                      </p:cMediaNode>
                                    </p:audio>
                                  </p:subTnLst>
                                </p:cTn>
                              </p:par>
                              <p:par>
                                <p:cTn id="50" presetID="19" presetClass="entr" presetSubtype="10" fill="hold" grpId="0" nodeType="withEffect">
                                  <p:stCondLst>
                                    <p:cond delay="0"/>
                                  </p:stCondLst>
                                  <p:childTnLst>
                                    <p:set>
                                      <p:cBhvr>
                                        <p:cTn id="51" dur="1" fill="hold">
                                          <p:stCondLst>
                                            <p:cond delay="0"/>
                                          </p:stCondLst>
                                        </p:cTn>
                                        <p:tgtEl>
                                          <p:spTgt spid="140"/>
                                        </p:tgtEl>
                                        <p:attrNameLst>
                                          <p:attrName>style.visibility</p:attrName>
                                        </p:attrNameLst>
                                      </p:cBhvr>
                                      <p:to>
                                        <p:strVal val="visible"/>
                                      </p:to>
                                    </p:set>
                                    <p:anim calcmode="lin" valueType="num">
                                      <p:cBhvr>
                                        <p:cTn id="52" dur="5000" fill="hold"/>
                                        <p:tgtEl>
                                          <p:spTgt spid="140"/>
                                        </p:tgtEl>
                                        <p:attrNameLst>
                                          <p:attrName>ppt_w</p:attrName>
                                        </p:attrNameLst>
                                      </p:cBhvr>
                                      <p:tavLst>
                                        <p:tav tm="0" fmla="#ppt_w*sin(2.5*pi*$)">
                                          <p:val>
                                            <p:fltVal val="0"/>
                                          </p:val>
                                        </p:tav>
                                        <p:tav tm="100000">
                                          <p:val>
                                            <p:fltVal val="1"/>
                                          </p:val>
                                        </p:tav>
                                      </p:tavLst>
                                    </p:anim>
                                    <p:anim calcmode="lin" valueType="num">
                                      <p:cBhvr>
                                        <p:cTn id="53" dur="5000" fill="hold"/>
                                        <p:tgtEl>
                                          <p:spTgt spid="14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5" name="CAMERA.WAV"/>
                                        </p:tgtEl>
                                      </p:cMediaNode>
                                    </p:audio>
                                  </p:subTnLst>
                                </p:cTn>
                              </p:par>
                              <p:par>
                                <p:cTn id="54" presetID="12" presetClass="entr" presetSubtype="8" fill="hold" nodeType="withEffect">
                                  <p:stCondLst>
                                    <p:cond delay="0"/>
                                  </p:stCondLst>
                                  <p:childTnLst>
                                    <p:set>
                                      <p:cBhvr>
                                        <p:cTn id="55" dur="1" fill="hold">
                                          <p:stCondLst>
                                            <p:cond delay="0"/>
                                          </p:stCondLst>
                                        </p:cTn>
                                        <p:tgtEl>
                                          <p:spTgt spid="130"/>
                                        </p:tgtEl>
                                        <p:attrNameLst>
                                          <p:attrName>style.visibility</p:attrName>
                                        </p:attrNameLst>
                                      </p:cBhvr>
                                      <p:to>
                                        <p:strVal val="visible"/>
                                      </p:to>
                                    </p:set>
                                    <p:animEffect transition="in" filter="slide(fromLeft)">
                                      <p:cBhvr>
                                        <p:cTn id="56" dur="3000"/>
                                        <p:tgtEl>
                                          <p:spTgt spid="130"/>
                                        </p:tgtEl>
                                      </p:cBhvr>
                                    </p:animEffect>
                                  </p:childTnLst>
                                </p:cTn>
                              </p:par>
                              <p:par>
                                <p:cTn id="57" presetID="12" presetClass="entr" presetSubtype="4" fill="hold" nodeType="withEffect">
                                  <p:stCondLst>
                                    <p:cond delay="0"/>
                                  </p:stCondLst>
                                  <p:childTnLst>
                                    <p:set>
                                      <p:cBhvr>
                                        <p:cTn id="58" dur="1" fill="hold">
                                          <p:stCondLst>
                                            <p:cond delay="0"/>
                                          </p:stCondLst>
                                        </p:cTn>
                                        <p:tgtEl>
                                          <p:spTgt spid="131"/>
                                        </p:tgtEl>
                                        <p:attrNameLst>
                                          <p:attrName>style.visibility</p:attrName>
                                        </p:attrNameLst>
                                      </p:cBhvr>
                                      <p:to>
                                        <p:strVal val="visible"/>
                                      </p:to>
                                    </p:set>
                                    <p:animEffect transition="in" filter="slide(fromBottom)">
                                      <p:cBhvr>
                                        <p:cTn id="59" dur="3000"/>
                                        <p:tgtEl>
                                          <p:spTgt spid="131"/>
                                        </p:tgtEl>
                                      </p:cBhvr>
                                    </p:animEffect>
                                  </p:childTnLst>
                                </p:cTn>
                              </p:par>
                              <p:par>
                                <p:cTn id="60" presetID="19" presetClass="entr" presetSubtype="10" fill="hold" grpId="0" nodeType="withEffect">
                                  <p:stCondLst>
                                    <p:cond delay="0"/>
                                  </p:stCondLst>
                                  <p:childTnLst>
                                    <p:set>
                                      <p:cBhvr>
                                        <p:cTn id="61" dur="1" fill="hold">
                                          <p:stCondLst>
                                            <p:cond delay="0"/>
                                          </p:stCondLst>
                                        </p:cTn>
                                        <p:tgtEl>
                                          <p:spTgt spid="141"/>
                                        </p:tgtEl>
                                        <p:attrNameLst>
                                          <p:attrName>style.visibility</p:attrName>
                                        </p:attrNameLst>
                                      </p:cBhvr>
                                      <p:to>
                                        <p:strVal val="visible"/>
                                      </p:to>
                                    </p:set>
                                    <p:anim calcmode="lin" valueType="num">
                                      <p:cBhvr>
                                        <p:cTn id="62" dur="5000" fill="hold"/>
                                        <p:tgtEl>
                                          <p:spTgt spid="141"/>
                                        </p:tgtEl>
                                        <p:attrNameLst>
                                          <p:attrName>ppt_w</p:attrName>
                                        </p:attrNameLst>
                                      </p:cBhvr>
                                      <p:tavLst>
                                        <p:tav tm="0" fmla="#ppt_w*sin(2.5*pi*$)">
                                          <p:val>
                                            <p:fltVal val="0"/>
                                          </p:val>
                                        </p:tav>
                                        <p:tav tm="100000">
                                          <p:val>
                                            <p:fltVal val="1"/>
                                          </p:val>
                                        </p:tav>
                                      </p:tavLst>
                                    </p:anim>
                                    <p:anim calcmode="lin" valueType="num">
                                      <p:cBhvr>
                                        <p:cTn id="63" dur="5000" fill="hold"/>
                                        <p:tgtEl>
                                          <p:spTgt spid="14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0"/>
                                            </p:cond>
                                          </p:stCondLst>
                                          <p:endCondLst>
                                            <p:cond evt="onStopAudio" delay="0">
                                              <p:tgtEl>
                                                <p:sldTgt/>
                                              </p:tgtEl>
                                            </p:cond>
                                          </p:endCondLst>
                                        </p:cTn>
                                        <p:tgtEl>
                                          <p:sndTgt r:embed="rId5" name="CAMERA.WAV"/>
                                        </p:tgtEl>
                                      </p:cMediaNode>
                                    </p:audio>
                                  </p:subTnLst>
                                </p:cTn>
                              </p:par>
                              <p:par>
                                <p:cTn id="64" presetID="19" presetClass="entr" presetSubtype="10" fill="hold" grpId="0" nodeType="withEffect">
                                  <p:stCondLst>
                                    <p:cond delay="0"/>
                                  </p:stCondLst>
                                  <p:childTnLst>
                                    <p:set>
                                      <p:cBhvr>
                                        <p:cTn id="65" dur="1" fill="hold">
                                          <p:stCondLst>
                                            <p:cond delay="0"/>
                                          </p:stCondLst>
                                        </p:cTn>
                                        <p:tgtEl>
                                          <p:spTgt spid="135"/>
                                        </p:tgtEl>
                                        <p:attrNameLst>
                                          <p:attrName>style.visibility</p:attrName>
                                        </p:attrNameLst>
                                      </p:cBhvr>
                                      <p:to>
                                        <p:strVal val="visible"/>
                                      </p:to>
                                    </p:set>
                                    <p:anim calcmode="lin" valueType="num">
                                      <p:cBhvr>
                                        <p:cTn id="66" dur="3000" fill="hold"/>
                                        <p:tgtEl>
                                          <p:spTgt spid="135"/>
                                        </p:tgtEl>
                                        <p:attrNameLst>
                                          <p:attrName>ppt_w</p:attrName>
                                        </p:attrNameLst>
                                      </p:cBhvr>
                                      <p:tavLst>
                                        <p:tav tm="0" fmla="#ppt_w*sin(2.5*pi*$)">
                                          <p:val>
                                            <p:fltVal val="0"/>
                                          </p:val>
                                        </p:tav>
                                        <p:tav tm="100000">
                                          <p:val>
                                            <p:fltVal val="1"/>
                                          </p:val>
                                        </p:tav>
                                      </p:tavLst>
                                    </p:anim>
                                    <p:anim calcmode="lin" valueType="num">
                                      <p:cBhvr>
                                        <p:cTn id="67" dur="3000" fill="hold"/>
                                        <p:tgtEl>
                                          <p:spTgt spid="13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4"/>
                                            </p:cond>
                                          </p:stCondLst>
                                          <p:endCondLst>
                                            <p:cond evt="onStopAudio" delay="0">
                                              <p:tgtEl>
                                                <p:sldTgt/>
                                              </p:tgtEl>
                                            </p:cond>
                                          </p:endCondLst>
                                        </p:cTn>
                                        <p:tgtEl>
                                          <p:sndTgt r:embed="rId4" name="CHIMES.WAV"/>
                                        </p:tgtEl>
                                      </p:cMediaNode>
                                    </p:audio>
                                  </p:subTnLst>
                                </p:cTn>
                              </p:par>
                            </p:childTnLst>
                          </p:cTn>
                        </p:par>
                        <p:par>
                          <p:cTn id="68" fill="hold">
                            <p:stCondLst>
                              <p:cond delay="5000"/>
                            </p:stCondLst>
                            <p:childTnLst>
                              <p:par>
                                <p:cTn id="69" presetID="22" presetClass="entr" presetSubtype="8" fill="hold" nodeType="afterEffect">
                                  <p:stCondLst>
                                    <p:cond delay="0"/>
                                  </p:stCondLst>
                                  <p:childTnLst>
                                    <p:set>
                                      <p:cBhvr>
                                        <p:cTn id="70" dur="1" fill="hold">
                                          <p:stCondLst>
                                            <p:cond delay="0"/>
                                          </p:stCondLst>
                                        </p:cTn>
                                        <p:tgtEl>
                                          <p:spTgt spid="132"/>
                                        </p:tgtEl>
                                        <p:attrNameLst>
                                          <p:attrName>style.visibility</p:attrName>
                                        </p:attrNameLst>
                                      </p:cBhvr>
                                      <p:to>
                                        <p:strVal val="visible"/>
                                      </p:to>
                                    </p:set>
                                    <p:animEffect transition="in" filter="wipe(left)">
                                      <p:cBhvr>
                                        <p:cTn id="71" dur="3000"/>
                                        <p:tgtEl>
                                          <p:spTgt spid="132"/>
                                        </p:tgtEl>
                                      </p:cBhvr>
                                    </p:animEffect>
                                  </p:childTnLst>
                                  <p:subTnLst>
                                    <p:audio>
                                      <p:cMediaNode>
                                        <p:cTn display="0" masterRel="sameClick">
                                          <p:stCondLst>
                                            <p:cond evt="begin" delay="0">
                                              <p:tn val="69"/>
                                            </p:cond>
                                          </p:stCondLst>
                                          <p:endCondLst>
                                            <p:cond evt="onStopAudio" delay="0">
                                              <p:tgtEl>
                                                <p:sldTgt/>
                                              </p:tgtEl>
                                            </p:cond>
                                          </p:endCondLst>
                                        </p:cTn>
                                        <p:tgtEl>
                                          <p:sndTgt r:embed="rId4" name="CHIMES.WAV"/>
                                        </p:tgtEl>
                                      </p:cMediaNode>
                                    </p:audio>
                                  </p:subTnLst>
                                </p:cTn>
                              </p:par>
                            </p:childTnLst>
                          </p:cTn>
                        </p:par>
                        <p:par>
                          <p:cTn id="72" fill="hold">
                            <p:stCondLst>
                              <p:cond delay="8000"/>
                            </p:stCondLst>
                            <p:childTnLst>
                              <p:par>
                                <p:cTn id="73" presetID="15" presetClass="entr" presetSubtype="0" fill="hold" grpId="0" nodeType="afterEffect">
                                  <p:stCondLst>
                                    <p:cond delay="0"/>
                                  </p:stCondLst>
                                  <p:childTnLst>
                                    <p:set>
                                      <p:cBhvr>
                                        <p:cTn id="74" dur="1" fill="hold">
                                          <p:stCondLst>
                                            <p:cond delay="0"/>
                                          </p:stCondLst>
                                        </p:cTn>
                                        <p:tgtEl>
                                          <p:spTgt spid="146"/>
                                        </p:tgtEl>
                                        <p:attrNameLst>
                                          <p:attrName>style.visibility</p:attrName>
                                        </p:attrNameLst>
                                      </p:cBhvr>
                                      <p:to>
                                        <p:strVal val="visible"/>
                                      </p:to>
                                    </p:set>
                                    <p:anim calcmode="lin" valueType="num">
                                      <p:cBhvr>
                                        <p:cTn id="75" dur="3000" fill="hold"/>
                                        <p:tgtEl>
                                          <p:spTgt spid="146"/>
                                        </p:tgtEl>
                                        <p:attrNameLst>
                                          <p:attrName>ppt_w</p:attrName>
                                        </p:attrNameLst>
                                      </p:cBhvr>
                                      <p:tavLst>
                                        <p:tav tm="0">
                                          <p:val>
                                            <p:fltVal val="0"/>
                                          </p:val>
                                        </p:tav>
                                        <p:tav tm="100000">
                                          <p:val>
                                            <p:strVal val="#ppt_w"/>
                                          </p:val>
                                        </p:tav>
                                      </p:tavLst>
                                    </p:anim>
                                    <p:anim calcmode="lin" valueType="num">
                                      <p:cBhvr>
                                        <p:cTn id="76" dur="3000" fill="hold"/>
                                        <p:tgtEl>
                                          <p:spTgt spid="146"/>
                                        </p:tgtEl>
                                        <p:attrNameLst>
                                          <p:attrName>ppt_h</p:attrName>
                                        </p:attrNameLst>
                                      </p:cBhvr>
                                      <p:tavLst>
                                        <p:tav tm="0">
                                          <p:val>
                                            <p:fltVal val="0"/>
                                          </p:val>
                                        </p:tav>
                                        <p:tav tm="100000">
                                          <p:val>
                                            <p:strVal val="#ppt_h"/>
                                          </p:val>
                                        </p:tav>
                                      </p:tavLst>
                                    </p:anim>
                                    <p:anim calcmode="lin" valueType="num">
                                      <p:cBhvr>
                                        <p:cTn id="77" dur="3000" fill="hold"/>
                                        <p:tgtEl>
                                          <p:spTgt spid="146"/>
                                        </p:tgtEl>
                                        <p:attrNameLst>
                                          <p:attrName>ppt_x</p:attrName>
                                        </p:attrNameLst>
                                      </p:cBhvr>
                                      <p:tavLst>
                                        <p:tav tm="0" fmla="#ppt_x+(cos(-2*pi*(1-$))*-#ppt_x-sin(-2*pi*(1-$))*(1-#ppt_y))*(1-$)">
                                          <p:val>
                                            <p:fltVal val="0"/>
                                          </p:val>
                                        </p:tav>
                                        <p:tav tm="100000">
                                          <p:val>
                                            <p:fltVal val="1"/>
                                          </p:val>
                                        </p:tav>
                                      </p:tavLst>
                                    </p:anim>
                                    <p:anim calcmode="lin" valueType="num">
                                      <p:cBhvr>
                                        <p:cTn id="78" dur="3000" fill="hold"/>
                                        <p:tgtEl>
                                          <p:spTgt spid="14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73"/>
                                            </p:cond>
                                          </p:stCondLst>
                                          <p:endCondLst>
                                            <p:cond evt="onStopAudio" delay="0">
                                              <p:tgtEl>
                                                <p:sldTgt/>
                                              </p:tgtEl>
                                            </p:cond>
                                          </p:endCondLst>
                                        </p:cTn>
                                        <p:tgtEl>
                                          <p:sndTgt r:embed="rId4" name="CHIMES.WAV"/>
                                        </p:tgtEl>
                                      </p:cMediaNode>
                                    </p:audio>
                                  </p:subTnLst>
                                </p:cTn>
                              </p:par>
                              <p:par>
                                <p:cTn id="79" presetID="19" presetClass="entr" presetSubtype="10" fill="hold" grpId="0" nodeType="withEffect">
                                  <p:stCondLst>
                                    <p:cond delay="0"/>
                                  </p:stCondLst>
                                  <p:childTnLst>
                                    <p:set>
                                      <p:cBhvr>
                                        <p:cTn id="80" dur="1" fill="hold">
                                          <p:stCondLst>
                                            <p:cond delay="0"/>
                                          </p:stCondLst>
                                        </p:cTn>
                                        <p:tgtEl>
                                          <p:spTgt spid="134"/>
                                        </p:tgtEl>
                                        <p:attrNameLst>
                                          <p:attrName>style.visibility</p:attrName>
                                        </p:attrNameLst>
                                      </p:cBhvr>
                                      <p:to>
                                        <p:strVal val="visible"/>
                                      </p:to>
                                    </p:set>
                                    <p:anim calcmode="lin" valueType="num">
                                      <p:cBhvr>
                                        <p:cTn id="81" dur="3000" fill="hold"/>
                                        <p:tgtEl>
                                          <p:spTgt spid="134"/>
                                        </p:tgtEl>
                                        <p:attrNameLst>
                                          <p:attrName>ppt_w</p:attrName>
                                        </p:attrNameLst>
                                      </p:cBhvr>
                                      <p:tavLst>
                                        <p:tav tm="0" fmla="#ppt_w*sin(2.5*pi*$)">
                                          <p:val>
                                            <p:fltVal val="0"/>
                                          </p:val>
                                        </p:tav>
                                        <p:tav tm="100000">
                                          <p:val>
                                            <p:fltVal val="1"/>
                                          </p:val>
                                        </p:tav>
                                      </p:tavLst>
                                    </p:anim>
                                    <p:anim calcmode="lin" valueType="num">
                                      <p:cBhvr>
                                        <p:cTn id="82" dur="3000" fill="hold"/>
                                        <p:tgtEl>
                                          <p:spTgt spid="13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9"/>
                                            </p:cond>
                                          </p:stCondLst>
                                          <p:endCondLst>
                                            <p:cond evt="onStopAudio" delay="0">
                                              <p:tgtEl>
                                                <p:sldTgt/>
                                              </p:tgtEl>
                                            </p:cond>
                                          </p:endCondLst>
                                        </p:cTn>
                                        <p:tgtEl>
                                          <p:sndTgt r:embed="rId4" name="CHIMES.WAV"/>
                                        </p:tgtEl>
                                      </p:cMediaNode>
                                    </p:audio>
                                  </p:subTnLst>
                                </p:cTn>
                              </p:par>
                            </p:childTnLst>
                          </p:cTn>
                        </p:par>
                        <p:par>
                          <p:cTn id="83" fill="hold">
                            <p:stCondLst>
                              <p:cond delay="11000"/>
                            </p:stCondLst>
                            <p:childTnLst>
                              <p:par>
                                <p:cTn id="84" presetID="22" presetClass="entr" presetSubtype="1" fill="hold" nodeType="afterEffect">
                                  <p:stCondLst>
                                    <p:cond delay="0"/>
                                  </p:stCondLst>
                                  <p:childTnLst>
                                    <p:set>
                                      <p:cBhvr>
                                        <p:cTn id="85" dur="1" fill="hold">
                                          <p:stCondLst>
                                            <p:cond delay="0"/>
                                          </p:stCondLst>
                                        </p:cTn>
                                        <p:tgtEl>
                                          <p:spTgt spid="139"/>
                                        </p:tgtEl>
                                        <p:attrNameLst>
                                          <p:attrName>style.visibility</p:attrName>
                                        </p:attrNameLst>
                                      </p:cBhvr>
                                      <p:to>
                                        <p:strVal val="visible"/>
                                      </p:to>
                                    </p:set>
                                    <p:animEffect transition="in" filter="wipe(up)">
                                      <p:cBhvr>
                                        <p:cTn id="86" dur="3000"/>
                                        <p:tgtEl>
                                          <p:spTgt spid="139"/>
                                        </p:tgtEl>
                                      </p:cBhvr>
                                    </p:animEffect>
                                  </p:childTnLst>
                                  <p:subTnLst>
                                    <p:audio>
                                      <p:cMediaNode>
                                        <p:cTn display="0" masterRel="sameClick">
                                          <p:stCondLst>
                                            <p:cond evt="begin" delay="0">
                                              <p:tn val="84"/>
                                            </p:cond>
                                          </p:stCondLst>
                                          <p:endCondLst>
                                            <p:cond evt="onStopAudio" delay="0">
                                              <p:tgtEl>
                                                <p:sldTgt/>
                                              </p:tgtEl>
                                            </p:cond>
                                          </p:endCondLst>
                                        </p:cTn>
                                        <p:tgtEl>
                                          <p:sndTgt r:embed="rId4" name="CHIMES.WAV"/>
                                        </p:tgtEl>
                                      </p:cMediaNode>
                                    </p:audio>
                                  </p:subTnLst>
                                </p:cTn>
                              </p:par>
                            </p:childTnLst>
                          </p:cTn>
                        </p:par>
                        <p:par>
                          <p:cTn id="87" fill="hold">
                            <p:stCondLst>
                              <p:cond delay="14000"/>
                            </p:stCondLst>
                            <p:childTnLst>
                              <p:par>
                                <p:cTn id="88" presetID="22" presetClass="entr" presetSubtype="8" fill="hold" nodeType="afterEffect">
                                  <p:stCondLst>
                                    <p:cond delay="1000"/>
                                  </p:stCondLst>
                                  <p:childTnLst>
                                    <p:set>
                                      <p:cBhvr>
                                        <p:cTn id="89" dur="1" fill="hold">
                                          <p:stCondLst>
                                            <p:cond delay="0"/>
                                          </p:stCondLst>
                                        </p:cTn>
                                        <p:tgtEl>
                                          <p:spTgt spid="138"/>
                                        </p:tgtEl>
                                        <p:attrNameLst>
                                          <p:attrName>style.visibility</p:attrName>
                                        </p:attrNameLst>
                                      </p:cBhvr>
                                      <p:to>
                                        <p:strVal val="visible"/>
                                      </p:to>
                                    </p:set>
                                    <p:animEffect transition="in" filter="wipe(left)">
                                      <p:cBhvr>
                                        <p:cTn id="90" dur="3000"/>
                                        <p:tgtEl>
                                          <p:spTgt spid="138"/>
                                        </p:tgtEl>
                                      </p:cBhvr>
                                    </p:animEffect>
                                  </p:childTnLst>
                                  <p:subTnLst>
                                    <p:audio>
                                      <p:cMediaNode>
                                        <p:cTn display="0" masterRel="sameClick">
                                          <p:stCondLst>
                                            <p:cond evt="begin" delay="0">
                                              <p:tn val="88"/>
                                            </p:cond>
                                          </p:stCondLst>
                                          <p:endCondLst>
                                            <p:cond evt="onStopAudio" delay="0">
                                              <p:tgtEl>
                                                <p:sldTgt/>
                                              </p:tgtEl>
                                            </p:cond>
                                          </p:endCondLst>
                                        </p:cTn>
                                        <p:tgtEl>
                                          <p:sndTgt r:embed="rId4" name="CHIMES.WAV"/>
                                        </p:tgtEl>
                                      </p:cMediaNode>
                                    </p:audio>
                                  </p:subTnLst>
                                </p:cTn>
                              </p:par>
                            </p:childTnLst>
                          </p:cTn>
                        </p:par>
                        <p:par>
                          <p:cTn id="91" fill="hold">
                            <p:stCondLst>
                              <p:cond delay="18000"/>
                            </p:stCondLst>
                            <p:childTnLst>
                              <p:par>
                                <p:cTn id="92" presetID="15" presetClass="entr" presetSubtype="0" fill="hold" grpId="0" nodeType="afterEffect">
                                  <p:stCondLst>
                                    <p:cond delay="0"/>
                                  </p:stCondLst>
                                  <p:childTnLst>
                                    <p:set>
                                      <p:cBhvr>
                                        <p:cTn id="93" dur="1" fill="hold">
                                          <p:stCondLst>
                                            <p:cond delay="0"/>
                                          </p:stCondLst>
                                        </p:cTn>
                                        <p:tgtEl>
                                          <p:spTgt spid="145"/>
                                        </p:tgtEl>
                                        <p:attrNameLst>
                                          <p:attrName>style.visibility</p:attrName>
                                        </p:attrNameLst>
                                      </p:cBhvr>
                                      <p:to>
                                        <p:strVal val="visible"/>
                                      </p:to>
                                    </p:set>
                                    <p:anim calcmode="lin" valueType="num">
                                      <p:cBhvr>
                                        <p:cTn id="94" dur="3000" fill="hold"/>
                                        <p:tgtEl>
                                          <p:spTgt spid="145"/>
                                        </p:tgtEl>
                                        <p:attrNameLst>
                                          <p:attrName>ppt_w</p:attrName>
                                        </p:attrNameLst>
                                      </p:cBhvr>
                                      <p:tavLst>
                                        <p:tav tm="0">
                                          <p:val>
                                            <p:fltVal val="0"/>
                                          </p:val>
                                        </p:tav>
                                        <p:tav tm="100000">
                                          <p:val>
                                            <p:strVal val="#ppt_w"/>
                                          </p:val>
                                        </p:tav>
                                      </p:tavLst>
                                    </p:anim>
                                    <p:anim calcmode="lin" valueType="num">
                                      <p:cBhvr>
                                        <p:cTn id="95" dur="3000" fill="hold"/>
                                        <p:tgtEl>
                                          <p:spTgt spid="145"/>
                                        </p:tgtEl>
                                        <p:attrNameLst>
                                          <p:attrName>ppt_h</p:attrName>
                                        </p:attrNameLst>
                                      </p:cBhvr>
                                      <p:tavLst>
                                        <p:tav tm="0">
                                          <p:val>
                                            <p:fltVal val="0"/>
                                          </p:val>
                                        </p:tav>
                                        <p:tav tm="100000">
                                          <p:val>
                                            <p:strVal val="#ppt_h"/>
                                          </p:val>
                                        </p:tav>
                                      </p:tavLst>
                                    </p:anim>
                                    <p:anim calcmode="lin" valueType="num">
                                      <p:cBhvr>
                                        <p:cTn id="96" dur="3000" fill="hold"/>
                                        <p:tgtEl>
                                          <p:spTgt spid="145"/>
                                        </p:tgtEl>
                                        <p:attrNameLst>
                                          <p:attrName>ppt_x</p:attrName>
                                        </p:attrNameLst>
                                      </p:cBhvr>
                                      <p:tavLst>
                                        <p:tav tm="0" fmla="#ppt_x+(cos(-2*pi*(1-$))*-#ppt_x-sin(-2*pi*(1-$))*(1-#ppt_y))*(1-$)">
                                          <p:val>
                                            <p:fltVal val="0"/>
                                          </p:val>
                                        </p:tav>
                                        <p:tav tm="100000">
                                          <p:val>
                                            <p:fltVal val="1"/>
                                          </p:val>
                                        </p:tav>
                                      </p:tavLst>
                                    </p:anim>
                                    <p:anim calcmode="lin" valueType="num">
                                      <p:cBhvr>
                                        <p:cTn id="97" dur="3000" fill="hold"/>
                                        <p:tgtEl>
                                          <p:spTgt spid="145"/>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92"/>
                                            </p:cond>
                                          </p:stCondLst>
                                          <p:endCondLst>
                                            <p:cond evt="onStopAudio" delay="0">
                                              <p:tgtEl>
                                                <p:sldTgt/>
                                              </p:tgtEl>
                                            </p:cond>
                                          </p:endCondLst>
                                        </p:cTn>
                                        <p:tgtEl>
                                          <p:sndTgt r:embed="rId4" name="CHIMES.WAV"/>
                                        </p:tgtEl>
                                      </p:cMediaNode>
                                    </p:audio>
                                  </p:subTnLst>
                                </p:cTn>
                              </p:par>
                              <p:par>
                                <p:cTn id="98" presetID="19" presetClass="entr" presetSubtype="10" fill="hold" grpId="0" nodeType="withEffect">
                                  <p:stCondLst>
                                    <p:cond delay="0"/>
                                  </p:stCondLst>
                                  <p:childTnLst>
                                    <p:set>
                                      <p:cBhvr>
                                        <p:cTn id="99" dur="1" fill="hold">
                                          <p:stCondLst>
                                            <p:cond delay="0"/>
                                          </p:stCondLst>
                                        </p:cTn>
                                        <p:tgtEl>
                                          <p:spTgt spid="147"/>
                                        </p:tgtEl>
                                        <p:attrNameLst>
                                          <p:attrName>style.visibility</p:attrName>
                                        </p:attrNameLst>
                                      </p:cBhvr>
                                      <p:to>
                                        <p:strVal val="visible"/>
                                      </p:to>
                                    </p:set>
                                    <p:anim calcmode="lin" valueType="num">
                                      <p:cBhvr>
                                        <p:cTn id="100" dur="3000" fill="hold"/>
                                        <p:tgtEl>
                                          <p:spTgt spid="147"/>
                                        </p:tgtEl>
                                        <p:attrNameLst>
                                          <p:attrName>ppt_w</p:attrName>
                                        </p:attrNameLst>
                                      </p:cBhvr>
                                      <p:tavLst>
                                        <p:tav tm="0" fmla="#ppt_w*sin(2.5*pi*$)">
                                          <p:val>
                                            <p:fltVal val="0"/>
                                          </p:val>
                                        </p:tav>
                                        <p:tav tm="100000">
                                          <p:val>
                                            <p:fltVal val="1"/>
                                          </p:val>
                                        </p:tav>
                                      </p:tavLst>
                                    </p:anim>
                                    <p:anim calcmode="lin" valueType="num">
                                      <p:cBhvr>
                                        <p:cTn id="101" dur="3000" fill="hold"/>
                                        <p:tgtEl>
                                          <p:spTgt spid="14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8"/>
                                            </p:cond>
                                          </p:stCondLst>
                                          <p:endCondLst>
                                            <p:cond evt="onStopAudio" delay="0">
                                              <p:tgtEl>
                                                <p:sldTgt/>
                                              </p:tgtEl>
                                            </p:cond>
                                          </p:endCondLst>
                                        </p:cTn>
                                        <p:tgtEl>
                                          <p:sndTgt r:embed="rId4" name="CHIMES.WAV"/>
                                        </p:tgtEl>
                                      </p:cMediaNode>
                                    </p:audio>
                                  </p:subTnLst>
                                </p:cTn>
                              </p:par>
                            </p:childTnLst>
                          </p:cTn>
                        </p:par>
                        <p:par>
                          <p:cTn id="102" fill="hold">
                            <p:stCondLst>
                              <p:cond delay="21000"/>
                            </p:stCondLst>
                            <p:childTnLst>
                              <p:par>
                                <p:cTn id="103" presetID="22" presetClass="entr" presetSubtype="4" fill="hold" nodeType="afterEffect">
                                  <p:stCondLst>
                                    <p:cond delay="0"/>
                                  </p:stCondLst>
                                  <p:childTnLst>
                                    <p:set>
                                      <p:cBhvr>
                                        <p:cTn id="104" dur="1" fill="hold">
                                          <p:stCondLst>
                                            <p:cond delay="0"/>
                                          </p:stCondLst>
                                        </p:cTn>
                                        <p:tgtEl>
                                          <p:spTgt spid="142"/>
                                        </p:tgtEl>
                                        <p:attrNameLst>
                                          <p:attrName>style.visibility</p:attrName>
                                        </p:attrNameLst>
                                      </p:cBhvr>
                                      <p:to>
                                        <p:strVal val="visible"/>
                                      </p:to>
                                    </p:set>
                                    <p:animEffect transition="in" filter="wipe(down)">
                                      <p:cBhvr>
                                        <p:cTn id="105" dur="3000"/>
                                        <p:tgtEl>
                                          <p:spTgt spid="142"/>
                                        </p:tgtEl>
                                      </p:cBhvr>
                                    </p:animEffect>
                                  </p:childTnLst>
                                  <p:subTnLst>
                                    <p:audio>
                                      <p:cMediaNode>
                                        <p:cTn display="0" masterRel="sameClick">
                                          <p:stCondLst>
                                            <p:cond evt="begin" delay="0">
                                              <p:tn val="103"/>
                                            </p:cond>
                                          </p:stCondLst>
                                          <p:endCondLst>
                                            <p:cond evt="onStopAudio" delay="0">
                                              <p:tgtEl>
                                                <p:sldTgt/>
                                              </p:tgtEl>
                                            </p:cond>
                                          </p:endCondLst>
                                        </p:cTn>
                                        <p:tgtEl>
                                          <p:sndTgt r:embed="rId4" name="CHIMES.WAV"/>
                                        </p:tgtEl>
                                      </p:cMediaNode>
                                    </p:audio>
                                  </p:subTnLst>
                                </p:cTn>
                              </p:par>
                            </p:childTnLst>
                          </p:cTn>
                        </p:par>
                        <p:par>
                          <p:cTn id="106" fill="hold">
                            <p:stCondLst>
                              <p:cond delay="24000"/>
                            </p:stCondLst>
                            <p:childTnLst>
                              <p:par>
                                <p:cTn id="107" presetID="22" presetClass="entr" presetSubtype="8" fill="hold" nodeType="afterEffect">
                                  <p:stCondLst>
                                    <p:cond delay="0"/>
                                  </p:stCondLst>
                                  <p:childTnLst>
                                    <p:set>
                                      <p:cBhvr>
                                        <p:cTn id="108" dur="1" fill="hold">
                                          <p:stCondLst>
                                            <p:cond delay="0"/>
                                          </p:stCondLst>
                                        </p:cTn>
                                        <p:tgtEl>
                                          <p:spTgt spid="144"/>
                                        </p:tgtEl>
                                        <p:attrNameLst>
                                          <p:attrName>style.visibility</p:attrName>
                                        </p:attrNameLst>
                                      </p:cBhvr>
                                      <p:to>
                                        <p:strVal val="visible"/>
                                      </p:to>
                                    </p:set>
                                    <p:animEffect transition="in" filter="wipe(left)">
                                      <p:cBhvr>
                                        <p:cTn id="109" dur="3000"/>
                                        <p:tgtEl>
                                          <p:spTgt spid="144"/>
                                        </p:tgtEl>
                                      </p:cBhvr>
                                    </p:animEffect>
                                  </p:childTnLst>
                                  <p:subTnLst>
                                    <p:audio>
                                      <p:cMediaNode>
                                        <p:cTn display="0" masterRel="sameClick">
                                          <p:stCondLst>
                                            <p:cond evt="begin" delay="0">
                                              <p:tn val="107"/>
                                            </p:cond>
                                          </p:stCondLst>
                                          <p:endCondLst>
                                            <p:cond evt="onStopAudio" delay="0">
                                              <p:tgtEl>
                                                <p:sldTgt/>
                                              </p:tgtEl>
                                            </p:cond>
                                          </p:endCondLst>
                                        </p:cTn>
                                        <p:tgtEl>
                                          <p:sndTgt r:embed="rId4" name="CHIMES.WAV"/>
                                        </p:tgtEl>
                                      </p:cMediaNode>
                                    </p:audio>
                                  </p:subTnLst>
                                </p:cTn>
                              </p:par>
                            </p:childTnLst>
                          </p:cTn>
                        </p:par>
                        <p:par>
                          <p:cTn id="110" fill="hold">
                            <p:stCondLst>
                              <p:cond delay="27000"/>
                            </p:stCondLst>
                            <p:childTnLst>
                              <p:par>
                                <p:cTn id="111" presetID="22" presetClass="entr" presetSubtype="1" fill="hold" nodeType="afterEffect">
                                  <p:stCondLst>
                                    <p:cond delay="0"/>
                                  </p:stCondLst>
                                  <p:childTnLst>
                                    <p:set>
                                      <p:cBhvr>
                                        <p:cTn id="112" dur="1" fill="hold">
                                          <p:stCondLst>
                                            <p:cond delay="0"/>
                                          </p:stCondLst>
                                        </p:cTn>
                                        <p:tgtEl>
                                          <p:spTgt spid="143"/>
                                        </p:tgtEl>
                                        <p:attrNameLst>
                                          <p:attrName>style.visibility</p:attrName>
                                        </p:attrNameLst>
                                      </p:cBhvr>
                                      <p:to>
                                        <p:strVal val="visible"/>
                                      </p:to>
                                    </p:set>
                                    <p:animEffect transition="in" filter="wipe(up)">
                                      <p:cBhvr>
                                        <p:cTn id="113" dur="3000"/>
                                        <p:tgtEl>
                                          <p:spTgt spid="143"/>
                                        </p:tgtEl>
                                      </p:cBhvr>
                                    </p:animEffect>
                                  </p:childTnLst>
                                  <p:subTnLst>
                                    <p:audio>
                                      <p:cMediaNode>
                                        <p:cTn display="0" masterRel="sameClick">
                                          <p:stCondLst>
                                            <p:cond evt="begin" delay="0">
                                              <p:tn val="111"/>
                                            </p:cond>
                                          </p:stCondLst>
                                          <p:endCondLst>
                                            <p:cond evt="onStopAudio" delay="0">
                                              <p:tgtEl>
                                                <p:sldTgt/>
                                              </p:tgtEl>
                                            </p:cond>
                                          </p:endCondLst>
                                        </p:cTn>
                                        <p:tgtEl>
                                          <p:sndTgt r:embed="rId4" name="CHIMES.WAV"/>
                                        </p:tgtEl>
                                      </p:cMediaNode>
                                    </p:audio>
                                  </p:subTnLst>
                                </p:cTn>
                              </p:par>
                            </p:childTnLst>
                          </p:cTn>
                        </p:par>
                        <p:par>
                          <p:cTn id="114" fill="hold">
                            <p:stCondLst>
                              <p:cond delay="30000"/>
                            </p:stCondLst>
                            <p:childTnLst>
                              <p:par>
                                <p:cTn id="115" presetID="22" presetClass="entr" presetSubtype="8" fill="hold" nodeType="afterEffect">
                                  <p:stCondLst>
                                    <p:cond delay="0"/>
                                  </p:stCondLst>
                                  <p:childTnLst>
                                    <p:set>
                                      <p:cBhvr>
                                        <p:cTn id="116" dur="1" fill="hold">
                                          <p:stCondLst>
                                            <p:cond delay="0"/>
                                          </p:stCondLst>
                                        </p:cTn>
                                        <p:tgtEl>
                                          <p:spTgt spid="129"/>
                                        </p:tgtEl>
                                        <p:attrNameLst>
                                          <p:attrName>style.visibility</p:attrName>
                                        </p:attrNameLst>
                                      </p:cBhvr>
                                      <p:to>
                                        <p:strVal val="visible"/>
                                      </p:to>
                                    </p:set>
                                    <p:animEffect transition="in" filter="wipe(left)">
                                      <p:cBhvr>
                                        <p:cTn id="117" dur="5000"/>
                                        <p:tgtEl>
                                          <p:spTgt spid="129"/>
                                        </p:tgtEl>
                                      </p:cBhvr>
                                    </p:animEffect>
                                  </p:childTnLst>
                                </p:cTn>
                              </p:par>
                            </p:childTnLst>
                          </p:cTn>
                        </p:par>
                        <p:par>
                          <p:cTn id="118" fill="hold">
                            <p:stCondLst>
                              <p:cond delay="35000"/>
                            </p:stCondLst>
                            <p:childTnLst>
                              <p:par>
                                <p:cTn id="119" presetID="15" presetClass="entr" presetSubtype="0" fill="hold" nodeType="afterEffect">
                                  <p:stCondLst>
                                    <p:cond delay="0"/>
                                  </p:stCondLst>
                                  <p:childTnLst>
                                    <p:set>
                                      <p:cBhvr>
                                        <p:cTn id="120" dur="1" fill="hold">
                                          <p:stCondLst>
                                            <p:cond delay="0"/>
                                          </p:stCondLst>
                                        </p:cTn>
                                        <p:tgtEl>
                                          <p:spTgt spid="148"/>
                                        </p:tgtEl>
                                        <p:attrNameLst>
                                          <p:attrName>style.visibility</p:attrName>
                                        </p:attrNameLst>
                                      </p:cBhvr>
                                      <p:to>
                                        <p:strVal val="visible"/>
                                      </p:to>
                                    </p:set>
                                    <p:anim calcmode="lin" valueType="num">
                                      <p:cBhvr>
                                        <p:cTn id="121" dur="2000" fill="hold"/>
                                        <p:tgtEl>
                                          <p:spTgt spid="148"/>
                                        </p:tgtEl>
                                        <p:attrNameLst>
                                          <p:attrName>ppt_w</p:attrName>
                                        </p:attrNameLst>
                                      </p:cBhvr>
                                      <p:tavLst>
                                        <p:tav tm="0">
                                          <p:val>
                                            <p:fltVal val="0"/>
                                          </p:val>
                                        </p:tav>
                                        <p:tav tm="100000">
                                          <p:val>
                                            <p:strVal val="#ppt_w"/>
                                          </p:val>
                                        </p:tav>
                                      </p:tavLst>
                                    </p:anim>
                                    <p:anim calcmode="lin" valueType="num">
                                      <p:cBhvr>
                                        <p:cTn id="122" dur="2000" fill="hold"/>
                                        <p:tgtEl>
                                          <p:spTgt spid="148"/>
                                        </p:tgtEl>
                                        <p:attrNameLst>
                                          <p:attrName>ppt_h</p:attrName>
                                        </p:attrNameLst>
                                      </p:cBhvr>
                                      <p:tavLst>
                                        <p:tav tm="0">
                                          <p:val>
                                            <p:fltVal val="0"/>
                                          </p:val>
                                        </p:tav>
                                        <p:tav tm="100000">
                                          <p:val>
                                            <p:strVal val="#ppt_h"/>
                                          </p:val>
                                        </p:tav>
                                      </p:tavLst>
                                    </p:anim>
                                    <p:anim calcmode="lin" valueType="num">
                                      <p:cBhvr>
                                        <p:cTn id="123" dur="2000" fill="hold"/>
                                        <p:tgtEl>
                                          <p:spTgt spid="148"/>
                                        </p:tgtEl>
                                        <p:attrNameLst>
                                          <p:attrName>ppt_x</p:attrName>
                                        </p:attrNameLst>
                                      </p:cBhvr>
                                      <p:tavLst>
                                        <p:tav tm="0" fmla="#ppt_x+(cos(-2*pi*(1-$))*-#ppt_x-sin(-2*pi*(1-$))*(1-#ppt_y))*(1-$)">
                                          <p:val>
                                            <p:fltVal val="0"/>
                                          </p:val>
                                        </p:tav>
                                        <p:tav tm="100000">
                                          <p:val>
                                            <p:fltVal val="1"/>
                                          </p:val>
                                        </p:tav>
                                      </p:tavLst>
                                    </p:anim>
                                    <p:anim calcmode="lin" valueType="num">
                                      <p:cBhvr>
                                        <p:cTn id="124" dur="2000" fill="hold"/>
                                        <p:tgtEl>
                                          <p:spTgt spid="148"/>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19"/>
                                            </p:cond>
                                          </p:stCondLst>
                                          <p:endCondLst>
                                            <p:cond evt="onStopAudio" delay="0">
                                              <p:tgtEl>
                                                <p:sldTgt/>
                                              </p:tgtEl>
                                            </p:cond>
                                          </p:endCondLst>
                                        </p:cTn>
                                        <p:tgtEl>
                                          <p:sndTgt r:embed="rId4" name="CHIMES.WAV"/>
                                        </p:tgtEl>
                                      </p:cMediaNode>
                                    </p:audio>
                                  </p:subTnLst>
                                </p:cTn>
                              </p:par>
                            </p:childTnLst>
                          </p:cTn>
                        </p:par>
                        <p:par>
                          <p:cTn id="125" fill="hold">
                            <p:stCondLst>
                              <p:cond delay="37000"/>
                            </p:stCondLst>
                            <p:childTnLst>
                              <p:par>
                                <p:cTn id="126" presetID="15" presetClass="entr" presetSubtype="0" fill="hold" nodeType="afterEffect">
                                  <p:stCondLst>
                                    <p:cond delay="0"/>
                                  </p:stCondLst>
                                  <p:childTnLst>
                                    <p:set>
                                      <p:cBhvr>
                                        <p:cTn id="127" dur="1" fill="hold">
                                          <p:stCondLst>
                                            <p:cond delay="0"/>
                                          </p:stCondLst>
                                        </p:cTn>
                                        <p:tgtEl>
                                          <p:spTgt spid="151"/>
                                        </p:tgtEl>
                                        <p:attrNameLst>
                                          <p:attrName>style.visibility</p:attrName>
                                        </p:attrNameLst>
                                      </p:cBhvr>
                                      <p:to>
                                        <p:strVal val="visible"/>
                                      </p:to>
                                    </p:set>
                                    <p:anim calcmode="lin" valueType="num">
                                      <p:cBhvr>
                                        <p:cTn id="128" dur="2000" fill="hold"/>
                                        <p:tgtEl>
                                          <p:spTgt spid="151"/>
                                        </p:tgtEl>
                                        <p:attrNameLst>
                                          <p:attrName>ppt_w</p:attrName>
                                        </p:attrNameLst>
                                      </p:cBhvr>
                                      <p:tavLst>
                                        <p:tav tm="0">
                                          <p:val>
                                            <p:fltVal val="0"/>
                                          </p:val>
                                        </p:tav>
                                        <p:tav tm="100000">
                                          <p:val>
                                            <p:strVal val="#ppt_w"/>
                                          </p:val>
                                        </p:tav>
                                      </p:tavLst>
                                    </p:anim>
                                    <p:anim calcmode="lin" valueType="num">
                                      <p:cBhvr>
                                        <p:cTn id="129" dur="2000" fill="hold"/>
                                        <p:tgtEl>
                                          <p:spTgt spid="151"/>
                                        </p:tgtEl>
                                        <p:attrNameLst>
                                          <p:attrName>ppt_h</p:attrName>
                                        </p:attrNameLst>
                                      </p:cBhvr>
                                      <p:tavLst>
                                        <p:tav tm="0">
                                          <p:val>
                                            <p:fltVal val="0"/>
                                          </p:val>
                                        </p:tav>
                                        <p:tav tm="100000">
                                          <p:val>
                                            <p:strVal val="#ppt_h"/>
                                          </p:val>
                                        </p:tav>
                                      </p:tavLst>
                                    </p:anim>
                                    <p:anim calcmode="lin" valueType="num">
                                      <p:cBhvr>
                                        <p:cTn id="130" dur="2000" fill="hold"/>
                                        <p:tgtEl>
                                          <p:spTgt spid="151"/>
                                        </p:tgtEl>
                                        <p:attrNameLst>
                                          <p:attrName>ppt_x</p:attrName>
                                        </p:attrNameLst>
                                      </p:cBhvr>
                                      <p:tavLst>
                                        <p:tav tm="0" fmla="#ppt_x+(cos(-2*pi*(1-$))*-#ppt_x-sin(-2*pi*(1-$))*(1-#ppt_y))*(1-$)">
                                          <p:val>
                                            <p:fltVal val="0"/>
                                          </p:val>
                                        </p:tav>
                                        <p:tav tm="100000">
                                          <p:val>
                                            <p:fltVal val="1"/>
                                          </p:val>
                                        </p:tav>
                                      </p:tavLst>
                                    </p:anim>
                                    <p:anim calcmode="lin" valueType="num">
                                      <p:cBhvr>
                                        <p:cTn id="131" dur="2000" fill="hold"/>
                                        <p:tgtEl>
                                          <p:spTgt spid="151"/>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2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p:bldP spid="133" grpId="0" autoUpdateAnimBg="0"/>
      <p:bldP spid="134" grpId="0" autoUpdateAnimBg="0"/>
      <p:bldP spid="135" grpId="0" autoUpdateAnimBg="0"/>
      <p:bldP spid="137" grpId="0" animBg="1"/>
      <p:bldP spid="140" grpId="0" autoUpdateAnimBg="0"/>
      <p:bldP spid="141" grpId="0" autoUpdateAnimBg="0"/>
      <p:bldP spid="145" grpId="0" animBg="1"/>
      <p:bldP spid="146" grpId="0" animBg="1"/>
      <p:bldP spid="147" grpId="0" autoUpdateAnimBg="0"/>
      <p:bldP spid="15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136" name="矩形 135">
            <a:extLst>
              <a:ext uri="{FF2B5EF4-FFF2-40B4-BE49-F238E27FC236}">
                <a16:creationId xmlns:a16="http://schemas.microsoft.com/office/drawing/2014/main" xmlns="" id="{396E3A4E-3DCE-51D1-DE56-78AC0CFE008B}"/>
              </a:ext>
            </a:extLst>
          </p:cNvPr>
          <p:cNvSpPr/>
          <p:nvPr/>
        </p:nvSpPr>
        <p:spPr>
          <a:xfrm>
            <a:off x="211184" y="994888"/>
            <a:ext cx="8479452" cy="520848"/>
          </a:xfrm>
          <a:prstGeom prst="rect">
            <a:avLst/>
          </a:prstGeom>
        </p:spPr>
        <p:txBody>
          <a:bodyPr wrap="square">
            <a:spAutoFit/>
          </a:bodyPr>
          <a:lstStyle/>
          <a:p>
            <a:pPr lvl="0">
              <a:lnSpc>
                <a:spcPct val="130000"/>
              </a:lnSpc>
            </a:pPr>
            <a:r>
              <a:rPr lang="zh-CN" altLang="en-US" i="0" dirty="0">
                <a:solidFill>
                  <a:srgbClr val="0033CC"/>
                </a:solidFill>
                <a:ea typeface="黑体" panose="02010609060101010101" pitchFamily="49" charset="-122"/>
              </a:rPr>
              <a:t>     </a:t>
            </a:r>
            <a:r>
              <a:rPr lang="en-US" altLang="zh-CN" i="0" dirty="0">
                <a:solidFill>
                  <a:schemeClr val="tx1"/>
                </a:solidFill>
                <a:ea typeface="黑体" panose="02010609060101010101" pitchFamily="49" charset="-122"/>
              </a:rPr>
              <a:t>3</a:t>
            </a:r>
            <a:r>
              <a:rPr kumimoji="1" lang="zh-CN" altLang="en-US" i="0" dirty="0">
                <a:solidFill>
                  <a:schemeClr val="tx1"/>
                </a:solidFill>
                <a:ea typeface="黑体" panose="02010609060101010101" pitchFamily="49" charset="-122"/>
              </a:rPr>
              <a:t>）按强度条件设计轴的直径</a:t>
            </a:r>
            <a:endParaRPr kumimoji="1" lang="en-US" altLang="zh-CN" i="0" dirty="0">
              <a:solidFill>
                <a:schemeClr val="tx1"/>
              </a:solidFill>
              <a:latin typeface="+mn-lt"/>
              <a:ea typeface="黑体" panose="02010609060101010101" pitchFamily="49" charset="-122"/>
            </a:endParaRPr>
          </a:p>
        </p:txBody>
      </p:sp>
      <p:sp>
        <p:nvSpPr>
          <p:cNvPr id="2" name="Rectangle 61">
            <a:extLst>
              <a:ext uri="{FF2B5EF4-FFF2-40B4-BE49-F238E27FC236}">
                <a16:creationId xmlns:a16="http://schemas.microsoft.com/office/drawing/2014/main" xmlns="" id="{B52825A5-387A-A88E-2502-3D396EC111AE}"/>
              </a:ext>
            </a:extLst>
          </p:cNvPr>
          <p:cNvSpPr>
            <a:spLocks noChangeArrowheads="1"/>
          </p:cNvSpPr>
          <p:nvPr/>
        </p:nvSpPr>
        <p:spPr bwMode="auto">
          <a:xfrm>
            <a:off x="7608168" y="919848"/>
            <a:ext cx="4236750" cy="5222595"/>
          </a:xfrm>
          <a:prstGeom prst="rect">
            <a:avLst/>
          </a:prstGeom>
          <a:solidFill>
            <a:srgbClr val="B9CDE5"/>
          </a:solidFill>
          <a:ln>
            <a:noFill/>
          </a:ln>
          <a:effectLst/>
        </p:spPr>
        <p:txBody>
          <a:bodyPr wrap="none" anchor="ctr"/>
          <a:lstStyle/>
          <a:p>
            <a:endParaRPr lang="zh-CN" altLang="en-US" dirty="0"/>
          </a:p>
        </p:txBody>
      </p:sp>
      <p:grpSp>
        <p:nvGrpSpPr>
          <p:cNvPr id="4" name="Group 83">
            <a:extLst>
              <a:ext uri="{FF2B5EF4-FFF2-40B4-BE49-F238E27FC236}">
                <a16:creationId xmlns:a16="http://schemas.microsoft.com/office/drawing/2014/main" xmlns="" id="{3792CF08-D717-DE24-5238-7953DE54A3B4}"/>
              </a:ext>
            </a:extLst>
          </p:cNvPr>
          <p:cNvGrpSpPr>
            <a:grpSpLocks/>
          </p:cNvGrpSpPr>
          <p:nvPr/>
        </p:nvGrpSpPr>
        <p:grpSpPr bwMode="auto">
          <a:xfrm>
            <a:off x="8006423" y="1379138"/>
            <a:ext cx="3616325" cy="1574801"/>
            <a:chOff x="3234" y="0"/>
            <a:chExt cx="2278" cy="992"/>
          </a:xfrm>
        </p:grpSpPr>
        <p:grpSp>
          <p:nvGrpSpPr>
            <p:cNvPr id="5" name="Group 58">
              <a:extLst>
                <a:ext uri="{FF2B5EF4-FFF2-40B4-BE49-F238E27FC236}">
                  <a16:creationId xmlns:a16="http://schemas.microsoft.com/office/drawing/2014/main" xmlns="" id="{62F49C97-8835-7DEB-E12D-91C06B7C6F77}"/>
                </a:ext>
              </a:extLst>
            </p:cNvPr>
            <p:cNvGrpSpPr>
              <a:grpSpLocks/>
            </p:cNvGrpSpPr>
            <p:nvPr/>
          </p:nvGrpSpPr>
          <p:grpSpPr bwMode="auto">
            <a:xfrm>
              <a:off x="3234" y="0"/>
              <a:ext cx="2278" cy="992"/>
              <a:chOff x="2692" y="0"/>
              <a:chExt cx="2278" cy="992"/>
            </a:xfrm>
          </p:grpSpPr>
          <p:grpSp>
            <p:nvGrpSpPr>
              <p:cNvPr id="11" name="Group 18">
                <a:extLst>
                  <a:ext uri="{FF2B5EF4-FFF2-40B4-BE49-F238E27FC236}">
                    <a16:creationId xmlns:a16="http://schemas.microsoft.com/office/drawing/2014/main" xmlns="" id="{94B43ADC-BC41-6DA6-6615-961D35680C46}"/>
                  </a:ext>
                </a:extLst>
              </p:cNvPr>
              <p:cNvGrpSpPr>
                <a:grpSpLocks/>
              </p:cNvGrpSpPr>
              <p:nvPr/>
            </p:nvGrpSpPr>
            <p:grpSpPr bwMode="auto">
              <a:xfrm>
                <a:off x="2849" y="356"/>
                <a:ext cx="257" cy="419"/>
                <a:chOff x="2762" y="2234"/>
                <a:chExt cx="397" cy="648"/>
              </a:xfrm>
            </p:grpSpPr>
            <p:sp>
              <p:nvSpPr>
                <p:cNvPr id="308" name="Freeform 19">
                  <a:extLst>
                    <a:ext uri="{FF2B5EF4-FFF2-40B4-BE49-F238E27FC236}">
                      <a16:creationId xmlns:a16="http://schemas.microsoft.com/office/drawing/2014/main" xmlns="" id="{E6B5933B-11AB-C7D5-4666-A16F678A6A42}"/>
                    </a:ext>
                  </a:extLst>
                </p:cNvPr>
                <p:cNvSpPr>
                  <a:spLocks/>
                </p:cNvSpPr>
                <p:nvPr/>
              </p:nvSpPr>
              <p:spPr bwMode="auto">
                <a:xfrm>
                  <a:off x="2767" y="2234"/>
                  <a:ext cx="233" cy="648"/>
                </a:xfrm>
                <a:custGeom>
                  <a:avLst/>
                  <a:gdLst/>
                  <a:ahLst/>
                  <a:cxnLst>
                    <a:cxn ang="0">
                      <a:pos x="142" y="4"/>
                    </a:cxn>
                    <a:cxn ang="0">
                      <a:pos x="124" y="6"/>
                    </a:cxn>
                    <a:cxn ang="0">
                      <a:pos x="88" y="32"/>
                    </a:cxn>
                    <a:cxn ang="0">
                      <a:pos x="62" y="64"/>
                    </a:cxn>
                    <a:cxn ang="0">
                      <a:pos x="32" y="128"/>
                    </a:cxn>
                    <a:cxn ang="0">
                      <a:pos x="10" y="206"/>
                    </a:cxn>
                    <a:cxn ang="0">
                      <a:pos x="0" y="332"/>
                    </a:cxn>
                    <a:cxn ang="0">
                      <a:pos x="4" y="402"/>
                    </a:cxn>
                    <a:cxn ang="0">
                      <a:pos x="30" y="510"/>
                    </a:cxn>
                    <a:cxn ang="0">
                      <a:pos x="54" y="572"/>
                    </a:cxn>
                    <a:cxn ang="0">
                      <a:pos x="86" y="616"/>
                    </a:cxn>
                    <a:cxn ang="0">
                      <a:pos x="128" y="644"/>
                    </a:cxn>
                    <a:cxn ang="0">
                      <a:pos x="234" y="640"/>
                    </a:cxn>
                    <a:cxn ang="0">
                      <a:pos x="226" y="4"/>
                    </a:cxn>
                    <a:cxn ang="0">
                      <a:pos x="142" y="4"/>
                    </a:cxn>
                  </a:cxnLst>
                  <a:rect l="0" t="0" r="r" b="b"/>
                  <a:pathLst>
                    <a:path w="234" h="648">
                      <a:moveTo>
                        <a:pt x="142" y="4"/>
                      </a:moveTo>
                      <a:cubicBezTo>
                        <a:pt x="144" y="6"/>
                        <a:pt x="133" y="1"/>
                        <a:pt x="124" y="6"/>
                      </a:cubicBezTo>
                      <a:cubicBezTo>
                        <a:pt x="115" y="11"/>
                        <a:pt x="98" y="22"/>
                        <a:pt x="88" y="32"/>
                      </a:cubicBezTo>
                      <a:cubicBezTo>
                        <a:pt x="78" y="42"/>
                        <a:pt x="71" y="48"/>
                        <a:pt x="62" y="64"/>
                      </a:cubicBezTo>
                      <a:cubicBezTo>
                        <a:pt x="53" y="80"/>
                        <a:pt x="36" y="102"/>
                        <a:pt x="32" y="128"/>
                      </a:cubicBezTo>
                      <a:cubicBezTo>
                        <a:pt x="23" y="152"/>
                        <a:pt x="16" y="172"/>
                        <a:pt x="10" y="206"/>
                      </a:cubicBezTo>
                      <a:cubicBezTo>
                        <a:pt x="5" y="240"/>
                        <a:pt x="1" y="299"/>
                        <a:pt x="0" y="332"/>
                      </a:cubicBezTo>
                      <a:cubicBezTo>
                        <a:pt x="4" y="368"/>
                        <a:pt x="0" y="368"/>
                        <a:pt x="4" y="402"/>
                      </a:cubicBezTo>
                      <a:cubicBezTo>
                        <a:pt x="12" y="442"/>
                        <a:pt x="18" y="478"/>
                        <a:pt x="30" y="510"/>
                      </a:cubicBezTo>
                      <a:cubicBezTo>
                        <a:pt x="39" y="538"/>
                        <a:pt x="45" y="554"/>
                        <a:pt x="54" y="572"/>
                      </a:cubicBezTo>
                      <a:cubicBezTo>
                        <a:pt x="63" y="590"/>
                        <a:pt x="74" y="604"/>
                        <a:pt x="86" y="616"/>
                      </a:cubicBezTo>
                      <a:cubicBezTo>
                        <a:pt x="106" y="632"/>
                        <a:pt x="103" y="640"/>
                        <a:pt x="128" y="644"/>
                      </a:cubicBezTo>
                      <a:cubicBezTo>
                        <a:pt x="153" y="648"/>
                        <a:pt x="134" y="648"/>
                        <a:pt x="234" y="640"/>
                      </a:cubicBezTo>
                      <a:cubicBezTo>
                        <a:pt x="152" y="532"/>
                        <a:pt x="98" y="232"/>
                        <a:pt x="226" y="4"/>
                      </a:cubicBezTo>
                      <a:cubicBezTo>
                        <a:pt x="158" y="0"/>
                        <a:pt x="158" y="10"/>
                        <a:pt x="142" y="4"/>
                      </a:cubicBezTo>
                      <a:close/>
                    </a:path>
                  </a:pathLst>
                </a:custGeom>
                <a:gradFill rotWithShape="1">
                  <a:gsLst>
                    <a:gs pos="0">
                      <a:srgbClr val="FFFFFF">
                        <a:gamma/>
                        <a:shade val="41176"/>
                        <a:invGamma/>
                      </a:srgbClr>
                    </a:gs>
                    <a:gs pos="50000">
                      <a:srgbClr val="FFFFFF"/>
                    </a:gs>
                    <a:gs pos="100000">
                      <a:srgbClr val="FFFFFF">
                        <a:gamma/>
                        <a:shade val="41176"/>
                        <a:invGamma/>
                      </a:srgbClr>
                    </a:gs>
                  </a:gsLst>
                  <a:lin ang="5400000" scaled="1"/>
                </a:gradFill>
                <a:ln w="9525">
                  <a:no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10" name="Oval 20">
                  <a:extLst>
                    <a:ext uri="{FF2B5EF4-FFF2-40B4-BE49-F238E27FC236}">
                      <a16:creationId xmlns:a16="http://schemas.microsoft.com/office/drawing/2014/main" xmlns="" id="{E515CAFF-2D6F-7D66-F07C-334B76B28E4B}"/>
                    </a:ext>
                  </a:extLst>
                </p:cNvPr>
                <p:cNvSpPr>
                  <a:spLocks noChangeArrowheads="1"/>
                </p:cNvSpPr>
                <p:nvPr/>
              </p:nvSpPr>
              <p:spPr bwMode="auto">
                <a:xfrm>
                  <a:off x="2855" y="2243"/>
                  <a:ext cx="304" cy="637"/>
                </a:xfrm>
                <a:prstGeom prst="ellipse">
                  <a:avLst/>
                </a:prstGeom>
                <a:gradFill rotWithShape="1">
                  <a:gsLst>
                    <a:gs pos="0">
                      <a:srgbClr val="FFFFFF"/>
                    </a:gs>
                    <a:gs pos="100000">
                      <a:srgbClr val="FFFFFF">
                        <a:gamma/>
                        <a:shade val="60392"/>
                        <a:invGamma/>
                      </a:srgbClr>
                    </a:gs>
                  </a:gsLst>
                  <a:path path="shape">
                    <a:fillToRect l="50000" t="50000" r="50000" b="50000"/>
                  </a:path>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11" name="Line 21">
                  <a:extLst>
                    <a:ext uri="{FF2B5EF4-FFF2-40B4-BE49-F238E27FC236}">
                      <a16:creationId xmlns:a16="http://schemas.microsoft.com/office/drawing/2014/main" xmlns="" id="{E90EBB3F-DB61-631B-17D8-EC52B6CF4E64}"/>
                    </a:ext>
                  </a:extLst>
                </p:cNvPr>
                <p:cNvSpPr>
                  <a:spLocks noChangeShapeType="1"/>
                </p:cNvSpPr>
                <p:nvPr/>
              </p:nvSpPr>
              <p:spPr bwMode="auto">
                <a:xfrm flipH="1">
                  <a:off x="2904" y="2242"/>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12" name="Line 22">
                  <a:extLst>
                    <a:ext uri="{FF2B5EF4-FFF2-40B4-BE49-F238E27FC236}">
                      <a16:creationId xmlns:a16="http://schemas.microsoft.com/office/drawing/2014/main" xmlns="" id="{3E86703E-268E-8044-F2E7-4AE1461C687D}"/>
                    </a:ext>
                  </a:extLst>
                </p:cNvPr>
                <p:cNvSpPr>
                  <a:spLocks noChangeShapeType="1"/>
                </p:cNvSpPr>
                <p:nvPr/>
              </p:nvSpPr>
              <p:spPr bwMode="auto">
                <a:xfrm flipH="1">
                  <a:off x="2896" y="2880"/>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13" name="Freeform 23">
                  <a:extLst>
                    <a:ext uri="{FF2B5EF4-FFF2-40B4-BE49-F238E27FC236}">
                      <a16:creationId xmlns:a16="http://schemas.microsoft.com/office/drawing/2014/main" xmlns="" id="{A4A9C96A-7BD4-BC0C-9450-1A790E4508F1}"/>
                    </a:ext>
                  </a:extLst>
                </p:cNvPr>
                <p:cNvSpPr>
                  <a:spLocks/>
                </p:cNvSpPr>
                <p:nvPr/>
              </p:nvSpPr>
              <p:spPr bwMode="auto">
                <a:xfrm>
                  <a:off x="2762" y="2241"/>
                  <a:ext cx="148" cy="637"/>
                </a:xfrm>
                <a:custGeom>
                  <a:avLst/>
                  <a:gdLst>
                    <a:gd name="T0" fmla="*/ 148 w 148"/>
                    <a:gd name="T1" fmla="*/ 1 h 637"/>
                    <a:gd name="T2" fmla="*/ 126 w 148"/>
                    <a:gd name="T3" fmla="*/ 5 h 637"/>
                    <a:gd name="T4" fmla="*/ 90 w 148"/>
                    <a:gd name="T5" fmla="*/ 31 h 637"/>
                    <a:gd name="T6" fmla="*/ 64 w 148"/>
                    <a:gd name="T7" fmla="*/ 63 h 637"/>
                    <a:gd name="T8" fmla="*/ 30 w 148"/>
                    <a:gd name="T9" fmla="*/ 129 h 637"/>
                    <a:gd name="T10" fmla="*/ 12 w 148"/>
                    <a:gd name="T11" fmla="*/ 205 h 637"/>
                    <a:gd name="T12" fmla="*/ 2 w 148"/>
                    <a:gd name="T13" fmla="*/ 331 h 637"/>
                    <a:gd name="T14" fmla="*/ 6 w 148"/>
                    <a:gd name="T15" fmla="*/ 401 h 637"/>
                    <a:gd name="T16" fmla="*/ 32 w 148"/>
                    <a:gd name="T17" fmla="*/ 509 h 637"/>
                    <a:gd name="T18" fmla="*/ 60 w 148"/>
                    <a:gd name="T19" fmla="*/ 571 h 637"/>
                    <a:gd name="T20" fmla="*/ 92 w 148"/>
                    <a:gd name="T21" fmla="*/ 611 h 637"/>
                    <a:gd name="T22" fmla="*/ 136 w 148"/>
                    <a:gd name="T23" fmla="*/ 637 h 6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637"/>
                    <a:gd name="T38" fmla="*/ 148 w 148"/>
                    <a:gd name="T39" fmla="*/ 637 h 6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637">
                      <a:moveTo>
                        <a:pt x="148" y="1"/>
                      </a:moveTo>
                      <a:cubicBezTo>
                        <a:pt x="144" y="2"/>
                        <a:pt x="136" y="0"/>
                        <a:pt x="126" y="5"/>
                      </a:cubicBezTo>
                      <a:cubicBezTo>
                        <a:pt x="116" y="10"/>
                        <a:pt x="100" y="21"/>
                        <a:pt x="90" y="31"/>
                      </a:cubicBezTo>
                      <a:cubicBezTo>
                        <a:pt x="80" y="41"/>
                        <a:pt x="74" y="47"/>
                        <a:pt x="64" y="63"/>
                      </a:cubicBezTo>
                      <a:cubicBezTo>
                        <a:pt x="54" y="79"/>
                        <a:pt x="40" y="97"/>
                        <a:pt x="30" y="129"/>
                      </a:cubicBezTo>
                      <a:cubicBezTo>
                        <a:pt x="18" y="161"/>
                        <a:pt x="18" y="171"/>
                        <a:pt x="12" y="205"/>
                      </a:cubicBezTo>
                      <a:cubicBezTo>
                        <a:pt x="4" y="243"/>
                        <a:pt x="3" y="298"/>
                        <a:pt x="2" y="331"/>
                      </a:cubicBezTo>
                      <a:cubicBezTo>
                        <a:pt x="0" y="369"/>
                        <a:pt x="6" y="373"/>
                        <a:pt x="6" y="401"/>
                      </a:cubicBezTo>
                      <a:cubicBezTo>
                        <a:pt x="14" y="441"/>
                        <a:pt x="18" y="471"/>
                        <a:pt x="32" y="509"/>
                      </a:cubicBezTo>
                      <a:cubicBezTo>
                        <a:pt x="41" y="537"/>
                        <a:pt x="51" y="555"/>
                        <a:pt x="60" y="571"/>
                      </a:cubicBezTo>
                      <a:cubicBezTo>
                        <a:pt x="70" y="588"/>
                        <a:pt x="78" y="593"/>
                        <a:pt x="92" y="611"/>
                      </a:cubicBezTo>
                      <a:cubicBezTo>
                        <a:pt x="112" y="627"/>
                        <a:pt x="127" y="632"/>
                        <a:pt x="136" y="637"/>
                      </a:cubicBez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2" name="AutoShape 24">
                <a:extLst>
                  <a:ext uri="{FF2B5EF4-FFF2-40B4-BE49-F238E27FC236}">
                    <a16:creationId xmlns:a16="http://schemas.microsoft.com/office/drawing/2014/main" xmlns="" id="{B94AD989-2789-F95A-A1F2-39F618C24BD7}"/>
                  </a:ext>
                </a:extLst>
              </p:cNvPr>
              <p:cNvSpPr>
                <a:spLocks noChangeArrowheads="1"/>
              </p:cNvSpPr>
              <p:nvPr/>
            </p:nvSpPr>
            <p:spPr bwMode="auto">
              <a:xfrm>
                <a:off x="2976" y="506"/>
                <a:ext cx="520" cy="119"/>
              </a:xfrm>
              <a:prstGeom prst="roundRect">
                <a:avLst>
                  <a:gd name="adj" fmla="val 41176"/>
                </a:avLst>
              </a:prstGeom>
              <a:gradFill rotWithShape="1">
                <a:gsLst>
                  <a:gs pos="0">
                    <a:srgbClr val="FFFFFF">
                      <a:gamma/>
                      <a:shade val="9412"/>
                      <a:invGamma/>
                    </a:srgbClr>
                  </a:gs>
                  <a:gs pos="50000">
                    <a:srgbClr val="FFFFFF"/>
                  </a:gs>
                  <a:gs pos="100000">
                    <a:srgbClr val="FFFFFF">
                      <a:gamma/>
                      <a:shade val="9412"/>
                      <a:invGamma/>
                    </a:srgbClr>
                  </a:gs>
                </a:gsLst>
                <a:lin ang="5400000" scaled="1"/>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grpSp>
            <p:nvGrpSpPr>
              <p:cNvPr id="13" name="Group 25">
                <a:extLst>
                  <a:ext uri="{FF2B5EF4-FFF2-40B4-BE49-F238E27FC236}">
                    <a16:creationId xmlns:a16="http://schemas.microsoft.com/office/drawing/2014/main" xmlns="" id="{55F137A6-3FAA-9560-BE92-FBD127038244}"/>
                  </a:ext>
                </a:extLst>
              </p:cNvPr>
              <p:cNvGrpSpPr>
                <a:grpSpLocks/>
              </p:cNvGrpSpPr>
              <p:nvPr/>
            </p:nvGrpSpPr>
            <p:grpSpPr bwMode="auto">
              <a:xfrm>
                <a:off x="3375" y="356"/>
                <a:ext cx="257" cy="419"/>
                <a:chOff x="2762" y="2234"/>
                <a:chExt cx="397" cy="648"/>
              </a:xfrm>
            </p:grpSpPr>
            <p:sp>
              <p:nvSpPr>
                <p:cNvPr id="303" name="Freeform 26">
                  <a:extLst>
                    <a:ext uri="{FF2B5EF4-FFF2-40B4-BE49-F238E27FC236}">
                      <a16:creationId xmlns:a16="http://schemas.microsoft.com/office/drawing/2014/main" xmlns="" id="{906CE188-CDD0-EFDB-DF7A-79EE6CEE00A7}"/>
                    </a:ext>
                  </a:extLst>
                </p:cNvPr>
                <p:cNvSpPr>
                  <a:spLocks/>
                </p:cNvSpPr>
                <p:nvPr/>
              </p:nvSpPr>
              <p:spPr bwMode="auto">
                <a:xfrm>
                  <a:off x="2767" y="2234"/>
                  <a:ext cx="233" cy="648"/>
                </a:xfrm>
                <a:custGeom>
                  <a:avLst/>
                  <a:gdLst/>
                  <a:ahLst/>
                  <a:cxnLst>
                    <a:cxn ang="0">
                      <a:pos x="142" y="4"/>
                    </a:cxn>
                    <a:cxn ang="0">
                      <a:pos x="124" y="6"/>
                    </a:cxn>
                    <a:cxn ang="0">
                      <a:pos x="88" y="32"/>
                    </a:cxn>
                    <a:cxn ang="0">
                      <a:pos x="62" y="64"/>
                    </a:cxn>
                    <a:cxn ang="0">
                      <a:pos x="32" y="128"/>
                    </a:cxn>
                    <a:cxn ang="0">
                      <a:pos x="10" y="206"/>
                    </a:cxn>
                    <a:cxn ang="0">
                      <a:pos x="0" y="332"/>
                    </a:cxn>
                    <a:cxn ang="0">
                      <a:pos x="4" y="402"/>
                    </a:cxn>
                    <a:cxn ang="0">
                      <a:pos x="30" y="510"/>
                    </a:cxn>
                    <a:cxn ang="0">
                      <a:pos x="54" y="572"/>
                    </a:cxn>
                    <a:cxn ang="0">
                      <a:pos x="86" y="616"/>
                    </a:cxn>
                    <a:cxn ang="0">
                      <a:pos x="128" y="644"/>
                    </a:cxn>
                    <a:cxn ang="0">
                      <a:pos x="234" y="640"/>
                    </a:cxn>
                    <a:cxn ang="0">
                      <a:pos x="226" y="4"/>
                    </a:cxn>
                    <a:cxn ang="0">
                      <a:pos x="142" y="4"/>
                    </a:cxn>
                  </a:cxnLst>
                  <a:rect l="0" t="0" r="r" b="b"/>
                  <a:pathLst>
                    <a:path w="234" h="648">
                      <a:moveTo>
                        <a:pt x="142" y="4"/>
                      </a:moveTo>
                      <a:cubicBezTo>
                        <a:pt x="144" y="6"/>
                        <a:pt x="133" y="1"/>
                        <a:pt x="124" y="6"/>
                      </a:cubicBezTo>
                      <a:cubicBezTo>
                        <a:pt x="115" y="11"/>
                        <a:pt x="98" y="22"/>
                        <a:pt x="88" y="32"/>
                      </a:cubicBezTo>
                      <a:cubicBezTo>
                        <a:pt x="78" y="42"/>
                        <a:pt x="71" y="48"/>
                        <a:pt x="62" y="64"/>
                      </a:cubicBezTo>
                      <a:cubicBezTo>
                        <a:pt x="53" y="80"/>
                        <a:pt x="36" y="102"/>
                        <a:pt x="32" y="128"/>
                      </a:cubicBezTo>
                      <a:cubicBezTo>
                        <a:pt x="23" y="152"/>
                        <a:pt x="16" y="172"/>
                        <a:pt x="10" y="206"/>
                      </a:cubicBezTo>
                      <a:cubicBezTo>
                        <a:pt x="5" y="240"/>
                        <a:pt x="1" y="299"/>
                        <a:pt x="0" y="332"/>
                      </a:cubicBezTo>
                      <a:cubicBezTo>
                        <a:pt x="4" y="368"/>
                        <a:pt x="0" y="368"/>
                        <a:pt x="4" y="402"/>
                      </a:cubicBezTo>
                      <a:cubicBezTo>
                        <a:pt x="12" y="442"/>
                        <a:pt x="18" y="478"/>
                        <a:pt x="30" y="510"/>
                      </a:cubicBezTo>
                      <a:cubicBezTo>
                        <a:pt x="39" y="538"/>
                        <a:pt x="45" y="554"/>
                        <a:pt x="54" y="572"/>
                      </a:cubicBezTo>
                      <a:cubicBezTo>
                        <a:pt x="63" y="590"/>
                        <a:pt x="74" y="604"/>
                        <a:pt x="86" y="616"/>
                      </a:cubicBezTo>
                      <a:cubicBezTo>
                        <a:pt x="106" y="632"/>
                        <a:pt x="103" y="640"/>
                        <a:pt x="128" y="644"/>
                      </a:cubicBezTo>
                      <a:cubicBezTo>
                        <a:pt x="153" y="648"/>
                        <a:pt x="134" y="648"/>
                        <a:pt x="234" y="640"/>
                      </a:cubicBezTo>
                      <a:cubicBezTo>
                        <a:pt x="152" y="532"/>
                        <a:pt x="98" y="232"/>
                        <a:pt x="226" y="4"/>
                      </a:cubicBezTo>
                      <a:cubicBezTo>
                        <a:pt x="158" y="0"/>
                        <a:pt x="158" y="10"/>
                        <a:pt x="142" y="4"/>
                      </a:cubicBezTo>
                      <a:close/>
                    </a:path>
                  </a:pathLst>
                </a:custGeom>
                <a:gradFill rotWithShape="1">
                  <a:gsLst>
                    <a:gs pos="0">
                      <a:srgbClr val="FFFFFF">
                        <a:gamma/>
                        <a:shade val="41176"/>
                        <a:invGamma/>
                      </a:srgbClr>
                    </a:gs>
                    <a:gs pos="50000">
                      <a:srgbClr val="FFFFFF"/>
                    </a:gs>
                    <a:gs pos="100000">
                      <a:srgbClr val="FFFFFF">
                        <a:gamma/>
                        <a:shade val="41176"/>
                        <a:invGamma/>
                      </a:srgbClr>
                    </a:gs>
                  </a:gsLst>
                  <a:lin ang="5400000" scaled="1"/>
                </a:gradFill>
                <a:ln w="9525">
                  <a:no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04" name="Oval 27">
                  <a:extLst>
                    <a:ext uri="{FF2B5EF4-FFF2-40B4-BE49-F238E27FC236}">
                      <a16:creationId xmlns:a16="http://schemas.microsoft.com/office/drawing/2014/main" xmlns="" id="{79907330-A244-4B0D-71DD-49CB42A5AE90}"/>
                    </a:ext>
                  </a:extLst>
                </p:cNvPr>
                <p:cNvSpPr>
                  <a:spLocks noChangeArrowheads="1"/>
                </p:cNvSpPr>
                <p:nvPr/>
              </p:nvSpPr>
              <p:spPr bwMode="auto">
                <a:xfrm>
                  <a:off x="2855" y="2243"/>
                  <a:ext cx="304" cy="637"/>
                </a:xfrm>
                <a:prstGeom prst="ellipse">
                  <a:avLst/>
                </a:prstGeom>
                <a:gradFill rotWithShape="1">
                  <a:gsLst>
                    <a:gs pos="0">
                      <a:srgbClr val="FFFFFF"/>
                    </a:gs>
                    <a:gs pos="100000">
                      <a:srgbClr val="FFFFFF">
                        <a:gamma/>
                        <a:shade val="60392"/>
                        <a:invGamma/>
                      </a:srgbClr>
                    </a:gs>
                  </a:gsLst>
                  <a:path path="shape">
                    <a:fillToRect l="50000" t="50000" r="50000" b="50000"/>
                  </a:path>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05" name="Line 28">
                  <a:extLst>
                    <a:ext uri="{FF2B5EF4-FFF2-40B4-BE49-F238E27FC236}">
                      <a16:creationId xmlns:a16="http://schemas.microsoft.com/office/drawing/2014/main" xmlns="" id="{13D07427-B04C-AC63-1A86-641D53CE05FC}"/>
                    </a:ext>
                  </a:extLst>
                </p:cNvPr>
                <p:cNvSpPr>
                  <a:spLocks noChangeShapeType="1"/>
                </p:cNvSpPr>
                <p:nvPr/>
              </p:nvSpPr>
              <p:spPr bwMode="auto">
                <a:xfrm flipH="1">
                  <a:off x="2904" y="2242"/>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6" name="Line 29">
                  <a:extLst>
                    <a:ext uri="{FF2B5EF4-FFF2-40B4-BE49-F238E27FC236}">
                      <a16:creationId xmlns:a16="http://schemas.microsoft.com/office/drawing/2014/main" xmlns="" id="{0426A766-A705-EEFC-AA2A-7CD3739F342E}"/>
                    </a:ext>
                  </a:extLst>
                </p:cNvPr>
                <p:cNvSpPr>
                  <a:spLocks noChangeShapeType="1"/>
                </p:cNvSpPr>
                <p:nvPr/>
              </p:nvSpPr>
              <p:spPr bwMode="auto">
                <a:xfrm flipH="1">
                  <a:off x="2896" y="2880"/>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7" name="Freeform 30">
                  <a:extLst>
                    <a:ext uri="{FF2B5EF4-FFF2-40B4-BE49-F238E27FC236}">
                      <a16:creationId xmlns:a16="http://schemas.microsoft.com/office/drawing/2014/main" xmlns="" id="{6D420CEC-05C0-CE0A-75A0-CD4070ED9A3D}"/>
                    </a:ext>
                  </a:extLst>
                </p:cNvPr>
                <p:cNvSpPr>
                  <a:spLocks/>
                </p:cNvSpPr>
                <p:nvPr/>
              </p:nvSpPr>
              <p:spPr bwMode="auto">
                <a:xfrm>
                  <a:off x="2762" y="2241"/>
                  <a:ext cx="148" cy="637"/>
                </a:xfrm>
                <a:custGeom>
                  <a:avLst/>
                  <a:gdLst>
                    <a:gd name="T0" fmla="*/ 148 w 148"/>
                    <a:gd name="T1" fmla="*/ 1 h 637"/>
                    <a:gd name="T2" fmla="*/ 126 w 148"/>
                    <a:gd name="T3" fmla="*/ 5 h 637"/>
                    <a:gd name="T4" fmla="*/ 90 w 148"/>
                    <a:gd name="T5" fmla="*/ 31 h 637"/>
                    <a:gd name="T6" fmla="*/ 64 w 148"/>
                    <a:gd name="T7" fmla="*/ 63 h 637"/>
                    <a:gd name="T8" fmla="*/ 30 w 148"/>
                    <a:gd name="T9" fmla="*/ 129 h 637"/>
                    <a:gd name="T10" fmla="*/ 12 w 148"/>
                    <a:gd name="T11" fmla="*/ 205 h 637"/>
                    <a:gd name="T12" fmla="*/ 2 w 148"/>
                    <a:gd name="T13" fmla="*/ 331 h 637"/>
                    <a:gd name="T14" fmla="*/ 6 w 148"/>
                    <a:gd name="T15" fmla="*/ 401 h 637"/>
                    <a:gd name="T16" fmla="*/ 32 w 148"/>
                    <a:gd name="T17" fmla="*/ 509 h 637"/>
                    <a:gd name="T18" fmla="*/ 60 w 148"/>
                    <a:gd name="T19" fmla="*/ 571 h 637"/>
                    <a:gd name="T20" fmla="*/ 92 w 148"/>
                    <a:gd name="T21" fmla="*/ 611 h 637"/>
                    <a:gd name="T22" fmla="*/ 136 w 148"/>
                    <a:gd name="T23" fmla="*/ 637 h 6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637"/>
                    <a:gd name="T38" fmla="*/ 148 w 148"/>
                    <a:gd name="T39" fmla="*/ 637 h 6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637">
                      <a:moveTo>
                        <a:pt x="148" y="1"/>
                      </a:moveTo>
                      <a:cubicBezTo>
                        <a:pt x="144" y="2"/>
                        <a:pt x="136" y="0"/>
                        <a:pt x="126" y="5"/>
                      </a:cubicBezTo>
                      <a:cubicBezTo>
                        <a:pt x="116" y="10"/>
                        <a:pt x="100" y="21"/>
                        <a:pt x="90" y="31"/>
                      </a:cubicBezTo>
                      <a:cubicBezTo>
                        <a:pt x="80" y="41"/>
                        <a:pt x="74" y="47"/>
                        <a:pt x="64" y="63"/>
                      </a:cubicBezTo>
                      <a:cubicBezTo>
                        <a:pt x="54" y="79"/>
                        <a:pt x="40" y="97"/>
                        <a:pt x="30" y="129"/>
                      </a:cubicBezTo>
                      <a:cubicBezTo>
                        <a:pt x="18" y="161"/>
                        <a:pt x="18" y="171"/>
                        <a:pt x="12" y="205"/>
                      </a:cubicBezTo>
                      <a:cubicBezTo>
                        <a:pt x="4" y="243"/>
                        <a:pt x="3" y="298"/>
                        <a:pt x="2" y="331"/>
                      </a:cubicBezTo>
                      <a:cubicBezTo>
                        <a:pt x="0" y="369"/>
                        <a:pt x="6" y="373"/>
                        <a:pt x="6" y="401"/>
                      </a:cubicBezTo>
                      <a:cubicBezTo>
                        <a:pt x="14" y="441"/>
                        <a:pt x="18" y="471"/>
                        <a:pt x="32" y="509"/>
                      </a:cubicBezTo>
                      <a:cubicBezTo>
                        <a:pt x="41" y="537"/>
                        <a:pt x="51" y="555"/>
                        <a:pt x="60" y="571"/>
                      </a:cubicBezTo>
                      <a:cubicBezTo>
                        <a:pt x="70" y="588"/>
                        <a:pt x="78" y="593"/>
                        <a:pt x="92" y="611"/>
                      </a:cubicBezTo>
                      <a:cubicBezTo>
                        <a:pt x="112" y="627"/>
                        <a:pt x="127" y="632"/>
                        <a:pt x="136" y="637"/>
                      </a:cubicBez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4" name="Text Box 32">
                <a:extLst>
                  <a:ext uri="{FF2B5EF4-FFF2-40B4-BE49-F238E27FC236}">
                    <a16:creationId xmlns:a16="http://schemas.microsoft.com/office/drawing/2014/main" xmlns="" id="{1C3C03E8-89E4-A1BA-1AB4-C95E802DFAB1}"/>
                  </a:ext>
                </a:extLst>
              </p:cNvPr>
              <p:cNvSpPr txBox="1">
                <a:spLocks noChangeAspect="1" noChangeArrowheads="1"/>
              </p:cNvSpPr>
              <p:nvPr/>
            </p:nvSpPr>
            <p:spPr bwMode="auto">
              <a:xfrm>
                <a:off x="3320" y="0"/>
                <a:ext cx="40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r>
                  <a:rPr kumimoji="1" lang="en-US" altLang="zh-CN" sz="24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B</a:t>
                </a:r>
              </a:p>
            </p:txBody>
          </p:sp>
          <p:sp>
            <p:nvSpPr>
              <p:cNvPr id="15" name="Arc 35">
                <a:extLst>
                  <a:ext uri="{FF2B5EF4-FFF2-40B4-BE49-F238E27FC236}">
                    <a16:creationId xmlns:a16="http://schemas.microsoft.com/office/drawing/2014/main" xmlns="" id="{A9C02A79-928B-8251-5673-5E30B2F96A54}"/>
                  </a:ext>
                </a:extLst>
              </p:cNvPr>
              <p:cNvSpPr>
                <a:spLocks noChangeAspect="1"/>
              </p:cNvSpPr>
              <p:nvPr/>
            </p:nvSpPr>
            <p:spPr bwMode="auto">
              <a:xfrm rot="34243" flipH="1">
                <a:off x="3345" y="295"/>
                <a:ext cx="253" cy="237"/>
              </a:xfrm>
              <a:custGeom>
                <a:avLst/>
                <a:gdLst>
                  <a:gd name="T0" fmla="*/ 0 w 35811"/>
                  <a:gd name="T1" fmla="*/ 1 h 21600"/>
                  <a:gd name="T2" fmla="*/ 2 w 35811"/>
                  <a:gd name="T3" fmla="*/ 3 h 21600"/>
                  <a:gd name="T4" fmla="*/ 1 w 35811"/>
                  <a:gd name="T5" fmla="*/ 3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28575">
                <a:solidFill>
                  <a:srgbClr val="FF0000"/>
                </a:solidFill>
                <a:round/>
                <a:headEnd type="none" w="med" len="lg"/>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 name="Text Box 36">
                <a:extLst>
                  <a:ext uri="{FF2B5EF4-FFF2-40B4-BE49-F238E27FC236}">
                    <a16:creationId xmlns:a16="http://schemas.microsoft.com/office/drawing/2014/main" xmlns="" id="{DAEA7D2C-C8B1-10D7-E7C7-3CCC00E48887}"/>
                  </a:ext>
                </a:extLst>
              </p:cNvPr>
              <p:cNvSpPr txBox="1">
                <a:spLocks noChangeAspect="1" noChangeArrowheads="1"/>
              </p:cNvSpPr>
              <p:nvPr/>
            </p:nvSpPr>
            <p:spPr bwMode="auto">
              <a:xfrm>
                <a:off x="4108" y="0"/>
                <a:ext cx="37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r>
                  <a:rPr kumimoji="1" lang="en-US" altLang="zh-CN" sz="24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C</a:t>
                </a:r>
              </a:p>
            </p:txBody>
          </p:sp>
          <p:sp>
            <p:nvSpPr>
              <p:cNvPr id="17" name="Text Box 37">
                <a:extLst>
                  <a:ext uri="{FF2B5EF4-FFF2-40B4-BE49-F238E27FC236}">
                    <a16:creationId xmlns:a16="http://schemas.microsoft.com/office/drawing/2014/main" xmlns="" id="{5AB29034-1BBE-F7E3-1824-A41C4ED3F739}"/>
                  </a:ext>
                </a:extLst>
              </p:cNvPr>
              <p:cNvSpPr txBox="1">
                <a:spLocks noChangeAspect="1" noChangeArrowheads="1"/>
              </p:cNvSpPr>
              <p:nvPr/>
            </p:nvSpPr>
            <p:spPr bwMode="auto">
              <a:xfrm>
                <a:off x="2904" y="671"/>
                <a:ext cx="37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18" name="Text Box 38">
                <a:extLst>
                  <a:ext uri="{FF2B5EF4-FFF2-40B4-BE49-F238E27FC236}">
                    <a16:creationId xmlns:a16="http://schemas.microsoft.com/office/drawing/2014/main" xmlns="" id="{25DB7D16-C037-AB05-83FF-94055E93832B}"/>
                  </a:ext>
                </a:extLst>
              </p:cNvPr>
              <p:cNvSpPr txBox="1">
                <a:spLocks noChangeAspect="1" noChangeArrowheads="1"/>
              </p:cNvSpPr>
              <p:nvPr/>
            </p:nvSpPr>
            <p:spPr bwMode="auto">
              <a:xfrm>
                <a:off x="3520" y="654"/>
                <a:ext cx="307"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20" name="Text Box 39">
                <a:extLst>
                  <a:ext uri="{FF2B5EF4-FFF2-40B4-BE49-F238E27FC236}">
                    <a16:creationId xmlns:a16="http://schemas.microsoft.com/office/drawing/2014/main" xmlns="" id="{281F5F87-E0BE-C77E-177C-92C54A09B01D}"/>
                  </a:ext>
                </a:extLst>
              </p:cNvPr>
              <p:cNvSpPr txBox="1">
                <a:spLocks noChangeAspect="1" noChangeArrowheads="1"/>
              </p:cNvSpPr>
              <p:nvPr/>
            </p:nvSpPr>
            <p:spPr bwMode="auto">
              <a:xfrm>
                <a:off x="4264" y="669"/>
                <a:ext cx="211"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p>
            </p:txBody>
          </p:sp>
          <p:sp>
            <p:nvSpPr>
              <p:cNvPr id="21" name="AutoShape 45">
                <a:extLst>
                  <a:ext uri="{FF2B5EF4-FFF2-40B4-BE49-F238E27FC236}">
                    <a16:creationId xmlns:a16="http://schemas.microsoft.com/office/drawing/2014/main" xmlns="" id="{D5DF4020-7459-9940-37B4-B35B890BC1A5}"/>
                  </a:ext>
                </a:extLst>
              </p:cNvPr>
              <p:cNvSpPr>
                <a:spLocks noChangeArrowheads="1"/>
              </p:cNvSpPr>
              <p:nvPr/>
            </p:nvSpPr>
            <p:spPr bwMode="auto">
              <a:xfrm>
                <a:off x="3493" y="505"/>
                <a:ext cx="481" cy="119"/>
              </a:xfrm>
              <a:prstGeom prst="roundRect">
                <a:avLst>
                  <a:gd name="adj" fmla="val 41176"/>
                </a:avLst>
              </a:prstGeom>
              <a:gradFill rotWithShape="1">
                <a:gsLst>
                  <a:gs pos="0">
                    <a:srgbClr val="FFFFFF">
                      <a:gamma/>
                      <a:shade val="9412"/>
                      <a:invGamma/>
                    </a:srgbClr>
                  </a:gs>
                  <a:gs pos="50000">
                    <a:srgbClr val="FFFFFF"/>
                  </a:gs>
                  <a:gs pos="100000">
                    <a:srgbClr val="FFFFFF">
                      <a:gamma/>
                      <a:shade val="9412"/>
                      <a:invGamma/>
                    </a:srgbClr>
                  </a:gs>
                </a:gsLst>
                <a:lin ang="5400000" scaled="1"/>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grpSp>
            <p:nvGrpSpPr>
              <p:cNvPr id="22" name="Group 11">
                <a:extLst>
                  <a:ext uri="{FF2B5EF4-FFF2-40B4-BE49-F238E27FC236}">
                    <a16:creationId xmlns:a16="http://schemas.microsoft.com/office/drawing/2014/main" xmlns="" id="{503ED62D-5CC7-7D4A-2852-40FF364C4391}"/>
                  </a:ext>
                </a:extLst>
              </p:cNvPr>
              <p:cNvGrpSpPr>
                <a:grpSpLocks/>
              </p:cNvGrpSpPr>
              <p:nvPr/>
            </p:nvGrpSpPr>
            <p:grpSpPr bwMode="auto">
              <a:xfrm>
                <a:off x="3924" y="241"/>
                <a:ext cx="397" cy="648"/>
                <a:chOff x="2762" y="2234"/>
                <a:chExt cx="397" cy="648"/>
              </a:xfrm>
            </p:grpSpPr>
            <p:sp>
              <p:nvSpPr>
                <p:cNvPr id="298" name="Freeform 12">
                  <a:extLst>
                    <a:ext uri="{FF2B5EF4-FFF2-40B4-BE49-F238E27FC236}">
                      <a16:creationId xmlns:a16="http://schemas.microsoft.com/office/drawing/2014/main" xmlns="" id="{D1D8C312-04DA-9982-6865-1ABC1A2D3002}"/>
                    </a:ext>
                  </a:extLst>
                </p:cNvPr>
                <p:cNvSpPr>
                  <a:spLocks/>
                </p:cNvSpPr>
                <p:nvPr/>
              </p:nvSpPr>
              <p:spPr bwMode="auto">
                <a:xfrm>
                  <a:off x="2766" y="2234"/>
                  <a:ext cx="234" cy="648"/>
                </a:xfrm>
                <a:custGeom>
                  <a:avLst/>
                  <a:gdLst/>
                  <a:ahLst/>
                  <a:cxnLst>
                    <a:cxn ang="0">
                      <a:pos x="142" y="4"/>
                    </a:cxn>
                    <a:cxn ang="0">
                      <a:pos x="124" y="6"/>
                    </a:cxn>
                    <a:cxn ang="0">
                      <a:pos x="88" y="32"/>
                    </a:cxn>
                    <a:cxn ang="0">
                      <a:pos x="62" y="64"/>
                    </a:cxn>
                    <a:cxn ang="0">
                      <a:pos x="32" y="128"/>
                    </a:cxn>
                    <a:cxn ang="0">
                      <a:pos x="10" y="206"/>
                    </a:cxn>
                    <a:cxn ang="0">
                      <a:pos x="0" y="332"/>
                    </a:cxn>
                    <a:cxn ang="0">
                      <a:pos x="4" y="402"/>
                    </a:cxn>
                    <a:cxn ang="0">
                      <a:pos x="30" y="510"/>
                    </a:cxn>
                    <a:cxn ang="0">
                      <a:pos x="54" y="572"/>
                    </a:cxn>
                    <a:cxn ang="0">
                      <a:pos x="86" y="616"/>
                    </a:cxn>
                    <a:cxn ang="0">
                      <a:pos x="128" y="644"/>
                    </a:cxn>
                    <a:cxn ang="0">
                      <a:pos x="234" y="640"/>
                    </a:cxn>
                    <a:cxn ang="0">
                      <a:pos x="226" y="4"/>
                    </a:cxn>
                    <a:cxn ang="0">
                      <a:pos x="142" y="4"/>
                    </a:cxn>
                  </a:cxnLst>
                  <a:rect l="0" t="0" r="r" b="b"/>
                  <a:pathLst>
                    <a:path w="234" h="648">
                      <a:moveTo>
                        <a:pt x="142" y="4"/>
                      </a:moveTo>
                      <a:cubicBezTo>
                        <a:pt x="144" y="6"/>
                        <a:pt x="133" y="1"/>
                        <a:pt x="124" y="6"/>
                      </a:cubicBezTo>
                      <a:cubicBezTo>
                        <a:pt x="115" y="11"/>
                        <a:pt x="98" y="22"/>
                        <a:pt x="88" y="32"/>
                      </a:cubicBezTo>
                      <a:cubicBezTo>
                        <a:pt x="78" y="42"/>
                        <a:pt x="71" y="48"/>
                        <a:pt x="62" y="64"/>
                      </a:cubicBezTo>
                      <a:cubicBezTo>
                        <a:pt x="53" y="80"/>
                        <a:pt x="36" y="102"/>
                        <a:pt x="32" y="128"/>
                      </a:cubicBezTo>
                      <a:cubicBezTo>
                        <a:pt x="23" y="152"/>
                        <a:pt x="16" y="172"/>
                        <a:pt x="10" y="206"/>
                      </a:cubicBezTo>
                      <a:cubicBezTo>
                        <a:pt x="5" y="240"/>
                        <a:pt x="1" y="299"/>
                        <a:pt x="0" y="332"/>
                      </a:cubicBezTo>
                      <a:cubicBezTo>
                        <a:pt x="4" y="368"/>
                        <a:pt x="0" y="368"/>
                        <a:pt x="4" y="402"/>
                      </a:cubicBezTo>
                      <a:cubicBezTo>
                        <a:pt x="12" y="442"/>
                        <a:pt x="18" y="478"/>
                        <a:pt x="30" y="510"/>
                      </a:cubicBezTo>
                      <a:cubicBezTo>
                        <a:pt x="39" y="538"/>
                        <a:pt x="45" y="554"/>
                        <a:pt x="54" y="572"/>
                      </a:cubicBezTo>
                      <a:cubicBezTo>
                        <a:pt x="63" y="590"/>
                        <a:pt x="74" y="604"/>
                        <a:pt x="86" y="616"/>
                      </a:cubicBezTo>
                      <a:cubicBezTo>
                        <a:pt x="106" y="632"/>
                        <a:pt x="103" y="640"/>
                        <a:pt x="128" y="644"/>
                      </a:cubicBezTo>
                      <a:cubicBezTo>
                        <a:pt x="153" y="648"/>
                        <a:pt x="134" y="648"/>
                        <a:pt x="234" y="640"/>
                      </a:cubicBezTo>
                      <a:cubicBezTo>
                        <a:pt x="152" y="532"/>
                        <a:pt x="98" y="232"/>
                        <a:pt x="226" y="4"/>
                      </a:cubicBezTo>
                      <a:cubicBezTo>
                        <a:pt x="158" y="0"/>
                        <a:pt x="158" y="10"/>
                        <a:pt x="142" y="4"/>
                      </a:cubicBezTo>
                      <a:close/>
                    </a:path>
                  </a:pathLst>
                </a:custGeom>
                <a:gradFill rotWithShape="1">
                  <a:gsLst>
                    <a:gs pos="0">
                      <a:srgbClr val="FFFFFF">
                        <a:gamma/>
                        <a:shade val="41176"/>
                        <a:invGamma/>
                      </a:srgbClr>
                    </a:gs>
                    <a:gs pos="50000">
                      <a:srgbClr val="FFFFFF"/>
                    </a:gs>
                    <a:gs pos="100000">
                      <a:srgbClr val="FFFFFF">
                        <a:gamma/>
                        <a:shade val="41176"/>
                        <a:invGamma/>
                      </a:srgbClr>
                    </a:gs>
                  </a:gsLst>
                  <a:lin ang="5400000" scaled="1"/>
                </a:gradFill>
                <a:ln w="9525">
                  <a:no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299" name="Oval 13">
                  <a:extLst>
                    <a:ext uri="{FF2B5EF4-FFF2-40B4-BE49-F238E27FC236}">
                      <a16:creationId xmlns:a16="http://schemas.microsoft.com/office/drawing/2014/main" xmlns="" id="{C67F5CAE-38C9-400B-6389-036B980AFC3E}"/>
                    </a:ext>
                  </a:extLst>
                </p:cNvPr>
                <p:cNvSpPr>
                  <a:spLocks noChangeArrowheads="1"/>
                </p:cNvSpPr>
                <p:nvPr/>
              </p:nvSpPr>
              <p:spPr bwMode="auto">
                <a:xfrm>
                  <a:off x="2854" y="2243"/>
                  <a:ext cx="305" cy="637"/>
                </a:xfrm>
                <a:prstGeom prst="ellipse">
                  <a:avLst/>
                </a:prstGeom>
                <a:gradFill rotWithShape="1">
                  <a:gsLst>
                    <a:gs pos="0">
                      <a:srgbClr val="FFFFFF"/>
                    </a:gs>
                    <a:gs pos="100000">
                      <a:srgbClr val="FFFFFF">
                        <a:gamma/>
                        <a:shade val="60392"/>
                        <a:invGamma/>
                      </a:srgbClr>
                    </a:gs>
                  </a:gsLst>
                  <a:path path="shape">
                    <a:fillToRect l="50000" t="50000" r="50000" b="50000"/>
                  </a:path>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300" name="Line 14">
                  <a:extLst>
                    <a:ext uri="{FF2B5EF4-FFF2-40B4-BE49-F238E27FC236}">
                      <a16:creationId xmlns:a16="http://schemas.microsoft.com/office/drawing/2014/main" xmlns="" id="{69DC3CEB-F27D-1C30-29DB-1015DEA0F5C3}"/>
                    </a:ext>
                  </a:extLst>
                </p:cNvPr>
                <p:cNvSpPr>
                  <a:spLocks noChangeShapeType="1"/>
                </p:cNvSpPr>
                <p:nvPr/>
              </p:nvSpPr>
              <p:spPr bwMode="auto">
                <a:xfrm flipH="1">
                  <a:off x="2904" y="2242"/>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1" name="Line 15">
                  <a:extLst>
                    <a:ext uri="{FF2B5EF4-FFF2-40B4-BE49-F238E27FC236}">
                      <a16:creationId xmlns:a16="http://schemas.microsoft.com/office/drawing/2014/main" xmlns="" id="{26904497-A1D3-EBA8-F1B3-A16D79AC343D}"/>
                    </a:ext>
                  </a:extLst>
                </p:cNvPr>
                <p:cNvSpPr>
                  <a:spLocks noChangeShapeType="1"/>
                </p:cNvSpPr>
                <p:nvPr/>
              </p:nvSpPr>
              <p:spPr bwMode="auto">
                <a:xfrm flipH="1">
                  <a:off x="2896" y="2880"/>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2" name="Freeform 16">
                  <a:extLst>
                    <a:ext uri="{FF2B5EF4-FFF2-40B4-BE49-F238E27FC236}">
                      <a16:creationId xmlns:a16="http://schemas.microsoft.com/office/drawing/2014/main" xmlns="" id="{6127D47E-2E05-3094-6F86-E762C7AC3238}"/>
                    </a:ext>
                  </a:extLst>
                </p:cNvPr>
                <p:cNvSpPr>
                  <a:spLocks/>
                </p:cNvSpPr>
                <p:nvPr/>
              </p:nvSpPr>
              <p:spPr bwMode="auto">
                <a:xfrm>
                  <a:off x="2762" y="2241"/>
                  <a:ext cx="148" cy="637"/>
                </a:xfrm>
                <a:custGeom>
                  <a:avLst/>
                  <a:gdLst>
                    <a:gd name="T0" fmla="*/ 148 w 148"/>
                    <a:gd name="T1" fmla="*/ 1 h 637"/>
                    <a:gd name="T2" fmla="*/ 126 w 148"/>
                    <a:gd name="T3" fmla="*/ 5 h 637"/>
                    <a:gd name="T4" fmla="*/ 90 w 148"/>
                    <a:gd name="T5" fmla="*/ 31 h 637"/>
                    <a:gd name="T6" fmla="*/ 64 w 148"/>
                    <a:gd name="T7" fmla="*/ 63 h 637"/>
                    <a:gd name="T8" fmla="*/ 30 w 148"/>
                    <a:gd name="T9" fmla="*/ 129 h 637"/>
                    <a:gd name="T10" fmla="*/ 12 w 148"/>
                    <a:gd name="T11" fmla="*/ 205 h 637"/>
                    <a:gd name="T12" fmla="*/ 2 w 148"/>
                    <a:gd name="T13" fmla="*/ 331 h 637"/>
                    <a:gd name="T14" fmla="*/ 6 w 148"/>
                    <a:gd name="T15" fmla="*/ 401 h 637"/>
                    <a:gd name="T16" fmla="*/ 32 w 148"/>
                    <a:gd name="T17" fmla="*/ 509 h 637"/>
                    <a:gd name="T18" fmla="*/ 60 w 148"/>
                    <a:gd name="T19" fmla="*/ 571 h 637"/>
                    <a:gd name="T20" fmla="*/ 92 w 148"/>
                    <a:gd name="T21" fmla="*/ 611 h 637"/>
                    <a:gd name="T22" fmla="*/ 136 w 148"/>
                    <a:gd name="T23" fmla="*/ 637 h 6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637"/>
                    <a:gd name="T38" fmla="*/ 148 w 148"/>
                    <a:gd name="T39" fmla="*/ 637 h 6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637">
                      <a:moveTo>
                        <a:pt x="148" y="1"/>
                      </a:moveTo>
                      <a:cubicBezTo>
                        <a:pt x="144" y="2"/>
                        <a:pt x="136" y="0"/>
                        <a:pt x="126" y="5"/>
                      </a:cubicBezTo>
                      <a:cubicBezTo>
                        <a:pt x="116" y="10"/>
                        <a:pt x="100" y="21"/>
                        <a:pt x="90" y="31"/>
                      </a:cubicBezTo>
                      <a:cubicBezTo>
                        <a:pt x="80" y="41"/>
                        <a:pt x="74" y="47"/>
                        <a:pt x="64" y="63"/>
                      </a:cubicBezTo>
                      <a:cubicBezTo>
                        <a:pt x="54" y="79"/>
                        <a:pt x="40" y="97"/>
                        <a:pt x="30" y="129"/>
                      </a:cubicBezTo>
                      <a:cubicBezTo>
                        <a:pt x="18" y="161"/>
                        <a:pt x="18" y="171"/>
                        <a:pt x="12" y="205"/>
                      </a:cubicBezTo>
                      <a:cubicBezTo>
                        <a:pt x="4" y="243"/>
                        <a:pt x="3" y="298"/>
                        <a:pt x="2" y="331"/>
                      </a:cubicBezTo>
                      <a:cubicBezTo>
                        <a:pt x="0" y="369"/>
                        <a:pt x="6" y="373"/>
                        <a:pt x="6" y="401"/>
                      </a:cubicBezTo>
                      <a:cubicBezTo>
                        <a:pt x="14" y="441"/>
                        <a:pt x="18" y="471"/>
                        <a:pt x="32" y="509"/>
                      </a:cubicBezTo>
                      <a:cubicBezTo>
                        <a:pt x="41" y="537"/>
                        <a:pt x="51" y="555"/>
                        <a:pt x="60" y="571"/>
                      </a:cubicBezTo>
                      <a:cubicBezTo>
                        <a:pt x="70" y="588"/>
                        <a:pt x="78" y="593"/>
                        <a:pt x="92" y="611"/>
                      </a:cubicBezTo>
                      <a:cubicBezTo>
                        <a:pt x="112" y="627"/>
                        <a:pt x="127" y="632"/>
                        <a:pt x="136" y="637"/>
                      </a:cubicBez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23" name="AutoShape 17">
                <a:extLst>
                  <a:ext uri="{FF2B5EF4-FFF2-40B4-BE49-F238E27FC236}">
                    <a16:creationId xmlns:a16="http://schemas.microsoft.com/office/drawing/2014/main" xmlns="" id="{F04CC0FF-0E13-BAC2-4D09-1E8C2CE21087}"/>
                  </a:ext>
                </a:extLst>
              </p:cNvPr>
              <p:cNvSpPr>
                <a:spLocks noChangeArrowheads="1"/>
              </p:cNvSpPr>
              <p:nvPr/>
            </p:nvSpPr>
            <p:spPr bwMode="auto">
              <a:xfrm>
                <a:off x="4144" y="506"/>
                <a:ext cx="690" cy="119"/>
              </a:xfrm>
              <a:prstGeom prst="roundRect">
                <a:avLst>
                  <a:gd name="adj" fmla="val 44537"/>
                </a:avLst>
              </a:prstGeom>
              <a:gradFill rotWithShape="1">
                <a:gsLst>
                  <a:gs pos="0">
                    <a:srgbClr val="FFFFFF">
                      <a:gamma/>
                      <a:shade val="9412"/>
                      <a:invGamma/>
                    </a:srgbClr>
                  </a:gs>
                  <a:gs pos="50000">
                    <a:srgbClr val="FFFFFF"/>
                  </a:gs>
                  <a:gs pos="100000">
                    <a:srgbClr val="FFFFFF">
                      <a:gamma/>
                      <a:shade val="9412"/>
                      <a:invGamma/>
                    </a:srgbClr>
                  </a:gs>
                </a:gsLst>
                <a:lin ang="5400000" scaled="1"/>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24" name="Arc 31">
                <a:extLst>
                  <a:ext uri="{FF2B5EF4-FFF2-40B4-BE49-F238E27FC236}">
                    <a16:creationId xmlns:a16="http://schemas.microsoft.com/office/drawing/2014/main" xmlns="" id="{6C6AAB04-70FA-98A5-82D7-CB6BD14847B8}"/>
                  </a:ext>
                </a:extLst>
              </p:cNvPr>
              <p:cNvSpPr>
                <a:spLocks noChangeAspect="1"/>
              </p:cNvSpPr>
              <p:nvPr/>
            </p:nvSpPr>
            <p:spPr bwMode="auto">
              <a:xfrm rot="21317369" flipH="1">
                <a:off x="3899" y="192"/>
                <a:ext cx="302" cy="237"/>
              </a:xfrm>
              <a:custGeom>
                <a:avLst/>
                <a:gdLst>
                  <a:gd name="T0" fmla="*/ 0 w 35811"/>
                  <a:gd name="T1" fmla="*/ 1 h 21600"/>
                  <a:gd name="T2" fmla="*/ 3 w 35811"/>
                  <a:gd name="T3" fmla="*/ 3 h 21600"/>
                  <a:gd name="T4" fmla="*/ 1 w 35811"/>
                  <a:gd name="T5" fmla="*/ 3 h 21600"/>
                  <a:gd name="T6" fmla="*/ 0 60000 65536"/>
                  <a:gd name="T7" fmla="*/ 0 60000 65536"/>
                  <a:gd name="T8" fmla="*/ 0 60000 65536"/>
                  <a:gd name="T9" fmla="*/ 0 w 35811"/>
                  <a:gd name="T10" fmla="*/ 0 h 21600"/>
                  <a:gd name="T11" fmla="*/ 35811 w 35811"/>
                  <a:gd name="T12" fmla="*/ 21600 h 21600"/>
                </a:gdLst>
                <a:ahLst/>
                <a:cxnLst>
                  <a:cxn ang="T6">
                    <a:pos x="T0" y="T1"/>
                  </a:cxn>
                  <a:cxn ang="T7">
                    <a:pos x="T2" y="T3"/>
                  </a:cxn>
                  <a:cxn ang="T8">
                    <a:pos x="T4" y="T5"/>
                  </a:cxn>
                </a:cxnLst>
                <a:rect l="T9" t="T10" r="T11" b="T12"/>
                <a:pathLst>
                  <a:path w="35811" h="21600" fill="none" extrusionOk="0">
                    <a:moveTo>
                      <a:pt x="0" y="5340"/>
                    </a:moveTo>
                    <a:cubicBezTo>
                      <a:pt x="3936" y="1897"/>
                      <a:pt x="8989" y="-1"/>
                      <a:pt x="14219" y="0"/>
                    </a:cubicBezTo>
                    <a:cubicBezTo>
                      <a:pt x="25912" y="0"/>
                      <a:pt x="35482" y="9305"/>
                      <a:pt x="35810" y="20994"/>
                    </a:cubicBezTo>
                  </a:path>
                  <a:path w="35811" h="21600" stroke="0" extrusionOk="0">
                    <a:moveTo>
                      <a:pt x="0" y="5340"/>
                    </a:moveTo>
                    <a:cubicBezTo>
                      <a:pt x="3936" y="1897"/>
                      <a:pt x="8989" y="-1"/>
                      <a:pt x="14219" y="0"/>
                    </a:cubicBezTo>
                    <a:cubicBezTo>
                      <a:pt x="25912" y="0"/>
                      <a:pt x="35482" y="9305"/>
                      <a:pt x="35810" y="20994"/>
                    </a:cubicBezTo>
                    <a:lnTo>
                      <a:pt x="14219" y="21600"/>
                    </a:lnTo>
                    <a:close/>
                  </a:path>
                </a:pathLst>
              </a:custGeom>
              <a:noFill/>
              <a:ln w="28575">
                <a:solidFill>
                  <a:srgbClr val="FF0000"/>
                </a:solidFill>
                <a:round/>
                <a:headEnd type="stealth" w="med" len="lg"/>
                <a:tailEnd type="none"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5" name="Text Box 34">
                <a:extLst>
                  <a:ext uri="{FF2B5EF4-FFF2-40B4-BE49-F238E27FC236}">
                    <a16:creationId xmlns:a16="http://schemas.microsoft.com/office/drawing/2014/main" xmlns="" id="{CAC9C56B-B146-419C-5342-574726D2540E}"/>
                  </a:ext>
                </a:extLst>
              </p:cNvPr>
              <p:cNvSpPr txBox="1">
                <a:spLocks noChangeAspect="1" noChangeArrowheads="1"/>
              </p:cNvSpPr>
              <p:nvPr/>
            </p:nvSpPr>
            <p:spPr bwMode="auto">
              <a:xfrm>
                <a:off x="4549" y="46"/>
                <a:ext cx="40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r>
                  <a:rPr kumimoji="1" lang="en-US" altLang="zh-CN" sz="24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D</a:t>
                </a:r>
              </a:p>
            </p:txBody>
          </p:sp>
          <p:grpSp>
            <p:nvGrpSpPr>
              <p:cNvPr id="26" name="Group 46">
                <a:extLst>
                  <a:ext uri="{FF2B5EF4-FFF2-40B4-BE49-F238E27FC236}">
                    <a16:creationId xmlns:a16="http://schemas.microsoft.com/office/drawing/2014/main" xmlns="" id="{554C39E7-38E8-A7BB-1193-0A39132782CD}"/>
                  </a:ext>
                </a:extLst>
              </p:cNvPr>
              <p:cNvGrpSpPr>
                <a:grpSpLocks/>
              </p:cNvGrpSpPr>
              <p:nvPr/>
            </p:nvGrpSpPr>
            <p:grpSpPr bwMode="auto">
              <a:xfrm>
                <a:off x="4581" y="355"/>
                <a:ext cx="257" cy="419"/>
                <a:chOff x="2762" y="2234"/>
                <a:chExt cx="397" cy="648"/>
              </a:xfrm>
            </p:grpSpPr>
            <p:sp>
              <p:nvSpPr>
                <p:cNvPr id="290" name="Freeform 47">
                  <a:extLst>
                    <a:ext uri="{FF2B5EF4-FFF2-40B4-BE49-F238E27FC236}">
                      <a16:creationId xmlns:a16="http://schemas.microsoft.com/office/drawing/2014/main" xmlns="" id="{FB9A9403-7295-6B92-A6B9-A00A15D4778F}"/>
                    </a:ext>
                  </a:extLst>
                </p:cNvPr>
                <p:cNvSpPr>
                  <a:spLocks/>
                </p:cNvSpPr>
                <p:nvPr/>
              </p:nvSpPr>
              <p:spPr bwMode="auto">
                <a:xfrm>
                  <a:off x="2767" y="2234"/>
                  <a:ext cx="233" cy="648"/>
                </a:xfrm>
                <a:custGeom>
                  <a:avLst/>
                  <a:gdLst/>
                  <a:ahLst/>
                  <a:cxnLst>
                    <a:cxn ang="0">
                      <a:pos x="142" y="4"/>
                    </a:cxn>
                    <a:cxn ang="0">
                      <a:pos x="124" y="6"/>
                    </a:cxn>
                    <a:cxn ang="0">
                      <a:pos x="88" y="32"/>
                    </a:cxn>
                    <a:cxn ang="0">
                      <a:pos x="62" y="64"/>
                    </a:cxn>
                    <a:cxn ang="0">
                      <a:pos x="32" y="128"/>
                    </a:cxn>
                    <a:cxn ang="0">
                      <a:pos x="10" y="206"/>
                    </a:cxn>
                    <a:cxn ang="0">
                      <a:pos x="0" y="332"/>
                    </a:cxn>
                    <a:cxn ang="0">
                      <a:pos x="4" y="402"/>
                    </a:cxn>
                    <a:cxn ang="0">
                      <a:pos x="30" y="510"/>
                    </a:cxn>
                    <a:cxn ang="0">
                      <a:pos x="54" y="572"/>
                    </a:cxn>
                    <a:cxn ang="0">
                      <a:pos x="86" y="616"/>
                    </a:cxn>
                    <a:cxn ang="0">
                      <a:pos x="128" y="644"/>
                    </a:cxn>
                    <a:cxn ang="0">
                      <a:pos x="234" y="640"/>
                    </a:cxn>
                    <a:cxn ang="0">
                      <a:pos x="226" y="4"/>
                    </a:cxn>
                    <a:cxn ang="0">
                      <a:pos x="142" y="4"/>
                    </a:cxn>
                  </a:cxnLst>
                  <a:rect l="0" t="0" r="r" b="b"/>
                  <a:pathLst>
                    <a:path w="234" h="648">
                      <a:moveTo>
                        <a:pt x="142" y="4"/>
                      </a:moveTo>
                      <a:cubicBezTo>
                        <a:pt x="144" y="6"/>
                        <a:pt x="133" y="1"/>
                        <a:pt x="124" y="6"/>
                      </a:cubicBezTo>
                      <a:cubicBezTo>
                        <a:pt x="115" y="11"/>
                        <a:pt x="98" y="22"/>
                        <a:pt x="88" y="32"/>
                      </a:cubicBezTo>
                      <a:cubicBezTo>
                        <a:pt x="78" y="42"/>
                        <a:pt x="71" y="48"/>
                        <a:pt x="62" y="64"/>
                      </a:cubicBezTo>
                      <a:cubicBezTo>
                        <a:pt x="53" y="80"/>
                        <a:pt x="36" y="102"/>
                        <a:pt x="32" y="128"/>
                      </a:cubicBezTo>
                      <a:cubicBezTo>
                        <a:pt x="23" y="152"/>
                        <a:pt x="16" y="172"/>
                        <a:pt x="10" y="206"/>
                      </a:cubicBezTo>
                      <a:cubicBezTo>
                        <a:pt x="5" y="240"/>
                        <a:pt x="1" y="299"/>
                        <a:pt x="0" y="332"/>
                      </a:cubicBezTo>
                      <a:cubicBezTo>
                        <a:pt x="4" y="368"/>
                        <a:pt x="0" y="368"/>
                        <a:pt x="4" y="402"/>
                      </a:cubicBezTo>
                      <a:cubicBezTo>
                        <a:pt x="12" y="442"/>
                        <a:pt x="18" y="478"/>
                        <a:pt x="30" y="510"/>
                      </a:cubicBezTo>
                      <a:cubicBezTo>
                        <a:pt x="39" y="538"/>
                        <a:pt x="45" y="554"/>
                        <a:pt x="54" y="572"/>
                      </a:cubicBezTo>
                      <a:cubicBezTo>
                        <a:pt x="63" y="590"/>
                        <a:pt x="74" y="604"/>
                        <a:pt x="86" y="616"/>
                      </a:cubicBezTo>
                      <a:cubicBezTo>
                        <a:pt x="106" y="632"/>
                        <a:pt x="103" y="640"/>
                        <a:pt x="128" y="644"/>
                      </a:cubicBezTo>
                      <a:cubicBezTo>
                        <a:pt x="153" y="648"/>
                        <a:pt x="134" y="648"/>
                        <a:pt x="234" y="640"/>
                      </a:cubicBezTo>
                      <a:cubicBezTo>
                        <a:pt x="152" y="532"/>
                        <a:pt x="98" y="232"/>
                        <a:pt x="226" y="4"/>
                      </a:cubicBezTo>
                      <a:cubicBezTo>
                        <a:pt x="158" y="0"/>
                        <a:pt x="158" y="10"/>
                        <a:pt x="142" y="4"/>
                      </a:cubicBezTo>
                      <a:close/>
                    </a:path>
                  </a:pathLst>
                </a:custGeom>
                <a:gradFill rotWithShape="1">
                  <a:gsLst>
                    <a:gs pos="0">
                      <a:srgbClr val="FFFFFF">
                        <a:gamma/>
                        <a:shade val="41176"/>
                        <a:invGamma/>
                      </a:srgbClr>
                    </a:gs>
                    <a:gs pos="50000">
                      <a:srgbClr val="FFFFFF"/>
                    </a:gs>
                    <a:gs pos="100000">
                      <a:srgbClr val="FFFFFF">
                        <a:gamma/>
                        <a:shade val="41176"/>
                        <a:invGamma/>
                      </a:srgbClr>
                    </a:gs>
                  </a:gsLst>
                  <a:lin ang="5400000" scaled="1"/>
                </a:gradFill>
                <a:ln w="9525">
                  <a:no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293" name="Oval 48">
                  <a:extLst>
                    <a:ext uri="{FF2B5EF4-FFF2-40B4-BE49-F238E27FC236}">
                      <a16:creationId xmlns:a16="http://schemas.microsoft.com/office/drawing/2014/main" xmlns="" id="{4F60F428-239B-7FFC-96C1-8BE945D61820}"/>
                    </a:ext>
                  </a:extLst>
                </p:cNvPr>
                <p:cNvSpPr>
                  <a:spLocks noChangeArrowheads="1"/>
                </p:cNvSpPr>
                <p:nvPr/>
              </p:nvSpPr>
              <p:spPr bwMode="auto">
                <a:xfrm>
                  <a:off x="2855" y="2243"/>
                  <a:ext cx="304" cy="637"/>
                </a:xfrm>
                <a:prstGeom prst="ellipse">
                  <a:avLst/>
                </a:prstGeom>
                <a:gradFill rotWithShape="1">
                  <a:gsLst>
                    <a:gs pos="0">
                      <a:srgbClr val="FFFFFF"/>
                    </a:gs>
                    <a:gs pos="100000">
                      <a:srgbClr val="FFFFFF">
                        <a:gamma/>
                        <a:shade val="60392"/>
                        <a:invGamma/>
                      </a:srgbClr>
                    </a:gs>
                  </a:gsLst>
                  <a:path path="shape">
                    <a:fillToRect l="50000" t="50000" r="50000" b="50000"/>
                  </a:path>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sp>
              <p:nvSpPr>
                <p:cNvPr id="295" name="Line 49">
                  <a:extLst>
                    <a:ext uri="{FF2B5EF4-FFF2-40B4-BE49-F238E27FC236}">
                      <a16:creationId xmlns:a16="http://schemas.microsoft.com/office/drawing/2014/main" xmlns="" id="{4E33657E-417E-A0EC-87A8-2D89607DCD4A}"/>
                    </a:ext>
                  </a:extLst>
                </p:cNvPr>
                <p:cNvSpPr>
                  <a:spLocks noChangeShapeType="1"/>
                </p:cNvSpPr>
                <p:nvPr/>
              </p:nvSpPr>
              <p:spPr bwMode="auto">
                <a:xfrm flipH="1">
                  <a:off x="2904" y="2242"/>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96" name="Line 50">
                  <a:extLst>
                    <a:ext uri="{FF2B5EF4-FFF2-40B4-BE49-F238E27FC236}">
                      <a16:creationId xmlns:a16="http://schemas.microsoft.com/office/drawing/2014/main" xmlns="" id="{80B3588B-A68C-9B69-230B-A0A3749FFB9E}"/>
                    </a:ext>
                  </a:extLst>
                </p:cNvPr>
                <p:cNvSpPr>
                  <a:spLocks noChangeShapeType="1"/>
                </p:cNvSpPr>
                <p:nvPr/>
              </p:nvSpPr>
              <p:spPr bwMode="auto">
                <a:xfrm flipH="1">
                  <a:off x="2896" y="2880"/>
                  <a:ext cx="10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97" name="Freeform 51">
                  <a:extLst>
                    <a:ext uri="{FF2B5EF4-FFF2-40B4-BE49-F238E27FC236}">
                      <a16:creationId xmlns:a16="http://schemas.microsoft.com/office/drawing/2014/main" xmlns="" id="{30BDD98F-EBF0-5BBF-7A1C-38B83F1872E3}"/>
                    </a:ext>
                  </a:extLst>
                </p:cNvPr>
                <p:cNvSpPr>
                  <a:spLocks/>
                </p:cNvSpPr>
                <p:nvPr/>
              </p:nvSpPr>
              <p:spPr bwMode="auto">
                <a:xfrm>
                  <a:off x="2762" y="2241"/>
                  <a:ext cx="148" cy="637"/>
                </a:xfrm>
                <a:custGeom>
                  <a:avLst/>
                  <a:gdLst>
                    <a:gd name="T0" fmla="*/ 148 w 148"/>
                    <a:gd name="T1" fmla="*/ 1 h 637"/>
                    <a:gd name="T2" fmla="*/ 126 w 148"/>
                    <a:gd name="T3" fmla="*/ 5 h 637"/>
                    <a:gd name="T4" fmla="*/ 90 w 148"/>
                    <a:gd name="T5" fmla="*/ 31 h 637"/>
                    <a:gd name="T6" fmla="*/ 64 w 148"/>
                    <a:gd name="T7" fmla="*/ 63 h 637"/>
                    <a:gd name="T8" fmla="*/ 30 w 148"/>
                    <a:gd name="T9" fmla="*/ 129 h 637"/>
                    <a:gd name="T10" fmla="*/ 12 w 148"/>
                    <a:gd name="T11" fmla="*/ 205 h 637"/>
                    <a:gd name="T12" fmla="*/ 2 w 148"/>
                    <a:gd name="T13" fmla="*/ 331 h 637"/>
                    <a:gd name="T14" fmla="*/ 6 w 148"/>
                    <a:gd name="T15" fmla="*/ 401 h 637"/>
                    <a:gd name="T16" fmla="*/ 32 w 148"/>
                    <a:gd name="T17" fmla="*/ 509 h 637"/>
                    <a:gd name="T18" fmla="*/ 60 w 148"/>
                    <a:gd name="T19" fmla="*/ 571 h 637"/>
                    <a:gd name="T20" fmla="*/ 92 w 148"/>
                    <a:gd name="T21" fmla="*/ 611 h 637"/>
                    <a:gd name="T22" fmla="*/ 136 w 148"/>
                    <a:gd name="T23" fmla="*/ 637 h 6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637"/>
                    <a:gd name="T38" fmla="*/ 148 w 148"/>
                    <a:gd name="T39" fmla="*/ 637 h 6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637">
                      <a:moveTo>
                        <a:pt x="148" y="1"/>
                      </a:moveTo>
                      <a:cubicBezTo>
                        <a:pt x="144" y="2"/>
                        <a:pt x="136" y="0"/>
                        <a:pt x="126" y="5"/>
                      </a:cubicBezTo>
                      <a:cubicBezTo>
                        <a:pt x="116" y="10"/>
                        <a:pt x="100" y="21"/>
                        <a:pt x="90" y="31"/>
                      </a:cubicBezTo>
                      <a:cubicBezTo>
                        <a:pt x="80" y="41"/>
                        <a:pt x="74" y="47"/>
                        <a:pt x="64" y="63"/>
                      </a:cubicBezTo>
                      <a:cubicBezTo>
                        <a:pt x="54" y="79"/>
                        <a:pt x="40" y="97"/>
                        <a:pt x="30" y="129"/>
                      </a:cubicBezTo>
                      <a:cubicBezTo>
                        <a:pt x="18" y="161"/>
                        <a:pt x="18" y="171"/>
                        <a:pt x="12" y="205"/>
                      </a:cubicBezTo>
                      <a:cubicBezTo>
                        <a:pt x="4" y="243"/>
                        <a:pt x="3" y="298"/>
                        <a:pt x="2" y="331"/>
                      </a:cubicBezTo>
                      <a:cubicBezTo>
                        <a:pt x="0" y="369"/>
                        <a:pt x="6" y="373"/>
                        <a:pt x="6" y="401"/>
                      </a:cubicBezTo>
                      <a:cubicBezTo>
                        <a:pt x="14" y="441"/>
                        <a:pt x="18" y="471"/>
                        <a:pt x="32" y="509"/>
                      </a:cubicBezTo>
                      <a:cubicBezTo>
                        <a:pt x="41" y="537"/>
                        <a:pt x="51" y="555"/>
                        <a:pt x="60" y="571"/>
                      </a:cubicBezTo>
                      <a:cubicBezTo>
                        <a:pt x="70" y="588"/>
                        <a:pt x="78" y="593"/>
                        <a:pt x="92" y="611"/>
                      </a:cubicBezTo>
                      <a:cubicBezTo>
                        <a:pt x="112" y="627"/>
                        <a:pt x="127" y="632"/>
                        <a:pt x="136" y="637"/>
                      </a:cubicBez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27" name="Line 40">
                <a:extLst>
                  <a:ext uri="{FF2B5EF4-FFF2-40B4-BE49-F238E27FC236}">
                    <a16:creationId xmlns:a16="http://schemas.microsoft.com/office/drawing/2014/main" xmlns="" id="{F841D451-94D1-DAA3-A973-AAF23CC0F650}"/>
                  </a:ext>
                </a:extLst>
              </p:cNvPr>
              <p:cNvSpPr>
                <a:spLocks noChangeShapeType="1"/>
              </p:cNvSpPr>
              <p:nvPr/>
            </p:nvSpPr>
            <p:spPr bwMode="auto">
              <a:xfrm>
                <a:off x="2692" y="565"/>
                <a:ext cx="161"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8" name="Line 52">
                <a:extLst>
                  <a:ext uri="{FF2B5EF4-FFF2-40B4-BE49-F238E27FC236}">
                    <a16:creationId xmlns:a16="http://schemas.microsoft.com/office/drawing/2014/main" xmlns="" id="{C677E9C2-F46F-19ED-1D1F-077C7B3750E4}"/>
                  </a:ext>
                </a:extLst>
              </p:cNvPr>
              <p:cNvSpPr>
                <a:spLocks noChangeShapeType="1"/>
              </p:cNvSpPr>
              <p:nvPr/>
            </p:nvSpPr>
            <p:spPr bwMode="auto">
              <a:xfrm>
                <a:off x="4742" y="565"/>
                <a:ext cx="228"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9" name="Line 53">
                <a:extLst>
                  <a:ext uri="{FF2B5EF4-FFF2-40B4-BE49-F238E27FC236}">
                    <a16:creationId xmlns:a16="http://schemas.microsoft.com/office/drawing/2014/main" xmlns="" id="{8B85132A-F3BB-08C5-BF26-F30A5A01E38B}"/>
                  </a:ext>
                </a:extLst>
              </p:cNvPr>
              <p:cNvSpPr>
                <a:spLocks noChangeShapeType="1"/>
              </p:cNvSpPr>
              <p:nvPr/>
            </p:nvSpPr>
            <p:spPr bwMode="auto">
              <a:xfrm>
                <a:off x="2972" y="565"/>
                <a:ext cx="1617" cy="0"/>
              </a:xfrm>
              <a:prstGeom prst="line">
                <a:avLst/>
              </a:prstGeom>
              <a:noFill/>
              <a:ln w="9525">
                <a:solidFill>
                  <a:srgbClr val="80808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0" name="Text Box 54">
                <a:extLst>
                  <a:ext uri="{FF2B5EF4-FFF2-40B4-BE49-F238E27FC236}">
                    <a16:creationId xmlns:a16="http://schemas.microsoft.com/office/drawing/2014/main" xmlns="" id="{9331480A-D514-924F-6FE5-D6B7C90AFACE}"/>
                  </a:ext>
                </a:extLst>
              </p:cNvPr>
              <p:cNvSpPr txBox="1">
                <a:spLocks noChangeAspect="1" noChangeArrowheads="1"/>
              </p:cNvSpPr>
              <p:nvPr/>
            </p:nvSpPr>
            <p:spPr bwMode="auto">
              <a:xfrm>
                <a:off x="4758" y="644"/>
                <a:ext cx="211"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a:t>
                </a:r>
              </a:p>
            </p:txBody>
          </p:sp>
          <p:sp>
            <p:nvSpPr>
              <p:cNvPr id="31" name="Arc 55">
                <a:extLst>
                  <a:ext uri="{FF2B5EF4-FFF2-40B4-BE49-F238E27FC236}">
                    <a16:creationId xmlns:a16="http://schemas.microsoft.com/office/drawing/2014/main" xmlns="" id="{F7138815-E467-28F3-9A14-FEB3D4B26CAE}"/>
                  </a:ext>
                </a:extLst>
              </p:cNvPr>
              <p:cNvSpPr>
                <a:spLocks noChangeAspect="1"/>
              </p:cNvSpPr>
              <p:nvPr/>
            </p:nvSpPr>
            <p:spPr bwMode="auto">
              <a:xfrm rot="19787402" flipH="1">
                <a:off x="2811" y="348"/>
                <a:ext cx="168" cy="157"/>
              </a:xfrm>
              <a:custGeom>
                <a:avLst/>
                <a:gdLst>
                  <a:gd name="T0" fmla="*/ 0 w 29634"/>
                  <a:gd name="T1" fmla="*/ 0 h 21600"/>
                  <a:gd name="T2" fmla="*/ 1 w 29634"/>
                  <a:gd name="T3" fmla="*/ 1 h 21600"/>
                  <a:gd name="T4" fmla="*/ 0 w 29634"/>
                  <a:gd name="T5" fmla="*/ 1 h 21600"/>
                  <a:gd name="T6" fmla="*/ 0 60000 65536"/>
                  <a:gd name="T7" fmla="*/ 0 60000 65536"/>
                  <a:gd name="T8" fmla="*/ 0 60000 65536"/>
                  <a:gd name="T9" fmla="*/ 0 w 29634"/>
                  <a:gd name="T10" fmla="*/ 0 h 21600"/>
                  <a:gd name="T11" fmla="*/ 29634 w 29634"/>
                  <a:gd name="T12" fmla="*/ 21600 h 21600"/>
                </a:gdLst>
                <a:ahLst/>
                <a:cxnLst>
                  <a:cxn ang="T6">
                    <a:pos x="T0" y="T1"/>
                  </a:cxn>
                  <a:cxn ang="T7">
                    <a:pos x="T2" y="T3"/>
                  </a:cxn>
                  <a:cxn ang="T8">
                    <a:pos x="T4" y="T5"/>
                  </a:cxn>
                </a:cxnLst>
                <a:rect l="T9" t="T10" r="T11" b="T12"/>
                <a:pathLst>
                  <a:path w="29634" h="21600" fill="none" extrusionOk="0">
                    <a:moveTo>
                      <a:pt x="-1" y="2218"/>
                    </a:moveTo>
                    <a:cubicBezTo>
                      <a:pt x="2966" y="759"/>
                      <a:pt x="6229" y="-1"/>
                      <a:pt x="9536" y="0"/>
                    </a:cubicBezTo>
                    <a:cubicBezTo>
                      <a:pt x="18411" y="0"/>
                      <a:pt x="26382" y="5428"/>
                      <a:pt x="29634" y="13686"/>
                    </a:cubicBezTo>
                  </a:path>
                  <a:path w="29634" h="21600" stroke="0" extrusionOk="0">
                    <a:moveTo>
                      <a:pt x="-1" y="2218"/>
                    </a:moveTo>
                    <a:cubicBezTo>
                      <a:pt x="2966" y="759"/>
                      <a:pt x="6229" y="-1"/>
                      <a:pt x="9536" y="0"/>
                    </a:cubicBezTo>
                    <a:cubicBezTo>
                      <a:pt x="18411" y="0"/>
                      <a:pt x="26382" y="5428"/>
                      <a:pt x="29634" y="13686"/>
                    </a:cubicBezTo>
                    <a:lnTo>
                      <a:pt x="9536" y="21600"/>
                    </a:lnTo>
                    <a:close/>
                  </a:path>
                </a:pathLst>
              </a:custGeom>
              <a:noFill/>
              <a:ln w="28575">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88" name="Text Box 56">
                <a:extLst>
                  <a:ext uri="{FF2B5EF4-FFF2-40B4-BE49-F238E27FC236}">
                    <a16:creationId xmlns:a16="http://schemas.microsoft.com/office/drawing/2014/main" xmlns="" id="{0778B554-3004-BEAE-5F73-D226F5254448}"/>
                  </a:ext>
                </a:extLst>
              </p:cNvPr>
              <p:cNvSpPr txBox="1">
                <a:spLocks noChangeAspect="1" noChangeArrowheads="1"/>
              </p:cNvSpPr>
              <p:nvPr/>
            </p:nvSpPr>
            <p:spPr bwMode="auto">
              <a:xfrm>
                <a:off x="2766" y="58"/>
                <a:ext cx="357"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r>
                  <a:rPr kumimoji="1" lang="en-US" altLang="zh-CN" sz="2400" b="0" u="none" strike="noStrike" kern="0" cap="none" spc="0" normalizeH="0" baseline="-25000" noProof="0" dirty="0">
                    <a:ln>
                      <a:noFill/>
                    </a:ln>
                    <a:solidFill>
                      <a:srgbClr val="FF0000"/>
                    </a:solidFill>
                    <a:effectLst/>
                    <a:uLnTx/>
                    <a:uFillTx/>
                    <a:latin typeface="Times New Roman" panose="02020603050405020304" pitchFamily="18" charset="0"/>
                    <a:ea typeface="宋体" panose="02010600030101010101" pitchFamily="2" charset="-122"/>
                  </a:rPr>
                  <a:t>A</a:t>
                </a:r>
              </a:p>
            </p:txBody>
          </p:sp>
          <p:sp>
            <p:nvSpPr>
              <p:cNvPr id="289" name="Arc 57">
                <a:extLst>
                  <a:ext uri="{FF2B5EF4-FFF2-40B4-BE49-F238E27FC236}">
                    <a16:creationId xmlns:a16="http://schemas.microsoft.com/office/drawing/2014/main" xmlns="" id="{3633197F-82E8-38CD-8ED7-368A145C6285}"/>
                  </a:ext>
                </a:extLst>
              </p:cNvPr>
              <p:cNvSpPr>
                <a:spLocks noChangeAspect="1"/>
              </p:cNvSpPr>
              <p:nvPr/>
            </p:nvSpPr>
            <p:spPr bwMode="auto">
              <a:xfrm rot="426721" flipH="1">
                <a:off x="4648" y="322"/>
                <a:ext cx="168" cy="157"/>
              </a:xfrm>
              <a:custGeom>
                <a:avLst/>
                <a:gdLst>
                  <a:gd name="T0" fmla="*/ 0 w 29634"/>
                  <a:gd name="T1" fmla="*/ 0 h 21600"/>
                  <a:gd name="T2" fmla="*/ 1 w 29634"/>
                  <a:gd name="T3" fmla="*/ 1 h 21600"/>
                  <a:gd name="T4" fmla="*/ 0 w 29634"/>
                  <a:gd name="T5" fmla="*/ 1 h 21600"/>
                  <a:gd name="T6" fmla="*/ 0 60000 65536"/>
                  <a:gd name="T7" fmla="*/ 0 60000 65536"/>
                  <a:gd name="T8" fmla="*/ 0 60000 65536"/>
                  <a:gd name="T9" fmla="*/ 0 w 29634"/>
                  <a:gd name="T10" fmla="*/ 0 h 21600"/>
                  <a:gd name="T11" fmla="*/ 29634 w 29634"/>
                  <a:gd name="T12" fmla="*/ 21600 h 21600"/>
                </a:gdLst>
                <a:ahLst/>
                <a:cxnLst>
                  <a:cxn ang="T6">
                    <a:pos x="T0" y="T1"/>
                  </a:cxn>
                  <a:cxn ang="T7">
                    <a:pos x="T2" y="T3"/>
                  </a:cxn>
                  <a:cxn ang="T8">
                    <a:pos x="T4" y="T5"/>
                  </a:cxn>
                </a:cxnLst>
                <a:rect l="T9" t="T10" r="T11" b="T12"/>
                <a:pathLst>
                  <a:path w="29634" h="21600" fill="none" extrusionOk="0">
                    <a:moveTo>
                      <a:pt x="-1" y="2218"/>
                    </a:moveTo>
                    <a:cubicBezTo>
                      <a:pt x="2966" y="759"/>
                      <a:pt x="6229" y="-1"/>
                      <a:pt x="9536" y="0"/>
                    </a:cubicBezTo>
                    <a:cubicBezTo>
                      <a:pt x="18411" y="0"/>
                      <a:pt x="26382" y="5428"/>
                      <a:pt x="29634" y="13686"/>
                    </a:cubicBezTo>
                  </a:path>
                  <a:path w="29634" h="21600" stroke="0" extrusionOk="0">
                    <a:moveTo>
                      <a:pt x="-1" y="2218"/>
                    </a:moveTo>
                    <a:cubicBezTo>
                      <a:pt x="2966" y="759"/>
                      <a:pt x="6229" y="-1"/>
                      <a:pt x="9536" y="0"/>
                    </a:cubicBezTo>
                    <a:cubicBezTo>
                      <a:pt x="18411" y="0"/>
                      <a:pt x="26382" y="5428"/>
                      <a:pt x="29634" y="13686"/>
                    </a:cubicBezTo>
                    <a:lnTo>
                      <a:pt x="9536" y="21600"/>
                    </a:lnTo>
                    <a:close/>
                  </a:path>
                </a:pathLst>
              </a:custGeom>
              <a:noFill/>
              <a:ln w="28575">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6" name="Line 79">
              <a:extLst>
                <a:ext uri="{FF2B5EF4-FFF2-40B4-BE49-F238E27FC236}">
                  <a16:creationId xmlns:a16="http://schemas.microsoft.com/office/drawing/2014/main" xmlns="" id="{2A662A76-58A0-DB7D-340F-F7C139B9328A}"/>
                </a:ext>
              </a:extLst>
            </p:cNvPr>
            <p:cNvSpPr>
              <a:spLocks noChangeShapeType="1"/>
            </p:cNvSpPr>
            <p:nvPr/>
          </p:nvSpPr>
          <p:spPr bwMode="auto">
            <a:xfrm>
              <a:off x="3797" y="235"/>
              <a:ext cx="0" cy="296"/>
            </a:xfrm>
            <a:prstGeom prst="line">
              <a:avLst/>
            </a:prstGeom>
            <a:noFill/>
            <a:ln w="9525">
              <a:solidFill>
                <a:srgbClr val="000000"/>
              </a:solidFill>
              <a:round/>
              <a:headEnd type="none"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 name="Text Box 80">
              <a:extLst>
                <a:ext uri="{FF2B5EF4-FFF2-40B4-BE49-F238E27FC236}">
                  <a16:creationId xmlns:a16="http://schemas.microsoft.com/office/drawing/2014/main" xmlns="" id="{BA126A16-E981-A31E-4999-37D229FFE171}"/>
                </a:ext>
              </a:extLst>
            </p:cNvPr>
            <p:cNvSpPr txBox="1">
              <a:spLocks noChangeAspect="1" noChangeArrowheads="1"/>
            </p:cNvSpPr>
            <p:nvPr/>
          </p:nvSpPr>
          <p:spPr bwMode="auto">
            <a:xfrm rot="16200000">
              <a:off x="3593" y="204"/>
              <a:ext cx="232"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d</a:t>
              </a:r>
            </a:p>
          </p:txBody>
        </p:sp>
        <p:sp>
          <p:nvSpPr>
            <p:cNvPr id="9" name="Line 81">
              <a:extLst>
                <a:ext uri="{FF2B5EF4-FFF2-40B4-BE49-F238E27FC236}">
                  <a16:creationId xmlns:a16="http://schemas.microsoft.com/office/drawing/2014/main" xmlns="" id="{F434E36F-E0D2-28E2-A58C-50FF001DD2DA}"/>
                </a:ext>
              </a:extLst>
            </p:cNvPr>
            <p:cNvSpPr>
              <a:spLocks noChangeShapeType="1"/>
            </p:cNvSpPr>
            <p:nvPr/>
          </p:nvSpPr>
          <p:spPr bwMode="auto">
            <a:xfrm flipV="1">
              <a:off x="3802" y="617"/>
              <a:ext cx="0" cy="191"/>
            </a:xfrm>
            <a:prstGeom prst="line">
              <a:avLst/>
            </a:prstGeom>
            <a:noFill/>
            <a:ln w="9525">
              <a:solidFill>
                <a:srgbClr val="000000"/>
              </a:solidFill>
              <a:round/>
              <a:headEnd type="none"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 name="Line 82">
              <a:extLst>
                <a:ext uri="{FF2B5EF4-FFF2-40B4-BE49-F238E27FC236}">
                  <a16:creationId xmlns:a16="http://schemas.microsoft.com/office/drawing/2014/main" xmlns="" id="{87DFE1F7-49D5-5F13-17DE-CB2ED3076430}"/>
                </a:ext>
              </a:extLst>
            </p:cNvPr>
            <p:cNvSpPr>
              <a:spLocks noChangeShapeType="1"/>
            </p:cNvSpPr>
            <p:nvPr/>
          </p:nvSpPr>
          <p:spPr bwMode="auto">
            <a:xfrm flipV="1">
              <a:off x="3800" y="512"/>
              <a:ext cx="0" cy="1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29" name="Freeform 84" descr="浅色竖线">
            <a:extLst>
              <a:ext uri="{FF2B5EF4-FFF2-40B4-BE49-F238E27FC236}">
                <a16:creationId xmlns:a16="http://schemas.microsoft.com/office/drawing/2014/main" xmlns="" id="{91022D15-B806-BC4D-DC34-459C49FC2D85}"/>
              </a:ext>
            </a:extLst>
          </p:cNvPr>
          <p:cNvSpPr>
            <a:spLocks/>
          </p:cNvSpPr>
          <p:nvPr/>
        </p:nvSpPr>
        <p:spPr bwMode="auto">
          <a:xfrm>
            <a:off x="8382661" y="3790260"/>
            <a:ext cx="2786062" cy="1433513"/>
          </a:xfrm>
          <a:custGeom>
            <a:avLst/>
            <a:gdLst>
              <a:gd name="T0" fmla="*/ 2786062 w 1755"/>
              <a:gd name="T1" fmla="*/ 685800 h 903"/>
              <a:gd name="T2" fmla="*/ 2776537 w 1755"/>
              <a:gd name="T3" fmla="*/ 0 h 903"/>
              <a:gd name="T4" fmla="*/ 1819275 w 1755"/>
              <a:gd name="T5" fmla="*/ 0 h 903"/>
              <a:gd name="T6" fmla="*/ 1824037 w 1755"/>
              <a:gd name="T7" fmla="*/ 1433513 h 903"/>
              <a:gd name="T8" fmla="*/ 757237 w 1755"/>
              <a:gd name="T9" fmla="*/ 1433513 h 903"/>
              <a:gd name="T10" fmla="*/ 766762 w 1755"/>
              <a:gd name="T11" fmla="*/ 933450 h 903"/>
              <a:gd name="T12" fmla="*/ 0 w 1755"/>
              <a:gd name="T13" fmla="*/ 942975 h 903"/>
              <a:gd name="T14" fmla="*/ 9525 w 1755"/>
              <a:gd name="T15" fmla="*/ 695325 h 903"/>
              <a:gd name="T16" fmla="*/ 2786062 w 1755"/>
              <a:gd name="T17" fmla="*/ 685800 h 90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55"/>
              <a:gd name="T28" fmla="*/ 0 h 903"/>
              <a:gd name="T29" fmla="*/ 1755 w 1755"/>
              <a:gd name="T30" fmla="*/ 903 h 90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55" h="903">
                <a:moveTo>
                  <a:pt x="1755" y="432"/>
                </a:moveTo>
                <a:lnTo>
                  <a:pt x="1749" y="0"/>
                </a:lnTo>
                <a:lnTo>
                  <a:pt x="1146" y="0"/>
                </a:lnTo>
                <a:lnTo>
                  <a:pt x="1149" y="903"/>
                </a:lnTo>
                <a:lnTo>
                  <a:pt x="477" y="903"/>
                </a:lnTo>
                <a:lnTo>
                  <a:pt x="483" y="588"/>
                </a:lnTo>
                <a:lnTo>
                  <a:pt x="0" y="594"/>
                </a:lnTo>
                <a:lnTo>
                  <a:pt x="6" y="438"/>
                </a:lnTo>
                <a:lnTo>
                  <a:pt x="1755" y="432"/>
                </a:lnTo>
                <a:close/>
              </a:path>
            </a:pathLst>
          </a:custGeom>
          <a:pattFill prst="ltVert">
            <a:fgClr>
              <a:srgbClr val="000000"/>
            </a:fgClr>
            <a:bgClr>
              <a:srgbClr val="66FF99"/>
            </a:bgClr>
          </a:patt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0" name="Line 88">
            <a:extLst>
              <a:ext uri="{FF2B5EF4-FFF2-40B4-BE49-F238E27FC236}">
                <a16:creationId xmlns:a16="http://schemas.microsoft.com/office/drawing/2014/main" xmlns="" id="{B8034C5D-7228-9457-6A26-4FCA27B028B9}"/>
              </a:ext>
            </a:extLst>
          </p:cNvPr>
          <p:cNvSpPr>
            <a:spLocks noChangeShapeType="1"/>
          </p:cNvSpPr>
          <p:nvPr/>
        </p:nvSpPr>
        <p:spPr bwMode="auto">
          <a:xfrm>
            <a:off x="8390598" y="4487173"/>
            <a:ext cx="3178175" cy="0"/>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1" name="Line 89">
            <a:extLst>
              <a:ext uri="{FF2B5EF4-FFF2-40B4-BE49-F238E27FC236}">
                <a16:creationId xmlns:a16="http://schemas.microsoft.com/office/drawing/2014/main" xmlns="" id="{97DA10E9-2410-BD26-59BD-5083CF99492F}"/>
              </a:ext>
            </a:extLst>
          </p:cNvPr>
          <p:cNvSpPr>
            <a:spLocks noChangeShapeType="1"/>
          </p:cNvSpPr>
          <p:nvPr/>
        </p:nvSpPr>
        <p:spPr bwMode="auto">
          <a:xfrm flipV="1">
            <a:off x="8392186" y="3685485"/>
            <a:ext cx="0" cy="1662113"/>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2" name="Line 90">
            <a:extLst>
              <a:ext uri="{FF2B5EF4-FFF2-40B4-BE49-F238E27FC236}">
                <a16:creationId xmlns:a16="http://schemas.microsoft.com/office/drawing/2014/main" xmlns="" id="{1B579E22-3E78-CF30-485A-22CAF66B22EE}"/>
              </a:ext>
            </a:extLst>
          </p:cNvPr>
          <p:cNvSpPr>
            <a:spLocks noChangeAspect="1" noChangeShapeType="1"/>
          </p:cNvSpPr>
          <p:nvPr/>
        </p:nvSpPr>
        <p:spPr bwMode="auto">
          <a:xfrm flipV="1">
            <a:off x="8362023" y="4731648"/>
            <a:ext cx="787400" cy="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3" name="Text Box 92">
            <a:extLst>
              <a:ext uri="{FF2B5EF4-FFF2-40B4-BE49-F238E27FC236}">
                <a16:creationId xmlns:a16="http://schemas.microsoft.com/office/drawing/2014/main" xmlns="" id="{BEDAF9F9-57BC-8206-B8A8-AF5D13692F33}"/>
              </a:ext>
            </a:extLst>
          </p:cNvPr>
          <p:cNvSpPr txBox="1">
            <a:spLocks noChangeAspect="1" noChangeArrowheads="1"/>
          </p:cNvSpPr>
          <p:nvPr/>
        </p:nvSpPr>
        <p:spPr bwMode="auto">
          <a:xfrm>
            <a:off x="8339798" y="3664848"/>
            <a:ext cx="1474788"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n</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a:t>
            </a:r>
            <a:r>
              <a:rPr kumimoji="1" lang="en-US" altLang="zh-CN" sz="2400" b="0" i="0" u="none" strike="noStrike" kern="0" cap="none" spc="0" normalizeH="0" baseline="0" noProof="0" dirty="0" err="1">
                <a:ln>
                  <a:noFill/>
                </a:ln>
                <a:solidFill>
                  <a:srgbClr val="000000"/>
                </a:solidFill>
                <a:effectLst/>
                <a:uLnTx/>
                <a:uFillTx/>
                <a:latin typeface="Times New Roman" panose="02020603050405020304" pitchFamily="18" charset="0"/>
                <a:ea typeface="黑体" panose="02010609060101010101" pitchFamily="49" charset="-122"/>
              </a:rPr>
              <a:t>N</a:t>
            </a:r>
            <a:r>
              <a:rPr kumimoji="1" lang="en-US" altLang="zh-CN" sz="2400" b="0" i="0" u="none" strike="noStrike" kern="0" cap="none" spc="0" normalizeH="0" baseline="0" noProof="0" dirty="0" err="1">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b="0" i="0" u="none" strike="noStrike" kern="0" cap="none" spc="0" normalizeH="0" baseline="0" noProof="0" dirty="0" err="1">
                <a:ln>
                  <a:noFill/>
                </a:ln>
                <a:solidFill>
                  <a:srgbClr val="000000"/>
                </a:solidFill>
                <a:effectLst/>
                <a:uLnTx/>
                <a:uFillTx/>
                <a:latin typeface="Times New Roman" panose="02020603050405020304" pitchFamily="18" charset="0"/>
                <a:ea typeface="黑体" panose="02010609060101010101" pitchFamily="49" charset="-122"/>
              </a:rPr>
              <a:t>m</a:t>
            </a:r>
            <a:endPar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34" name="Text Box 93">
            <a:extLst>
              <a:ext uri="{FF2B5EF4-FFF2-40B4-BE49-F238E27FC236}">
                <a16:creationId xmlns:a16="http://schemas.microsoft.com/office/drawing/2014/main" xmlns="" id="{7AA628F2-5FBA-92C5-3985-529E6A97A119}"/>
              </a:ext>
            </a:extLst>
          </p:cNvPr>
          <p:cNvSpPr txBox="1">
            <a:spLocks noChangeAspect="1" noChangeArrowheads="1"/>
          </p:cNvSpPr>
          <p:nvPr/>
        </p:nvSpPr>
        <p:spPr bwMode="auto">
          <a:xfrm>
            <a:off x="9392311" y="5152335"/>
            <a:ext cx="1001712"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477.5</a:t>
            </a:r>
          </a:p>
        </p:txBody>
      </p:sp>
      <p:sp>
        <p:nvSpPr>
          <p:cNvPr id="135" name="Text Box 94">
            <a:extLst>
              <a:ext uri="{FF2B5EF4-FFF2-40B4-BE49-F238E27FC236}">
                <a16:creationId xmlns:a16="http://schemas.microsoft.com/office/drawing/2014/main" xmlns="" id="{413C2F30-BD8D-4D36-E65A-3C90FE593516}"/>
              </a:ext>
            </a:extLst>
          </p:cNvPr>
          <p:cNvSpPr txBox="1">
            <a:spLocks noChangeAspect="1" noChangeArrowheads="1"/>
          </p:cNvSpPr>
          <p:nvPr/>
        </p:nvSpPr>
        <p:spPr bwMode="auto">
          <a:xfrm>
            <a:off x="8276298" y="4639573"/>
            <a:ext cx="93027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159.2</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7" name="Oval 95">
            <a:extLst>
              <a:ext uri="{FF2B5EF4-FFF2-40B4-BE49-F238E27FC236}">
                <a16:creationId xmlns:a16="http://schemas.microsoft.com/office/drawing/2014/main" xmlns="" id="{1C1D039E-D8AC-8343-2BEF-8BF34C738B3F}"/>
              </a:ext>
            </a:extLst>
          </p:cNvPr>
          <p:cNvSpPr>
            <a:spLocks noChangeArrowheads="1"/>
          </p:cNvSpPr>
          <p:nvPr/>
        </p:nvSpPr>
        <p:spPr bwMode="auto">
          <a:xfrm>
            <a:off x="8352498" y="4684023"/>
            <a:ext cx="74613" cy="74612"/>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38" name="Line 97">
            <a:extLst>
              <a:ext uri="{FF2B5EF4-FFF2-40B4-BE49-F238E27FC236}">
                <a16:creationId xmlns:a16="http://schemas.microsoft.com/office/drawing/2014/main" xmlns="" id="{E060CEBC-348F-6B14-A61F-DC8C4DD3A44F}"/>
              </a:ext>
            </a:extLst>
          </p:cNvPr>
          <p:cNvSpPr>
            <a:spLocks noChangeAspect="1" noChangeShapeType="1"/>
          </p:cNvSpPr>
          <p:nvPr/>
        </p:nvSpPr>
        <p:spPr bwMode="auto">
          <a:xfrm flipV="1">
            <a:off x="9141486" y="5225360"/>
            <a:ext cx="1062037" cy="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9" name="Line 98">
            <a:extLst>
              <a:ext uri="{FF2B5EF4-FFF2-40B4-BE49-F238E27FC236}">
                <a16:creationId xmlns:a16="http://schemas.microsoft.com/office/drawing/2014/main" xmlns="" id="{7B75DD26-0E42-F929-23B0-52886E23EC3F}"/>
              </a:ext>
            </a:extLst>
          </p:cNvPr>
          <p:cNvSpPr>
            <a:spLocks noChangeAspect="1" noChangeShapeType="1"/>
          </p:cNvSpPr>
          <p:nvPr/>
        </p:nvSpPr>
        <p:spPr bwMode="auto">
          <a:xfrm flipH="1">
            <a:off x="9149423" y="4728473"/>
            <a:ext cx="0" cy="50165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0" name="Text Box 99">
            <a:extLst>
              <a:ext uri="{FF2B5EF4-FFF2-40B4-BE49-F238E27FC236}">
                <a16:creationId xmlns:a16="http://schemas.microsoft.com/office/drawing/2014/main" xmlns="" id="{9330AD69-466C-31A5-329B-6C86D4A7DC82}"/>
              </a:ext>
            </a:extLst>
          </p:cNvPr>
          <p:cNvSpPr txBox="1">
            <a:spLocks noChangeAspect="1" noChangeArrowheads="1"/>
          </p:cNvSpPr>
          <p:nvPr/>
        </p:nvSpPr>
        <p:spPr bwMode="auto">
          <a:xfrm>
            <a:off x="11233811" y="4376048"/>
            <a:ext cx="398462"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x</a:t>
            </a:r>
            <a:endPar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ndParaRPr>
          </a:p>
        </p:txBody>
      </p:sp>
      <p:sp>
        <p:nvSpPr>
          <p:cNvPr id="141" name="Text Box 100">
            <a:extLst>
              <a:ext uri="{FF2B5EF4-FFF2-40B4-BE49-F238E27FC236}">
                <a16:creationId xmlns:a16="http://schemas.microsoft.com/office/drawing/2014/main" xmlns="" id="{F2BFF654-9006-8657-2619-CDC6962277EC}"/>
              </a:ext>
            </a:extLst>
          </p:cNvPr>
          <p:cNvSpPr txBox="1">
            <a:spLocks noChangeAspect="1" noChangeArrowheads="1"/>
          </p:cNvSpPr>
          <p:nvPr/>
        </p:nvSpPr>
        <p:spPr bwMode="auto">
          <a:xfrm>
            <a:off x="8068336" y="4229998"/>
            <a:ext cx="398462"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42" name="Line 102">
            <a:extLst>
              <a:ext uri="{FF2B5EF4-FFF2-40B4-BE49-F238E27FC236}">
                <a16:creationId xmlns:a16="http://schemas.microsoft.com/office/drawing/2014/main" xmlns="" id="{63CB28E7-C758-720D-462D-995F12F7A7AE}"/>
              </a:ext>
            </a:extLst>
          </p:cNvPr>
          <p:cNvSpPr>
            <a:spLocks noChangeAspect="1" noChangeShapeType="1"/>
          </p:cNvSpPr>
          <p:nvPr/>
        </p:nvSpPr>
        <p:spPr bwMode="auto">
          <a:xfrm flipH="1">
            <a:off x="10198761" y="3782323"/>
            <a:ext cx="0" cy="1436687"/>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3" name="Line 103">
            <a:extLst>
              <a:ext uri="{FF2B5EF4-FFF2-40B4-BE49-F238E27FC236}">
                <a16:creationId xmlns:a16="http://schemas.microsoft.com/office/drawing/2014/main" xmlns="" id="{C2BA2A4C-EB28-283A-FD41-649A0CD91A0E}"/>
              </a:ext>
            </a:extLst>
          </p:cNvPr>
          <p:cNvSpPr>
            <a:spLocks noChangeAspect="1" noChangeShapeType="1"/>
          </p:cNvSpPr>
          <p:nvPr/>
        </p:nvSpPr>
        <p:spPr bwMode="auto">
          <a:xfrm flipH="1">
            <a:off x="11167136" y="3782323"/>
            <a:ext cx="0" cy="709612"/>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4" name="Line 104">
            <a:extLst>
              <a:ext uri="{FF2B5EF4-FFF2-40B4-BE49-F238E27FC236}">
                <a16:creationId xmlns:a16="http://schemas.microsoft.com/office/drawing/2014/main" xmlns="" id="{121E76A0-3956-1D2F-3967-3E61700555B7}"/>
              </a:ext>
            </a:extLst>
          </p:cNvPr>
          <p:cNvSpPr>
            <a:spLocks noChangeAspect="1" noChangeShapeType="1"/>
          </p:cNvSpPr>
          <p:nvPr/>
        </p:nvSpPr>
        <p:spPr bwMode="auto">
          <a:xfrm flipV="1">
            <a:off x="10203523" y="3787085"/>
            <a:ext cx="965200" cy="0"/>
          </a:xfrm>
          <a:prstGeom prst="line">
            <a:avLst/>
          </a:prstGeom>
          <a:noFill/>
          <a:ln w="190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5" name="Oval 106">
            <a:extLst>
              <a:ext uri="{FF2B5EF4-FFF2-40B4-BE49-F238E27FC236}">
                <a16:creationId xmlns:a16="http://schemas.microsoft.com/office/drawing/2014/main" xmlns="" id="{727F55B2-3398-7240-A505-70886A843981}"/>
              </a:ext>
            </a:extLst>
          </p:cNvPr>
          <p:cNvSpPr>
            <a:spLocks noChangeArrowheads="1"/>
          </p:cNvSpPr>
          <p:nvPr/>
        </p:nvSpPr>
        <p:spPr bwMode="auto">
          <a:xfrm>
            <a:off x="10173361" y="3756923"/>
            <a:ext cx="74612" cy="74612"/>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6" name="Oval 96">
            <a:extLst>
              <a:ext uri="{FF2B5EF4-FFF2-40B4-BE49-F238E27FC236}">
                <a16:creationId xmlns:a16="http://schemas.microsoft.com/office/drawing/2014/main" xmlns="" id="{246D95E7-E4C6-7F65-B69C-38B2C49CC1AA}"/>
              </a:ext>
            </a:extLst>
          </p:cNvPr>
          <p:cNvSpPr>
            <a:spLocks noChangeArrowheads="1"/>
          </p:cNvSpPr>
          <p:nvPr/>
        </p:nvSpPr>
        <p:spPr bwMode="auto">
          <a:xfrm>
            <a:off x="9119261" y="5180910"/>
            <a:ext cx="74612" cy="74613"/>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7" name="Text Box 107">
            <a:extLst>
              <a:ext uri="{FF2B5EF4-FFF2-40B4-BE49-F238E27FC236}">
                <a16:creationId xmlns:a16="http://schemas.microsoft.com/office/drawing/2014/main" xmlns="" id="{44631099-7C59-C427-1C6E-91717AED311E}"/>
              </a:ext>
            </a:extLst>
          </p:cNvPr>
          <p:cNvSpPr txBox="1">
            <a:spLocks noChangeAspect="1" noChangeArrowheads="1"/>
          </p:cNvSpPr>
          <p:nvPr/>
        </p:nvSpPr>
        <p:spPr bwMode="auto">
          <a:xfrm>
            <a:off x="10174948" y="3353698"/>
            <a:ext cx="1001713"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477.5</a:t>
            </a:r>
          </a:p>
        </p:txBody>
      </p:sp>
      <p:grpSp>
        <p:nvGrpSpPr>
          <p:cNvPr id="148" name="Group 108">
            <a:extLst>
              <a:ext uri="{FF2B5EF4-FFF2-40B4-BE49-F238E27FC236}">
                <a16:creationId xmlns:a16="http://schemas.microsoft.com/office/drawing/2014/main" xmlns="" id="{D74DA50F-5D9F-4A9E-2854-9C30A57BF47E}"/>
              </a:ext>
            </a:extLst>
          </p:cNvPr>
          <p:cNvGrpSpPr>
            <a:grpSpLocks/>
          </p:cNvGrpSpPr>
          <p:nvPr/>
        </p:nvGrpSpPr>
        <p:grpSpPr bwMode="auto">
          <a:xfrm>
            <a:off x="9301823" y="4528448"/>
            <a:ext cx="563563" cy="476250"/>
            <a:chOff x="4383" y="1620"/>
            <a:chExt cx="233" cy="183"/>
          </a:xfrm>
        </p:grpSpPr>
        <p:sp>
          <p:nvSpPr>
            <p:cNvPr id="149" name="Oval 109">
              <a:extLst>
                <a:ext uri="{FF2B5EF4-FFF2-40B4-BE49-F238E27FC236}">
                  <a16:creationId xmlns:a16="http://schemas.microsoft.com/office/drawing/2014/main" xmlns="" id="{AB05F308-61AF-31F1-9228-4E73E4B4D6E4}"/>
                </a:ext>
              </a:extLst>
            </p:cNvPr>
            <p:cNvSpPr>
              <a:spLocks noChangeAspect="1" noChangeArrowheads="1"/>
            </p:cNvSpPr>
            <p:nvPr/>
          </p:nvSpPr>
          <p:spPr bwMode="auto">
            <a:xfrm>
              <a:off x="4429" y="1695"/>
              <a:ext cx="100" cy="92"/>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0" name="Text Box 110">
              <a:extLst>
                <a:ext uri="{FF2B5EF4-FFF2-40B4-BE49-F238E27FC236}">
                  <a16:creationId xmlns:a16="http://schemas.microsoft.com/office/drawing/2014/main" xmlns="" id="{2090FD37-D9E6-663C-E628-510498A4A8BB}"/>
                </a:ext>
              </a:extLst>
            </p:cNvPr>
            <p:cNvSpPr txBox="1">
              <a:spLocks noChangeAspect="1" noChangeArrowheads="1"/>
            </p:cNvSpPr>
            <p:nvPr/>
          </p:nvSpPr>
          <p:spPr bwMode="auto">
            <a:xfrm>
              <a:off x="4383" y="1620"/>
              <a:ext cx="23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20000"/>
                </a:lnSpc>
                <a:spcBef>
                  <a:spcPts val="0"/>
                </a:spcBef>
                <a:spcAft>
                  <a:spcPts val="0"/>
                </a:spcAft>
                <a:buClrTx/>
                <a:buSzTx/>
                <a:buFontTx/>
                <a:buNone/>
                <a:tabLst/>
                <a:defRPr/>
              </a:pPr>
              <a:r>
                <a:rPr kumimoji="1" lang="en-US" altLang="zh-CN" sz="1000" b="0"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 </a:t>
              </a:r>
              <a:r>
                <a:rPr kumimoji="1" lang="en-US" altLang="zh-CN" sz="2400" b="0"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a:t>
              </a:r>
            </a:p>
          </p:txBody>
        </p:sp>
      </p:grpSp>
      <p:grpSp>
        <p:nvGrpSpPr>
          <p:cNvPr id="151" name="Group 111">
            <a:extLst>
              <a:ext uri="{FF2B5EF4-FFF2-40B4-BE49-F238E27FC236}">
                <a16:creationId xmlns:a16="http://schemas.microsoft.com/office/drawing/2014/main" xmlns="" id="{2B0560CC-1215-3A22-9078-888BD8031399}"/>
              </a:ext>
            </a:extLst>
          </p:cNvPr>
          <p:cNvGrpSpPr>
            <a:grpSpLocks/>
          </p:cNvGrpSpPr>
          <p:nvPr/>
        </p:nvGrpSpPr>
        <p:grpSpPr bwMode="auto">
          <a:xfrm>
            <a:off x="10432123" y="3804548"/>
            <a:ext cx="576263" cy="476250"/>
            <a:chOff x="4383" y="1620"/>
            <a:chExt cx="233" cy="183"/>
          </a:xfrm>
        </p:grpSpPr>
        <p:sp>
          <p:nvSpPr>
            <p:cNvPr id="152" name="Oval 112">
              <a:extLst>
                <a:ext uri="{FF2B5EF4-FFF2-40B4-BE49-F238E27FC236}">
                  <a16:creationId xmlns:a16="http://schemas.microsoft.com/office/drawing/2014/main" xmlns="" id="{ED25C58F-0DBE-EA53-F41D-8A565FA0CD81}"/>
                </a:ext>
              </a:extLst>
            </p:cNvPr>
            <p:cNvSpPr>
              <a:spLocks noChangeAspect="1" noChangeArrowheads="1"/>
            </p:cNvSpPr>
            <p:nvPr/>
          </p:nvSpPr>
          <p:spPr bwMode="auto">
            <a:xfrm>
              <a:off x="4429" y="1695"/>
              <a:ext cx="100" cy="92"/>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3" name="Text Box 113">
              <a:extLst>
                <a:ext uri="{FF2B5EF4-FFF2-40B4-BE49-F238E27FC236}">
                  <a16:creationId xmlns:a16="http://schemas.microsoft.com/office/drawing/2014/main" xmlns="" id="{AA00CF01-6E2F-83A6-6F2F-5CDD2297899C}"/>
                </a:ext>
              </a:extLst>
            </p:cNvPr>
            <p:cNvSpPr txBox="1">
              <a:spLocks noChangeAspect="1" noChangeArrowheads="1"/>
            </p:cNvSpPr>
            <p:nvPr/>
          </p:nvSpPr>
          <p:spPr bwMode="auto">
            <a:xfrm>
              <a:off x="4383" y="1620"/>
              <a:ext cx="23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20000"/>
                </a:lnSpc>
                <a:spcBef>
                  <a:spcPts val="0"/>
                </a:spcBef>
                <a:spcAft>
                  <a:spcPts val="0"/>
                </a:spcAft>
                <a:buClrTx/>
                <a:buSzTx/>
                <a:buFontTx/>
                <a:buNone/>
                <a:tabLst/>
                <a:defRPr/>
              </a:pPr>
              <a:r>
                <a:rPr kumimoji="1" lang="en-US" altLang="zh-CN" sz="1000" b="0"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 </a:t>
              </a:r>
              <a:r>
                <a:rPr kumimoji="1" lang="en-US" altLang="zh-CN" sz="2400" b="0"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a:t>
              </a:r>
            </a:p>
          </p:txBody>
        </p:sp>
      </p:grpSp>
      <p:graphicFrame>
        <p:nvGraphicFramePr>
          <p:cNvPr id="3" name="Object 48">
            <a:extLst>
              <a:ext uri="{FF2B5EF4-FFF2-40B4-BE49-F238E27FC236}">
                <a16:creationId xmlns:a16="http://schemas.microsoft.com/office/drawing/2014/main" xmlns="" id="{9AD1A3E2-9BCD-ACE0-36F6-9FFE89145F47}"/>
              </a:ext>
            </a:extLst>
          </p:cNvPr>
          <p:cNvGraphicFramePr>
            <a:graphicFrameLocks noChangeAspect="1"/>
          </p:cNvGraphicFramePr>
          <p:nvPr>
            <p:extLst>
              <p:ext uri="{D42A27DB-BD31-4B8C-83A1-F6EECF244321}">
                <p14:modId xmlns:p14="http://schemas.microsoft.com/office/powerpoint/2010/main" val="2312747980"/>
              </p:ext>
            </p:extLst>
          </p:nvPr>
        </p:nvGraphicFramePr>
        <p:xfrm>
          <a:off x="1078748" y="1768076"/>
          <a:ext cx="1944688" cy="847725"/>
        </p:xfrm>
        <a:graphic>
          <a:graphicData uri="http://schemas.openxmlformats.org/presentationml/2006/ole">
            <mc:AlternateContent xmlns:mc="http://schemas.openxmlformats.org/markup-compatibility/2006">
              <mc:Choice xmlns:v="urn:schemas-microsoft-com:vml" Requires="v">
                <p:oleObj spid="_x0000_s17414" name="Equation" r:id="rId4" imgW="990360" imgH="431640" progId="Equation.DSMT4">
                  <p:embed/>
                </p:oleObj>
              </mc:Choice>
              <mc:Fallback>
                <p:oleObj name="Equation" r:id="rId4" imgW="990360" imgH="431640" progId="Equation.DSMT4">
                  <p:embed/>
                  <p:pic>
                    <p:nvPicPr>
                      <p:cNvPr id="50" name="Object 48"/>
                      <p:cNvPicPr>
                        <a:picLocks noChangeAspect="1" noChangeArrowheads="1"/>
                      </p:cNvPicPr>
                      <p:nvPr/>
                    </p:nvPicPr>
                    <p:blipFill>
                      <a:blip r:embed="rId5"/>
                      <a:srcRect/>
                      <a:stretch>
                        <a:fillRect/>
                      </a:stretch>
                    </p:blipFill>
                    <p:spPr bwMode="auto">
                      <a:xfrm>
                        <a:off x="1078748" y="1768076"/>
                        <a:ext cx="1944688" cy="847725"/>
                      </a:xfrm>
                      <a:prstGeom prst="rect">
                        <a:avLst/>
                      </a:prstGeom>
                      <a:noFill/>
                    </p:spPr>
                  </p:pic>
                </p:oleObj>
              </mc:Fallback>
            </mc:AlternateContent>
          </a:graphicData>
        </a:graphic>
      </p:graphicFrame>
      <p:graphicFrame>
        <p:nvGraphicFramePr>
          <p:cNvPr id="291" name="Object 109">
            <a:extLst>
              <a:ext uri="{FF2B5EF4-FFF2-40B4-BE49-F238E27FC236}">
                <a16:creationId xmlns:a16="http://schemas.microsoft.com/office/drawing/2014/main" xmlns="" id="{F69CAC6D-B2FA-B15D-6B08-C793417EFC9C}"/>
              </a:ext>
            </a:extLst>
          </p:cNvPr>
          <p:cNvGraphicFramePr>
            <a:graphicFrameLocks noChangeAspect="1"/>
          </p:cNvGraphicFramePr>
          <p:nvPr>
            <p:extLst>
              <p:ext uri="{D42A27DB-BD31-4B8C-83A1-F6EECF244321}">
                <p14:modId xmlns:p14="http://schemas.microsoft.com/office/powerpoint/2010/main" val="2787848104"/>
              </p:ext>
            </p:extLst>
          </p:nvPr>
        </p:nvGraphicFramePr>
        <p:xfrm>
          <a:off x="3743386" y="1664887"/>
          <a:ext cx="3257550" cy="1022350"/>
        </p:xfrm>
        <a:graphic>
          <a:graphicData uri="http://schemas.openxmlformats.org/presentationml/2006/ole">
            <mc:AlternateContent xmlns:mc="http://schemas.openxmlformats.org/markup-compatibility/2006">
              <mc:Choice xmlns:v="urn:schemas-microsoft-com:vml" Requires="v">
                <p:oleObj spid="_x0000_s17415" name="Equation" r:id="rId6" imgW="1587240" imgH="495000" progId="Equation.DSMT4">
                  <p:embed/>
                </p:oleObj>
              </mc:Choice>
              <mc:Fallback>
                <p:oleObj name="Equation" r:id="rId6" imgW="1587240" imgH="495000" progId="Equation.DSMT4">
                  <p:embed/>
                  <p:pic>
                    <p:nvPicPr>
                      <p:cNvPr id="884845" name="Object 109">
                        <a:extLst>
                          <a:ext uri="{FF2B5EF4-FFF2-40B4-BE49-F238E27FC236}">
                            <a16:creationId xmlns:a16="http://schemas.microsoft.com/office/drawing/2014/main" xmlns="" id="{71134586-62E1-32F1-7BF6-CC23A7DDECFE}"/>
                          </a:ext>
                        </a:extLst>
                      </p:cNvPr>
                      <p:cNvPicPr>
                        <a:picLocks noChangeAspect="1" noChangeArrowheads="1"/>
                      </p:cNvPicPr>
                      <p:nvPr/>
                    </p:nvPicPr>
                    <p:blipFill>
                      <a:blip r:embed="rId7"/>
                      <a:srcRect/>
                      <a:stretch>
                        <a:fillRect/>
                      </a:stretch>
                    </p:blipFill>
                    <p:spPr bwMode="auto">
                      <a:xfrm>
                        <a:off x="3743386" y="1664887"/>
                        <a:ext cx="3257550"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9" name="矩形 308">
            <a:extLst>
              <a:ext uri="{FF2B5EF4-FFF2-40B4-BE49-F238E27FC236}">
                <a16:creationId xmlns:a16="http://schemas.microsoft.com/office/drawing/2014/main" xmlns="" id="{76B2E57B-66AC-65EE-8209-F02E70B0EF9D}"/>
              </a:ext>
            </a:extLst>
          </p:cNvPr>
          <p:cNvSpPr/>
          <p:nvPr/>
        </p:nvSpPr>
        <p:spPr>
          <a:xfrm>
            <a:off x="211184" y="2671291"/>
            <a:ext cx="8479452" cy="520848"/>
          </a:xfrm>
          <a:prstGeom prst="rect">
            <a:avLst/>
          </a:prstGeom>
        </p:spPr>
        <p:txBody>
          <a:bodyPr wrap="square">
            <a:spAutoFit/>
          </a:bodyPr>
          <a:lstStyle/>
          <a:p>
            <a:pPr lvl="0">
              <a:lnSpc>
                <a:spcPct val="130000"/>
              </a:lnSpc>
            </a:pPr>
            <a:r>
              <a:rPr lang="zh-CN" altLang="en-US" i="0" dirty="0">
                <a:solidFill>
                  <a:srgbClr val="0033CC"/>
                </a:solidFill>
                <a:ea typeface="黑体" panose="02010609060101010101" pitchFamily="49" charset="-122"/>
              </a:rPr>
              <a:t>     </a:t>
            </a:r>
            <a:r>
              <a:rPr lang="en-US" altLang="zh-CN" i="0" dirty="0">
                <a:solidFill>
                  <a:schemeClr val="tx1"/>
                </a:solidFill>
                <a:ea typeface="黑体" panose="02010609060101010101" pitchFamily="49" charset="-122"/>
              </a:rPr>
              <a:t>4</a:t>
            </a:r>
            <a:r>
              <a:rPr kumimoji="1" lang="zh-CN" altLang="en-US" i="0" dirty="0">
                <a:solidFill>
                  <a:schemeClr val="tx1"/>
                </a:solidFill>
                <a:ea typeface="黑体" panose="02010609060101010101" pitchFamily="49" charset="-122"/>
              </a:rPr>
              <a:t>）按刚度条件设计轴的直径</a:t>
            </a:r>
            <a:endParaRPr kumimoji="1" lang="en-US" altLang="zh-CN" i="0" dirty="0">
              <a:solidFill>
                <a:schemeClr val="tx1"/>
              </a:solidFill>
              <a:latin typeface="+mn-lt"/>
              <a:ea typeface="黑体" panose="02010609060101010101" pitchFamily="49" charset="-122"/>
            </a:endParaRPr>
          </a:p>
        </p:txBody>
      </p:sp>
      <p:graphicFrame>
        <p:nvGraphicFramePr>
          <p:cNvPr id="315" name="Object 109">
            <a:extLst>
              <a:ext uri="{FF2B5EF4-FFF2-40B4-BE49-F238E27FC236}">
                <a16:creationId xmlns:a16="http://schemas.microsoft.com/office/drawing/2014/main" xmlns="" id="{3B03BBBB-7971-8AF0-12B6-39DE76B225F1}"/>
              </a:ext>
            </a:extLst>
          </p:cNvPr>
          <p:cNvGraphicFramePr>
            <a:graphicFrameLocks noChangeAspect="1"/>
          </p:cNvGraphicFramePr>
          <p:nvPr>
            <p:extLst>
              <p:ext uri="{D42A27DB-BD31-4B8C-83A1-F6EECF244321}">
                <p14:modId xmlns:p14="http://schemas.microsoft.com/office/powerpoint/2010/main" val="1574440562"/>
              </p:ext>
            </p:extLst>
          </p:nvPr>
        </p:nvGraphicFramePr>
        <p:xfrm>
          <a:off x="3655260" y="3245748"/>
          <a:ext cx="3857625" cy="1022350"/>
        </p:xfrm>
        <a:graphic>
          <a:graphicData uri="http://schemas.openxmlformats.org/presentationml/2006/ole">
            <mc:AlternateContent xmlns:mc="http://schemas.openxmlformats.org/markup-compatibility/2006">
              <mc:Choice xmlns:v="urn:schemas-microsoft-com:vml" Requires="v">
                <p:oleObj spid="_x0000_s17416" name="Equation" r:id="rId8" imgW="1879560" imgH="495000" progId="Equation.DSMT4">
                  <p:embed/>
                </p:oleObj>
              </mc:Choice>
              <mc:Fallback>
                <p:oleObj name="Equation" r:id="rId8" imgW="1879560" imgH="495000" progId="Equation.DSMT4">
                  <p:embed/>
                  <p:pic>
                    <p:nvPicPr>
                      <p:cNvPr id="291" name="Object 109">
                        <a:extLst>
                          <a:ext uri="{FF2B5EF4-FFF2-40B4-BE49-F238E27FC236}">
                            <a16:creationId xmlns:a16="http://schemas.microsoft.com/office/drawing/2014/main" xmlns="" id="{F69CAC6D-B2FA-B15D-6B08-C793417EFC9C}"/>
                          </a:ext>
                        </a:extLst>
                      </p:cNvPr>
                      <p:cNvPicPr>
                        <a:picLocks noChangeAspect="1" noChangeArrowheads="1"/>
                      </p:cNvPicPr>
                      <p:nvPr/>
                    </p:nvPicPr>
                    <p:blipFill>
                      <a:blip r:embed="rId9"/>
                      <a:srcRect/>
                      <a:stretch>
                        <a:fillRect/>
                      </a:stretch>
                    </p:blipFill>
                    <p:spPr bwMode="auto">
                      <a:xfrm>
                        <a:off x="3655260" y="3245748"/>
                        <a:ext cx="3857625"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5" name="Object 48">
            <a:extLst>
              <a:ext uri="{FF2B5EF4-FFF2-40B4-BE49-F238E27FC236}">
                <a16:creationId xmlns:a16="http://schemas.microsoft.com/office/drawing/2014/main" xmlns="" id="{BCA14B60-A31D-2E58-7E37-CCD0A8C1E20B}"/>
              </a:ext>
            </a:extLst>
          </p:cNvPr>
          <p:cNvGraphicFramePr>
            <a:graphicFrameLocks noChangeAspect="1"/>
          </p:cNvGraphicFramePr>
          <p:nvPr>
            <p:extLst>
              <p:ext uri="{D42A27DB-BD31-4B8C-83A1-F6EECF244321}">
                <p14:modId xmlns:p14="http://schemas.microsoft.com/office/powerpoint/2010/main" val="2695085641"/>
              </p:ext>
            </p:extLst>
          </p:nvPr>
        </p:nvGraphicFramePr>
        <p:xfrm>
          <a:off x="1078748" y="3345760"/>
          <a:ext cx="2417762" cy="873125"/>
        </p:xfrm>
        <a:graphic>
          <a:graphicData uri="http://schemas.openxmlformats.org/presentationml/2006/ole">
            <mc:AlternateContent xmlns:mc="http://schemas.openxmlformats.org/markup-compatibility/2006">
              <mc:Choice xmlns:v="urn:schemas-microsoft-com:vml" Requires="v">
                <p:oleObj spid="_x0000_s17417" name="Equation" r:id="rId10" imgW="1231560" imgH="444240" progId="Equation.DSMT4">
                  <p:embed/>
                </p:oleObj>
              </mc:Choice>
              <mc:Fallback>
                <p:oleObj name="Equation" r:id="rId10" imgW="1231560" imgH="444240" progId="Equation.DSMT4">
                  <p:embed/>
                  <p:pic>
                    <p:nvPicPr>
                      <p:cNvPr id="3" name="Object 48">
                        <a:extLst>
                          <a:ext uri="{FF2B5EF4-FFF2-40B4-BE49-F238E27FC236}">
                            <a16:creationId xmlns:a16="http://schemas.microsoft.com/office/drawing/2014/main" xmlns="" id="{9AD1A3E2-9BCD-ACE0-36F6-9FFE89145F47}"/>
                          </a:ext>
                        </a:extLst>
                      </p:cNvPr>
                      <p:cNvPicPr>
                        <a:picLocks noChangeAspect="1" noChangeArrowheads="1"/>
                      </p:cNvPicPr>
                      <p:nvPr/>
                    </p:nvPicPr>
                    <p:blipFill>
                      <a:blip r:embed="rId11"/>
                      <a:srcRect/>
                      <a:stretch>
                        <a:fillRect/>
                      </a:stretch>
                    </p:blipFill>
                    <p:spPr bwMode="auto">
                      <a:xfrm>
                        <a:off x="1078748" y="3345760"/>
                        <a:ext cx="2417762" cy="873125"/>
                      </a:xfrm>
                      <a:prstGeom prst="rect">
                        <a:avLst/>
                      </a:prstGeom>
                      <a:noFill/>
                    </p:spPr>
                  </p:pic>
                </p:oleObj>
              </mc:Fallback>
            </mc:AlternateContent>
          </a:graphicData>
        </a:graphic>
      </p:graphicFrame>
      <p:sp>
        <p:nvSpPr>
          <p:cNvPr id="156" name="矩形 155">
            <a:extLst>
              <a:ext uri="{FF2B5EF4-FFF2-40B4-BE49-F238E27FC236}">
                <a16:creationId xmlns:a16="http://schemas.microsoft.com/office/drawing/2014/main" xmlns="" id="{93EFBDFA-0B89-1C4E-B04B-515D8BE33654}"/>
              </a:ext>
            </a:extLst>
          </p:cNvPr>
          <p:cNvSpPr/>
          <p:nvPr/>
        </p:nvSpPr>
        <p:spPr>
          <a:xfrm>
            <a:off x="517780" y="4600618"/>
            <a:ext cx="7015777" cy="1000980"/>
          </a:xfrm>
          <a:prstGeom prst="rect">
            <a:avLst/>
          </a:prstGeom>
        </p:spPr>
        <p:txBody>
          <a:bodyPr wrap="square">
            <a:spAutoFit/>
          </a:bodyPr>
          <a:lstStyle/>
          <a:p>
            <a:pPr lvl="0">
              <a:lnSpc>
                <a:spcPct val="130000"/>
              </a:lnSpc>
            </a:pPr>
            <a:r>
              <a:rPr kumimoji="1" lang="zh-CN" altLang="en-US" i="0" dirty="0">
                <a:solidFill>
                  <a:schemeClr val="tx1"/>
                </a:solidFill>
                <a:ea typeface="黑体" panose="02010609060101010101" pitchFamily="49" charset="-122"/>
              </a:rPr>
              <a:t>为使轴同时满足</a:t>
            </a:r>
            <a:r>
              <a:rPr kumimoji="1" lang="zh-CN" altLang="en-US" i="0" dirty="0">
                <a:ea typeface="黑体" panose="02010609060101010101" pitchFamily="49" charset="-122"/>
              </a:rPr>
              <a:t>强度条件</a:t>
            </a:r>
            <a:r>
              <a:rPr kumimoji="1" lang="zh-CN" altLang="en-US" i="0" dirty="0">
                <a:solidFill>
                  <a:schemeClr val="tx1"/>
                </a:solidFill>
                <a:ea typeface="黑体" panose="02010609060101010101" pitchFamily="49" charset="-122"/>
              </a:rPr>
              <a:t>和</a:t>
            </a:r>
            <a:r>
              <a:rPr kumimoji="1" lang="zh-CN" altLang="en-US" i="0" dirty="0">
                <a:ea typeface="黑体" panose="02010609060101010101" pitchFamily="49" charset="-122"/>
              </a:rPr>
              <a:t>刚度条件</a:t>
            </a:r>
            <a:r>
              <a:rPr kumimoji="1" lang="zh-CN" altLang="en-US" i="0" dirty="0">
                <a:solidFill>
                  <a:schemeClr val="tx1"/>
                </a:solidFill>
                <a:ea typeface="黑体" panose="02010609060101010101" pitchFamily="49" charset="-122"/>
              </a:rPr>
              <a:t>，可选取较大的值，即</a:t>
            </a:r>
            <a:r>
              <a:rPr kumimoji="1" lang="en-US" altLang="zh-CN" b="0" dirty="0">
                <a:solidFill>
                  <a:schemeClr val="tx1"/>
                </a:solidFill>
                <a:ea typeface="黑体" panose="02010609060101010101" pitchFamily="49" charset="-122"/>
              </a:rPr>
              <a:t>d</a:t>
            </a:r>
            <a:r>
              <a:rPr kumimoji="1" lang="zh-CN" altLang="en-US" b="0" i="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44mm</a:t>
            </a:r>
            <a:r>
              <a:rPr kumimoji="1" lang="zh-CN" altLang="en-US" i="0" dirty="0">
                <a:solidFill>
                  <a:schemeClr val="tx1"/>
                </a:solidFill>
                <a:ea typeface="黑体" panose="02010609060101010101" pitchFamily="49" charset="-122"/>
              </a:rPr>
              <a:t>。 </a:t>
            </a:r>
            <a:endParaRPr kumimoji="1" lang="en-US" altLang="zh-CN" i="0" dirty="0">
              <a:solidFill>
                <a:schemeClr val="tx1"/>
              </a:solidFill>
              <a:latin typeface="+mn-lt"/>
              <a:ea typeface="黑体" panose="02010609060101010101" pitchFamily="49" charset="-122"/>
            </a:endParaRPr>
          </a:p>
        </p:txBody>
      </p:sp>
    </p:spTree>
    <p:extLst>
      <p:ext uri="{BB962C8B-B14F-4D97-AF65-F5344CB8AC3E}">
        <p14:creationId xmlns:p14="http://schemas.microsoft.com/office/powerpoint/2010/main" val="342891652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91"/>
                                        </p:tgtEl>
                                        <p:attrNameLst>
                                          <p:attrName>style.visibility</p:attrName>
                                        </p:attrNameLst>
                                      </p:cBhvr>
                                      <p:to>
                                        <p:strVal val="visible"/>
                                      </p:to>
                                    </p:set>
                                    <p:animEffect transition="in" filter="wipe(left)">
                                      <p:cBhvr>
                                        <p:cTn id="16" dur="5000"/>
                                        <p:tgtEl>
                                          <p:spTgt spid="291"/>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0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55"/>
                                        </p:tgtEl>
                                        <p:attrNameLst>
                                          <p:attrName>style.visibility</p:attrName>
                                        </p:attrNameLst>
                                      </p:cBhvr>
                                      <p:to>
                                        <p:strVal val="visible"/>
                                      </p:to>
                                    </p:set>
                                    <p:animEffect transition="in" filter="wipe(left)">
                                      <p:cBhvr>
                                        <p:cTn id="25" dur="5000"/>
                                        <p:tgtEl>
                                          <p:spTgt spid="15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15"/>
                                        </p:tgtEl>
                                        <p:attrNameLst>
                                          <p:attrName>style.visibility</p:attrName>
                                        </p:attrNameLst>
                                      </p:cBhvr>
                                      <p:to>
                                        <p:strVal val="visible"/>
                                      </p:to>
                                    </p:set>
                                    <p:animEffect transition="in" filter="wipe(left)">
                                      <p:cBhvr>
                                        <p:cTn id="30" dur="5000"/>
                                        <p:tgtEl>
                                          <p:spTgt spid="315"/>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p:bldP spid="309" grpId="0"/>
      <p:bldP spid="15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292" name="文本框 291">
            <a:extLst>
              <a:ext uri="{FF2B5EF4-FFF2-40B4-BE49-F238E27FC236}">
                <a16:creationId xmlns:a16="http://schemas.microsoft.com/office/drawing/2014/main" xmlns="" id="{AEE90528-CF03-8517-AE11-D5458C5219D5}"/>
              </a:ext>
            </a:extLst>
          </p:cNvPr>
          <p:cNvSpPr txBox="1"/>
          <p:nvPr/>
        </p:nvSpPr>
        <p:spPr>
          <a:xfrm>
            <a:off x="479376" y="908720"/>
            <a:ext cx="9505056" cy="497765"/>
          </a:xfrm>
          <a:prstGeom prst="rect">
            <a:avLst/>
          </a:prstGeom>
          <a:noFill/>
        </p:spPr>
        <p:txBody>
          <a:bodyPr wrap="square">
            <a:spAutoFit/>
          </a:bodyPr>
          <a:lstStyle/>
          <a:p>
            <a:pPr algn="l">
              <a:lnSpc>
                <a:spcPct val="120000"/>
              </a:lnSpc>
              <a:spcBef>
                <a:spcPct val="0"/>
              </a:spcBef>
              <a:buClrTx/>
              <a:buSzTx/>
              <a:buNone/>
            </a:pPr>
            <a:r>
              <a:rPr lang="zh-CN" altLang="en-US" i="0" dirty="0">
                <a:solidFill>
                  <a:srgbClr val="FF0000"/>
                </a:solidFill>
                <a:latin typeface="微软雅黑" panose="020B0503020204020204" pitchFamily="34" charset="-122"/>
                <a:ea typeface="微软雅黑" panose="020B0503020204020204" pitchFamily="34" charset="-122"/>
              </a:rPr>
              <a:t>课后作业：</a:t>
            </a:r>
            <a:r>
              <a:rPr lang="en-US" altLang="zh-CN" i="0" dirty="0">
                <a:solidFill>
                  <a:schemeClr val="tx1"/>
                </a:solidFill>
                <a:latin typeface="+mn-lt"/>
                <a:ea typeface="微软雅黑" panose="020B0503020204020204" pitchFamily="34" charset="-122"/>
              </a:rPr>
              <a:t>9-2</a:t>
            </a:r>
            <a:r>
              <a:rPr lang="zh-CN" altLang="en-US" i="0" dirty="0">
                <a:solidFill>
                  <a:schemeClr val="tx1"/>
                </a:solidFill>
                <a:ea typeface="微软雅黑" panose="020B0503020204020204" pitchFamily="34" charset="-122"/>
              </a:rPr>
              <a:t> </a:t>
            </a:r>
            <a:r>
              <a:rPr lang="zh-CN" altLang="en-US" i="0" dirty="0">
                <a:solidFill>
                  <a:schemeClr val="tx1"/>
                </a:solidFill>
                <a:latin typeface="+mn-lt"/>
                <a:ea typeface="微软雅黑" panose="020B0503020204020204" pitchFamily="34" charset="-122"/>
              </a:rPr>
              <a:t>、</a:t>
            </a:r>
            <a:r>
              <a:rPr lang="en-US" altLang="zh-CN" i="0" dirty="0">
                <a:solidFill>
                  <a:schemeClr val="tx1"/>
                </a:solidFill>
                <a:latin typeface="+mn-lt"/>
                <a:ea typeface="微软雅黑" panose="020B0503020204020204" pitchFamily="34" charset="-122"/>
              </a:rPr>
              <a:t>9-3 </a:t>
            </a:r>
            <a:r>
              <a:rPr lang="zh-CN" altLang="en-US" i="0" dirty="0">
                <a:solidFill>
                  <a:schemeClr val="tx1"/>
                </a:solidFill>
                <a:latin typeface="+mn-lt"/>
                <a:ea typeface="微软雅黑" panose="020B0503020204020204" pitchFamily="34" charset="-122"/>
              </a:rPr>
              <a:t>、</a:t>
            </a:r>
            <a:r>
              <a:rPr lang="en-US" altLang="zh-CN" i="0" dirty="0">
                <a:solidFill>
                  <a:schemeClr val="tx1"/>
                </a:solidFill>
                <a:latin typeface="+mn-lt"/>
                <a:ea typeface="微软雅黑" panose="020B0503020204020204" pitchFamily="34" charset="-122"/>
              </a:rPr>
              <a:t>9-4</a:t>
            </a:r>
            <a:r>
              <a:rPr lang="zh-CN" altLang="en-US" i="0" dirty="0">
                <a:solidFill>
                  <a:schemeClr val="tx1"/>
                </a:solidFill>
                <a:latin typeface="+mn-lt"/>
                <a:ea typeface="微软雅黑" panose="020B0503020204020204" pitchFamily="34" charset="-122"/>
              </a:rPr>
              <a:t> 、</a:t>
            </a:r>
            <a:r>
              <a:rPr lang="en-US" altLang="zh-CN" i="0" dirty="0">
                <a:solidFill>
                  <a:schemeClr val="tx1"/>
                </a:solidFill>
                <a:latin typeface="+mn-lt"/>
                <a:ea typeface="微软雅黑" panose="020B0503020204020204" pitchFamily="34" charset="-122"/>
              </a:rPr>
              <a:t>9-7</a:t>
            </a:r>
            <a:endParaRPr lang="zh-CN" altLang="en-US" i="0" dirty="0">
              <a:solidFill>
                <a:schemeClr val="tx1"/>
              </a:solidFill>
              <a:latin typeface="+mn-lt"/>
              <a:ea typeface="黑体" panose="02010609060101010101" pitchFamily="49" charset="-122"/>
            </a:endParaRPr>
          </a:p>
        </p:txBody>
      </p:sp>
    </p:spTree>
    <p:extLst>
      <p:ext uri="{BB962C8B-B14F-4D97-AF65-F5344CB8AC3E}">
        <p14:creationId xmlns:p14="http://schemas.microsoft.com/office/powerpoint/2010/main" val="4293541799"/>
      </p:ext>
    </p:extLst>
  </p:cSld>
  <p:clrMapOvr>
    <a:masterClrMapping/>
  </p:clrMapOvr>
  <p:transition spd="slow"/>
  <p:timing>
    <p:tnLst>
      <p:par>
        <p:cTn id="1" dur="indefinite" restart="never" nodeType="tmRoot"/>
      </p:par>
    </p:tnLst>
  </p:timing>
</p:sld>
</file>

<file path=ppt/theme/theme1.xml><?xml version="1.0" encoding="utf-8"?>
<a:theme xmlns:a="http://schemas.openxmlformats.org/drawingml/2006/main" name="1_Update 10-8-02">
  <a:themeElements>
    <a:clrScheme name="Update 10-8-0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Update 10-8-02">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Char char="•"/>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Char char="•"/>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Update 10-8-0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pdate 10-8-02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pdate 10-8-02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pdate 10-8-02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pdate 10-8-0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pdate 10-8-0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pdate 10-8-0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16415</TotalTime>
  <Words>2139</Words>
  <Application>Microsoft Office PowerPoint</Application>
  <PresentationFormat>宽屏</PresentationFormat>
  <Paragraphs>325</Paragraphs>
  <Slides>24</Slides>
  <Notes>24</Notes>
  <HiddenSlides>0</HiddenSlides>
  <MMClips>3</MMClips>
  <ScaleCrop>false</ScaleCrop>
  <HeadingPairs>
    <vt:vector size="8" baseType="variant">
      <vt:variant>
        <vt:lpstr>已用的字体</vt:lpstr>
      </vt:variant>
      <vt:variant>
        <vt:i4>13</vt:i4>
      </vt:variant>
      <vt:variant>
        <vt:lpstr>主题</vt:lpstr>
      </vt:variant>
      <vt:variant>
        <vt:i4>3</vt:i4>
      </vt:variant>
      <vt:variant>
        <vt:lpstr>嵌入 OLE 服务器</vt:lpstr>
      </vt:variant>
      <vt:variant>
        <vt:i4>3</vt:i4>
      </vt:variant>
      <vt:variant>
        <vt:lpstr>幻灯片标题</vt:lpstr>
      </vt:variant>
      <vt:variant>
        <vt:i4>24</vt:i4>
      </vt:variant>
    </vt:vector>
  </HeadingPairs>
  <TitlesOfParts>
    <vt:vector size="43" baseType="lpstr">
      <vt:lpstr>黑体</vt:lpstr>
      <vt:lpstr>华文彩云</vt:lpstr>
      <vt:lpstr>华文琥珀</vt:lpstr>
      <vt:lpstr>宋体</vt:lpstr>
      <vt:lpstr>微软雅黑</vt:lpstr>
      <vt:lpstr>Arial</vt:lpstr>
      <vt:lpstr>Calibri</vt:lpstr>
      <vt:lpstr>Cambria Math</vt:lpstr>
      <vt:lpstr>Monotype Corsiva</vt:lpstr>
      <vt:lpstr>Symbol</vt:lpstr>
      <vt:lpstr>Times</vt:lpstr>
      <vt:lpstr>Times New Roman</vt:lpstr>
      <vt:lpstr>Wingdings</vt:lpstr>
      <vt:lpstr>1_Update 10-8-02</vt:lpstr>
      <vt:lpstr>自定义设计方案</vt:lpstr>
      <vt:lpstr>1_自定义设计方案</vt:lpstr>
      <vt:lpstr>位图图像</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zjut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wsn</dc:creator>
  <cp:lastModifiedBy>Dell</cp:lastModifiedBy>
  <cp:revision>703</cp:revision>
  <dcterms:created xsi:type="dcterms:W3CDTF">2006-04-13T12:56:12Z</dcterms:created>
  <dcterms:modified xsi:type="dcterms:W3CDTF">2022-11-14T11:35:51Z</dcterms:modified>
</cp:coreProperties>
</file>